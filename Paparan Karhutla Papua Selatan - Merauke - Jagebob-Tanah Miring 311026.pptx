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505" r:id="rId11"/>
    <p:sldId id="506" r:id="rId12"/>
    <p:sldId id="501" r:id="rIdS1"/>
    <p:sldId id="502" r:id="rIdS2"/>
    <p:sldId id="503" r:id="rIdS3"/>
    <p:sldId id="504" r:id="rIdS4"/>
    <p:sldId id="507" r:id="rId13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L10" Type="http://schemas.openxmlformats.org/officeDocument/2006/relationships/image" Target="../media/lpg-ik-pesawat-putih.png"/><Relationship Id="rIdL11" Type="http://schemas.openxmlformats.org/officeDocument/2006/relationships/image" Target="../media/lpg-ik-putar-oranye.png"/><Relationship Id="rIdL12" Type="http://schemas.openxmlformats.org/officeDocument/2006/relationships/image" Target="../media/lpg-ik-pesawat-navy.png"/><Relationship Id="rIdL13" Type="http://schemas.openxmlformats.org/officeDocument/2006/relationships/image" Target="../media/lpg-ik-tetes-navy.png"/><Relationship Id="rIdL14" Type="http://schemas.openxmlformats.org/officeDocument/2006/relationships/image" Target="../media/lpg-ik-perisai-putih.png"/><Relationship Id="rIdL15" Type="http://schemas.openxmlformats.org/officeDocument/2006/relationships/image" Target="../media/lpg-ik-kalender-navy.png"/><Relationship Id="rIdL16" Type="http://schemas.openxmlformats.org/officeDocument/2006/relationships/image" Target="../media/lpg-ik-lapis-putih.png"/><Relationship Id="rIdL17" Type="http://schemas.openxmlformats.org/officeDocument/2006/relationships/image" Target="../media/lpg-ik-lapis-navy.png"/><Relationship Id="rIdL18" Type="http://schemas.openxmlformats.org/officeDocument/2006/relationships/image" Target="../media/lpg-ik-luas-oranye.png"/><Relationship Id="rIdL2" Type="http://schemas.openxmlformats.org/officeDocument/2006/relationships/image" Target="../media/lpg-ik-mata-navy.png"/><Relationship Id="rIdL3" Type="http://schemas.openxmlformats.org/officeDocument/2006/relationships/image" Target="../media/lpg-ik-api-putih.png"/><Relationship Id="rIdL4" Type="http://schemas.openxmlformats.org/officeDocument/2006/relationships/image" Target="../media/lpg-ik-luas-putih.png"/><Relationship Id="rIdL5" Type="http://schemas.openxmlformats.org/officeDocument/2006/relationships/image" Target="../media/lpg-ik-awas-putih.png"/><Relationship Id="rIdL6" Type="http://schemas.openxmlformats.org/officeDocument/2006/relationships/image" Target="../media/lpg-ik-pin-putih.png"/><Relationship Id="rIdL7" Type="http://schemas.openxmlformats.org/officeDocument/2006/relationships/image" Target="../media/lpg-ik-api-merah.png"/><Relationship Id="rIdL8" Type="http://schemas.openxmlformats.org/officeDocument/2006/relationships/image" Target="../media/lpg-ik-api-oranye.png"/><Relationship Id="rIdL9" Type="http://schemas.openxmlformats.org/officeDocument/2006/relationships/image" Target="../media/lpg-ik-awas-merah.png"/><Relationship Id="rIdLay" Type="http://schemas.openxmlformats.org/officeDocument/2006/relationships/slideLayout" Target="../slideLayouts/slideLayout2.xml"/><Relationship Id="rIdM1" Type="http://schemas.openxmlformats.org/officeDocument/2006/relationships/image" Target="../media/jt-ik-api-putih.png"/><Relationship Id="rIdM10" Type="http://schemas.openxmlformats.org/officeDocument/2006/relationships/image" Target="../media/jt-ik-luas-putih.png"/><Relationship Id="rIdM11" Type="http://schemas.openxmlformats.org/officeDocument/2006/relationships/image" Target="../media/jt-ik-belum-putih.png"/><Relationship Id="rIdM12" Type="http://schemas.openxmlformats.org/officeDocument/2006/relationships/image" Target="../media/jt-ik-titik3-putih.png"/><Relationship Id="rIdM13" Type="http://schemas.openxmlformats.org/officeDocument/2006/relationships/image" Target="../media/jt-ik-air-putih.png"/><Relationship Id="rIdM14" Type="http://schemas.openxmlformats.org/officeDocument/2006/relationships/image" Target="../media/jt-ik-jam-putih.png"/><Relationship Id="rIdM2" Type="http://schemas.openxmlformats.org/officeDocument/2006/relationships/image" Target="../media/jt-ik-api-oranye.png"/><Relationship Id="rIdM3" Type="http://schemas.openxmlformats.org/officeDocument/2006/relationships/image" Target="../media/jt-ik-luas-navy.png"/><Relationship Id="rIdM4" Type="http://schemas.openxmlformats.org/officeDocument/2006/relationships/image" Target="../media/jt-ik-belum-merah.png"/><Relationship Id="rIdM5" Type="http://schemas.openxmlformats.org/officeDocument/2006/relationships/image" Target="../media/jt-ik-kalender-navy.png"/><Relationship Id="rIdM6" Type="http://schemas.openxmlformats.org/officeDocument/2006/relationships/image" Target="../media/jt-ik-awas-putih.png"/><Relationship Id="rIdM7" Type="http://schemas.openxmlformats.org/officeDocument/2006/relationships/image" Target="../media/jt-ik-api-merah.png"/><Relationship Id="rIdM8" Type="http://schemas.openxmlformats.org/officeDocument/2006/relationships/image" Target="../media/jt-ik-gunung-coklat.png"/><Relationship Id="rIdM9" Type="http://schemas.openxmlformats.org/officeDocument/2006/relationships/image" Target="../media/pps-peta-papsel.png"/><Relationship Id="rId1" Type="http://schemas.openxmlformats.org/officeDocument/2006/relationships/image" Target="../media/image-2-1.png"/></Relationships>
</file>

<file path=ppt/slides/_rels/slide2.xml.rels><?xml version='1.0' encoding='UTF-8' standalone='yes'?>
<Relationships xmlns="http://schemas.openxmlformats.org/package/2006/relationships"><Relationship Id="rIdL10" Type="http://schemas.openxmlformats.org/officeDocument/2006/relationships/image" Target="../media/lpg-ik-putar-oranye.png"/><Relationship Id="rIdL11" Type="http://schemas.openxmlformats.org/officeDocument/2006/relationships/image" Target="../media/lpg-ik-tetes-navy.png"/><Relationship Id="rIdL12" Type="http://schemas.openxmlformats.org/officeDocument/2006/relationships/image" Target="../media/lpg-ik-pin-navy.png"/><Relationship Id="rIdL13" Type="http://schemas.openxmlformats.org/officeDocument/2006/relationships/image" Target="../media/lpg-ik-mata-putih.png"/><Relationship Id="rIdL14" Type="http://schemas.openxmlformats.org/officeDocument/2006/relationships/image" Target="../media/lpg-ik-mata-navy.png"/><Relationship Id="rIdL15" Type="http://schemas.openxmlformats.org/officeDocument/2006/relationships/image" Target="../media/lpg-ik-mata-merah.png"/><Relationship Id="rIdL2" Type="http://schemas.openxmlformats.org/officeDocument/2006/relationships/image" Target="../media/lpg-ik-pesawat-navy.png"/><Relationship Id="rIdL3" Type="http://schemas.openxmlformats.org/officeDocument/2006/relationships/image" Target="../media/lpg-ik-gambut-oranye.png"/><Relationship Id="rIdL4" Type="http://schemas.openxmlformats.org/officeDocument/2006/relationships/image" Target="../media/lpg-ik-api-putih.png"/><Relationship Id="rIdL5" Type="http://schemas.openxmlformats.org/officeDocument/2006/relationships/image" Target="../media/lpg-ik-api-merah.png"/><Relationship Id="rIdL6" Type="http://schemas.openxmlformats.org/officeDocument/2006/relationships/image" Target="../media/lpg-ik-awas-merah.png"/><Relationship Id="rIdL7" Type="http://schemas.openxmlformats.org/officeDocument/2006/relationships/image" Target="../media/lpg-ik-pohon-navy.png"/><Relationship Id="rIdL8" Type="http://schemas.openxmlformats.org/officeDocument/2006/relationships/image" Target="../media/lpg-ik-api-navy.png"/><Relationship Id="rIdL9" Type="http://schemas.openxmlformats.org/officeDocument/2006/relationships/image" Target="../media/lpg-ik-pesawat-putih.png"/><Relationship Id="rIdLay" Type="http://schemas.openxmlformats.org/officeDocument/2006/relationships/slideLayout" Target="../slideLayouts/slideLayout2.xml"/><Relationship Id="rIdM1" Type="http://schemas.openxmlformats.org/officeDocument/2006/relationships/image" Target="../media/jt-ik-api-putih.png"/><Relationship Id="rIdM10" Type="http://schemas.openxmlformats.org/officeDocument/2006/relationships/image" Target="../media/jt-ik-gunung-putih.png"/><Relationship Id="rIdM11" Type="http://schemas.openxmlformats.org/officeDocument/2006/relationships/image" Target="../media/jt-ik-air-putih.png"/><Relationship Id="rIdM12" Type="http://schemas.openxmlformats.org/officeDocument/2006/relationships/image" Target="../media/jt-ik-jam-putih.png"/><Relationship Id="rIdM2" Type="http://schemas.openxmlformats.org/officeDocument/2006/relationships/image" Target="../media/jt-ik-api-oranye.png"/><Relationship Id="rIdM3" Type="http://schemas.openxmlformats.org/officeDocument/2006/relationships/image" Target="../media/jt-ik-luas-navy.png"/><Relationship Id="rIdM4" Type="http://schemas.openxmlformats.org/officeDocument/2006/relationships/image" Target="../media/jt-ik-belum-merah.png"/><Relationship Id="rIdM5" Type="http://schemas.openxmlformats.org/officeDocument/2006/relationships/image" Target="../media/jt-ik-kalender-navy.png"/><Relationship Id="rIdM6" Type="http://schemas.openxmlformats.org/officeDocument/2006/relationships/image" Target="../media/jt-ik-awas-putih.png"/><Relationship Id="rIdM7" Type="http://schemas.openxmlformats.org/officeDocument/2006/relationships/image" Target="../media/jt-ik-api-merah.png"/><Relationship Id="rIdM8" Type="http://schemas.openxmlformats.org/officeDocument/2006/relationships/image" Target="../media/jt-ik-air-baja.png"/><Relationship Id="rIdM9" Type="http://schemas.openxmlformats.org/officeDocument/2006/relationships/image" Target="../media/jt-ik-kalender-putih.png"/><Relationship Id="rId1" Type="http://schemas.openxmlformats.org/officeDocument/2006/relationships/image" Target="../media/image-2-1.png"/></Relationships>
</file>

<file path=ppt/slides/_rels/slide3.xml.rels><?xml version='1.0' encoding='UTF-8' standalone='yes'?>
<Relationships xmlns="http://schemas.openxmlformats.org/package/2006/relationships"><Relationship Id="rIdL10" Type="http://schemas.openxmlformats.org/officeDocument/2006/relationships/image" Target="../media/lpg-ik-perisai-navy.png"/><Relationship Id="rIdL11" Type="http://schemas.openxmlformats.org/officeDocument/2006/relationships/image" Target="../media/lpg-ik-awas-merah.png"/><Relationship Id="rIdL12" Type="http://schemas.openxmlformats.org/officeDocument/2006/relationships/image" Target="../media/lpg-ik-pesawat-putih.png"/><Relationship Id="rIdL13" Type="http://schemas.openxmlformats.org/officeDocument/2006/relationships/image" Target="../media/lpg-ik-pesawat-navy.png"/><Relationship Id="rIdL14" Type="http://schemas.openxmlformats.org/officeDocument/2006/relationships/image" Target="../media/lpg-ik-awas-putih.png"/><Relationship Id="rIdL15" Type="http://schemas.openxmlformats.org/officeDocument/2006/relationships/image" Target="../media/lpg-ik-api-merah.png"/><Relationship Id="rIdL16" Type="http://schemas.openxmlformats.org/officeDocument/2006/relationships/image" Target="../media/lpg-ik-bintang-navy.png"/><Relationship Id="rIdL17" Type="http://schemas.openxmlformats.org/officeDocument/2006/relationships/image" Target="../media/lpg-ik-lencana-navy.png"/><Relationship Id="rIdL18" Type="http://schemas.openxmlformats.org/officeDocument/2006/relationships/image" Target="../media/lpg-ik-tetes-navy.png"/><Relationship Id="rIdL19" Type="http://schemas.openxmlformats.org/officeDocument/2006/relationships/image" Target="../media/lpg-ik-orang-navy.png"/><Relationship Id="rIdL2" Type="http://schemas.openxmlformats.org/officeDocument/2006/relationships/image" Target="../media/jt-ik-luas-navy.png"/><Relationship Id="rIdL20" Type="http://schemas.openxmlformats.org/officeDocument/2006/relationships/image" Target="../media/lpg-ik-mata-navy.png"/><Relationship Id="rIdL3" Type="http://schemas.openxmlformats.org/officeDocument/2006/relationships/image" Target="../media/lpg-ik-pin-navy.png"/><Relationship Id="rIdL4" Type="http://schemas.openxmlformats.org/officeDocument/2006/relationships/image" Target="../media/lpg-ik-pin-oranye.png"/><Relationship Id="rIdL5" Type="http://schemas.openxmlformats.org/officeDocument/2006/relationships/image" Target="../media/lpg-ik-pin-merah.png"/><Relationship Id="rIdL6" Type="http://schemas.openxmlformats.org/officeDocument/2006/relationships/image" Target="../media/lpg-ik-api-putih.png"/><Relationship Id="rIdL7" Type="http://schemas.openxmlformats.org/officeDocument/2006/relationships/image" Target="../media/lpg-ik-api-oranye.png"/><Relationship Id="rIdL8" Type="http://schemas.openxmlformats.org/officeDocument/2006/relationships/image" Target="../media/lpg-ik-kalender-navy.png"/><Relationship Id="rIdL9" Type="http://schemas.openxmlformats.org/officeDocument/2006/relationships/image" Target="../media/lpg-ik-perisai-putih.png"/><Relationship Id="rIdLay" Type="http://schemas.openxmlformats.org/officeDocument/2006/relationships/slideLayout" Target="../slideLayouts/slideLayout2.xml"/><Relationship Id="rIdM1" Type="http://schemas.openxmlformats.org/officeDocument/2006/relationships/image" Target="../media/jt-ik-gunung-putih.png"/><Relationship Id="rIdM10" Type="http://schemas.openxmlformats.org/officeDocument/2006/relationships/image" Target="../media/jt-ik-api-putih.png"/><Relationship Id="rIdM11" Type="http://schemas.openxmlformats.org/officeDocument/2006/relationships/image" Target="../media/jt-ik-kalender-putih.png"/><Relationship Id="rIdM12" Type="http://schemas.openxmlformats.org/officeDocument/2006/relationships/image" Target="../media/jt-ik-pohon-putih.png"/><Relationship Id="rIdM13" Type="http://schemas.openxmlformats.org/officeDocument/2006/relationships/image" Target="../media/jt-ik-sirene-oranye.png"/><Relationship Id="rIdM14" Type="http://schemas.openxmlformats.org/officeDocument/2006/relationships/image" Target="../media/jt-ik-pohon-oranye.png"/><Relationship Id="rIdM15" Type="http://schemas.openxmlformats.org/officeDocument/2006/relationships/image" Target="../media/jt-ik-sirene-navy.png"/><Relationship Id="rIdM16" Type="http://schemas.openxmlformats.org/officeDocument/2006/relationships/image" Target="../media/jt-ik-pemadam-navy.png"/><Relationship Id="rIdM17" Type="http://schemas.openxmlformats.org/officeDocument/2006/relationships/image" Target="../media/jt-ik-orang-navy.png"/><Relationship Id="rIdM18" Type="http://schemas.openxmlformats.org/officeDocument/2006/relationships/image" Target="../media/jt-ik-pohon-navy.png"/><Relationship Id="rIdM19" Type="http://schemas.openxmlformats.org/officeDocument/2006/relationships/image" Target="../media/jt-ik-air-navy.png"/><Relationship Id="rIdM2" Type="http://schemas.openxmlformats.org/officeDocument/2006/relationships/image" Target="../media/jt-ik-luas-merah.png"/><Relationship Id="rIdM20" Type="http://schemas.openxmlformats.org/officeDocument/2006/relationships/image" Target="../media/jt-ik-jam-putih.png"/><Relationship Id="rIdM3" Type="http://schemas.openxmlformats.org/officeDocument/2006/relationships/image" Target="../media/jt-ik-api-oranye.png"/><Relationship Id="rIdM4" Type="http://schemas.openxmlformats.org/officeDocument/2006/relationships/image" Target="../media/jt-ik-kalender-navy.png"/><Relationship Id="rIdM5" Type="http://schemas.openxmlformats.org/officeDocument/2006/relationships/image" Target="../media/jt-ik-belum-merah.png"/><Relationship Id="rIdM6" Type="http://schemas.openxmlformats.org/officeDocument/2006/relationships/image" Target="../media/jt-ik-awas-putih.png"/><Relationship Id="rIdM7" Type="http://schemas.openxmlformats.org/officeDocument/2006/relationships/image" Target="../media/jt-ik-api-merah.png"/><Relationship Id="rIdM8" Type="http://schemas.openxmlformats.org/officeDocument/2006/relationships/image" Target="../media/jt-ik-peta-putih.png"/><Relationship Id="rIdM9" Type="http://schemas.openxmlformats.org/officeDocument/2006/relationships/image" Target="../media/pps-peta-kawasan.png"/><Relationship Id="rId1" Type="http://schemas.openxmlformats.org/officeDocument/2006/relationships/image" Target="../media/image-2-1.png"/></Relationships>
</file>

<file path=ppt/slides/_rels/slide4.xml.rels><?xml version='1.0' encoding='UTF-8' standalone='yes'?>
<Relationships xmlns="http://schemas.openxmlformats.org/package/2006/relationships"><Relationship Id="rIdL2" Type="http://schemas.openxmlformats.org/officeDocument/2006/relationships/image" Target="../media/lpg-ik-tetes-merah.png"/><Relationship Id="rIdL3" Type="http://schemas.openxmlformats.org/officeDocument/2006/relationships/image" Target="../media/lpg-ik-kalender-navy.png"/><Relationship Id="rIdL4" Type="http://schemas.openxmlformats.org/officeDocument/2006/relationships/image" Target="../media/lpg-ik-awas-navy.png"/><Relationship Id="rIdL5" Type="http://schemas.openxmlformats.org/officeDocument/2006/relationships/image" Target="../media/lpg-ik-tetes-biru.png"/><Relationship Id="rIdL6" Type="http://schemas.openxmlformats.org/officeDocument/2006/relationships/image" Target="../media/lpg-ik-awas-oranye.png"/><Relationship Id="rIdL7" Type="http://schemas.openxmlformats.org/officeDocument/2006/relationships/image" Target="../media/jt-ik-kalender-putih.png"/><Relationship Id="rIdL8" Type="http://schemas.openxmlformats.org/officeDocument/2006/relationships/image" Target="../media/lpg-ik-pin-navy.png"/><Relationship Id="rIdL9" Type="http://schemas.openxmlformats.org/officeDocument/2006/relationships/image" Target="../media/jt-ik-kalender-navy.png"/><Relationship Id="rIdLay" Type="http://schemas.openxmlformats.org/officeDocument/2006/relationships/slideLayout" Target="../slideLayouts/slideLayout2.xml"/><Relationship Id="rIdM1" Type="http://schemas.openxmlformats.org/officeDocument/2006/relationships/image" Target="../media/jt-ik-air-putih.png"/><Relationship Id="rIdM10" Type="http://schemas.openxmlformats.org/officeDocument/2006/relationships/image" Target="../media/jt-ik-air-navy.png"/><Relationship Id="rIdM11" Type="http://schemas.openxmlformats.org/officeDocument/2006/relationships/image" Target="../media/jt-ik-tenda-navy.png"/><Relationship Id="rIdM12" Type="http://schemas.openxmlformats.org/officeDocument/2006/relationships/image" Target="../media/jt-ik-truk-navy.png"/><Relationship Id="rIdM13" Type="http://schemas.openxmlformats.org/officeDocument/2006/relationships/image" Target="../media/jt-ik-sirene-putih.png"/><Relationship Id="rIdM14" Type="http://schemas.openxmlformats.org/officeDocument/2006/relationships/image" Target="../media/jt-ik-peta-putih.png"/><Relationship Id="rIdM15" Type="http://schemas.openxmlformats.org/officeDocument/2006/relationships/image" Target="../media/jt-ik-gunung-putih.png"/><Relationship Id="rIdM2" Type="http://schemas.openxmlformats.org/officeDocument/2006/relationships/image" Target="../media/jt-ik-air-baja.png"/><Relationship Id="rIdM3" Type="http://schemas.openxmlformats.org/officeDocument/2006/relationships/image" Target="../media/jt-ik-petir-navy.png"/><Relationship Id="rIdM4" Type="http://schemas.openxmlformats.org/officeDocument/2006/relationships/image" Target="../media/jt-ik-awas-oranye.png"/><Relationship Id="rIdM5" Type="http://schemas.openxmlformats.org/officeDocument/2006/relationships/image" Target="../media/jt-ik-gunung-coklat.png"/><Relationship Id="rIdM6" Type="http://schemas.openxmlformats.org/officeDocument/2006/relationships/image" Target="../media/jt-ik-awas-putih.png"/><Relationship Id="rIdM7" Type="http://schemas.openxmlformats.org/officeDocument/2006/relationships/image" Target="../media/jt-ik-air-merah.png"/><Relationship Id="rIdM8" Type="http://schemas.openxmlformats.org/officeDocument/2006/relationships/image" Target="../media/jt-ik-air-biru.png"/><Relationship Id="rIdM9" Type="http://schemas.openxmlformats.org/officeDocument/2006/relationships/image" Target="../media/jt-ik-truk-putih.png"/><Relationship Id="rId1" Type="http://schemas.openxmlformats.org/officeDocument/2006/relationships/image" Target="../media/image-2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906272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587" name="T"/>
          <p:cNvSpPr txBox="1"/>
          <p:nvPr/>
        </p:nvSpPr>
        <p:spPr>
          <a:xfrm>
            <a:off x="548640" y="365760"/>
            <a:ext cx="8183880" cy="299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Sebaran Titik Panas dan Kebakaran di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Papua Selatan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per 30 Oktober</a:t>
            </a:r>
            <a:endParaRPr lang="id-ID" sz="2000"/>
          </a:p>
        </p:txBody>
      </p:sp>
      <p:sp>
        <p:nvSpPr>
          <p:cNvPr id="301" name="K"/>
          <p:cNvSpPr/>
          <p:nvPr/>
        </p:nvSpPr>
        <p:spPr>
          <a:xfrm>
            <a:off x="548640" y="1031967"/>
            <a:ext cx="7170725" cy="986222"/>
          </a:xfrm>
          <a:prstGeom prst="roundRect">
            <a:avLst>
              <a:gd name="adj" fmla="val 7843"/>
            </a:avLst>
          </a:prstGeom>
          <a:solidFill>
            <a:srgbClr val="F3F5F8"/>
          </a:solidFill>
          <a:ln>
            <a:noFill/>
          </a:ln>
        </p:spPr>
        <p:txBody>
          <a:bodyPr/>
          <a:p/>
        </p:txBody>
      </p:sp>
      <p:sp>
        <p:nvSpPr>
          <p:cNvPr id="302" name="K"/>
          <p:cNvSpPr/>
          <p:nvPr/>
        </p:nvSpPr>
        <p:spPr>
          <a:xfrm>
            <a:off x="658368" y="1095228"/>
            <a:ext cx="1212000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pic>
        <p:nvPicPr>
          <p:cNvPr id="303" name="G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731520" y="1131804"/>
            <a:ext cx="109728" cy="109728"/>
          </a:xfrm>
          <a:prstGeom prst="rect">
            <a:avLst/>
          </a:prstGeom>
        </p:spPr>
      </p:pic>
      <p:sp>
        <p:nvSpPr>
          <p:cNvPr id="304" name="T"/>
          <p:cNvSpPr txBox="1"/>
          <p:nvPr/>
        </p:nvSpPr>
        <p:spPr>
          <a:xfrm>
            <a:off x="896112" y="1095228"/>
            <a:ext cx="952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60" b="1" spc="1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DATA SATELIT</a:t>
            </a:r>
            <a:endParaRPr lang="id-ID" sz="660"/>
          </a:p>
        </p:txBody>
      </p:sp>
      <p:sp>
        <p:nvSpPr>
          <p:cNvPr id="305" name="K"/>
          <p:cNvSpPr/>
          <p:nvPr/>
        </p:nvSpPr>
        <p:spPr>
          <a:xfrm>
            <a:off x="658368" y="1360708"/>
            <a:ext cx="2256129" cy="5414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06" name="K"/>
          <p:cNvSpPr/>
          <p:nvPr/>
        </p:nvSpPr>
        <p:spPr>
          <a:xfrm>
            <a:off x="768096" y="1486181"/>
            <a:ext cx="329184" cy="329184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/>
          <a:p/>
        </p:txBody>
      </p:sp>
      <p:pic>
        <p:nvPicPr>
          <p:cNvPr id="307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841248" y="1559333"/>
            <a:ext cx="182880" cy="182880"/>
          </a:xfrm>
          <a:prstGeom prst="rect">
            <a:avLst/>
          </a:prstGeom>
        </p:spPr>
      </p:pic>
      <p:sp>
        <p:nvSpPr>
          <p:cNvPr id="308" name="T"/>
          <p:cNvSpPr txBox="1"/>
          <p:nvPr/>
        </p:nvSpPr>
        <p:spPr>
          <a:xfrm>
            <a:off x="1170432" y="1399383"/>
            <a:ext cx="1707489" cy="2900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257</a:t>
            </a:r>
            <a:endParaRPr lang="id-ID" sz="1700"/>
          </a:p>
        </p:txBody>
      </p:sp>
      <p:sp>
        <p:nvSpPr>
          <p:cNvPr id="309" name="T"/>
          <p:cNvSpPr txBox="1"/>
          <p:nvPr/>
        </p:nvSpPr>
        <p:spPr>
          <a:xfrm>
            <a:off x="1170432" y="1684241"/>
            <a:ext cx="1707489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titik panas 30 Okt</a:t>
            </a:r>
            <a:endParaRPr lang="id-ID" sz="750"/>
          </a:p>
        </p:txBody>
      </p:sp>
      <p:sp>
        <p:nvSpPr>
          <p:cNvPr id="310" name="K"/>
          <p:cNvSpPr/>
          <p:nvPr/>
        </p:nvSpPr>
        <p:spPr>
          <a:xfrm>
            <a:off x="3005937" y="1360708"/>
            <a:ext cx="2256129" cy="5414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11" name="K"/>
          <p:cNvSpPr/>
          <p:nvPr/>
        </p:nvSpPr>
        <p:spPr>
          <a:xfrm>
            <a:off x="3115665" y="1486181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312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3188817" y="1559333"/>
            <a:ext cx="182880" cy="182880"/>
          </a:xfrm>
          <a:prstGeom prst="rect">
            <a:avLst/>
          </a:prstGeom>
        </p:spPr>
      </p:pic>
      <p:sp>
        <p:nvSpPr>
          <p:cNvPr id="313" name="T"/>
          <p:cNvSpPr txBox="1"/>
          <p:nvPr/>
        </p:nvSpPr>
        <p:spPr>
          <a:xfrm>
            <a:off x="3518001" y="1399383"/>
            <a:ext cx="1707489" cy="2900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881 ha</a:t>
            </a:r>
            <a:endParaRPr lang="id-ID" sz="1700"/>
          </a:p>
        </p:txBody>
      </p:sp>
      <p:sp>
        <p:nvSpPr>
          <p:cNvPr id="314" name="T"/>
          <p:cNvSpPr txBox="1"/>
          <p:nvPr/>
        </p:nvSpPr>
        <p:spPr>
          <a:xfrm>
            <a:off x="3518001" y="1684241"/>
            <a:ext cx="1707489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luas terbakar 29 Okt</a:t>
            </a:r>
            <a:endParaRPr lang="id-ID" sz="750"/>
          </a:p>
        </p:txBody>
      </p:sp>
      <p:sp>
        <p:nvSpPr>
          <p:cNvPr id="315" name="K"/>
          <p:cNvSpPr/>
          <p:nvPr/>
        </p:nvSpPr>
        <p:spPr>
          <a:xfrm>
            <a:off x="5353506" y="1360708"/>
            <a:ext cx="2256129" cy="5414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16" name="K"/>
          <p:cNvSpPr/>
          <p:nvPr/>
        </p:nvSpPr>
        <p:spPr>
          <a:xfrm>
            <a:off x="5463234" y="1486181"/>
            <a:ext cx="329184" cy="329184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317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536386" y="1559333"/>
            <a:ext cx="182880" cy="182880"/>
          </a:xfrm>
          <a:prstGeom prst="rect">
            <a:avLst/>
          </a:prstGeom>
        </p:spPr>
      </p:pic>
      <p:sp>
        <p:nvSpPr>
          <p:cNvPr id="318" name="T"/>
          <p:cNvSpPr txBox="1"/>
          <p:nvPr/>
        </p:nvSpPr>
        <p:spPr>
          <a:xfrm>
            <a:off x="5865570" y="1399383"/>
            <a:ext cx="1707489" cy="2900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7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502 ha</a:t>
            </a:r>
            <a:endParaRPr lang="id-ID" sz="1700"/>
          </a:p>
        </p:txBody>
      </p:sp>
      <p:sp>
        <p:nvSpPr>
          <p:cNvPr id="319" name="T"/>
          <p:cNvSpPr txBox="1"/>
          <p:nvPr/>
        </p:nvSpPr>
        <p:spPr>
          <a:xfrm>
            <a:off x="5865570" y="1684241"/>
            <a:ext cx="1707489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belum padam 29 Okt</a:t>
            </a:r>
            <a:endParaRPr lang="id-ID" sz="750"/>
          </a:p>
        </p:txBody>
      </p:sp>
      <p:sp>
        <p:nvSpPr>
          <p:cNvPr id="325" name="K"/>
          <p:cNvSpPr/>
          <p:nvPr/>
        </p:nvSpPr>
        <p:spPr>
          <a:xfrm>
            <a:off x="7993685" y="1031967"/>
            <a:ext cx="3649370" cy="986222"/>
          </a:xfrm>
          <a:prstGeom prst="roundRect">
            <a:avLst>
              <a:gd name="adj" fmla="val 7843"/>
            </a:avLst>
          </a:prstGeom>
          <a:solidFill>
            <a:srgbClr val="FCF1F2"/>
          </a:solidFill>
          <a:ln>
            <a:noFill/>
          </a:ln>
        </p:spPr>
        <p:txBody>
          <a:bodyPr/>
          <a:p/>
        </p:txBody>
      </p:sp>
      <p:sp>
        <p:nvSpPr>
          <p:cNvPr id="326" name="K"/>
          <p:cNvSpPr/>
          <p:nvPr/>
        </p:nvSpPr>
        <p:spPr>
          <a:xfrm>
            <a:off x="8103413" y="1095228"/>
            <a:ext cx="1440000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/>
          <a:p/>
        </p:txBody>
      </p:sp>
      <p:pic>
        <p:nvPicPr>
          <p:cNvPr id="327" name="G"/>
          <p:cNvPicPr>
            <a:picLocks noChangeAspect="1"/>
          </p:cNvPicPr>
          <p:nvPr/>
        </p:nvPicPr>
        <p:blipFill>
          <a:blip r:embed="rIdM6"/>
          <a:stretch>
            <a:fillRect/>
          </a:stretch>
        </p:blipFill>
        <p:spPr>
          <a:xfrm>
            <a:off x="8176565" y="1131804"/>
            <a:ext cx="109728" cy="109728"/>
          </a:xfrm>
          <a:prstGeom prst="rect">
            <a:avLst/>
          </a:prstGeom>
        </p:spPr>
      </p:pic>
      <p:sp>
        <p:nvSpPr>
          <p:cNvPr id="328" name="T"/>
          <p:cNvSpPr txBox="1"/>
          <p:nvPr/>
        </p:nvSpPr>
        <p:spPr>
          <a:xfrm>
            <a:off x="8341157" y="1095228"/>
            <a:ext cx="1180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60" b="1" spc="1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PERLU PERHATIAN</a:t>
            </a:r>
            <a:endParaRPr lang="id-ID" sz="660"/>
          </a:p>
        </p:txBody>
      </p:sp>
      <p:sp>
        <p:nvSpPr>
          <p:cNvPr id="329" name="K"/>
          <p:cNvSpPr/>
          <p:nvPr/>
        </p:nvSpPr>
        <p:spPr>
          <a:xfrm>
            <a:off x="8103413" y="1360708"/>
            <a:ext cx="1669237" cy="5414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30" name="K"/>
          <p:cNvSpPr/>
          <p:nvPr/>
        </p:nvSpPr>
        <p:spPr>
          <a:xfrm>
            <a:off x="8213141" y="1486181"/>
            <a:ext cx="329184" cy="329184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331" name="G"/>
          <p:cNvPicPr>
            <a:picLocks noChangeAspect="1"/>
          </p:cNvPicPr>
          <p:nvPr/>
        </p:nvPicPr>
        <p:blipFill>
          <a:blip r:embed="rIdM7"/>
          <a:stretch>
            <a:fillRect/>
          </a:stretch>
        </p:blipFill>
        <p:spPr>
          <a:xfrm>
            <a:off x="8286293" y="1559333"/>
            <a:ext cx="182880" cy="182880"/>
          </a:xfrm>
          <a:prstGeom prst="rect">
            <a:avLst/>
          </a:prstGeom>
        </p:spPr>
      </p:pic>
      <p:sp>
        <p:nvSpPr>
          <p:cNvPr id="332" name="T"/>
          <p:cNvSpPr txBox="1"/>
          <p:nvPr/>
        </p:nvSpPr>
        <p:spPr>
          <a:xfrm>
            <a:off x="8615477" y="1399383"/>
            <a:ext cx="1109237" cy="2900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7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214</a:t>
            </a:r>
            <a:endParaRPr lang="id-ID" sz="1700"/>
          </a:p>
        </p:txBody>
      </p:sp>
      <p:sp>
        <p:nvSpPr>
          <p:cNvPr id="333" name="T"/>
          <p:cNvSpPr txBox="1"/>
          <p:nvPr/>
        </p:nvSpPr>
        <p:spPr>
          <a:xfrm>
            <a:off x="8615477" y="1684241"/>
            <a:ext cx="1109237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cluster Siaga</a:t>
            </a:r>
            <a:endParaRPr lang="id-ID" sz="750"/>
          </a:p>
        </p:txBody>
      </p:sp>
      <p:sp>
        <p:nvSpPr>
          <p:cNvPr id="334" name="K"/>
          <p:cNvSpPr/>
          <p:nvPr/>
        </p:nvSpPr>
        <p:spPr>
          <a:xfrm>
            <a:off x="9864090" y="1360708"/>
            <a:ext cx="1669237" cy="5414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35" name="K"/>
          <p:cNvSpPr/>
          <p:nvPr/>
        </p:nvSpPr>
        <p:spPr>
          <a:xfrm>
            <a:off x="9973818" y="1486181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336" name="G"/>
          <p:cNvPicPr>
            <a:picLocks noChangeAspect="1"/>
          </p:cNvPicPr>
          <p:nvPr/>
        </p:nvPicPr>
        <p:blipFill>
          <a:blip r:embed="rIdL2"/>
          <a:stretch>
            <a:fillRect/>
          </a:stretch>
        </p:blipFill>
        <p:spPr>
          <a:xfrm>
            <a:off x="10046970" y="1559333"/>
            <a:ext cx="182880" cy="182880"/>
          </a:xfrm>
          <a:prstGeom prst="rect">
            <a:avLst/>
          </a:prstGeom>
        </p:spPr>
      </p:pic>
      <p:sp>
        <p:nvSpPr>
          <p:cNvPr id="337" name="T"/>
          <p:cNvSpPr txBox="1"/>
          <p:nvPr/>
        </p:nvSpPr>
        <p:spPr>
          <a:xfrm>
            <a:off x="10376154" y="1399383"/>
            <a:ext cx="1109237" cy="2900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Membaik</a:t>
            </a:r>
            <a:endParaRPr lang="id-ID" sz="1700"/>
          </a:p>
        </p:txBody>
      </p:sp>
      <p:sp>
        <p:nvSpPr>
          <p:cNvPr id="338" name="T"/>
          <p:cNvSpPr txBox="1"/>
          <p:nvPr/>
        </p:nvSpPr>
        <p:spPr>
          <a:xfrm>
            <a:off x="10376154" y="1684241"/>
            <a:ext cx="1109237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jarak pandang, 29 Okt</a:t>
            </a:r>
            <a:endParaRPr lang="id-ID" sz="750"/>
          </a:p>
        </p:txBody>
      </p:sp>
      <p:pic>
        <p:nvPicPr>
          <p:cNvPr id="339" name="G"/>
          <p:cNvPicPr>
            <a:picLocks noChangeAspect="1"/>
          </p:cNvPicPr>
          <p:nvPr/>
        </p:nvPicPr>
        <p:blipFill>
          <a:blip r:embed="rIdM9"/>
          <a:stretch>
            <a:fillRect/>
          </a:stretch>
        </p:blipFill>
        <p:spPr>
          <a:xfrm>
            <a:off x="548640" y="2311889"/>
            <a:ext cx="4297680" cy="2485000"/>
          </a:xfrm>
          <a:prstGeom prst="rect">
            <a:avLst/>
          </a:prstGeom>
        </p:spPr>
      </p:pic>
      <p:sp>
        <p:nvSpPr>
          <p:cNvPr id="361" name="T"/>
          <p:cNvSpPr txBox="1"/>
          <p:nvPr/>
        </p:nvSpPr>
        <p:spPr>
          <a:xfrm>
            <a:off x="5212080" y="2148608"/>
            <a:ext cx="8200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650" b="1" spc="8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KAB/KOTA</a:t>
            </a:r>
            <a:endParaRPr lang="id-ID" sz="650"/>
          </a:p>
        </p:txBody>
      </p:sp>
      <p:cxnSp>
        <p:nvCxnSpPr>
          <p:cNvPr id="374" name="L"/>
          <p:cNvCxnSpPr/>
          <p:nvPr/>
        </p:nvCxnSpPr>
        <p:spPr>
          <a:xfrm>
            <a:off x="4983480" y="2385605"/>
            <a:ext cx="354860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62" name="K"/>
          <p:cNvSpPr/>
          <p:nvPr/>
        </p:nvSpPr>
        <p:spPr>
          <a:xfrm>
            <a:off x="8686800" y="2095540"/>
            <a:ext cx="2956255" cy="309403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463" name="K"/>
          <p:cNvSpPr/>
          <p:nvPr/>
        </p:nvSpPr>
        <p:spPr>
          <a:xfrm>
            <a:off x="8686800" y="2095540"/>
            <a:ext cx="2956255" cy="483442"/>
          </a:xfrm>
          <a:prstGeom prst="roundRect">
            <a:avLst>
              <a:gd name="adj" fmla="val 16000"/>
            </a:avLst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sp>
        <p:nvSpPr>
          <p:cNvPr id="464" name="K"/>
          <p:cNvSpPr/>
          <p:nvPr/>
        </p:nvSpPr>
        <p:spPr>
          <a:xfrm>
            <a:off x="8686800" y="2390854"/>
            <a:ext cx="2956255" cy="182880"/>
          </a:xfrm>
          <a:prstGeom prst="rect">
            <a:avLst/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sp>
        <p:nvSpPr>
          <p:cNvPr id="465" name="K"/>
          <p:cNvSpPr/>
          <p:nvPr/>
        </p:nvSpPr>
        <p:spPr>
          <a:xfrm>
            <a:off x="8814816" y="2190957"/>
            <a:ext cx="292608" cy="29260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/>
          <a:p/>
        </p:txBody>
      </p:sp>
      <p:pic>
        <p:nvPicPr>
          <p:cNvPr id="466" name="G"/>
          <p:cNvPicPr>
            <a:picLocks noChangeAspect="1"/>
          </p:cNvPicPr>
          <p:nvPr/>
        </p:nvPicPr>
        <p:blipFill>
          <a:blip r:embed="rIdM6"/>
          <a:stretch>
            <a:fillRect/>
          </a:stretch>
        </p:blipFill>
        <p:spPr>
          <a:xfrm>
            <a:off x="8869680" y="2245821"/>
            <a:ext cx="182880" cy="182880"/>
          </a:xfrm>
          <a:prstGeom prst="rect">
            <a:avLst/>
          </a:prstGeom>
        </p:spPr>
      </p:pic>
      <p:sp>
        <p:nvSpPr>
          <p:cNvPr id="467" name="T"/>
          <p:cNvSpPr txBox="1"/>
          <p:nvPr/>
        </p:nvSpPr>
        <p:spPr>
          <a:xfrm>
            <a:off x="9189720" y="2172891"/>
            <a:ext cx="1856255" cy="328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Kejadian dan status</a:t>
            </a:r>
            <a:endParaRPr lang="id-ID" sz="1100"/>
          </a:p>
        </p:txBody>
      </p:sp>
      <p:sp>
        <p:nvSpPr>
          <p:cNvPr id="468" name="T"/>
          <p:cNvSpPr txBox="1"/>
          <p:nvPr/>
        </p:nvSpPr>
        <p:spPr>
          <a:xfrm>
            <a:off x="10543055" y="2153553"/>
            <a:ext cx="980000" cy="3674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16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6</a:t>
            </a:r>
            <a:endParaRPr lang="id-ID" sz="1600"/>
          </a:p>
        </p:txBody>
      </p:sp>
      <p:sp>
        <p:nvSpPr>
          <p:cNvPr id="581" name="K"/>
          <p:cNvSpPr/>
          <p:nvPr/>
        </p:nvSpPr>
        <p:spPr>
          <a:xfrm>
            <a:off x="8833104" y="410464"/>
            <a:ext cx="2362200" cy="21031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pic>
        <p:nvPicPr>
          <p:cNvPr id="582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8915400" y="447040"/>
            <a:ext cx="137160" cy="137160"/>
          </a:xfrm>
          <a:prstGeom prst="rect">
            <a:avLst/>
          </a:prstGeom>
        </p:spPr>
      </p:pic>
      <p:sp>
        <p:nvSpPr>
          <p:cNvPr id="583" name="T"/>
          <p:cNvSpPr txBox="1"/>
          <p:nvPr/>
        </p:nvSpPr>
        <p:spPr>
          <a:xfrm>
            <a:off x="9098280" y="410464"/>
            <a:ext cx="900000" cy="21031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endParaRPr lang="id-ID" sz="600"/>
          </a:p>
        </p:txBody>
      </p:sp>
      <p:sp>
        <p:nvSpPr>
          <p:cNvPr id="584" name="T"/>
          <p:cNvSpPr txBox="1"/>
          <p:nvPr/>
        </p:nvSpPr>
        <p:spPr>
          <a:xfrm>
            <a:off x="9838944" y="410464"/>
            <a:ext cx="1274064" cy="21031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30 Okt 2026, 24.00 WIB</a:t>
            </a:r>
            <a:endParaRPr lang="id-ID" sz="800"/>
          </a:p>
        </p:txBody>
      </p:sp>
      <p:sp>
        <p:nvSpPr>
          <p:cNvPr id="585" name="K"/>
          <p:cNvSpPr/>
          <p:nvPr/>
        </p:nvSpPr>
        <p:spPr>
          <a:xfrm>
            <a:off x="548640" y="6219191"/>
            <a:ext cx="36576" cy="164592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/>
          <a:p/>
        </p:txBody>
      </p:sp>
      <p:sp>
        <p:nvSpPr>
          <p:cNvPr id="586" name="T"/>
          <p:cNvSpPr txBox="1"/>
          <p:nvPr/>
        </p:nvSpPr>
        <p:spPr>
          <a:xfrm>
            <a:off x="640080" y="6210047"/>
            <a:ext cx="100000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2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*Data berdasarkan Geographic Information System (GIS) dengan satelit NASA (FIRMS: VIIRS dan MODIS). 24 Okt ditandai celah lintasan satelit di FIRMS: titik hari itu bisa terlalu rendah.</a:t>
            </a:r>
            <a:endParaRPr lang="id-ID" sz="720"/>
          </a:p>
        </p:txBody>
      </p:sp>
      <p:sp>
        <p:nvSpPr>
          <p:cNvPr id="9001" name="K"/>
          <p:cNvSpPr/>
          <p:nvPr/>
        </p:nvSpPr>
        <p:spPr>
          <a:xfrm>
            <a:off x="3420000" y="4043007"/>
            <a:ext cx="105800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07A2E"/>
            </a:solidFill>
          </a:ln>
        </p:spPr>
        <p:txBody>
          <a:bodyPr/>
          <a:p/>
        </p:txBody>
      </p:sp>
      <p:sp>
        <p:nvSpPr>
          <p:cNvPr id="9002" name="K"/>
          <p:cNvSpPr/>
          <p:nvPr/>
        </p:nvSpPr>
        <p:spPr>
          <a:xfrm>
            <a:off x="3447432" y="4061295"/>
            <a:ext cx="91440" cy="91440"/>
          </a:xfrm>
          <a:prstGeom prst="ellipse">
            <a:avLst/>
          </a:prstGeom>
          <a:solidFill>
            <a:srgbClr val="E07A2E"/>
          </a:solidFill>
          <a:ln>
            <a:noFill/>
          </a:ln>
        </p:spPr>
        <p:txBody>
          <a:bodyPr/>
          <a:p/>
        </p:txBody>
      </p:sp>
      <p:sp>
        <p:nvSpPr>
          <p:cNvPr id="9003" name="T"/>
          <p:cNvSpPr txBox="1"/>
          <p:nvPr/>
        </p:nvSpPr>
        <p:spPr>
          <a:xfrm>
            <a:off x="3447432" y="4061295"/>
            <a:ext cx="91440" cy="914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004" name="T"/>
          <p:cNvSpPr txBox="1"/>
          <p:nvPr/>
        </p:nvSpPr>
        <p:spPr>
          <a:xfrm>
            <a:off x="3575808" y="4043007"/>
            <a:ext cx="878000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5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Kontuar, Merauke</a:t>
            </a:r>
            <a:r>
              <a:rPr lang="id-ID" sz="560" b="1" dirty="0">
                <a:solidFill>
                  <a:srgbClr val="E07A2E"/>
                </a:solidFill>
                <a:latin typeface="Roboto"/>
                <a:ea typeface="Roboto"/>
                <a:cs typeface="Roboto"/>
              </a:rPr>
              <a:t>  Siaga</a:t>
            </a:r>
          </a:p>
        </p:txBody>
      </p:sp>
      <p:sp>
        <p:nvSpPr>
          <p:cNvPr id="9005" name="K"/>
          <p:cNvSpPr/>
          <p:nvPr/>
        </p:nvSpPr>
        <p:spPr>
          <a:xfrm>
            <a:off x="3420000" y="4197708"/>
            <a:ext cx="105800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07A2E"/>
            </a:solidFill>
          </a:ln>
        </p:spPr>
        <p:txBody>
          <a:bodyPr/>
          <a:p/>
        </p:txBody>
      </p:sp>
      <p:sp>
        <p:nvSpPr>
          <p:cNvPr id="9006" name="K"/>
          <p:cNvSpPr/>
          <p:nvPr/>
        </p:nvSpPr>
        <p:spPr>
          <a:xfrm>
            <a:off x="3447432" y="4215996"/>
            <a:ext cx="91440" cy="91440"/>
          </a:xfrm>
          <a:prstGeom prst="ellipse">
            <a:avLst/>
          </a:prstGeom>
          <a:solidFill>
            <a:srgbClr val="E07A2E"/>
          </a:solidFill>
          <a:ln>
            <a:noFill/>
          </a:ln>
        </p:spPr>
        <p:txBody>
          <a:bodyPr/>
          <a:p/>
        </p:txBody>
      </p:sp>
      <p:sp>
        <p:nvSpPr>
          <p:cNvPr id="9007" name="T"/>
          <p:cNvSpPr txBox="1"/>
          <p:nvPr/>
        </p:nvSpPr>
        <p:spPr>
          <a:xfrm>
            <a:off x="3447432" y="4215996"/>
            <a:ext cx="91440" cy="914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008" name="T"/>
          <p:cNvSpPr txBox="1"/>
          <p:nvPr/>
        </p:nvSpPr>
        <p:spPr>
          <a:xfrm>
            <a:off x="3575808" y="4197708"/>
            <a:ext cx="878000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5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Jagebob, Merauke</a:t>
            </a:r>
            <a:r>
              <a:rPr lang="id-ID" sz="560" b="1" dirty="0">
                <a:solidFill>
                  <a:srgbClr val="E07A2E"/>
                </a:solidFill>
                <a:latin typeface="Roboto"/>
                <a:ea typeface="Roboto"/>
                <a:cs typeface="Roboto"/>
              </a:rPr>
              <a:t>  Siaga</a:t>
            </a:r>
          </a:p>
        </p:txBody>
      </p:sp>
      <p:sp>
        <p:nvSpPr>
          <p:cNvPr id="9009" name="K"/>
          <p:cNvSpPr/>
          <p:nvPr/>
        </p:nvSpPr>
        <p:spPr>
          <a:xfrm>
            <a:off x="3420000" y="4352410"/>
            <a:ext cx="1238000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07A2E"/>
            </a:solidFill>
          </a:ln>
        </p:spPr>
        <p:txBody>
          <a:bodyPr/>
          <a:p/>
        </p:txBody>
      </p:sp>
      <p:sp>
        <p:nvSpPr>
          <p:cNvPr id="9010" name="K"/>
          <p:cNvSpPr/>
          <p:nvPr/>
        </p:nvSpPr>
        <p:spPr>
          <a:xfrm>
            <a:off x="3447432" y="4370698"/>
            <a:ext cx="91440" cy="91440"/>
          </a:xfrm>
          <a:prstGeom prst="ellipse">
            <a:avLst/>
          </a:prstGeom>
          <a:solidFill>
            <a:srgbClr val="E07A2E"/>
          </a:solidFill>
          <a:ln>
            <a:noFill/>
          </a:ln>
        </p:spPr>
        <p:txBody>
          <a:bodyPr/>
          <a:p/>
        </p:txBody>
      </p:sp>
      <p:sp>
        <p:nvSpPr>
          <p:cNvPr id="9011" name="T"/>
          <p:cNvSpPr txBox="1"/>
          <p:nvPr/>
        </p:nvSpPr>
        <p:spPr>
          <a:xfrm>
            <a:off x="3447432" y="4370698"/>
            <a:ext cx="91440" cy="914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5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9012" name="T"/>
          <p:cNvSpPr txBox="1"/>
          <p:nvPr/>
        </p:nvSpPr>
        <p:spPr>
          <a:xfrm>
            <a:off x="3575808" y="4352410"/>
            <a:ext cx="1058000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5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Tanah Miring, Merauke</a:t>
            </a:r>
            <a:r>
              <a:rPr lang="id-ID" sz="560" b="1" dirty="0">
                <a:solidFill>
                  <a:srgbClr val="E07A2E"/>
                </a:solidFill>
                <a:latin typeface="Roboto"/>
                <a:ea typeface="Roboto"/>
                <a:cs typeface="Roboto"/>
              </a:rPr>
              <a:t>  Siaga</a:t>
            </a:r>
          </a:p>
        </p:txBody>
      </p:sp>
      <p:sp>
        <p:nvSpPr>
          <p:cNvPr id="9013" name="T"/>
          <p:cNvSpPr txBox="1"/>
          <p:nvPr/>
        </p:nvSpPr>
        <p:spPr>
          <a:xfrm>
            <a:off x="640080" y="4894822"/>
            <a:ext cx="1400000" cy="17373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00" b="1" spc="60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881 CLUSTER AKTIF</a:t>
            </a:r>
          </a:p>
        </p:txBody>
      </p:sp>
      <p:sp>
        <p:nvSpPr>
          <p:cNvPr id="9014" name="K"/>
          <p:cNvSpPr/>
          <p:nvPr/>
        </p:nvSpPr>
        <p:spPr>
          <a:xfrm>
            <a:off x="2070000" y="4922254"/>
            <a:ext cx="118872" cy="118872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/>
          <a:p/>
        </p:txBody>
      </p:sp>
      <p:sp>
        <p:nvSpPr>
          <p:cNvPr id="9015" name="T"/>
          <p:cNvSpPr txBox="1"/>
          <p:nvPr/>
        </p:nvSpPr>
        <p:spPr>
          <a:xfrm>
            <a:off x="2225448" y="4894822"/>
            <a:ext cx="600000" cy="17373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Prioritas 0</a:t>
            </a:r>
          </a:p>
        </p:txBody>
      </p:sp>
      <p:sp>
        <p:nvSpPr>
          <p:cNvPr id="9016" name="K"/>
          <p:cNvSpPr/>
          <p:nvPr/>
        </p:nvSpPr>
        <p:spPr>
          <a:xfrm>
            <a:off x="2750000" y="4922254"/>
            <a:ext cx="118872" cy="118872"/>
          </a:xfrm>
          <a:prstGeom prst="ellipse">
            <a:avLst/>
          </a:prstGeom>
          <a:solidFill>
            <a:srgbClr val="E07A2E"/>
          </a:solidFill>
          <a:ln>
            <a:noFill/>
          </a:ln>
        </p:spPr>
        <p:txBody>
          <a:bodyPr/>
          <a:p/>
        </p:txBody>
      </p:sp>
      <p:sp>
        <p:nvSpPr>
          <p:cNvPr id="9017" name="T"/>
          <p:cNvSpPr txBox="1"/>
          <p:nvPr/>
        </p:nvSpPr>
        <p:spPr>
          <a:xfrm>
            <a:off x="2905448" y="4894822"/>
            <a:ext cx="600000" cy="17373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Siaga 214</a:t>
            </a:r>
          </a:p>
        </p:txBody>
      </p:sp>
      <p:sp>
        <p:nvSpPr>
          <p:cNvPr id="9018" name="K"/>
          <p:cNvSpPr/>
          <p:nvPr/>
        </p:nvSpPr>
        <p:spPr>
          <a:xfrm>
            <a:off x="3350000" y="4922254"/>
            <a:ext cx="118872" cy="118872"/>
          </a:xfrm>
          <a:prstGeom prst="ellipse">
            <a:avLst/>
          </a:prstGeom>
          <a:solidFill>
            <a:srgbClr val="F2C9A0"/>
          </a:solidFill>
          <a:ln>
            <a:noFill/>
          </a:ln>
        </p:spPr>
        <p:txBody>
          <a:bodyPr/>
          <a:p/>
        </p:txBody>
      </p:sp>
      <p:sp>
        <p:nvSpPr>
          <p:cNvPr id="9019" name="T"/>
          <p:cNvSpPr txBox="1"/>
          <p:nvPr/>
        </p:nvSpPr>
        <p:spPr>
          <a:xfrm>
            <a:off x="3505448" y="4894822"/>
            <a:ext cx="600000" cy="17373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Patroli 449</a:t>
            </a:r>
          </a:p>
        </p:txBody>
      </p:sp>
      <p:sp>
        <p:nvSpPr>
          <p:cNvPr id="9020" name="K"/>
          <p:cNvSpPr/>
          <p:nvPr/>
        </p:nvSpPr>
        <p:spPr>
          <a:xfrm>
            <a:off x="4050000" y="4922254"/>
            <a:ext cx="118872" cy="118872"/>
          </a:xfrm>
          <a:prstGeom prst="ellipse">
            <a:avLst/>
          </a:prstGeom>
          <a:solidFill>
            <a:srgbClr val="B4BDC8"/>
          </a:solidFill>
          <a:ln>
            <a:noFill/>
          </a:ln>
        </p:spPr>
        <p:txBody>
          <a:bodyPr/>
          <a:p/>
        </p:txBody>
      </p:sp>
      <p:sp>
        <p:nvSpPr>
          <p:cNvPr id="9021" name="T"/>
          <p:cNvSpPr txBox="1"/>
          <p:nvPr/>
        </p:nvSpPr>
        <p:spPr>
          <a:xfrm>
            <a:off x="4205448" y="4894822"/>
            <a:ext cx="600000" cy="17373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Rutin 218</a:t>
            </a:r>
          </a:p>
        </p:txBody>
      </p:sp>
      <p:sp>
        <p:nvSpPr>
          <p:cNvPr id="9022" name="K"/>
          <p:cNvSpPr/>
          <p:nvPr/>
        </p:nvSpPr>
        <p:spPr>
          <a:xfrm>
            <a:off x="6060000" y="2120376"/>
            <a:ext cx="422880" cy="210312"/>
          </a:xfrm>
          <a:prstGeom prst="roundRect">
            <a:avLst>
              <a:gd name="adj" fmla="val 30000"/>
            </a:avLst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pic>
        <p:nvPicPr>
          <p:cNvPr id="9023" name="G"/>
          <p:cNvPicPr>
            <a:picLocks noChangeAspect="1"/>
          </p:cNvPicPr>
          <p:nvPr/>
        </p:nvPicPr>
        <p:blipFill>
          <a:blip r:embed="rIdL3"/>
          <a:stretch>
            <a:fillRect/>
          </a:stretch>
        </p:blipFill>
        <p:spPr>
          <a:xfrm>
            <a:off x="6096576" y="2184384"/>
            <a:ext cx="82296" cy="82296"/>
          </a:xfrm>
          <a:prstGeom prst="rect">
            <a:avLst/>
          </a:prstGeom>
        </p:spPr>
      </p:pic>
      <p:sp>
        <p:nvSpPr>
          <p:cNvPr id="9024" name="T"/>
          <p:cNvSpPr txBox="1"/>
          <p:nvPr/>
        </p:nvSpPr>
        <p:spPr>
          <a:xfrm>
            <a:off x="6206304" y="2120376"/>
            <a:ext cx="276576" cy="21031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52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TITIK*</a:t>
            </a:r>
          </a:p>
        </p:txBody>
      </p:sp>
      <p:sp>
        <p:nvSpPr>
          <p:cNvPr id="9025" name="K"/>
          <p:cNvSpPr/>
          <p:nvPr/>
        </p:nvSpPr>
        <p:spPr>
          <a:xfrm>
            <a:off x="6501168" y="2120376"/>
            <a:ext cx="582880" cy="210312"/>
          </a:xfrm>
          <a:prstGeom prst="roundRect">
            <a:avLst>
              <a:gd name="adj" fmla="val 30000"/>
            </a:avLst>
          </a:prstGeom>
          <a:solidFill>
            <a:srgbClr val="3F5F80"/>
          </a:solidFill>
          <a:ln>
            <a:noFill/>
          </a:ln>
        </p:spPr>
        <p:txBody>
          <a:bodyPr/>
          <a:p/>
        </p:txBody>
      </p:sp>
      <p:pic>
        <p:nvPicPr>
          <p:cNvPr id="9026" name="G"/>
          <p:cNvPicPr>
            <a:picLocks noChangeAspect="1"/>
          </p:cNvPicPr>
          <p:nvPr/>
        </p:nvPicPr>
        <p:blipFill>
          <a:blip r:embed="rIdL4"/>
          <a:stretch>
            <a:fillRect/>
          </a:stretch>
        </p:blipFill>
        <p:spPr>
          <a:xfrm>
            <a:off x="6537744" y="2184384"/>
            <a:ext cx="82296" cy="82296"/>
          </a:xfrm>
          <a:prstGeom prst="rect">
            <a:avLst/>
          </a:prstGeom>
        </p:spPr>
      </p:pic>
      <p:sp>
        <p:nvSpPr>
          <p:cNvPr id="9027" name="T"/>
          <p:cNvSpPr txBox="1"/>
          <p:nvPr/>
        </p:nvSpPr>
        <p:spPr>
          <a:xfrm>
            <a:off x="6647472" y="2120376"/>
            <a:ext cx="436576" cy="21031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52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LUAS (HA)*</a:t>
            </a:r>
          </a:p>
        </p:txBody>
      </p:sp>
      <p:sp>
        <p:nvSpPr>
          <p:cNvPr id="9028" name="K"/>
          <p:cNvSpPr/>
          <p:nvPr/>
        </p:nvSpPr>
        <p:spPr>
          <a:xfrm>
            <a:off x="7102336" y="2120376"/>
            <a:ext cx="662880" cy="210312"/>
          </a:xfrm>
          <a:prstGeom prst="roundRect">
            <a:avLst>
              <a:gd name="adj" fmla="val 30000"/>
            </a:avLst>
          </a:prstGeom>
          <a:solidFill>
            <a:srgbClr val="C8102E"/>
          </a:solidFill>
          <a:ln>
            <a:noFill/>
          </a:ln>
        </p:spPr>
        <p:txBody>
          <a:bodyPr/>
          <a:p/>
        </p:txBody>
      </p:sp>
      <p:pic>
        <p:nvPicPr>
          <p:cNvPr id="9029" name="G"/>
          <p:cNvPicPr>
            <a:picLocks noChangeAspect="1"/>
          </p:cNvPicPr>
          <p:nvPr/>
        </p:nvPicPr>
        <p:blipFill>
          <a:blip r:embed="rIdL5"/>
          <a:stretch>
            <a:fillRect/>
          </a:stretch>
        </p:blipFill>
        <p:spPr>
          <a:xfrm>
            <a:off x="7138912" y="2184384"/>
            <a:ext cx="82296" cy="82296"/>
          </a:xfrm>
          <a:prstGeom prst="rect">
            <a:avLst/>
          </a:prstGeom>
        </p:spPr>
      </p:pic>
      <p:sp>
        <p:nvSpPr>
          <p:cNvPr id="9030" name="T"/>
          <p:cNvSpPr txBox="1"/>
          <p:nvPr/>
        </p:nvSpPr>
        <p:spPr>
          <a:xfrm>
            <a:off x="7248640" y="2120376"/>
            <a:ext cx="516576" cy="21031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52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BELUM PADAM*</a:t>
            </a:r>
          </a:p>
        </p:txBody>
      </p:sp>
      <p:sp>
        <p:nvSpPr>
          <p:cNvPr id="9031" name="K"/>
          <p:cNvSpPr/>
          <p:nvPr/>
        </p:nvSpPr>
        <p:spPr>
          <a:xfrm>
            <a:off x="7783504" y="2120376"/>
            <a:ext cx="702880" cy="210312"/>
          </a:xfrm>
          <a:prstGeom prst="roundRect">
            <a:avLst>
              <a:gd name="adj" fmla="val 30000"/>
            </a:avLst>
          </a:prstGeom>
          <a:solidFill>
            <a:srgbClr val="B5480A"/>
          </a:solidFill>
          <a:ln>
            <a:noFill/>
          </a:ln>
        </p:spPr>
        <p:txBody>
          <a:bodyPr/>
          <a:p/>
        </p:txBody>
      </p:sp>
      <p:pic>
        <p:nvPicPr>
          <p:cNvPr id="9032" name="G"/>
          <p:cNvPicPr>
            <a:picLocks noChangeAspect="1"/>
          </p:cNvPicPr>
          <p:nvPr/>
        </p:nvPicPr>
        <p:blipFill>
          <a:blip r:embed="rIdL6"/>
          <a:stretch>
            <a:fillRect/>
          </a:stretch>
        </p:blipFill>
        <p:spPr>
          <a:xfrm>
            <a:off x="7820080" y="2184384"/>
            <a:ext cx="82296" cy="82296"/>
          </a:xfrm>
          <a:prstGeom prst="rect">
            <a:avLst/>
          </a:prstGeom>
        </p:spPr>
      </p:pic>
      <p:sp>
        <p:nvSpPr>
          <p:cNvPr id="9033" name="T"/>
          <p:cNvSpPr txBox="1"/>
          <p:nvPr/>
        </p:nvSpPr>
        <p:spPr>
          <a:xfrm>
            <a:off x="7929808" y="2120376"/>
            <a:ext cx="556576" cy="21031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52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CLUSTER AKTIF</a:t>
            </a:r>
          </a:p>
        </p:txBody>
      </p:sp>
      <p:sp>
        <p:nvSpPr>
          <p:cNvPr id="9034" name="K"/>
          <p:cNvSpPr/>
          <p:nvPr/>
        </p:nvSpPr>
        <p:spPr>
          <a:xfrm>
            <a:off x="4983480" y="2411241"/>
            <a:ext cx="3548600" cy="219456"/>
          </a:xfrm>
          <a:prstGeom prst="rect">
            <a:avLst/>
          </a:prstGeom>
          <a:solidFill>
            <a:srgbClr val="FDF1E8"/>
          </a:solidFill>
          <a:ln>
            <a:noFill/>
          </a:ln>
        </p:spPr>
        <p:txBody>
          <a:bodyPr/>
          <a:p/>
        </p:txBody>
      </p:sp>
      <p:sp>
        <p:nvSpPr>
          <p:cNvPr id="9035" name="K"/>
          <p:cNvSpPr/>
          <p:nvPr/>
        </p:nvSpPr>
        <p:spPr>
          <a:xfrm>
            <a:off x="5001768" y="2434101"/>
            <a:ext cx="173736" cy="17373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sp>
        <p:nvSpPr>
          <p:cNvPr id="9036" name="T"/>
          <p:cNvSpPr txBox="1"/>
          <p:nvPr/>
        </p:nvSpPr>
        <p:spPr>
          <a:xfrm>
            <a:off x="5001768" y="2434101"/>
            <a:ext cx="173736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62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620"/>
          </a:p>
        </p:txBody>
      </p:sp>
      <p:sp>
        <p:nvSpPr>
          <p:cNvPr id="9037" name="T"/>
          <p:cNvSpPr txBox="1"/>
          <p:nvPr/>
        </p:nvSpPr>
        <p:spPr>
          <a:xfrm>
            <a:off x="5248656" y="2411241"/>
            <a:ext cx="783424" cy="21945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Merauke</a:t>
            </a:r>
            <a:endParaRPr lang="id-ID" sz="760"/>
          </a:p>
        </p:txBody>
      </p:sp>
      <p:sp>
        <p:nvSpPr>
          <p:cNvPr id="9038" name="T"/>
          <p:cNvSpPr txBox="1"/>
          <p:nvPr/>
        </p:nvSpPr>
        <p:spPr>
          <a:xfrm>
            <a:off x="5968016" y="2411241"/>
            <a:ext cx="460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231</a:t>
            </a:r>
            <a:endParaRPr lang="id-ID" sz="800"/>
          </a:p>
        </p:txBody>
      </p:sp>
      <p:sp>
        <p:nvSpPr>
          <p:cNvPr id="9039" name="T"/>
          <p:cNvSpPr txBox="1"/>
          <p:nvPr/>
        </p:nvSpPr>
        <p:spPr>
          <a:xfrm>
            <a:off x="6569184" y="2411241"/>
            <a:ext cx="460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846</a:t>
            </a:r>
            <a:endParaRPr lang="id-ID" sz="800"/>
          </a:p>
        </p:txBody>
      </p:sp>
      <p:sp>
        <p:nvSpPr>
          <p:cNvPr id="9040" name="T"/>
          <p:cNvSpPr txBox="1"/>
          <p:nvPr/>
        </p:nvSpPr>
        <p:spPr>
          <a:xfrm>
            <a:off x="7250352" y="2411241"/>
            <a:ext cx="460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485</a:t>
            </a:r>
            <a:endParaRPr lang="id-ID" sz="800"/>
          </a:p>
        </p:txBody>
      </p:sp>
      <p:sp>
        <p:nvSpPr>
          <p:cNvPr id="9041" name="T"/>
          <p:cNvSpPr txBox="1"/>
          <p:nvPr/>
        </p:nvSpPr>
        <p:spPr>
          <a:xfrm>
            <a:off x="7971520" y="2411241"/>
            <a:ext cx="460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747</a:t>
            </a:r>
            <a:endParaRPr lang="id-ID" sz="800"/>
          </a:p>
        </p:txBody>
      </p:sp>
      <p:cxnSp>
        <p:nvCxnSpPr>
          <p:cNvPr id="9042" name="L"/>
          <p:cNvCxnSpPr/>
          <p:nvPr/>
        </p:nvCxnSpPr>
        <p:spPr>
          <a:xfrm>
            <a:off x="4983480" y="2636995"/>
            <a:ext cx="3548600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9043" name="K"/>
          <p:cNvSpPr/>
          <p:nvPr/>
        </p:nvSpPr>
        <p:spPr>
          <a:xfrm>
            <a:off x="5001768" y="2666153"/>
            <a:ext cx="173736" cy="17373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sp>
        <p:nvSpPr>
          <p:cNvPr id="9044" name="T"/>
          <p:cNvSpPr txBox="1"/>
          <p:nvPr/>
        </p:nvSpPr>
        <p:spPr>
          <a:xfrm>
            <a:off x="5001768" y="2666153"/>
            <a:ext cx="173736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62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  <a:endParaRPr lang="id-ID" sz="620"/>
          </a:p>
        </p:txBody>
      </p:sp>
      <p:sp>
        <p:nvSpPr>
          <p:cNvPr id="9045" name="T"/>
          <p:cNvSpPr txBox="1"/>
          <p:nvPr/>
        </p:nvSpPr>
        <p:spPr>
          <a:xfrm>
            <a:off x="5248656" y="2643293"/>
            <a:ext cx="783424" cy="21945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Boven Digoel</a:t>
            </a:r>
            <a:endParaRPr lang="id-ID" sz="760"/>
          </a:p>
        </p:txBody>
      </p:sp>
      <p:sp>
        <p:nvSpPr>
          <p:cNvPr id="9046" name="T"/>
          <p:cNvSpPr txBox="1"/>
          <p:nvPr/>
        </p:nvSpPr>
        <p:spPr>
          <a:xfrm>
            <a:off x="5968016" y="2643293"/>
            <a:ext cx="460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13</a:t>
            </a:r>
            <a:endParaRPr lang="id-ID" sz="800"/>
          </a:p>
        </p:txBody>
      </p:sp>
      <p:sp>
        <p:nvSpPr>
          <p:cNvPr id="9047" name="T"/>
          <p:cNvSpPr txBox="1"/>
          <p:nvPr/>
        </p:nvSpPr>
        <p:spPr>
          <a:xfrm>
            <a:off x="6569184" y="2643293"/>
            <a:ext cx="460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</a:t>
            </a:r>
            <a:endParaRPr lang="id-ID" sz="800"/>
          </a:p>
        </p:txBody>
      </p:sp>
      <p:sp>
        <p:nvSpPr>
          <p:cNvPr id="9048" name="T"/>
          <p:cNvSpPr txBox="1"/>
          <p:nvPr/>
        </p:nvSpPr>
        <p:spPr>
          <a:xfrm>
            <a:off x="7250352" y="2643293"/>
            <a:ext cx="460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</a:t>
            </a:r>
            <a:endParaRPr lang="id-ID" sz="800"/>
          </a:p>
        </p:txBody>
      </p:sp>
      <p:sp>
        <p:nvSpPr>
          <p:cNvPr id="9049" name="T"/>
          <p:cNvSpPr txBox="1"/>
          <p:nvPr/>
        </p:nvSpPr>
        <p:spPr>
          <a:xfrm>
            <a:off x="7971520" y="2643293"/>
            <a:ext cx="460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31</a:t>
            </a:r>
            <a:endParaRPr lang="id-ID" sz="800"/>
          </a:p>
        </p:txBody>
      </p:sp>
      <p:cxnSp>
        <p:nvCxnSpPr>
          <p:cNvPr id="9050" name="L"/>
          <p:cNvCxnSpPr/>
          <p:nvPr/>
        </p:nvCxnSpPr>
        <p:spPr>
          <a:xfrm>
            <a:off x="4983480" y="2869047"/>
            <a:ext cx="3548600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9051" name="K"/>
          <p:cNvSpPr/>
          <p:nvPr/>
        </p:nvSpPr>
        <p:spPr>
          <a:xfrm>
            <a:off x="5001768" y="2898206"/>
            <a:ext cx="173736" cy="17373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sp>
        <p:nvSpPr>
          <p:cNvPr id="9052" name="T"/>
          <p:cNvSpPr txBox="1"/>
          <p:nvPr/>
        </p:nvSpPr>
        <p:spPr>
          <a:xfrm>
            <a:off x="5001768" y="2898206"/>
            <a:ext cx="173736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62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  <a:endParaRPr lang="id-ID" sz="620"/>
          </a:p>
        </p:txBody>
      </p:sp>
      <p:sp>
        <p:nvSpPr>
          <p:cNvPr id="9053" name="T"/>
          <p:cNvSpPr txBox="1"/>
          <p:nvPr/>
        </p:nvSpPr>
        <p:spPr>
          <a:xfrm>
            <a:off x="5248656" y="2875346"/>
            <a:ext cx="783424" cy="21945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Mappi</a:t>
            </a:r>
            <a:endParaRPr lang="id-ID" sz="760"/>
          </a:p>
        </p:txBody>
      </p:sp>
      <p:sp>
        <p:nvSpPr>
          <p:cNvPr id="9054" name="T"/>
          <p:cNvSpPr txBox="1"/>
          <p:nvPr/>
        </p:nvSpPr>
        <p:spPr>
          <a:xfrm>
            <a:off x="5968016" y="2875346"/>
            <a:ext cx="460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</a:t>
            </a:r>
            <a:endParaRPr lang="id-ID" sz="800"/>
          </a:p>
        </p:txBody>
      </p:sp>
      <p:sp>
        <p:nvSpPr>
          <p:cNvPr id="9055" name="T"/>
          <p:cNvSpPr txBox="1"/>
          <p:nvPr/>
        </p:nvSpPr>
        <p:spPr>
          <a:xfrm>
            <a:off x="6569184" y="2875346"/>
            <a:ext cx="460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25</a:t>
            </a:r>
            <a:endParaRPr lang="id-ID" sz="800"/>
          </a:p>
        </p:txBody>
      </p:sp>
      <p:sp>
        <p:nvSpPr>
          <p:cNvPr id="9056" name="T"/>
          <p:cNvSpPr txBox="1"/>
          <p:nvPr/>
        </p:nvSpPr>
        <p:spPr>
          <a:xfrm>
            <a:off x="7250352" y="2875346"/>
            <a:ext cx="460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</a:t>
            </a:r>
            <a:endParaRPr lang="id-ID" sz="800"/>
          </a:p>
        </p:txBody>
      </p:sp>
      <p:sp>
        <p:nvSpPr>
          <p:cNvPr id="9057" name="T"/>
          <p:cNvSpPr txBox="1"/>
          <p:nvPr/>
        </p:nvSpPr>
        <p:spPr>
          <a:xfrm>
            <a:off x="7971520" y="2875346"/>
            <a:ext cx="460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98</a:t>
            </a:r>
            <a:endParaRPr lang="id-ID" sz="800"/>
          </a:p>
        </p:txBody>
      </p:sp>
      <p:cxnSp>
        <p:nvCxnSpPr>
          <p:cNvPr id="9058" name="L"/>
          <p:cNvCxnSpPr/>
          <p:nvPr/>
        </p:nvCxnSpPr>
        <p:spPr>
          <a:xfrm>
            <a:off x="4983480" y="3101100"/>
            <a:ext cx="3548600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9059" name="K"/>
          <p:cNvSpPr/>
          <p:nvPr/>
        </p:nvSpPr>
        <p:spPr>
          <a:xfrm>
            <a:off x="5001768" y="3130258"/>
            <a:ext cx="173736" cy="17373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sp>
        <p:nvSpPr>
          <p:cNvPr id="9060" name="T"/>
          <p:cNvSpPr txBox="1"/>
          <p:nvPr/>
        </p:nvSpPr>
        <p:spPr>
          <a:xfrm>
            <a:off x="5001768" y="3130258"/>
            <a:ext cx="173736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62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  <a:endParaRPr lang="id-ID" sz="620"/>
          </a:p>
        </p:txBody>
      </p:sp>
      <p:sp>
        <p:nvSpPr>
          <p:cNvPr id="9061" name="T"/>
          <p:cNvSpPr txBox="1"/>
          <p:nvPr/>
        </p:nvSpPr>
        <p:spPr>
          <a:xfrm>
            <a:off x="5248656" y="3107398"/>
            <a:ext cx="783424" cy="21945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Asmat</a:t>
            </a:r>
            <a:endParaRPr lang="id-ID" sz="760"/>
          </a:p>
        </p:txBody>
      </p:sp>
      <p:sp>
        <p:nvSpPr>
          <p:cNvPr id="9062" name="T"/>
          <p:cNvSpPr txBox="1"/>
          <p:nvPr/>
        </p:nvSpPr>
        <p:spPr>
          <a:xfrm>
            <a:off x="5968016" y="3107398"/>
            <a:ext cx="460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</a:t>
            </a:r>
            <a:endParaRPr lang="id-ID" sz="800"/>
          </a:p>
        </p:txBody>
      </p:sp>
      <p:sp>
        <p:nvSpPr>
          <p:cNvPr id="9063" name="T"/>
          <p:cNvSpPr txBox="1"/>
          <p:nvPr/>
        </p:nvSpPr>
        <p:spPr>
          <a:xfrm>
            <a:off x="6569184" y="3107398"/>
            <a:ext cx="460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</a:t>
            </a:r>
            <a:endParaRPr lang="id-ID" sz="800"/>
          </a:p>
        </p:txBody>
      </p:sp>
      <p:sp>
        <p:nvSpPr>
          <p:cNvPr id="9064" name="T"/>
          <p:cNvSpPr txBox="1"/>
          <p:nvPr/>
        </p:nvSpPr>
        <p:spPr>
          <a:xfrm>
            <a:off x="7250352" y="3107398"/>
            <a:ext cx="460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0</a:t>
            </a:r>
            <a:endParaRPr lang="id-ID" sz="800"/>
          </a:p>
        </p:txBody>
      </p:sp>
      <p:sp>
        <p:nvSpPr>
          <p:cNvPr id="9065" name="T"/>
          <p:cNvSpPr txBox="1"/>
          <p:nvPr/>
        </p:nvSpPr>
        <p:spPr>
          <a:xfrm>
            <a:off x="7971520" y="3107398"/>
            <a:ext cx="460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</a:t>
            </a:r>
            <a:endParaRPr lang="id-ID" sz="800"/>
          </a:p>
        </p:txBody>
      </p:sp>
      <p:sp>
        <p:nvSpPr>
          <p:cNvPr id="9066" name="K"/>
          <p:cNvSpPr/>
          <p:nvPr/>
        </p:nvSpPr>
        <p:spPr>
          <a:xfrm>
            <a:off x="4983480" y="3381496"/>
            <a:ext cx="3548600" cy="280396"/>
          </a:xfrm>
          <a:prstGeom prst="roundRect">
            <a:avLst>
              <a:gd name="adj" fmla="val 20000"/>
            </a:avLst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sp>
        <p:nvSpPr>
          <p:cNvPr id="9067" name="T"/>
          <p:cNvSpPr txBox="1"/>
          <p:nvPr/>
        </p:nvSpPr>
        <p:spPr>
          <a:xfrm>
            <a:off x="5074920" y="3381496"/>
            <a:ext cx="1048600" cy="280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8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Papua Selatan</a:t>
            </a:r>
            <a:endParaRPr lang="id-ID" sz="800"/>
          </a:p>
        </p:txBody>
      </p:sp>
      <p:sp>
        <p:nvSpPr>
          <p:cNvPr id="9068" name="T"/>
          <p:cNvSpPr txBox="1"/>
          <p:nvPr/>
        </p:nvSpPr>
        <p:spPr>
          <a:xfrm>
            <a:off x="5968016" y="3381496"/>
            <a:ext cx="460000" cy="280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2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257</a:t>
            </a:r>
            <a:endParaRPr lang="id-ID" sz="820"/>
          </a:p>
        </p:txBody>
      </p:sp>
      <p:sp>
        <p:nvSpPr>
          <p:cNvPr id="9069" name="T"/>
          <p:cNvSpPr txBox="1"/>
          <p:nvPr/>
        </p:nvSpPr>
        <p:spPr>
          <a:xfrm>
            <a:off x="6569184" y="3381496"/>
            <a:ext cx="460000" cy="280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2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881</a:t>
            </a:r>
            <a:endParaRPr lang="id-ID" sz="820"/>
          </a:p>
        </p:txBody>
      </p:sp>
      <p:sp>
        <p:nvSpPr>
          <p:cNvPr id="9070" name="T"/>
          <p:cNvSpPr txBox="1"/>
          <p:nvPr/>
        </p:nvSpPr>
        <p:spPr>
          <a:xfrm>
            <a:off x="7250352" y="3381496"/>
            <a:ext cx="460000" cy="280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2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502</a:t>
            </a:r>
            <a:endParaRPr lang="id-ID" sz="820"/>
          </a:p>
        </p:txBody>
      </p:sp>
      <p:sp>
        <p:nvSpPr>
          <p:cNvPr id="9071" name="T"/>
          <p:cNvSpPr txBox="1"/>
          <p:nvPr/>
        </p:nvSpPr>
        <p:spPr>
          <a:xfrm>
            <a:off x="7971520" y="3381496"/>
            <a:ext cx="460000" cy="280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2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881</a:t>
            </a:r>
            <a:endParaRPr lang="id-ID" sz="820"/>
          </a:p>
        </p:txBody>
      </p:sp>
      <p:sp>
        <p:nvSpPr>
          <p:cNvPr id="9072" name="T"/>
          <p:cNvSpPr txBox="1"/>
          <p:nvPr/>
        </p:nvSpPr>
        <p:spPr>
          <a:xfrm>
            <a:off x="4983480" y="3691011"/>
            <a:ext cx="3548600" cy="1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*30 Okt 2026, hari penuh s.d. 24.00 WIB; tiap baris dibulatkan sendiri, jumlah bisa selisih 1</a:t>
            </a:r>
          </a:p>
        </p:txBody>
      </p:sp>
      <p:sp>
        <p:nvSpPr>
          <p:cNvPr id="9073" name="T"/>
          <p:cNvSpPr txBox="1"/>
          <p:nvPr/>
        </p:nvSpPr>
        <p:spPr>
          <a:xfrm>
            <a:off x="4983480" y="4050527"/>
            <a:ext cx="2400000" cy="100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l">
              <a:spcBef>
                <a:spcPts val="0"/>
              </a:spcBef>
              <a:buNone/>
            </a:pPr>
            <a:r>
              <a:rPr lang="id-ID" sz="660" b="1" spc="10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SEBARAN TITIK 23–30 OKT</a:t>
            </a:r>
          </a:p>
        </p:txBody>
      </p:sp>
      <p:sp>
        <p:nvSpPr>
          <p:cNvPr id="9074" name="K"/>
          <p:cNvSpPr/>
          <p:nvPr/>
        </p:nvSpPr>
        <p:spPr>
          <a:xfrm>
            <a:off x="4983480" y="4190858"/>
            <a:ext cx="3548600" cy="200000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  <p:txBody>
          <a:bodyPr/>
          <a:p/>
        </p:txBody>
      </p:sp>
      <p:sp>
        <p:nvSpPr>
          <p:cNvPr id="9075" name="K"/>
          <p:cNvSpPr/>
          <p:nvPr/>
        </p:nvSpPr>
        <p:spPr>
          <a:xfrm>
            <a:off x="4983480" y="4190858"/>
            <a:ext cx="200000" cy="2000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/>
          <a:p/>
        </p:txBody>
      </p:sp>
      <p:sp>
        <p:nvSpPr>
          <p:cNvPr id="9076" name="K"/>
          <p:cNvSpPr/>
          <p:nvPr/>
        </p:nvSpPr>
        <p:spPr>
          <a:xfrm>
            <a:off x="5083480" y="4190858"/>
            <a:ext cx="3112615" cy="2000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/>
          <a:p/>
        </p:txBody>
      </p:sp>
      <p:pic>
        <p:nvPicPr>
          <p:cNvPr id="9077" name="G"/>
          <p:cNvPicPr>
            <a:picLocks noChangeAspect="1"/>
          </p:cNvPicPr>
          <p:nvPr/>
        </p:nvPicPr>
        <p:blipFill>
          <a:blip r:embed="rIdL6"/>
          <a:stretch>
            <a:fillRect/>
          </a:stretch>
        </p:blipFill>
        <p:spPr>
          <a:xfrm>
            <a:off x="5074920" y="4231422"/>
            <a:ext cx="118872" cy="118872"/>
          </a:xfrm>
          <a:prstGeom prst="rect">
            <a:avLst/>
          </a:prstGeom>
        </p:spPr>
      </p:pic>
      <p:sp>
        <p:nvSpPr>
          <p:cNvPr id="9078" name="T"/>
          <p:cNvSpPr txBox="1"/>
          <p:nvPr/>
        </p:nvSpPr>
        <p:spPr>
          <a:xfrm>
            <a:off x="5230368" y="4190858"/>
            <a:ext cx="2912615" cy="2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Merauke  8.357 titik (91%)</a:t>
            </a:r>
          </a:p>
        </p:txBody>
      </p:sp>
      <p:sp>
        <p:nvSpPr>
          <p:cNvPr id="9079" name="T"/>
          <p:cNvSpPr txBox="1"/>
          <p:nvPr/>
        </p:nvSpPr>
        <p:spPr>
          <a:xfrm>
            <a:off x="8196095" y="4190858"/>
            <a:ext cx="335985" cy="20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650" b="1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9%</a:t>
            </a:r>
          </a:p>
        </p:txBody>
      </p:sp>
      <p:sp>
        <p:nvSpPr>
          <p:cNvPr id="9080" name="T"/>
          <p:cNvSpPr txBox="1"/>
          <p:nvPr/>
        </p:nvSpPr>
        <p:spPr>
          <a:xfrm>
            <a:off x="4983480" y="4452912"/>
            <a:ext cx="3548600" cy="120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650" b="1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Kab. lain: </a:t>
            </a:r>
            <a:r>
              <a:rPr lang="id-ID" sz="650" b="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Mappi 479, Boven Digoel 352, Asmat 43 titik</a:t>
            </a:r>
          </a:p>
        </p:txBody>
      </p:sp>
      <p:sp>
        <p:nvSpPr>
          <p:cNvPr id="9081" name="K"/>
          <p:cNvSpPr/>
          <p:nvPr/>
        </p:nvSpPr>
        <p:spPr>
          <a:xfrm>
            <a:off x="8823960" y="2652437"/>
            <a:ext cx="201168" cy="20116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/>
          <a:p/>
        </p:txBody>
      </p:sp>
      <p:pic>
        <p:nvPicPr>
          <p:cNvPr id="9082" name="G"/>
          <p:cNvPicPr>
            <a:picLocks noChangeAspect="1"/>
          </p:cNvPicPr>
          <p:nvPr/>
        </p:nvPicPr>
        <p:blipFill>
          <a:blip r:embed="rIdL3"/>
          <a:stretch>
            <a:fillRect/>
          </a:stretch>
        </p:blipFill>
        <p:spPr>
          <a:xfrm>
            <a:off x="8865108" y="2693585"/>
            <a:ext cx="118872" cy="118872"/>
          </a:xfrm>
          <a:prstGeom prst="rect">
            <a:avLst/>
          </a:prstGeom>
        </p:spPr>
      </p:pic>
      <p:sp>
        <p:nvSpPr>
          <p:cNvPr id="9083" name="T"/>
          <p:cNvSpPr txBox="1"/>
          <p:nvPr/>
        </p:nvSpPr>
        <p:spPr>
          <a:xfrm>
            <a:off x="9089136" y="2631525"/>
            <a:ext cx="1516759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Kontuar, Merauke</a:t>
            </a:r>
          </a:p>
        </p:txBody>
      </p:sp>
      <p:sp>
        <p:nvSpPr>
          <p:cNvPr id="9087" name="K"/>
          <p:cNvSpPr/>
          <p:nvPr/>
        </p:nvSpPr>
        <p:spPr>
          <a:xfrm>
            <a:off x="10744199" y="2636097"/>
            <a:ext cx="761696" cy="13716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9088" name="G"/>
          <p:cNvPicPr>
            <a:picLocks noChangeAspect="1"/>
          </p:cNvPicPr>
          <p:nvPr/>
        </p:nvPicPr>
        <p:blipFill>
          <a:blip r:embed="rIdL7"/>
          <a:stretch>
            <a:fillRect/>
          </a:stretch>
        </p:blipFill>
        <p:spPr>
          <a:xfrm>
            <a:off x="10807699" y="2663529"/>
            <a:ext cx="82296" cy="82296"/>
          </a:xfrm>
          <a:prstGeom prst="rect">
            <a:avLst/>
          </a:prstGeom>
        </p:spPr>
      </p:pic>
      <p:sp>
        <p:nvSpPr>
          <p:cNvPr id="9089" name="T"/>
          <p:cNvSpPr txBox="1"/>
          <p:nvPr/>
        </p:nvSpPr>
        <p:spPr>
          <a:xfrm>
            <a:off x="10928095" y="2636097"/>
            <a:ext cx="5397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090" name="K"/>
          <p:cNvSpPr/>
          <p:nvPr/>
        </p:nvSpPr>
        <p:spPr>
          <a:xfrm>
            <a:off x="9089136" y="2800467"/>
            <a:ext cx="898496" cy="13716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/>
          <a:p/>
        </p:txBody>
      </p:sp>
      <p:pic>
        <p:nvPicPr>
          <p:cNvPr id="9091" name="G"/>
          <p:cNvPicPr>
            <a:picLocks noChangeAspect="1"/>
          </p:cNvPicPr>
          <p:nvPr/>
        </p:nvPicPr>
        <p:blipFill>
          <a:blip r:embed="rIdL8"/>
          <a:stretch>
            <a:fillRect/>
          </a:stretch>
        </p:blipFill>
        <p:spPr>
          <a:xfrm>
            <a:off x="9152636" y="2827899"/>
            <a:ext cx="82296" cy="82296"/>
          </a:xfrm>
          <a:prstGeom prst="rect">
            <a:avLst/>
          </a:prstGeom>
        </p:spPr>
      </p:pic>
      <p:sp>
        <p:nvSpPr>
          <p:cNvPr id="9092" name="T"/>
          <p:cNvSpPr txBox="1"/>
          <p:nvPr/>
        </p:nvSpPr>
        <p:spPr>
          <a:xfrm>
            <a:off x="9273032" y="2800467"/>
            <a:ext cx="6765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8 titik 30 Okt</a:t>
            </a:r>
          </a:p>
        </p:txBody>
      </p:sp>
      <p:sp>
        <p:nvSpPr>
          <p:cNvPr id="9093" name="K"/>
          <p:cNvSpPr/>
          <p:nvPr/>
        </p:nvSpPr>
        <p:spPr>
          <a:xfrm>
            <a:off x="10033352" y="2800467"/>
            <a:ext cx="1080896" cy="13716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9094" name="G"/>
          <p:cNvPicPr>
            <a:picLocks noChangeAspect="1"/>
          </p:cNvPicPr>
          <p:nvPr/>
        </p:nvPicPr>
        <p:blipFill>
          <a:blip r:embed="rIdL9"/>
          <a:stretch>
            <a:fillRect/>
          </a:stretch>
        </p:blipFill>
        <p:spPr>
          <a:xfrm>
            <a:off x="10096852" y="2827899"/>
            <a:ext cx="82296" cy="82296"/>
          </a:xfrm>
          <a:prstGeom prst="rect">
            <a:avLst/>
          </a:prstGeom>
        </p:spPr>
      </p:pic>
      <p:sp>
        <p:nvSpPr>
          <p:cNvPr id="9095" name="T"/>
          <p:cNvSpPr txBox="1"/>
          <p:nvPr/>
        </p:nvSpPr>
        <p:spPr>
          <a:xfrm>
            <a:off x="10217248" y="2800467"/>
            <a:ext cx="8589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belum padam 143 ha</a:t>
            </a:r>
          </a:p>
        </p:txBody>
      </p:sp>
      <p:cxnSp>
        <p:nvCxnSpPr>
          <p:cNvPr id="9096" name="L"/>
          <p:cNvCxnSpPr/>
          <p:nvPr/>
        </p:nvCxnSpPr>
        <p:spPr>
          <a:xfrm>
            <a:off x="8823960" y="2941564"/>
            <a:ext cx="2681935" cy="0"/>
          </a:xfrm>
          <a:prstGeom prst="line">
            <a:avLst/>
          </a:prstGeom>
          <a:ln w="6350">
            <a:solidFill>
              <a:srgbClr val="F1F2F4"/>
            </a:solidFill>
          </a:ln>
        </p:spPr>
      </p:cxnSp>
      <p:sp>
        <p:nvSpPr>
          <p:cNvPr id="9097" name="K"/>
          <p:cNvSpPr/>
          <p:nvPr/>
        </p:nvSpPr>
        <p:spPr>
          <a:xfrm>
            <a:off x="8823960" y="2990847"/>
            <a:ext cx="201168" cy="20116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/>
          <a:p/>
        </p:txBody>
      </p:sp>
      <p:pic>
        <p:nvPicPr>
          <p:cNvPr id="9098" name="G"/>
          <p:cNvPicPr>
            <a:picLocks noChangeAspect="1"/>
          </p:cNvPicPr>
          <p:nvPr/>
        </p:nvPicPr>
        <p:blipFill>
          <a:blip r:embed="rIdL3"/>
          <a:stretch>
            <a:fillRect/>
          </a:stretch>
        </p:blipFill>
        <p:spPr>
          <a:xfrm>
            <a:off x="8865108" y="3031995"/>
            <a:ext cx="118872" cy="118872"/>
          </a:xfrm>
          <a:prstGeom prst="rect">
            <a:avLst/>
          </a:prstGeom>
        </p:spPr>
      </p:pic>
      <p:sp>
        <p:nvSpPr>
          <p:cNvPr id="9099" name="T"/>
          <p:cNvSpPr txBox="1"/>
          <p:nvPr/>
        </p:nvSpPr>
        <p:spPr>
          <a:xfrm>
            <a:off x="9089136" y="2969935"/>
            <a:ext cx="1516759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Jagebob, Merauke</a:t>
            </a:r>
          </a:p>
        </p:txBody>
      </p:sp>
      <p:sp>
        <p:nvSpPr>
          <p:cNvPr id="9103" name="K"/>
          <p:cNvSpPr/>
          <p:nvPr/>
        </p:nvSpPr>
        <p:spPr>
          <a:xfrm>
            <a:off x="10744199" y="2974507"/>
            <a:ext cx="761696" cy="13716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9104" name="G"/>
          <p:cNvPicPr>
            <a:picLocks noChangeAspect="1"/>
          </p:cNvPicPr>
          <p:nvPr/>
        </p:nvPicPr>
        <p:blipFill>
          <a:blip r:embed="rIdL7"/>
          <a:stretch>
            <a:fillRect/>
          </a:stretch>
        </p:blipFill>
        <p:spPr>
          <a:xfrm>
            <a:off x="10807699" y="3001939"/>
            <a:ext cx="82296" cy="82296"/>
          </a:xfrm>
          <a:prstGeom prst="rect">
            <a:avLst/>
          </a:prstGeom>
        </p:spPr>
      </p:pic>
      <p:sp>
        <p:nvSpPr>
          <p:cNvPr id="9105" name="T"/>
          <p:cNvSpPr txBox="1"/>
          <p:nvPr/>
        </p:nvSpPr>
        <p:spPr>
          <a:xfrm>
            <a:off x="10928095" y="2974507"/>
            <a:ext cx="5397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106" name="K"/>
          <p:cNvSpPr/>
          <p:nvPr/>
        </p:nvSpPr>
        <p:spPr>
          <a:xfrm>
            <a:off x="9089136" y="3138877"/>
            <a:ext cx="944096" cy="13716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/>
          <a:p/>
        </p:txBody>
      </p:sp>
      <p:pic>
        <p:nvPicPr>
          <p:cNvPr id="9107" name="G"/>
          <p:cNvPicPr>
            <a:picLocks noChangeAspect="1"/>
          </p:cNvPicPr>
          <p:nvPr/>
        </p:nvPicPr>
        <p:blipFill>
          <a:blip r:embed="rIdL8"/>
          <a:stretch>
            <a:fillRect/>
          </a:stretch>
        </p:blipFill>
        <p:spPr>
          <a:xfrm>
            <a:off x="9152636" y="3166309"/>
            <a:ext cx="82296" cy="82296"/>
          </a:xfrm>
          <a:prstGeom prst="rect">
            <a:avLst/>
          </a:prstGeom>
        </p:spPr>
      </p:pic>
      <p:sp>
        <p:nvSpPr>
          <p:cNvPr id="9108" name="T"/>
          <p:cNvSpPr txBox="1"/>
          <p:nvPr/>
        </p:nvSpPr>
        <p:spPr>
          <a:xfrm>
            <a:off x="9273032" y="3138877"/>
            <a:ext cx="7221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36 titik 30 Okt</a:t>
            </a:r>
          </a:p>
        </p:txBody>
      </p:sp>
      <p:sp>
        <p:nvSpPr>
          <p:cNvPr id="9109" name="K"/>
          <p:cNvSpPr/>
          <p:nvPr/>
        </p:nvSpPr>
        <p:spPr>
          <a:xfrm>
            <a:off x="10078952" y="3138877"/>
            <a:ext cx="1080896" cy="13716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9110" name="G"/>
          <p:cNvPicPr>
            <a:picLocks noChangeAspect="1"/>
          </p:cNvPicPr>
          <p:nvPr/>
        </p:nvPicPr>
        <p:blipFill>
          <a:blip r:embed="rIdL9"/>
          <a:stretch>
            <a:fillRect/>
          </a:stretch>
        </p:blipFill>
        <p:spPr>
          <a:xfrm>
            <a:off x="10142452" y="3166309"/>
            <a:ext cx="82296" cy="82296"/>
          </a:xfrm>
          <a:prstGeom prst="rect">
            <a:avLst/>
          </a:prstGeom>
        </p:spPr>
      </p:pic>
      <p:sp>
        <p:nvSpPr>
          <p:cNvPr id="9111" name="T"/>
          <p:cNvSpPr txBox="1"/>
          <p:nvPr/>
        </p:nvSpPr>
        <p:spPr>
          <a:xfrm>
            <a:off x="10262848" y="3138877"/>
            <a:ext cx="8589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belum padam 124 ha</a:t>
            </a:r>
          </a:p>
        </p:txBody>
      </p:sp>
      <p:cxnSp>
        <p:nvCxnSpPr>
          <p:cNvPr id="9112" name="L"/>
          <p:cNvCxnSpPr/>
          <p:nvPr/>
        </p:nvCxnSpPr>
        <p:spPr>
          <a:xfrm>
            <a:off x="8823960" y="3279973"/>
            <a:ext cx="2681935" cy="0"/>
          </a:xfrm>
          <a:prstGeom prst="line">
            <a:avLst/>
          </a:prstGeom>
          <a:ln w="6350">
            <a:solidFill>
              <a:srgbClr val="F1F2F4"/>
            </a:solidFill>
          </a:ln>
        </p:spPr>
      </p:cxnSp>
      <p:sp>
        <p:nvSpPr>
          <p:cNvPr id="9113" name="K"/>
          <p:cNvSpPr/>
          <p:nvPr/>
        </p:nvSpPr>
        <p:spPr>
          <a:xfrm>
            <a:off x="8823960" y="3329256"/>
            <a:ext cx="201168" cy="20116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/>
          <a:p/>
        </p:txBody>
      </p:sp>
      <p:pic>
        <p:nvPicPr>
          <p:cNvPr id="9114" name="G"/>
          <p:cNvPicPr>
            <a:picLocks noChangeAspect="1"/>
          </p:cNvPicPr>
          <p:nvPr/>
        </p:nvPicPr>
        <p:blipFill>
          <a:blip r:embed="rIdL3"/>
          <a:stretch>
            <a:fillRect/>
          </a:stretch>
        </p:blipFill>
        <p:spPr>
          <a:xfrm>
            <a:off x="8865108" y="3370404"/>
            <a:ext cx="118872" cy="118872"/>
          </a:xfrm>
          <a:prstGeom prst="rect">
            <a:avLst/>
          </a:prstGeom>
        </p:spPr>
      </p:pic>
      <p:sp>
        <p:nvSpPr>
          <p:cNvPr id="9115" name="T"/>
          <p:cNvSpPr txBox="1"/>
          <p:nvPr/>
        </p:nvSpPr>
        <p:spPr>
          <a:xfrm>
            <a:off x="9089136" y="3308344"/>
            <a:ext cx="1516759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Tanah Miring, Merauke</a:t>
            </a:r>
          </a:p>
        </p:txBody>
      </p:sp>
      <p:sp>
        <p:nvSpPr>
          <p:cNvPr id="9119" name="K"/>
          <p:cNvSpPr/>
          <p:nvPr/>
        </p:nvSpPr>
        <p:spPr>
          <a:xfrm>
            <a:off x="10744199" y="3312916"/>
            <a:ext cx="761696" cy="13716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9120" name="G"/>
          <p:cNvPicPr>
            <a:picLocks noChangeAspect="1"/>
          </p:cNvPicPr>
          <p:nvPr/>
        </p:nvPicPr>
        <p:blipFill>
          <a:blip r:embed="rIdL7"/>
          <a:stretch>
            <a:fillRect/>
          </a:stretch>
        </p:blipFill>
        <p:spPr>
          <a:xfrm>
            <a:off x="10807699" y="3340348"/>
            <a:ext cx="82296" cy="82296"/>
          </a:xfrm>
          <a:prstGeom prst="rect">
            <a:avLst/>
          </a:prstGeom>
        </p:spPr>
      </p:pic>
      <p:sp>
        <p:nvSpPr>
          <p:cNvPr id="9121" name="T"/>
          <p:cNvSpPr txBox="1"/>
          <p:nvPr/>
        </p:nvSpPr>
        <p:spPr>
          <a:xfrm>
            <a:off x="10928095" y="3312916"/>
            <a:ext cx="5397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122" name="K"/>
          <p:cNvSpPr/>
          <p:nvPr/>
        </p:nvSpPr>
        <p:spPr>
          <a:xfrm>
            <a:off x="9089136" y="3477287"/>
            <a:ext cx="944096" cy="13716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/>
          <a:p/>
        </p:txBody>
      </p:sp>
      <p:pic>
        <p:nvPicPr>
          <p:cNvPr id="9123" name="G"/>
          <p:cNvPicPr>
            <a:picLocks noChangeAspect="1"/>
          </p:cNvPicPr>
          <p:nvPr/>
        </p:nvPicPr>
        <p:blipFill>
          <a:blip r:embed="rIdL8"/>
          <a:stretch>
            <a:fillRect/>
          </a:stretch>
        </p:blipFill>
        <p:spPr>
          <a:xfrm>
            <a:off x="9152636" y="3504719"/>
            <a:ext cx="82296" cy="82296"/>
          </a:xfrm>
          <a:prstGeom prst="rect">
            <a:avLst/>
          </a:prstGeom>
        </p:spPr>
      </p:pic>
      <p:sp>
        <p:nvSpPr>
          <p:cNvPr id="9124" name="T"/>
          <p:cNvSpPr txBox="1"/>
          <p:nvPr/>
        </p:nvSpPr>
        <p:spPr>
          <a:xfrm>
            <a:off x="9273032" y="3477287"/>
            <a:ext cx="7221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34 titik 30 Okt</a:t>
            </a:r>
          </a:p>
        </p:txBody>
      </p:sp>
      <p:sp>
        <p:nvSpPr>
          <p:cNvPr id="9125" name="K"/>
          <p:cNvSpPr/>
          <p:nvPr/>
        </p:nvSpPr>
        <p:spPr>
          <a:xfrm>
            <a:off x="10078952" y="3477287"/>
            <a:ext cx="1035296" cy="13716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9126" name="G"/>
          <p:cNvPicPr>
            <a:picLocks noChangeAspect="1"/>
          </p:cNvPicPr>
          <p:nvPr/>
        </p:nvPicPr>
        <p:blipFill>
          <a:blip r:embed="rIdL9"/>
          <a:stretch>
            <a:fillRect/>
          </a:stretch>
        </p:blipFill>
        <p:spPr>
          <a:xfrm>
            <a:off x="10142452" y="3504719"/>
            <a:ext cx="82296" cy="82296"/>
          </a:xfrm>
          <a:prstGeom prst="rect">
            <a:avLst/>
          </a:prstGeom>
        </p:spPr>
      </p:pic>
      <p:sp>
        <p:nvSpPr>
          <p:cNvPr id="9127" name="T"/>
          <p:cNvSpPr txBox="1"/>
          <p:nvPr/>
        </p:nvSpPr>
        <p:spPr>
          <a:xfrm>
            <a:off x="10262848" y="3477287"/>
            <a:ext cx="8133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belum padam 83 ha</a:t>
            </a:r>
          </a:p>
        </p:txBody>
      </p:sp>
      <p:cxnSp>
        <p:nvCxnSpPr>
          <p:cNvPr id="9128" name="L"/>
          <p:cNvCxnSpPr/>
          <p:nvPr/>
        </p:nvCxnSpPr>
        <p:spPr>
          <a:xfrm>
            <a:off x="8823960" y="3618383"/>
            <a:ext cx="2681935" cy="0"/>
          </a:xfrm>
          <a:prstGeom prst="line">
            <a:avLst/>
          </a:prstGeom>
          <a:ln w="6350">
            <a:solidFill>
              <a:srgbClr val="F1F2F4"/>
            </a:solidFill>
          </a:ln>
        </p:spPr>
      </p:cxnSp>
      <p:sp>
        <p:nvSpPr>
          <p:cNvPr id="9129" name="K"/>
          <p:cNvSpPr/>
          <p:nvPr/>
        </p:nvSpPr>
        <p:spPr>
          <a:xfrm>
            <a:off x="8823960" y="3667666"/>
            <a:ext cx="201168" cy="20116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pic>
        <p:nvPicPr>
          <p:cNvPr id="9130" name="G"/>
          <p:cNvPicPr>
            <a:picLocks noChangeAspect="1"/>
          </p:cNvPicPr>
          <p:nvPr/>
        </p:nvPicPr>
        <p:blipFill>
          <a:blip r:embed="rIdL10"/>
          <a:stretch>
            <a:fillRect/>
          </a:stretch>
        </p:blipFill>
        <p:spPr>
          <a:xfrm>
            <a:off x="8865108" y="3708814"/>
            <a:ext cx="118872" cy="118872"/>
          </a:xfrm>
          <a:prstGeom prst="rect">
            <a:avLst/>
          </a:prstGeom>
        </p:spPr>
      </p:pic>
      <p:sp>
        <p:nvSpPr>
          <p:cNvPr id="9131" name="T"/>
          <p:cNvSpPr txBox="1"/>
          <p:nvPr/>
        </p:nvSpPr>
        <p:spPr>
          <a:xfrm>
            <a:off x="9089136" y="3646754"/>
            <a:ext cx="1516759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OMC BNPB, sejak 22 Okt</a:t>
            </a:r>
          </a:p>
        </p:txBody>
      </p:sp>
      <p:sp>
        <p:nvSpPr>
          <p:cNvPr id="9135" name="K"/>
          <p:cNvSpPr/>
          <p:nvPr/>
        </p:nvSpPr>
        <p:spPr>
          <a:xfrm>
            <a:off x="10880999" y="3651326"/>
            <a:ext cx="624896" cy="13716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/>
          <a:p/>
        </p:txBody>
      </p:sp>
      <p:pic>
        <p:nvPicPr>
          <p:cNvPr id="9136" name="G"/>
          <p:cNvPicPr>
            <a:picLocks noChangeAspect="1"/>
          </p:cNvPicPr>
          <p:nvPr/>
        </p:nvPicPr>
        <p:blipFill>
          <a:blip r:embed="rIdL11"/>
          <a:stretch>
            <a:fillRect/>
          </a:stretch>
        </p:blipFill>
        <p:spPr>
          <a:xfrm>
            <a:off x="10944499" y="3678758"/>
            <a:ext cx="82296" cy="82296"/>
          </a:xfrm>
          <a:prstGeom prst="rect">
            <a:avLst/>
          </a:prstGeom>
        </p:spPr>
      </p:pic>
      <p:sp>
        <p:nvSpPr>
          <p:cNvPr id="9137" name="T"/>
          <p:cNvSpPr txBox="1"/>
          <p:nvPr/>
        </p:nvSpPr>
        <p:spPr>
          <a:xfrm>
            <a:off x="11064895" y="3651326"/>
            <a:ext cx="4029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berjalan</a:t>
            </a:r>
          </a:p>
        </p:txBody>
      </p:sp>
      <p:sp>
        <p:nvSpPr>
          <p:cNvPr id="9138" name="K"/>
          <p:cNvSpPr/>
          <p:nvPr/>
        </p:nvSpPr>
        <p:spPr>
          <a:xfrm>
            <a:off x="9089136" y="3815696"/>
            <a:ext cx="1172096" cy="1371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139" name="G"/>
          <p:cNvPicPr>
            <a:picLocks noChangeAspect="1"/>
          </p:cNvPicPr>
          <p:nvPr/>
        </p:nvPicPr>
        <p:blipFill>
          <a:blip r:embed="rIdL12"/>
          <a:stretch>
            <a:fillRect/>
          </a:stretch>
        </p:blipFill>
        <p:spPr>
          <a:xfrm>
            <a:off x="9152636" y="3843128"/>
            <a:ext cx="82296" cy="82296"/>
          </a:xfrm>
          <a:prstGeom prst="rect">
            <a:avLst/>
          </a:prstGeom>
        </p:spPr>
      </p:pic>
      <p:sp>
        <p:nvSpPr>
          <p:cNvPr id="9140" name="T"/>
          <p:cNvSpPr txBox="1"/>
          <p:nvPr/>
        </p:nvSpPr>
        <p:spPr>
          <a:xfrm>
            <a:off x="9273032" y="3815696"/>
            <a:ext cx="9501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9 sortie s.d. 27 Okt</a:t>
            </a:r>
          </a:p>
        </p:txBody>
      </p:sp>
      <p:sp>
        <p:nvSpPr>
          <p:cNvPr id="9141" name="K"/>
          <p:cNvSpPr/>
          <p:nvPr/>
        </p:nvSpPr>
        <p:spPr>
          <a:xfrm>
            <a:off x="10306952" y="3815696"/>
            <a:ext cx="1172096" cy="1371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142" name="G"/>
          <p:cNvPicPr>
            <a:picLocks noChangeAspect="1"/>
          </p:cNvPicPr>
          <p:nvPr/>
        </p:nvPicPr>
        <p:blipFill>
          <a:blip r:embed="rIdL13"/>
          <a:stretch>
            <a:fillRect/>
          </a:stretch>
        </p:blipFill>
        <p:spPr>
          <a:xfrm>
            <a:off x="10370452" y="3843128"/>
            <a:ext cx="82296" cy="82296"/>
          </a:xfrm>
          <a:prstGeom prst="rect">
            <a:avLst/>
          </a:prstGeom>
        </p:spPr>
      </p:pic>
      <p:sp>
        <p:nvSpPr>
          <p:cNvPr id="9143" name="T"/>
          <p:cNvSpPr txBox="1"/>
          <p:nvPr/>
        </p:nvSpPr>
        <p:spPr>
          <a:xfrm>
            <a:off x="10490848" y="3815696"/>
            <a:ext cx="9501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9.000 kg bahan semai</a:t>
            </a:r>
          </a:p>
        </p:txBody>
      </p:sp>
      <p:cxnSp>
        <p:nvCxnSpPr>
          <p:cNvPr id="9144" name="L"/>
          <p:cNvCxnSpPr/>
          <p:nvPr/>
        </p:nvCxnSpPr>
        <p:spPr>
          <a:xfrm>
            <a:off x="8823960" y="3956792"/>
            <a:ext cx="2681935" cy="0"/>
          </a:xfrm>
          <a:prstGeom prst="line">
            <a:avLst/>
          </a:prstGeom>
          <a:ln w="6350">
            <a:solidFill>
              <a:srgbClr val="F1F2F4"/>
            </a:solidFill>
          </a:ln>
        </p:spPr>
      </p:cxnSp>
      <p:sp>
        <p:nvSpPr>
          <p:cNvPr id="9145" name="K"/>
          <p:cNvSpPr/>
          <p:nvPr/>
        </p:nvSpPr>
        <p:spPr>
          <a:xfrm>
            <a:off x="8823960" y="4006076"/>
            <a:ext cx="201168" cy="201168"/>
          </a:xfrm>
          <a:prstGeom prst="ellipse">
            <a:avLst/>
          </a:prstGeom>
          <a:solidFill>
            <a:srgbClr val="5B7A99"/>
          </a:solidFill>
          <a:ln>
            <a:noFill/>
          </a:ln>
        </p:spPr>
        <p:txBody>
          <a:bodyPr/>
          <a:p/>
        </p:txBody>
      </p:sp>
      <p:pic>
        <p:nvPicPr>
          <p:cNvPr id="9146" name="G"/>
          <p:cNvPicPr>
            <a:picLocks noChangeAspect="1"/>
          </p:cNvPicPr>
          <p:nvPr/>
        </p:nvPicPr>
        <p:blipFill>
          <a:blip r:embed="rIdL14"/>
          <a:stretch>
            <a:fillRect/>
          </a:stretch>
        </p:blipFill>
        <p:spPr>
          <a:xfrm>
            <a:off x="8865108" y="4047224"/>
            <a:ext cx="118872" cy="118872"/>
          </a:xfrm>
          <a:prstGeom prst="rect">
            <a:avLst/>
          </a:prstGeom>
        </p:spPr>
      </p:pic>
      <p:sp>
        <p:nvSpPr>
          <p:cNvPr id="9147" name="T"/>
          <p:cNvSpPr txBox="1"/>
          <p:nvPr/>
        </p:nvSpPr>
        <p:spPr>
          <a:xfrm>
            <a:off x="9089136" y="3985163"/>
            <a:ext cx="1516759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Tanggap Darurat Prov. Papua Selatan</a:t>
            </a:r>
          </a:p>
        </p:txBody>
      </p:sp>
      <p:sp>
        <p:nvSpPr>
          <p:cNvPr id="9151" name="K"/>
          <p:cNvSpPr/>
          <p:nvPr/>
        </p:nvSpPr>
        <p:spPr>
          <a:xfrm>
            <a:off x="10972199" y="3989735"/>
            <a:ext cx="533696" cy="1371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152" name="G"/>
          <p:cNvPicPr>
            <a:picLocks noChangeAspect="1"/>
          </p:cNvPicPr>
          <p:nvPr/>
        </p:nvPicPr>
        <p:blipFill>
          <a:blip r:embed="rIdL2"/>
          <a:stretch>
            <a:fillRect/>
          </a:stretch>
        </p:blipFill>
        <p:spPr>
          <a:xfrm>
            <a:off x="11035699" y="4017167"/>
            <a:ext cx="82296" cy="82296"/>
          </a:xfrm>
          <a:prstGeom prst="rect">
            <a:avLst/>
          </a:prstGeom>
        </p:spPr>
      </p:pic>
      <p:sp>
        <p:nvSpPr>
          <p:cNvPr id="9153" name="T"/>
          <p:cNvSpPr txBox="1"/>
          <p:nvPr/>
        </p:nvSpPr>
        <p:spPr>
          <a:xfrm>
            <a:off x="11156095" y="3989735"/>
            <a:ext cx="3117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pantau</a:t>
            </a:r>
          </a:p>
        </p:txBody>
      </p:sp>
      <p:sp>
        <p:nvSpPr>
          <p:cNvPr id="9154" name="K"/>
          <p:cNvSpPr/>
          <p:nvPr/>
        </p:nvSpPr>
        <p:spPr>
          <a:xfrm>
            <a:off x="9089136" y="4154106"/>
            <a:ext cx="670496" cy="1371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155" name="G"/>
          <p:cNvPicPr>
            <a:picLocks noChangeAspect="1"/>
          </p:cNvPicPr>
          <p:nvPr/>
        </p:nvPicPr>
        <p:blipFill>
          <a:blip r:embed="rIdL15"/>
          <a:stretch>
            <a:fillRect/>
          </a:stretch>
        </p:blipFill>
        <p:spPr>
          <a:xfrm>
            <a:off x="9152636" y="4181538"/>
            <a:ext cx="82296" cy="82296"/>
          </a:xfrm>
          <a:prstGeom prst="rect">
            <a:avLst/>
          </a:prstGeom>
        </p:spPr>
      </p:pic>
      <p:sp>
        <p:nvSpPr>
          <p:cNvPr id="9156" name="T"/>
          <p:cNvSpPr txBox="1"/>
          <p:nvPr/>
        </p:nvSpPr>
        <p:spPr>
          <a:xfrm>
            <a:off x="9273032" y="4154106"/>
            <a:ext cx="4485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14–28 Okt</a:t>
            </a:r>
          </a:p>
        </p:txBody>
      </p:sp>
      <p:sp>
        <p:nvSpPr>
          <p:cNvPr id="9157" name="K"/>
          <p:cNvSpPr/>
          <p:nvPr/>
        </p:nvSpPr>
        <p:spPr>
          <a:xfrm>
            <a:off x="9805352" y="4154106"/>
            <a:ext cx="1126496" cy="13716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9158" name="G"/>
          <p:cNvPicPr>
            <a:picLocks noChangeAspect="1"/>
          </p:cNvPicPr>
          <p:nvPr/>
        </p:nvPicPr>
        <p:blipFill>
          <a:blip r:embed="rIdL9"/>
          <a:stretch>
            <a:fillRect/>
          </a:stretch>
        </p:blipFill>
        <p:spPr>
          <a:xfrm>
            <a:off x="9868852" y="4181538"/>
            <a:ext cx="82296" cy="82296"/>
          </a:xfrm>
          <a:prstGeom prst="rect">
            <a:avLst/>
          </a:prstGeom>
        </p:spPr>
      </p:pic>
      <p:sp>
        <p:nvSpPr>
          <p:cNvPr id="9159" name="T"/>
          <p:cNvSpPr txBox="1"/>
          <p:nvPr/>
        </p:nvSpPr>
        <p:spPr>
          <a:xfrm>
            <a:off x="9989248" y="4154106"/>
            <a:ext cx="9045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proses perpanjangan</a:t>
            </a:r>
          </a:p>
        </p:txBody>
      </p:sp>
      <p:cxnSp>
        <p:nvCxnSpPr>
          <p:cNvPr id="9160" name="L"/>
          <p:cNvCxnSpPr/>
          <p:nvPr/>
        </p:nvCxnSpPr>
        <p:spPr>
          <a:xfrm>
            <a:off x="8823960" y="4295202"/>
            <a:ext cx="2681935" cy="0"/>
          </a:xfrm>
          <a:prstGeom prst="line">
            <a:avLst/>
          </a:prstGeom>
          <a:ln w="6350">
            <a:solidFill>
              <a:srgbClr val="F1F2F4"/>
            </a:solidFill>
          </a:ln>
        </p:spPr>
      </p:cxnSp>
      <p:sp>
        <p:nvSpPr>
          <p:cNvPr id="9161" name="K"/>
          <p:cNvSpPr/>
          <p:nvPr/>
        </p:nvSpPr>
        <p:spPr>
          <a:xfrm>
            <a:off x="8823960" y="4344485"/>
            <a:ext cx="201168" cy="20116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pic>
        <p:nvPicPr>
          <p:cNvPr id="9162" name="G"/>
          <p:cNvPicPr>
            <a:picLocks noChangeAspect="1"/>
          </p:cNvPicPr>
          <p:nvPr/>
        </p:nvPicPr>
        <p:blipFill>
          <a:blip r:embed="rIdL16"/>
          <a:stretch>
            <a:fillRect/>
          </a:stretch>
        </p:blipFill>
        <p:spPr>
          <a:xfrm>
            <a:off x="8865108" y="4385633"/>
            <a:ext cx="118872" cy="118872"/>
          </a:xfrm>
          <a:prstGeom prst="rect">
            <a:avLst/>
          </a:prstGeom>
        </p:spPr>
      </p:pic>
      <p:sp>
        <p:nvSpPr>
          <p:cNvPr id="9163" name="T"/>
          <p:cNvSpPr txBox="1"/>
          <p:nvPr/>
        </p:nvSpPr>
        <p:spPr>
          <a:xfrm>
            <a:off x="9089136" y="4323573"/>
            <a:ext cx="1516759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Karhutla 2026</a:t>
            </a:r>
          </a:p>
        </p:txBody>
      </p:sp>
      <p:sp>
        <p:nvSpPr>
          <p:cNvPr id="9167" name="K"/>
          <p:cNvSpPr/>
          <p:nvPr/>
        </p:nvSpPr>
        <p:spPr>
          <a:xfrm>
            <a:off x="10835399" y="4328145"/>
            <a:ext cx="670496" cy="1371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168" name="G"/>
          <p:cNvPicPr>
            <a:picLocks noChangeAspect="1"/>
          </p:cNvPicPr>
          <p:nvPr/>
        </p:nvPicPr>
        <p:blipFill>
          <a:blip r:embed="rIdL17"/>
          <a:stretch>
            <a:fillRect/>
          </a:stretch>
        </p:blipFill>
        <p:spPr>
          <a:xfrm>
            <a:off x="10898899" y="4355577"/>
            <a:ext cx="82296" cy="82296"/>
          </a:xfrm>
          <a:prstGeom prst="rect">
            <a:avLst/>
          </a:prstGeom>
        </p:spPr>
      </p:pic>
      <p:sp>
        <p:nvSpPr>
          <p:cNvPr id="9169" name="T"/>
          <p:cNvSpPr txBox="1"/>
          <p:nvPr/>
        </p:nvSpPr>
        <p:spPr>
          <a:xfrm>
            <a:off x="11019295" y="4328145"/>
            <a:ext cx="4485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kumulatif</a:t>
            </a:r>
          </a:p>
        </p:txBody>
      </p:sp>
      <p:sp>
        <p:nvSpPr>
          <p:cNvPr id="9170" name="K"/>
          <p:cNvSpPr/>
          <p:nvPr/>
        </p:nvSpPr>
        <p:spPr>
          <a:xfrm>
            <a:off x="9089136" y="4492515"/>
            <a:ext cx="1126496" cy="13716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/>
          <a:p/>
        </p:txBody>
      </p:sp>
      <p:pic>
        <p:nvPicPr>
          <p:cNvPr id="9171" name="G"/>
          <p:cNvPicPr>
            <a:picLocks noChangeAspect="1"/>
          </p:cNvPicPr>
          <p:nvPr/>
        </p:nvPicPr>
        <p:blipFill>
          <a:blip r:embed="rIdL18"/>
          <a:stretch>
            <a:fillRect/>
          </a:stretch>
        </p:blipFill>
        <p:spPr>
          <a:xfrm>
            <a:off x="9152636" y="4519947"/>
            <a:ext cx="82296" cy="82296"/>
          </a:xfrm>
          <a:prstGeom prst="rect">
            <a:avLst/>
          </a:prstGeom>
        </p:spPr>
      </p:pic>
      <p:sp>
        <p:nvSpPr>
          <p:cNvPr id="9172" name="T"/>
          <p:cNvSpPr txBox="1"/>
          <p:nvPr/>
        </p:nvSpPr>
        <p:spPr>
          <a:xfrm>
            <a:off x="9273032" y="4492515"/>
            <a:ext cx="9045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297.081 ha terbakar</a:t>
            </a:r>
          </a:p>
        </p:txBody>
      </p:sp>
      <p:sp>
        <p:nvSpPr>
          <p:cNvPr id="9173" name="K"/>
          <p:cNvSpPr/>
          <p:nvPr/>
        </p:nvSpPr>
        <p:spPr>
          <a:xfrm>
            <a:off x="10261352" y="4492515"/>
            <a:ext cx="807296" cy="1371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174" name="G"/>
          <p:cNvPicPr>
            <a:picLocks noChangeAspect="1"/>
          </p:cNvPicPr>
          <p:nvPr/>
        </p:nvPicPr>
        <p:blipFill>
          <a:blip r:embed="rIdL15"/>
          <a:stretch>
            <a:fillRect/>
          </a:stretch>
        </p:blipFill>
        <p:spPr>
          <a:xfrm>
            <a:off x="10324852" y="4519947"/>
            <a:ext cx="82296" cy="82296"/>
          </a:xfrm>
          <a:prstGeom prst="rect">
            <a:avLst/>
          </a:prstGeom>
        </p:spPr>
      </p:pic>
      <p:sp>
        <p:nvSpPr>
          <p:cNvPr id="9175" name="T"/>
          <p:cNvSpPr txBox="1"/>
          <p:nvPr/>
        </p:nvSpPr>
        <p:spPr>
          <a:xfrm>
            <a:off x="10445248" y="4492515"/>
            <a:ext cx="5853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 Jan–29 Okt</a:t>
            </a:r>
          </a:p>
        </p:txBody>
      </p:sp>
      <p:sp>
        <p:nvSpPr>
          <p:cNvPr id="9176" name="K"/>
          <p:cNvSpPr/>
          <p:nvPr/>
        </p:nvSpPr>
        <p:spPr>
          <a:xfrm>
            <a:off x="658368" y="5339851"/>
            <a:ext cx="1340000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pic>
        <p:nvPicPr>
          <p:cNvPr id="9177" name="G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731520" y="5376427"/>
            <a:ext cx="109728" cy="109728"/>
          </a:xfrm>
          <a:prstGeom prst="rect">
            <a:avLst/>
          </a:prstGeom>
        </p:spPr>
      </p:pic>
      <p:sp>
        <p:nvSpPr>
          <p:cNvPr id="9178" name="T"/>
          <p:cNvSpPr txBox="1"/>
          <p:nvPr/>
        </p:nvSpPr>
        <p:spPr>
          <a:xfrm>
            <a:off x="896112" y="5339851"/>
            <a:ext cx="1080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60" b="1" spc="1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TREN TITIK PANAS</a:t>
            </a:r>
          </a:p>
        </p:txBody>
      </p:sp>
      <p:sp>
        <p:nvSpPr>
          <p:cNvPr id="9179" name="T"/>
          <p:cNvSpPr txBox="1"/>
          <p:nvPr/>
        </p:nvSpPr>
        <p:spPr>
          <a:xfrm>
            <a:off x="7000000" y="5339851"/>
            <a:ext cx="4533327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▼65%</a:t>
            </a:r>
            <a:r>
              <a:rPr lang="id-ID" sz="7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  30 Okt dibanding 29 Okt</a:t>
            </a:r>
          </a:p>
        </p:txBody>
      </p:sp>
      <p:cxnSp>
        <p:nvCxnSpPr>
          <p:cNvPr id="9180" name="L"/>
          <p:cNvCxnSpPr/>
          <p:nvPr/>
        </p:nvCxnSpPr>
        <p:spPr>
          <a:xfrm>
            <a:off x="658368" y="5910927"/>
            <a:ext cx="10874959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9181" name="K"/>
          <p:cNvSpPr/>
          <p:nvPr/>
        </p:nvSpPr>
        <p:spPr>
          <a:xfrm>
            <a:off x="943835" y="5791800"/>
            <a:ext cx="788434" cy="115802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CE1E7"/>
          </a:solidFill>
          <a:ln>
            <a:noFill/>
          </a:ln>
        </p:spPr>
        <p:txBody>
          <a:bodyPr/>
          <a:p/>
        </p:txBody>
      </p:sp>
      <p:sp>
        <p:nvSpPr>
          <p:cNvPr id="9182" name="T"/>
          <p:cNvSpPr txBox="1"/>
          <p:nvPr/>
        </p:nvSpPr>
        <p:spPr>
          <a:xfrm>
            <a:off x="658368" y="5631447"/>
            <a:ext cx="1359369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1.131</a:t>
            </a:r>
          </a:p>
        </p:txBody>
      </p:sp>
      <p:sp>
        <p:nvSpPr>
          <p:cNvPr id="9183" name="T"/>
          <p:cNvSpPr txBox="1"/>
          <p:nvPr/>
        </p:nvSpPr>
        <p:spPr>
          <a:xfrm>
            <a:off x="658368" y="5929399"/>
            <a:ext cx="1359369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23</a:t>
            </a:r>
          </a:p>
        </p:txBody>
      </p:sp>
      <p:sp>
        <p:nvSpPr>
          <p:cNvPr id="9184" name="K"/>
          <p:cNvSpPr/>
          <p:nvPr/>
        </p:nvSpPr>
        <p:spPr>
          <a:xfrm>
            <a:off x="2303205" y="5829193"/>
            <a:ext cx="788434" cy="79453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7D3EE"/>
          </a:solidFill>
          <a:ln>
            <a:noFill/>
          </a:ln>
        </p:spPr>
        <p:txBody>
          <a:bodyPr/>
          <a:p/>
        </p:txBody>
      </p:sp>
      <p:sp>
        <p:nvSpPr>
          <p:cNvPr id="9185" name="T"/>
          <p:cNvSpPr txBox="1"/>
          <p:nvPr/>
        </p:nvSpPr>
        <p:spPr>
          <a:xfrm>
            <a:off x="2017737" y="5669883"/>
            <a:ext cx="1359369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776</a:t>
            </a:r>
          </a:p>
        </p:txBody>
      </p:sp>
      <p:sp>
        <p:nvSpPr>
          <p:cNvPr id="9186" name="T"/>
          <p:cNvSpPr txBox="1"/>
          <p:nvPr/>
        </p:nvSpPr>
        <p:spPr>
          <a:xfrm>
            <a:off x="2017737" y="5929399"/>
            <a:ext cx="1359369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24</a:t>
            </a:r>
          </a:p>
        </p:txBody>
      </p:sp>
      <p:sp>
        <p:nvSpPr>
          <p:cNvPr id="9187" name="T"/>
          <p:cNvSpPr txBox="1"/>
          <p:nvPr/>
        </p:nvSpPr>
        <p:spPr>
          <a:xfrm>
            <a:off x="2017737" y="6026479"/>
            <a:ext cx="1359369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▼31%</a:t>
            </a:r>
          </a:p>
        </p:txBody>
      </p:sp>
      <p:sp>
        <p:nvSpPr>
          <p:cNvPr id="9188" name="K"/>
          <p:cNvSpPr/>
          <p:nvPr/>
        </p:nvSpPr>
        <p:spPr>
          <a:xfrm>
            <a:off x="3662575" y="5781794"/>
            <a:ext cx="788434" cy="125529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F4C3A0"/>
          </a:solidFill>
          <a:ln>
            <a:noFill/>
          </a:ln>
        </p:spPr>
        <p:txBody>
          <a:bodyPr/>
          <a:p/>
        </p:txBody>
      </p:sp>
      <p:sp>
        <p:nvSpPr>
          <p:cNvPr id="9189" name="T"/>
          <p:cNvSpPr txBox="1"/>
          <p:nvPr/>
        </p:nvSpPr>
        <p:spPr>
          <a:xfrm>
            <a:off x="3377107" y="5621162"/>
            <a:ext cx="1359369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1.226</a:t>
            </a:r>
          </a:p>
        </p:txBody>
      </p:sp>
      <p:sp>
        <p:nvSpPr>
          <p:cNvPr id="9190" name="T"/>
          <p:cNvSpPr txBox="1"/>
          <p:nvPr/>
        </p:nvSpPr>
        <p:spPr>
          <a:xfrm>
            <a:off x="3377107" y="5929399"/>
            <a:ext cx="1359369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25</a:t>
            </a:r>
          </a:p>
        </p:txBody>
      </p:sp>
      <p:sp>
        <p:nvSpPr>
          <p:cNvPr id="9191" name="T"/>
          <p:cNvSpPr txBox="1"/>
          <p:nvPr/>
        </p:nvSpPr>
        <p:spPr>
          <a:xfrm>
            <a:off x="3377107" y="6026479"/>
            <a:ext cx="1359369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▲58%</a:t>
            </a:r>
          </a:p>
        </p:txBody>
      </p:sp>
      <p:sp>
        <p:nvSpPr>
          <p:cNvPr id="9192" name="K"/>
          <p:cNvSpPr/>
          <p:nvPr/>
        </p:nvSpPr>
        <p:spPr>
          <a:xfrm>
            <a:off x="5021945" y="5774528"/>
            <a:ext cx="788434" cy="132593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F4C3A0"/>
          </a:solidFill>
          <a:ln>
            <a:noFill/>
          </a:ln>
        </p:spPr>
        <p:txBody>
          <a:bodyPr/>
          <a:p/>
        </p:txBody>
      </p:sp>
      <p:sp>
        <p:nvSpPr>
          <p:cNvPr id="9193" name="T"/>
          <p:cNvSpPr txBox="1"/>
          <p:nvPr/>
        </p:nvSpPr>
        <p:spPr>
          <a:xfrm>
            <a:off x="4736477" y="5613692"/>
            <a:ext cx="1359369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1.295</a:t>
            </a:r>
          </a:p>
        </p:txBody>
      </p:sp>
      <p:sp>
        <p:nvSpPr>
          <p:cNvPr id="9194" name="T"/>
          <p:cNvSpPr txBox="1"/>
          <p:nvPr/>
        </p:nvSpPr>
        <p:spPr>
          <a:xfrm>
            <a:off x="4736477" y="5929399"/>
            <a:ext cx="1359369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26</a:t>
            </a:r>
          </a:p>
        </p:txBody>
      </p:sp>
      <p:sp>
        <p:nvSpPr>
          <p:cNvPr id="9195" name="T"/>
          <p:cNvSpPr txBox="1"/>
          <p:nvPr/>
        </p:nvSpPr>
        <p:spPr>
          <a:xfrm>
            <a:off x="4736477" y="6026479"/>
            <a:ext cx="1359369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▲6%</a:t>
            </a:r>
          </a:p>
        </p:txBody>
      </p:sp>
      <p:sp>
        <p:nvSpPr>
          <p:cNvPr id="9196" name="K"/>
          <p:cNvSpPr/>
          <p:nvPr/>
        </p:nvSpPr>
        <p:spPr>
          <a:xfrm>
            <a:off x="6381315" y="5818870"/>
            <a:ext cx="788434" cy="89488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7D3EE"/>
          </a:solidFill>
          <a:ln>
            <a:noFill/>
          </a:ln>
        </p:spPr>
        <p:txBody>
          <a:bodyPr/>
          <a:p/>
        </p:txBody>
      </p:sp>
      <p:sp>
        <p:nvSpPr>
          <p:cNvPr id="9197" name="T"/>
          <p:cNvSpPr txBox="1"/>
          <p:nvPr/>
        </p:nvSpPr>
        <p:spPr>
          <a:xfrm>
            <a:off x="6095847" y="5659272"/>
            <a:ext cx="1359369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874</a:t>
            </a:r>
          </a:p>
        </p:txBody>
      </p:sp>
      <p:sp>
        <p:nvSpPr>
          <p:cNvPr id="9198" name="T"/>
          <p:cNvSpPr txBox="1"/>
          <p:nvPr/>
        </p:nvSpPr>
        <p:spPr>
          <a:xfrm>
            <a:off x="6095847" y="5929399"/>
            <a:ext cx="1359369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27</a:t>
            </a:r>
          </a:p>
        </p:txBody>
      </p:sp>
      <p:sp>
        <p:nvSpPr>
          <p:cNvPr id="9199" name="T"/>
          <p:cNvSpPr txBox="1"/>
          <p:nvPr/>
        </p:nvSpPr>
        <p:spPr>
          <a:xfrm>
            <a:off x="6095847" y="6026479"/>
            <a:ext cx="1359369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▼33%</a:t>
            </a:r>
          </a:p>
        </p:txBody>
      </p:sp>
      <p:sp>
        <p:nvSpPr>
          <p:cNvPr id="9200" name="K"/>
          <p:cNvSpPr/>
          <p:nvPr/>
        </p:nvSpPr>
        <p:spPr>
          <a:xfrm>
            <a:off x="7740685" y="5593708"/>
            <a:ext cx="788434" cy="317219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/>
          <a:p/>
        </p:txBody>
      </p:sp>
      <p:sp>
        <p:nvSpPr>
          <p:cNvPr id="9201" name="T"/>
          <p:cNvSpPr txBox="1"/>
          <p:nvPr/>
        </p:nvSpPr>
        <p:spPr>
          <a:xfrm>
            <a:off x="7455217" y="5436678"/>
            <a:ext cx="1359369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2.930</a:t>
            </a:r>
          </a:p>
        </p:txBody>
      </p:sp>
      <p:sp>
        <p:nvSpPr>
          <p:cNvPr id="9202" name="T"/>
          <p:cNvSpPr txBox="1"/>
          <p:nvPr/>
        </p:nvSpPr>
        <p:spPr>
          <a:xfrm>
            <a:off x="7455217" y="5929399"/>
            <a:ext cx="1359369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28</a:t>
            </a:r>
          </a:p>
        </p:txBody>
      </p:sp>
      <p:sp>
        <p:nvSpPr>
          <p:cNvPr id="9203" name="T"/>
          <p:cNvSpPr txBox="1"/>
          <p:nvPr/>
        </p:nvSpPr>
        <p:spPr>
          <a:xfrm>
            <a:off x="7455217" y="6026479"/>
            <a:ext cx="1359369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▲235%</a:t>
            </a:r>
          </a:p>
        </p:txBody>
      </p:sp>
      <p:sp>
        <p:nvSpPr>
          <p:cNvPr id="9204" name="K"/>
          <p:cNvSpPr/>
          <p:nvPr/>
        </p:nvSpPr>
        <p:spPr>
          <a:xfrm>
            <a:off x="9100054" y="5832774"/>
            <a:ext cx="788434" cy="75972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/>
          <a:p/>
        </p:txBody>
      </p:sp>
      <p:sp>
        <p:nvSpPr>
          <p:cNvPr id="9205" name="T"/>
          <p:cNvSpPr txBox="1"/>
          <p:nvPr/>
        </p:nvSpPr>
        <p:spPr>
          <a:xfrm>
            <a:off x="8814587" y="5673563"/>
            <a:ext cx="1359369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742</a:t>
            </a:r>
          </a:p>
        </p:txBody>
      </p:sp>
      <p:sp>
        <p:nvSpPr>
          <p:cNvPr id="9206" name="T"/>
          <p:cNvSpPr txBox="1"/>
          <p:nvPr/>
        </p:nvSpPr>
        <p:spPr>
          <a:xfrm>
            <a:off x="8814587" y="5929399"/>
            <a:ext cx="1359369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29</a:t>
            </a:r>
          </a:p>
        </p:txBody>
      </p:sp>
      <p:sp>
        <p:nvSpPr>
          <p:cNvPr id="9207" name="T"/>
          <p:cNvSpPr txBox="1"/>
          <p:nvPr/>
        </p:nvSpPr>
        <p:spPr>
          <a:xfrm>
            <a:off x="8814587" y="6026479"/>
            <a:ext cx="1359369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▼75%</a:t>
            </a:r>
          </a:p>
        </p:txBody>
      </p:sp>
      <p:sp>
        <p:nvSpPr>
          <p:cNvPr id="9208" name="K"/>
          <p:cNvSpPr/>
          <p:nvPr/>
        </p:nvSpPr>
        <p:spPr>
          <a:xfrm>
            <a:off x="10459424" y="5883858"/>
            <a:ext cx="788434" cy="26313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/>
          <a:p/>
        </p:txBody>
      </p:sp>
      <p:sp>
        <p:nvSpPr>
          <p:cNvPr id="9209" name="T"/>
          <p:cNvSpPr txBox="1"/>
          <p:nvPr/>
        </p:nvSpPr>
        <p:spPr>
          <a:xfrm>
            <a:off x="10173957" y="5726073"/>
            <a:ext cx="1359369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257</a:t>
            </a:r>
          </a:p>
        </p:txBody>
      </p:sp>
      <p:sp>
        <p:nvSpPr>
          <p:cNvPr id="9210" name="T"/>
          <p:cNvSpPr txBox="1"/>
          <p:nvPr/>
        </p:nvSpPr>
        <p:spPr>
          <a:xfrm>
            <a:off x="10173957" y="5929399"/>
            <a:ext cx="1359369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30 Okt</a:t>
            </a:r>
          </a:p>
        </p:txBody>
      </p:sp>
      <p:sp>
        <p:nvSpPr>
          <p:cNvPr id="9211" name="T"/>
          <p:cNvSpPr txBox="1"/>
          <p:nvPr/>
        </p:nvSpPr>
        <p:spPr>
          <a:xfrm>
            <a:off x="10173957" y="6026479"/>
            <a:ext cx="1359369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▼65%</a:t>
            </a:r>
          </a:p>
        </p:txBody>
      </p:sp>
      <p:sp>
        <p:nvSpPr>
          <p:cNvPr id="9636" name="T"/>
          <p:cNvSpPr txBox="1"/>
          <p:nvPr/>
        </p:nvSpPr>
        <p:spPr>
          <a:xfrm>
            <a:off x="548640" y="690000"/>
            <a:ext cx="8200000" cy="190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10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Peringkat ke-8 nasional</a:t>
            </a:r>
            <a:r>
              <a:rPr lang="id-ID" sz="1000" b="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untuk titik panas 30 Okt dan ke-1 untuk belum padam 29 Okt (dari 38 provinsi); ke-2 untuk luas terbakar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906272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850" dirty="0"/>
          </a:p>
        </p:txBody>
      </p:sp>
      <p:sp>
        <p:nvSpPr>
          <p:cNvPr id="552" name="T"/>
          <p:cNvSpPr txBox="1"/>
          <p:nvPr/>
        </p:nvSpPr>
        <p:spPr>
          <a:xfrm>
            <a:off x="548640" y="365760"/>
            <a:ext cx="8183880" cy="299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Sebaran Titik Panas dan Kebakaran di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Kab. Merauke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per 30 Oktober</a:t>
            </a:r>
            <a:endParaRPr lang="id-ID" sz="2000"/>
          </a:p>
        </p:txBody>
      </p:sp>
      <p:sp>
        <p:nvSpPr>
          <p:cNvPr id="301" name="K"/>
          <p:cNvSpPr/>
          <p:nvPr/>
        </p:nvSpPr>
        <p:spPr>
          <a:xfrm>
            <a:off x="548640" y="1031967"/>
            <a:ext cx="7170725" cy="986222"/>
          </a:xfrm>
          <a:prstGeom prst="roundRect">
            <a:avLst>
              <a:gd name="adj" fmla="val 7843"/>
            </a:avLst>
          </a:prstGeom>
          <a:solidFill>
            <a:srgbClr val="F3F5F8"/>
          </a:solidFill>
          <a:ln>
            <a:noFill/>
          </a:ln>
        </p:spPr>
        <p:txBody>
          <a:bodyPr/>
          <a:p/>
        </p:txBody>
      </p:sp>
      <p:sp>
        <p:nvSpPr>
          <p:cNvPr id="302" name="K"/>
          <p:cNvSpPr/>
          <p:nvPr/>
        </p:nvSpPr>
        <p:spPr>
          <a:xfrm>
            <a:off x="658368" y="1095228"/>
            <a:ext cx="1212000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pic>
        <p:nvPicPr>
          <p:cNvPr id="303" name="G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731520" y="1131804"/>
            <a:ext cx="109728" cy="109728"/>
          </a:xfrm>
          <a:prstGeom prst="rect">
            <a:avLst/>
          </a:prstGeom>
        </p:spPr>
      </p:pic>
      <p:sp>
        <p:nvSpPr>
          <p:cNvPr id="304" name="T"/>
          <p:cNvSpPr txBox="1"/>
          <p:nvPr/>
        </p:nvSpPr>
        <p:spPr>
          <a:xfrm>
            <a:off x="896112" y="1095228"/>
            <a:ext cx="952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60" b="1" spc="1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DATA SATELIT</a:t>
            </a:r>
            <a:endParaRPr lang="id-ID" sz="660"/>
          </a:p>
        </p:txBody>
      </p:sp>
      <p:sp>
        <p:nvSpPr>
          <p:cNvPr id="305" name="K"/>
          <p:cNvSpPr/>
          <p:nvPr/>
        </p:nvSpPr>
        <p:spPr>
          <a:xfrm>
            <a:off x="658368" y="1360708"/>
            <a:ext cx="2256129" cy="5414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06" name="K"/>
          <p:cNvSpPr/>
          <p:nvPr/>
        </p:nvSpPr>
        <p:spPr>
          <a:xfrm>
            <a:off x="768096" y="1486181"/>
            <a:ext cx="329184" cy="329184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/>
          <a:p/>
        </p:txBody>
      </p:sp>
      <p:pic>
        <p:nvPicPr>
          <p:cNvPr id="307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841248" y="1559333"/>
            <a:ext cx="182880" cy="182880"/>
          </a:xfrm>
          <a:prstGeom prst="rect">
            <a:avLst/>
          </a:prstGeom>
        </p:spPr>
      </p:pic>
      <p:sp>
        <p:nvSpPr>
          <p:cNvPr id="308" name="T"/>
          <p:cNvSpPr txBox="1"/>
          <p:nvPr/>
        </p:nvSpPr>
        <p:spPr>
          <a:xfrm>
            <a:off x="1170432" y="1399383"/>
            <a:ext cx="1707489" cy="2900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231</a:t>
            </a:r>
            <a:endParaRPr lang="id-ID" sz="1700"/>
          </a:p>
        </p:txBody>
      </p:sp>
      <p:sp>
        <p:nvSpPr>
          <p:cNvPr id="309" name="T"/>
          <p:cNvSpPr txBox="1"/>
          <p:nvPr/>
        </p:nvSpPr>
        <p:spPr>
          <a:xfrm>
            <a:off x="1170432" y="1684241"/>
            <a:ext cx="1707489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titik panas 30 Okt</a:t>
            </a:r>
            <a:endParaRPr lang="id-ID" sz="750"/>
          </a:p>
        </p:txBody>
      </p:sp>
      <p:sp>
        <p:nvSpPr>
          <p:cNvPr id="310" name="K"/>
          <p:cNvSpPr/>
          <p:nvPr/>
        </p:nvSpPr>
        <p:spPr>
          <a:xfrm>
            <a:off x="3005937" y="1360708"/>
            <a:ext cx="2256129" cy="5414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11" name="K"/>
          <p:cNvSpPr/>
          <p:nvPr/>
        </p:nvSpPr>
        <p:spPr>
          <a:xfrm>
            <a:off x="3115665" y="1486181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312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3188817" y="1559333"/>
            <a:ext cx="182880" cy="182880"/>
          </a:xfrm>
          <a:prstGeom prst="rect">
            <a:avLst/>
          </a:prstGeom>
        </p:spPr>
      </p:pic>
      <p:sp>
        <p:nvSpPr>
          <p:cNvPr id="313" name="T"/>
          <p:cNvSpPr txBox="1"/>
          <p:nvPr/>
        </p:nvSpPr>
        <p:spPr>
          <a:xfrm>
            <a:off x="3518001" y="1399383"/>
            <a:ext cx="1707489" cy="2900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846 ha</a:t>
            </a:r>
            <a:endParaRPr lang="id-ID" sz="1700"/>
          </a:p>
        </p:txBody>
      </p:sp>
      <p:sp>
        <p:nvSpPr>
          <p:cNvPr id="314" name="T"/>
          <p:cNvSpPr txBox="1"/>
          <p:nvPr/>
        </p:nvSpPr>
        <p:spPr>
          <a:xfrm>
            <a:off x="3518001" y="1684241"/>
            <a:ext cx="1707489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luas terbakar 29 Okt</a:t>
            </a:r>
            <a:endParaRPr lang="id-ID" sz="750"/>
          </a:p>
        </p:txBody>
      </p:sp>
      <p:sp>
        <p:nvSpPr>
          <p:cNvPr id="315" name="K"/>
          <p:cNvSpPr/>
          <p:nvPr/>
        </p:nvSpPr>
        <p:spPr>
          <a:xfrm>
            <a:off x="5353506" y="1360708"/>
            <a:ext cx="2256129" cy="5414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16" name="K"/>
          <p:cNvSpPr/>
          <p:nvPr/>
        </p:nvSpPr>
        <p:spPr>
          <a:xfrm>
            <a:off x="5463234" y="1486181"/>
            <a:ext cx="329184" cy="329184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317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536386" y="1559333"/>
            <a:ext cx="182880" cy="182880"/>
          </a:xfrm>
          <a:prstGeom prst="rect">
            <a:avLst/>
          </a:prstGeom>
        </p:spPr>
      </p:pic>
      <p:sp>
        <p:nvSpPr>
          <p:cNvPr id="318" name="T"/>
          <p:cNvSpPr txBox="1"/>
          <p:nvPr/>
        </p:nvSpPr>
        <p:spPr>
          <a:xfrm>
            <a:off x="5865570" y="1399383"/>
            <a:ext cx="1707489" cy="2900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7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485 ha</a:t>
            </a:r>
            <a:endParaRPr lang="id-ID" sz="1700"/>
          </a:p>
        </p:txBody>
      </p:sp>
      <p:sp>
        <p:nvSpPr>
          <p:cNvPr id="319" name="T"/>
          <p:cNvSpPr txBox="1"/>
          <p:nvPr/>
        </p:nvSpPr>
        <p:spPr>
          <a:xfrm>
            <a:off x="5865570" y="1684241"/>
            <a:ext cx="1707489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belum padam 29 Okt</a:t>
            </a:r>
            <a:endParaRPr lang="id-ID" sz="750"/>
          </a:p>
        </p:txBody>
      </p:sp>
      <p:sp>
        <p:nvSpPr>
          <p:cNvPr id="325" name="K"/>
          <p:cNvSpPr/>
          <p:nvPr/>
        </p:nvSpPr>
        <p:spPr>
          <a:xfrm>
            <a:off x="7993685" y="1031967"/>
            <a:ext cx="3649370" cy="986222"/>
          </a:xfrm>
          <a:prstGeom prst="roundRect">
            <a:avLst>
              <a:gd name="adj" fmla="val 7843"/>
            </a:avLst>
          </a:prstGeom>
          <a:solidFill>
            <a:srgbClr val="FCF1F2"/>
          </a:solidFill>
          <a:ln>
            <a:noFill/>
          </a:ln>
        </p:spPr>
        <p:txBody>
          <a:bodyPr/>
          <a:p/>
        </p:txBody>
      </p:sp>
      <p:sp>
        <p:nvSpPr>
          <p:cNvPr id="326" name="K"/>
          <p:cNvSpPr/>
          <p:nvPr/>
        </p:nvSpPr>
        <p:spPr>
          <a:xfrm>
            <a:off x="8103413" y="1095228"/>
            <a:ext cx="1440000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/>
          <a:p/>
        </p:txBody>
      </p:sp>
      <p:pic>
        <p:nvPicPr>
          <p:cNvPr id="327" name="G"/>
          <p:cNvPicPr>
            <a:picLocks noChangeAspect="1"/>
          </p:cNvPicPr>
          <p:nvPr/>
        </p:nvPicPr>
        <p:blipFill>
          <a:blip r:embed="rIdM6"/>
          <a:stretch>
            <a:fillRect/>
          </a:stretch>
        </p:blipFill>
        <p:spPr>
          <a:xfrm>
            <a:off x="8176565" y="1131804"/>
            <a:ext cx="109728" cy="109728"/>
          </a:xfrm>
          <a:prstGeom prst="rect">
            <a:avLst/>
          </a:prstGeom>
        </p:spPr>
      </p:pic>
      <p:sp>
        <p:nvSpPr>
          <p:cNvPr id="328" name="T"/>
          <p:cNvSpPr txBox="1"/>
          <p:nvPr/>
        </p:nvSpPr>
        <p:spPr>
          <a:xfrm>
            <a:off x="8341157" y="1095228"/>
            <a:ext cx="1180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60" b="1" spc="1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PERLU PERHATIAN</a:t>
            </a:r>
            <a:endParaRPr lang="id-ID" sz="660"/>
          </a:p>
        </p:txBody>
      </p:sp>
      <p:sp>
        <p:nvSpPr>
          <p:cNvPr id="329" name="K"/>
          <p:cNvSpPr/>
          <p:nvPr/>
        </p:nvSpPr>
        <p:spPr>
          <a:xfrm>
            <a:off x="8103413" y="1360708"/>
            <a:ext cx="1669237" cy="5414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30" name="K"/>
          <p:cNvSpPr/>
          <p:nvPr/>
        </p:nvSpPr>
        <p:spPr>
          <a:xfrm>
            <a:off x="8213141" y="1486181"/>
            <a:ext cx="329184" cy="329184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331" name="G"/>
          <p:cNvPicPr>
            <a:picLocks noChangeAspect="1"/>
          </p:cNvPicPr>
          <p:nvPr/>
        </p:nvPicPr>
        <p:blipFill>
          <a:blip r:embed="rIdM7"/>
          <a:stretch>
            <a:fillRect/>
          </a:stretch>
        </p:blipFill>
        <p:spPr>
          <a:xfrm>
            <a:off x="8286293" y="1559333"/>
            <a:ext cx="182880" cy="182880"/>
          </a:xfrm>
          <a:prstGeom prst="rect">
            <a:avLst/>
          </a:prstGeom>
        </p:spPr>
      </p:pic>
      <p:sp>
        <p:nvSpPr>
          <p:cNvPr id="332" name="T"/>
          <p:cNvSpPr txBox="1"/>
          <p:nvPr/>
        </p:nvSpPr>
        <p:spPr>
          <a:xfrm>
            <a:off x="8615477" y="1399383"/>
            <a:ext cx="1109237" cy="2900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5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143 ha</a:t>
            </a:r>
            <a:endParaRPr lang="id-ID" sz="1500"/>
          </a:p>
        </p:txBody>
      </p:sp>
      <p:sp>
        <p:nvSpPr>
          <p:cNvPr id="333" name="T"/>
          <p:cNvSpPr txBox="1"/>
          <p:nvPr/>
        </p:nvSpPr>
        <p:spPr>
          <a:xfrm>
            <a:off x="8615477" y="1684241"/>
            <a:ext cx="1109237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6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belum padam Kontuar</a:t>
            </a:r>
            <a:endParaRPr lang="id-ID" sz="680"/>
          </a:p>
        </p:txBody>
      </p:sp>
      <p:sp>
        <p:nvSpPr>
          <p:cNvPr id="334" name="K"/>
          <p:cNvSpPr/>
          <p:nvPr/>
        </p:nvSpPr>
        <p:spPr>
          <a:xfrm>
            <a:off x="9864090" y="1360708"/>
            <a:ext cx="1669237" cy="5414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35" name="K"/>
          <p:cNvSpPr/>
          <p:nvPr/>
        </p:nvSpPr>
        <p:spPr>
          <a:xfrm>
            <a:off x="9973818" y="1486181"/>
            <a:ext cx="329184" cy="329184"/>
          </a:xfrm>
          <a:prstGeom prst="ellipse">
            <a:avLst/>
          </a:prstGeom>
          <a:solidFill>
            <a:srgbClr val="E3EAF1"/>
          </a:solidFill>
          <a:ln>
            <a:noFill/>
          </a:ln>
        </p:spPr>
        <p:txBody>
          <a:bodyPr/>
          <a:p/>
        </p:txBody>
      </p:sp>
      <p:pic>
        <p:nvPicPr>
          <p:cNvPr id="336" name="G"/>
          <p:cNvPicPr>
            <a:picLocks noChangeAspect="1"/>
          </p:cNvPicPr>
          <p:nvPr/>
        </p:nvPicPr>
        <p:blipFill>
          <a:blip r:embed="rIdL2"/>
          <a:stretch>
            <a:fillRect/>
          </a:stretch>
        </p:blipFill>
        <p:spPr>
          <a:xfrm>
            <a:off x="10046970" y="1559333"/>
            <a:ext cx="182880" cy="182880"/>
          </a:xfrm>
          <a:prstGeom prst="rect">
            <a:avLst/>
          </a:prstGeom>
        </p:spPr>
      </p:pic>
      <p:sp>
        <p:nvSpPr>
          <p:cNvPr id="337" name="T"/>
          <p:cNvSpPr txBox="1"/>
          <p:nvPr/>
        </p:nvSpPr>
        <p:spPr>
          <a:xfrm>
            <a:off x="10376154" y="1399383"/>
            <a:ext cx="1109237" cy="2900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9 sortie</a:t>
            </a:r>
            <a:endParaRPr lang="id-ID" sz="1700"/>
          </a:p>
        </p:txBody>
      </p:sp>
      <p:sp>
        <p:nvSpPr>
          <p:cNvPr id="338" name="T"/>
          <p:cNvSpPr txBox="1"/>
          <p:nvPr/>
        </p:nvSpPr>
        <p:spPr>
          <a:xfrm>
            <a:off x="10376154" y="1684241"/>
            <a:ext cx="1109237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OMC s.d. 27 Okt</a:t>
            </a:r>
            <a:endParaRPr lang="id-ID" sz="750"/>
          </a:p>
        </p:txBody>
      </p:sp>
      <p:sp>
        <p:nvSpPr>
          <p:cNvPr id="339" name="K"/>
          <p:cNvSpPr/>
          <p:nvPr/>
        </p:nvSpPr>
        <p:spPr>
          <a:xfrm>
            <a:off x="548640" y="2095540"/>
            <a:ext cx="5394960" cy="4060915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40" name="K"/>
          <p:cNvSpPr/>
          <p:nvPr/>
        </p:nvSpPr>
        <p:spPr>
          <a:xfrm>
            <a:off x="548640" y="2095540"/>
            <a:ext cx="5394960" cy="483442"/>
          </a:xfrm>
          <a:prstGeom prst="roundRect">
            <a:avLst>
              <a:gd name="adj" fmla="val 16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sp>
        <p:nvSpPr>
          <p:cNvPr id="341" name="K"/>
          <p:cNvSpPr/>
          <p:nvPr/>
        </p:nvSpPr>
        <p:spPr>
          <a:xfrm>
            <a:off x="548640" y="2390854"/>
            <a:ext cx="5394960" cy="18288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sp>
        <p:nvSpPr>
          <p:cNvPr id="342" name="K"/>
          <p:cNvSpPr/>
          <p:nvPr/>
        </p:nvSpPr>
        <p:spPr>
          <a:xfrm>
            <a:off x="676656" y="2190957"/>
            <a:ext cx="292608" cy="29260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pic>
        <p:nvPicPr>
          <p:cNvPr id="343" name="G"/>
          <p:cNvPicPr>
            <a:picLocks noChangeAspect="1"/>
          </p:cNvPicPr>
          <p:nvPr/>
        </p:nvPicPr>
        <p:blipFill>
          <a:blip r:embed="rIdM9"/>
          <a:stretch>
            <a:fillRect/>
          </a:stretch>
        </p:blipFill>
        <p:spPr>
          <a:xfrm>
            <a:off x="731520" y="2245821"/>
            <a:ext cx="182880" cy="182880"/>
          </a:xfrm>
          <a:prstGeom prst="rect">
            <a:avLst/>
          </a:prstGeom>
        </p:spPr>
      </p:pic>
      <p:sp>
        <p:nvSpPr>
          <p:cNvPr id="344" name="T"/>
          <p:cNvSpPr txBox="1"/>
          <p:nvPr/>
        </p:nvSpPr>
        <p:spPr>
          <a:xfrm>
            <a:off x="1051560" y="2172891"/>
            <a:ext cx="4294960" cy="328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Tren Harian</a:t>
            </a:r>
            <a:endParaRPr lang="id-ID" sz="1100"/>
          </a:p>
        </p:txBody>
      </p:sp>
      <p:sp>
        <p:nvSpPr>
          <p:cNvPr id="447" name="K"/>
          <p:cNvSpPr/>
          <p:nvPr/>
        </p:nvSpPr>
        <p:spPr>
          <a:xfrm>
            <a:off x="6080760" y="2095540"/>
            <a:ext cx="5562295" cy="2320523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448" name="K"/>
          <p:cNvSpPr/>
          <p:nvPr/>
        </p:nvSpPr>
        <p:spPr>
          <a:xfrm>
            <a:off x="6080760" y="2095540"/>
            <a:ext cx="5562295" cy="483442"/>
          </a:xfrm>
          <a:prstGeom prst="roundRect">
            <a:avLst>
              <a:gd name="adj" fmla="val 16000"/>
            </a:avLst>
          </a:prstGeom>
          <a:solidFill>
            <a:srgbClr val="FBE7D6"/>
          </a:solidFill>
          <a:ln>
            <a:noFill/>
          </a:ln>
        </p:spPr>
        <p:txBody>
          <a:bodyPr/>
          <a:p/>
        </p:txBody>
      </p:sp>
      <p:sp>
        <p:nvSpPr>
          <p:cNvPr id="449" name="K"/>
          <p:cNvSpPr/>
          <p:nvPr/>
        </p:nvSpPr>
        <p:spPr>
          <a:xfrm>
            <a:off x="6080760" y="2390854"/>
            <a:ext cx="5562295" cy="182880"/>
          </a:xfrm>
          <a:prstGeom prst="rect">
            <a:avLst/>
          </a:prstGeom>
          <a:solidFill>
            <a:srgbClr val="FBE7D6"/>
          </a:solidFill>
          <a:ln>
            <a:noFill/>
          </a:ln>
        </p:spPr>
        <p:txBody>
          <a:bodyPr/>
          <a:p/>
        </p:txBody>
      </p:sp>
      <p:sp>
        <p:nvSpPr>
          <p:cNvPr id="450" name="K"/>
          <p:cNvSpPr/>
          <p:nvPr/>
        </p:nvSpPr>
        <p:spPr>
          <a:xfrm>
            <a:off x="6208776" y="2190957"/>
            <a:ext cx="292608" cy="29260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/>
          <a:p/>
        </p:txBody>
      </p:sp>
      <p:pic>
        <p:nvPicPr>
          <p:cNvPr id="451" name="G"/>
          <p:cNvPicPr>
            <a:picLocks noChangeAspect="1"/>
          </p:cNvPicPr>
          <p:nvPr/>
        </p:nvPicPr>
        <p:blipFill>
          <a:blip r:embed="rIdM10"/>
          <a:stretch>
            <a:fillRect/>
          </a:stretch>
        </p:blipFill>
        <p:spPr>
          <a:xfrm>
            <a:off x="6263640" y="2245821"/>
            <a:ext cx="182880" cy="182880"/>
          </a:xfrm>
          <a:prstGeom prst="rect">
            <a:avLst/>
          </a:prstGeom>
        </p:spPr>
      </p:pic>
      <p:sp>
        <p:nvSpPr>
          <p:cNvPr id="452" name="T"/>
          <p:cNvSpPr txBox="1"/>
          <p:nvPr/>
        </p:nvSpPr>
        <p:spPr>
          <a:xfrm>
            <a:off x="6583680" y="2172891"/>
            <a:ext cx="4462295" cy="328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Titik Panas per Kecamatan, 25–30 Okt</a:t>
            </a:r>
            <a:endParaRPr lang="id-ID" sz="1100"/>
          </a:p>
        </p:txBody>
      </p:sp>
      <p:sp>
        <p:nvSpPr>
          <p:cNvPr id="453" name="T"/>
          <p:cNvSpPr txBox="1"/>
          <p:nvPr/>
        </p:nvSpPr>
        <p:spPr>
          <a:xfrm>
            <a:off x="10543055" y="2153553"/>
            <a:ext cx="980000" cy="3674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1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6.719</a:t>
            </a:r>
            <a:endParaRPr lang="id-ID" sz="1600"/>
          </a:p>
        </p:txBody>
      </p:sp>
      <p:sp>
        <p:nvSpPr>
          <p:cNvPr id="454" name="K"/>
          <p:cNvSpPr/>
          <p:nvPr/>
        </p:nvSpPr>
        <p:spPr>
          <a:xfrm>
            <a:off x="6208776" y="2675726"/>
            <a:ext cx="173736" cy="17373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sp>
        <p:nvSpPr>
          <p:cNvPr id="455" name="T"/>
          <p:cNvSpPr txBox="1"/>
          <p:nvPr/>
        </p:nvSpPr>
        <p:spPr>
          <a:xfrm>
            <a:off x="6208776" y="2675726"/>
            <a:ext cx="173736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62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620"/>
          </a:p>
        </p:txBody>
      </p:sp>
      <p:sp>
        <p:nvSpPr>
          <p:cNvPr id="456" name="T"/>
          <p:cNvSpPr txBox="1"/>
          <p:nvPr/>
        </p:nvSpPr>
        <p:spPr>
          <a:xfrm>
            <a:off x="6446520" y="2653225"/>
            <a:ext cx="1100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Jagebob</a:t>
            </a:r>
            <a:endParaRPr lang="id-ID" sz="780"/>
          </a:p>
        </p:txBody>
      </p:sp>
      <p:sp>
        <p:nvSpPr>
          <p:cNvPr id="459" name="K"/>
          <p:cNvSpPr/>
          <p:nvPr/>
        </p:nvSpPr>
        <p:spPr>
          <a:xfrm>
            <a:off x="8641080" y="2698489"/>
            <a:ext cx="2400000" cy="128016"/>
          </a:xfrm>
          <a:prstGeom prst="roundRect">
            <a:avLst>
              <a:gd name="adj" fmla="val 30000"/>
            </a:avLst>
          </a:prstGeom>
          <a:solidFill>
            <a:srgbClr val="A9B4C2"/>
          </a:solidFill>
          <a:ln>
            <a:noFill/>
          </a:ln>
        </p:spPr>
        <p:txBody>
          <a:bodyPr/>
          <a:p/>
        </p:txBody>
      </p:sp>
      <p:sp>
        <p:nvSpPr>
          <p:cNvPr id="460" name="T"/>
          <p:cNvSpPr txBox="1"/>
          <p:nvPr/>
        </p:nvSpPr>
        <p:spPr>
          <a:xfrm>
            <a:off x="11095944" y="2653225"/>
            <a:ext cx="500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752</a:t>
            </a:r>
            <a:endParaRPr lang="id-ID" sz="780"/>
          </a:p>
        </p:txBody>
      </p:sp>
      <p:sp>
        <p:nvSpPr>
          <p:cNvPr id="461" name="K"/>
          <p:cNvSpPr/>
          <p:nvPr/>
        </p:nvSpPr>
        <p:spPr>
          <a:xfrm>
            <a:off x="6208776" y="2876354"/>
            <a:ext cx="173736" cy="17373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sp>
        <p:nvSpPr>
          <p:cNvPr id="462" name="T"/>
          <p:cNvSpPr txBox="1"/>
          <p:nvPr/>
        </p:nvSpPr>
        <p:spPr>
          <a:xfrm>
            <a:off x="6208776" y="2876354"/>
            <a:ext cx="173736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62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  <a:endParaRPr lang="id-ID" sz="620"/>
          </a:p>
        </p:txBody>
      </p:sp>
      <p:sp>
        <p:nvSpPr>
          <p:cNvPr id="463" name="T"/>
          <p:cNvSpPr txBox="1"/>
          <p:nvPr/>
        </p:nvSpPr>
        <p:spPr>
          <a:xfrm>
            <a:off x="6446520" y="2853853"/>
            <a:ext cx="1100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Ilwayab</a:t>
            </a:r>
            <a:endParaRPr lang="id-ID" sz="780"/>
          </a:p>
        </p:txBody>
      </p:sp>
      <p:sp>
        <p:nvSpPr>
          <p:cNvPr id="466" name="K"/>
          <p:cNvSpPr/>
          <p:nvPr/>
        </p:nvSpPr>
        <p:spPr>
          <a:xfrm>
            <a:off x="8641080" y="2899117"/>
            <a:ext cx="2342553" cy="128016"/>
          </a:xfrm>
          <a:prstGeom prst="roundRect">
            <a:avLst>
              <a:gd name="adj" fmla="val 30000"/>
            </a:avLst>
          </a:prstGeom>
          <a:solidFill>
            <a:srgbClr val="A9B4C2"/>
          </a:solidFill>
          <a:ln>
            <a:noFill/>
          </a:ln>
        </p:spPr>
        <p:txBody>
          <a:bodyPr/>
          <a:p/>
        </p:txBody>
      </p:sp>
      <p:sp>
        <p:nvSpPr>
          <p:cNvPr id="467" name="T"/>
          <p:cNvSpPr txBox="1"/>
          <p:nvPr/>
        </p:nvSpPr>
        <p:spPr>
          <a:xfrm>
            <a:off x="11038497" y="2853853"/>
            <a:ext cx="500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734</a:t>
            </a:r>
            <a:endParaRPr lang="id-ID" sz="780"/>
          </a:p>
        </p:txBody>
      </p:sp>
      <p:sp>
        <p:nvSpPr>
          <p:cNvPr id="468" name="K"/>
          <p:cNvSpPr/>
          <p:nvPr/>
        </p:nvSpPr>
        <p:spPr>
          <a:xfrm>
            <a:off x="6208776" y="3076983"/>
            <a:ext cx="173736" cy="17373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sp>
        <p:nvSpPr>
          <p:cNvPr id="469" name="T"/>
          <p:cNvSpPr txBox="1"/>
          <p:nvPr/>
        </p:nvSpPr>
        <p:spPr>
          <a:xfrm>
            <a:off x="6208776" y="3076983"/>
            <a:ext cx="173736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62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  <a:endParaRPr lang="id-ID" sz="620"/>
          </a:p>
        </p:txBody>
      </p:sp>
      <p:sp>
        <p:nvSpPr>
          <p:cNvPr id="470" name="T"/>
          <p:cNvSpPr txBox="1"/>
          <p:nvPr/>
        </p:nvSpPr>
        <p:spPr>
          <a:xfrm>
            <a:off x="6446520" y="3054482"/>
            <a:ext cx="1100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Kontuar</a:t>
            </a:r>
            <a:endParaRPr lang="id-ID" sz="780"/>
          </a:p>
        </p:txBody>
      </p:sp>
      <p:sp>
        <p:nvSpPr>
          <p:cNvPr id="473" name="K"/>
          <p:cNvSpPr/>
          <p:nvPr/>
        </p:nvSpPr>
        <p:spPr>
          <a:xfrm>
            <a:off x="8641080" y="3099746"/>
            <a:ext cx="2202128" cy="128016"/>
          </a:xfrm>
          <a:prstGeom prst="roundRect">
            <a:avLst>
              <a:gd name="adj" fmla="val 30000"/>
            </a:avLst>
          </a:prstGeom>
          <a:solidFill>
            <a:srgbClr val="A9B4C2"/>
          </a:solidFill>
          <a:ln>
            <a:noFill/>
          </a:ln>
        </p:spPr>
        <p:txBody>
          <a:bodyPr/>
          <a:p/>
        </p:txBody>
      </p:sp>
      <p:sp>
        <p:nvSpPr>
          <p:cNvPr id="474" name="T"/>
          <p:cNvSpPr txBox="1"/>
          <p:nvPr/>
        </p:nvSpPr>
        <p:spPr>
          <a:xfrm>
            <a:off x="10898072" y="3054482"/>
            <a:ext cx="500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690</a:t>
            </a:r>
            <a:endParaRPr lang="id-ID" sz="780"/>
          </a:p>
        </p:txBody>
      </p:sp>
      <p:sp>
        <p:nvSpPr>
          <p:cNvPr id="475" name="K"/>
          <p:cNvSpPr/>
          <p:nvPr/>
        </p:nvSpPr>
        <p:spPr>
          <a:xfrm>
            <a:off x="6208776" y="3277612"/>
            <a:ext cx="173736" cy="17373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sp>
        <p:nvSpPr>
          <p:cNvPr id="476" name="T"/>
          <p:cNvSpPr txBox="1"/>
          <p:nvPr/>
        </p:nvSpPr>
        <p:spPr>
          <a:xfrm>
            <a:off x="6208776" y="3277612"/>
            <a:ext cx="173736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62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  <a:endParaRPr lang="id-ID" sz="620"/>
          </a:p>
        </p:txBody>
      </p:sp>
      <p:sp>
        <p:nvSpPr>
          <p:cNvPr id="477" name="T"/>
          <p:cNvSpPr txBox="1"/>
          <p:nvPr/>
        </p:nvSpPr>
        <p:spPr>
          <a:xfrm>
            <a:off x="6446520" y="3255110"/>
            <a:ext cx="1100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Kimaam</a:t>
            </a:r>
            <a:endParaRPr lang="id-ID" sz="780"/>
          </a:p>
        </p:txBody>
      </p:sp>
      <p:sp>
        <p:nvSpPr>
          <p:cNvPr id="480" name="K"/>
          <p:cNvSpPr/>
          <p:nvPr/>
        </p:nvSpPr>
        <p:spPr>
          <a:xfrm>
            <a:off x="8641080" y="3300374"/>
            <a:ext cx="2084043" cy="128016"/>
          </a:xfrm>
          <a:prstGeom prst="roundRect">
            <a:avLst>
              <a:gd name="adj" fmla="val 30000"/>
            </a:avLst>
          </a:prstGeom>
          <a:solidFill>
            <a:srgbClr val="A9B4C2"/>
          </a:solidFill>
          <a:ln>
            <a:noFill/>
          </a:ln>
        </p:spPr>
        <p:txBody>
          <a:bodyPr/>
          <a:p/>
        </p:txBody>
      </p:sp>
      <p:sp>
        <p:nvSpPr>
          <p:cNvPr id="481" name="T"/>
          <p:cNvSpPr txBox="1"/>
          <p:nvPr/>
        </p:nvSpPr>
        <p:spPr>
          <a:xfrm>
            <a:off x="10779987" y="3255110"/>
            <a:ext cx="500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653</a:t>
            </a:r>
            <a:endParaRPr lang="id-ID" sz="780"/>
          </a:p>
        </p:txBody>
      </p:sp>
      <p:sp>
        <p:nvSpPr>
          <p:cNvPr id="482" name="K"/>
          <p:cNvSpPr/>
          <p:nvPr/>
        </p:nvSpPr>
        <p:spPr>
          <a:xfrm>
            <a:off x="6208776" y="3478240"/>
            <a:ext cx="173736" cy="17373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sp>
        <p:nvSpPr>
          <p:cNvPr id="483" name="T"/>
          <p:cNvSpPr txBox="1"/>
          <p:nvPr/>
        </p:nvSpPr>
        <p:spPr>
          <a:xfrm>
            <a:off x="6208776" y="3478240"/>
            <a:ext cx="173736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62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r>
            <a:endParaRPr lang="id-ID" sz="620"/>
          </a:p>
        </p:txBody>
      </p:sp>
      <p:sp>
        <p:nvSpPr>
          <p:cNvPr id="484" name="T"/>
          <p:cNvSpPr txBox="1"/>
          <p:nvPr/>
        </p:nvSpPr>
        <p:spPr>
          <a:xfrm>
            <a:off x="6446520" y="3455739"/>
            <a:ext cx="1100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Tanah Miring</a:t>
            </a:r>
            <a:endParaRPr lang="id-ID" sz="780"/>
          </a:p>
        </p:txBody>
      </p:sp>
      <p:sp>
        <p:nvSpPr>
          <p:cNvPr id="487" name="K"/>
          <p:cNvSpPr/>
          <p:nvPr/>
        </p:nvSpPr>
        <p:spPr>
          <a:xfrm>
            <a:off x="8641080" y="3501003"/>
            <a:ext cx="1282979" cy="128016"/>
          </a:xfrm>
          <a:prstGeom prst="roundRect">
            <a:avLst>
              <a:gd name="adj" fmla="val 30000"/>
            </a:avLst>
          </a:prstGeom>
          <a:solidFill>
            <a:srgbClr val="D9600B"/>
          </a:solidFill>
          <a:ln>
            <a:noFill/>
          </a:ln>
        </p:spPr>
        <p:txBody>
          <a:bodyPr/>
          <a:p/>
        </p:txBody>
      </p:sp>
      <p:sp>
        <p:nvSpPr>
          <p:cNvPr id="488" name="T"/>
          <p:cNvSpPr txBox="1"/>
          <p:nvPr/>
        </p:nvSpPr>
        <p:spPr>
          <a:xfrm>
            <a:off x="9978923" y="3455739"/>
            <a:ext cx="500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402</a:t>
            </a:r>
            <a:endParaRPr lang="id-ID" sz="780"/>
          </a:p>
        </p:txBody>
      </p:sp>
      <p:sp>
        <p:nvSpPr>
          <p:cNvPr id="489" name="K"/>
          <p:cNvSpPr/>
          <p:nvPr/>
        </p:nvSpPr>
        <p:spPr>
          <a:xfrm>
            <a:off x="6208776" y="3678869"/>
            <a:ext cx="173736" cy="17373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sp>
        <p:nvSpPr>
          <p:cNvPr id="490" name="T"/>
          <p:cNvSpPr txBox="1"/>
          <p:nvPr/>
        </p:nvSpPr>
        <p:spPr>
          <a:xfrm>
            <a:off x="6208776" y="3678869"/>
            <a:ext cx="173736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62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r>
            <a:endParaRPr lang="id-ID" sz="620"/>
          </a:p>
        </p:txBody>
      </p:sp>
      <p:sp>
        <p:nvSpPr>
          <p:cNvPr id="491" name="T"/>
          <p:cNvSpPr txBox="1"/>
          <p:nvPr/>
        </p:nvSpPr>
        <p:spPr>
          <a:xfrm>
            <a:off x="6446520" y="3656367"/>
            <a:ext cx="1100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Naukenjerai</a:t>
            </a:r>
            <a:endParaRPr lang="id-ID" sz="780"/>
          </a:p>
        </p:txBody>
      </p:sp>
      <p:sp>
        <p:nvSpPr>
          <p:cNvPr id="494" name="K"/>
          <p:cNvSpPr/>
          <p:nvPr/>
        </p:nvSpPr>
        <p:spPr>
          <a:xfrm>
            <a:off x="8641080" y="3701631"/>
            <a:ext cx="1215957" cy="128016"/>
          </a:xfrm>
          <a:prstGeom prst="roundRect">
            <a:avLst>
              <a:gd name="adj" fmla="val 30000"/>
            </a:avLst>
          </a:prstGeom>
          <a:solidFill>
            <a:srgbClr val="A9B4C2"/>
          </a:solidFill>
          <a:ln>
            <a:noFill/>
          </a:ln>
        </p:spPr>
        <p:txBody>
          <a:bodyPr/>
          <a:p/>
        </p:txBody>
      </p:sp>
      <p:sp>
        <p:nvSpPr>
          <p:cNvPr id="495" name="T"/>
          <p:cNvSpPr txBox="1"/>
          <p:nvPr/>
        </p:nvSpPr>
        <p:spPr>
          <a:xfrm>
            <a:off x="9911901" y="3656367"/>
            <a:ext cx="500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8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381</a:t>
            </a:r>
            <a:endParaRPr lang="id-ID" sz="780"/>
          </a:p>
        </p:txBody>
      </p:sp>
      <p:sp>
        <p:nvSpPr>
          <p:cNvPr id="502" name="K"/>
          <p:cNvSpPr/>
          <p:nvPr/>
        </p:nvSpPr>
        <p:spPr>
          <a:xfrm>
            <a:off x="6080760" y="4522420"/>
            <a:ext cx="5562295" cy="1634035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503" name="K"/>
          <p:cNvSpPr/>
          <p:nvPr/>
        </p:nvSpPr>
        <p:spPr>
          <a:xfrm>
            <a:off x="6080760" y="4522420"/>
            <a:ext cx="5562295" cy="483442"/>
          </a:xfrm>
          <a:prstGeom prst="roundRect">
            <a:avLst>
              <a:gd name="adj" fmla="val 16000"/>
            </a:avLst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sp>
        <p:nvSpPr>
          <p:cNvPr id="504" name="K"/>
          <p:cNvSpPr/>
          <p:nvPr/>
        </p:nvSpPr>
        <p:spPr>
          <a:xfrm>
            <a:off x="6080760" y="4817734"/>
            <a:ext cx="5562295" cy="182880"/>
          </a:xfrm>
          <a:prstGeom prst="rect">
            <a:avLst/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sp>
        <p:nvSpPr>
          <p:cNvPr id="505" name="K"/>
          <p:cNvSpPr/>
          <p:nvPr/>
        </p:nvSpPr>
        <p:spPr>
          <a:xfrm>
            <a:off x="6208776" y="4617837"/>
            <a:ext cx="292608" cy="29260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/>
          <a:p/>
        </p:txBody>
      </p:sp>
      <p:pic>
        <p:nvPicPr>
          <p:cNvPr id="506" name="G"/>
          <p:cNvPicPr>
            <a:picLocks noChangeAspect="1"/>
          </p:cNvPicPr>
          <p:nvPr/>
        </p:nvPicPr>
        <p:blipFill>
          <a:blip r:embed="rIdM6"/>
          <a:stretch>
            <a:fillRect/>
          </a:stretch>
        </p:blipFill>
        <p:spPr>
          <a:xfrm>
            <a:off x="6263640" y="4672701"/>
            <a:ext cx="182880" cy="182880"/>
          </a:xfrm>
          <a:prstGeom prst="rect">
            <a:avLst/>
          </a:prstGeom>
        </p:spPr>
      </p:pic>
      <p:sp>
        <p:nvSpPr>
          <p:cNvPr id="507" name="T"/>
          <p:cNvSpPr txBox="1"/>
          <p:nvPr/>
        </p:nvSpPr>
        <p:spPr>
          <a:xfrm>
            <a:off x="6583680" y="4599771"/>
            <a:ext cx="4462295" cy="328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Situasi lapangan</a:t>
            </a:r>
            <a:endParaRPr lang="id-ID" sz="1100"/>
          </a:p>
        </p:txBody>
      </p:sp>
      <p:sp>
        <p:nvSpPr>
          <p:cNvPr id="508" name="T"/>
          <p:cNvSpPr txBox="1"/>
          <p:nvPr/>
        </p:nvSpPr>
        <p:spPr>
          <a:xfrm>
            <a:off x="10543055" y="4580433"/>
            <a:ext cx="980000" cy="3674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16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3</a:t>
            </a:r>
            <a:endParaRPr lang="id-ID" sz="1600"/>
          </a:p>
        </p:txBody>
      </p:sp>
      <p:cxnSp>
        <p:nvCxnSpPr>
          <p:cNvPr id="520" name="L"/>
          <p:cNvCxnSpPr/>
          <p:nvPr/>
        </p:nvCxnSpPr>
        <p:spPr>
          <a:xfrm>
            <a:off x="6217920" y="5382947"/>
            <a:ext cx="5287975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cxnSp>
        <p:nvCxnSpPr>
          <p:cNvPr id="534" name="L"/>
          <p:cNvCxnSpPr/>
          <p:nvPr/>
        </p:nvCxnSpPr>
        <p:spPr>
          <a:xfrm>
            <a:off x="6217920" y="5740694"/>
            <a:ext cx="5287975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46" name="K"/>
          <p:cNvSpPr/>
          <p:nvPr/>
        </p:nvSpPr>
        <p:spPr>
          <a:xfrm>
            <a:off x="8833104" y="410464"/>
            <a:ext cx="2362200" cy="21031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pic>
        <p:nvPicPr>
          <p:cNvPr id="547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915400" y="447040"/>
            <a:ext cx="137160" cy="137160"/>
          </a:xfrm>
          <a:prstGeom prst="rect">
            <a:avLst/>
          </a:prstGeom>
        </p:spPr>
      </p:pic>
      <p:sp>
        <p:nvSpPr>
          <p:cNvPr id="548" name="T"/>
          <p:cNvSpPr txBox="1"/>
          <p:nvPr/>
        </p:nvSpPr>
        <p:spPr>
          <a:xfrm>
            <a:off x="9098280" y="410464"/>
            <a:ext cx="900000" cy="21031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endParaRPr lang="id-ID" sz="600"/>
          </a:p>
        </p:txBody>
      </p:sp>
      <p:sp>
        <p:nvSpPr>
          <p:cNvPr id="549" name="T"/>
          <p:cNvSpPr txBox="1"/>
          <p:nvPr/>
        </p:nvSpPr>
        <p:spPr>
          <a:xfrm>
            <a:off x="9838944" y="410464"/>
            <a:ext cx="1274064" cy="21031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30 Okt 2026, 24.00 WIB</a:t>
            </a:r>
            <a:endParaRPr lang="id-ID" sz="800"/>
          </a:p>
        </p:txBody>
      </p:sp>
      <p:sp>
        <p:nvSpPr>
          <p:cNvPr id="550" name="K"/>
          <p:cNvSpPr/>
          <p:nvPr/>
        </p:nvSpPr>
        <p:spPr>
          <a:xfrm>
            <a:off x="548640" y="6219191"/>
            <a:ext cx="36576" cy="164592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/>
          <a:p/>
        </p:txBody>
      </p:sp>
      <p:sp>
        <p:nvSpPr>
          <p:cNvPr id="551" name="T"/>
          <p:cNvSpPr txBox="1"/>
          <p:nvPr/>
        </p:nvSpPr>
        <p:spPr>
          <a:xfrm>
            <a:off x="640080" y="6210047"/>
            <a:ext cx="100000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2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*Data berdasarkan Geographic Information System (GIS) dengan satelit NASA (FIRMS: VIIRS dan MODIS). 24 Okt ditandai celah lintasan satelit di FIRMS: titik hari itu bisa terlalu rendah.</a:t>
            </a:r>
            <a:endParaRPr lang="id-ID" sz="720"/>
          </a:p>
        </p:txBody>
      </p:sp>
      <p:sp>
        <p:nvSpPr>
          <p:cNvPr id="9212" name="T"/>
          <p:cNvSpPr txBox="1"/>
          <p:nvPr/>
        </p:nvSpPr>
        <p:spPr>
          <a:xfrm>
            <a:off x="685800" y="2643556"/>
            <a:ext cx="422064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Titik panas</a:t>
            </a:r>
          </a:p>
        </p:txBody>
      </p:sp>
      <p:cxnSp>
        <p:nvCxnSpPr>
          <p:cNvPr id="9213" name="L"/>
          <p:cNvCxnSpPr/>
          <p:nvPr/>
        </p:nvCxnSpPr>
        <p:spPr>
          <a:xfrm>
            <a:off x="685800" y="3461765"/>
            <a:ext cx="5129784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9214" name="K"/>
          <p:cNvSpPr/>
          <p:nvPr/>
        </p:nvSpPr>
        <p:spPr>
          <a:xfrm>
            <a:off x="807632" y="3332611"/>
            <a:ext cx="397558" cy="12555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CE1E7"/>
          </a:solidFill>
          <a:ln>
            <a:noFill/>
          </a:ln>
        </p:spPr>
        <p:txBody>
          <a:bodyPr/>
          <a:p/>
        </p:txBody>
      </p:sp>
      <p:sp>
        <p:nvSpPr>
          <p:cNvPr id="9215" name="T"/>
          <p:cNvSpPr txBox="1"/>
          <p:nvPr/>
        </p:nvSpPr>
        <p:spPr>
          <a:xfrm>
            <a:off x="685800" y="3171978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950</a:t>
            </a:r>
          </a:p>
        </p:txBody>
      </p:sp>
      <p:sp>
        <p:nvSpPr>
          <p:cNvPr id="9216" name="T"/>
          <p:cNvSpPr txBox="1"/>
          <p:nvPr/>
        </p:nvSpPr>
        <p:spPr>
          <a:xfrm>
            <a:off x="685800" y="3483410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23</a:t>
            </a:r>
          </a:p>
        </p:txBody>
      </p:sp>
      <p:sp>
        <p:nvSpPr>
          <p:cNvPr id="9217" name="K"/>
          <p:cNvSpPr/>
          <p:nvPr/>
        </p:nvSpPr>
        <p:spPr>
          <a:xfrm>
            <a:off x="1448855" y="3368230"/>
            <a:ext cx="397558" cy="90925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7D3EE"/>
          </a:solidFill>
          <a:ln>
            <a:noFill/>
          </a:ln>
        </p:spPr>
        <p:txBody>
          <a:bodyPr/>
          <a:p/>
        </p:txBody>
      </p:sp>
      <p:sp>
        <p:nvSpPr>
          <p:cNvPr id="9218" name="T"/>
          <p:cNvSpPr txBox="1"/>
          <p:nvPr/>
        </p:nvSpPr>
        <p:spPr>
          <a:xfrm>
            <a:off x="1327023" y="3208591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688</a:t>
            </a:r>
          </a:p>
        </p:txBody>
      </p:sp>
      <p:sp>
        <p:nvSpPr>
          <p:cNvPr id="9219" name="T"/>
          <p:cNvSpPr txBox="1"/>
          <p:nvPr/>
        </p:nvSpPr>
        <p:spPr>
          <a:xfrm>
            <a:off x="1327023" y="3483410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24</a:t>
            </a:r>
          </a:p>
        </p:txBody>
      </p:sp>
      <p:sp>
        <p:nvSpPr>
          <p:cNvPr id="9220" name="T"/>
          <p:cNvSpPr txBox="1"/>
          <p:nvPr/>
        </p:nvSpPr>
        <p:spPr>
          <a:xfrm>
            <a:off x="1327023" y="3580490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▼28%</a:t>
            </a:r>
          </a:p>
        </p:txBody>
      </p:sp>
      <p:sp>
        <p:nvSpPr>
          <p:cNvPr id="9221" name="K"/>
          <p:cNvSpPr/>
          <p:nvPr/>
        </p:nvSpPr>
        <p:spPr>
          <a:xfrm>
            <a:off x="2090078" y="3312490"/>
            <a:ext cx="397558" cy="14511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F4C3A0"/>
          </a:solidFill>
          <a:ln>
            <a:noFill/>
          </a:ln>
        </p:spPr>
        <p:txBody>
          <a:bodyPr/>
          <a:p/>
        </p:txBody>
      </p:sp>
      <p:sp>
        <p:nvSpPr>
          <p:cNvPr id="9222" name="T"/>
          <p:cNvSpPr txBox="1"/>
          <p:nvPr/>
        </p:nvSpPr>
        <p:spPr>
          <a:xfrm>
            <a:off x="1968246" y="3151296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1.098</a:t>
            </a:r>
          </a:p>
        </p:txBody>
      </p:sp>
      <p:sp>
        <p:nvSpPr>
          <p:cNvPr id="9223" name="T"/>
          <p:cNvSpPr txBox="1"/>
          <p:nvPr/>
        </p:nvSpPr>
        <p:spPr>
          <a:xfrm>
            <a:off x="1968246" y="3483410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25</a:t>
            </a:r>
          </a:p>
        </p:txBody>
      </p:sp>
      <p:sp>
        <p:nvSpPr>
          <p:cNvPr id="9224" name="T"/>
          <p:cNvSpPr txBox="1"/>
          <p:nvPr/>
        </p:nvSpPr>
        <p:spPr>
          <a:xfrm>
            <a:off x="1968246" y="3580490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▲60%</a:t>
            </a:r>
          </a:p>
        </p:txBody>
      </p:sp>
      <p:sp>
        <p:nvSpPr>
          <p:cNvPr id="9225" name="K"/>
          <p:cNvSpPr/>
          <p:nvPr/>
        </p:nvSpPr>
        <p:spPr>
          <a:xfrm>
            <a:off x="2731301" y="3303109"/>
            <a:ext cx="397558" cy="154229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F4C3A0"/>
          </a:solidFill>
          <a:ln>
            <a:noFill/>
          </a:ln>
        </p:spPr>
        <p:txBody>
          <a:bodyPr/>
          <a:p/>
        </p:txBody>
      </p:sp>
      <p:sp>
        <p:nvSpPr>
          <p:cNvPr id="9226" name="T"/>
          <p:cNvSpPr txBox="1"/>
          <p:nvPr/>
        </p:nvSpPr>
        <p:spPr>
          <a:xfrm>
            <a:off x="2609469" y="3141653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1.167</a:t>
            </a:r>
          </a:p>
        </p:txBody>
      </p:sp>
      <p:sp>
        <p:nvSpPr>
          <p:cNvPr id="9227" name="T"/>
          <p:cNvSpPr txBox="1"/>
          <p:nvPr/>
        </p:nvSpPr>
        <p:spPr>
          <a:xfrm>
            <a:off x="2609469" y="3483410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26</a:t>
            </a:r>
          </a:p>
        </p:txBody>
      </p:sp>
      <p:sp>
        <p:nvSpPr>
          <p:cNvPr id="9228" name="T"/>
          <p:cNvSpPr txBox="1"/>
          <p:nvPr/>
        </p:nvSpPr>
        <p:spPr>
          <a:xfrm>
            <a:off x="2609469" y="3580490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▲6%</a:t>
            </a:r>
          </a:p>
        </p:txBody>
      </p:sp>
      <p:sp>
        <p:nvSpPr>
          <p:cNvPr id="9229" name="K"/>
          <p:cNvSpPr/>
          <p:nvPr/>
        </p:nvSpPr>
        <p:spPr>
          <a:xfrm>
            <a:off x="3372524" y="3354091"/>
            <a:ext cx="397558" cy="104669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7D3EE"/>
          </a:solidFill>
          <a:ln>
            <a:noFill/>
          </a:ln>
        </p:spPr>
        <p:txBody>
          <a:bodyPr/>
          <a:p/>
        </p:txBody>
      </p:sp>
      <p:sp>
        <p:nvSpPr>
          <p:cNvPr id="9230" name="T"/>
          <p:cNvSpPr txBox="1"/>
          <p:nvPr/>
        </p:nvSpPr>
        <p:spPr>
          <a:xfrm>
            <a:off x="3250692" y="3194058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792</a:t>
            </a:r>
          </a:p>
        </p:txBody>
      </p:sp>
      <p:sp>
        <p:nvSpPr>
          <p:cNvPr id="9231" name="T"/>
          <p:cNvSpPr txBox="1"/>
          <p:nvPr/>
        </p:nvSpPr>
        <p:spPr>
          <a:xfrm>
            <a:off x="3250692" y="3483410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27</a:t>
            </a:r>
          </a:p>
        </p:txBody>
      </p:sp>
      <p:sp>
        <p:nvSpPr>
          <p:cNvPr id="9232" name="T"/>
          <p:cNvSpPr txBox="1"/>
          <p:nvPr/>
        </p:nvSpPr>
        <p:spPr>
          <a:xfrm>
            <a:off x="3250692" y="3580490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▼32%</a:t>
            </a:r>
          </a:p>
        </p:txBody>
      </p:sp>
      <p:sp>
        <p:nvSpPr>
          <p:cNvPr id="9233" name="K"/>
          <p:cNvSpPr/>
          <p:nvPr/>
        </p:nvSpPr>
        <p:spPr>
          <a:xfrm>
            <a:off x="4013747" y="3081102"/>
            <a:ext cx="397558" cy="380663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/>
          <a:p/>
        </p:txBody>
      </p:sp>
      <p:sp>
        <p:nvSpPr>
          <p:cNvPr id="9234" name="T"/>
          <p:cNvSpPr txBox="1"/>
          <p:nvPr/>
        </p:nvSpPr>
        <p:spPr>
          <a:xfrm>
            <a:off x="3891915" y="2924072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2.724</a:t>
            </a:r>
          </a:p>
        </p:txBody>
      </p:sp>
      <p:sp>
        <p:nvSpPr>
          <p:cNvPr id="9235" name="T"/>
          <p:cNvSpPr txBox="1"/>
          <p:nvPr/>
        </p:nvSpPr>
        <p:spPr>
          <a:xfrm>
            <a:off x="3891915" y="3483410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28</a:t>
            </a:r>
          </a:p>
        </p:txBody>
      </p:sp>
      <p:sp>
        <p:nvSpPr>
          <p:cNvPr id="9236" name="T"/>
          <p:cNvSpPr txBox="1"/>
          <p:nvPr/>
        </p:nvSpPr>
        <p:spPr>
          <a:xfrm>
            <a:off x="3891915" y="3580490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▲244%</a:t>
            </a:r>
          </a:p>
        </p:txBody>
      </p:sp>
      <p:sp>
        <p:nvSpPr>
          <p:cNvPr id="9237" name="K"/>
          <p:cNvSpPr/>
          <p:nvPr/>
        </p:nvSpPr>
        <p:spPr>
          <a:xfrm>
            <a:off x="4654970" y="3365647"/>
            <a:ext cx="397558" cy="93436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/>
          <a:p/>
        </p:txBody>
      </p:sp>
      <p:sp>
        <p:nvSpPr>
          <p:cNvPr id="9238" name="T"/>
          <p:cNvSpPr txBox="1"/>
          <p:nvPr/>
        </p:nvSpPr>
        <p:spPr>
          <a:xfrm>
            <a:off x="4533138" y="3205936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707</a:t>
            </a:r>
          </a:p>
        </p:txBody>
      </p:sp>
      <p:sp>
        <p:nvSpPr>
          <p:cNvPr id="9239" name="T"/>
          <p:cNvSpPr txBox="1"/>
          <p:nvPr/>
        </p:nvSpPr>
        <p:spPr>
          <a:xfrm>
            <a:off x="4533138" y="3483410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29</a:t>
            </a:r>
          </a:p>
        </p:txBody>
      </p:sp>
      <p:sp>
        <p:nvSpPr>
          <p:cNvPr id="9240" name="T"/>
          <p:cNvSpPr txBox="1"/>
          <p:nvPr/>
        </p:nvSpPr>
        <p:spPr>
          <a:xfrm>
            <a:off x="4533138" y="3580490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▼74%</a:t>
            </a:r>
          </a:p>
        </p:txBody>
      </p:sp>
      <p:sp>
        <p:nvSpPr>
          <p:cNvPr id="9241" name="K"/>
          <p:cNvSpPr/>
          <p:nvPr/>
        </p:nvSpPr>
        <p:spPr>
          <a:xfrm>
            <a:off x="5296193" y="3430360"/>
            <a:ext cx="397558" cy="30528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/>
          <a:p/>
        </p:txBody>
      </p:sp>
      <p:sp>
        <p:nvSpPr>
          <p:cNvPr id="9242" name="T"/>
          <p:cNvSpPr txBox="1"/>
          <p:nvPr/>
        </p:nvSpPr>
        <p:spPr>
          <a:xfrm>
            <a:off x="5174361" y="3272454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231</a:t>
            </a:r>
          </a:p>
        </p:txBody>
      </p:sp>
      <p:sp>
        <p:nvSpPr>
          <p:cNvPr id="9243" name="T"/>
          <p:cNvSpPr txBox="1"/>
          <p:nvPr/>
        </p:nvSpPr>
        <p:spPr>
          <a:xfrm>
            <a:off x="5174361" y="3483410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30 Okt</a:t>
            </a:r>
          </a:p>
        </p:txBody>
      </p:sp>
      <p:sp>
        <p:nvSpPr>
          <p:cNvPr id="9244" name="T"/>
          <p:cNvSpPr txBox="1"/>
          <p:nvPr/>
        </p:nvSpPr>
        <p:spPr>
          <a:xfrm>
            <a:off x="5174361" y="3580490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▼67%</a:t>
            </a:r>
          </a:p>
        </p:txBody>
      </p:sp>
      <p:sp>
        <p:nvSpPr>
          <p:cNvPr id="9245" name="T"/>
          <p:cNvSpPr txBox="1"/>
          <p:nvPr/>
        </p:nvSpPr>
        <p:spPr>
          <a:xfrm>
            <a:off x="685800" y="3806693"/>
            <a:ext cx="422064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Luas terbakar (ha)</a:t>
            </a:r>
          </a:p>
        </p:txBody>
      </p:sp>
      <p:cxnSp>
        <p:nvCxnSpPr>
          <p:cNvPr id="9246" name="L"/>
          <p:cNvCxnSpPr/>
          <p:nvPr/>
        </p:nvCxnSpPr>
        <p:spPr>
          <a:xfrm>
            <a:off x="685800" y="4624903"/>
            <a:ext cx="5129784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9247" name="K"/>
          <p:cNvSpPr/>
          <p:nvPr/>
        </p:nvSpPr>
        <p:spPr>
          <a:xfrm>
            <a:off x="807632" y="4541941"/>
            <a:ext cx="397558" cy="80646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CE1E7"/>
          </a:solidFill>
          <a:ln>
            <a:noFill/>
          </a:ln>
        </p:spPr>
        <p:txBody>
          <a:bodyPr/>
          <a:p/>
        </p:txBody>
      </p:sp>
      <p:sp>
        <p:nvSpPr>
          <p:cNvPr id="9248" name="T"/>
          <p:cNvSpPr txBox="1"/>
          <p:nvPr/>
        </p:nvSpPr>
        <p:spPr>
          <a:xfrm>
            <a:off x="685800" y="4382597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957</a:t>
            </a:r>
          </a:p>
        </p:txBody>
      </p:sp>
      <p:sp>
        <p:nvSpPr>
          <p:cNvPr id="9249" name="T"/>
          <p:cNvSpPr txBox="1"/>
          <p:nvPr/>
        </p:nvSpPr>
        <p:spPr>
          <a:xfrm>
            <a:off x="685800" y="4646548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22</a:t>
            </a:r>
          </a:p>
        </p:txBody>
      </p:sp>
      <p:sp>
        <p:nvSpPr>
          <p:cNvPr id="9250" name="K"/>
          <p:cNvSpPr/>
          <p:nvPr/>
        </p:nvSpPr>
        <p:spPr>
          <a:xfrm>
            <a:off x="1448855" y="4485248"/>
            <a:ext cx="397558" cy="135758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F4C3A0"/>
          </a:solidFill>
          <a:ln>
            <a:noFill/>
          </a:ln>
        </p:spPr>
        <p:txBody>
          <a:bodyPr/>
          <a:p/>
        </p:txBody>
      </p:sp>
      <p:sp>
        <p:nvSpPr>
          <p:cNvPr id="9251" name="T"/>
          <p:cNvSpPr txBox="1"/>
          <p:nvPr/>
        </p:nvSpPr>
        <p:spPr>
          <a:xfrm>
            <a:off x="1327023" y="4324322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1.611</a:t>
            </a:r>
          </a:p>
        </p:txBody>
      </p:sp>
      <p:sp>
        <p:nvSpPr>
          <p:cNvPr id="9252" name="T"/>
          <p:cNvSpPr txBox="1"/>
          <p:nvPr/>
        </p:nvSpPr>
        <p:spPr>
          <a:xfrm>
            <a:off x="1327023" y="4646548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23</a:t>
            </a:r>
          </a:p>
        </p:txBody>
      </p:sp>
      <p:sp>
        <p:nvSpPr>
          <p:cNvPr id="9253" name="T"/>
          <p:cNvSpPr txBox="1"/>
          <p:nvPr/>
        </p:nvSpPr>
        <p:spPr>
          <a:xfrm>
            <a:off x="1327023" y="4743627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▲68%</a:t>
            </a:r>
          </a:p>
        </p:txBody>
      </p:sp>
      <p:sp>
        <p:nvSpPr>
          <p:cNvPr id="9254" name="K"/>
          <p:cNvSpPr/>
          <p:nvPr/>
        </p:nvSpPr>
        <p:spPr>
          <a:xfrm>
            <a:off x="2090078" y="4542548"/>
            <a:ext cx="397558" cy="80056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7D3EE"/>
          </a:solidFill>
          <a:ln>
            <a:noFill/>
          </a:ln>
        </p:spPr>
        <p:txBody>
          <a:bodyPr/>
          <a:p/>
        </p:txBody>
      </p:sp>
      <p:sp>
        <p:nvSpPr>
          <p:cNvPr id="9255" name="T"/>
          <p:cNvSpPr txBox="1"/>
          <p:nvPr/>
        </p:nvSpPr>
        <p:spPr>
          <a:xfrm>
            <a:off x="1968246" y="4383221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950</a:t>
            </a:r>
          </a:p>
        </p:txBody>
      </p:sp>
      <p:sp>
        <p:nvSpPr>
          <p:cNvPr id="9256" name="T"/>
          <p:cNvSpPr txBox="1"/>
          <p:nvPr/>
        </p:nvSpPr>
        <p:spPr>
          <a:xfrm>
            <a:off x="1968246" y="4646548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24</a:t>
            </a:r>
          </a:p>
        </p:txBody>
      </p:sp>
      <p:sp>
        <p:nvSpPr>
          <p:cNvPr id="9257" name="T"/>
          <p:cNvSpPr txBox="1"/>
          <p:nvPr/>
        </p:nvSpPr>
        <p:spPr>
          <a:xfrm>
            <a:off x="1968246" y="4743627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▼41%</a:t>
            </a:r>
          </a:p>
        </p:txBody>
      </p:sp>
      <p:sp>
        <p:nvSpPr>
          <p:cNvPr id="9258" name="K"/>
          <p:cNvSpPr/>
          <p:nvPr/>
        </p:nvSpPr>
        <p:spPr>
          <a:xfrm>
            <a:off x="2731301" y="4425173"/>
            <a:ext cx="397558" cy="194157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F4C3A0"/>
          </a:solidFill>
          <a:ln>
            <a:noFill/>
          </a:ln>
        </p:spPr>
        <p:txBody>
          <a:bodyPr/>
          <a:p/>
        </p:txBody>
      </p:sp>
      <p:sp>
        <p:nvSpPr>
          <p:cNvPr id="9259" name="T"/>
          <p:cNvSpPr txBox="1"/>
          <p:nvPr/>
        </p:nvSpPr>
        <p:spPr>
          <a:xfrm>
            <a:off x="2609469" y="4262571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2.304</a:t>
            </a:r>
          </a:p>
        </p:txBody>
      </p:sp>
      <p:sp>
        <p:nvSpPr>
          <p:cNvPr id="9260" name="T"/>
          <p:cNvSpPr txBox="1"/>
          <p:nvPr/>
        </p:nvSpPr>
        <p:spPr>
          <a:xfrm>
            <a:off x="2609469" y="4646548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25</a:t>
            </a:r>
          </a:p>
        </p:txBody>
      </p:sp>
      <p:sp>
        <p:nvSpPr>
          <p:cNvPr id="9261" name="T"/>
          <p:cNvSpPr txBox="1"/>
          <p:nvPr/>
        </p:nvSpPr>
        <p:spPr>
          <a:xfrm>
            <a:off x="2609469" y="4743627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▲143%</a:t>
            </a:r>
          </a:p>
        </p:txBody>
      </p:sp>
      <p:sp>
        <p:nvSpPr>
          <p:cNvPr id="9262" name="K"/>
          <p:cNvSpPr/>
          <p:nvPr/>
        </p:nvSpPr>
        <p:spPr>
          <a:xfrm>
            <a:off x="3372524" y="4435055"/>
            <a:ext cx="397558" cy="18455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7D3EE"/>
          </a:solidFill>
          <a:ln>
            <a:noFill/>
          </a:ln>
        </p:spPr>
        <p:txBody>
          <a:bodyPr/>
          <a:p/>
        </p:txBody>
      </p:sp>
      <p:sp>
        <p:nvSpPr>
          <p:cNvPr id="9263" name="T"/>
          <p:cNvSpPr txBox="1"/>
          <p:nvPr/>
        </p:nvSpPr>
        <p:spPr>
          <a:xfrm>
            <a:off x="3250692" y="4272729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2.190</a:t>
            </a:r>
          </a:p>
        </p:txBody>
      </p:sp>
      <p:sp>
        <p:nvSpPr>
          <p:cNvPr id="9264" name="T"/>
          <p:cNvSpPr txBox="1"/>
          <p:nvPr/>
        </p:nvSpPr>
        <p:spPr>
          <a:xfrm>
            <a:off x="3250692" y="4646548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26</a:t>
            </a:r>
          </a:p>
        </p:txBody>
      </p:sp>
      <p:sp>
        <p:nvSpPr>
          <p:cNvPr id="9265" name="T"/>
          <p:cNvSpPr txBox="1"/>
          <p:nvPr/>
        </p:nvSpPr>
        <p:spPr>
          <a:xfrm>
            <a:off x="3250692" y="4743627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▼5%</a:t>
            </a:r>
          </a:p>
        </p:txBody>
      </p:sp>
      <p:sp>
        <p:nvSpPr>
          <p:cNvPr id="9266" name="K"/>
          <p:cNvSpPr/>
          <p:nvPr/>
        </p:nvSpPr>
        <p:spPr>
          <a:xfrm>
            <a:off x="4013747" y="4526424"/>
            <a:ext cx="397558" cy="9573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/>
          <a:p/>
        </p:txBody>
      </p:sp>
      <p:sp>
        <p:nvSpPr>
          <p:cNvPr id="9267" name="T"/>
          <p:cNvSpPr txBox="1"/>
          <p:nvPr/>
        </p:nvSpPr>
        <p:spPr>
          <a:xfrm>
            <a:off x="3891915" y="4366647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1.136</a:t>
            </a:r>
          </a:p>
        </p:txBody>
      </p:sp>
      <p:sp>
        <p:nvSpPr>
          <p:cNvPr id="9268" name="T"/>
          <p:cNvSpPr txBox="1"/>
          <p:nvPr/>
        </p:nvSpPr>
        <p:spPr>
          <a:xfrm>
            <a:off x="3891915" y="4646548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27</a:t>
            </a:r>
          </a:p>
        </p:txBody>
      </p:sp>
      <p:sp>
        <p:nvSpPr>
          <p:cNvPr id="9269" name="T"/>
          <p:cNvSpPr txBox="1"/>
          <p:nvPr/>
        </p:nvSpPr>
        <p:spPr>
          <a:xfrm>
            <a:off x="3891915" y="4743627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▼48%</a:t>
            </a:r>
          </a:p>
        </p:txBody>
      </p:sp>
      <p:sp>
        <p:nvSpPr>
          <p:cNvPr id="9270" name="K"/>
          <p:cNvSpPr/>
          <p:nvPr/>
        </p:nvSpPr>
        <p:spPr>
          <a:xfrm>
            <a:off x="4654970" y="4244240"/>
            <a:ext cx="397558" cy="380663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/>
          <a:p/>
        </p:txBody>
      </p:sp>
      <p:sp>
        <p:nvSpPr>
          <p:cNvPr id="9271" name="T"/>
          <p:cNvSpPr txBox="1"/>
          <p:nvPr/>
        </p:nvSpPr>
        <p:spPr>
          <a:xfrm>
            <a:off x="4533138" y="4087210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4.272</a:t>
            </a:r>
          </a:p>
        </p:txBody>
      </p:sp>
      <p:sp>
        <p:nvSpPr>
          <p:cNvPr id="9272" name="T"/>
          <p:cNvSpPr txBox="1"/>
          <p:nvPr/>
        </p:nvSpPr>
        <p:spPr>
          <a:xfrm>
            <a:off x="4533138" y="4646548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28</a:t>
            </a:r>
          </a:p>
        </p:txBody>
      </p:sp>
      <p:sp>
        <p:nvSpPr>
          <p:cNvPr id="9273" name="T"/>
          <p:cNvSpPr txBox="1"/>
          <p:nvPr/>
        </p:nvSpPr>
        <p:spPr>
          <a:xfrm>
            <a:off x="4533138" y="4743627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▲276%</a:t>
            </a:r>
          </a:p>
        </p:txBody>
      </p:sp>
      <p:sp>
        <p:nvSpPr>
          <p:cNvPr id="9274" name="K"/>
          <p:cNvSpPr/>
          <p:nvPr/>
        </p:nvSpPr>
        <p:spPr>
          <a:xfrm>
            <a:off x="5296193" y="4551564"/>
            <a:ext cx="397558" cy="71292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/>
          <a:p/>
        </p:txBody>
      </p:sp>
      <p:sp>
        <p:nvSpPr>
          <p:cNvPr id="9275" name="T"/>
          <p:cNvSpPr txBox="1"/>
          <p:nvPr/>
        </p:nvSpPr>
        <p:spPr>
          <a:xfrm>
            <a:off x="5174361" y="4392488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846</a:t>
            </a:r>
          </a:p>
        </p:txBody>
      </p:sp>
      <p:sp>
        <p:nvSpPr>
          <p:cNvPr id="9276" name="T"/>
          <p:cNvSpPr txBox="1"/>
          <p:nvPr/>
        </p:nvSpPr>
        <p:spPr>
          <a:xfrm>
            <a:off x="5174361" y="4646548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29 Okt</a:t>
            </a:r>
          </a:p>
        </p:txBody>
      </p:sp>
      <p:sp>
        <p:nvSpPr>
          <p:cNvPr id="9277" name="T"/>
          <p:cNvSpPr txBox="1"/>
          <p:nvPr/>
        </p:nvSpPr>
        <p:spPr>
          <a:xfrm>
            <a:off x="5174361" y="4743627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▼80%</a:t>
            </a:r>
          </a:p>
        </p:txBody>
      </p:sp>
      <p:sp>
        <p:nvSpPr>
          <p:cNvPr id="9278" name="T"/>
          <p:cNvSpPr txBox="1"/>
          <p:nvPr/>
        </p:nvSpPr>
        <p:spPr>
          <a:xfrm>
            <a:off x="685800" y="4969831"/>
            <a:ext cx="422064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Belum padam (ha)</a:t>
            </a:r>
          </a:p>
        </p:txBody>
      </p:sp>
      <p:cxnSp>
        <p:nvCxnSpPr>
          <p:cNvPr id="9279" name="L"/>
          <p:cNvCxnSpPr/>
          <p:nvPr/>
        </p:nvCxnSpPr>
        <p:spPr>
          <a:xfrm>
            <a:off x="685800" y="5788040"/>
            <a:ext cx="5129784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9280" name="K"/>
          <p:cNvSpPr/>
          <p:nvPr/>
        </p:nvSpPr>
        <p:spPr>
          <a:xfrm>
            <a:off x="807632" y="5625133"/>
            <a:ext cx="397558" cy="158362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CE1E7"/>
          </a:solidFill>
          <a:ln>
            <a:noFill/>
          </a:ln>
        </p:spPr>
        <p:txBody>
          <a:bodyPr/>
          <a:p/>
        </p:txBody>
      </p:sp>
      <p:sp>
        <p:nvSpPr>
          <p:cNvPr id="9281" name="T"/>
          <p:cNvSpPr txBox="1"/>
          <p:nvPr/>
        </p:nvSpPr>
        <p:spPr>
          <a:xfrm>
            <a:off x="685800" y="5463558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677</a:t>
            </a:r>
          </a:p>
        </p:txBody>
      </p:sp>
      <p:sp>
        <p:nvSpPr>
          <p:cNvPr id="9282" name="T"/>
          <p:cNvSpPr txBox="1"/>
          <p:nvPr/>
        </p:nvSpPr>
        <p:spPr>
          <a:xfrm>
            <a:off x="685800" y="5809685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22</a:t>
            </a:r>
          </a:p>
        </p:txBody>
      </p:sp>
      <p:sp>
        <p:nvSpPr>
          <p:cNvPr id="9283" name="K"/>
          <p:cNvSpPr/>
          <p:nvPr/>
        </p:nvSpPr>
        <p:spPr>
          <a:xfrm>
            <a:off x="1448855" y="5626816"/>
            <a:ext cx="397558" cy="156725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7D3EE"/>
          </a:solidFill>
          <a:ln>
            <a:noFill/>
          </a:ln>
        </p:spPr>
        <p:txBody>
          <a:bodyPr/>
          <a:p/>
        </p:txBody>
      </p:sp>
      <p:sp>
        <p:nvSpPr>
          <p:cNvPr id="9284" name="T"/>
          <p:cNvSpPr txBox="1"/>
          <p:nvPr/>
        </p:nvSpPr>
        <p:spPr>
          <a:xfrm>
            <a:off x="1327023" y="5465289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670</a:t>
            </a:r>
          </a:p>
        </p:txBody>
      </p:sp>
      <p:sp>
        <p:nvSpPr>
          <p:cNvPr id="9285" name="T"/>
          <p:cNvSpPr txBox="1"/>
          <p:nvPr/>
        </p:nvSpPr>
        <p:spPr>
          <a:xfrm>
            <a:off x="1327023" y="5809685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23</a:t>
            </a:r>
          </a:p>
        </p:txBody>
      </p:sp>
      <p:sp>
        <p:nvSpPr>
          <p:cNvPr id="9286" name="T"/>
          <p:cNvSpPr txBox="1"/>
          <p:nvPr/>
        </p:nvSpPr>
        <p:spPr>
          <a:xfrm>
            <a:off x="1327023" y="5906765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▼1%</a:t>
            </a:r>
          </a:p>
        </p:txBody>
      </p:sp>
      <p:sp>
        <p:nvSpPr>
          <p:cNvPr id="9287" name="K"/>
          <p:cNvSpPr/>
          <p:nvPr/>
        </p:nvSpPr>
        <p:spPr>
          <a:xfrm>
            <a:off x="2090078" y="5663393"/>
            <a:ext cx="397558" cy="121169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7D3EE"/>
          </a:solidFill>
          <a:ln>
            <a:noFill/>
          </a:ln>
        </p:spPr>
        <p:txBody>
          <a:bodyPr/>
          <a:p/>
        </p:txBody>
      </p:sp>
      <p:sp>
        <p:nvSpPr>
          <p:cNvPr id="9288" name="T"/>
          <p:cNvSpPr txBox="1"/>
          <p:nvPr/>
        </p:nvSpPr>
        <p:spPr>
          <a:xfrm>
            <a:off x="1968246" y="5502886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518</a:t>
            </a:r>
          </a:p>
        </p:txBody>
      </p:sp>
      <p:sp>
        <p:nvSpPr>
          <p:cNvPr id="9289" name="T"/>
          <p:cNvSpPr txBox="1"/>
          <p:nvPr/>
        </p:nvSpPr>
        <p:spPr>
          <a:xfrm>
            <a:off x="1968246" y="5809685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24</a:t>
            </a:r>
          </a:p>
        </p:txBody>
      </p:sp>
      <p:sp>
        <p:nvSpPr>
          <p:cNvPr id="9290" name="T"/>
          <p:cNvSpPr txBox="1"/>
          <p:nvPr/>
        </p:nvSpPr>
        <p:spPr>
          <a:xfrm>
            <a:off x="1968246" y="5906765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▼23%</a:t>
            </a:r>
          </a:p>
        </p:txBody>
      </p:sp>
      <p:sp>
        <p:nvSpPr>
          <p:cNvPr id="9291" name="K"/>
          <p:cNvSpPr/>
          <p:nvPr/>
        </p:nvSpPr>
        <p:spPr>
          <a:xfrm>
            <a:off x="2731301" y="5572434"/>
            <a:ext cx="397558" cy="20959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F4C3A0"/>
          </a:solidFill>
          <a:ln>
            <a:noFill/>
          </a:ln>
        </p:spPr>
        <p:txBody>
          <a:bodyPr/>
          <a:p/>
        </p:txBody>
      </p:sp>
      <p:sp>
        <p:nvSpPr>
          <p:cNvPr id="9292" name="T"/>
          <p:cNvSpPr txBox="1"/>
          <p:nvPr/>
        </p:nvSpPr>
        <p:spPr>
          <a:xfrm>
            <a:off x="2609469" y="5409390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896</a:t>
            </a:r>
          </a:p>
        </p:txBody>
      </p:sp>
      <p:sp>
        <p:nvSpPr>
          <p:cNvPr id="9293" name="T"/>
          <p:cNvSpPr txBox="1"/>
          <p:nvPr/>
        </p:nvSpPr>
        <p:spPr>
          <a:xfrm>
            <a:off x="2609469" y="5809685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25</a:t>
            </a:r>
          </a:p>
        </p:txBody>
      </p:sp>
      <p:sp>
        <p:nvSpPr>
          <p:cNvPr id="9294" name="T"/>
          <p:cNvSpPr txBox="1"/>
          <p:nvPr/>
        </p:nvSpPr>
        <p:spPr>
          <a:xfrm>
            <a:off x="2609469" y="5906765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▲73%</a:t>
            </a:r>
          </a:p>
        </p:txBody>
      </p:sp>
      <p:sp>
        <p:nvSpPr>
          <p:cNvPr id="9295" name="K"/>
          <p:cNvSpPr/>
          <p:nvPr/>
        </p:nvSpPr>
        <p:spPr>
          <a:xfrm>
            <a:off x="3372524" y="5510766"/>
            <a:ext cx="397558" cy="277273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F4C3A0"/>
          </a:solidFill>
          <a:ln>
            <a:noFill/>
          </a:ln>
        </p:spPr>
        <p:txBody>
          <a:bodyPr/>
          <a:p/>
        </p:txBody>
      </p:sp>
      <p:sp>
        <p:nvSpPr>
          <p:cNvPr id="9296" name="T"/>
          <p:cNvSpPr txBox="1"/>
          <p:nvPr/>
        </p:nvSpPr>
        <p:spPr>
          <a:xfrm>
            <a:off x="3250692" y="5353737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1.121</a:t>
            </a:r>
          </a:p>
        </p:txBody>
      </p:sp>
      <p:sp>
        <p:nvSpPr>
          <p:cNvPr id="9297" name="T"/>
          <p:cNvSpPr txBox="1"/>
          <p:nvPr/>
        </p:nvSpPr>
        <p:spPr>
          <a:xfrm>
            <a:off x="3250692" y="5809685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26</a:t>
            </a:r>
          </a:p>
        </p:txBody>
      </p:sp>
      <p:sp>
        <p:nvSpPr>
          <p:cNvPr id="9298" name="T"/>
          <p:cNvSpPr txBox="1"/>
          <p:nvPr/>
        </p:nvSpPr>
        <p:spPr>
          <a:xfrm>
            <a:off x="3250692" y="5906765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▲25%</a:t>
            </a:r>
          </a:p>
        </p:txBody>
      </p:sp>
      <p:sp>
        <p:nvSpPr>
          <p:cNvPr id="9299" name="K"/>
          <p:cNvSpPr/>
          <p:nvPr/>
        </p:nvSpPr>
        <p:spPr>
          <a:xfrm>
            <a:off x="4013747" y="5635238"/>
            <a:ext cx="397558" cy="148538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/>
          <a:p/>
        </p:txBody>
      </p:sp>
      <p:sp>
        <p:nvSpPr>
          <p:cNvPr id="9300" name="T"/>
          <p:cNvSpPr txBox="1"/>
          <p:nvPr/>
        </p:nvSpPr>
        <p:spPr>
          <a:xfrm>
            <a:off x="3891915" y="5473946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635</a:t>
            </a:r>
          </a:p>
        </p:txBody>
      </p:sp>
      <p:sp>
        <p:nvSpPr>
          <p:cNvPr id="9301" name="T"/>
          <p:cNvSpPr txBox="1"/>
          <p:nvPr/>
        </p:nvSpPr>
        <p:spPr>
          <a:xfrm>
            <a:off x="3891915" y="5809685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27</a:t>
            </a:r>
          </a:p>
        </p:txBody>
      </p:sp>
      <p:sp>
        <p:nvSpPr>
          <p:cNvPr id="9302" name="T"/>
          <p:cNvSpPr txBox="1"/>
          <p:nvPr/>
        </p:nvSpPr>
        <p:spPr>
          <a:xfrm>
            <a:off x="3891915" y="5906765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▼43%</a:t>
            </a:r>
          </a:p>
        </p:txBody>
      </p:sp>
      <p:sp>
        <p:nvSpPr>
          <p:cNvPr id="9303" name="K"/>
          <p:cNvSpPr/>
          <p:nvPr/>
        </p:nvSpPr>
        <p:spPr>
          <a:xfrm>
            <a:off x="4654970" y="5407377"/>
            <a:ext cx="397558" cy="380663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/>
          <a:p/>
        </p:txBody>
      </p:sp>
      <p:sp>
        <p:nvSpPr>
          <p:cNvPr id="9304" name="T"/>
          <p:cNvSpPr txBox="1"/>
          <p:nvPr/>
        </p:nvSpPr>
        <p:spPr>
          <a:xfrm>
            <a:off x="4533138" y="5250347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1.539</a:t>
            </a:r>
          </a:p>
        </p:txBody>
      </p:sp>
      <p:sp>
        <p:nvSpPr>
          <p:cNvPr id="9305" name="T"/>
          <p:cNvSpPr txBox="1"/>
          <p:nvPr/>
        </p:nvSpPr>
        <p:spPr>
          <a:xfrm>
            <a:off x="4533138" y="5809685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28</a:t>
            </a:r>
          </a:p>
        </p:txBody>
      </p:sp>
      <p:sp>
        <p:nvSpPr>
          <p:cNvPr id="9306" name="T"/>
          <p:cNvSpPr txBox="1"/>
          <p:nvPr/>
        </p:nvSpPr>
        <p:spPr>
          <a:xfrm>
            <a:off x="4533138" y="5906765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▲142%</a:t>
            </a:r>
          </a:p>
        </p:txBody>
      </p:sp>
      <p:sp>
        <p:nvSpPr>
          <p:cNvPr id="9307" name="K"/>
          <p:cNvSpPr/>
          <p:nvPr/>
        </p:nvSpPr>
        <p:spPr>
          <a:xfrm>
            <a:off x="5296193" y="5671333"/>
            <a:ext cx="397558" cy="11345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/>
          <a:p/>
        </p:txBody>
      </p:sp>
      <p:sp>
        <p:nvSpPr>
          <p:cNvPr id="9308" name="T"/>
          <p:cNvSpPr txBox="1"/>
          <p:nvPr/>
        </p:nvSpPr>
        <p:spPr>
          <a:xfrm>
            <a:off x="5174361" y="5511048"/>
            <a:ext cx="641223" cy="114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485</a:t>
            </a:r>
          </a:p>
        </p:txBody>
      </p:sp>
      <p:sp>
        <p:nvSpPr>
          <p:cNvPr id="9309" name="T"/>
          <p:cNvSpPr txBox="1"/>
          <p:nvPr/>
        </p:nvSpPr>
        <p:spPr>
          <a:xfrm>
            <a:off x="5174361" y="5809685"/>
            <a:ext cx="641223" cy="91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29 Okt</a:t>
            </a:r>
          </a:p>
        </p:txBody>
      </p:sp>
      <p:sp>
        <p:nvSpPr>
          <p:cNvPr id="9310" name="T"/>
          <p:cNvSpPr txBox="1"/>
          <p:nvPr/>
        </p:nvSpPr>
        <p:spPr>
          <a:xfrm>
            <a:off x="5174361" y="5906765"/>
            <a:ext cx="64122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▼68%</a:t>
            </a:r>
          </a:p>
        </p:txBody>
      </p:sp>
      <p:sp>
        <p:nvSpPr>
          <p:cNvPr id="9311" name="K"/>
          <p:cNvSpPr/>
          <p:nvPr/>
        </p:nvSpPr>
        <p:spPr>
          <a:xfrm>
            <a:off x="7507224" y="3474490"/>
            <a:ext cx="760000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/>
          <a:p/>
        </p:txBody>
      </p:sp>
      <p:pic>
        <p:nvPicPr>
          <p:cNvPr id="9312" name="G"/>
          <p:cNvPicPr>
            <a:picLocks noChangeAspect="1"/>
          </p:cNvPicPr>
          <p:nvPr/>
        </p:nvPicPr>
        <p:blipFill>
          <a:blip r:embed="rIdL3"/>
          <a:stretch>
            <a:fillRect/>
          </a:stretch>
        </p:blipFill>
        <p:spPr>
          <a:xfrm>
            <a:off x="7570724" y="3504491"/>
            <a:ext cx="109728" cy="109728"/>
          </a:xfrm>
          <a:prstGeom prst="rect">
            <a:avLst/>
          </a:prstGeom>
        </p:spPr>
      </p:pic>
      <p:sp>
        <p:nvSpPr>
          <p:cNvPr id="9313" name="T"/>
          <p:cNvSpPr txBox="1"/>
          <p:nvPr/>
        </p:nvSpPr>
        <p:spPr>
          <a:xfrm>
            <a:off x="7718552" y="3474490"/>
            <a:ext cx="510572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6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gambut</a:t>
            </a:r>
          </a:p>
        </p:txBody>
      </p:sp>
      <p:sp>
        <p:nvSpPr>
          <p:cNvPr id="9314" name="T"/>
          <p:cNvSpPr txBox="1"/>
          <p:nvPr/>
        </p:nvSpPr>
        <p:spPr>
          <a:xfrm>
            <a:off x="6208776" y="3894167"/>
            <a:ext cx="2400000" cy="100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l">
              <a:spcBef>
                <a:spcPts val="0"/>
              </a:spcBef>
              <a:buNone/>
            </a:pPr>
            <a:r>
              <a:rPr lang="id-ID" sz="660" b="1" spc="10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SEBARAN TITIK 25–30 OKT</a:t>
            </a:r>
          </a:p>
        </p:txBody>
      </p:sp>
      <p:sp>
        <p:nvSpPr>
          <p:cNvPr id="9315" name="K"/>
          <p:cNvSpPr/>
          <p:nvPr/>
        </p:nvSpPr>
        <p:spPr>
          <a:xfrm>
            <a:off x="6208776" y="4023638"/>
            <a:ext cx="1366250" cy="190000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>
            <a:noFill/>
          </a:ln>
        </p:spPr>
        <p:txBody>
          <a:bodyPr/>
          <a:p/>
        </p:txBody>
      </p:sp>
      <p:sp>
        <p:nvSpPr>
          <p:cNvPr id="9316" name="T"/>
          <p:cNvSpPr txBox="1"/>
          <p:nvPr/>
        </p:nvSpPr>
        <p:spPr>
          <a:xfrm>
            <a:off x="6208776" y="4023638"/>
            <a:ext cx="1366250" cy="19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26%</a:t>
            </a:r>
          </a:p>
        </p:txBody>
      </p:sp>
      <p:sp>
        <p:nvSpPr>
          <p:cNvPr id="9317" name="K"/>
          <p:cNvSpPr/>
          <p:nvPr/>
        </p:nvSpPr>
        <p:spPr>
          <a:xfrm>
            <a:off x="7575026" y="4023638"/>
            <a:ext cx="1295963" cy="190000"/>
          </a:xfrm>
          <a:prstGeom prst="rect">
            <a:avLst/>
          </a:prstGeom>
          <a:solidFill>
            <a:srgbClr val="3F5F80"/>
          </a:solidFill>
          <a:ln>
            <a:noFill/>
          </a:ln>
        </p:spPr>
        <p:txBody>
          <a:bodyPr/>
          <a:p/>
        </p:txBody>
      </p:sp>
      <p:sp>
        <p:nvSpPr>
          <p:cNvPr id="9318" name="T"/>
          <p:cNvSpPr txBox="1"/>
          <p:nvPr/>
        </p:nvSpPr>
        <p:spPr>
          <a:xfrm>
            <a:off x="7575026" y="4023638"/>
            <a:ext cx="1295963" cy="19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24%</a:t>
            </a:r>
          </a:p>
        </p:txBody>
      </p:sp>
      <p:sp>
        <p:nvSpPr>
          <p:cNvPr id="9319" name="K"/>
          <p:cNvSpPr/>
          <p:nvPr/>
        </p:nvSpPr>
        <p:spPr>
          <a:xfrm>
            <a:off x="8870989" y="4023638"/>
            <a:ext cx="2644049" cy="190000"/>
          </a:xfrm>
          <a:prstGeom prst="roundRect">
            <a:avLst>
              <a:gd name="adj" fmla="val 50000"/>
            </a:avLst>
          </a:prstGeom>
          <a:solidFill>
            <a:srgbClr val="A9B4C2"/>
          </a:solidFill>
          <a:ln>
            <a:noFill/>
          </a:ln>
        </p:spPr>
        <p:txBody>
          <a:bodyPr/>
          <a:p/>
        </p:txBody>
      </p:sp>
      <p:sp>
        <p:nvSpPr>
          <p:cNvPr id="9320" name="T"/>
          <p:cNvSpPr txBox="1"/>
          <p:nvPr/>
        </p:nvSpPr>
        <p:spPr>
          <a:xfrm>
            <a:off x="8870989" y="4023638"/>
            <a:ext cx="2644049" cy="19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50%</a:t>
            </a:r>
          </a:p>
        </p:txBody>
      </p:sp>
      <p:sp>
        <p:nvSpPr>
          <p:cNvPr id="9321" name="K"/>
          <p:cNvSpPr/>
          <p:nvPr/>
        </p:nvSpPr>
        <p:spPr>
          <a:xfrm>
            <a:off x="6208776" y="4301020"/>
            <a:ext cx="91440" cy="9144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/>
          <a:p/>
        </p:txBody>
      </p:sp>
      <p:sp>
        <p:nvSpPr>
          <p:cNvPr id="9322" name="T"/>
          <p:cNvSpPr txBox="1"/>
          <p:nvPr/>
        </p:nvSpPr>
        <p:spPr>
          <a:xfrm>
            <a:off x="6336792" y="4271740"/>
            <a:ext cx="136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40" b="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Koridor Jagebob–Tanah Miring 1.730</a:t>
            </a:r>
          </a:p>
        </p:txBody>
      </p:sp>
      <p:sp>
        <p:nvSpPr>
          <p:cNvPr id="9323" name="K"/>
          <p:cNvSpPr/>
          <p:nvPr/>
        </p:nvSpPr>
        <p:spPr>
          <a:xfrm>
            <a:off x="7714792" y="4301020"/>
            <a:ext cx="91440" cy="91440"/>
          </a:xfrm>
          <a:prstGeom prst="ellipse">
            <a:avLst/>
          </a:prstGeom>
          <a:solidFill>
            <a:srgbClr val="3F5F80"/>
          </a:solidFill>
          <a:ln>
            <a:noFill/>
          </a:ln>
        </p:spPr>
        <p:txBody>
          <a:bodyPr/>
          <a:p/>
        </p:txBody>
      </p:sp>
      <p:sp>
        <p:nvSpPr>
          <p:cNvPr id="9324" name="T"/>
          <p:cNvSpPr txBox="1"/>
          <p:nvPr/>
        </p:nvSpPr>
        <p:spPr>
          <a:xfrm>
            <a:off x="7842808" y="4271740"/>
            <a:ext cx="72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40" b="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Pulau Kimaam 1.641</a:t>
            </a:r>
          </a:p>
        </p:txBody>
      </p:sp>
      <p:sp>
        <p:nvSpPr>
          <p:cNvPr id="9325" name="K"/>
          <p:cNvSpPr/>
          <p:nvPr/>
        </p:nvSpPr>
        <p:spPr>
          <a:xfrm>
            <a:off x="8628808" y="4301020"/>
            <a:ext cx="91440" cy="91440"/>
          </a:xfrm>
          <a:prstGeom prst="ellipse">
            <a:avLst/>
          </a:prstGeom>
          <a:solidFill>
            <a:srgbClr val="A9B4C2"/>
          </a:solidFill>
          <a:ln>
            <a:noFill/>
          </a:ln>
        </p:spPr>
        <p:txBody>
          <a:bodyPr/>
          <a:p/>
        </p:txBody>
      </p:sp>
      <p:sp>
        <p:nvSpPr>
          <p:cNvPr id="9326" name="T"/>
          <p:cNvSpPr txBox="1"/>
          <p:nvPr/>
        </p:nvSpPr>
        <p:spPr>
          <a:xfrm>
            <a:off x="8756824" y="4271740"/>
            <a:ext cx="800000" cy="15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40" b="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kecamatan lain 3.348</a:t>
            </a:r>
          </a:p>
        </p:txBody>
      </p:sp>
      <p:sp>
        <p:nvSpPr>
          <p:cNvPr id="9327" name="K"/>
          <p:cNvSpPr/>
          <p:nvPr/>
        </p:nvSpPr>
        <p:spPr>
          <a:xfrm>
            <a:off x="6217920" y="5079317"/>
            <a:ext cx="201168" cy="20116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/>
          <a:p/>
        </p:txBody>
      </p:sp>
      <p:pic>
        <p:nvPicPr>
          <p:cNvPr id="9328" name="G"/>
          <p:cNvPicPr>
            <a:picLocks noChangeAspect="1"/>
          </p:cNvPicPr>
          <p:nvPr/>
        </p:nvPicPr>
        <p:blipFill>
          <a:blip r:embed="rIdL4"/>
          <a:stretch>
            <a:fillRect/>
          </a:stretch>
        </p:blipFill>
        <p:spPr>
          <a:xfrm>
            <a:off x="6259068" y="5120465"/>
            <a:ext cx="118872" cy="118872"/>
          </a:xfrm>
          <a:prstGeom prst="rect">
            <a:avLst/>
          </a:prstGeom>
        </p:spPr>
      </p:pic>
      <p:sp>
        <p:nvSpPr>
          <p:cNvPr id="9329" name="T"/>
          <p:cNvSpPr txBox="1"/>
          <p:nvPr/>
        </p:nvSpPr>
        <p:spPr>
          <a:xfrm>
            <a:off x="6483096" y="5058405"/>
            <a:ext cx="4122799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Kontuar, Pulau Kimaam: cluster Siaga</a:t>
            </a:r>
          </a:p>
        </p:txBody>
      </p:sp>
      <p:sp>
        <p:nvSpPr>
          <p:cNvPr id="9333" name="K"/>
          <p:cNvSpPr/>
          <p:nvPr/>
        </p:nvSpPr>
        <p:spPr>
          <a:xfrm>
            <a:off x="10744199" y="5062977"/>
            <a:ext cx="761696" cy="13716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9334" name="G"/>
          <p:cNvPicPr>
            <a:picLocks noChangeAspect="1"/>
          </p:cNvPicPr>
          <p:nvPr/>
        </p:nvPicPr>
        <p:blipFill>
          <a:blip r:embed="rIdL5"/>
          <a:stretch>
            <a:fillRect/>
          </a:stretch>
        </p:blipFill>
        <p:spPr>
          <a:xfrm>
            <a:off x="10807699" y="5090409"/>
            <a:ext cx="82296" cy="82296"/>
          </a:xfrm>
          <a:prstGeom prst="rect">
            <a:avLst/>
          </a:prstGeom>
        </p:spPr>
      </p:pic>
      <p:sp>
        <p:nvSpPr>
          <p:cNvPr id="9335" name="T"/>
          <p:cNvSpPr txBox="1"/>
          <p:nvPr/>
        </p:nvSpPr>
        <p:spPr>
          <a:xfrm>
            <a:off x="10928095" y="5062977"/>
            <a:ext cx="5397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336" name="K"/>
          <p:cNvSpPr/>
          <p:nvPr/>
        </p:nvSpPr>
        <p:spPr>
          <a:xfrm>
            <a:off x="6483096" y="5227347"/>
            <a:ext cx="1445696" cy="13716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9337" name="G"/>
          <p:cNvPicPr>
            <a:picLocks noChangeAspect="1"/>
          </p:cNvPicPr>
          <p:nvPr/>
        </p:nvPicPr>
        <p:blipFill>
          <a:blip r:embed="rIdL6"/>
          <a:stretch>
            <a:fillRect/>
          </a:stretch>
        </p:blipFill>
        <p:spPr>
          <a:xfrm>
            <a:off x="6546596" y="5254779"/>
            <a:ext cx="82296" cy="82296"/>
          </a:xfrm>
          <a:prstGeom prst="rect">
            <a:avLst/>
          </a:prstGeom>
        </p:spPr>
      </p:pic>
      <p:sp>
        <p:nvSpPr>
          <p:cNvPr id="9338" name="T"/>
          <p:cNvSpPr txBox="1"/>
          <p:nvPr/>
        </p:nvSpPr>
        <p:spPr>
          <a:xfrm>
            <a:off x="6666992" y="5227347"/>
            <a:ext cx="12237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belum padam 143 ha, 29 Okt</a:t>
            </a:r>
          </a:p>
        </p:txBody>
      </p:sp>
      <p:sp>
        <p:nvSpPr>
          <p:cNvPr id="9339" name="K"/>
          <p:cNvSpPr/>
          <p:nvPr/>
        </p:nvSpPr>
        <p:spPr>
          <a:xfrm>
            <a:off x="7974512" y="5227347"/>
            <a:ext cx="989696" cy="1371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340" name="G"/>
          <p:cNvPicPr>
            <a:picLocks noChangeAspect="1"/>
          </p:cNvPicPr>
          <p:nvPr/>
        </p:nvPicPr>
        <p:blipFill>
          <a:blip r:embed="rIdL7"/>
          <a:stretch>
            <a:fillRect/>
          </a:stretch>
        </p:blipFill>
        <p:spPr>
          <a:xfrm>
            <a:off x="8038012" y="5254779"/>
            <a:ext cx="82296" cy="82296"/>
          </a:xfrm>
          <a:prstGeom prst="rect">
            <a:avLst/>
          </a:prstGeom>
        </p:spPr>
      </p:pic>
      <p:sp>
        <p:nvSpPr>
          <p:cNvPr id="9341" name="T"/>
          <p:cNvSpPr txBox="1"/>
          <p:nvPr/>
        </p:nvSpPr>
        <p:spPr>
          <a:xfrm>
            <a:off x="8158408" y="5227347"/>
            <a:ext cx="7677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Hutan Suaka Alam</a:t>
            </a:r>
          </a:p>
        </p:txBody>
      </p:sp>
      <p:sp>
        <p:nvSpPr>
          <p:cNvPr id="9342" name="K"/>
          <p:cNvSpPr/>
          <p:nvPr/>
        </p:nvSpPr>
        <p:spPr>
          <a:xfrm>
            <a:off x="9009928" y="5227347"/>
            <a:ext cx="1126496" cy="1371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343" name="G"/>
          <p:cNvPicPr>
            <a:picLocks noChangeAspect="1"/>
          </p:cNvPicPr>
          <p:nvPr/>
        </p:nvPicPr>
        <p:blipFill>
          <a:blip r:embed="rIdL8"/>
          <a:stretch>
            <a:fillRect/>
          </a:stretch>
        </p:blipFill>
        <p:spPr>
          <a:xfrm>
            <a:off x="9073428" y="5254779"/>
            <a:ext cx="82296" cy="82296"/>
          </a:xfrm>
          <a:prstGeom prst="rect">
            <a:avLst/>
          </a:prstGeom>
        </p:spPr>
      </p:pic>
      <p:sp>
        <p:nvSpPr>
          <p:cNvPr id="9344" name="T"/>
          <p:cNvSpPr txBox="1"/>
          <p:nvPr/>
        </p:nvSpPr>
        <p:spPr>
          <a:xfrm>
            <a:off x="9193824" y="5227347"/>
            <a:ext cx="9045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690 titik 25–30 Okt</a:t>
            </a:r>
          </a:p>
        </p:txBody>
      </p:sp>
      <p:sp>
        <p:nvSpPr>
          <p:cNvPr id="9345" name="K"/>
          <p:cNvSpPr/>
          <p:nvPr/>
        </p:nvSpPr>
        <p:spPr>
          <a:xfrm>
            <a:off x="6217920" y="5437065"/>
            <a:ext cx="201168" cy="20116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pic>
        <p:nvPicPr>
          <p:cNvPr id="9346" name="G"/>
          <p:cNvPicPr>
            <a:picLocks noChangeAspect="1"/>
          </p:cNvPicPr>
          <p:nvPr/>
        </p:nvPicPr>
        <p:blipFill>
          <a:blip r:embed="rIdL9"/>
          <a:stretch>
            <a:fillRect/>
          </a:stretch>
        </p:blipFill>
        <p:spPr>
          <a:xfrm>
            <a:off x="6259068" y="5478213"/>
            <a:ext cx="118872" cy="118872"/>
          </a:xfrm>
          <a:prstGeom prst="rect">
            <a:avLst/>
          </a:prstGeom>
        </p:spPr>
      </p:pic>
      <p:sp>
        <p:nvSpPr>
          <p:cNvPr id="9347" name="T"/>
          <p:cNvSpPr txBox="1"/>
          <p:nvPr/>
        </p:nvSpPr>
        <p:spPr>
          <a:xfrm>
            <a:off x="6483096" y="5416152"/>
            <a:ext cx="4122799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OMC BNPB dari Lanud J.A. Dimara</a:t>
            </a:r>
          </a:p>
        </p:txBody>
      </p:sp>
      <p:sp>
        <p:nvSpPr>
          <p:cNvPr id="9351" name="K"/>
          <p:cNvSpPr/>
          <p:nvPr/>
        </p:nvSpPr>
        <p:spPr>
          <a:xfrm>
            <a:off x="10880999" y="5420724"/>
            <a:ext cx="624896" cy="13716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/>
          <a:p/>
        </p:txBody>
      </p:sp>
      <p:pic>
        <p:nvPicPr>
          <p:cNvPr id="9352" name="G"/>
          <p:cNvPicPr>
            <a:picLocks noChangeAspect="1"/>
          </p:cNvPicPr>
          <p:nvPr/>
        </p:nvPicPr>
        <p:blipFill>
          <a:blip r:embed="rIdL10"/>
          <a:stretch>
            <a:fillRect/>
          </a:stretch>
        </p:blipFill>
        <p:spPr>
          <a:xfrm>
            <a:off x="10944499" y="5448156"/>
            <a:ext cx="82296" cy="82296"/>
          </a:xfrm>
          <a:prstGeom prst="rect">
            <a:avLst/>
          </a:prstGeom>
        </p:spPr>
      </p:pic>
      <p:sp>
        <p:nvSpPr>
          <p:cNvPr id="9353" name="T"/>
          <p:cNvSpPr txBox="1"/>
          <p:nvPr/>
        </p:nvSpPr>
        <p:spPr>
          <a:xfrm>
            <a:off x="11064895" y="5420724"/>
            <a:ext cx="4029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berjalan</a:t>
            </a:r>
          </a:p>
        </p:txBody>
      </p:sp>
      <p:sp>
        <p:nvSpPr>
          <p:cNvPr id="9354" name="K"/>
          <p:cNvSpPr/>
          <p:nvPr/>
        </p:nvSpPr>
        <p:spPr>
          <a:xfrm>
            <a:off x="6483096" y="5585095"/>
            <a:ext cx="1673696" cy="1371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355" name="G"/>
          <p:cNvPicPr>
            <a:picLocks noChangeAspect="1"/>
          </p:cNvPicPr>
          <p:nvPr/>
        </p:nvPicPr>
        <p:blipFill>
          <a:blip r:embed="rIdL2"/>
          <a:stretch>
            <a:fillRect/>
          </a:stretch>
        </p:blipFill>
        <p:spPr>
          <a:xfrm>
            <a:off x="6546596" y="5612527"/>
            <a:ext cx="82296" cy="82296"/>
          </a:xfrm>
          <a:prstGeom prst="rect">
            <a:avLst/>
          </a:prstGeom>
        </p:spPr>
      </p:pic>
      <p:sp>
        <p:nvSpPr>
          <p:cNvPr id="9356" name="T"/>
          <p:cNvSpPr txBox="1"/>
          <p:nvPr/>
        </p:nvSpPr>
        <p:spPr>
          <a:xfrm>
            <a:off x="6666992" y="5585095"/>
            <a:ext cx="14517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27 Okt: 2 sortie, 2.000 kg NaCl</a:t>
            </a:r>
          </a:p>
        </p:txBody>
      </p:sp>
      <p:sp>
        <p:nvSpPr>
          <p:cNvPr id="9357" name="K"/>
          <p:cNvSpPr/>
          <p:nvPr/>
        </p:nvSpPr>
        <p:spPr>
          <a:xfrm>
            <a:off x="8202512" y="5585095"/>
            <a:ext cx="1308896" cy="1371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358" name="G"/>
          <p:cNvPicPr>
            <a:picLocks noChangeAspect="1"/>
          </p:cNvPicPr>
          <p:nvPr/>
        </p:nvPicPr>
        <p:blipFill>
          <a:blip r:embed="rIdL11"/>
          <a:stretch>
            <a:fillRect/>
          </a:stretch>
        </p:blipFill>
        <p:spPr>
          <a:xfrm>
            <a:off x="8266012" y="5612527"/>
            <a:ext cx="82296" cy="82296"/>
          </a:xfrm>
          <a:prstGeom prst="rect">
            <a:avLst/>
          </a:prstGeom>
        </p:spPr>
      </p:pic>
      <p:sp>
        <p:nvSpPr>
          <p:cNvPr id="9359" name="T"/>
          <p:cNvSpPr txBox="1"/>
          <p:nvPr/>
        </p:nvSpPr>
        <p:spPr>
          <a:xfrm>
            <a:off x="8386408" y="5585095"/>
            <a:ext cx="10869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hujan 3,2 mm, 26–27 Okt</a:t>
            </a:r>
          </a:p>
        </p:txBody>
      </p:sp>
      <p:sp>
        <p:nvSpPr>
          <p:cNvPr id="9360" name="K"/>
          <p:cNvSpPr/>
          <p:nvPr/>
        </p:nvSpPr>
        <p:spPr>
          <a:xfrm>
            <a:off x="9557128" y="5585095"/>
            <a:ext cx="1536896" cy="1371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361" name="G"/>
          <p:cNvPicPr>
            <a:picLocks noChangeAspect="1"/>
          </p:cNvPicPr>
          <p:nvPr/>
        </p:nvPicPr>
        <p:blipFill>
          <a:blip r:embed="rIdL12"/>
          <a:stretch>
            <a:fillRect/>
          </a:stretch>
        </p:blipFill>
        <p:spPr>
          <a:xfrm>
            <a:off x="9620628" y="5612527"/>
            <a:ext cx="82296" cy="82296"/>
          </a:xfrm>
          <a:prstGeom prst="rect">
            <a:avLst/>
          </a:prstGeom>
        </p:spPr>
      </p:pic>
      <p:sp>
        <p:nvSpPr>
          <p:cNvPr id="9362" name="T"/>
          <p:cNvSpPr txBox="1"/>
          <p:nvPr/>
        </p:nvSpPr>
        <p:spPr>
          <a:xfrm>
            <a:off x="9741024" y="5585095"/>
            <a:ext cx="13149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Merauke, Mappi, Boven Digoel</a:t>
            </a:r>
          </a:p>
        </p:txBody>
      </p:sp>
      <p:sp>
        <p:nvSpPr>
          <p:cNvPr id="9363" name="K"/>
          <p:cNvSpPr/>
          <p:nvPr/>
        </p:nvSpPr>
        <p:spPr>
          <a:xfrm>
            <a:off x="6217920" y="5794812"/>
            <a:ext cx="201168" cy="201168"/>
          </a:xfrm>
          <a:prstGeom prst="ellipse">
            <a:avLst/>
          </a:prstGeom>
          <a:solidFill>
            <a:srgbClr val="5B7A99"/>
          </a:solidFill>
          <a:ln>
            <a:noFill/>
          </a:ln>
        </p:spPr>
        <p:txBody>
          <a:bodyPr/>
          <a:p/>
        </p:txBody>
      </p:sp>
      <p:pic>
        <p:nvPicPr>
          <p:cNvPr id="9364" name="G"/>
          <p:cNvPicPr>
            <a:picLocks noChangeAspect="1"/>
          </p:cNvPicPr>
          <p:nvPr/>
        </p:nvPicPr>
        <p:blipFill>
          <a:blip r:embed="rIdL13"/>
          <a:stretch>
            <a:fillRect/>
          </a:stretch>
        </p:blipFill>
        <p:spPr>
          <a:xfrm>
            <a:off x="6259068" y="5835960"/>
            <a:ext cx="118872" cy="118872"/>
          </a:xfrm>
          <a:prstGeom prst="rect">
            <a:avLst/>
          </a:prstGeom>
        </p:spPr>
      </p:pic>
      <p:sp>
        <p:nvSpPr>
          <p:cNvPr id="9365" name="T"/>
          <p:cNvSpPr txBox="1"/>
          <p:nvPr/>
        </p:nvSpPr>
        <p:spPr>
          <a:xfrm>
            <a:off x="6483096" y="5773900"/>
            <a:ext cx="4122799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Jarak pandang dan asap, laphar 28–29 Okt</a:t>
            </a:r>
          </a:p>
        </p:txBody>
      </p:sp>
      <p:sp>
        <p:nvSpPr>
          <p:cNvPr id="9369" name="K"/>
          <p:cNvSpPr/>
          <p:nvPr/>
        </p:nvSpPr>
        <p:spPr>
          <a:xfrm>
            <a:off x="10972199" y="5778472"/>
            <a:ext cx="533696" cy="1371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370" name="G"/>
          <p:cNvPicPr>
            <a:picLocks noChangeAspect="1"/>
          </p:cNvPicPr>
          <p:nvPr/>
        </p:nvPicPr>
        <p:blipFill>
          <a:blip r:embed="rIdL14"/>
          <a:stretch>
            <a:fillRect/>
          </a:stretch>
        </p:blipFill>
        <p:spPr>
          <a:xfrm>
            <a:off x="11035699" y="5805904"/>
            <a:ext cx="82296" cy="82296"/>
          </a:xfrm>
          <a:prstGeom prst="rect">
            <a:avLst/>
          </a:prstGeom>
        </p:spPr>
      </p:pic>
      <p:sp>
        <p:nvSpPr>
          <p:cNvPr id="9371" name="T"/>
          <p:cNvSpPr txBox="1"/>
          <p:nvPr/>
        </p:nvSpPr>
        <p:spPr>
          <a:xfrm>
            <a:off x="11156095" y="5778472"/>
            <a:ext cx="3117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pantau</a:t>
            </a:r>
          </a:p>
        </p:txBody>
      </p:sp>
      <p:sp>
        <p:nvSpPr>
          <p:cNvPr id="9372" name="K"/>
          <p:cNvSpPr/>
          <p:nvPr/>
        </p:nvSpPr>
        <p:spPr>
          <a:xfrm>
            <a:off x="6483096" y="5942842"/>
            <a:ext cx="1673696" cy="13716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9373" name="G"/>
          <p:cNvPicPr>
            <a:picLocks noChangeAspect="1"/>
          </p:cNvPicPr>
          <p:nvPr/>
        </p:nvPicPr>
        <p:blipFill>
          <a:blip r:embed="rIdL15"/>
          <a:stretch>
            <a:fillRect/>
          </a:stretch>
        </p:blipFill>
        <p:spPr>
          <a:xfrm>
            <a:off x="6546596" y="5970274"/>
            <a:ext cx="82296" cy="82296"/>
          </a:xfrm>
          <a:prstGeom prst="rect">
            <a:avLst/>
          </a:prstGeom>
        </p:spPr>
      </p:pic>
      <p:sp>
        <p:nvSpPr>
          <p:cNvPr id="9374" name="T"/>
          <p:cNvSpPr txBox="1"/>
          <p:nvPr/>
        </p:nvSpPr>
        <p:spPr>
          <a:xfrm>
            <a:off x="6666992" y="5942842"/>
            <a:ext cx="14517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28 Okt: 1–5 km, 05.30–14.00 WIT</a:t>
            </a:r>
          </a:p>
        </p:txBody>
      </p:sp>
      <p:sp>
        <p:nvSpPr>
          <p:cNvPr id="9375" name="K"/>
          <p:cNvSpPr/>
          <p:nvPr/>
        </p:nvSpPr>
        <p:spPr>
          <a:xfrm>
            <a:off x="8202512" y="5942842"/>
            <a:ext cx="2175296" cy="1371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376" name="G"/>
          <p:cNvPicPr>
            <a:picLocks noChangeAspect="1"/>
          </p:cNvPicPr>
          <p:nvPr/>
        </p:nvPicPr>
        <p:blipFill>
          <a:blip r:embed="rIdL14"/>
          <a:stretch>
            <a:fillRect/>
          </a:stretch>
        </p:blipFill>
        <p:spPr>
          <a:xfrm>
            <a:off x="8266012" y="5970274"/>
            <a:ext cx="82296" cy="82296"/>
          </a:xfrm>
          <a:prstGeom prst="rect">
            <a:avLst/>
          </a:prstGeom>
        </p:spPr>
      </p:pic>
      <p:sp>
        <p:nvSpPr>
          <p:cNvPr id="9377" name="T"/>
          <p:cNvSpPr txBox="1"/>
          <p:nvPr/>
        </p:nvSpPr>
        <p:spPr>
          <a:xfrm>
            <a:off x="8386408" y="5942842"/>
            <a:ext cx="19533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29 Okt: jarak pandang naik, asap berkurang</a:t>
            </a:r>
          </a:p>
        </p:txBody>
      </p:sp>
      <p:sp>
        <p:nvSpPr>
          <p:cNvPr id="9637" name="T"/>
          <p:cNvSpPr txBox="1"/>
          <p:nvPr/>
        </p:nvSpPr>
        <p:spPr>
          <a:xfrm>
            <a:off x="548640" y="690000"/>
            <a:ext cx="8200000" cy="190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10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Kab/kota urutan pertama di Papua Selatan:</a:t>
            </a:r>
            <a:r>
              <a:rPr lang="id-ID" sz="1000" b="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90% titik, 96% luas terbakar, 97% belum padam Papua Selatan; titik 30 Okt, luas 29 Okt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906272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850" dirty="0"/>
          </a:p>
        </p:txBody>
      </p:sp>
      <p:sp>
        <p:nvSpPr>
          <p:cNvPr id="551" name="T"/>
          <p:cNvSpPr txBox="1"/>
          <p:nvPr/>
        </p:nvSpPr>
        <p:spPr>
          <a:xfrm>
            <a:off x="548640" y="365760"/>
            <a:ext cx="8183880" cy="25476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1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Sebaran Titik Panas dan Kebakaran di </a:t>
            </a:r>
            <a:r>
              <a:rPr lang="id-ID" sz="1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Jagebob–Tanah Miring</a:t>
            </a:r>
            <a:r>
              <a:rPr lang="id-ID" sz="1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per 30 Oktober</a:t>
            </a:r>
            <a:endParaRPr lang="id-ID" sz="1700"/>
          </a:p>
        </p:txBody>
      </p:sp>
      <p:sp>
        <p:nvSpPr>
          <p:cNvPr id="301" name="K"/>
          <p:cNvSpPr/>
          <p:nvPr/>
        </p:nvSpPr>
        <p:spPr>
          <a:xfrm>
            <a:off x="548640" y="1031967"/>
            <a:ext cx="7170725" cy="986222"/>
          </a:xfrm>
          <a:prstGeom prst="roundRect">
            <a:avLst>
              <a:gd name="adj" fmla="val 7843"/>
            </a:avLst>
          </a:prstGeom>
          <a:solidFill>
            <a:srgbClr val="F3F5F8"/>
          </a:solidFill>
          <a:ln>
            <a:noFill/>
          </a:ln>
        </p:spPr>
        <p:txBody>
          <a:bodyPr/>
          <a:p/>
        </p:txBody>
      </p:sp>
      <p:sp>
        <p:nvSpPr>
          <p:cNvPr id="302" name="K"/>
          <p:cNvSpPr/>
          <p:nvPr/>
        </p:nvSpPr>
        <p:spPr>
          <a:xfrm>
            <a:off x="658368" y="1095228"/>
            <a:ext cx="1212000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pic>
        <p:nvPicPr>
          <p:cNvPr id="303" name="G"/>
          <p:cNvPicPr>
            <a:picLocks noChangeAspect="1"/>
          </p:cNvPicPr>
          <p:nvPr/>
        </p:nvPicPr>
        <p:blipFill>
          <a:blip r:embed="rIdM10"/>
          <a:stretch>
            <a:fillRect/>
          </a:stretch>
        </p:blipFill>
        <p:spPr>
          <a:xfrm>
            <a:off x="731520" y="1131804"/>
            <a:ext cx="109728" cy="109728"/>
          </a:xfrm>
          <a:prstGeom prst="rect">
            <a:avLst/>
          </a:prstGeom>
        </p:spPr>
      </p:pic>
      <p:sp>
        <p:nvSpPr>
          <p:cNvPr id="304" name="T"/>
          <p:cNvSpPr txBox="1"/>
          <p:nvPr/>
        </p:nvSpPr>
        <p:spPr>
          <a:xfrm>
            <a:off x="896112" y="1095228"/>
            <a:ext cx="952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60" b="1" spc="1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DATA SATELIT</a:t>
            </a:r>
            <a:endParaRPr lang="id-ID" sz="660"/>
          </a:p>
        </p:txBody>
      </p:sp>
      <p:sp>
        <p:nvSpPr>
          <p:cNvPr id="305" name="K"/>
          <p:cNvSpPr/>
          <p:nvPr/>
        </p:nvSpPr>
        <p:spPr>
          <a:xfrm>
            <a:off x="658368" y="1360708"/>
            <a:ext cx="2256129" cy="5414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06" name="K"/>
          <p:cNvSpPr/>
          <p:nvPr/>
        </p:nvSpPr>
        <p:spPr>
          <a:xfrm>
            <a:off x="768096" y="1486181"/>
            <a:ext cx="329184" cy="329184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/>
          <a:p/>
        </p:txBody>
      </p:sp>
      <p:pic>
        <p:nvPicPr>
          <p:cNvPr id="307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841248" y="1559333"/>
            <a:ext cx="182880" cy="182880"/>
          </a:xfrm>
          <a:prstGeom prst="rect">
            <a:avLst/>
          </a:prstGeom>
        </p:spPr>
      </p:pic>
      <p:sp>
        <p:nvSpPr>
          <p:cNvPr id="308" name="T"/>
          <p:cNvSpPr txBox="1"/>
          <p:nvPr/>
        </p:nvSpPr>
        <p:spPr>
          <a:xfrm>
            <a:off x="1170432" y="1399383"/>
            <a:ext cx="1707489" cy="2900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90</a:t>
            </a:r>
            <a:endParaRPr lang="id-ID" sz="1700"/>
          </a:p>
        </p:txBody>
      </p:sp>
      <p:sp>
        <p:nvSpPr>
          <p:cNvPr id="309" name="T"/>
          <p:cNvSpPr txBox="1"/>
          <p:nvPr/>
        </p:nvSpPr>
        <p:spPr>
          <a:xfrm>
            <a:off x="1170432" y="1684241"/>
            <a:ext cx="1707489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titik panas 30 Okt</a:t>
            </a:r>
            <a:endParaRPr lang="id-ID" sz="750"/>
          </a:p>
        </p:txBody>
      </p:sp>
      <p:sp>
        <p:nvSpPr>
          <p:cNvPr id="315" name="K"/>
          <p:cNvSpPr/>
          <p:nvPr/>
        </p:nvSpPr>
        <p:spPr>
          <a:xfrm>
            <a:off x="3005937" y="1360708"/>
            <a:ext cx="2256129" cy="5414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16" name="K"/>
          <p:cNvSpPr/>
          <p:nvPr/>
        </p:nvSpPr>
        <p:spPr>
          <a:xfrm>
            <a:off x="3115665" y="1486181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317" name="G"/>
          <p:cNvPicPr>
            <a:picLocks noChangeAspect="1"/>
          </p:cNvPicPr>
          <p:nvPr/>
        </p:nvPicPr>
        <p:blipFill>
          <a:blip r:embed="rIdL2"/>
          <a:stretch>
            <a:fillRect/>
          </a:stretch>
        </p:blipFill>
        <p:spPr>
          <a:xfrm>
            <a:off x="3188817" y="1559333"/>
            <a:ext cx="182880" cy="182880"/>
          </a:xfrm>
          <a:prstGeom prst="rect">
            <a:avLst/>
          </a:prstGeom>
        </p:spPr>
      </p:pic>
      <p:sp>
        <p:nvSpPr>
          <p:cNvPr id="318" name="T"/>
          <p:cNvSpPr txBox="1"/>
          <p:nvPr/>
        </p:nvSpPr>
        <p:spPr>
          <a:xfrm>
            <a:off x="3518001" y="1399383"/>
            <a:ext cx="1707489" cy="2900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469 ha</a:t>
            </a:r>
            <a:endParaRPr lang="id-ID" sz="1700"/>
          </a:p>
        </p:txBody>
      </p:sp>
      <p:sp>
        <p:nvSpPr>
          <p:cNvPr id="319" name="T"/>
          <p:cNvSpPr txBox="1"/>
          <p:nvPr/>
        </p:nvSpPr>
        <p:spPr>
          <a:xfrm>
            <a:off x="3518001" y="1684241"/>
            <a:ext cx="1707489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luas terbakar 29 Okt</a:t>
            </a:r>
            <a:endParaRPr lang="id-ID" sz="750"/>
          </a:p>
        </p:txBody>
      </p:sp>
      <p:sp>
        <p:nvSpPr>
          <p:cNvPr id="320" name="K"/>
          <p:cNvSpPr/>
          <p:nvPr/>
        </p:nvSpPr>
        <p:spPr>
          <a:xfrm>
            <a:off x="5353506" y="1360708"/>
            <a:ext cx="2256129" cy="5414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21" name="K"/>
          <p:cNvSpPr/>
          <p:nvPr/>
        </p:nvSpPr>
        <p:spPr>
          <a:xfrm>
            <a:off x="5463234" y="1486181"/>
            <a:ext cx="329184" cy="329184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322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5536386" y="1559333"/>
            <a:ext cx="182880" cy="182880"/>
          </a:xfrm>
          <a:prstGeom prst="rect">
            <a:avLst/>
          </a:prstGeom>
        </p:spPr>
      </p:pic>
      <p:sp>
        <p:nvSpPr>
          <p:cNvPr id="323" name="T"/>
          <p:cNvSpPr txBox="1"/>
          <p:nvPr/>
        </p:nvSpPr>
        <p:spPr>
          <a:xfrm>
            <a:off x="5865570" y="1399383"/>
            <a:ext cx="1707489" cy="29006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7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255 ha</a:t>
            </a:r>
            <a:endParaRPr lang="id-ID" sz="1700"/>
          </a:p>
        </p:txBody>
      </p:sp>
      <p:sp>
        <p:nvSpPr>
          <p:cNvPr id="324" name="T"/>
          <p:cNvSpPr txBox="1"/>
          <p:nvPr/>
        </p:nvSpPr>
        <p:spPr>
          <a:xfrm>
            <a:off x="5865570" y="1684241"/>
            <a:ext cx="1707489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belum padam 29 Okt</a:t>
            </a:r>
            <a:endParaRPr lang="id-ID" sz="750"/>
          </a:p>
        </p:txBody>
      </p:sp>
      <p:sp>
        <p:nvSpPr>
          <p:cNvPr id="325" name="K"/>
          <p:cNvSpPr/>
          <p:nvPr/>
        </p:nvSpPr>
        <p:spPr>
          <a:xfrm>
            <a:off x="7993685" y="1031967"/>
            <a:ext cx="3649370" cy="986222"/>
          </a:xfrm>
          <a:prstGeom prst="roundRect">
            <a:avLst>
              <a:gd name="adj" fmla="val 7843"/>
            </a:avLst>
          </a:prstGeom>
          <a:solidFill>
            <a:srgbClr val="FCF1F2"/>
          </a:solidFill>
          <a:ln>
            <a:noFill/>
          </a:ln>
        </p:spPr>
        <p:txBody>
          <a:bodyPr/>
          <a:p/>
        </p:txBody>
      </p:sp>
      <p:sp>
        <p:nvSpPr>
          <p:cNvPr id="326" name="K"/>
          <p:cNvSpPr/>
          <p:nvPr/>
        </p:nvSpPr>
        <p:spPr>
          <a:xfrm>
            <a:off x="8103413" y="1095228"/>
            <a:ext cx="1440000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/>
          <a:p/>
        </p:txBody>
      </p:sp>
      <p:pic>
        <p:nvPicPr>
          <p:cNvPr id="327" name="G"/>
          <p:cNvPicPr>
            <a:picLocks noChangeAspect="1"/>
          </p:cNvPicPr>
          <p:nvPr/>
        </p:nvPicPr>
        <p:blipFill>
          <a:blip r:embed="rIdM6"/>
          <a:stretch>
            <a:fillRect/>
          </a:stretch>
        </p:blipFill>
        <p:spPr>
          <a:xfrm>
            <a:off x="8176565" y="1131804"/>
            <a:ext cx="109728" cy="109728"/>
          </a:xfrm>
          <a:prstGeom prst="rect">
            <a:avLst/>
          </a:prstGeom>
        </p:spPr>
      </p:pic>
      <p:sp>
        <p:nvSpPr>
          <p:cNvPr id="328" name="T"/>
          <p:cNvSpPr txBox="1"/>
          <p:nvPr/>
        </p:nvSpPr>
        <p:spPr>
          <a:xfrm>
            <a:off x="8341157" y="1095228"/>
            <a:ext cx="1180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60" b="1" spc="1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PERLU PERHATIAN</a:t>
            </a:r>
            <a:endParaRPr lang="id-ID" sz="660"/>
          </a:p>
        </p:txBody>
      </p:sp>
      <p:sp>
        <p:nvSpPr>
          <p:cNvPr id="329" name="K"/>
          <p:cNvSpPr/>
          <p:nvPr/>
        </p:nvSpPr>
        <p:spPr>
          <a:xfrm>
            <a:off x="8103413" y="1360708"/>
            <a:ext cx="3429914" cy="5414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30" name="K"/>
          <p:cNvSpPr/>
          <p:nvPr/>
        </p:nvSpPr>
        <p:spPr>
          <a:xfrm>
            <a:off x="8213141" y="1486181"/>
            <a:ext cx="329184" cy="329184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331" name="G"/>
          <p:cNvPicPr>
            <a:picLocks noChangeAspect="1"/>
          </p:cNvPicPr>
          <p:nvPr/>
        </p:nvPicPr>
        <p:blipFill>
          <a:blip r:embed="rIdM7"/>
          <a:stretch>
            <a:fillRect/>
          </a:stretch>
        </p:blipFill>
        <p:spPr>
          <a:xfrm>
            <a:off x="8286293" y="1559333"/>
            <a:ext cx="182880" cy="182880"/>
          </a:xfrm>
          <a:prstGeom prst="rect">
            <a:avLst/>
          </a:prstGeom>
        </p:spPr>
      </p:pic>
      <p:sp>
        <p:nvSpPr>
          <p:cNvPr id="332" name="T"/>
          <p:cNvSpPr txBox="1"/>
          <p:nvPr/>
        </p:nvSpPr>
        <p:spPr>
          <a:xfrm>
            <a:off x="8615477" y="1386868"/>
            <a:ext cx="2869914" cy="23774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5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Jagebob dan Tanah Miring</a:t>
            </a:r>
            <a:endParaRPr lang="id-ID" sz="1500"/>
          </a:p>
        </p:txBody>
      </p:sp>
      <p:sp>
        <p:nvSpPr>
          <p:cNvPr id="333" name="T"/>
          <p:cNvSpPr txBox="1"/>
          <p:nvPr/>
        </p:nvSpPr>
        <p:spPr>
          <a:xfrm>
            <a:off x="8615477" y="1638258"/>
            <a:ext cx="2869914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68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36 dan 34 titik, belum padam 207 ha, 35 Siaga (30 Okt; belum padam 29 Okt)</a:t>
            </a:r>
            <a:endParaRPr lang="id-ID" sz="680"/>
          </a:p>
        </p:txBody>
      </p:sp>
      <p:sp>
        <p:nvSpPr>
          <p:cNvPr id="334" name="K"/>
          <p:cNvSpPr/>
          <p:nvPr/>
        </p:nvSpPr>
        <p:spPr>
          <a:xfrm>
            <a:off x="548640" y="2095540"/>
            <a:ext cx="3840480" cy="4060915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35" name="K"/>
          <p:cNvSpPr/>
          <p:nvPr/>
        </p:nvSpPr>
        <p:spPr>
          <a:xfrm>
            <a:off x="548640" y="2095540"/>
            <a:ext cx="3840480" cy="483442"/>
          </a:xfrm>
          <a:prstGeom prst="roundRect">
            <a:avLst>
              <a:gd name="adj" fmla="val 16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sp>
        <p:nvSpPr>
          <p:cNvPr id="336" name="K"/>
          <p:cNvSpPr/>
          <p:nvPr/>
        </p:nvSpPr>
        <p:spPr>
          <a:xfrm>
            <a:off x="548640" y="2390854"/>
            <a:ext cx="3840480" cy="18288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sp>
        <p:nvSpPr>
          <p:cNvPr id="337" name="K"/>
          <p:cNvSpPr/>
          <p:nvPr/>
        </p:nvSpPr>
        <p:spPr>
          <a:xfrm>
            <a:off x="676656" y="2190957"/>
            <a:ext cx="292608" cy="29260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pic>
        <p:nvPicPr>
          <p:cNvPr id="338" name="G"/>
          <p:cNvPicPr>
            <a:picLocks noChangeAspect="1"/>
          </p:cNvPicPr>
          <p:nvPr/>
        </p:nvPicPr>
        <p:blipFill>
          <a:blip r:embed="rIdM8"/>
          <a:stretch>
            <a:fillRect/>
          </a:stretch>
        </p:blipFill>
        <p:spPr>
          <a:xfrm>
            <a:off x="731520" y="2245821"/>
            <a:ext cx="182880" cy="182880"/>
          </a:xfrm>
          <a:prstGeom prst="rect">
            <a:avLst/>
          </a:prstGeom>
        </p:spPr>
      </p:pic>
      <p:sp>
        <p:nvSpPr>
          <p:cNvPr id="339" name="T"/>
          <p:cNvSpPr txBox="1"/>
          <p:nvPr/>
        </p:nvSpPr>
        <p:spPr>
          <a:xfrm>
            <a:off x="1051560" y="2172891"/>
            <a:ext cx="2740480" cy="328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Sebaran Titik Panas</a:t>
            </a:r>
            <a:endParaRPr lang="id-ID" sz="1100"/>
          </a:p>
        </p:txBody>
      </p:sp>
      <p:pic>
        <p:nvPicPr>
          <p:cNvPr id="340" name="G"/>
          <p:cNvPicPr>
            <a:picLocks noChangeAspect="1"/>
          </p:cNvPicPr>
          <p:nvPr/>
        </p:nvPicPr>
        <p:blipFill>
          <a:blip r:embed="rIdM9"/>
          <a:stretch>
            <a:fillRect/>
          </a:stretch>
        </p:blipFill>
        <p:spPr>
          <a:xfrm>
            <a:off x="731520" y="2713509"/>
            <a:ext cx="3474720" cy="3003000"/>
          </a:xfrm>
          <a:prstGeom prst="rect">
            <a:avLst/>
          </a:prstGeom>
        </p:spPr>
      </p:pic>
      <p:sp>
        <p:nvSpPr>
          <p:cNvPr id="341" name="K"/>
          <p:cNvSpPr/>
          <p:nvPr/>
        </p:nvSpPr>
        <p:spPr>
          <a:xfrm>
            <a:off x="731520" y="5908476"/>
            <a:ext cx="118872" cy="118872"/>
          </a:xfrm>
          <a:prstGeom prst="ellipse">
            <a:avLst/>
          </a:prstGeom>
          <a:solidFill>
            <a:srgbClr val="B4BDC8"/>
          </a:solidFill>
          <a:ln>
            <a:noFill/>
          </a:ln>
        </p:spPr>
        <p:txBody>
          <a:bodyPr/>
          <a:p/>
        </p:txBody>
      </p:sp>
      <p:sp>
        <p:nvSpPr>
          <p:cNvPr id="342" name="T"/>
          <p:cNvSpPr txBox="1"/>
          <p:nvPr/>
        </p:nvSpPr>
        <p:spPr>
          <a:xfrm>
            <a:off x="896112" y="5881044"/>
            <a:ext cx="90000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0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25–26 Okt</a:t>
            </a:r>
            <a:endParaRPr lang="id-ID" sz="700"/>
          </a:p>
        </p:txBody>
      </p:sp>
      <p:sp>
        <p:nvSpPr>
          <p:cNvPr id="343" name="K"/>
          <p:cNvSpPr/>
          <p:nvPr/>
        </p:nvSpPr>
        <p:spPr>
          <a:xfrm>
            <a:off x="1792224" y="5908476"/>
            <a:ext cx="118872" cy="118872"/>
          </a:xfrm>
          <a:prstGeom prst="ellipse">
            <a:avLst/>
          </a:prstGeom>
          <a:solidFill>
            <a:srgbClr val="F2A35E"/>
          </a:solidFill>
          <a:ln>
            <a:noFill/>
          </a:ln>
        </p:spPr>
        <p:txBody>
          <a:bodyPr/>
          <a:p/>
        </p:txBody>
      </p:sp>
      <p:sp>
        <p:nvSpPr>
          <p:cNvPr id="344" name="T"/>
          <p:cNvSpPr txBox="1"/>
          <p:nvPr/>
        </p:nvSpPr>
        <p:spPr>
          <a:xfrm>
            <a:off x="1956816" y="5881044"/>
            <a:ext cx="90000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0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27–28 Okt</a:t>
            </a:r>
            <a:endParaRPr lang="id-ID" sz="700"/>
          </a:p>
        </p:txBody>
      </p:sp>
      <p:sp>
        <p:nvSpPr>
          <p:cNvPr id="345" name="K"/>
          <p:cNvSpPr/>
          <p:nvPr/>
        </p:nvSpPr>
        <p:spPr>
          <a:xfrm>
            <a:off x="2852928" y="5908476"/>
            <a:ext cx="118872" cy="118872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/>
          <a:p/>
        </p:txBody>
      </p:sp>
      <p:sp>
        <p:nvSpPr>
          <p:cNvPr id="346" name="T"/>
          <p:cNvSpPr txBox="1"/>
          <p:nvPr/>
        </p:nvSpPr>
        <p:spPr>
          <a:xfrm>
            <a:off x="3017520" y="5881044"/>
            <a:ext cx="90000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29–30 Okt, terbaru</a:t>
            </a:r>
            <a:endParaRPr lang="id-ID" sz="700"/>
          </a:p>
        </p:txBody>
      </p:sp>
      <p:sp>
        <p:nvSpPr>
          <p:cNvPr id="347" name="K"/>
          <p:cNvSpPr/>
          <p:nvPr/>
        </p:nvSpPr>
        <p:spPr>
          <a:xfrm>
            <a:off x="4526280" y="2095540"/>
            <a:ext cx="4069080" cy="4060915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48" name="K"/>
          <p:cNvSpPr/>
          <p:nvPr/>
        </p:nvSpPr>
        <p:spPr>
          <a:xfrm>
            <a:off x="4526280" y="2095540"/>
            <a:ext cx="4069080" cy="483442"/>
          </a:xfrm>
          <a:prstGeom prst="roundRect">
            <a:avLst>
              <a:gd name="adj" fmla="val 16000"/>
            </a:avLst>
          </a:prstGeom>
          <a:solidFill>
            <a:srgbClr val="FBE7D6"/>
          </a:solidFill>
          <a:ln>
            <a:noFill/>
          </a:ln>
        </p:spPr>
        <p:txBody>
          <a:bodyPr/>
          <a:p/>
        </p:txBody>
      </p:sp>
      <p:sp>
        <p:nvSpPr>
          <p:cNvPr id="349" name="K"/>
          <p:cNvSpPr/>
          <p:nvPr/>
        </p:nvSpPr>
        <p:spPr>
          <a:xfrm>
            <a:off x="4526280" y="2390854"/>
            <a:ext cx="4069080" cy="182880"/>
          </a:xfrm>
          <a:prstGeom prst="rect">
            <a:avLst/>
          </a:prstGeom>
          <a:solidFill>
            <a:srgbClr val="FBE7D6"/>
          </a:solidFill>
          <a:ln>
            <a:noFill/>
          </a:ln>
        </p:spPr>
        <p:txBody>
          <a:bodyPr/>
          <a:p/>
        </p:txBody>
      </p:sp>
      <p:sp>
        <p:nvSpPr>
          <p:cNvPr id="350" name="K"/>
          <p:cNvSpPr/>
          <p:nvPr/>
        </p:nvSpPr>
        <p:spPr>
          <a:xfrm>
            <a:off x="4654296" y="2190957"/>
            <a:ext cx="292608" cy="29260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/>
          <a:p/>
        </p:txBody>
      </p:sp>
      <p:pic>
        <p:nvPicPr>
          <p:cNvPr id="351" name="G"/>
          <p:cNvPicPr>
            <a:picLocks noChangeAspect="1"/>
          </p:cNvPicPr>
          <p:nvPr/>
        </p:nvPicPr>
        <p:blipFill>
          <a:blip r:embed="rIdM10"/>
          <a:stretch>
            <a:fillRect/>
          </a:stretch>
        </p:blipFill>
        <p:spPr>
          <a:xfrm>
            <a:off x="4709160" y="2245821"/>
            <a:ext cx="182880" cy="182880"/>
          </a:xfrm>
          <a:prstGeom prst="rect">
            <a:avLst/>
          </a:prstGeom>
        </p:spPr>
      </p:pic>
      <p:sp>
        <p:nvSpPr>
          <p:cNvPr id="352" name="T"/>
          <p:cNvSpPr txBox="1"/>
          <p:nvPr/>
        </p:nvSpPr>
        <p:spPr>
          <a:xfrm>
            <a:off x="5029200" y="2172891"/>
            <a:ext cx="2969080" cy="328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Titik panas harian per kecamatan</a:t>
            </a:r>
            <a:endParaRPr lang="id-ID" sz="1100"/>
          </a:p>
        </p:txBody>
      </p:sp>
      <p:sp>
        <p:nvSpPr>
          <p:cNvPr id="461" name="T"/>
          <p:cNvSpPr txBox="1"/>
          <p:nvPr/>
        </p:nvSpPr>
        <p:spPr>
          <a:xfrm>
            <a:off x="4654296" y="5465546"/>
            <a:ext cx="3000000" cy="1828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650" b="1" spc="8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ALUR API, URUTAN WAKTU</a:t>
            </a:r>
            <a:endParaRPr lang="id-ID" sz="650"/>
          </a:p>
        </p:txBody>
      </p:sp>
      <p:sp>
        <p:nvSpPr>
          <p:cNvPr id="476" name="K"/>
          <p:cNvSpPr/>
          <p:nvPr/>
        </p:nvSpPr>
        <p:spPr>
          <a:xfrm>
            <a:off x="8732520" y="2095540"/>
            <a:ext cx="2910535" cy="4060915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477" name="K"/>
          <p:cNvSpPr/>
          <p:nvPr/>
        </p:nvSpPr>
        <p:spPr>
          <a:xfrm>
            <a:off x="8732520" y="2095540"/>
            <a:ext cx="2910535" cy="483442"/>
          </a:xfrm>
          <a:prstGeom prst="roundRect">
            <a:avLst>
              <a:gd name="adj" fmla="val 16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sp>
        <p:nvSpPr>
          <p:cNvPr id="478" name="K"/>
          <p:cNvSpPr/>
          <p:nvPr/>
        </p:nvSpPr>
        <p:spPr>
          <a:xfrm>
            <a:off x="8732520" y="2390854"/>
            <a:ext cx="2910535" cy="18288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sp>
        <p:nvSpPr>
          <p:cNvPr id="479" name="K"/>
          <p:cNvSpPr/>
          <p:nvPr/>
        </p:nvSpPr>
        <p:spPr>
          <a:xfrm>
            <a:off x="8860536" y="2190957"/>
            <a:ext cx="292608" cy="29260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pic>
        <p:nvPicPr>
          <p:cNvPr id="480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8915400" y="2245821"/>
            <a:ext cx="182880" cy="182880"/>
          </a:xfrm>
          <a:prstGeom prst="rect">
            <a:avLst/>
          </a:prstGeom>
        </p:spPr>
      </p:pic>
      <p:sp>
        <p:nvSpPr>
          <p:cNvPr id="481" name="T"/>
          <p:cNvSpPr txBox="1"/>
          <p:nvPr/>
        </p:nvSpPr>
        <p:spPr>
          <a:xfrm>
            <a:off x="9235440" y="2172891"/>
            <a:ext cx="1810535" cy="32874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Kronologi dan unsur</a:t>
            </a:r>
            <a:endParaRPr lang="id-ID" sz="1100"/>
          </a:p>
        </p:txBody>
      </p:sp>
      <p:sp>
        <p:nvSpPr>
          <p:cNvPr id="545" name="K"/>
          <p:cNvSpPr/>
          <p:nvPr/>
        </p:nvSpPr>
        <p:spPr>
          <a:xfrm>
            <a:off x="8833104" y="387985"/>
            <a:ext cx="2362200" cy="21031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pic>
        <p:nvPicPr>
          <p:cNvPr id="546" name="G"/>
          <p:cNvPicPr>
            <a:picLocks noChangeAspect="1"/>
          </p:cNvPicPr>
          <p:nvPr/>
        </p:nvPicPr>
        <p:blipFill>
          <a:blip r:embed="rIdM20"/>
          <a:stretch>
            <a:fillRect/>
          </a:stretch>
        </p:blipFill>
        <p:spPr>
          <a:xfrm>
            <a:off x="8915400" y="424561"/>
            <a:ext cx="137160" cy="137160"/>
          </a:xfrm>
          <a:prstGeom prst="rect">
            <a:avLst/>
          </a:prstGeom>
        </p:spPr>
      </p:pic>
      <p:sp>
        <p:nvSpPr>
          <p:cNvPr id="547" name="T"/>
          <p:cNvSpPr txBox="1"/>
          <p:nvPr/>
        </p:nvSpPr>
        <p:spPr>
          <a:xfrm>
            <a:off x="9098280" y="387985"/>
            <a:ext cx="900000" cy="21031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endParaRPr lang="id-ID" sz="600"/>
          </a:p>
        </p:txBody>
      </p:sp>
      <p:sp>
        <p:nvSpPr>
          <p:cNvPr id="548" name="T"/>
          <p:cNvSpPr txBox="1"/>
          <p:nvPr/>
        </p:nvSpPr>
        <p:spPr>
          <a:xfrm>
            <a:off x="9838944" y="387985"/>
            <a:ext cx="1274064" cy="21031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8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30 Okt 2026, 24.00 WIB</a:t>
            </a:r>
            <a:endParaRPr lang="id-ID" sz="800"/>
          </a:p>
        </p:txBody>
      </p:sp>
      <p:sp>
        <p:nvSpPr>
          <p:cNvPr id="549" name="K"/>
          <p:cNvSpPr/>
          <p:nvPr/>
        </p:nvSpPr>
        <p:spPr>
          <a:xfrm>
            <a:off x="548640" y="6219191"/>
            <a:ext cx="36576" cy="164592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/>
          <a:p/>
        </p:txBody>
      </p:sp>
      <p:sp>
        <p:nvSpPr>
          <p:cNvPr id="550" name="T"/>
          <p:cNvSpPr txBox="1"/>
          <p:nvPr/>
        </p:nvSpPr>
        <p:spPr>
          <a:xfrm>
            <a:off x="640080" y="6210047"/>
            <a:ext cx="100000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2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*Data berdasarkan Geographic Information System (GIS) dengan satelit NASA (FIRMS: VIIRS dan MODIS). 24 Okt ditandai celah lintasan satelit di FIRMS: titik hari itu bisa terlalu rendah.</a:t>
            </a:r>
            <a:endParaRPr lang="id-ID" sz="720"/>
          </a:p>
        </p:txBody>
      </p:sp>
      <p:sp>
        <p:nvSpPr>
          <p:cNvPr id="9378" name="T"/>
          <p:cNvSpPr txBox="1"/>
          <p:nvPr/>
        </p:nvSpPr>
        <p:spPr>
          <a:xfrm>
            <a:off x="4654296" y="2633887"/>
            <a:ext cx="1800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Jagebob</a:t>
            </a:r>
          </a:p>
        </p:txBody>
      </p:sp>
      <p:sp>
        <p:nvSpPr>
          <p:cNvPr id="9379" name="T"/>
          <p:cNvSpPr txBox="1"/>
          <p:nvPr/>
        </p:nvSpPr>
        <p:spPr>
          <a:xfrm>
            <a:off x="4654296" y="2844240"/>
            <a:ext cx="1800000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Kab. Merauke</a:t>
            </a:r>
          </a:p>
        </p:txBody>
      </p:sp>
      <p:cxnSp>
        <p:nvCxnSpPr>
          <p:cNvPr id="9380" name="L"/>
          <p:cNvCxnSpPr/>
          <p:nvPr/>
        </p:nvCxnSpPr>
        <p:spPr>
          <a:xfrm>
            <a:off x="4654296" y="3768250"/>
            <a:ext cx="185000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9381" name="K"/>
          <p:cNvSpPr/>
          <p:nvPr/>
        </p:nvSpPr>
        <p:spPr>
          <a:xfrm>
            <a:off x="4712879" y="3176107"/>
            <a:ext cx="191166" cy="592143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CE1E7"/>
          </a:solidFill>
          <a:ln>
            <a:noFill/>
          </a:ln>
        </p:spPr>
        <p:txBody>
          <a:bodyPr/>
          <a:p/>
        </p:txBody>
      </p:sp>
      <p:sp>
        <p:nvSpPr>
          <p:cNvPr id="9382" name="T"/>
          <p:cNvSpPr txBox="1"/>
          <p:nvPr/>
        </p:nvSpPr>
        <p:spPr>
          <a:xfrm>
            <a:off x="4654296" y="3028970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182</a:t>
            </a:r>
          </a:p>
        </p:txBody>
      </p:sp>
      <p:sp>
        <p:nvSpPr>
          <p:cNvPr id="9383" name="T"/>
          <p:cNvSpPr txBox="1"/>
          <p:nvPr/>
        </p:nvSpPr>
        <p:spPr>
          <a:xfrm>
            <a:off x="4654296" y="3799667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25</a:t>
            </a:r>
          </a:p>
        </p:txBody>
      </p:sp>
      <p:sp>
        <p:nvSpPr>
          <p:cNvPr id="9384" name="K"/>
          <p:cNvSpPr/>
          <p:nvPr/>
        </p:nvSpPr>
        <p:spPr>
          <a:xfrm>
            <a:off x="5021212" y="3283473"/>
            <a:ext cx="191166" cy="484776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7D3EE"/>
          </a:solidFill>
          <a:ln>
            <a:noFill/>
          </a:ln>
        </p:spPr>
        <p:txBody>
          <a:bodyPr/>
          <a:p/>
        </p:txBody>
      </p:sp>
      <p:sp>
        <p:nvSpPr>
          <p:cNvPr id="9385" name="T"/>
          <p:cNvSpPr txBox="1"/>
          <p:nvPr/>
        </p:nvSpPr>
        <p:spPr>
          <a:xfrm>
            <a:off x="4962629" y="3136336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149</a:t>
            </a:r>
          </a:p>
        </p:txBody>
      </p:sp>
      <p:sp>
        <p:nvSpPr>
          <p:cNvPr id="9386" name="T"/>
          <p:cNvSpPr txBox="1"/>
          <p:nvPr/>
        </p:nvSpPr>
        <p:spPr>
          <a:xfrm>
            <a:off x="4962629" y="3799667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26</a:t>
            </a:r>
          </a:p>
        </p:txBody>
      </p:sp>
      <p:sp>
        <p:nvSpPr>
          <p:cNvPr id="9387" name="K"/>
          <p:cNvSpPr/>
          <p:nvPr/>
        </p:nvSpPr>
        <p:spPr>
          <a:xfrm>
            <a:off x="5329546" y="3455911"/>
            <a:ext cx="191166" cy="312338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7D3EE"/>
          </a:solidFill>
          <a:ln>
            <a:noFill/>
          </a:ln>
        </p:spPr>
        <p:txBody>
          <a:bodyPr/>
          <a:p/>
        </p:txBody>
      </p:sp>
      <p:sp>
        <p:nvSpPr>
          <p:cNvPr id="9388" name="T"/>
          <p:cNvSpPr txBox="1"/>
          <p:nvPr/>
        </p:nvSpPr>
        <p:spPr>
          <a:xfrm>
            <a:off x="5270962" y="3308774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96</a:t>
            </a:r>
          </a:p>
        </p:txBody>
      </p:sp>
      <p:sp>
        <p:nvSpPr>
          <p:cNvPr id="9389" name="T"/>
          <p:cNvSpPr txBox="1"/>
          <p:nvPr/>
        </p:nvSpPr>
        <p:spPr>
          <a:xfrm>
            <a:off x="5270962" y="3799667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27</a:t>
            </a:r>
          </a:p>
        </p:txBody>
      </p:sp>
      <p:sp>
        <p:nvSpPr>
          <p:cNvPr id="9390" name="K"/>
          <p:cNvSpPr/>
          <p:nvPr/>
        </p:nvSpPr>
        <p:spPr>
          <a:xfrm>
            <a:off x="5637879" y="3289981"/>
            <a:ext cx="191166" cy="478268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F4C3A0"/>
          </a:solidFill>
          <a:ln>
            <a:noFill/>
          </a:ln>
        </p:spPr>
        <p:txBody>
          <a:bodyPr/>
          <a:p/>
        </p:txBody>
      </p:sp>
      <p:sp>
        <p:nvSpPr>
          <p:cNvPr id="9391" name="T"/>
          <p:cNvSpPr txBox="1"/>
          <p:nvPr/>
        </p:nvSpPr>
        <p:spPr>
          <a:xfrm>
            <a:off x="5579295" y="3142843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147</a:t>
            </a:r>
          </a:p>
        </p:txBody>
      </p:sp>
      <p:sp>
        <p:nvSpPr>
          <p:cNvPr id="9392" name="T"/>
          <p:cNvSpPr txBox="1"/>
          <p:nvPr/>
        </p:nvSpPr>
        <p:spPr>
          <a:xfrm>
            <a:off x="5579295" y="3799667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28</a:t>
            </a:r>
          </a:p>
        </p:txBody>
      </p:sp>
      <p:sp>
        <p:nvSpPr>
          <p:cNvPr id="9393" name="K"/>
          <p:cNvSpPr/>
          <p:nvPr/>
        </p:nvSpPr>
        <p:spPr>
          <a:xfrm>
            <a:off x="5946212" y="3306248"/>
            <a:ext cx="191166" cy="462001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7D3EE"/>
          </a:solidFill>
          <a:ln>
            <a:noFill/>
          </a:ln>
        </p:spPr>
        <p:txBody>
          <a:bodyPr/>
          <a:p/>
        </p:txBody>
      </p:sp>
      <p:sp>
        <p:nvSpPr>
          <p:cNvPr id="9394" name="T"/>
          <p:cNvSpPr txBox="1"/>
          <p:nvPr/>
        </p:nvSpPr>
        <p:spPr>
          <a:xfrm>
            <a:off x="5887629" y="3159110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142</a:t>
            </a:r>
          </a:p>
        </p:txBody>
      </p:sp>
      <p:sp>
        <p:nvSpPr>
          <p:cNvPr id="9395" name="T"/>
          <p:cNvSpPr txBox="1"/>
          <p:nvPr/>
        </p:nvSpPr>
        <p:spPr>
          <a:xfrm>
            <a:off x="5887629" y="3799667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29</a:t>
            </a:r>
          </a:p>
        </p:txBody>
      </p:sp>
      <p:sp>
        <p:nvSpPr>
          <p:cNvPr id="9396" name="K"/>
          <p:cNvSpPr/>
          <p:nvPr/>
        </p:nvSpPr>
        <p:spPr>
          <a:xfrm>
            <a:off x="6254546" y="3654301"/>
            <a:ext cx="191166" cy="110769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/>
          <a:p/>
        </p:txBody>
      </p:sp>
      <p:sp>
        <p:nvSpPr>
          <p:cNvPr id="9397" name="T"/>
          <p:cNvSpPr txBox="1"/>
          <p:nvPr/>
        </p:nvSpPr>
        <p:spPr>
          <a:xfrm>
            <a:off x="6195962" y="3503985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36</a:t>
            </a:r>
          </a:p>
        </p:txBody>
      </p:sp>
      <p:sp>
        <p:nvSpPr>
          <p:cNvPr id="9398" name="T"/>
          <p:cNvSpPr txBox="1"/>
          <p:nvPr/>
        </p:nvSpPr>
        <p:spPr>
          <a:xfrm>
            <a:off x="6195962" y="3799667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30</a:t>
            </a:r>
          </a:p>
        </p:txBody>
      </p:sp>
      <p:sp>
        <p:nvSpPr>
          <p:cNvPr id="9399" name="T"/>
          <p:cNvSpPr txBox="1"/>
          <p:nvPr/>
        </p:nvSpPr>
        <p:spPr>
          <a:xfrm>
            <a:off x="6583680" y="2633887"/>
            <a:ext cx="1800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Tanah Miring</a:t>
            </a:r>
          </a:p>
        </p:txBody>
      </p:sp>
      <p:sp>
        <p:nvSpPr>
          <p:cNvPr id="9400" name="T"/>
          <p:cNvSpPr txBox="1"/>
          <p:nvPr/>
        </p:nvSpPr>
        <p:spPr>
          <a:xfrm>
            <a:off x="6583680" y="2844240"/>
            <a:ext cx="1800000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Kab. Merauke</a:t>
            </a:r>
          </a:p>
        </p:txBody>
      </p:sp>
      <p:cxnSp>
        <p:nvCxnSpPr>
          <p:cNvPr id="9401" name="L"/>
          <p:cNvCxnSpPr/>
          <p:nvPr/>
        </p:nvCxnSpPr>
        <p:spPr>
          <a:xfrm>
            <a:off x="6583680" y="3768250"/>
            <a:ext cx="185000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9402" name="K"/>
          <p:cNvSpPr/>
          <p:nvPr/>
        </p:nvSpPr>
        <p:spPr>
          <a:xfrm>
            <a:off x="6642263" y="3625926"/>
            <a:ext cx="191166" cy="138352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CE1E7"/>
          </a:solidFill>
          <a:ln>
            <a:noFill/>
          </a:ln>
        </p:spPr>
        <p:txBody>
          <a:bodyPr/>
          <a:p/>
        </p:txBody>
      </p:sp>
      <p:sp>
        <p:nvSpPr>
          <p:cNvPr id="9403" name="T"/>
          <p:cNvSpPr txBox="1"/>
          <p:nvPr/>
        </p:nvSpPr>
        <p:spPr>
          <a:xfrm>
            <a:off x="6583680" y="3474819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42</a:t>
            </a:r>
          </a:p>
        </p:txBody>
      </p:sp>
      <p:sp>
        <p:nvSpPr>
          <p:cNvPr id="9404" name="T"/>
          <p:cNvSpPr txBox="1"/>
          <p:nvPr/>
        </p:nvSpPr>
        <p:spPr>
          <a:xfrm>
            <a:off x="6583680" y="3799667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25</a:t>
            </a:r>
          </a:p>
        </p:txBody>
      </p:sp>
      <p:sp>
        <p:nvSpPr>
          <p:cNvPr id="9405" name="K"/>
          <p:cNvSpPr/>
          <p:nvPr/>
        </p:nvSpPr>
        <p:spPr>
          <a:xfrm>
            <a:off x="6950596" y="3575096"/>
            <a:ext cx="191166" cy="18776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F4C3A0"/>
          </a:solidFill>
          <a:ln>
            <a:noFill/>
          </a:ln>
        </p:spPr>
        <p:txBody>
          <a:bodyPr/>
          <a:p/>
        </p:txBody>
      </p:sp>
      <p:sp>
        <p:nvSpPr>
          <p:cNvPr id="9406" name="T"/>
          <p:cNvSpPr txBox="1"/>
          <p:nvPr/>
        </p:nvSpPr>
        <p:spPr>
          <a:xfrm>
            <a:off x="6892013" y="3422571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57</a:t>
            </a:r>
          </a:p>
        </p:txBody>
      </p:sp>
      <p:sp>
        <p:nvSpPr>
          <p:cNvPr id="9407" name="T"/>
          <p:cNvSpPr txBox="1"/>
          <p:nvPr/>
        </p:nvSpPr>
        <p:spPr>
          <a:xfrm>
            <a:off x="6892013" y="3799667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26</a:t>
            </a:r>
          </a:p>
        </p:txBody>
      </p:sp>
      <p:sp>
        <p:nvSpPr>
          <p:cNvPr id="9408" name="K"/>
          <p:cNvSpPr/>
          <p:nvPr/>
        </p:nvSpPr>
        <p:spPr>
          <a:xfrm>
            <a:off x="7258930" y="3656424"/>
            <a:ext cx="191166" cy="108705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7D3EE"/>
          </a:solidFill>
          <a:ln>
            <a:noFill/>
          </a:ln>
        </p:spPr>
        <p:txBody>
          <a:bodyPr/>
          <a:p/>
        </p:txBody>
      </p:sp>
      <p:sp>
        <p:nvSpPr>
          <p:cNvPr id="9409" name="T"/>
          <p:cNvSpPr txBox="1"/>
          <p:nvPr/>
        </p:nvSpPr>
        <p:spPr>
          <a:xfrm>
            <a:off x="7200346" y="3506167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33</a:t>
            </a:r>
          </a:p>
        </p:txBody>
      </p:sp>
      <p:sp>
        <p:nvSpPr>
          <p:cNvPr id="9410" name="T"/>
          <p:cNvSpPr txBox="1"/>
          <p:nvPr/>
        </p:nvSpPr>
        <p:spPr>
          <a:xfrm>
            <a:off x="7200346" y="3799667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27</a:t>
            </a:r>
          </a:p>
        </p:txBody>
      </p:sp>
      <p:sp>
        <p:nvSpPr>
          <p:cNvPr id="9411" name="K"/>
          <p:cNvSpPr/>
          <p:nvPr/>
        </p:nvSpPr>
        <p:spPr>
          <a:xfrm>
            <a:off x="7567263" y="3176107"/>
            <a:ext cx="191166" cy="592143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F4C3A0"/>
          </a:solidFill>
          <a:ln>
            <a:noFill/>
          </a:ln>
        </p:spPr>
        <p:txBody>
          <a:bodyPr/>
          <a:p/>
        </p:txBody>
      </p:sp>
      <p:sp>
        <p:nvSpPr>
          <p:cNvPr id="9412" name="T"/>
          <p:cNvSpPr txBox="1"/>
          <p:nvPr/>
        </p:nvSpPr>
        <p:spPr>
          <a:xfrm>
            <a:off x="7508679" y="3028970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170</a:t>
            </a:r>
          </a:p>
        </p:txBody>
      </p:sp>
      <p:sp>
        <p:nvSpPr>
          <p:cNvPr id="9413" name="T"/>
          <p:cNvSpPr txBox="1"/>
          <p:nvPr/>
        </p:nvSpPr>
        <p:spPr>
          <a:xfrm>
            <a:off x="7508679" y="3799667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28</a:t>
            </a:r>
          </a:p>
        </p:txBody>
      </p:sp>
      <p:sp>
        <p:nvSpPr>
          <p:cNvPr id="9414" name="K"/>
          <p:cNvSpPr/>
          <p:nvPr/>
        </p:nvSpPr>
        <p:spPr>
          <a:xfrm>
            <a:off x="7875596" y="3544599"/>
            <a:ext cx="191166" cy="217411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7D3EE"/>
          </a:solidFill>
          <a:ln>
            <a:noFill/>
          </a:ln>
        </p:spPr>
        <p:txBody>
          <a:bodyPr/>
          <a:p/>
        </p:txBody>
      </p:sp>
      <p:sp>
        <p:nvSpPr>
          <p:cNvPr id="9415" name="T"/>
          <p:cNvSpPr txBox="1"/>
          <p:nvPr/>
        </p:nvSpPr>
        <p:spPr>
          <a:xfrm>
            <a:off x="7817013" y="3391222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66</a:t>
            </a:r>
          </a:p>
        </p:txBody>
      </p:sp>
      <p:sp>
        <p:nvSpPr>
          <p:cNvPr id="9416" name="T"/>
          <p:cNvSpPr txBox="1"/>
          <p:nvPr/>
        </p:nvSpPr>
        <p:spPr>
          <a:xfrm>
            <a:off x="7817013" y="3799667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29</a:t>
            </a:r>
          </a:p>
        </p:txBody>
      </p:sp>
      <p:sp>
        <p:nvSpPr>
          <p:cNvPr id="9417" name="K"/>
          <p:cNvSpPr/>
          <p:nvPr/>
        </p:nvSpPr>
        <p:spPr>
          <a:xfrm>
            <a:off x="8183930" y="3653036"/>
            <a:ext cx="191166" cy="11200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/>
          <a:p/>
        </p:txBody>
      </p:sp>
      <p:sp>
        <p:nvSpPr>
          <p:cNvPr id="9418" name="T"/>
          <p:cNvSpPr txBox="1"/>
          <p:nvPr/>
        </p:nvSpPr>
        <p:spPr>
          <a:xfrm>
            <a:off x="8125346" y="3502684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34</a:t>
            </a:r>
          </a:p>
        </p:txBody>
      </p:sp>
      <p:sp>
        <p:nvSpPr>
          <p:cNvPr id="9419" name="T"/>
          <p:cNvSpPr txBox="1"/>
          <p:nvPr/>
        </p:nvSpPr>
        <p:spPr>
          <a:xfrm>
            <a:off x="8125346" y="3799667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30</a:t>
            </a:r>
          </a:p>
        </p:txBody>
      </p:sp>
      <p:sp>
        <p:nvSpPr>
          <p:cNvPr id="9420" name="T"/>
          <p:cNvSpPr txBox="1"/>
          <p:nvPr/>
        </p:nvSpPr>
        <p:spPr>
          <a:xfrm>
            <a:off x="4654296" y="4035869"/>
            <a:ext cx="1800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Animha</a:t>
            </a:r>
          </a:p>
        </p:txBody>
      </p:sp>
      <p:sp>
        <p:nvSpPr>
          <p:cNvPr id="9421" name="T"/>
          <p:cNvSpPr txBox="1"/>
          <p:nvPr/>
        </p:nvSpPr>
        <p:spPr>
          <a:xfrm>
            <a:off x="4654296" y="4246222"/>
            <a:ext cx="1800000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Kab. Merauke</a:t>
            </a:r>
          </a:p>
        </p:txBody>
      </p:sp>
      <p:cxnSp>
        <p:nvCxnSpPr>
          <p:cNvPr id="9422" name="L"/>
          <p:cNvCxnSpPr/>
          <p:nvPr/>
        </p:nvCxnSpPr>
        <p:spPr>
          <a:xfrm>
            <a:off x="4654296" y="5170233"/>
            <a:ext cx="185000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9423" name="K"/>
          <p:cNvSpPr/>
          <p:nvPr/>
        </p:nvSpPr>
        <p:spPr>
          <a:xfrm>
            <a:off x="4712879" y="4578090"/>
            <a:ext cx="191166" cy="592143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CE1E7"/>
          </a:solidFill>
          <a:ln>
            <a:noFill/>
          </a:ln>
        </p:spPr>
        <p:txBody>
          <a:bodyPr/>
          <a:p/>
        </p:txBody>
      </p:sp>
      <p:sp>
        <p:nvSpPr>
          <p:cNvPr id="9424" name="T"/>
          <p:cNvSpPr txBox="1"/>
          <p:nvPr/>
        </p:nvSpPr>
        <p:spPr>
          <a:xfrm>
            <a:off x="4654296" y="4430953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160</a:t>
            </a:r>
          </a:p>
        </p:txBody>
      </p:sp>
      <p:sp>
        <p:nvSpPr>
          <p:cNvPr id="9425" name="T"/>
          <p:cNvSpPr txBox="1"/>
          <p:nvPr/>
        </p:nvSpPr>
        <p:spPr>
          <a:xfrm>
            <a:off x="4654296" y="5201650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25</a:t>
            </a:r>
          </a:p>
        </p:txBody>
      </p:sp>
      <p:sp>
        <p:nvSpPr>
          <p:cNvPr id="9426" name="K"/>
          <p:cNvSpPr/>
          <p:nvPr/>
        </p:nvSpPr>
        <p:spPr>
          <a:xfrm>
            <a:off x="5021212" y="4943404"/>
            <a:ext cx="191166" cy="22050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7D3EE"/>
          </a:solidFill>
          <a:ln>
            <a:noFill/>
          </a:ln>
        </p:spPr>
        <p:txBody>
          <a:bodyPr/>
          <a:p/>
        </p:txBody>
      </p:sp>
      <p:sp>
        <p:nvSpPr>
          <p:cNvPr id="9427" name="T"/>
          <p:cNvSpPr txBox="1"/>
          <p:nvPr/>
        </p:nvSpPr>
        <p:spPr>
          <a:xfrm>
            <a:off x="4962629" y="4789939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63</a:t>
            </a:r>
          </a:p>
        </p:txBody>
      </p:sp>
      <p:sp>
        <p:nvSpPr>
          <p:cNvPr id="9428" name="T"/>
          <p:cNvSpPr txBox="1"/>
          <p:nvPr/>
        </p:nvSpPr>
        <p:spPr>
          <a:xfrm>
            <a:off x="4962629" y="5201650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26</a:t>
            </a:r>
          </a:p>
        </p:txBody>
      </p:sp>
      <p:sp>
        <p:nvSpPr>
          <p:cNvPr id="9429" name="K"/>
          <p:cNvSpPr/>
          <p:nvPr/>
        </p:nvSpPr>
        <p:spPr>
          <a:xfrm>
            <a:off x="5329546" y="5083822"/>
            <a:ext cx="191166" cy="8400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7D3EE"/>
          </a:solidFill>
          <a:ln>
            <a:noFill/>
          </a:ln>
        </p:spPr>
        <p:txBody>
          <a:bodyPr/>
          <a:p/>
        </p:txBody>
      </p:sp>
      <p:sp>
        <p:nvSpPr>
          <p:cNvPr id="9430" name="T"/>
          <p:cNvSpPr txBox="1"/>
          <p:nvPr/>
        </p:nvSpPr>
        <p:spPr>
          <a:xfrm>
            <a:off x="5270962" y="4934274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24</a:t>
            </a:r>
          </a:p>
        </p:txBody>
      </p:sp>
      <p:sp>
        <p:nvSpPr>
          <p:cNvPr id="9431" name="T"/>
          <p:cNvSpPr txBox="1"/>
          <p:nvPr/>
        </p:nvSpPr>
        <p:spPr>
          <a:xfrm>
            <a:off x="5270962" y="5201650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27</a:t>
            </a:r>
          </a:p>
        </p:txBody>
      </p:sp>
      <p:sp>
        <p:nvSpPr>
          <p:cNvPr id="9432" name="K"/>
          <p:cNvSpPr/>
          <p:nvPr/>
        </p:nvSpPr>
        <p:spPr>
          <a:xfrm>
            <a:off x="5637879" y="4844554"/>
            <a:ext cx="191166" cy="325678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F4C3A0"/>
          </a:solidFill>
          <a:ln>
            <a:noFill/>
          </a:ln>
        </p:spPr>
        <p:txBody>
          <a:bodyPr/>
          <a:p/>
        </p:txBody>
      </p:sp>
      <p:sp>
        <p:nvSpPr>
          <p:cNvPr id="9433" name="T"/>
          <p:cNvSpPr txBox="1"/>
          <p:nvPr/>
        </p:nvSpPr>
        <p:spPr>
          <a:xfrm>
            <a:off x="5579295" y="4697417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88</a:t>
            </a:r>
          </a:p>
        </p:txBody>
      </p:sp>
      <p:sp>
        <p:nvSpPr>
          <p:cNvPr id="9434" name="T"/>
          <p:cNvSpPr txBox="1"/>
          <p:nvPr/>
        </p:nvSpPr>
        <p:spPr>
          <a:xfrm>
            <a:off x="5579295" y="5201650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28</a:t>
            </a:r>
          </a:p>
        </p:txBody>
      </p:sp>
      <p:sp>
        <p:nvSpPr>
          <p:cNvPr id="9435" name="K"/>
          <p:cNvSpPr/>
          <p:nvPr/>
        </p:nvSpPr>
        <p:spPr>
          <a:xfrm>
            <a:off x="5946212" y="5073020"/>
            <a:ext cx="191166" cy="9450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7D3EE"/>
          </a:solidFill>
          <a:ln>
            <a:noFill/>
          </a:ln>
        </p:spPr>
        <p:txBody>
          <a:bodyPr/>
          <a:p/>
        </p:txBody>
      </p:sp>
      <p:sp>
        <p:nvSpPr>
          <p:cNvPr id="9436" name="T"/>
          <p:cNvSpPr txBox="1"/>
          <p:nvPr/>
        </p:nvSpPr>
        <p:spPr>
          <a:xfrm>
            <a:off x="5887629" y="4923171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27</a:t>
            </a:r>
          </a:p>
        </p:txBody>
      </p:sp>
      <p:sp>
        <p:nvSpPr>
          <p:cNvPr id="9437" name="T"/>
          <p:cNvSpPr txBox="1"/>
          <p:nvPr/>
        </p:nvSpPr>
        <p:spPr>
          <a:xfrm>
            <a:off x="5887629" y="5201650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29</a:t>
            </a:r>
          </a:p>
        </p:txBody>
      </p:sp>
      <p:sp>
        <p:nvSpPr>
          <p:cNvPr id="9438" name="K"/>
          <p:cNvSpPr/>
          <p:nvPr/>
        </p:nvSpPr>
        <p:spPr>
          <a:xfrm>
            <a:off x="6254546" y="5151420"/>
            <a:ext cx="191166" cy="18288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/>
          <a:p/>
        </p:txBody>
      </p:sp>
      <p:sp>
        <p:nvSpPr>
          <p:cNvPr id="9439" name="T"/>
          <p:cNvSpPr txBox="1"/>
          <p:nvPr/>
        </p:nvSpPr>
        <p:spPr>
          <a:xfrm>
            <a:off x="6195962" y="5003758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9440" name="T"/>
          <p:cNvSpPr txBox="1"/>
          <p:nvPr/>
        </p:nvSpPr>
        <p:spPr>
          <a:xfrm>
            <a:off x="6195962" y="5201650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30</a:t>
            </a:r>
          </a:p>
        </p:txBody>
      </p:sp>
      <p:sp>
        <p:nvSpPr>
          <p:cNvPr id="9441" name="T"/>
          <p:cNvSpPr txBox="1"/>
          <p:nvPr/>
        </p:nvSpPr>
        <p:spPr>
          <a:xfrm>
            <a:off x="6583680" y="4035869"/>
            <a:ext cx="1800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Semangga</a:t>
            </a:r>
          </a:p>
        </p:txBody>
      </p:sp>
      <p:sp>
        <p:nvSpPr>
          <p:cNvPr id="9442" name="T"/>
          <p:cNvSpPr txBox="1"/>
          <p:nvPr/>
        </p:nvSpPr>
        <p:spPr>
          <a:xfrm>
            <a:off x="6583680" y="4246222"/>
            <a:ext cx="1800000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5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Kab. Merauke</a:t>
            </a:r>
          </a:p>
        </p:txBody>
      </p:sp>
      <p:cxnSp>
        <p:nvCxnSpPr>
          <p:cNvPr id="9443" name="L"/>
          <p:cNvCxnSpPr/>
          <p:nvPr/>
        </p:nvCxnSpPr>
        <p:spPr>
          <a:xfrm>
            <a:off x="6583680" y="5170233"/>
            <a:ext cx="185000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9444" name="K"/>
          <p:cNvSpPr/>
          <p:nvPr/>
        </p:nvSpPr>
        <p:spPr>
          <a:xfrm>
            <a:off x="6642263" y="4978208"/>
            <a:ext cx="191166" cy="186666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CE1E7"/>
          </a:solidFill>
          <a:ln>
            <a:noFill/>
          </a:ln>
        </p:spPr>
        <p:txBody>
          <a:bodyPr/>
          <a:p/>
        </p:txBody>
      </p:sp>
      <p:sp>
        <p:nvSpPr>
          <p:cNvPr id="9445" name="T"/>
          <p:cNvSpPr txBox="1"/>
          <p:nvPr/>
        </p:nvSpPr>
        <p:spPr>
          <a:xfrm>
            <a:off x="6583680" y="4825714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29</a:t>
            </a:r>
          </a:p>
        </p:txBody>
      </p:sp>
      <p:sp>
        <p:nvSpPr>
          <p:cNvPr id="9446" name="T"/>
          <p:cNvSpPr txBox="1"/>
          <p:nvPr/>
        </p:nvSpPr>
        <p:spPr>
          <a:xfrm>
            <a:off x="6583680" y="5201650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25</a:t>
            </a:r>
          </a:p>
        </p:txBody>
      </p:sp>
      <p:sp>
        <p:nvSpPr>
          <p:cNvPr id="9447" name="K"/>
          <p:cNvSpPr/>
          <p:nvPr/>
        </p:nvSpPr>
        <p:spPr>
          <a:xfrm>
            <a:off x="6950596" y="5031180"/>
            <a:ext cx="191166" cy="135172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7D3EE"/>
          </a:solidFill>
          <a:ln>
            <a:noFill/>
          </a:ln>
        </p:spPr>
        <p:txBody>
          <a:bodyPr/>
          <a:p/>
        </p:txBody>
      </p:sp>
      <p:sp>
        <p:nvSpPr>
          <p:cNvPr id="9448" name="T"/>
          <p:cNvSpPr txBox="1"/>
          <p:nvPr/>
        </p:nvSpPr>
        <p:spPr>
          <a:xfrm>
            <a:off x="6892013" y="4880164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21</a:t>
            </a:r>
          </a:p>
        </p:txBody>
      </p:sp>
      <p:sp>
        <p:nvSpPr>
          <p:cNvPr id="9449" name="T"/>
          <p:cNvSpPr txBox="1"/>
          <p:nvPr/>
        </p:nvSpPr>
        <p:spPr>
          <a:xfrm>
            <a:off x="6892013" y="5201650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26</a:t>
            </a:r>
          </a:p>
        </p:txBody>
      </p:sp>
      <p:sp>
        <p:nvSpPr>
          <p:cNvPr id="9450" name="K"/>
          <p:cNvSpPr/>
          <p:nvPr/>
        </p:nvSpPr>
        <p:spPr>
          <a:xfrm>
            <a:off x="7258930" y="4998073"/>
            <a:ext cx="191166" cy="167356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F4C3A0"/>
          </a:solidFill>
          <a:ln>
            <a:noFill/>
          </a:ln>
        </p:spPr>
        <p:txBody>
          <a:bodyPr/>
          <a:p/>
        </p:txBody>
      </p:sp>
      <p:sp>
        <p:nvSpPr>
          <p:cNvPr id="9451" name="T"/>
          <p:cNvSpPr txBox="1"/>
          <p:nvPr/>
        </p:nvSpPr>
        <p:spPr>
          <a:xfrm>
            <a:off x="7200346" y="4846132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26</a:t>
            </a:r>
          </a:p>
        </p:txBody>
      </p:sp>
      <p:sp>
        <p:nvSpPr>
          <p:cNvPr id="9452" name="T"/>
          <p:cNvSpPr txBox="1"/>
          <p:nvPr/>
        </p:nvSpPr>
        <p:spPr>
          <a:xfrm>
            <a:off x="7200346" y="5201650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27</a:t>
            </a:r>
          </a:p>
        </p:txBody>
      </p:sp>
      <p:sp>
        <p:nvSpPr>
          <p:cNvPr id="9453" name="K"/>
          <p:cNvSpPr/>
          <p:nvPr/>
        </p:nvSpPr>
        <p:spPr>
          <a:xfrm>
            <a:off x="7567263" y="4578090"/>
            <a:ext cx="191166" cy="592143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F4C3A0"/>
          </a:solidFill>
          <a:ln>
            <a:noFill/>
          </a:ln>
        </p:spPr>
        <p:txBody>
          <a:bodyPr/>
          <a:p/>
        </p:txBody>
      </p:sp>
      <p:sp>
        <p:nvSpPr>
          <p:cNvPr id="9454" name="T"/>
          <p:cNvSpPr txBox="1"/>
          <p:nvPr/>
        </p:nvSpPr>
        <p:spPr>
          <a:xfrm>
            <a:off x="7508679" y="4430953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87</a:t>
            </a:r>
          </a:p>
        </p:txBody>
      </p:sp>
      <p:sp>
        <p:nvSpPr>
          <p:cNvPr id="9455" name="T"/>
          <p:cNvSpPr txBox="1"/>
          <p:nvPr/>
        </p:nvSpPr>
        <p:spPr>
          <a:xfrm>
            <a:off x="7508679" y="5201650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28</a:t>
            </a:r>
          </a:p>
        </p:txBody>
      </p:sp>
      <p:sp>
        <p:nvSpPr>
          <p:cNvPr id="9456" name="K"/>
          <p:cNvSpPr/>
          <p:nvPr/>
        </p:nvSpPr>
        <p:spPr>
          <a:xfrm>
            <a:off x="7875596" y="4964965"/>
            <a:ext cx="191166" cy="19954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7D3EE"/>
          </a:solidFill>
          <a:ln>
            <a:noFill/>
          </a:ln>
        </p:spPr>
        <p:txBody>
          <a:bodyPr/>
          <a:p/>
        </p:txBody>
      </p:sp>
      <p:sp>
        <p:nvSpPr>
          <p:cNvPr id="9457" name="T"/>
          <p:cNvSpPr txBox="1"/>
          <p:nvPr/>
        </p:nvSpPr>
        <p:spPr>
          <a:xfrm>
            <a:off x="7817013" y="4812101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31</a:t>
            </a:r>
          </a:p>
        </p:txBody>
      </p:sp>
      <p:sp>
        <p:nvSpPr>
          <p:cNvPr id="9458" name="T"/>
          <p:cNvSpPr txBox="1"/>
          <p:nvPr/>
        </p:nvSpPr>
        <p:spPr>
          <a:xfrm>
            <a:off x="7817013" y="5201650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29</a:t>
            </a:r>
          </a:p>
        </p:txBody>
      </p:sp>
      <p:sp>
        <p:nvSpPr>
          <p:cNvPr id="9459" name="K"/>
          <p:cNvSpPr/>
          <p:nvPr/>
        </p:nvSpPr>
        <p:spPr>
          <a:xfrm>
            <a:off x="8183930" y="5070910"/>
            <a:ext cx="191166" cy="96551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F86D1"/>
          </a:solidFill>
          <a:ln>
            <a:noFill/>
          </a:ln>
        </p:spPr>
        <p:txBody>
          <a:bodyPr/>
          <a:p/>
        </p:txBody>
      </p:sp>
      <p:sp>
        <p:nvSpPr>
          <p:cNvPr id="9460" name="T"/>
          <p:cNvSpPr txBox="1"/>
          <p:nvPr/>
        </p:nvSpPr>
        <p:spPr>
          <a:xfrm>
            <a:off x="8125346" y="4921002"/>
            <a:ext cx="308333" cy="1050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15</a:t>
            </a:r>
          </a:p>
        </p:txBody>
      </p:sp>
      <p:sp>
        <p:nvSpPr>
          <p:cNvPr id="9461" name="T"/>
          <p:cNvSpPr txBox="1"/>
          <p:nvPr/>
        </p:nvSpPr>
        <p:spPr>
          <a:xfrm>
            <a:off x="8125346" y="5201650"/>
            <a:ext cx="308333" cy="84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30</a:t>
            </a:r>
          </a:p>
        </p:txBody>
      </p:sp>
      <p:sp>
        <p:nvSpPr>
          <p:cNvPr id="9471" name="T"/>
          <p:cNvSpPr txBox="1"/>
          <p:nvPr/>
        </p:nvSpPr>
        <p:spPr>
          <a:xfrm>
            <a:off x="4654296" y="5618873"/>
            <a:ext cx="914955" cy="14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50" b="1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25–26 Okt</a:t>
            </a:r>
          </a:p>
        </p:txBody>
      </p:sp>
      <p:sp>
        <p:nvSpPr>
          <p:cNvPr id="9472" name="K"/>
          <p:cNvSpPr/>
          <p:nvPr/>
        </p:nvSpPr>
        <p:spPr>
          <a:xfrm>
            <a:off x="4654296" y="5788763"/>
            <a:ext cx="914955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473" name="G"/>
          <p:cNvPicPr>
            <a:picLocks noChangeAspect="1"/>
          </p:cNvPicPr>
          <p:nvPr/>
        </p:nvPicPr>
        <p:blipFill>
          <a:blip r:embed="rIdL3"/>
          <a:stretch>
            <a:fillRect/>
          </a:stretch>
        </p:blipFill>
        <p:spPr>
          <a:xfrm>
            <a:off x="4717796" y="5821681"/>
            <a:ext cx="98755" cy="98755"/>
          </a:xfrm>
          <a:prstGeom prst="rect">
            <a:avLst/>
          </a:prstGeom>
        </p:spPr>
      </p:pic>
      <p:sp>
        <p:nvSpPr>
          <p:cNvPr id="9474" name="T"/>
          <p:cNvSpPr txBox="1"/>
          <p:nvPr/>
        </p:nvSpPr>
        <p:spPr>
          <a:xfrm>
            <a:off x="4854651" y="5788763"/>
            <a:ext cx="6765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56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Jagebob, Animha</a:t>
            </a:r>
          </a:p>
        </p:txBody>
      </p:sp>
      <p:sp>
        <p:nvSpPr>
          <p:cNvPr id="9475" name="K"/>
          <p:cNvSpPr/>
          <p:nvPr/>
        </p:nvSpPr>
        <p:spPr>
          <a:xfrm>
            <a:off x="5680620" y="5821059"/>
            <a:ext cx="120000" cy="100000"/>
          </a:xfrm>
          <a:prstGeom prst="rightArrow">
            <a:avLst/>
          </a:prstGeom>
          <a:solidFill>
            <a:srgbClr val="BFC5CC"/>
          </a:solidFill>
          <a:ln>
            <a:noFill/>
          </a:ln>
        </p:spPr>
        <p:txBody>
          <a:bodyPr/>
          <a:p/>
        </p:txBody>
      </p:sp>
      <p:sp>
        <p:nvSpPr>
          <p:cNvPr id="9476" name="T"/>
          <p:cNvSpPr txBox="1"/>
          <p:nvPr/>
        </p:nvSpPr>
        <p:spPr>
          <a:xfrm>
            <a:off x="5911990" y="5618873"/>
            <a:ext cx="1170315" cy="14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5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27–28 Okt</a:t>
            </a:r>
          </a:p>
        </p:txBody>
      </p:sp>
      <p:sp>
        <p:nvSpPr>
          <p:cNvPr id="9477" name="K"/>
          <p:cNvSpPr/>
          <p:nvPr/>
        </p:nvSpPr>
        <p:spPr>
          <a:xfrm>
            <a:off x="5911990" y="5788763"/>
            <a:ext cx="1170315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/>
          <a:p/>
        </p:txBody>
      </p:sp>
      <p:pic>
        <p:nvPicPr>
          <p:cNvPr id="9478" name="G"/>
          <p:cNvPicPr>
            <a:picLocks noChangeAspect="1"/>
          </p:cNvPicPr>
          <p:nvPr/>
        </p:nvPicPr>
        <p:blipFill>
          <a:blip r:embed="rIdL4"/>
          <a:stretch>
            <a:fillRect/>
          </a:stretch>
        </p:blipFill>
        <p:spPr>
          <a:xfrm>
            <a:off x="5975490" y="5821681"/>
            <a:ext cx="98755" cy="98755"/>
          </a:xfrm>
          <a:prstGeom prst="rect">
            <a:avLst/>
          </a:prstGeom>
        </p:spPr>
      </p:pic>
      <p:sp>
        <p:nvSpPr>
          <p:cNvPr id="9479" name="T"/>
          <p:cNvSpPr txBox="1"/>
          <p:nvPr/>
        </p:nvSpPr>
        <p:spPr>
          <a:xfrm>
            <a:off x="6112345" y="5788763"/>
            <a:ext cx="93186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56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Jagebob, Tanah Miring</a:t>
            </a:r>
          </a:p>
        </p:txBody>
      </p:sp>
      <p:sp>
        <p:nvSpPr>
          <p:cNvPr id="9480" name="K"/>
          <p:cNvSpPr/>
          <p:nvPr/>
        </p:nvSpPr>
        <p:spPr>
          <a:xfrm>
            <a:off x="7193675" y="5821059"/>
            <a:ext cx="120000" cy="100000"/>
          </a:xfrm>
          <a:prstGeom prst="rightArrow">
            <a:avLst/>
          </a:prstGeom>
          <a:solidFill>
            <a:srgbClr val="BFC5CC"/>
          </a:solidFill>
          <a:ln>
            <a:noFill/>
          </a:ln>
        </p:spPr>
        <p:txBody>
          <a:bodyPr/>
          <a:p/>
        </p:txBody>
      </p:sp>
      <p:sp>
        <p:nvSpPr>
          <p:cNvPr id="9481" name="T"/>
          <p:cNvSpPr txBox="1"/>
          <p:nvPr/>
        </p:nvSpPr>
        <p:spPr>
          <a:xfrm>
            <a:off x="7425045" y="5618873"/>
            <a:ext cx="1170315" cy="14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5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29–30 Okt, terbaru</a:t>
            </a:r>
          </a:p>
        </p:txBody>
      </p:sp>
      <p:sp>
        <p:nvSpPr>
          <p:cNvPr id="9482" name="K"/>
          <p:cNvSpPr/>
          <p:nvPr/>
        </p:nvSpPr>
        <p:spPr>
          <a:xfrm>
            <a:off x="7425045" y="5788763"/>
            <a:ext cx="1170315" cy="164592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9483" name="G"/>
          <p:cNvPicPr>
            <a:picLocks noChangeAspect="1"/>
          </p:cNvPicPr>
          <p:nvPr/>
        </p:nvPicPr>
        <p:blipFill>
          <a:blip r:embed="rIdL5"/>
          <a:stretch>
            <a:fillRect/>
          </a:stretch>
        </p:blipFill>
        <p:spPr>
          <a:xfrm>
            <a:off x="7488545" y="5821681"/>
            <a:ext cx="98755" cy="98755"/>
          </a:xfrm>
          <a:prstGeom prst="rect">
            <a:avLst/>
          </a:prstGeom>
        </p:spPr>
      </p:pic>
      <p:sp>
        <p:nvSpPr>
          <p:cNvPr id="9484" name="T"/>
          <p:cNvSpPr txBox="1"/>
          <p:nvPr/>
        </p:nvSpPr>
        <p:spPr>
          <a:xfrm>
            <a:off x="7625400" y="5788763"/>
            <a:ext cx="93186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56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Jagebob, Tanah Miring</a:t>
            </a:r>
          </a:p>
        </p:txBody>
      </p:sp>
      <p:sp>
        <p:nvSpPr>
          <p:cNvPr id="9485" name="K"/>
          <p:cNvSpPr/>
          <p:nvPr/>
        </p:nvSpPr>
        <p:spPr>
          <a:xfrm>
            <a:off x="8963914" y="2820703"/>
            <a:ext cx="12700" cy="139576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p/>
        </p:txBody>
      </p:sp>
      <p:sp>
        <p:nvSpPr>
          <p:cNvPr id="9486" name="K"/>
          <p:cNvSpPr/>
          <p:nvPr/>
        </p:nvSpPr>
        <p:spPr>
          <a:xfrm>
            <a:off x="8869680" y="2720119"/>
            <a:ext cx="201168" cy="201168"/>
          </a:xfrm>
          <a:prstGeom prst="ellipse">
            <a:avLst/>
          </a:prstGeom>
          <a:solidFill>
            <a:srgbClr val="D9600B"/>
          </a:solidFill>
          <a:ln w="12700">
            <a:solidFill>
              <a:srgbClr val="FFFFFF"/>
            </a:solidFill>
          </a:ln>
        </p:spPr>
        <p:txBody>
          <a:bodyPr/>
          <a:p/>
        </p:txBody>
      </p:sp>
      <p:pic>
        <p:nvPicPr>
          <p:cNvPr id="9487" name="G"/>
          <p:cNvPicPr>
            <a:picLocks noChangeAspect="1"/>
          </p:cNvPicPr>
          <p:nvPr/>
        </p:nvPicPr>
        <p:blipFill>
          <a:blip r:embed="rIdL6"/>
          <a:stretch>
            <a:fillRect/>
          </a:stretch>
        </p:blipFill>
        <p:spPr>
          <a:xfrm>
            <a:off x="8910828" y="2761267"/>
            <a:ext cx="118872" cy="118872"/>
          </a:xfrm>
          <a:prstGeom prst="rect">
            <a:avLst/>
          </a:prstGeom>
        </p:spPr>
      </p:pic>
      <p:sp>
        <p:nvSpPr>
          <p:cNvPr id="9488" name="T"/>
          <p:cNvSpPr txBox="1"/>
          <p:nvPr/>
        </p:nvSpPr>
        <p:spPr>
          <a:xfrm>
            <a:off x="9134856" y="2699207"/>
            <a:ext cx="2371039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 Okt</a:t>
            </a:r>
          </a:p>
        </p:txBody>
      </p:sp>
      <p:sp>
        <p:nvSpPr>
          <p:cNvPr id="9489" name="K"/>
          <p:cNvSpPr/>
          <p:nvPr/>
        </p:nvSpPr>
        <p:spPr>
          <a:xfrm>
            <a:off x="9134856" y="2868149"/>
            <a:ext cx="761696" cy="13716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/>
          <a:p/>
        </p:txBody>
      </p:sp>
      <p:pic>
        <p:nvPicPr>
          <p:cNvPr id="9490" name="G"/>
          <p:cNvPicPr>
            <a:picLocks noChangeAspect="1"/>
          </p:cNvPicPr>
          <p:nvPr/>
        </p:nvPicPr>
        <p:blipFill>
          <a:blip r:embed="rIdL7"/>
          <a:stretch>
            <a:fillRect/>
          </a:stretch>
        </p:blipFill>
        <p:spPr>
          <a:xfrm>
            <a:off x="9198356" y="2895581"/>
            <a:ext cx="82296" cy="82296"/>
          </a:xfrm>
          <a:prstGeom prst="rect">
            <a:avLst/>
          </a:prstGeom>
        </p:spPr>
      </p:pic>
      <p:sp>
        <p:nvSpPr>
          <p:cNvPr id="9491" name="T"/>
          <p:cNvSpPr txBox="1"/>
          <p:nvPr/>
        </p:nvSpPr>
        <p:spPr>
          <a:xfrm>
            <a:off x="9318752" y="2868149"/>
            <a:ext cx="5397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1.349 titik</a:t>
            </a:r>
          </a:p>
        </p:txBody>
      </p:sp>
      <p:sp>
        <p:nvSpPr>
          <p:cNvPr id="9492" name="K"/>
          <p:cNvSpPr/>
          <p:nvPr/>
        </p:nvSpPr>
        <p:spPr>
          <a:xfrm>
            <a:off x="9942272" y="2868149"/>
            <a:ext cx="898496" cy="1371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493" name="G"/>
          <p:cNvPicPr>
            <a:picLocks noChangeAspect="1"/>
          </p:cNvPicPr>
          <p:nvPr/>
        </p:nvPicPr>
        <p:blipFill>
          <a:blip r:embed="rIdL8"/>
          <a:stretch>
            <a:fillRect/>
          </a:stretch>
        </p:blipFill>
        <p:spPr>
          <a:xfrm>
            <a:off x="10005772" y="2895581"/>
            <a:ext cx="82296" cy="82296"/>
          </a:xfrm>
          <a:prstGeom prst="rect">
            <a:avLst/>
          </a:prstGeom>
        </p:spPr>
      </p:pic>
      <p:sp>
        <p:nvSpPr>
          <p:cNvPr id="9494" name="T"/>
          <p:cNvSpPr txBox="1"/>
          <p:nvPr/>
        </p:nvSpPr>
        <p:spPr>
          <a:xfrm>
            <a:off x="10126168" y="2868149"/>
            <a:ext cx="6765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tertinggi 2026</a:t>
            </a:r>
          </a:p>
        </p:txBody>
      </p:sp>
      <p:sp>
        <p:nvSpPr>
          <p:cNvPr id="9495" name="K"/>
          <p:cNvSpPr/>
          <p:nvPr/>
        </p:nvSpPr>
        <p:spPr>
          <a:xfrm>
            <a:off x="8869680" y="3185374"/>
            <a:ext cx="201168" cy="201168"/>
          </a:xfrm>
          <a:prstGeom prst="ellipse">
            <a:avLst/>
          </a:prstGeom>
          <a:solidFill>
            <a:srgbClr val="051C2C"/>
          </a:solidFill>
          <a:ln w="12700">
            <a:solidFill>
              <a:srgbClr val="FFFFFF"/>
            </a:solidFill>
          </a:ln>
        </p:spPr>
        <p:txBody>
          <a:bodyPr/>
          <a:p/>
        </p:txBody>
      </p:sp>
      <p:pic>
        <p:nvPicPr>
          <p:cNvPr id="9496" name="G"/>
          <p:cNvPicPr>
            <a:picLocks noChangeAspect="1"/>
          </p:cNvPicPr>
          <p:nvPr/>
        </p:nvPicPr>
        <p:blipFill>
          <a:blip r:embed="rIdL9"/>
          <a:stretch>
            <a:fillRect/>
          </a:stretch>
        </p:blipFill>
        <p:spPr>
          <a:xfrm>
            <a:off x="8910828" y="3226522"/>
            <a:ext cx="118872" cy="118872"/>
          </a:xfrm>
          <a:prstGeom prst="rect">
            <a:avLst/>
          </a:prstGeom>
        </p:spPr>
      </p:pic>
      <p:sp>
        <p:nvSpPr>
          <p:cNvPr id="9497" name="T"/>
          <p:cNvSpPr txBox="1"/>
          <p:nvPr/>
        </p:nvSpPr>
        <p:spPr>
          <a:xfrm>
            <a:off x="9134856" y="3164462"/>
            <a:ext cx="2371039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14–28 Okt</a:t>
            </a:r>
          </a:p>
        </p:txBody>
      </p:sp>
      <p:sp>
        <p:nvSpPr>
          <p:cNvPr id="9498" name="K"/>
          <p:cNvSpPr/>
          <p:nvPr/>
        </p:nvSpPr>
        <p:spPr>
          <a:xfrm>
            <a:off x="9134856" y="3333404"/>
            <a:ext cx="1217696" cy="1371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499" name="G"/>
          <p:cNvPicPr>
            <a:picLocks noChangeAspect="1"/>
          </p:cNvPicPr>
          <p:nvPr/>
        </p:nvPicPr>
        <p:blipFill>
          <a:blip r:embed="rIdL10"/>
          <a:stretch>
            <a:fillRect/>
          </a:stretch>
        </p:blipFill>
        <p:spPr>
          <a:xfrm>
            <a:off x="9198356" y="3360836"/>
            <a:ext cx="82296" cy="82296"/>
          </a:xfrm>
          <a:prstGeom prst="rect">
            <a:avLst/>
          </a:prstGeom>
        </p:spPr>
      </p:pic>
      <p:sp>
        <p:nvSpPr>
          <p:cNvPr id="9500" name="T"/>
          <p:cNvSpPr txBox="1"/>
          <p:nvPr/>
        </p:nvSpPr>
        <p:spPr>
          <a:xfrm>
            <a:off x="9318752" y="3333404"/>
            <a:ext cx="9957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Tanggap Darurat Prov.</a:t>
            </a:r>
          </a:p>
        </p:txBody>
      </p:sp>
      <p:sp>
        <p:nvSpPr>
          <p:cNvPr id="9501" name="K"/>
          <p:cNvSpPr/>
          <p:nvPr/>
        </p:nvSpPr>
        <p:spPr>
          <a:xfrm>
            <a:off x="10398272" y="3333404"/>
            <a:ext cx="1126496" cy="13716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9502" name="G"/>
          <p:cNvPicPr>
            <a:picLocks noChangeAspect="1"/>
          </p:cNvPicPr>
          <p:nvPr/>
        </p:nvPicPr>
        <p:blipFill>
          <a:blip r:embed="rIdL11"/>
          <a:stretch>
            <a:fillRect/>
          </a:stretch>
        </p:blipFill>
        <p:spPr>
          <a:xfrm>
            <a:off x="10461772" y="3360836"/>
            <a:ext cx="82296" cy="82296"/>
          </a:xfrm>
          <a:prstGeom prst="rect">
            <a:avLst/>
          </a:prstGeom>
        </p:spPr>
      </p:pic>
      <p:sp>
        <p:nvSpPr>
          <p:cNvPr id="9503" name="T"/>
          <p:cNvSpPr txBox="1"/>
          <p:nvPr/>
        </p:nvSpPr>
        <p:spPr>
          <a:xfrm>
            <a:off x="10582168" y="3333404"/>
            <a:ext cx="9045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proses perpanjangan</a:t>
            </a:r>
          </a:p>
        </p:txBody>
      </p:sp>
      <p:sp>
        <p:nvSpPr>
          <p:cNvPr id="9504" name="K"/>
          <p:cNvSpPr/>
          <p:nvPr/>
        </p:nvSpPr>
        <p:spPr>
          <a:xfrm>
            <a:off x="8869680" y="3650629"/>
            <a:ext cx="201168" cy="201168"/>
          </a:xfrm>
          <a:prstGeom prst="ellipse">
            <a:avLst/>
          </a:prstGeom>
          <a:solidFill>
            <a:srgbClr val="051C2C"/>
          </a:solidFill>
          <a:ln w="12700">
            <a:solidFill>
              <a:srgbClr val="FFFFFF"/>
            </a:solidFill>
          </a:ln>
        </p:spPr>
        <p:txBody>
          <a:bodyPr/>
          <a:p/>
        </p:txBody>
      </p:sp>
      <p:pic>
        <p:nvPicPr>
          <p:cNvPr id="9505" name="G"/>
          <p:cNvPicPr>
            <a:picLocks noChangeAspect="1"/>
          </p:cNvPicPr>
          <p:nvPr/>
        </p:nvPicPr>
        <p:blipFill>
          <a:blip r:embed="rIdL12"/>
          <a:stretch>
            <a:fillRect/>
          </a:stretch>
        </p:blipFill>
        <p:spPr>
          <a:xfrm>
            <a:off x="8910828" y="3691777"/>
            <a:ext cx="118872" cy="118872"/>
          </a:xfrm>
          <a:prstGeom prst="rect">
            <a:avLst/>
          </a:prstGeom>
        </p:spPr>
      </p:pic>
      <p:sp>
        <p:nvSpPr>
          <p:cNvPr id="9506" name="T"/>
          <p:cNvSpPr txBox="1"/>
          <p:nvPr/>
        </p:nvSpPr>
        <p:spPr>
          <a:xfrm>
            <a:off x="9134856" y="3629717"/>
            <a:ext cx="2371039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22 Okt</a:t>
            </a:r>
          </a:p>
        </p:txBody>
      </p:sp>
      <p:sp>
        <p:nvSpPr>
          <p:cNvPr id="9507" name="K"/>
          <p:cNvSpPr/>
          <p:nvPr/>
        </p:nvSpPr>
        <p:spPr>
          <a:xfrm>
            <a:off x="9134856" y="3798659"/>
            <a:ext cx="1172096" cy="1371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508" name="G"/>
          <p:cNvPicPr>
            <a:picLocks noChangeAspect="1"/>
          </p:cNvPicPr>
          <p:nvPr/>
        </p:nvPicPr>
        <p:blipFill>
          <a:blip r:embed="rIdL13"/>
          <a:stretch>
            <a:fillRect/>
          </a:stretch>
        </p:blipFill>
        <p:spPr>
          <a:xfrm>
            <a:off x="9198356" y="3826091"/>
            <a:ext cx="82296" cy="82296"/>
          </a:xfrm>
          <a:prstGeom prst="rect">
            <a:avLst/>
          </a:prstGeom>
        </p:spPr>
      </p:pic>
      <p:sp>
        <p:nvSpPr>
          <p:cNvPr id="9509" name="T"/>
          <p:cNvSpPr txBox="1"/>
          <p:nvPr/>
        </p:nvSpPr>
        <p:spPr>
          <a:xfrm>
            <a:off x="9318752" y="3798659"/>
            <a:ext cx="9501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Posko OMC BNPB aktif</a:t>
            </a:r>
          </a:p>
        </p:txBody>
      </p:sp>
      <p:sp>
        <p:nvSpPr>
          <p:cNvPr id="9510" name="K"/>
          <p:cNvSpPr/>
          <p:nvPr/>
        </p:nvSpPr>
        <p:spPr>
          <a:xfrm>
            <a:off x="10352672" y="3798659"/>
            <a:ext cx="1172096" cy="13716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511" name="G"/>
          <p:cNvPicPr>
            <a:picLocks noChangeAspect="1"/>
          </p:cNvPicPr>
          <p:nvPr/>
        </p:nvPicPr>
        <p:blipFill>
          <a:blip r:embed="rIdL13"/>
          <a:stretch>
            <a:fillRect/>
          </a:stretch>
        </p:blipFill>
        <p:spPr>
          <a:xfrm>
            <a:off x="10416172" y="3826091"/>
            <a:ext cx="82296" cy="82296"/>
          </a:xfrm>
          <a:prstGeom prst="rect">
            <a:avLst/>
          </a:prstGeom>
        </p:spPr>
      </p:pic>
      <p:sp>
        <p:nvSpPr>
          <p:cNvPr id="9512" name="T"/>
          <p:cNvSpPr txBox="1"/>
          <p:nvPr/>
        </p:nvSpPr>
        <p:spPr>
          <a:xfrm>
            <a:off x="10536568" y="3798659"/>
            <a:ext cx="9501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9 sortie s.d. 27 Okt</a:t>
            </a:r>
          </a:p>
        </p:txBody>
      </p:sp>
      <p:sp>
        <p:nvSpPr>
          <p:cNvPr id="9513" name="K"/>
          <p:cNvSpPr/>
          <p:nvPr/>
        </p:nvSpPr>
        <p:spPr>
          <a:xfrm>
            <a:off x="8833104" y="4079308"/>
            <a:ext cx="274320" cy="274320"/>
          </a:xfrm>
          <a:prstGeom prst="ellipse">
            <a:avLst/>
          </a:prstGeom>
          <a:noFill/>
          <a:ln w="12700">
            <a:solidFill>
              <a:srgbClr val="C8102E"/>
            </a:solidFill>
          </a:ln>
        </p:spPr>
        <p:txBody>
          <a:bodyPr/>
          <a:p/>
        </p:txBody>
      </p:sp>
      <p:sp>
        <p:nvSpPr>
          <p:cNvPr id="9514" name="K"/>
          <p:cNvSpPr/>
          <p:nvPr/>
        </p:nvSpPr>
        <p:spPr>
          <a:xfrm>
            <a:off x="8869680" y="4115884"/>
            <a:ext cx="201168" cy="20116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  <p:txBody>
          <a:bodyPr/>
          <a:p/>
        </p:txBody>
      </p:sp>
      <p:pic>
        <p:nvPicPr>
          <p:cNvPr id="9515" name="G"/>
          <p:cNvPicPr>
            <a:picLocks noChangeAspect="1"/>
          </p:cNvPicPr>
          <p:nvPr/>
        </p:nvPicPr>
        <p:blipFill>
          <a:blip r:embed="rIdL14"/>
          <a:stretch>
            <a:fillRect/>
          </a:stretch>
        </p:blipFill>
        <p:spPr>
          <a:xfrm>
            <a:off x="8910828" y="4157032"/>
            <a:ext cx="118872" cy="118872"/>
          </a:xfrm>
          <a:prstGeom prst="rect">
            <a:avLst/>
          </a:prstGeom>
        </p:spPr>
      </p:pic>
      <p:sp>
        <p:nvSpPr>
          <p:cNvPr id="9516" name="T"/>
          <p:cNvSpPr txBox="1"/>
          <p:nvPr/>
        </p:nvSpPr>
        <p:spPr>
          <a:xfrm>
            <a:off x="9134856" y="4094972"/>
            <a:ext cx="2371039" cy="14630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30 Okt</a:t>
            </a:r>
          </a:p>
        </p:txBody>
      </p:sp>
      <p:sp>
        <p:nvSpPr>
          <p:cNvPr id="9517" name="K"/>
          <p:cNvSpPr/>
          <p:nvPr/>
        </p:nvSpPr>
        <p:spPr>
          <a:xfrm>
            <a:off x="9134856" y="4263914"/>
            <a:ext cx="624896" cy="13716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9518" name="G"/>
          <p:cNvPicPr>
            <a:picLocks noChangeAspect="1"/>
          </p:cNvPicPr>
          <p:nvPr/>
        </p:nvPicPr>
        <p:blipFill>
          <a:blip r:embed="rIdL15"/>
          <a:stretch>
            <a:fillRect/>
          </a:stretch>
        </p:blipFill>
        <p:spPr>
          <a:xfrm>
            <a:off x="9198356" y="4291346"/>
            <a:ext cx="82296" cy="82296"/>
          </a:xfrm>
          <a:prstGeom prst="rect">
            <a:avLst/>
          </a:prstGeom>
        </p:spPr>
      </p:pic>
      <p:sp>
        <p:nvSpPr>
          <p:cNvPr id="9519" name="T"/>
          <p:cNvSpPr txBox="1"/>
          <p:nvPr/>
        </p:nvSpPr>
        <p:spPr>
          <a:xfrm>
            <a:off x="9318752" y="4263914"/>
            <a:ext cx="4029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90 titik</a:t>
            </a:r>
          </a:p>
        </p:txBody>
      </p:sp>
      <p:sp>
        <p:nvSpPr>
          <p:cNvPr id="9520" name="K"/>
          <p:cNvSpPr/>
          <p:nvPr/>
        </p:nvSpPr>
        <p:spPr>
          <a:xfrm>
            <a:off x="9805472" y="4263914"/>
            <a:ext cx="1491296" cy="137160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9521" name="G"/>
          <p:cNvPicPr>
            <a:picLocks noChangeAspect="1"/>
          </p:cNvPicPr>
          <p:nvPr/>
        </p:nvPicPr>
        <p:blipFill>
          <a:blip r:embed="rIdL11"/>
          <a:stretch>
            <a:fillRect/>
          </a:stretch>
        </p:blipFill>
        <p:spPr>
          <a:xfrm>
            <a:off x="9868972" y="4291346"/>
            <a:ext cx="82296" cy="82296"/>
          </a:xfrm>
          <a:prstGeom prst="rect">
            <a:avLst/>
          </a:prstGeom>
        </p:spPr>
      </p:pic>
      <p:sp>
        <p:nvSpPr>
          <p:cNvPr id="9522" name="T"/>
          <p:cNvSpPr txBox="1"/>
          <p:nvPr/>
        </p:nvSpPr>
        <p:spPr>
          <a:xfrm>
            <a:off x="9989368" y="4263914"/>
            <a:ext cx="12693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belum padam 255 ha (29 Okt)</a:t>
            </a:r>
          </a:p>
        </p:txBody>
      </p:sp>
      <p:sp>
        <p:nvSpPr>
          <p:cNvPr id="9523" name="T"/>
          <p:cNvSpPr txBox="1"/>
          <p:nvPr/>
        </p:nvSpPr>
        <p:spPr>
          <a:xfrm>
            <a:off x="8869680" y="4497833"/>
            <a:ext cx="2636215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50" b="1" spc="100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UNSUR DAN SARANA, LAPHAR 28 OKT</a:t>
            </a:r>
          </a:p>
        </p:txBody>
      </p:sp>
      <p:sp>
        <p:nvSpPr>
          <p:cNvPr id="9524" name="K"/>
          <p:cNvSpPr/>
          <p:nvPr/>
        </p:nvSpPr>
        <p:spPr>
          <a:xfrm>
            <a:off x="8869680" y="4759096"/>
            <a:ext cx="1272387" cy="1900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525" name="G"/>
          <p:cNvPicPr>
            <a:picLocks noChangeAspect="1"/>
          </p:cNvPicPr>
          <p:nvPr/>
        </p:nvPicPr>
        <p:blipFill>
          <a:blip r:embed="rIdL10"/>
          <a:stretch>
            <a:fillRect/>
          </a:stretch>
        </p:blipFill>
        <p:spPr>
          <a:xfrm>
            <a:off x="8942832" y="4790088"/>
            <a:ext cx="128016" cy="128016"/>
          </a:xfrm>
          <a:prstGeom prst="rect">
            <a:avLst/>
          </a:prstGeom>
        </p:spPr>
      </p:pic>
      <p:sp>
        <p:nvSpPr>
          <p:cNvPr id="9526" name="T"/>
          <p:cNvSpPr txBox="1"/>
          <p:nvPr/>
        </p:nvSpPr>
        <p:spPr>
          <a:xfrm>
            <a:off x="9125712" y="4759096"/>
            <a:ext cx="972387" cy="19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BPBD Provinsi</a:t>
            </a:r>
          </a:p>
        </p:txBody>
      </p:sp>
      <p:sp>
        <p:nvSpPr>
          <p:cNvPr id="9527" name="K"/>
          <p:cNvSpPr/>
          <p:nvPr/>
        </p:nvSpPr>
        <p:spPr>
          <a:xfrm>
            <a:off x="10233507" y="4759096"/>
            <a:ext cx="1272387" cy="1900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528" name="G"/>
          <p:cNvPicPr>
            <a:picLocks noChangeAspect="1"/>
          </p:cNvPicPr>
          <p:nvPr/>
        </p:nvPicPr>
        <p:blipFill>
          <a:blip r:embed="rIdL10"/>
          <a:stretch>
            <a:fillRect/>
          </a:stretch>
        </p:blipFill>
        <p:spPr>
          <a:xfrm>
            <a:off x="10306659" y="4790088"/>
            <a:ext cx="128016" cy="128016"/>
          </a:xfrm>
          <a:prstGeom prst="rect">
            <a:avLst/>
          </a:prstGeom>
        </p:spPr>
      </p:pic>
      <p:sp>
        <p:nvSpPr>
          <p:cNvPr id="9529" name="T"/>
          <p:cNvSpPr txBox="1"/>
          <p:nvPr/>
        </p:nvSpPr>
        <p:spPr>
          <a:xfrm>
            <a:off x="10489539" y="4759096"/>
            <a:ext cx="972387" cy="19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BPBD Kab. Merauke</a:t>
            </a:r>
          </a:p>
        </p:txBody>
      </p:sp>
      <p:sp>
        <p:nvSpPr>
          <p:cNvPr id="9530" name="K"/>
          <p:cNvSpPr/>
          <p:nvPr/>
        </p:nvSpPr>
        <p:spPr>
          <a:xfrm>
            <a:off x="8869680" y="5018015"/>
            <a:ext cx="1272387" cy="1900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531" name="G"/>
          <p:cNvPicPr>
            <a:picLocks noChangeAspect="1"/>
          </p:cNvPicPr>
          <p:nvPr/>
        </p:nvPicPr>
        <p:blipFill>
          <a:blip r:embed="rIdL16"/>
          <a:stretch>
            <a:fillRect/>
          </a:stretch>
        </p:blipFill>
        <p:spPr>
          <a:xfrm>
            <a:off x="8942832" y="5049007"/>
            <a:ext cx="128016" cy="128016"/>
          </a:xfrm>
          <a:prstGeom prst="rect">
            <a:avLst/>
          </a:prstGeom>
        </p:spPr>
      </p:pic>
      <p:sp>
        <p:nvSpPr>
          <p:cNvPr id="9532" name="T"/>
          <p:cNvSpPr txBox="1"/>
          <p:nvPr/>
        </p:nvSpPr>
        <p:spPr>
          <a:xfrm>
            <a:off x="9125712" y="5018015"/>
            <a:ext cx="972387" cy="19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TNI</a:t>
            </a:r>
          </a:p>
        </p:txBody>
      </p:sp>
      <p:sp>
        <p:nvSpPr>
          <p:cNvPr id="9533" name="K"/>
          <p:cNvSpPr/>
          <p:nvPr/>
        </p:nvSpPr>
        <p:spPr>
          <a:xfrm>
            <a:off x="10233507" y="5018015"/>
            <a:ext cx="1272387" cy="1900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534" name="G"/>
          <p:cNvPicPr>
            <a:picLocks noChangeAspect="1"/>
          </p:cNvPicPr>
          <p:nvPr/>
        </p:nvPicPr>
        <p:blipFill>
          <a:blip r:embed="rIdL17"/>
          <a:stretch>
            <a:fillRect/>
          </a:stretch>
        </p:blipFill>
        <p:spPr>
          <a:xfrm>
            <a:off x="10306659" y="5049007"/>
            <a:ext cx="128016" cy="128016"/>
          </a:xfrm>
          <a:prstGeom prst="rect">
            <a:avLst/>
          </a:prstGeom>
        </p:spPr>
      </p:pic>
      <p:sp>
        <p:nvSpPr>
          <p:cNvPr id="9535" name="T"/>
          <p:cNvSpPr txBox="1"/>
          <p:nvPr/>
        </p:nvSpPr>
        <p:spPr>
          <a:xfrm>
            <a:off x="10489539" y="5018015"/>
            <a:ext cx="972387" cy="19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Polri</a:t>
            </a:r>
          </a:p>
        </p:txBody>
      </p:sp>
      <p:sp>
        <p:nvSpPr>
          <p:cNvPr id="9536" name="K"/>
          <p:cNvSpPr/>
          <p:nvPr/>
        </p:nvSpPr>
        <p:spPr>
          <a:xfrm>
            <a:off x="8869680" y="5276933"/>
            <a:ext cx="1272387" cy="1900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537" name="G"/>
          <p:cNvPicPr>
            <a:picLocks noChangeAspect="1"/>
          </p:cNvPicPr>
          <p:nvPr/>
        </p:nvPicPr>
        <p:blipFill>
          <a:blip r:embed="rIdL18"/>
          <a:stretch>
            <a:fillRect/>
          </a:stretch>
        </p:blipFill>
        <p:spPr>
          <a:xfrm>
            <a:off x="8942832" y="5307925"/>
            <a:ext cx="128016" cy="128016"/>
          </a:xfrm>
          <a:prstGeom prst="rect">
            <a:avLst/>
          </a:prstGeom>
        </p:spPr>
      </p:pic>
      <p:sp>
        <p:nvSpPr>
          <p:cNvPr id="9538" name="T"/>
          <p:cNvSpPr txBox="1"/>
          <p:nvPr/>
        </p:nvSpPr>
        <p:spPr>
          <a:xfrm>
            <a:off x="9125712" y="5276933"/>
            <a:ext cx="972387" cy="19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Damkar</a:t>
            </a:r>
          </a:p>
        </p:txBody>
      </p:sp>
      <p:sp>
        <p:nvSpPr>
          <p:cNvPr id="9539" name="K"/>
          <p:cNvSpPr/>
          <p:nvPr/>
        </p:nvSpPr>
        <p:spPr>
          <a:xfrm>
            <a:off x="10233507" y="5276933"/>
            <a:ext cx="1272387" cy="1900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540" name="G"/>
          <p:cNvPicPr>
            <a:picLocks noChangeAspect="1"/>
          </p:cNvPicPr>
          <p:nvPr/>
        </p:nvPicPr>
        <p:blipFill>
          <a:blip r:embed="rIdL19"/>
          <a:stretch>
            <a:fillRect/>
          </a:stretch>
        </p:blipFill>
        <p:spPr>
          <a:xfrm>
            <a:off x="10306659" y="5307925"/>
            <a:ext cx="128016" cy="128016"/>
          </a:xfrm>
          <a:prstGeom prst="rect">
            <a:avLst/>
          </a:prstGeom>
        </p:spPr>
      </p:pic>
      <p:sp>
        <p:nvSpPr>
          <p:cNvPr id="9541" name="T"/>
          <p:cNvSpPr txBox="1"/>
          <p:nvPr/>
        </p:nvSpPr>
        <p:spPr>
          <a:xfrm>
            <a:off x="10489539" y="5276933"/>
            <a:ext cx="972387" cy="19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Banpol PP</a:t>
            </a:r>
          </a:p>
        </p:txBody>
      </p:sp>
      <p:sp>
        <p:nvSpPr>
          <p:cNvPr id="9542" name="K"/>
          <p:cNvSpPr/>
          <p:nvPr/>
        </p:nvSpPr>
        <p:spPr>
          <a:xfrm>
            <a:off x="8869680" y="5535852"/>
            <a:ext cx="1272387" cy="1900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543" name="G"/>
          <p:cNvPicPr>
            <a:picLocks noChangeAspect="1"/>
          </p:cNvPicPr>
          <p:nvPr/>
        </p:nvPicPr>
        <p:blipFill>
          <a:blip r:embed="rIdL13"/>
          <a:stretch>
            <a:fillRect/>
          </a:stretch>
        </p:blipFill>
        <p:spPr>
          <a:xfrm>
            <a:off x="8942832" y="5566844"/>
            <a:ext cx="128016" cy="128016"/>
          </a:xfrm>
          <a:prstGeom prst="rect">
            <a:avLst/>
          </a:prstGeom>
        </p:spPr>
      </p:pic>
      <p:sp>
        <p:nvSpPr>
          <p:cNvPr id="9544" name="T"/>
          <p:cNvSpPr txBox="1"/>
          <p:nvPr/>
        </p:nvSpPr>
        <p:spPr>
          <a:xfrm>
            <a:off x="9125712" y="5535852"/>
            <a:ext cx="972387" cy="19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 pesawat OMC BNPB</a:t>
            </a:r>
          </a:p>
        </p:txBody>
      </p:sp>
      <p:sp>
        <p:nvSpPr>
          <p:cNvPr id="9545" name="K"/>
          <p:cNvSpPr/>
          <p:nvPr/>
        </p:nvSpPr>
        <p:spPr>
          <a:xfrm>
            <a:off x="10233507" y="5535852"/>
            <a:ext cx="1272387" cy="1900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546" name="G"/>
          <p:cNvPicPr>
            <a:picLocks noChangeAspect="1"/>
          </p:cNvPicPr>
          <p:nvPr/>
        </p:nvPicPr>
        <p:blipFill>
          <a:blip r:embed="rIdL18"/>
          <a:stretch>
            <a:fillRect/>
          </a:stretch>
        </p:blipFill>
        <p:spPr>
          <a:xfrm>
            <a:off x="10306659" y="5566844"/>
            <a:ext cx="128016" cy="128016"/>
          </a:xfrm>
          <a:prstGeom prst="rect">
            <a:avLst/>
          </a:prstGeom>
        </p:spPr>
      </p:pic>
      <p:sp>
        <p:nvSpPr>
          <p:cNvPr id="9547" name="T"/>
          <p:cNvSpPr txBox="1"/>
          <p:nvPr/>
        </p:nvSpPr>
        <p:spPr>
          <a:xfrm>
            <a:off x="10489539" y="5535852"/>
            <a:ext cx="972387" cy="19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 mobil water supply</a:t>
            </a:r>
          </a:p>
        </p:txBody>
      </p:sp>
      <p:sp>
        <p:nvSpPr>
          <p:cNvPr id="9548" name="K"/>
          <p:cNvSpPr/>
          <p:nvPr/>
        </p:nvSpPr>
        <p:spPr>
          <a:xfrm>
            <a:off x="8869680" y="5794770"/>
            <a:ext cx="1272387" cy="1900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549" name="G"/>
          <p:cNvPicPr>
            <a:picLocks noChangeAspect="1"/>
          </p:cNvPicPr>
          <p:nvPr/>
        </p:nvPicPr>
        <p:blipFill>
          <a:blip r:embed="rIdL20"/>
          <a:stretch>
            <a:fillRect/>
          </a:stretch>
        </p:blipFill>
        <p:spPr>
          <a:xfrm>
            <a:off x="8942832" y="5825762"/>
            <a:ext cx="128016" cy="128016"/>
          </a:xfrm>
          <a:prstGeom prst="rect">
            <a:avLst/>
          </a:prstGeom>
        </p:spPr>
      </p:pic>
      <p:sp>
        <p:nvSpPr>
          <p:cNvPr id="9550" name="T"/>
          <p:cNvSpPr txBox="1"/>
          <p:nvPr/>
        </p:nvSpPr>
        <p:spPr>
          <a:xfrm>
            <a:off x="9125712" y="5794770"/>
            <a:ext cx="972387" cy="19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 mobil patroli</a:t>
            </a:r>
          </a:p>
        </p:txBody>
      </p:sp>
      <p:sp>
        <p:nvSpPr>
          <p:cNvPr id="9551" name="K"/>
          <p:cNvSpPr/>
          <p:nvPr/>
        </p:nvSpPr>
        <p:spPr>
          <a:xfrm>
            <a:off x="10233507" y="5794770"/>
            <a:ext cx="1272387" cy="1900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552" name="G"/>
          <p:cNvPicPr>
            <a:picLocks noChangeAspect="1"/>
          </p:cNvPicPr>
          <p:nvPr/>
        </p:nvPicPr>
        <p:blipFill>
          <a:blip r:embed="rIdL20"/>
          <a:stretch>
            <a:fillRect/>
          </a:stretch>
        </p:blipFill>
        <p:spPr>
          <a:xfrm>
            <a:off x="10306659" y="5825762"/>
            <a:ext cx="128016" cy="128016"/>
          </a:xfrm>
          <a:prstGeom prst="rect">
            <a:avLst/>
          </a:prstGeom>
        </p:spPr>
      </p:pic>
      <p:sp>
        <p:nvSpPr>
          <p:cNvPr id="9553" name="T"/>
          <p:cNvSpPr txBox="1"/>
          <p:nvPr/>
        </p:nvSpPr>
        <p:spPr>
          <a:xfrm>
            <a:off x="10489539" y="5794770"/>
            <a:ext cx="972387" cy="19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 motor patroli</a:t>
            </a:r>
          </a:p>
        </p:txBody>
      </p:sp>
      <p:sp>
        <p:nvSpPr>
          <p:cNvPr id="9638" name="T"/>
          <p:cNvSpPr txBox="1"/>
          <p:nvPr/>
        </p:nvSpPr>
        <p:spPr>
          <a:xfrm>
            <a:off x="548640" y="690000"/>
            <a:ext cx="8200000" cy="190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10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Separuh belum padam Papua Selatan:</a:t>
            </a:r>
            <a:r>
              <a:rPr lang="id-ID" sz="1000" b="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255 dari 502 ha ada di Jagebob, Tanah Miring, Animha, dan Semangga, 29 Okt; juga 35% titik provinsi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06680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850" dirty="0"/>
          </a:p>
        </p:txBody>
      </p:sp>
      <p:sp>
        <p:nvSpPr>
          <p:cNvPr id="491" name="T"/>
          <p:cNvSpPr txBox="1"/>
          <p:nvPr/>
        </p:nvSpPr>
        <p:spPr>
          <a:xfrm>
            <a:off x="548640" y="365760"/>
            <a:ext cx="10454335" cy="599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Waspada peralihan musim: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46 dari 80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kecamatan di Papua Selatan berstatus Waspada banjir atau longsor 30 Okt–2 Nov</a:t>
            </a:r>
            <a:endParaRPr lang="id-ID" sz="2000"/>
          </a:p>
        </p:txBody>
      </p:sp>
      <p:sp>
        <p:nvSpPr>
          <p:cNvPr id="301" name="K"/>
          <p:cNvSpPr/>
          <p:nvPr/>
        </p:nvSpPr>
        <p:spPr>
          <a:xfrm>
            <a:off x="548640" y="1188853"/>
            <a:ext cx="7170725" cy="957646"/>
          </a:xfrm>
          <a:prstGeom prst="roundRect">
            <a:avLst>
              <a:gd name="adj" fmla="val 7843"/>
            </a:avLst>
          </a:prstGeom>
          <a:solidFill>
            <a:srgbClr val="EEF5FC"/>
          </a:solidFill>
          <a:ln>
            <a:noFill/>
          </a:ln>
        </p:spPr>
        <p:txBody>
          <a:bodyPr/>
          <a:p/>
        </p:txBody>
      </p:sp>
      <p:sp>
        <p:nvSpPr>
          <p:cNvPr id="302" name="K"/>
          <p:cNvSpPr/>
          <p:nvPr/>
        </p:nvSpPr>
        <p:spPr>
          <a:xfrm>
            <a:off x="658368" y="1247632"/>
            <a:ext cx="1440000" cy="182880"/>
          </a:xfrm>
          <a:prstGeom prst="roundRect">
            <a:avLst>
              <a:gd name="adj" fmla="val 50000"/>
            </a:avLst>
          </a:prstGeom>
          <a:solidFill>
            <a:srgbClr val="5B7A99"/>
          </a:solidFill>
          <a:ln>
            <a:noFill/>
          </a:ln>
        </p:spPr>
        <p:txBody>
          <a:bodyPr/>
          <a:p/>
        </p:txBody>
      </p:sp>
      <p:pic>
        <p:nvPicPr>
          <p:cNvPr id="303" name="G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731520" y="1284208"/>
            <a:ext cx="109728" cy="109728"/>
          </a:xfrm>
          <a:prstGeom prst="rect">
            <a:avLst/>
          </a:prstGeom>
        </p:spPr>
      </p:pic>
      <p:sp>
        <p:nvSpPr>
          <p:cNvPr id="304" name="T"/>
          <p:cNvSpPr txBox="1"/>
          <p:nvPr/>
        </p:nvSpPr>
        <p:spPr>
          <a:xfrm>
            <a:off x="896112" y="1247632"/>
            <a:ext cx="1180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60" b="1" spc="1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PRAKIRAAN HUJAN</a:t>
            </a:r>
            <a:endParaRPr lang="id-ID" sz="660"/>
          </a:p>
        </p:txBody>
      </p:sp>
      <p:sp>
        <p:nvSpPr>
          <p:cNvPr id="305" name="K"/>
          <p:cNvSpPr/>
          <p:nvPr/>
        </p:nvSpPr>
        <p:spPr>
          <a:xfrm>
            <a:off x="658368" y="1508068"/>
            <a:ext cx="2256129" cy="525767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06" name="K"/>
          <p:cNvSpPr/>
          <p:nvPr/>
        </p:nvSpPr>
        <p:spPr>
          <a:xfrm>
            <a:off x="768096" y="1625137"/>
            <a:ext cx="329184" cy="329184"/>
          </a:xfrm>
          <a:prstGeom prst="ellipse">
            <a:avLst/>
          </a:prstGeom>
          <a:solidFill>
            <a:srgbClr val="E3EAF1"/>
          </a:solidFill>
          <a:ln>
            <a:noFill/>
          </a:ln>
        </p:spPr>
        <p:txBody>
          <a:bodyPr/>
          <a:p/>
        </p:txBody>
      </p:sp>
      <p:pic>
        <p:nvPicPr>
          <p:cNvPr id="307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841248" y="1698289"/>
            <a:ext cx="182880" cy="182880"/>
          </a:xfrm>
          <a:prstGeom prst="rect">
            <a:avLst/>
          </a:prstGeom>
        </p:spPr>
      </p:pic>
      <p:sp>
        <p:nvSpPr>
          <p:cNvPr id="308" name="T"/>
          <p:cNvSpPr txBox="1"/>
          <p:nvPr/>
        </p:nvSpPr>
        <p:spPr>
          <a:xfrm>
            <a:off x="1170432" y="1545623"/>
            <a:ext cx="1707489" cy="28166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Sedang</a:t>
            </a:r>
            <a:endParaRPr lang="id-ID" sz="1700"/>
          </a:p>
        </p:txBody>
      </p:sp>
      <p:sp>
        <p:nvSpPr>
          <p:cNvPr id="309" name="T"/>
          <p:cNvSpPr txBox="1"/>
          <p:nvPr/>
        </p:nvSpPr>
        <p:spPr>
          <a:xfrm>
            <a:off x="1170432" y="1819975"/>
            <a:ext cx="1707489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hujan BMKG, 30 Okt–1 Nov</a:t>
            </a:r>
            <a:endParaRPr lang="id-ID" sz="750"/>
          </a:p>
        </p:txBody>
      </p:sp>
      <p:sp>
        <p:nvSpPr>
          <p:cNvPr id="310" name="K"/>
          <p:cNvSpPr/>
          <p:nvPr/>
        </p:nvSpPr>
        <p:spPr>
          <a:xfrm>
            <a:off x="3005937" y="1508068"/>
            <a:ext cx="2256129" cy="525767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11" name="K"/>
          <p:cNvSpPr/>
          <p:nvPr/>
        </p:nvSpPr>
        <p:spPr>
          <a:xfrm>
            <a:off x="3115665" y="1625137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312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3188817" y="1698289"/>
            <a:ext cx="182880" cy="182880"/>
          </a:xfrm>
          <a:prstGeom prst="rect">
            <a:avLst/>
          </a:prstGeom>
        </p:spPr>
      </p:pic>
      <p:sp>
        <p:nvSpPr>
          <p:cNvPr id="313" name="T"/>
          <p:cNvSpPr txBox="1"/>
          <p:nvPr/>
        </p:nvSpPr>
        <p:spPr>
          <a:xfrm>
            <a:off x="3518001" y="1545623"/>
            <a:ext cx="1707489" cy="28166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Tidak ada</a:t>
            </a:r>
            <a:endParaRPr lang="id-ID" sz="1700"/>
          </a:p>
        </p:txBody>
      </p:sp>
      <p:sp>
        <p:nvSpPr>
          <p:cNvPr id="314" name="T"/>
          <p:cNvSpPr txBox="1"/>
          <p:nvPr/>
        </p:nvSpPr>
        <p:spPr>
          <a:xfrm>
            <a:off x="3518001" y="1819975"/>
            <a:ext cx="1707489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peringatan angin BMKG</a:t>
            </a:r>
            <a:endParaRPr lang="id-ID" sz="750"/>
          </a:p>
        </p:txBody>
      </p:sp>
      <p:sp>
        <p:nvSpPr>
          <p:cNvPr id="315" name="K"/>
          <p:cNvSpPr/>
          <p:nvPr/>
        </p:nvSpPr>
        <p:spPr>
          <a:xfrm>
            <a:off x="5353506" y="1508068"/>
            <a:ext cx="2256129" cy="525767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16" name="K"/>
          <p:cNvSpPr/>
          <p:nvPr/>
        </p:nvSpPr>
        <p:spPr>
          <a:xfrm>
            <a:off x="5463234" y="1625137"/>
            <a:ext cx="329184" cy="329184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/>
          <a:p/>
        </p:txBody>
      </p:sp>
      <p:pic>
        <p:nvPicPr>
          <p:cNvPr id="317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5536386" y="1698289"/>
            <a:ext cx="182880" cy="182880"/>
          </a:xfrm>
          <a:prstGeom prst="rect">
            <a:avLst/>
          </a:prstGeom>
        </p:spPr>
      </p:pic>
      <p:sp>
        <p:nvSpPr>
          <p:cNvPr id="318" name="T"/>
          <p:cNvSpPr txBox="1"/>
          <p:nvPr/>
        </p:nvSpPr>
        <p:spPr>
          <a:xfrm>
            <a:off x="5865570" y="1545623"/>
            <a:ext cx="1707489" cy="28166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75 mm</a:t>
            </a:r>
            <a:endParaRPr lang="id-ID" sz="1700"/>
          </a:p>
        </p:txBody>
      </p:sp>
      <p:sp>
        <p:nvSpPr>
          <p:cNvPr id="319" name="T"/>
          <p:cNvSpPr txBox="1"/>
          <p:nvPr/>
        </p:nvSpPr>
        <p:spPr>
          <a:xfrm>
            <a:off x="5865570" y="1819975"/>
            <a:ext cx="1707489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hujan 3 hari terbesar*</a:t>
            </a:r>
            <a:endParaRPr lang="id-ID" sz="750"/>
          </a:p>
        </p:txBody>
      </p:sp>
      <p:sp>
        <p:nvSpPr>
          <p:cNvPr id="325" name="K"/>
          <p:cNvSpPr/>
          <p:nvPr/>
        </p:nvSpPr>
        <p:spPr>
          <a:xfrm>
            <a:off x="7993685" y="1188853"/>
            <a:ext cx="3649370" cy="957646"/>
          </a:xfrm>
          <a:prstGeom prst="roundRect">
            <a:avLst>
              <a:gd name="adj" fmla="val 7843"/>
            </a:avLst>
          </a:prstGeom>
          <a:solidFill>
            <a:srgbClr val="FCF1F2"/>
          </a:solidFill>
          <a:ln>
            <a:noFill/>
          </a:ln>
        </p:spPr>
        <p:txBody>
          <a:bodyPr/>
          <a:p/>
        </p:txBody>
      </p:sp>
      <p:sp>
        <p:nvSpPr>
          <p:cNvPr id="326" name="K"/>
          <p:cNvSpPr/>
          <p:nvPr/>
        </p:nvSpPr>
        <p:spPr>
          <a:xfrm>
            <a:off x="8103413" y="1247632"/>
            <a:ext cx="908000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/>
          <a:p/>
        </p:txBody>
      </p:sp>
      <p:pic>
        <p:nvPicPr>
          <p:cNvPr id="327" name="G"/>
          <p:cNvPicPr>
            <a:picLocks noChangeAspect="1"/>
          </p:cNvPicPr>
          <p:nvPr/>
        </p:nvPicPr>
        <p:blipFill>
          <a:blip r:embed="rIdM6"/>
          <a:stretch>
            <a:fillRect/>
          </a:stretch>
        </p:blipFill>
        <p:spPr>
          <a:xfrm>
            <a:off x="8176565" y="1284208"/>
            <a:ext cx="109728" cy="109728"/>
          </a:xfrm>
          <a:prstGeom prst="rect">
            <a:avLst/>
          </a:prstGeom>
        </p:spPr>
      </p:pic>
      <p:sp>
        <p:nvSpPr>
          <p:cNvPr id="328" name="T"/>
          <p:cNvSpPr txBox="1"/>
          <p:nvPr/>
        </p:nvSpPr>
        <p:spPr>
          <a:xfrm>
            <a:off x="8341157" y="1247632"/>
            <a:ext cx="648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60" b="1" spc="1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PRESEDEN</a:t>
            </a:r>
            <a:endParaRPr lang="id-ID" sz="660"/>
          </a:p>
        </p:txBody>
      </p:sp>
      <p:sp>
        <p:nvSpPr>
          <p:cNvPr id="329" name="K"/>
          <p:cNvSpPr/>
          <p:nvPr/>
        </p:nvSpPr>
        <p:spPr>
          <a:xfrm>
            <a:off x="8103413" y="1508068"/>
            <a:ext cx="3430000" cy="525767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30" name="K"/>
          <p:cNvSpPr/>
          <p:nvPr/>
        </p:nvSpPr>
        <p:spPr>
          <a:xfrm>
            <a:off x="8213141" y="1625137"/>
            <a:ext cx="329184" cy="329184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331" name="G"/>
          <p:cNvPicPr>
            <a:picLocks noChangeAspect="1"/>
          </p:cNvPicPr>
          <p:nvPr/>
        </p:nvPicPr>
        <p:blipFill>
          <a:blip r:embed="rIdM7"/>
          <a:stretch>
            <a:fillRect/>
          </a:stretch>
        </p:blipFill>
        <p:spPr>
          <a:xfrm>
            <a:off x="8286293" y="1698289"/>
            <a:ext cx="182880" cy="182880"/>
          </a:xfrm>
          <a:prstGeom prst="rect">
            <a:avLst/>
          </a:prstGeom>
        </p:spPr>
      </p:pic>
      <p:sp>
        <p:nvSpPr>
          <p:cNvPr id="332" name="T"/>
          <p:cNvSpPr txBox="1"/>
          <p:nvPr/>
        </p:nvSpPr>
        <p:spPr>
          <a:xfrm>
            <a:off x="8615477" y="1548682"/>
            <a:ext cx="2830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05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Banjir di DIBI BNPB sejak 2008</a:t>
            </a:r>
            <a:endParaRPr lang="id-ID" sz="1050"/>
          </a:p>
        </p:txBody>
      </p:sp>
      <p:sp>
        <p:nvSpPr>
          <p:cNvPr id="337" name="K"/>
          <p:cNvSpPr/>
          <p:nvPr/>
        </p:nvSpPr>
        <p:spPr>
          <a:xfrm>
            <a:off x="548640" y="2221609"/>
            <a:ext cx="7315200" cy="2910494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338" name="K"/>
          <p:cNvSpPr/>
          <p:nvPr/>
        </p:nvSpPr>
        <p:spPr>
          <a:xfrm>
            <a:off x="548640" y="2221609"/>
            <a:ext cx="7315200" cy="469435"/>
          </a:xfrm>
          <a:prstGeom prst="roundRect">
            <a:avLst>
              <a:gd name="adj" fmla="val 16000"/>
            </a:avLst>
          </a:prstGeom>
          <a:solidFill>
            <a:srgbClr val="DCEBF8"/>
          </a:solidFill>
          <a:ln>
            <a:noFill/>
          </a:ln>
        </p:spPr>
        <p:txBody>
          <a:bodyPr/>
          <a:p/>
        </p:txBody>
      </p:sp>
      <p:sp>
        <p:nvSpPr>
          <p:cNvPr id="339" name="K"/>
          <p:cNvSpPr/>
          <p:nvPr/>
        </p:nvSpPr>
        <p:spPr>
          <a:xfrm>
            <a:off x="548640" y="2505717"/>
            <a:ext cx="7315200" cy="18288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txBody>
          <a:bodyPr/>
          <a:p/>
        </p:txBody>
      </p:sp>
      <p:sp>
        <p:nvSpPr>
          <p:cNvPr id="340" name="K"/>
          <p:cNvSpPr/>
          <p:nvPr/>
        </p:nvSpPr>
        <p:spPr>
          <a:xfrm>
            <a:off x="676656" y="2310022"/>
            <a:ext cx="292608" cy="292608"/>
          </a:xfrm>
          <a:prstGeom prst="ellipse">
            <a:avLst/>
          </a:prstGeom>
          <a:solidFill>
            <a:srgbClr val="2F86D1"/>
          </a:solidFill>
          <a:ln>
            <a:noFill/>
          </a:ln>
        </p:spPr>
        <p:txBody>
          <a:bodyPr/>
          <a:p/>
        </p:txBody>
      </p:sp>
      <p:pic>
        <p:nvPicPr>
          <p:cNvPr id="341" name="G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731520" y="2364886"/>
            <a:ext cx="182880" cy="182880"/>
          </a:xfrm>
          <a:prstGeom prst="rect">
            <a:avLst/>
          </a:prstGeom>
        </p:spPr>
      </p:pic>
      <p:sp>
        <p:nvSpPr>
          <p:cNvPr id="342" name="T"/>
          <p:cNvSpPr txBox="1"/>
          <p:nvPr/>
        </p:nvSpPr>
        <p:spPr>
          <a:xfrm>
            <a:off x="1051560" y="2296719"/>
            <a:ext cx="6215200" cy="3192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Kabupaten berstatus Waspada, 30 Okt–2 Nov</a:t>
            </a:r>
            <a:endParaRPr lang="id-ID" sz="1100"/>
          </a:p>
        </p:txBody>
      </p:sp>
      <p:sp>
        <p:nvSpPr>
          <p:cNvPr id="343" name="T"/>
          <p:cNvSpPr txBox="1"/>
          <p:nvPr/>
        </p:nvSpPr>
        <p:spPr>
          <a:xfrm>
            <a:off x="6763840" y="2277941"/>
            <a:ext cx="980000" cy="35677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spcBef>
                <a:spcPts val="0"/>
              </a:spcBef>
              <a:buNone/>
            </a:pPr>
            <a:r>
              <a:rPr lang="id-ID" sz="1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4</a:t>
            </a:r>
            <a:endParaRPr lang="id-ID" sz="1600"/>
          </a:p>
        </p:txBody>
      </p:sp>
      <p:sp>
        <p:nvSpPr>
          <p:cNvPr id="432" name="K"/>
          <p:cNvSpPr/>
          <p:nvPr/>
        </p:nvSpPr>
        <p:spPr>
          <a:xfrm>
            <a:off x="8001000" y="2221609"/>
            <a:ext cx="3642055" cy="2910494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/>
          <a:p/>
        </p:txBody>
      </p:sp>
      <p:sp>
        <p:nvSpPr>
          <p:cNvPr id="433" name="K"/>
          <p:cNvSpPr/>
          <p:nvPr/>
        </p:nvSpPr>
        <p:spPr>
          <a:xfrm>
            <a:off x="8001000" y="2221609"/>
            <a:ext cx="3642055" cy="469435"/>
          </a:xfrm>
          <a:prstGeom prst="roundRect">
            <a:avLst>
              <a:gd name="adj" fmla="val 16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sp>
        <p:nvSpPr>
          <p:cNvPr id="434" name="K"/>
          <p:cNvSpPr/>
          <p:nvPr/>
        </p:nvSpPr>
        <p:spPr>
          <a:xfrm>
            <a:off x="8001000" y="2505717"/>
            <a:ext cx="3642055" cy="18288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sp>
        <p:nvSpPr>
          <p:cNvPr id="435" name="K"/>
          <p:cNvSpPr/>
          <p:nvPr/>
        </p:nvSpPr>
        <p:spPr>
          <a:xfrm>
            <a:off x="8129016" y="2310022"/>
            <a:ext cx="292608" cy="29260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pic>
        <p:nvPicPr>
          <p:cNvPr id="436" name="G"/>
          <p:cNvPicPr>
            <a:picLocks noChangeAspect="1"/>
          </p:cNvPicPr>
          <p:nvPr/>
        </p:nvPicPr>
        <p:blipFill>
          <a:blip r:embed="rIdL7"/>
          <a:stretch>
            <a:fillRect/>
          </a:stretch>
        </p:blipFill>
        <p:spPr>
          <a:xfrm>
            <a:off x="8183880" y="2364886"/>
            <a:ext cx="182880" cy="182880"/>
          </a:xfrm>
          <a:prstGeom prst="rect">
            <a:avLst/>
          </a:prstGeom>
        </p:spPr>
      </p:pic>
      <p:sp>
        <p:nvSpPr>
          <p:cNvPr id="437" name="T"/>
          <p:cNvSpPr txBox="1"/>
          <p:nvPr/>
        </p:nvSpPr>
        <p:spPr>
          <a:xfrm>
            <a:off x="8503920" y="2296719"/>
            <a:ext cx="2542055" cy="3192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Status banjir dan riwayat DIBI</a:t>
            </a:r>
            <a:endParaRPr lang="id-ID" sz="1100"/>
          </a:p>
        </p:txBody>
      </p:sp>
      <p:sp>
        <p:nvSpPr>
          <p:cNvPr id="438" name="K"/>
          <p:cNvSpPr/>
          <p:nvPr/>
        </p:nvSpPr>
        <p:spPr>
          <a:xfrm>
            <a:off x="8129016" y="2831874"/>
            <a:ext cx="1645920" cy="619654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>
            <a:noFill/>
          </a:ln>
        </p:spPr>
        <p:txBody>
          <a:bodyPr/>
          <a:p/>
        </p:txBody>
      </p:sp>
      <p:sp>
        <p:nvSpPr>
          <p:cNvPr id="439" name="K"/>
          <p:cNvSpPr/>
          <p:nvPr/>
        </p:nvSpPr>
        <p:spPr>
          <a:xfrm>
            <a:off x="8220456" y="2977109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440" name="G"/>
          <p:cNvPicPr>
            <a:picLocks noChangeAspect="1"/>
          </p:cNvPicPr>
          <p:nvPr/>
        </p:nvPicPr>
        <p:blipFill>
          <a:blip r:embed="rIdM10"/>
          <a:stretch>
            <a:fillRect/>
          </a:stretch>
        </p:blipFill>
        <p:spPr>
          <a:xfrm>
            <a:off x="8293608" y="3050261"/>
            <a:ext cx="182880" cy="182880"/>
          </a:xfrm>
          <a:prstGeom prst="rect">
            <a:avLst/>
          </a:prstGeom>
        </p:spPr>
      </p:pic>
      <p:sp>
        <p:nvSpPr>
          <p:cNvPr id="441" name="T"/>
          <p:cNvSpPr txBox="1"/>
          <p:nvPr/>
        </p:nvSpPr>
        <p:spPr>
          <a:xfrm>
            <a:off x="8622792" y="2897595"/>
            <a:ext cx="1100000" cy="28166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5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46</a:t>
            </a:r>
            <a:endParaRPr lang="id-ID" sz="1500"/>
          </a:p>
        </p:txBody>
      </p:sp>
      <p:sp>
        <p:nvSpPr>
          <p:cNvPr id="442" name="T"/>
          <p:cNvSpPr txBox="1"/>
          <p:nvPr/>
        </p:nvSpPr>
        <p:spPr>
          <a:xfrm>
            <a:off x="8622792" y="3181947"/>
            <a:ext cx="11000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kecamatan Waspada banjir</a:t>
            </a:r>
            <a:endParaRPr lang="id-ID" sz="700"/>
          </a:p>
        </p:txBody>
      </p:sp>
      <p:sp>
        <p:nvSpPr>
          <p:cNvPr id="443" name="K"/>
          <p:cNvSpPr/>
          <p:nvPr/>
        </p:nvSpPr>
        <p:spPr>
          <a:xfrm>
            <a:off x="9866376" y="2831874"/>
            <a:ext cx="1645920" cy="619654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>
            <a:noFill/>
          </a:ln>
        </p:spPr>
        <p:txBody>
          <a:bodyPr/>
          <a:p/>
        </p:txBody>
      </p:sp>
      <p:sp>
        <p:nvSpPr>
          <p:cNvPr id="444" name="K"/>
          <p:cNvSpPr/>
          <p:nvPr/>
        </p:nvSpPr>
        <p:spPr>
          <a:xfrm>
            <a:off x="9957816" y="2977109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445" name="G"/>
          <p:cNvPicPr>
            <a:picLocks noChangeAspect="1"/>
          </p:cNvPicPr>
          <p:nvPr/>
        </p:nvPicPr>
        <p:blipFill>
          <a:blip r:embed="rIdL4"/>
          <a:stretch>
            <a:fillRect/>
          </a:stretch>
        </p:blipFill>
        <p:spPr>
          <a:xfrm>
            <a:off x="10030968" y="3050261"/>
            <a:ext cx="182880" cy="182880"/>
          </a:xfrm>
          <a:prstGeom prst="rect">
            <a:avLst/>
          </a:prstGeom>
        </p:spPr>
      </p:pic>
      <p:sp>
        <p:nvSpPr>
          <p:cNvPr id="446" name="T"/>
          <p:cNvSpPr txBox="1"/>
          <p:nvPr/>
        </p:nvSpPr>
        <p:spPr>
          <a:xfrm>
            <a:off x="10360152" y="2897595"/>
            <a:ext cx="1100000" cy="28166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5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4</a:t>
            </a:r>
            <a:endParaRPr lang="id-ID" sz="1500"/>
          </a:p>
        </p:txBody>
      </p:sp>
      <p:sp>
        <p:nvSpPr>
          <p:cNvPr id="447" name="T"/>
          <p:cNvSpPr txBox="1"/>
          <p:nvPr/>
        </p:nvSpPr>
        <p:spPr>
          <a:xfrm>
            <a:off x="10360152" y="3181947"/>
            <a:ext cx="11000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kecamatan Waspada longsor</a:t>
            </a:r>
            <a:endParaRPr lang="id-ID" sz="700"/>
          </a:p>
        </p:txBody>
      </p:sp>
      <p:sp>
        <p:nvSpPr>
          <p:cNvPr id="448" name="K"/>
          <p:cNvSpPr/>
          <p:nvPr/>
        </p:nvSpPr>
        <p:spPr>
          <a:xfrm>
            <a:off x="8129016" y="3545414"/>
            <a:ext cx="1645920" cy="619654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>
            <a:noFill/>
          </a:ln>
        </p:spPr>
        <p:txBody>
          <a:bodyPr/>
          <a:p/>
        </p:txBody>
      </p:sp>
      <p:sp>
        <p:nvSpPr>
          <p:cNvPr id="449" name="K"/>
          <p:cNvSpPr/>
          <p:nvPr/>
        </p:nvSpPr>
        <p:spPr>
          <a:xfrm>
            <a:off x="8220456" y="3690649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450" name="G"/>
          <p:cNvPicPr>
            <a:picLocks noChangeAspect="1"/>
          </p:cNvPicPr>
          <p:nvPr/>
        </p:nvPicPr>
        <p:blipFill>
          <a:blip r:embed="rIdL8"/>
          <a:stretch>
            <a:fillRect/>
          </a:stretch>
        </p:blipFill>
        <p:spPr>
          <a:xfrm>
            <a:off x="8293608" y="3763801"/>
            <a:ext cx="182880" cy="182880"/>
          </a:xfrm>
          <a:prstGeom prst="rect">
            <a:avLst/>
          </a:prstGeom>
        </p:spPr>
      </p:pic>
      <p:sp>
        <p:nvSpPr>
          <p:cNvPr id="451" name="T"/>
          <p:cNvSpPr txBox="1"/>
          <p:nvPr/>
        </p:nvSpPr>
        <p:spPr>
          <a:xfrm>
            <a:off x="8622792" y="3611135"/>
            <a:ext cx="1100000" cy="28166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5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19 dari 23</a:t>
            </a:r>
            <a:endParaRPr lang="id-ID" sz="1500"/>
          </a:p>
        </p:txBody>
      </p:sp>
      <p:sp>
        <p:nvSpPr>
          <p:cNvPr id="452" name="T"/>
          <p:cNvSpPr txBox="1"/>
          <p:nvPr/>
        </p:nvSpPr>
        <p:spPr>
          <a:xfrm>
            <a:off x="8622792" y="3895488"/>
            <a:ext cx="11000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kecamatan Asmat Waspada</a:t>
            </a:r>
            <a:endParaRPr lang="id-ID" sz="700"/>
          </a:p>
        </p:txBody>
      </p:sp>
      <p:sp>
        <p:nvSpPr>
          <p:cNvPr id="453" name="K"/>
          <p:cNvSpPr/>
          <p:nvPr/>
        </p:nvSpPr>
        <p:spPr>
          <a:xfrm>
            <a:off x="9866376" y="3545414"/>
            <a:ext cx="1645920" cy="619654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>
            <a:noFill/>
          </a:ln>
        </p:spPr>
        <p:txBody>
          <a:bodyPr/>
          <a:p/>
        </p:txBody>
      </p:sp>
      <p:sp>
        <p:nvSpPr>
          <p:cNvPr id="454" name="K"/>
          <p:cNvSpPr/>
          <p:nvPr/>
        </p:nvSpPr>
        <p:spPr>
          <a:xfrm>
            <a:off x="9957816" y="3690649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455" name="G"/>
          <p:cNvPicPr>
            <a:picLocks noChangeAspect="1"/>
          </p:cNvPicPr>
          <p:nvPr/>
        </p:nvPicPr>
        <p:blipFill>
          <a:blip r:embed="rIdM10"/>
          <a:stretch>
            <a:fillRect/>
          </a:stretch>
        </p:blipFill>
        <p:spPr>
          <a:xfrm>
            <a:off x="10030968" y="3763801"/>
            <a:ext cx="182880" cy="182880"/>
          </a:xfrm>
          <a:prstGeom prst="rect">
            <a:avLst/>
          </a:prstGeom>
        </p:spPr>
      </p:pic>
      <p:sp>
        <p:nvSpPr>
          <p:cNvPr id="456" name="T"/>
          <p:cNvSpPr txBox="1"/>
          <p:nvPr/>
        </p:nvSpPr>
        <p:spPr>
          <a:xfrm>
            <a:off x="10360152" y="3611135"/>
            <a:ext cx="1100000" cy="28166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5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75 mm</a:t>
            </a:r>
            <a:endParaRPr lang="id-ID" sz="1500"/>
          </a:p>
        </p:txBody>
      </p:sp>
      <p:sp>
        <p:nvSpPr>
          <p:cNvPr id="457" name="T"/>
          <p:cNvSpPr txBox="1"/>
          <p:nvPr/>
        </p:nvSpPr>
        <p:spPr>
          <a:xfrm>
            <a:off x="10360152" y="3895488"/>
            <a:ext cx="11000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hujan 3 hari, Boven Digoel</a:t>
            </a:r>
            <a:endParaRPr lang="id-ID" sz="700"/>
          </a:p>
        </p:txBody>
      </p:sp>
      <p:sp>
        <p:nvSpPr>
          <p:cNvPr id="458" name="K"/>
          <p:cNvSpPr/>
          <p:nvPr/>
        </p:nvSpPr>
        <p:spPr>
          <a:xfrm>
            <a:off x="8129016" y="4258955"/>
            <a:ext cx="1645920" cy="619654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>
            <a:noFill/>
          </a:ln>
        </p:spPr>
        <p:txBody>
          <a:bodyPr/>
          <a:p/>
        </p:txBody>
      </p:sp>
      <p:sp>
        <p:nvSpPr>
          <p:cNvPr id="459" name="K"/>
          <p:cNvSpPr/>
          <p:nvPr/>
        </p:nvSpPr>
        <p:spPr>
          <a:xfrm>
            <a:off x="8220456" y="4404190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460" name="G"/>
          <p:cNvPicPr>
            <a:picLocks noChangeAspect="1"/>
          </p:cNvPicPr>
          <p:nvPr/>
        </p:nvPicPr>
        <p:blipFill>
          <a:blip r:embed="rIdL9"/>
          <a:stretch>
            <a:fillRect/>
          </a:stretch>
        </p:blipFill>
        <p:spPr>
          <a:xfrm>
            <a:off x="8293608" y="4477342"/>
            <a:ext cx="182880" cy="182880"/>
          </a:xfrm>
          <a:prstGeom prst="rect">
            <a:avLst/>
          </a:prstGeom>
        </p:spPr>
      </p:pic>
      <p:sp>
        <p:nvSpPr>
          <p:cNvPr id="461" name="T"/>
          <p:cNvSpPr txBox="1"/>
          <p:nvPr/>
        </p:nvSpPr>
        <p:spPr>
          <a:xfrm>
            <a:off x="8622792" y="4324676"/>
            <a:ext cx="1100000" cy="28166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5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6</a:t>
            </a:r>
            <a:endParaRPr lang="id-ID" sz="1500"/>
          </a:p>
        </p:txBody>
      </p:sp>
      <p:sp>
        <p:nvSpPr>
          <p:cNvPr id="462" name="T"/>
          <p:cNvSpPr txBox="1"/>
          <p:nvPr/>
        </p:nvSpPr>
        <p:spPr>
          <a:xfrm>
            <a:off x="8622792" y="4609028"/>
            <a:ext cx="11000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banjir DIBI 2008–2025</a:t>
            </a:r>
            <a:endParaRPr lang="id-ID" sz="700"/>
          </a:p>
        </p:txBody>
      </p:sp>
      <p:sp>
        <p:nvSpPr>
          <p:cNvPr id="463" name="K"/>
          <p:cNvSpPr/>
          <p:nvPr/>
        </p:nvSpPr>
        <p:spPr>
          <a:xfrm>
            <a:off x="9866376" y="4258955"/>
            <a:ext cx="1645920" cy="619654"/>
          </a:xfrm>
          <a:prstGeom prst="roundRect">
            <a:avLst>
              <a:gd name="adj" fmla="val 14286"/>
            </a:avLst>
          </a:prstGeom>
          <a:solidFill>
            <a:srgbClr val="F7F8FA"/>
          </a:solidFill>
          <a:ln>
            <a:noFill/>
          </a:ln>
        </p:spPr>
        <p:txBody>
          <a:bodyPr/>
          <a:p/>
        </p:txBody>
      </p:sp>
      <p:sp>
        <p:nvSpPr>
          <p:cNvPr id="464" name="K"/>
          <p:cNvSpPr/>
          <p:nvPr/>
        </p:nvSpPr>
        <p:spPr>
          <a:xfrm>
            <a:off x="9957816" y="4404190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465" name="G"/>
          <p:cNvPicPr>
            <a:picLocks noChangeAspect="1"/>
          </p:cNvPicPr>
          <p:nvPr/>
        </p:nvPicPr>
        <p:blipFill>
          <a:blip r:embed="rIdL9"/>
          <a:stretch>
            <a:fillRect/>
          </a:stretch>
        </p:blipFill>
        <p:spPr>
          <a:xfrm>
            <a:off x="10030968" y="4477342"/>
            <a:ext cx="182880" cy="182880"/>
          </a:xfrm>
          <a:prstGeom prst="rect">
            <a:avLst/>
          </a:prstGeom>
        </p:spPr>
      </p:pic>
      <p:sp>
        <p:nvSpPr>
          <p:cNvPr id="466" name="T"/>
          <p:cNvSpPr txBox="1"/>
          <p:nvPr/>
        </p:nvSpPr>
        <p:spPr>
          <a:xfrm>
            <a:off x="10360152" y="4324676"/>
            <a:ext cx="1100000" cy="28166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15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0</a:t>
            </a:r>
            <a:endParaRPr lang="id-ID" sz="1500"/>
          </a:p>
        </p:txBody>
      </p:sp>
      <p:sp>
        <p:nvSpPr>
          <p:cNvPr id="467" name="T"/>
          <p:cNvSpPr txBox="1"/>
          <p:nvPr/>
        </p:nvSpPr>
        <p:spPr>
          <a:xfrm>
            <a:off x="10360152" y="4609028"/>
            <a:ext cx="11000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longsor DIBI 2008–2025</a:t>
            </a:r>
            <a:endParaRPr lang="id-ID" sz="700"/>
          </a:p>
        </p:txBody>
      </p:sp>
      <p:sp>
        <p:nvSpPr>
          <p:cNvPr id="468" name="K"/>
          <p:cNvSpPr/>
          <p:nvPr/>
        </p:nvSpPr>
        <p:spPr>
          <a:xfrm>
            <a:off x="548640" y="5225990"/>
            <a:ext cx="11094415" cy="924084"/>
          </a:xfrm>
          <a:prstGeom prst="roundRect">
            <a:avLst>
              <a:gd name="adj" fmla="val 8889"/>
            </a:avLst>
          </a:prstGeom>
          <a:solidFill>
            <a:srgbClr val="EEF5FC"/>
          </a:solidFill>
          <a:ln>
            <a:noFill/>
          </a:ln>
        </p:spPr>
        <p:txBody>
          <a:bodyPr/>
          <a:p/>
        </p:txBody>
      </p:sp>
      <p:sp>
        <p:nvSpPr>
          <p:cNvPr id="469" name="T"/>
          <p:cNvSpPr txBox="1"/>
          <p:nvPr/>
        </p:nvSpPr>
        <p:spPr>
          <a:xfrm>
            <a:off x="694944" y="5303547"/>
            <a:ext cx="40000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50" b="1" spc="100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YANG PERLU DISIAPKAN SEBELUM MUSIM HUJAN</a:t>
            </a:r>
            <a:endParaRPr lang="id-ID" sz="750"/>
          </a:p>
        </p:txBody>
      </p:sp>
      <p:sp>
        <p:nvSpPr>
          <p:cNvPr id="470" name="K"/>
          <p:cNvSpPr/>
          <p:nvPr/>
        </p:nvSpPr>
        <p:spPr>
          <a:xfrm>
            <a:off x="694944" y="5587165"/>
            <a:ext cx="329184" cy="329184"/>
          </a:xfrm>
          <a:prstGeom prst="ellipse">
            <a:avLst/>
          </a:prstGeom>
          <a:solidFill>
            <a:srgbClr val="2F86D1"/>
          </a:solidFill>
          <a:ln>
            <a:noFill/>
          </a:ln>
        </p:spPr>
        <p:txBody>
          <a:bodyPr/>
          <a:p/>
        </p:txBody>
      </p:sp>
      <p:pic>
        <p:nvPicPr>
          <p:cNvPr id="471" name="G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768096" y="5660317"/>
            <a:ext cx="182880" cy="182880"/>
          </a:xfrm>
          <a:prstGeom prst="rect">
            <a:avLst/>
          </a:prstGeom>
        </p:spPr>
      </p:pic>
      <p:sp>
        <p:nvSpPr>
          <p:cNvPr id="472" name="T"/>
          <p:cNvSpPr txBox="1"/>
          <p:nvPr/>
        </p:nvSpPr>
        <p:spPr>
          <a:xfrm>
            <a:off x="1115568" y="5529120"/>
            <a:ext cx="3049336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Siaga banjir di Asmat dan Mappi</a:t>
            </a:r>
            <a:endParaRPr lang="id-ID" sz="900"/>
          </a:p>
        </p:txBody>
      </p:sp>
      <p:sp>
        <p:nvSpPr>
          <p:cNvPr id="473" name="T"/>
          <p:cNvSpPr txBox="1"/>
          <p:nvPr/>
        </p:nvSpPr>
        <p:spPr>
          <a:xfrm>
            <a:off x="1115568" y="5732979"/>
            <a:ext cx="3049336" cy="36963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19 dari 23 kecamatan Asmat dan 13 dari 15 kecamatan Mappi Waspada banjir: siapkan perahu dan titik kumpul kampung tepi sungai</a:t>
            </a:r>
            <a:endParaRPr lang="id-ID" sz="720"/>
          </a:p>
        </p:txBody>
      </p:sp>
      <p:sp>
        <p:nvSpPr>
          <p:cNvPr id="474" name="K"/>
          <p:cNvSpPr/>
          <p:nvPr/>
        </p:nvSpPr>
        <p:spPr>
          <a:xfrm>
            <a:off x="4344280" y="5587165"/>
            <a:ext cx="329184" cy="329184"/>
          </a:xfrm>
          <a:prstGeom prst="ellipse">
            <a:avLst/>
          </a:prstGeom>
          <a:solidFill>
            <a:srgbClr val="2F86D1"/>
          </a:solidFill>
          <a:ln>
            <a:noFill/>
          </a:ln>
        </p:spPr>
        <p:txBody>
          <a:bodyPr/>
          <a:p/>
        </p:txBody>
      </p:sp>
      <p:pic>
        <p:nvPicPr>
          <p:cNvPr id="475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4417432" y="5660317"/>
            <a:ext cx="182880" cy="182880"/>
          </a:xfrm>
          <a:prstGeom prst="rect">
            <a:avLst/>
          </a:prstGeom>
        </p:spPr>
      </p:pic>
      <p:sp>
        <p:nvSpPr>
          <p:cNvPr id="476" name="T"/>
          <p:cNvSpPr txBox="1"/>
          <p:nvPr/>
        </p:nvSpPr>
        <p:spPr>
          <a:xfrm>
            <a:off x="4764904" y="5529120"/>
            <a:ext cx="3049336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Pengamat longsor di Boven Digoel</a:t>
            </a:r>
            <a:endParaRPr lang="id-ID" sz="900"/>
          </a:p>
        </p:txBody>
      </p:sp>
      <p:sp>
        <p:nvSpPr>
          <p:cNvPr id="477" name="T"/>
          <p:cNvSpPr txBox="1"/>
          <p:nvPr/>
        </p:nvSpPr>
        <p:spPr>
          <a:xfrm>
            <a:off x="4764904" y="5732979"/>
            <a:ext cx="3049336" cy="36963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Ninati, Waropko, Mindiptana, Ambatkwi Waspada longsor: pasang pengamat hujan dan sirene di kampung lereng</a:t>
            </a:r>
            <a:endParaRPr lang="id-ID" sz="720"/>
          </a:p>
        </p:txBody>
      </p:sp>
      <p:cxnSp>
        <p:nvCxnSpPr>
          <p:cNvPr id="478" name="L"/>
          <p:cNvCxnSpPr/>
          <p:nvPr/>
        </p:nvCxnSpPr>
        <p:spPr>
          <a:xfrm>
            <a:off x="4271128" y="5563983"/>
            <a:ext cx="0" cy="492845"/>
          </a:xfrm>
          <a:prstGeom prst="line">
            <a:avLst/>
          </a:prstGeom>
          <a:ln w="9525">
            <a:solidFill>
              <a:srgbClr val="C9DDF2"/>
            </a:solidFill>
          </a:ln>
        </p:spPr>
      </p:cxnSp>
      <p:sp>
        <p:nvSpPr>
          <p:cNvPr id="484" name="K"/>
          <p:cNvSpPr/>
          <p:nvPr/>
        </p:nvSpPr>
        <p:spPr>
          <a:xfrm>
            <a:off x="7993716" y="5587165"/>
            <a:ext cx="329184" cy="329184"/>
          </a:xfrm>
          <a:prstGeom prst="ellipse">
            <a:avLst/>
          </a:prstGeom>
          <a:solidFill>
            <a:srgbClr val="2F86D1"/>
          </a:solidFill>
          <a:ln>
            <a:noFill/>
          </a:ln>
        </p:spPr>
        <p:txBody>
          <a:bodyPr/>
          <a:p/>
        </p:txBody>
      </p:sp>
      <p:pic>
        <p:nvPicPr>
          <p:cNvPr id="485" name="G"/>
          <p:cNvPicPr>
            <a:picLocks noChangeAspect="1"/>
          </p:cNvPicPr>
          <p:nvPr/>
        </p:nvPicPr>
        <p:blipFill>
          <a:blip r:embed="rIdM15"/>
          <a:stretch>
            <a:fillRect/>
          </a:stretch>
        </p:blipFill>
        <p:spPr>
          <a:xfrm>
            <a:off x="8066868" y="5660317"/>
            <a:ext cx="182880" cy="182880"/>
          </a:xfrm>
          <a:prstGeom prst="rect">
            <a:avLst/>
          </a:prstGeom>
        </p:spPr>
      </p:pic>
      <p:sp>
        <p:nvSpPr>
          <p:cNvPr id="486" name="T"/>
          <p:cNvSpPr txBox="1"/>
          <p:nvPr/>
        </p:nvSpPr>
        <p:spPr>
          <a:xfrm>
            <a:off x="8414340" y="5529120"/>
            <a:ext cx="3049336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Api Merauke tetap dikejar</a:t>
            </a:r>
            <a:endParaRPr lang="id-ID" sz="900"/>
          </a:p>
        </p:txBody>
      </p:sp>
      <p:sp>
        <p:nvSpPr>
          <p:cNvPr id="487" name="T"/>
          <p:cNvSpPr txBox="1"/>
          <p:nvPr/>
        </p:nvSpPr>
        <p:spPr>
          <a:xfrm>
            <a:off x="8414340" y="5732979"/>
            <a:ext cx="3049336" cy="36963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id-ID" sz="7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Hanya 1 dari 22 kecamatan Merauke Waspada banjir; 231 titik (30 Okt) dan 485 ha belum padam (29 Okt): OMC dan satgas darat diteruskan</a:t>
            </a:r>
            <a:endParaRPr lang="id-ID" sz="720"/>
          </a:p>
        </p:txBody>
      </p:sp>
      <p:cxnSp>
        <p:nvCxnSpPr>
          <p:cNvPr id="488" name="L"/>
          <p:cNvCxnSpPr/>
          <p:nvPr/>
        </p:nvCxnSpPr>
        <p:spPr>
          <a:xfrm>
            <a:off x="7920564" y="5563983"/>
            <a:ext cx="0" cy="492845"/>
          </a:xfrm>
          <a:prstGeom prst="line">
            <a:avLst/>
          </a:prstGeom>
          <a:ln w="9525">
            <a:solidFill>
              <a:srgbClr val="C9DDF2"/>
            </a:solidFill>
          </a:ln>
        </p:spPr>
      </p:cxnSp>
      <p:sp>
        <p:nvSpPr>
          <p:cNvPr id="489" name="K"/>
          <p:cNvSpPr/>
          <p:nvPr/>
        </p:nvSpPr>
        <p:spPr>
          <a:xfrm>
            <a:off x="548640" y="6223394"/>
            <a:ext cx="36576" cy="164592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/>
          <a:p/>
        </p:txBody>
      </p:sp>
      <p:sp>
        <p:nvSpPr>
          <p:cNvPr id="490" name="T"/>
          <p:cNvSpPr txBox="1"/>
          <p:nvPr/>
        </p:nvSpPr>
        <p:spPr>
          <a:xfrm>
            <a:off x="640080" y="6214250"/>
            <a:ext cx="100000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2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*Status banjir dan longsor serta hujan 3 hari terbesar (prakiraan 7 hari sejak 30 Okt): sistem pantau banjir kita dari prakiraan hujan Open-Meteo. Kejadian: DIBI BNPB 2008–2025. Hujan dan angin: WA BMKG 30 Okt (periode 30 Okt–1 Nov).</a:t>
            </a:r>
            <a:endParaRPr lang="id-ID" sz="720"/>
          </a:p>
        </p:txBody>
      </p:sp>
      <p:sp>
        <p:nvSpPr>
          <p:cNvPr id="9554" name="K"/>
          <p:cNvSpPr/>
          <p:nvPr/>
        </p:nvSpPr>
        <p:spPr>
          <a:xfrm>
            <a:off x="8615477" y="1819975"/>
            <a:ext cx="1046269" cy="155448"/>
          </a:xfrm>
          <a:prstGeom prst="roundRect">
            <a:avLst>
              <a:gd name="adj" fmla="val 50000"/>
            </a:avLst>
          </a:prstGeom>
          <a:solidFill>
            <a:srgbClr val="F8DDE0"/>
          </a:solidFill>
          <a:ln>
            <a:noFill/>
          </a:ln>
        </p:spPr>
        <p:txBody>
          <a:bodyPr/>
          <a:p/>
        </p:txBody>
      </p:sp>
      <p:pic>
        <p:nvPicPr>
          <p:cNvPr id="9555" name="G"/>
          <p:cNvPicPr>
            <a:picLocks noChangeAspect="1"/>
          </p:cNvPicPr>
          <p:nvPr/>
        </p:nvPicPr>
        <p:blipFill>
          <a:blip r:embed="rIdL2"/>
          <a:stretch>
            <a:fillRect/>
          </a:stretch>
        </p:blipFill>
        <p:spPr>
          <a:xfrm>
            <a:off x="8678977" y="1851064"/>
            <a:ext cx="93269" cy="93269"/>
          </a:xfrm>
          <a:prstGeom prst="rect">
            <a:avLst/>
          </a:prstGeom>
        </p:spPr>
      </p:pic>
      <p:sp>
        <p:nvSpPr>
          <p:cNvPr id="9556" name="T"/>
          <p:cNvSpPr txBox="1"/>
          <p:nvPr/>
        </p:nvSpPr>
        <p:spPr>
          <a:xfrm>
            <a:off x="8810346" y="1819975"/>
            <a:ext cx="813300" cy="155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6 kejadian banjir</a:t>
            </a:r>
          </a:p>
        </p:txBody>
      </p:sp>
      <p:sp>
        <p:nvSpPr>
          <p:cNvPr id="9557" name="K"/>
          <p:cNvSpPr/>
          <p:nvPr/>
        </p:nvSpPr>
        <p:spPr>
          <a:xfrm>
            <a:off x="9707466" y="1819975"/>
            <a:ext cx="1000669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558" name="G"/>
          <p:cNvPicPr>
            <a:picLocks noChangeAspect="1"/>
          </p:cNvPicPr>
          <p:nvPr/>
        </p:nvPicPr>
        <p:blipFill>
          <a:blip r:embed="rIdL3"/>
          <a:stretch>
            <a:fillRect/>
          </a:stretch>
        </p:blipFill>
        <p:spPr>
          <a:xfrm>
            <a:off x="9770966" y="1851064"/>
            <a:ext cx="93269" cy="93269"/>
          </a:xfrm>
          <a:prstGeom prst="rect">
            <a:avLst/>
          </a:prstGeom>
        </p:spPr>
      </p:pic>
      <p:sp>
        <p:nvSpPr>
          <p:cNvPr id="9559" name="T"/>
          <p:cNvSpPr txBox="1"/>
          <p:nvPr/>
        </p:nvSpPr>
        <p:spPr>
          <a:xfrm>
            <a:off x="9902335" y="1819975"/>
            <a:ext cx="767700" cy="155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2015, 2023, 2024</a:t>
            </a:r>
          </a:p>
        </p:txBody>
      </p:sp>
      <p:sp>
        <p:nvSpPr>
          <p:cNvPr id="9560" name="K"/>
          <p:cNvSpPr/>
          <p:nvPr/>
        </p:nvSpPr>
        <p:spPr>
          <a:xfrm>
            <a:off x="10753855" y="1819975"/>
            <a:ext cx="681469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/>
          <a:p/>
        </p:txBody>
      </p:sp>
      <p:pic>
        <p:nvPicPr>
          <p:cNvPr id="9561" name="G"/>
          <p:cNvPicPr>
            <a:picLocks noChangeAspect="1"/>
          </p:cNvPicPr>
          <p:nvPr/>
        </p:nvPicPr>
        <p:blipFill>
          <a:blip r:embed="rIdL4"/>
          <a:stretch>
            <a:fillRect/>
          </a:stretch>
        </p:blipFill>
        <p:spPr>
          <a:xfrm>
            <a:off x="10817355" y="1851064"/>
            <a:ext cx="93269" cy="93269"/>
          </a:xfrm>
          <a:prstGeom prst="rect">
            <a:avLst/>
          </a:prstGeom>
        </p:spPr>
      </p:pic>
      <p:sp>
        <p:nvSpPr>
          <p:cNvPr id="9562" name="T"/>
          <p:cNvSpPr txBox="1"/>
          <p:nvPr/>
        </p:nvSpPr>
        <p:spPr>
          <a:xfrm>
            <a:off x="10948724" y="1819975"/>
            <a:ext cx="448500" cy="1554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0 longsor</a:t>
            </a:r>
          </a:p>
        </p:txBody>
      </p:sp>
      <p:sp>
        <p:nvSpPr>
          <p:cNvPr id="9563" name="T"/>
          <p:cNvSpPr txBox="1"/>
          <p:nvPr/>
        </p:nvSpPr>
        <p:spPr>
          <a:xfrm>
            <a:off x="676656" y="2758967"/>
            <a:ext cx="1923344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600" b="1" spc="10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KABUPATEN</a:t>
            </a:r>
          </a:p>
        </p:txBody>
      </p:sp>
      <p:sp>
        <p:nvSpPr>
          <p:cNvPr id="9564" name="T"/>
          <p:cNvSpPr txBox="1"/>
          <p:nvPr/>
        </p:nvSpPr>
        <p:spPr>
          <a:xfrm>
            <a:off x="2650000" y="2758967"/>
            <a:ext cx="2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600" b="1" spc="10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KECAMATAN WASPADA, HUJAN TERBESAR</a:t>
            </a:r>
          </a:p>
        </p:txBody>
      </p:sp>
      <p:sp>
        <p:nvSpPr>
          <p:cNvPr id="9565" name="T"/>
          <p:cNvSpPr txBox="1"/>
          <p:nvPr/>
        </p:nvSpPr>
        <p:spPr>
          <a:xfrm>
            <a:off x="4900000" y="2758967"/>
            <a:ext cx="85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600" b="1" spc="10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HUJAN 3 HARI</a:t>
            </a:r>
          </a:p>
        </p:txBody>
      </p:sp>
      <p:sp>
        <p:nvSpPr>
          <p:cNvPr id="9566" name="T"/>
          <p:cNvSpPr txBox="1"/>
          <p:nvPr/>
        </p:nvSpPr>
        <p:spPr>
          <a:xfrm>
            <a:off x="5800000" y="2758967"/>
            <a:ext cx="55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600" b="1" spc="10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DIBI*</a:t>
            </a:r>
          </a:p>
        </p:txBody>
      </p:sp>
      <p:sp>
        <p:nvSpPr>
          <p:cNvPr id="9567" name="T"/>
          <p:cNvSpPr txBox="1"/>
          <p:nvPr/>
        </p:nvSpPr>
        <p:spPr>
          <a:xfrm>
            <a:off x="6400800" y="2758967"/>
            <a:ext cx="1335024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600" b="1" spc="10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ANCAMAN</a:t>
            </a:r>
          </a:p>
        </p:txBody>
      </p:sp>
      <p:cxnSp>
        <p:nvCxnSpPr>
          <p:cNvPr id="9568" name="L"/>
          <p:cNvCxnSpPr/>
          <p:nvPr/>
        </p:nvCxnSpPr>
        <p:spPr>
          <a:xfrm>
            <a:off x="676656" y="2944538"/>
            <a:ext cx="7059168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9569" name="K"/>
          <p:cNvSpPr/>
          <p:nvPr/>
        </p:nvSpPr>
        <p:spPr>
          <a:xfrm>
            <a:off x="676656" y="3124316"/>
            <a:ext cx="128016" cy="12801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sp>
        <p:nvSpPr>
          <p:cNvPr id="9570" name="T"/>
          <p:cNvSpPr txBox="1"/>
          <p:nvPr/>
        </p:nvSpPr>
        <p:spPr>
          <a:xfrm>
            <a:off x="676656" y="3124316"/>
            <a:ext cx="128016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48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571" name="T"/>
          <p:cNvSpPr txBox="1"/>
          <p:nvPr/>
        </p:nvSpPr>
        <p:spPr>
          <a:xfrm>
            <a:off x="886968" y="2972704"/>
            <a:ext cx="1700000" cy="4312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Asmat</a:t>
            </a:r>
          </a:p>
        </p:txBody>
      </p:sp>
      <p:sp>
        <p:nvSpPr>
          <p:cNvPr id="9572" name="T"/>
          <p:cNvSpPr txBox="1"/>
          <p:nvPr/>
        </p:nvSpPr>
        <p:spPr>
          <a:xfrm>
            <a:off x="2650000" y="2972704"/>
            <a:ext cx="2200000" cy="4312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19 dari 23: </a:t>
            </a:r>
            <a:r>
              <a:rPr lang="id-ID" sz="680" b="0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Kolf Braza, Suru-suru, Atsj</a:t>
            </a:r>
          </a:p>
        </p:txBody>
      </p:sp>
      <p:sp>
        <p:nvSpPr>
          <p:cNvPr id="9573" name="T"/>
          <p:cNvSpPr txBox="1"/>
          <p:nvPr/>
        </p:nvSpPr>
        <p:spPr>
          <a:xfrm>
            <a:off x="4900000" y="2972704"/>
            <a:ext cx="850000" cy="4312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74 mm</a:t>
            </a:r>
          </a:p>
        </p:txBody>
      </p:sp>
      <p:sp>
        <p:nvSpPr>
          <p:cNvPr id="9574" name="T"/>
          <p:cNvSpPr txBox="1"/>
          <p:nvPr/>
        </p:nvSpPr>
        <p:spPr>
          <a:xfrm>
            <a:off x="5800000" y="2972704"/>
            <a:ext cx="550000" cy="4312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578" name="K"/>
          <p:cNvSpPr/>
          <p:nvPr/>
        </p:nvSpPr>
        <p:spPr>
          <a:xfrm>
            <a:off x="6804207" y="3124316"/>
            <a:ext cx="528210" cy="128016"/>
          </a:xfrm>
          <a:prstGeom prst="roundRect">
            <a:avLst>
              <a:gd name="adj" fmla="val 50000"/>
            </a:avLst>
          </a:prstGeom>
          <a:solidFill>
            <a:srgbClr val="DCEBF8"/>
          </a:solidFill>
          <a:ln>
            <a:noFill/>
          </a:ln>
        </p:spPr>
        <p:txBody>
          <a:bodyPr/>
          <a:p/>
        </p:txBody>
      </p:sp>
      <p:pic>
        <p:nvPicPr>
          <p:cNvPr id="9579" name="G"/>
          <p:cNvPicPr>
            <a:picLocks noChangeAspect="1"/>
          </p:cNvPicPr>
          <p:nvPr/>
        </p:nvPicPr>
        <p:blipFill>
          <a:blip r:embed="rIdL5"/>
          <a:stretch>
            <a:fillRect/>
          </a:stretch>
        </p:blipFill>
        <p:spPr>
          <a:xfrm>
            <a:off x="6867707" y="3149919"/>
            <a:ext cx="76810" cy="76810"/>
          </a:xfrm>
          <a:prstGeom prst="rect">
            <a:avLst/>
          </a:prstGeom>
        </p:spPr>
      </p:pic>
      <p:sp>
        <p:nvSpPr>
          <p:cNvPr id="9580" name="T"/>
          <p:cNvSpPr txBox="1"/>
          <p:nvPr/>
        </p:nvSpPr>
        <p:spPr>
          <a:xfrm>
            <a:off x="6982617" y="3124316"/>
            <a:ext cx="311700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banjir</a:t>
            </a:r>
          </a:p>
        </p:txBody>
      </p:sp>
      <p:cxnSp>
        <p:nvCxnSpPr>
          <p:cNvPr id="9581" name="L"/>
          <p:cNvCxnSpPr/>
          <p:nvPr/>
        </p:nvCxnSpPr>
        <p:spPr>
          <a:xfrm>
            <a:off x="676656" y="3403943"/>
            <a:ext cx="7059168" cy="0"/>
          </a:xfrm>
          <a:prstGeom prst="line">
            <a:avLst/>
          </a:prstGeom>
          <a:ln w="6350">
            <a:solidFill>
              <a:srgbClr val="EEF0F3"/>
            </a:solidFill>
          </a:ln>
        </p:spPr>
      </p:cxnSp>
      <p:sp>
        <p:nvSpPr>
          <p:cNvPr id="9582" name="K"/>
          <p:cNvSpPr/>
          <p:nvPr/>
        </p:nvSpPr>
        <p:spPr>
          <a:xfrm>
            <a:off x="676656" y="3555555"/>
            <a:ext cx="128016" cy="12801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sp>
        <p:nvSpPr>
          <p:cNvPr id="9583" name="T"/>
          <p:cNvSpPr txBox="1"/>
          <p:nvPr/>
        </p:nvSpPr>
        <p:spPr>
          <a:xfrm>
            <a:off x="676656" y="3555555"/>
            <a:ext cx="128016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48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584" name="T"/>
          <p:cNvSpPr txBox="1"/>
          <p:nvPr/>
        </p:nvSpPr>
        <p:spPr>
          <a:xfrm>
            <a:off x="886968" y="3403943"/>
            <a:ext cx="1700000" cy="4312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Boven Digoel</a:t>
            </a:r>
          </a:p>
        </p:txBody>
      </p:sp>
      <p:sp>
        <p:nvSpPr>
          <p:cNvPr id="9585" name="T"/>
          <p:cNvSpPr txBox="1"/>
          <p:nvPr/>
        </p:nvSpPr>
        <p:spPr>
          <a:xfrm>
            <a:off x="2650000" y="3403943"/>
            <a:ext cx="2200000" cy="4312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13 dari 20: </a:t>
            </a:r>
            <a:r>
              <a:rPr lang="id-ID" sz="680" b="0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Manggelum, Ninati, Kawagit</a:t>
            </a:r>
          </a:p>
        </p:txBody>
      </p:sp>
      <p:sp>
        <p:nvSpPr>
          <p:cNvPr id="9586" name="T"/>
          <p:cNvSpPr txBox="1"/>
          <p:nvPr/>
        </p:nvSpPr>
        <p:spPr>
          <a:xfrm>
            <a:off x="4900000" y="3403943"/>
            <a:ext cx="850000" cy="4312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75 mm</a:t>
            </a:r>
          </a:p>
        </p:txBody>
      </p:sp>
      <p:sp>
        <p:nvSpPr>
          <p:cNvPr id="9587" name="T"/>
          <p:cNvSpPr txBox="1"/>
          <p:nvPr/>
        </p:nvSpPr>
        <p:spPr>
          <a:xfrm>
            <a:off x="5800000" y="3403943"/>
            <a:ext cx="550000" cy="4312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0</a:t>
            </a:r>
          </a:p>
        </p:txBody>
      </p:sp>
      <p:sp>
        <p:nvSpPr>
          <p:cNvPr id="9594" name="K"/>
          <p:cNvSpPr/>
          <p:nvPr/>
        </p:nvSpPr>
        <p:spPr>
          <a:xfrm>
            <a:off x="6494442" y="3555555"/>
            <a:ext cx="528210" cy="128016"/>
          </a:xfrm>
          <a:prstGeom prst="roundRect">
            <a:avLst>
              <a:gd name="adj" fmla="val 50000"/>
            </a:avLst>
          </a:prstGeom>
          <a:solidFill>
            <a:srgbClr val="DCEBF8"/>
          </a:solidFill>
          <a:ln>
            <a:noFill/>
          </a:ln>
        </p:spPr>
        <p:txBody>
          <a:bodyPr/>
          <a:p/>
        </p:txBody>
      </p:sp>
      <p:pic>
        <p:nvPicPr>
          <p:cNvPr id="9595" name="G"/>
          <p:cNvPicPr>
            <a:picLocks noChangeAspect="1"/>
          </p:cNvPicPr>
          <p:nvPr/>
        </p:nvPicPr>
        <p:blipFill>
          <a:blip r:embed="rIdL5"/>
          <a:stretch>
            <a:fillRect/>
          </a:stretch>
        </p:blipFill>
        <p:spPr>
          <a:xfrm>
            <a:off x="6557942" y="3581158"/>
            <a:ext cx="76810" cy="76810"/>
          </a:xfrm>
          <a:prstGeom prst="rect">
            <a:avLst/>
          </a:prstGeom>
        </p:spPr>
      </p:pic>
      <p:sp>
        <p:nvSpPr>
          <p:cNvPr id="9596" name="T"/>
          <p:cNvSpPr txBox="1"/>
          <p:nvPr/>
        </p:nvSpPr>
        <p:spPr>
          <a:xfrm>
            <a:off x="6672852" y="3555555"/>
            <a:ext cx="311700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banjir</a:t>
            </a:r>
          </a:p>
        </p:txBody>
      </p:sp>
      <p:sp>
        <p:nvSpPr>
          <p:cNvPr id="9597" name="K"/>
          <p:cNvSpPr/>
          <p:nvPr/>
        </p:nvSpPr>
        <p:spPr>
          <a:xfrm>
            <a:off x="7068372" y="3555555"/>
            <a:ext cx="573810" cy="12801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/>
          <a:p/>
        </p:txBody>
      </p:sp>
      <p:pic>
        <p:nvPicPr>
          <p:cNvPr id="9598" name="G"/>
          <p:cNvPicPr>
            <a:picLocks noChangeAspect="1"/>
          </p:cNvPicPr>
          <p:nvPr/>
        </p:nvPicPr>
        <p:blipFill>
          <a:blip r:embed="rIdL6"/>
          <a:stretch>
            <a:fillRect/>
          </a:stretch>
        </p:blipFill>
        <p:spPr>
          <a:xfrm>
            <a:off x="7131872" y="3581158"/>
            <a:ext cx="76810" cy="76810"/>
          </a:xfrm>
          <a:prstGeom prst="rect">
            <a:avLst/>
          </a:prstGeom>
        </p:spPr>
      </p:pic>
      <p:sp>
        <p:nvSpPr>
          <p:cNvPr id="9599" name="T"/>
          <p:cNvSpPr txBox="1"/>
          <p:nvPr/>
        </p:nvSpPr>
        <p:spPr>
          <a:xfrm>
            <a:off x="7246782" y="3555555"/>
            <a:ext cx="357300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longsor</a:t>
            </a:r>
          </a:p>
        </p:txBody>
      </p:sp>
      <p:cxnSp>
        <p:nvCxnSpPr>
          <p:cNvPr id="9600" name="L"/>
          <p:cNvCxnSpPr/>
          <p:nvPr/>
        </p:nvCxnSpPr>
        <p:spPr>
          <a:xfrm>
            <a:off x="676656" y="3835182"/>
            <a:ext cx="7059168" cy="0"/>
          </a:xfrm>
          <a:prstGeom prst="line">
            <a:avLst/>
          </a:prstGeom>
          <a:ln w="6350">
            <a:solidFill>
              <a:srgbClr val="EEF0F3"/>
            </a:solidFill>
          </a:ln>
        </p:spPr>
      </p:cxnSp>
      <p:sp>
        <p:nvSpPr>
          <p:cNvPr id="9601" name="K"/>
          <p:cNvSpPr/>
          <p:nvPr/>
        </p:nvSpPr>
        <p:spPr>
          <a:xfrm>
            <a:off x="676656" y="3986794"/>
            <a:ext cx="128016" cy="12801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sp>
        <p:nvSpPr>
          <p:cNvPr id="9602" name="T"/>
          <p:cNvSpPr txBox="1"/>
          <p:nvPr/>
        </p:nvSpPr>
        <p:spPr>
          <a:xfrm>
            <a:off x="676656" y="3986794"/>
            <a:ext cx="128016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48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9603" name="T"/>
          <p:cNvSpPr txBox="1"/>
          <p:nvPr/>
        </p:nvSpPr>
        <p:spPr>
          <a:xfrm>
            <a:off x="886968" y="3835182"/>
            <a:ext cx="1700000" cy="4312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Mappi</a:t>
            </a:r>
          </a:p>
        </p:txBody>
      </p:sp>
      <p:sp>
        <p:nvSpPr>
          <p:cNvPr id="9604" name="T"/>
          <p:cNvSpPr txBox="1"/>
          <p:nvPr/>
        </p:nvSpPr>
        <p:spPr>
          <a:xfrm>
            <a:off x="2650000" y="3835182"/>
            <a:ext cx="2200000" cy="4312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13 dari 15: </a:t>
            </a:r>
            <a:r>
              <a:rPr lang="id-ID" sz="680" b="0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Citak-Mitak, Assue, Haju</a:t>
            </a:r>
          </a:p>
        </p:txBody>
      </p:sp>
      <p:sp>
        <p:nvSpPr>
          <p:cNvPr id="9605" name="T"/>
          <p:cNvSpPr txBox="1"/>
          <p:nvPr/>
        </p:nvSpPr>
        <p:spPr>
          <a:xfrm>
            <a:off x="4900000" y="3835182"/>
            <a:ext cx="850000" cy="4312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70 mm</a:t>
            </a:r>
          </a:p>
        </p:txBody>
      </p:sp>
      <p:sp>
        <p:nvSpPr>
          <p:cNvPr id="9606" name="T"/>
          <p:cNvSpPr txBox="1"/>
          <p:nvPr/>
        </p:nvSpPr>
        <p:spPr>
          <a:xfrm>
            <a:off x="5800000" y="3835182"/>
            <a:ext cx="550000" cy="4312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610" name="K"/>
          <p:cNvSpPr/>
          <p:nvPr/>
        </p:nvSpPr>
        <p:spPr>
          <a:xfrm>
            <a:off x="6804207" y="3986794"/>
            <a:ext cx="528210" cy="128016"/>
          </a:xfrm>
          <a:prstGeom prst="roundRect">
            <a:avLst>
              <a:gd name="adj" fmla="val 50000"/>
            </a:avLst>
          </a:prstGeom>
          <a:solidFill>
            <a:srgbClr val="DCEBF8"/>
          </a:solidFill>
          <a:ln>
            <a:noFill/>
          </a:ln>
        </p:spPr>
        <p:txBody>
          <a:bodyPr/>
          <a:p/>
        </p:txBody>
      </p:sp>
      <p:pic>
        <p:nvPicPr>
          <p:cNvPr id="9611" name="G"/>
          <p:cNvPicPr>
            <a:picLocks noChangeAspect="1"/>
          </p:cNvPicPr>
          <p:nvPr/>
        </p:nvPicPr>
        <p:blipFill>
          <a:blip r:embed="rIdL5"/>
          <a:stretch>
            <a:fillRect/>
          </a:stretch>
        </p:blipFill>
        <p:spPr>
          <a:xfrm>
            <a:off x="6867707" y="4012397"/>
            <a:ext cx="76810" cy="76810"/>
          </a:xfrm>
          <a:prstGeom prst="rect">
            <a:avLst/>
          </a:prstGeom>
        </p:spPr>
      </p:pic>
      <p:sp>
        <p:nvSpPr>
          <p:cNvPr id="9612" name="T"/>
          <p:cNvSpPr txBox="1"/>
          <p:nvPr/>
        </p:nvSpPr>
        <p:spPr>
          <a:xfrm>
            <a:off x="6982617" y="3986794"/>
            <a:ext cx="311700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banjir</a:t>
            </a:r>
          </a:p>
        </p:txBody>
      </p:sp>
      <p:cxnSp>
        <p:nvCxnSpPr>
          <p:cNvPr id="9613" name="L"/>
          <p:cNvCxnSpPr/>
          <p:nvPr/>
        </p:nvCxnSpPr>
        <p:spPr>
          <a:xfrm>
            <a:off x="676656" y="4266422"/>
            <a:ext cx="7059168" cy="0"/>
          </a:xfrm>
          <a:prstGeom prst="line">
            <a:avLst/>
          </a:prstGeom>
          <a:ln w="6350">
            <a:solidFill>
              <a:srgbClr val="EEF0F3"/>
            </a:solidFill>
          </a:ln>
        </p:spPr>
      </p:cxnSp>
      <p:sp>
        <p:nvSpPr>
          <p:cNvPr id="9614" name="K"/>
          <p:cNvSpPr/>
          <p:nvPr/>
        </p:nvSpPr>
        <p:spPr>
          <a:xfrm>
            <a:off x="676656" y="4418033"/>
            <a:ext cx="128016" cy="128016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/>
          <a:p/>
        </p:txBody>
      </p:sp>
      <p:sp>
        <p:nvSpPr>
          <p:cNvPr id="9615" name="T"/>
          <p:cNvSpPr txBox="1"/>
          <p:nvPr/>
        </p:nvSpPr>
        <p:spPr>
          <a:xfrm>
            <a:off x="676656" y="4418033"/>
            <a:ext cx="128016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48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9616" name="T"/>
          <p:cNvSpPr txBox="1"/>
          <p:nvPr/>
        </p:nvSpPr>
        <p:spPr>
          <a:xfrm>
            <a:off x="886968" y="4266422"/>
            <a:ext cx="1700000" cy="4312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Merauke</a:t>
            </a:r>
          </a:p>
        </p:txBody>
      </p:sp>
      <p:sp>
        <p:nvSpPr>
          <p:cNvPr id="9617" name="T"/>
          <p:cNvSpPr txBox="1"/>
          <p:nvPr/>
        </p:nvSpPr>
        <p:spPr>
          <a:xfrm>
            <a:off x="2650000" y="4266422"/>
            <a:ext cx="2200000" cy="4312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7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1 dari 22: </a:t>
            </a:r>
            <a:r>
              <a:rPr lang="id-ID" sz="680" b="0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Ngguti</a:t>
            </a:r>
          </a:p>
        </p:txBody>
      </p:sp>
      <p:sp>
        <p:nvSpPr>
          <p:cNvPr id="9618" name="T"/>
          <p:cNvSpPr txBox="1"/>
          <p:nvPr/>
        </p:nvSpPr>
        <p:spPr>
          <a:xfrm>
            <a:off x="4900000" y="4266422"/>
            <a:ext cx="850000" cy="4312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76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48 mm</a:t>
            </a:r>
          </a:p>
        </p:txBody>
      </p:sp>
      <p:sp>
        <p:nvSpPr>
          <p:cNvPr id="9619" name="T"/>
          <p:cNvSpPr txBox="1"/>
          <p:nvPr/>
        </p:nvSpPr>
        <p:spPr>
          <a:xfrm>
            <a:off x="5800000" y="4266422"/>
            <a:ext cx="550000" cy="431239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623" name="K"/>
          <p:cNvSpPr/>
          <p:nvPr/>
        </p:nvSpPr>
        <p:spPr>
          <a:xfrm>
            <a:off x="6804207" y="4418033"/>
            <a:ext cx="528210" cy="128016"/>
          </a:xfrm>
          <a:prstGeom prst="roundRect">
            <a:avLst>
              <a:gd name="adj" fmla="val 50000"/>
            </a:avLst>
          </a:prstGeom>
          <a:solidFill>
            <a:srgbClr val="DCEBF8"/>
          </a:solidFill>
          <a:ln>
            <a:noFill/>
          </a:ln>
        </p:spPr>
        <p:txBody>
          <a:bodyPr/>
          <a:p/>
        </p:txBody>
      </p:sp>
      <p:pic>
        <p:nvPicPr>
          <p:cNvPr id="9624" name="G"/>
          <p:cNvPicPr>
            <a:picLocks noChangeAspect="1"/>
          </p:cNvPicPr>
          <p:nvPr/>
        </p:nvPicPr>
        <p:blipFill>
          <a:blip r:embed="rIdL5"/>
          <a:stretch>
            <a:fillRect/>
          </a:stretch>
        </p:blipFill>
        <p:spPr>
          <a:xfrm>
            <a:off x="6867707" y="4443636"/>
            <a:ext cx="76810" cy="76810"/>
          </a:xfrm>
          <a:prstGeom prst="rect">
            <a:avLst/>
          </a:prstGeom>
        </p:spPr>
      </p:pic>
      <p:sp>
        <p:nvSpPr>
          <p:cNvPr id="9625" name="T"/>
          <p:cNvSpPr txBox="1"/>
          <p:nvPr/>
        </p:nvSpPr>
        <p:spPr>
          <a:xfrm>
            <a:off x="6982617" y="4418033"/>
            <a:ext cx="311700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banjir</a:t>
            </a:r>
          </a:p>
        </p:txBody>
      </p:sp>
      <p:sp>
        <p:nvSpPr>
          <p:cNvPr id="9626" name="T"/>
          <p:cNvSpPr txBox="1"/>
          <p:nvPr/>
        </p:nvSpPr>
        <p:spPr>
          <a:xfrm>
            <a:off x="676656" y="4946532"/>
            <a:ext cx="7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ANCAMAN:</a:t>
            </a:r>
          </a:p>
        </p:txBody>
      </p:sp>
      <p:sp>
        <p:nvSpPr>
          <p:cNvPr id="9627" name="K"/>
          <p:cNvSpPr/>
          <p:nvPr/>
        </p:nvSpPr>
        <p:spPr>
          <a:xfrm>
            <a:off x="1276656" y="4946165"/>
            <a:ext cx="533696" cy="137160"/>
          </a:xfrm>
          <a:prstGeom prst="roundRect">
            <a:avLst>
              <a:gd name="adj" fmla="val 50000"/>
            </a:avLst>
          </a:prstGeom>
          <a:solidFill>
            <a:srgbClr val="DCEBF8"/>
          </a:solidFill>
          <a:ln>
            <a:noFill/>
          </a:ln>
        </p:spPr>
        <p:txBody>
          <a:bodyPr/>
          <a:p/>
        </p:txBody>
      </p:sp>
      <p:pic>
        <p:nvPicPr>
          <p:cNvPr id="9628" name="G"/>
          <p:cNvPicPr>
            <a:picLocks noChangeAspect="1"/>
          </p:cNvPicPr>
          <p:nvPr/>
        </p:nvPicPr>
        <p:blipFill>
          <a:blip r:embed="rIdL5"/>
          <a:stretch>
            <a:fillRect/>
          </a:stretch>
        </p:blipFill>
        <p:spPr>
          <a:xfrm>
            <a:off x="1340156" y="4973597"/>
            <a:ext cx="82296" cy="82296"/>
          </a:xfrm>
          <a:prstGeom prst="rect">
            <a:avLst/>
          </a:prstGeom>
        </p:spPr>
      </p:pic>
      <p:sp>
        <p:nvSpPr>
          <p:cNvPr id="9629" name="T"/>
          <p:cNvSpPr txBox="1"/>
          <p:nvPr/>
        </p:nvSpPr>
        <p:spPr>
          <a:xfrm>
            <a:off x="1460552" y="4946165"/>
            <a:ext cx="3117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banjir</a:t>
            </a:r>
          </a:p>
        </p:txBody>
      </p:sp>
      <p:sp>
        <p:nvSpPr>
          <p:cNvPr id="9630" name="T"/>
          <p:cNvSpPr txBox="1"/>
          <p:nvPr/>
        </p:nvSpPr>
        <p:spPr>
          <a:xfrm>
            <a:off x="1883504" y="4946532"/>
            <a:ext cx="104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luapan sungai dan genangan</a:t>
            </a:r>
          </a:p>
        </p:txBody>
      </p:sp>
      <p:sp>
        <p:nvSpPr>
          <p:cNvPr id="9631" name="K"/>
          <p:cNvSpPr/>
          <p:nvPr/>
        </p:nvSpPr>
        <p:spPr>
          <a:xfrm>
            <a:off x="3043504" y="4946165"/>
            <a:ext cx="579296" cy="13716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  <p:txBody>
          <a:bodyPr/>
          <a:p/>
        </p:txBody>
      </p:sp>
      <p:pic>
        <p:nvPicPr>
          <p:cNvPr id="9632" name="G"/>
          <p:cNvPicPr>
            <a:picLocks noChangeAspect="1"/>
          </p:cNvPicPr>
          <p:nvPr/>
        </p:nvPicPr>
        <p:blipFill>
          <a:blip r:embed="rIdL6"/>
          <a:stretch>
            <a:fillRect/>
          </a:stretch>
        </p:blipFill>
        <p:spPr>
          <a:xfrm>
            <a:off x="3107004" y="4973597"/>
            <a:ext cx="82296" cy="82296"/>
          </a:xfrm>
          <a:prstGeom prst="rect">
            <a:avLst/>
          </a:prstGeom>
        </p:spPr>
      </p:pic>
      <p:sp>
        <p:nvSpPr>
          <p:cNvPr id="9633" name="T"/>
          <p:cNvSpPr txBox="1"/>
          <p:nvPr/>
        </p:nvSpPr>
        <p:spPr>
          <a:xfrm>
            <a:off x="3227400" y="4946165"/>
            <a:ext cx="357300" cy="13716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longsor</a:t>
            </a:r>
          </a:p>
        </p:txBody>
      </p:sp>
      <p:sp>
        <p:nvSpPr>
          <p:cNvPr id="9634" name="T"/>
          <p:cNvSpPr txBox="1"/>
          <p:nvPr/>
        </p:nvSpPr>
        <p:spPr>
          <a:xfrm>
            <a:off x="3695952" y="4946532"/>
            <a:ext cx="92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lereng jenuh air runtuh</a:t>
            </a:r>
          </a:p>
        </p:txBody>
      </p:sp>
      <p:sp>
        <p:nvSpPr>
          <p:cNvPr id="9635" name="T"/>
          <p:cNvSpPr txBox="1"/>
          <p:nvPr/>
        </p:nvSpPr>
        <p:spPr>
          <a:xfrm>
            <a:off x="4735952" y="4946532"/>
            <a:ext cx="3127888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Bef>
                <a:spcPts val="0"/>
              </a:spcBef>
              <a:buNone/>
            </a:pPr>
            <a:r>
              <a:rPr lang="id-ID" sz="600" b="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*DIBI = kejadian banjir dan longsor 2008–2025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atar gradi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40000">
                <a:srgbClr val="FFFFFF"/>
              </a:gs>
              <a:gs pos="100000">
                <a:srgbClr val="E6EAF0"/>
              </a:gs>
            </a:gsLst>
            <a:lin ang="81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papua-bingkai-tumpuk0-alfa-marking-the-fire-515x5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500" y="0"/>
            <a:ext cx="65405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604000"/>
            <a:ext cx="5334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0" lang="id-ID">
                <a:solidFill>
                  <a:srgbClr val="6B7280"/>
                </a:solidFill>
                <a:latin typeface="Roboto"/>
              </a:rPr>
              <a:t>Foto: DenY Krisbiyantoro, CC BY-SA 4.0, Wikimedia Commons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763760" y="457200"/>
            <a:ext cx="1879600" cy="505983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berakhlak-h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760" y="546100"/>
            <a:ext cx="1625600" cy="3281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761744"/>
            <a:ext cx="6172200" cy="188671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4400" b="1" lang="id-ID">
                <a:solidFill>
                  <a:srgbClr val="1A1A1A"/>
                </a:solidFill>
                <a:latin typeface="Roboto"/>
              </a:rPr>
              <a:t>Pengendalian</a:t>
            </a:r>
          </a:p>
          <a:p>
            <a:pPr algn="l">
              <a:lnSpc>
                <a:spcPct val="95000"/>
              </a:lnSpc>
            </a:pPr>
            <a:r>
              <a:rPr sz="4400" b="1" lang="id-ID">
                <a:solidFill>
                  <a:srgbClr val="1A1A1A"/>
                </a:solidFill>
                <a:latin typeface="Roboto"/>
              </a:rPr>
              <a:t>Kebakaran Hutan dan</a:t>
            </a:r>
          </a:p>
          <a:p>
            <a:pPr algn="l">
              <a:lnSpc>
                <a:spcPct val="95000"/>
              </a:lnSpc>
            </a:pPr>
            <a:r>
              <a:rPr sz="4400" b="1" lang="id-ID">
                <a:solidFill>
                  <a:srgbClr val="1A1A1A"/>
                </a:solidFill>
                <a:latin typeface="Roboto"/>
              </a:rPr>
              <a:t>Lahan Papua Selatan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00856"/>
            <a:ext cx="5207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lang="id-ID">
                <a:solidFill>
                  <a:srgbClr val="2E3440"/>
                </a:solidFill>
                <a:latin typeface="Roboto"/>
              </a:rPr>
              <a:t>Kabupaten Merauke dan </a:t>
            </a:r>
            <a:r>
              <a:rPr sz="1500" b="0" i="1" lang="id-ID">
                <a:solidFill>
                  <a:srgbClr val="2E3440"/>
                </a:solidFill>
                <a:latin typeface="Roboto"/>
              </a:rPr>
              <a:t>cluster</a:t>
            </a:r>
            <a:r>
              <a:rPr sz="1500" b="0" lang="id-ID">
                <a:solidFill>
                  <a:srgbClr val="2E3440"/>
                </a:solidFill>
                <a:latin typeface="Roboto"/>
              </a:rPr>
              <a:t> Jagebob–Tanah Miring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4302506"/>
            <a:ext cx="584200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48640" y="4480306"/>
            <a:ext cx="5842000" cy="1746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lang="id-ID">
                <a:solidFill>
                  <a:srgbClr val="D9600B"/>
                </a:solidFill>
                <a:latin typeface="Roboto"/>
              </a:rPr>
              <a:t>Dipresentasikan oleh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18431"/>
            <a:ext cx="584200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lang="id-ID">
                <a:solidFill>
                  <a:srgbClr val="1A1A1A"/>
                </a:solidFill>
                <a:latin typeface="Roboto"/>
              </a:rPr>
              <a:t>Letnan Jenderal TNI Kristomei Sianturi, S.Sos., M.Si., M.Si. (Han)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66081"/>
            <a:ext cx="5842000" cy="1825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lang="id-ID">
                <a:solidFill>
                  <a:srgbClr val="2E3440"/>
                </a:solidFill>
                <a:latin typeface="Roboto"/>
              </a:rPr>
              <a:t>Kepala Badan Nasional Penanggulangan Bencana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01044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50" b="1" lang="id-ID">
                <a:solidFill>
                  <a:srgbClr val="FFFFFF"/>
                </a:solidFill>
                <a:latin typeface="Roboto"/>
              </a:rPr>
              <a:t>Jakarta, 31 Oktober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21400"/>
            <a:ext cx="53340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00499D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24600"/>
            <a:ext cx="5334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1" lang="id-ID">
                <a:solidFill>
                  <a:srgbClr val="2E3440"/>
                </a:solidFill>
                <a:latin typeface="Roboto"/>
              </a:rPr>
              <a:t>Ketangguhan Bangsa dalam Menghadapi Bencana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papua-bingkai-kisi-marking-the-fire-300x5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10000" cy="6858000"/>
          </a:xfrm>
          <a:prstGeom prst="rect">
            <a:avLst/>
          </a:prstGeom>
        </p:spPr>
      </p:pic>
      <p:sp>
        <p:nvSpPr>
          <p:cNvPr id="4" name="Gradien panel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051C2C">
                  <a:alpha val="94000"/>
                </a:srgbClr>
              </a:gs>
              <a:gs pos="58000">
                <a:srgbClr val="051C2C">
                  <a:alpha val="84000"/>
                </a:srgbClr>
              </a:gs>
              <a:gs pos="100000">
                <a:srgbClr val="051C2C">
                  <a:alpha val="22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9800" y="3810000"/>
            <a:ext cx="330200" cy="330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10000" y="4140200"/>
            <a:ext cx="228600" cy="2286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52200" y="0"/>
            <a:ext cx="381000" cy="3810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33200" y="381000"/>
            <a:ext cx="228600" cy="2286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30600" y="6578600"/>
            <a:ext cx="279400" cy="279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0" y="63754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304800"/>
            <a:ext cx="812800" cy="812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64" y="442976"/>
            <a:ext cx="425752" cy="5364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2413000"/>
            <a:ext cx="2712720" cy="7620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3600" b="1" lang="id-ID">
                <a:solidFill>
                  <a:srgbClr val="FFFFFF"/>
                </a:solidFill>
                <a:latin typeface="Roboto"/>
              </a:rPr>
              <a:t>Daftar Isi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27400"/>
            <a:ext cx="711200" cy="381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05200"/>
            <a:ext cx="271272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lang="id-ID">
                <a:solidFill>
                  <a:srgbClr val="C9D1E3"/>
                </a:solidFill>
                <a:latin typeface="Roboto"/>
              </a:rPr>
              <a:t>Pengendalian Kebakaran Hutan dan Lahan Papua Selatan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8000" y="15494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78160" y="18796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78160" y="18796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5400" y="15494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Papua Selatan: sebaran </a:t>
            </a:r>
            <a:r>
              <a:rPr sz="1900" b="1" i="1" lang="id-ID">
                <a:solidFill>
                  <a:srgbClr val="1A1A1A"/>
                </a:solidFill>
                <a:latin typeface="Roboto"/>
              </a:rPr>
              <a:t>hotspot</a:t>
            </a:r>
            <a:r>
              <a:rPr sz="1900" b="1" lang="id-ID">
                <a:solidFill>
                  <a:srgbClr val="1A1A1A"/>
                </a:solidFill>
                <a:latin typeface="Roboto"/>
              </a:rPr>
              <a:t> dan kebakaran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18000" y="24892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4318000" y="24892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78160" y="28194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78160" y="28194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5400" y="24892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Kabupaten Merauke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18000" y="34290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4318000" y="34290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78160" y="37592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78160" y="37592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5400" y="34290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1" lang="id-ID">
                <a:solidFill>
                  <a:srgbClr val="1A1A1A"/>
                </a:solidFill>
                <a:latin typeface="Roboto"/>
              </a:rPr>
              <a:t>Cluster</a:t>
            </a:r>
            <a:r>
              <a:rPr sz="1900" b="1" lang="id-ID">
                <a:solidFill>
                  <a:srgbClr val="1A1A1A"/>
                </a:solidFill>
                <a:latin typeface="Roboto"/>
              </a:rPr>
              <a:t> Jagebob–Tanah Miring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318000" y="43688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4318000" y="43688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78160" y="46990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78160" y="46990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5400" y="43688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Waspada peralihan musim: banjir dan longsor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atar gradi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40000">
                <a:srgbClr val="FFFFFF"/>
              </a:gs>
              <a:gs pos="100000">
                <a:srgbClr val="E6EAF0"/>
              </a:gs>
            </a:gsLst>
            <a:lin ang="81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papua-bingkai-tumpuk0-alfa-marking-the-fire-515x5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500" y="0"/>
            <a:ext cx="65405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604000"/>
            <a:ext cx="5334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0" lang="id-ID">
                <a:solidFill>
                  <a:srgbClr val="6B7280"/>
                </a:solidFill>
                <a:latin typeface="Roboto"/>
              </a:rPr>
              <a:t>Foto: DenY Krisbiyantoro, CC BY-SA 4.0, Wikimedia Commons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763760" y="457200"/>
            <a:ext cx="1879600" cy="505983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berakhlak-h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0760" y="546100"/>
            <a:ext cx="1625600" cy="3281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2133600"/>
            <a:ext cx="5623560" cy="816864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5400" b="1" lang="id-ID">
                <a:solidFill>
                  <a:srgbClr val="1A1A1A"/>
                </a:solidFill>
                <a:latin typeface="Roboto"/>
              </a:rPr>
              <a:t>Terima kasih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179064"/>
            <a:ext cx="584200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48640" y="3356864"/>
            <a:ext cx="5969000" cy="23939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50" b="1" lang="id-ID">
                <a:solidFill>
                  <a:srgbClr val="1A1A1A"/>
                </a:solidFill>
                <a:latin typeface="Roboto"/>
              </a:rPr>
              <a:t>Letnan Jenderal TNI Kristomei Sianturi, S.Sos., M.Si., M.Si. (Han)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4359"/>
            <a:ext cx="5969000" cy="1981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0" lang="id-ID">
                <a:solidFill>
                  <a:srgbClr val="2E3440"/>
                </a:solidFill>
                <a:latin typeface="Roboto"/>
              </a:rPr>
              <a:t>Kepala Badan Nasional Penanggulangan Bencana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48379"/>
            <a:ext cx="58420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6EAF0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048379"/>
            <a:ext cx="1219200" cy="1714500"/>
          </a:xfrm>
          <a:prstGeom prst="roundRect">
            <a:avLst>
              <a:gd name="adj" fmla="val 625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66240" y="4048379"/>
            <a:ext cx="101600" cy="17145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448429"/>
            <a:ext cx="12192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C9D1E3"/>
                </a:solidFill>
                <a:latin typeface="Roboto"/>
              </a:rPr>
              <a:t>CALL CENTER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26229"/>
            <a:ext cx="1219200" cy="50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3400" b="1" lang="id-ID">
                <a:solidFill>
                  <a:srgbClr val="D9600B"/>
                </a:solidFill>
                <a:latin typeface="Roboto"/>
              </a:rPr>
              <a:t>117</a:t>
            </a:r>
          </a:p>
        </p:txBody>
      </p:sp>
      <p:sp>
        <p:nvSpPr>
          <p:cNvPr id="18" name="Oval 17"/>
          <p:cNvSpPr/>
          <p:nvPr/>
        </p:nvSpPr>
        <p:spPr>
          <a:xfrm>
            <a:off x="1043940" y="5185029"/>
            <a:ext cx="228600" cy="2286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call-center-FFFFFF-9176b239-t2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088" y="5226177"/>
            <a:ext cx="146304" cy="1463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945640" y="4162679"/>
            <a:ext cx="42672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lang="id-ID">
                <a:solidFill>
                  <a:srgbClr val="051C2C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45640" y="4353179"/>
            <a:ext cx="42672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lang="id-ID">
                <a:solidFill>
                  <a:srgbClr val="2E3440"/>
                </a:solidFill>
                <a:latin typeface="Roboto"/>
              </a:rPr>
              <a:t>Graha BNPB, Jl. Pramuka Kav. 38, Jakarta Timur 13120</a:t>
            </a:r>
          </a:p>
        </p:txBody>
      </p:sp>
      <p:sp>
        <p:nvSpPr>
          <p:cNvPr id="22" name="Oval 21"/>
          <p:cNvSpPr/>
          <p:nvPr/>
        </p:nvSpPr>
        <p:spPr>
          <a:xfrm>
            <a:off x="1945640" y="45817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telepon-FFFFFF-6bfe06e7-t2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9930" y="4616069"/>
            <a:ext cx="121920" cy="121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12340" y="45817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021 2982 7793</a:t>
            </a:r>
          </a:p>
        </p:txBody>
      </p:sp>
      <p:sp>
        <p:nvSpPr>
          <p:cNvPr id="25" name="Oval 24"/>
          <p:cNvSpPr/>
          <p:nvPr/>
        </p:nvSpPr>
        <p:spPr>
          <a:xfrm>
            <a:off x="4079240" y="45817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surel-FFFFFF-82920015-t2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3530" y="4616069"/>
            <a:ext cx="121920" cy="1219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345940" y="45817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persuratan@bnpb.go.id</a:t>
            </a:r>
          </a:p>
        </p:txBody>
      </p:sp>
      <p:sp>
        <p:nvSpPr>
          <p:cNvPr id="28" name="Oval 27"/>
          <p:cNvSpPr/>
          <p:nvPr/>
        </p:nvSpPr>
        <p:spPr>
          <a:xfrm>
            <a:off x="1945640" y="48230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situs-FFFFFF-e52ac705-t2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9930" y="4857369"/>
            <a:ext cx="121920" cy="121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212340" y="48230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www.bnpb.go.id</a:t>
            </a:r>
          </a:p>
        </p:txBody>
      </p:sp>
      <p:sp>
        <p:nvSpPr>
          <p:cNvPr id="31" name="Oval 30"/>
          <p:cNvSpPr/>
          <p:nvPr/>
        </p:nvSpPr>
        <p:spPr>
          <a:xfrm>
            <a:off x="4079240" y="48230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satu-data-FFFFFF-02833d23-t2.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3530" y="4857369"/>
            <a:ext cx="121920" cy="1219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345940" y="48230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Satu Data Bencana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945640" y="5089779"/>
            <a:ext cx="4267200" cy="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1945640" y="51786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instagram-FFFFFF-7562d25b-t2.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79930" y="5212969"/>
            <a:ext cx="121920" cy="121920"/>
          </a:xfrm>
          <a:prstGeom prst="rect">
            <a:avLst/>
          </a:prstGeom>
        </p:spPr>
      </p:pic>
      <p:sp>
        <p:nvSpPr>
          <p:cNvPr id="37" name="Oval 36"/>
          <p:cNvSpPr/>
          <p:nvPr/>
        </p:nvSpPr>
        <p:spPr>
          <a:xfrm>
            <a:off x="2174240" y="51786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x-FFFFFF-7d8483d4-t2.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8530" y="5212969"/>
            <a:ext cx="121920" cy="1219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440940" y="5178679"/>
            <a:ext cx="16129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@BNPB_Indonesia</a:t>
            </a:r>
          </a:p>
        </p:txBody>
      </p:sp>
      <p:sp>
        <p:nvSpPr>
          <p:cNvPr id="40" name="Oval 39"/>
          <p:cNvSpPr/>
          <p:nvPr/>
        </p:nvSpPr>
        <p:spPr>
          <a:xfrm>
            <a:off x="4079240" y="51786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facebook-FFFFFF-d0f6088a-t2.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3530" y="5212969"/>
            <a:ext cx="121920" cy="1219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345940" y="51786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@infoBencanaBNPB</a:t>
            </a:r>
          </a:p>
        </p:txBody>
      </p:sp>
      <p:sp>
        <p:nvSpPr>
          <p:cNvPr id="43" name="Oval 42"/>
          <p:cNvSpPr/>
          <p:nvPr/>
        </p:nvSpPr>
        <p:spPr>
          <a:xfrm>
            <a:off x="1945640" y="54199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youtube-FFFFFF-22556944-t2.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79930" y="5454269"/>
            <a:ext cx="121920" cy="1219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212340" y="54199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BNPB Indonesia</a:t>
            </a:r>
          </a:p>
        </p:txBody>
      </p:sp>
      <p:sp>
        <p:nvSpPr>
          <p:cNvPr id="46" name="Oval 45"/>
          <p:cNvSpPr/>
          <p:nvPr/>
        </p:nvSpPr>
        <p:spPr>
          <a:xfrm>
            <a:off x="4079240" y="54199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tiktok-FFFFFF-fc5dd473-t2.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13530" y="5454269"/>
            <a:ext cx="121920" cy="1219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345940" y="54199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@bnpbindonesia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121400"/>
            <a:ext cx="53340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00499D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324600"/>
            <a:ext cx="5334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1" lang="id-ID">
                <a:solidFill>
                  <a:srgbClr val="2E3440"/>
                </a:solidFill>
                <a:latin typeface="Roboto"/>
              </a:rPr>
              <a:t>Ketangguhan Bangsa dalam Menghadapi Bencana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Laporan Kejadian Bencana Harian 20–21 Oktober 2026</dc:title>
  <dc:subject>PptxGenJS Presentation</dc:subject>
  <dc:creator>BNPB</dc:creator>
  <cp:lastModifiedBy>BNPB</cp:lastModifiedBy>
  <cp:revision>1</cp:revision>
  <dcterms:created xsi:type="dcterms:W3CDTF">2026-10-21T01:18:00Z</dcterms:created>
  <dcterms:modified xsi:type="dcterms:W3CDTF">2026-10-21T01:18:00Z</dcterms:modified>
</cp:coreProperties>
</file>