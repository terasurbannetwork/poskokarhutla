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8" r:id="rId4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2-1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2.xml"/><Relationship Id="rIdM1" Type="http://schemas.openxmlformats.org/officeDocument/2006/relationships/image" Target="../media/h23-tpl-ppt-media-image-2-2.png"/><Relationship Id="rIdM2" Type="http://schemas.openxmlformats.org/officeDocument/2006/relationships/image" Target="../media/h23-tpl-ppt-media-image-2-3.png"/><Relationship Id="rIdM3" Type="http://schemas.openxmlformats.org/officeDocument/2006/relationships/image" Target="../media/h23-tpl-ppt-media-image-2-4.png"/><Relationship Id="rIdM4" Type="http://schemas.openxmlformats.org/officeDocument/2006/relationships/image" Target="../media/h23-tpl-ppt-media-image-2-5.png"/><Relationship Id="rIdM5" Type="http://schemas.openxmlformats.org/officeDocument/2006/relationships/image" Target="../media/h23-tpl-ppt-media-image-2-6.png"/><Relationship Id="rIdM6" Type="http://schemas.openxmlformats.org/officeDocument/2006/relationships/image" Target="../media/h23-tpl-ppt-media-image-2-7.png"/><Relationship Id="rIdM7" Type="http://schemas.openxmlformats.org/officeDocument/2006/relationships/image" Target="../media/h23-ik-awas-baja.png"/><Relationship Id="rIdM8" Type="http://schemas.openxmlformats.org/officeDocument/2006/relationships/image" Target="../media/h23-tpl-ppt-media-image-2-8.png"/><Relationship Id="rIdM9" Type="http://schemas.openxmlformats.org/officeDocument/2006/relationships/image" Target="../media/h23-peta.png"/><Relationship Id="rIdM10" Type="http://schemas.openxmlformats.org/officeDocument/2006/relationships/image" Target="../media/h23-tpl-ppt-media-image-2-10.png"/><Relationship Id="rIdM11" Type="http://schemas.openxmlformats.org/officeDocument/2006/relationships/image" Target="../media/h23-tpl-ppt-media-image-2-11.png"/><Relationship Id="rIdM12" Type="http://schemas.openxmlformats.org/officeDocument/2006/relationships/image" Target="../media/h23-tpl-ppt-media-image-2-12.png"/><Relationship Id="rIdM13" Type="http://schemas.openxmlformats.org/officeDocument/2006/relationships/image" Target="../media/h23-tpl-ppt-media-image-2-13.png"/><Relationship Id="rIdM14" Type="http://schemas.openxmlformats.org/officeDocument/2006/relationships/image" Target="../media/h23-tpl-ppt-media-image-2-30.png"/><Relationship Id="rIdM15" Type="http://schemas.openxmlformats.org/officeDocument/2006/relationships/image" Target="../media/h23-tpl-ppt-media-image-2-31.png"/><Relationship Id="rIdM16" Type="http://schemas.openxmlformats.org/officeDocument/2006/relationships/image" Target="../media/h23-tpl-ppt-media-image-2-3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45" Type="http://schemas.openxmlformats.org/officeDocument/2006/relationships/slideLayout" Target="../slideLayouts/slideLayout2.xml"/><Relationship Id="rId46" Type="http://schemas.openxmlformats.org/officeDocument/2006/relationships/notesSlide" Target="../notesSlides/notesSlide3.xml"/><Relationship Id="rIdM1" Type="http://schemas.openxmlformats.org/officeDocument/2006/relationships/image" Target="../media/h23-tpl-ppt-media-image-2-12.png"/><Relationship Id="rIdM2" Type="http://schemas.openxmlformats.org/officeDocument/2006/relationships/image" Target="../media/h23-tpl-ppt-media-image-2-11.png"/><Relationship Id="rIdM3" Type="http://schemas.openxmlformats.org/officeDocument/2006/relationships/image" Target="../media/h23-tpl-ppt-media-image-3-4.png"/><Relationship Id="rIdM4" Type="http://schemas.openxmlformats.org/officeDocument/2006/relationships/image" Target="../media/h23-tpl-ppt-media-image-2-13.png"/><Relationship Id="rIdM5" Type="http://schemas.openxmlformats.org/officeDocument/2006/relationships/image" Target="../media/h23-tpl-ppt-media-image-2-10.png"/><Relationship Id="rIdM6" Type="http://schemas.openxmlformats.org/officeDocument/2006/relationships/image" Target="../media/h23-ik-gempa-putih.png"/><Relationship Id="rIdM7" Type="http://schemas.openxmlformats.org/officeDocument/2006/relationships/image" Target="../media/h23-ik-rumah-navy.png"/><Relationship Id="rIdM8" Type="http://schemas.openxmlformats.org/officeDocument/2006/relationships/image" Target="../media/h23-ik-kalender-oranye.png"/><Relationship Id="rIdM9" Type="http://schemas.openxmlformats.org/officeDocument/2006/relationships/image" Target="../media/h23-ik-tenda-slate.png"/><Relationship Id="rIdM10" Type="http://schemas.openxmlformats.org/officeDocument/2006/relationships/image" Target="../media/h23-ik-hati-merah.png"/><Relationship Id="rIdM11" Type="http://schemas.openxmlformats.org/officeDocument/2006/relationships/image" Target="../media/h23-ik-rumah-slate.png"/><Relationship Id="rIdM12" Type="http://schemas.openxmlformats.org/officeDocument/2006/relationships/image" Target="../media/h23-ik-api-putih.png"/><Relationship Id="rIdM13" Type="http://schemas.openxmlformats.org/officeDocument/2006/relationships/image" Target="../media/h23-ik-api-oranye.png"/><Relationship Id="rIdM14" Type="http://schemas.openxmlformats.org/officeDocument/2006/relationships/image" Target="../media/h23-ik-banjir-putih.png"/><Relationship Id="rIdM15" Type="http://schemas.openxmlformats.org/officeDocument/2006/relationships/image" Target="../media/h23-ik-orang-slate.png"/><Relationship Id="rIdM16" Type="http://schemas.openxmlformats.org/officeDocument/2006/relationships/image" Target="../media/h23-tpl-ppt-media-image-3-34.png"/><Relationship Id="rIdM17" Type="http://schemas.openxmlformats.org/officeDocument/2006/relationships/image" Target="../media/h23-tpl-ppt-media-image-3-36.png"/><Relationship Id="rIdM18" Type="http://schemas.openxmlformats.org/officeDocument/2006/relationships/image" Target="../media/h23-tpl-ppt-media-image-3-38.png"/><Relationship Id="rIdM19" Type="http://schemas.openxmlformats.org/officeDocument/2006/relationships/image" Target="../media/h23-ik-awas-putih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592" name="T"/>
          <p:cNvSpPr txBox="1"/>
          <p:nvPr/>
        </p:nvSpPr>
        <p:spPr>
          <a:xfrm>
            <a:off x="548640" y="292608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Laporan 22–23 Oktober 2026: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35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kejadian menonjol di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21 provinsi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terdiri atas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26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karhutla,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5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kekeringan, dan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4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bencana lainnya;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13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 masih dalam proses penanganan</a:t>
            </a:r>
            <a:endParaRPr lang="id-ID" sz="2000"/>
          </a:p>
        </p:txBody>
      </p:sp>
      <p:sp>
        <p:nvSpPr>
          <p:cNvPr id="301" name="K"/>
          <p:cNvSpPr/>
          <p:nvPr/>
        </p:nvSpPr>
        <p:spPr>
          <a:xfrm>
            <a:off x="548640" y="1280160"/>
            <a:ext cx="8579267" cy="932688"/>
          </a:xfrm>
          <a:prstGeom prst="roundRect">
            <a:avLst>
              <a:gd name="adj" fmla="val 7843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302" name="K"/>
          <p:cNvSpPr/>
          <p:nvPr/>
        </p:nvSpPr>
        <p:spPr>
          <a:xfrm>
            <a:off x="658368" y="1335024"/>
            <a:ext cx="152521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</p:sp>
      <p:pic>
        <p:nvPicPr>
          <p:cNvPr id="303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371600"/>
            <a:ext cx="109728" cy="109728"/>
          </a:xfrm>
          <a:prstGeom prst="rect">
            <a:avLst/>
          </a:prstGeom>
        </p:spPr>
      </p:pic>
      <p:sp>
        <p:nvSpPr>
          <p:cNvPr id="304" name="T"/>
          <p:cNvSpPr txBox="1"/>
          <p:nvPr/>
        </p:nvSpPr>
        <p:spPr>
          <a:xfrm>
            <a:off x="896112" y="1335024"/>
            <a:ext cx="1265219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KEJADIAN BENCANA</a:t>
            </a:r>
            <a:endParaRPr lang="id-ID" sz="660"/>
          </a:p>
        </p:txBody>
      </p:sp>
      <p:sp>
        <p:nvSpPr>
          <p:cNvPr id="305" name="K"/>
          <p:cNvSpPr/>
          <p:nvPr/>
        </p:nvSpPr>
        <p:spPr>
          <a:xfrm>
            <a:off x="9402227" y="1280160"/>
            <a:ext cx="2240829" cy="932688"/>
          </a:xfrm>
          <a:prstGeom prst="roundRect">
            <a:avLst>
              <a:gd name="adj" fmla="val 7843"/>
            </a:avLst>
          </a:prstGeom>
          <a:solidFill>
            <a:srgbClr val="FCF1F2"/>
          </a:solidFill>
          <a:ln>
            <a:noFill/>
          </a:ln>
        </p:spPr>
      </p:sp>
      <p:sp>
        <p:nvSpPr>
          <p:cNvPr id="306" name="K"/>
          <p:cNvSpPr/>
          <p:nvPr/>
        </p:nvSpPr>
        <p:spPr>
          <a:xfrm>
            <a:off x="9511955" y="1335024"/>
            <a:ext cx="1453896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</p:sp>
      <p:pic>
        <p:nvPicPr>
          <p:cNvPr id="30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9585107" y="1371600"/>
            <a:ext cx="109728" cy="109728"/>
          </a:xfrm>
          <a:prstGeom prst="rect">
            <a:avLst/>
          </a:prstGeom>
        </p:spPr>
      </p:pic>
      <p:sp>
        <p:nvSpPr>
          <p:cNvPr id="308" name="T"/>
          <p:cNvSpPr txBox="1"/>
          <p:nvPr/>
        </p:nvSpPr>
        <p:spPr>
          <a:xfrm>
            <a:off x="9749699" y="1335024"/>
            <a:ext cx="1193896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660"/>
          </a:p>
        </p:txBody>
      </p:sp>
      <p:sp>
        <p:nvSpPr>
          <p:cNvPr id="309" name="K"/>
          <p:cNvSpPr/>
          <p:nvPr/>
        </p:nvSpPr>
        <p:spPr>
          <a:xfrm>
            <a:off x="6583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10" name="K"/>
          <p:cNvSpPr/>
          <p:nvPr/>
        </p:nvSpPr>
        <p:spPr>
          <a:xfrm>
            <a:off x="768096" y="1682496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</p:sp>
      <p:pic>
        <p:nvPicPr>
          <p:cNvPr id="311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841248" y="1755648"/>
            <a:ext cx="182880" cy="182880"/>
          </a:xfrm>
          <a:prstGeom prst="rect">
            <a:avLst/>
          </a:prstGeom>
        </p:spPr>
      </p:pic>
      <p:sp>
        <p:nvSpPr>
          <p:cNvPr id="312" name="T"/>
          <p:cNvSpPr txBox="1"/>
          <p:nvPr/>
        </p:nvSpPr>
        <p:spPr>
          <a:xfrm>
            <a:off x="11704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36</a:t>
            </a:r>
            <a:endParaRPr lang="id-ID" sz="1700"/>
          </a:p>
        </p:txBody>
      </p:sp>
      <p:sp>
        <p:nvSpPr>
          <p:cNvPr id="313" name="T"/>
          <p:cNvSpPr txBox="1"/>
          <p:nvPr/>
        </p:nvSpPr>
        <p:spPr>
          <a:xfrm>
            <a:off x="11704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laporan kejadian</a:t>
            </a:r>
            <a:endParaRPr lang="id-ID" sz="750"/>
          </a:p>
        </p:txBody>
      </p:sp>
      <p:sp>
        <p:nvSpPr>
          <p:cNvPr id="314" name="K"/>
          <p:cNvSpPr/>
          <p:nvPr/>
        </p:nvSpPr>
        <p:spPr>
          <a:xfrm>
            <a:off x="234861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15" name="K"/>
          <p:cNvSpPr/>
          <p:nvPr/>
        </p:nvSpPr>
        <p:spPr>
          <a:xfrm>
            <a:off x="2458346" y="1682496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</p:sp>
      <p:pic>
        <p:nvPicPr>
          <p:cNvPr id="316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2531498" y="1755648"/>
            <a:ext cx="182880" cy="182880"/>
          </a:xfrm>
          <a:prstGeom prst="rect">
            <a:avLst/>
          </a:prstGeom>
        </p:spPr>
      </p:pic>
      <p:sp>
        <p:nvSpPr>
          <p:cNvPr id="317" name="T"/>
          <p:cNvSpPr txBox="1"/>
          <p:nvPr/>
        </p:nvSpPr>
        <p:spPr>
          <a:xfrm>
            <a:off x="286068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35</a:t>
            </a:r>
            <a:endParaRPr lang="id-ID" sz="1700"/>
          </a:p>
        </p:txBody>
      </p:sp>
      <p:sp>
        <p:nvSpPr>
          <p:cNvPr id="318" name="T"/>
          <p:cNvSpPr txBox="1"/>
          <p:nvPr/>
        </p:nvSpPr>
        <p:spPr>
          <a:xfrm>
            <a:off x="286068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kejadian menonjol</a:t>
            </a:r>
            <a:endParaRPr lang="id-ID" sz="750"/>
          </a:p>
        </p:txBody>
      </p:sp>
      <p:sp>
        <p:nvSpPr>
          <p:cNvPr id="319" name="K"/>
          <p:cNvSpPr/>
          <p:nvPr/>
        </p:nvSpPr>
        <p:spPr>
          <a:xfrm>
            <a:off x="40388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20" name="K"/>
          <p:cNvSpPr/>
          <p:nvPr/>
        </p:nvSpPr>
        <p:spPr>
          <a:xfrm>
            <a:off x="4148596" y="1682496"/>
            <a:ext cx="329184" cy="329184"/>
          </a:xfrm>
          <a:prstGeom prst="ellipse">
            <a:avLst/>
          </a:prstGeom>
          <a:solidFill>
            <a:srgbClr val="FBE7D6"/>
          </a:solidFill>
          <a:ln>
            <a:noFill/>
          </a:ln>
        </p:spPr>
      </p:sp>
      <p:pic>
        <p:nvPicPr>
          <p:cNvPr id="321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4221748" y="1755648"/>
            <a:ext cx="182880" cy="182880"/>
          </a:xfrm>
          <a:prstGeom prst="rect">
            <a:avLst/>
          </a:prstGeom>
        </p:spPr>
      </p:pic>
      <p:sp>
        <p:nvSpPr>
          <p:cNvPr id="322" name="T"/>
          <p:cNvSpPr txBox="1"/>
          <p:nvPr/>
        </p:nvSpPr>
        <p:spPr>
          <a:xfrm>
            <a:off x="45509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26</a:t>
            </a:r>
            <a:endParaRPr lang="id-ID" sz="1700"/>
          </a:p>
        </p:txBody>
      </p:sp>
      <p:sp>
        <p:nvSpPr>
          <p:cNvPr id="323" name="T"/>
          <p:cNvSpPr txBox="1"/>
          <p:nvPr/>
        </p:nvSpPr>
        <p:spPr>
          <a:xfrm>
            <a:off x="45509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750"/>
          </a:p>
        </p:txBody>
      </p:sp>
      <p:sp>
        <p:nvSpPr>
          <p:cNvPr id="324" name="K"/>
          <p:cNvSpPr/>
          <p:nvPr/>
        </p:nvSpPr>
        <p:spPr>
          <a:xfrm>
            <a:off x="572911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25" name="K"/>
          <p:cNvSpPr/>
          <p:nvPr/>
        </p:nvSpPr>
        <p:spPr>
          <a:xfrm>
            <a:off x="5838846" y="1682496"/>
            <a:ext cx="329184" cy="329184"/>
          </a:xfrm>
          <a:prstGeom prst="ellipse">
            <a:avLst/>
          </a:prstGeom>
          <a:solidFill>
            <a:srgbClr val="F4ECDC"/>
          </a:solidFill>
          <a:ln>
            <a:noFill/>
          </a:ln>
        </p:spPr>
      </p:sp>
      <p:pic>
        <p:nvPicPr>
          <p:cNvPr id="326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5911998" y="1755648"/>
            <a:ext cx="182880" cy="182880"/>
          </a:xfrm>
          <a:prstGeom prst="rect">
            <a:avLst/>
          </a:prstGeom>
        </p:spPr>
      </p:pic>
      <p:sp>
        <p:nvSpPr>
          <p:cNvPr id="327" name="T"/>
          <p:cNvSpPr txBox="1"/>
          <p:nvPr/>
        </p:nvSpPr>
        <p:spPr>
          <a:xfrm>
            <a:off x="624118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B08A3E"/>
                </a:solidFill>
                <a:latin typeface="Roboto"/>
                <a:ea typeface="Roboto"/>
                <a:cs typeface="Roboto"/>
              </a:rPr>
              <a:t>5</a:t>
            </a:r>
            <a:endParaRPr lang="id-ID" sz="1700"/>
          </a:p>
        </p:txBody>
      </p:sp>
      <p:sp>
        <p:nvSpPr>
          <p:cNvPr id="328" name="T"/>
          <p:cNvSpPr txBox="1"/>
          <p:nvPr/>
        </p:nvSpPr>
        <p:spPr>
          <a:xfrm>
            <a:off x="624118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750"/>
          </a:p>
        </p:txBody>
      </p:sp>
      <p:sp>
        <p:nvSpPr>
          <p:cNvPr id="329" name="K"/>
          <p:cNvSpPr/>
          <p:nvPr/>
        </p:nvSpPr>
        <p:spPr>
          <a:xfrm>
            <a:off x="74193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30" name="K"/>
          <p:cNvSpPr/>
          <p:nvPr/>
        </p:nvSpPr>
        <p:spPr>
          <a:xfrm>
            <a:off x="7529096" y="1682496"/>
            <a:ext cx="329184" cy="329184"/>
          </a:xfrm>
          <a:prstGeom prst="ellipse">
            <a:avLst/>
          </a:prstGeom>
          <a:solidFill>
            <a:srgbClr val="E3EAF1"/>
          </a:solidFill>
          <a:ln>
            <a:noFill/>
          </a:ln>
        </p:spPr>
      </p:sp>
      <p:pic>
        <p:nvPicPr>
          <p:cNvPr id="331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7602248" y="1755648"/>
            <a:ext cx="182880" cy="182880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79314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4</a:t>
            </a:r>
            <a:endParaRPr lang="id-ID" sz="1700"/>
          </a:p>
        </p:txBody>
      </p:sp>
      <p:sp>
        <p:nvSpPr>
          <p:cNvPr id="333" name="T"/>
          <p:cNvSpPr txBox="1"/>
          <p:nvPr/>
        </p:nvSpPr>
        <p:spPr>
          <a:xfrm>
            <a:off x="79314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bencana lainnya</a:t>
            </a:r>
            <a:endParaRPr lang="id-ID" sz="750"/>
          </a:p>
        </p:txBody>
      </p:sp>
      <p:sp>
        <p:nvSpPr>
          <p:cNvPr id="334" name="K"/>
          <p:cNvSpPr/>
          <p:nvPr/>
        </p:nvSpPr>
        <p:spPr>
          <a:xfrm>
            <a:off x="9511955" y="1591056"/>
            <a:ext cx="2021373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35" name="K"/>
          <p:cNvSpPr/>
          <p:nvPr/>
        </p:nvSpPr>
        <p:spPr>
          <a:xfrm>
            <a:off x="9621683" y="1682496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</p:sp>
      <p:pic>
        <p:nvPicPr>
          <p:cNvPr id="336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9694835" y="1755648"/>
            <a:ext cx="182880" cy="182880"/>
          </a:xfrm>
          <a:prstGeom prst="rect">
            <a:avLst/>
          </a:prstGeom>
        </p:spPr>
      </p:pic>
      <p:sp>
        <p:nvSpPr>
          <p:cNvPr id="337" name="T"/>
          <p:cNvSpPr txBox="1"/>
          <p:nvPr/>
        </p:nvSpPr>
        <p:spPr>
          <a:xfrm>
            <a:off x="10024019" y="1627632"/>
            <a:ext cx="1472733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12</a:t>
            </a:r>
            <a:endParaRPr lang="id-ID" sz="1700"/>
          </a:p>
        </p:txBody>
      </p:sp>
      <p:sp>
        <p:nvSpPr>
          <p:cNvPr id="338" name="T"/>
          <p:cNvSpPr txBox="1"/>
          <p:nvPr/>
        </p:nvSpPr>
        <p:spPr>
          <a:xfrm>
            <a:off x="10024019" y="1892808"/>
            <a:ext cx="1472733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karhutla perlu perhatian</a:t>
            </a:r>
            <a:endParaRPr lang="id-ID" sz="750"/>
          </a:p>
        </p:txBody>
      </p:sp>
      <p:pic>
        <p:nvPicPr>
          <p:cNvPr id="339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502920" y="2331720"/>
            <a:ext cx="7680960" cy="2880360"/>
          </a:xfrm>
          <a:prstGeom prst="rect">
            <a:avLst/>
          </a:prstGeom>
        </p:spPr>
      </p:pic>
      <p:sp>
        <p:nvSpPr>
          <p:cNvPr id="340" name="K"/>
          <p:cNvSpPr/>
          <p:nvPr/>
        </p:nvSpPr>
        <p:spPr>
          <a:xfrm>
            <a:off x="3475300" y="3529117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41" name="T"/>
          <p:cNvSpPr txBox="1"/>
          <p:nvPr/>
        </p:nvSpPr>
        <p:spPr>
          <a:xfrm>
            <a:off x="3475300" y="352911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42" name="K"/>
          <p:cNvSpPr/>
          <p:nvPr/>
        </p:nvSpPr>
        <p:spPr>
          <a:xfrm>
            <a:off x="3608619" y="3478093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43" name="T"/>
          <p:cNvSpPr txBox="1"/>
          <p:nvPr/>
        </p:nvSpPr>
        <p:spPr>
          <a:xfrm>
            <a:off x="3608619" y="3478093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44" name="T"/>
          <p:cNvSpPr txBox="1"/>
          <p:nvPr/>
        </p:nvSpPr>
        <p:spPr>
          <a:xfrm>
            <a:off x="3749620" y="356569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Tengah</a:t>
            </a:r>
            <a:endParaRPr lang="id-ID" sz="750"/>
          </a:p>
        </p:txBody>
      </p:sp>
      <p:sp>
        <p:nvSpPr>
          <p:cNvPr id="345" name="K"/>
          <p:cNvSpPr/>
          <p:nvPr/>
        </p:nvSpPr>
        <p:spPr>
          <a:xfrm>
            <a:off x="3096361" y="327209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46" name="T"/>
          <p:cNvSpPr txBox="1"/>
          <p:nvPr/>
        </p:nvSpPr>
        <p:spPr>
          <a:xfrm>
            <a:off x="3096361" y="327209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47" name="K"/>
          <p:cNvSpPr/>
          <p:nvPr/>
        </p:nvSpPr>
        <p:spPr>
          <a:xfrm>
            <a:off x="3229681" y="3221070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48" name="T"/>
          <p:cNvSpPr txBox="1"/>
          <p:nvPr/>
        </p:nvSpPr>
        <p:spPr>
          <a:xfrm>
            <a:off x="3229681" y="3221070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49" name="T"/>
          <p:cNvSpPr txBox="1"/>
          <p:nvPr/>
        </p:nvSpPr>
        <p:spPr>
          <a:xfrm>
            <a:off x="1578457" y="330866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Barat</a:t>
            </a:r>
            <a:endParaRPr lang="id-ID" sz="750"/>
          </a:p>
        </p:txBody>
      </p:sp>
      <p:sp>
        <p:nvSpPr>
          <p:cNvPr id="350" name="K"/>
          <p:cNvSpPr/>
          <p:nvPr/>
        </p:nvSpPr>
        <p:spPr>
          <a:xfrm>
            <a:off x="1927738" y="3798728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1" name="T"/>
          <p:cNvSpPr txBox="1"/>
          <p:nvPr/>
        </p:nvSpPr>
        <p:spPr>
          <a:xfrm>
            <a:off x="1927738" y="379872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52" name="K"/>
          <p:cNvSpPr/>
          <p:nvPr/>
        </p:nvSpPr>
        <p:spPr>
          <a:xfrm>
            <a:off x="2061058" y="374770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53" name="T"/>
          <p:cNvSpPr txBox="1"/>
          <p:nvPr/>
        </p:nvSpPr>
        <p:spPr>
          <a:xfrm>
            <a:off x="2061058" y="374770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54" name="T"/>
          <p:cNvSpPr txBox="1"/>
          <p:nvPr/>
        </p:nvSpPr>
        <p:spPr>
          <a:xfrm>
            <a:off x="409834" y="383530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Sum. Selatan</a:t>
            </a:r>
            <a:endParaRPr lang="id-ID" sz="750"/>
          </a:p>
        </p:txBody>
      </p:sp>
      <p:sp>
        <p:nvSpPr>
          <p:cNvPr id="355" name="K"/>
          <p:cNvSpPr/>
          <p:nvPr/>
        </p:nvSpPr>
        <p:spPr>
          <a:xfrm>
            <a:off x="1684296" y="354475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6" name="T"/>
          <p:cNvSpPr txBox="1"/>
          <p:nvPr/>
        </p:nvSpPr>
        <p:spPr>
          <a:xfrm>
            <a:off x="1684296" y="354475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57" name="K"/>
          <p:cNvSpPr/>
          <p:nvPr/>
        </p:nvSpPr>
        <p:spPr>
          <a:xfrm>
            <a:off x="1817615" y="3493730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58" name="T"/>
          <p:cNvSpPr txBox="1"/>
          <p:nvPr/>
        </p:nvSpPr>
        <p:spPr>
          <a:xfrm>
            <a:off x="1817615" y="3493730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59" name="T"/>
          <p:cNvSpPr txBox="1"/>
          <p:nvPr/>
        </p:nvSpPr>
        <p:spPr>
          <a:xfrm>
            <a:off x="166392" y="358132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  <a:endParaRPr lang="id-ID" sz="750"/>
          </a:p>
        </p:txBody>
      </p:sp>
      <p:sp>
        <p:nvSpPr>
          <p:cNvPr id="360" name="K"/>
          <p:cNvSpPr/>
          <p:nvPr/>
        </p:nvSpPr>
        <p:spPr>
          <a:xfrm>
            <a:off x="1526329" y="3185000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1" name="T"/>
          <p:cNvSpPr txBox="1"/>
          <p:nvPr/>
        </p:nvSpPr>
        <p:spPr>
          <a:xfrm>
            <a:off x="1526329" y="318500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62" name="T"/>
          <p:cNvSpPr txBox="1"/>
          <p:nvPr/>
        </p:nvSpPr>
        <p:spPr>
          <a:xfrm>
            <a:off x="1800649" y="3221576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Riau</a:t>
            </a:r>
            <a:endParaRPr lang="id-ID" sz="750"/>
          </a:p>
        </p:txBody>
      </p:sp>
      <p:sp>
        <p:nvSpPr>
          <p:cNvPr id="363" name="K"/>
          <p:cNvSpPr/>
          <p:nvPr/>
        </p:nvSpPr>
        <p:spPr>
          <a:xfrm>
            <a:off x="3804910" y="375542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4" name="T"/>
          <p:cNvSpPr txBox="1"/>
          <p:nvPr/>
        </p:nvSpPr>
        <p:spPr>
          <a:xfrm>
            <a:off x="3804910" y="375542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65" name="K"/>
          <p:cNvSpPr/>
          <p:nvPr/>
        </p:nvSpPr>
        <p:spPr>
          <a:xfrm>
            <a:off x="3938229" y="3704399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66" name="T"/>
          <p:cNvSpPr txBox="1"/>
          <p:nvPr/>
        </p:nvSpPr>
        <p:spPr>
          <a:xfrm>
            <a:off x="3938229" y="3704399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67" name="T"/>
          <p:cNvSpPr txBox="1"/>
          <p:nvPr/>
        </p:nvSpPr>
        <p:spPr>
          <a:xfrm>
            <a:off x="4079230" y="379199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Selatan</a:t>
            </a:r>
            <a:endParaRPr lang="id-ID" sz="750"/>
          </a:p>
        </p:txBody>
      </p:sp>
      <p:sp>
        <p:nvSpPr>
          <p:cNvPr id="368" name="K"/>
          <p:cNvSpPr/>
          <p:nvPr/>
        </p:nvSpPr>
        <p:spPr>
          <a:xfrm>
            <a:off x="3980367" y="318319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9" name="T"/>
          <p:cNvSpPr txBox="1"/>
          <p:nvPr/>
        </p:nvSpPr>
        <p:spPr>
          <a:xfrm>
            <a:off x="3980367" y="318319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0" name="K"/>
          <p:cNvSpPr/>
          <p:nvPr/>
        </p:nvSpPr>
        <p:spPr>
          <a:xfrm>
            <a:off x="4113686" y="3132169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71" name="T"/>
          <p:cNvSpPr txBox="1"/>
          <p:nvPr/>
        </p:nvSpPr>
        <p:spPr>
          <a:xfrm>
            <a:off x="4113686" y="3132169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72" name="T"/>
          <p:cNvSpPr txBox="1"/>
          <p:nvPr/>
        </p:nvSpPr>
        <p:spPr>
          <a:xfrm>
            <a:off x="2462463" y="321976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Timur</a:t>
            </a:r>
            <a:endParaRPr lang="id-ID" sz="750"/>
          </a:p>
        </p:txBody>
      </p:sp>
      <p:sp>
        <p:nvSpPr>
          <p:cNvPr id="373" name="K"/>
          <p:cNvSpPr/>
          <p:nvPr/>
        </p:nvSpPr>
        <p:spPr>
          <a:xfrm>
            <a:off x="7871081" y="4351809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4" name="T"/>
          <p:cNvSpPr txBox="1"/>
          <p:nvPr/>
        </p:nvSpPr>
        <p:spPr>
          <a:xfrm>
            <a:off x="7871081" y="4351809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5" name="K"/>
          <p:cNvSpPr/>
          <p:nvPr/>
        </p:nvSpPr>
        <p:spPr>
          <a:xfrm>
            <a:off x="8004400" y="430078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76" name="T"/>
          <p:cNvSpPr txBox="1"/>
          <p:nvPr/>
        </p:nvSpPr>
        <p:spPr>
          <a:xfrm>
            <a:off x="8004400" y="430078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77" name="T"/>
          <p:cNvSpPr txBox="1"/>
          <p:nvPr/>
        </p:nvSpPr>
        <p:spPr>
          <a:xfrm>
            <a:off x="6353177" y="4388385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750"/>
          </a:p>
        </p:txBody>
      </p:sp>
      <p:sp>
        <p:nvSpPr>
          <p:cNvPr id="378" name="K"/>
          <p:cNvSpPr/>
          <p:nvPr/>
        </p:nvSpPr>
        <p:spPr>
          <a:xfrm>
            <a:off x="7831727" y="396990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9" name="T"/>
          <p:cNvSpPr txBox="1"/>
          <p:nvPr/>
        </p:nvSpPr>
        <p:spPr>
          <a:xfrm>
            <a:off x="7831727" y="396990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0" name="K"/>
          <p:cNvSpPr/>
          <p:nvPr/>
        </p:nvSpPr>
        <p:spPr>
          <a:xfrm>
            <a:off x="7965046" y="3918879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81" name="T"/>
          <p:cNvSpPr txBox="1"/>
          <p:nvPr/>
        </p:nvSpPr>
        <p:spPr>
          <a:xfrm>
            <a:off x="7965046" y="3918879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82" name="T"/>
          <p:cNvSpPr txBox="1"/>
          <p:nvPr/>
        </p:nvSpPr>
        <p:spPr>
          <a:xfrm>
            <a:off x="6313823" y="400647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Pegunungan</a:t>
            </a:r>
            <a:endParaRPr lang="id-ID" sz="750"/>
          </a:p>
        </p:txBody>
      </p:sp>
      <p:sp>
        <p:nvSpPr>
          <p:cNvPr id="383" name="K"/>
          <p:cNvSpPr/>
          <p:nvPr/>
        </p:nvSpPr>
        <p:spPr>
          <a:xfrm>
            <a:off x="4218300" y="4705510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84" name="T"/>
          <p:cNvSpPr txBox="1"/>
          <p:nvPr/>
        </p:nvSpPr>
        <p:spPr>
          <a:xfrm>
            <a:off x="4218300" y="470551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5" name="T"/>
          <p:cNvSpPr txBox="1"/>
          <p:nvPr/>
        </p:nvSpPr>
        <p:spPr>
          <a:xfrm>
            <a:off x="4492620" y="4742086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NTB</a:t>
            </a:r>
            <a:endParaRPr lang="id-ID" sz="750"/>
          </a:p>
        </p:txBody>
      </p:sp>
      <p:sp>
        <p:nvSpPr>
          <p:cNvPr id="386" name="K"/>
          <p:cNvSpPr/>
          <p:nvPr/>
        </p:nvSpPr>
        <p:spPr>
          <a:xfrm>
            <a:off x="2397970" y="3741407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87" name="T"/>
          <p:cNvSpPr txBox="1"/>
          <p:nvPr/>
        </p:nvSpPr>
        <p:spPr>
          <a:xfrm>
            <a:off x="2397970" y="374140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8" name="T"/>
          <p:cNvSpPr txBox="1"/>
          <p:nvPr/>
        </p:nvSpPr>
        <p:spPr>
          <a:xfrm>
            <a:off x="2672290" y="377798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Kep. Babel</a:t>
            </a:r>
            <a:endParaRPr lang="id-ID" sz="750"/>
          </a:p>
        </p:txBody>
      </p:sp>
      <p:sp>
        <p:nvSpPr>
          <p:cNvPr id="389" name="K"/>
          <p:cNvSpPr/>
          <p:nvPr/>
        </p:nvSpPr>
        <p:spPr>
          <a:xfrm>
            <a:off x="2502218" y="4460676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90" name="T"/>
          <p:cNvSpPr txBox="1"/>
          <p:nvPr/>
        </p:nvSpPr>
        <p:spPr>
          <a:xfrm>
            <a:off x="2502218" y="446067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91" name="T"/>
          <p:cNvSpPr txBox="1"/>
          <p:nvPr/>
        </p:nvSpPr>
        <p:spPr>
          <a:xfrm>
            <a:off x="984314" y="449725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Barat</a:t>
            </a:r>
            <a:endParaRPr lang="id-ID" sz="750"/>
          </a:p>
        </p:txBody>
      </p:sp>
      <p:sp>
        <p:nvSpPr>
          <p:cNvPr id="392" name="K"/>
          <p:cNvSpPr/>
          <p:nvPr/>
        </p:nvSpPr>
        <p:spPr>
          <a:xfrm>
            <a:off x="2914900" y="4452980"/>
            <a:ext cx="265176" cy="26517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93" name="T"/>
          <p:cNvSpPr txBox="1"/>
          <p:nvPr/>
        </p:nvSpPr>
        <p:spPr>
          <a:xfrm>
            <a:off x="2914900" y="4452980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  <a:endParaRPr lang="id-ID" sz="850"/>
          </a:p>
        </p:txBody>
      </p:sp>
      <p:sp>
        <p:nvSpPr>
          <p:cNvPr id="394" name="K"/>
          <p:cNvSpPr/>
          <p:nvPr/>
        </p:nvSpPr>
        <p:spPr>
          <a:xfrm>
            <a:off x="3081138" y="4619218"/>
            <a:ext cx="155448" cy="155448"/>
          </a:xfrm>
          <a:prstGeom prst="ellipse">
            <a:avLst/>
          </a:prstGeom>
          <a:solidFill>
            <a:srgbClr val="B08A3E"/>
          </a:solidFill>
          <a:ln w="12700">
            <a:solidFill>
              <a:srgbClr val="FFFFFF"/>
            </a:solidFill>
          </a:ln>
        </p:spPr>
      </p:sp>
      <p:sp>
        <p:nvSpPr>
          <p:cNvPr id="395" name="T"/>
          <p:cNvSpPr txBox="1"/>
          <p:nvPr/>
        </p:nvSpPr>
        <p:spPr>
          <a:xfrm>
            <a:off x="3081138" y="4619218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6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  <a:endParaRPr lang="id-ID" sz="650"/>
          </a:p>
        </p:txBody>
      </p:sp>
      <p:sp>
        <p:nvSpPr>
          <p:cNvPr id="396" name="K"/>
          <p:cNvSpPr/>
          <p:nvPr/>
        </p:nvSpPr>
        <p:spPr>
          <a:xfrm>
            <a:off x="3090282" y="4405614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97" name="T"/>
          <p:cNvSpPr txBox="1"/>
          <p:nvPr/>
        </p:nvSpPr>
        <p:spPr>
          <a:xfrm>
            <a:off x="3090282" y="4405614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98" name="T"/>
          <p:cNvSpPr txBox="1"/>
          <p:nvPr/>
        </p:nvSpPr>
        <p:spPr>
          <a:xfrm>
            <a:off x="2315968" y="479295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Tengah</a:t>
            </a:r>
            <a:endParaRPr lang="id-ID" sz="750"/>
          </a:p>
        </p:txBody>
      </p:sp>
      <p:sp>
        <p:nvSpPr>
          <p:cNvPr id="399" name="K"/>
          <p:cNvSpPr/>
          <p:nvPr/>
        </p:nvSpPr>
        <p:spPr>
          <a:xfrm>
            <a:off x="3461277" y="4523484"/>
            <a:ext cx="310896" cy="31089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400" name="T"/>
          <p:cNvSpPr txBox="1"/>
          <p:nvPr/>
        </p:nvSpPr>
        <p:spPr>
          <a:xfrm>
            <a:off x="3461277" y="45234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  <a:endParaRPr lang="id-ID" sz="850"/>
          </a:p>
        </p:txBody>
      </p:sp>
      <p:sp>
        <p:nvSpPr>
          <p:cNvPr id="401" name="K"/>
          <p:cNvSpPr/>
          <p:nvPr/>
        </p:nvSpPr>
        <p:spPr>
          <a:xfrm>
            <a:off x="3408424" y="4731784"/>
            <a:ext cx="155448" cy="155448"/>
          </a:xfrm>
          <a:prstGeom prst="ellipse">
            <a:avLst/>
          </a:prstGeom>
          <a:solidFill>
            <a:srgbClr val="A23B2A"/>
          </a:solidFill>
          <a:ln w="12700">
            <a:solidFill>
              <a:srgbClr val="FFFFFF"/>
            </a:solidFill>
          </a:ln>
        </p:spPr>
      </p:sp>
      <p:sp>
        <p:nvSpPr>
          <p:cNvPr id="402" name="T"/>
          <p:cNvSpPr txBox="1"/>
          <p:nvPr/>
        </p:nvSpPr>
        <p:spPr>
          <a:xfrm>
            <a:off x="3408424" y="4731784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6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650"/>
          </a:p>
        </p:txBody>
      </p:sp>
      <p:sp>
        <p:nvSpPr>
          <p:cNvPr id="403" name="K"/>
          <p:cNvSpPr/>
          <p:nvPr/>
        </p:nvSpPr>
        <p:spPr>
          <a:xfrm>
            <a:off x="3678721" y="447977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404" name="T"/>
          <p:cNvSpPr txBox="1"/>
          <p:nvPr/>
        </p:nvSpPr>
        <p:spPr>
          <a:xfrm>
            <a:off x="3678721" y="447977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405" name="T"/>
          <p:cNvSpPr txBox="1"/>
          <p:nvPr/>
        </p:nvSpPr>
        <p:spPr>
          <a:xfrm>
            <a:off x="3827037" y="46057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Timur</a:t>
            </a:r>
            <a:endParaRPr lang="id-ID" sz="750"/>
          </a:p>
        </p:txBody>
      </p:sp>
      <p:sp>
        <p:nvSpPr>
          <p:cNvPr id="406" name="K"/>
          <p:cNvSpPr/>
          <p:nvPr/>
        </p:nvSpPr>
        <p:spPr>
          <a:xfrm>
            <a:off x="4675098" y="3427152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407" name="T"/>
          <p:cNvSpPr txBox="1"/>
          <p:nvPr/>
        </p:nvSpPr>
        <p:spPr>
          <a:xfrm>
            <a:off x="4675098" y="342715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08" name="K"/>
          <p:cNvSpPr/>
          <p:nvPr/>
        </p:nvSpPr>
        <p:spPr>
          <a:xfrm>
            <a:off x="4808417" y="3376129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409" name="T"/>
          <p:cNvSpPr txBox="1"/>
          <p:nvPr/>
        </p:nvSpPr>
        <p:spPr>
          <a:xfrm>
            <a:off x="4808417" y="3376129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410" name="T"/>
          <p:cNvSpPr txBox="1"/>
          <p:nvPr/>
        </p:nvSpPr>
        <p:spPr>
          <a:xfrm>
            <a:off x="4949418" y="3463728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Tengah</a:t>
            </a:r>
            <a:endParaRPr lang="id-ID" sz="750"/>
          </a:p>
        </p:txBody>
      </p:sp>
      <p:sp>
        <p:nvSpPr>
          <p:cNvPr id="411" name="K"/>
          <p:cNvSpPr/>
          <p:nvPr/>
        </p:nvSpPr>
        <p:spPr>
          <a:xfrm>
            <a:off x="4579153" y="3973437"/>
            <a:ext cx="265176" cy="26517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412" name="T"/>
          <p:cNvSpPr txBox="1"/>
          <p:nvPr/>
        </p:nvSpPr>
        <p:spPr>
          <a:xfrm>
            <a:off x="4579153" y="3973437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  <a:endParaRPr lang="id-ID" sz="850"/>
          </a:p>
        </p:txBody>
      </p:sp>
      <p:sp>
        <p:nvSpPr>
          <p:cNvPr id="413" name="T"/>
          <p:cNvSpPr txBox="1"/>
          <p:nvPr/>
        </p:nvSpPr>
        <p:spPr>
          <a:xfrm>
            <a:off x="4899193" y="403287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Selatan</a:t>
            </a:r>
            <a:endParaRPr lang="id-ID" sz="750"/>
          </a:p>
        </p:txBody>
      </p:sp>
      <p:sp>
        <p:nvSpPr>
          <p:cNvPr id="414" name="K"/>
          <p:cNvSpPr/>
          <p:nvPr/>
        </p:nvSpPr>
        <p:spPr>
          <a:xfrm>
            <a:off x="5291011" y="3112378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415" name="T"/>
          <p:cNvSpPr txBox="1"/>
          <p:nvPr/>
        </p:nvSpPr>
        <p:spPr>
          <a:xfrm>
            <a:off x="5291011" y="311237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16" name="T"/>
          <p:cNvSpPr txBox="1"/>
          <p:nvPr/>
        </p:nvSpPr>
        <p:spPr>
          <a:xfrm>
            <a:off x="3773107" y="314895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Utara</a:t>
            </a:r>
            <a:endParaRPr lang="id-ID" sz="750"/>
          </a:p>
        </p:txBody>
      </p:sp>
      <p:sp>
        <p:nvSpPr>
          <p:cNvPr id="417" name="K"/>
          <p:cNvSpPr/>
          <p:nvPr/>
        </p:nvSpPr>
        <p:spPr>
          <a:xfrm>
            <a:off x="5917939" y="3114556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418" name="T"/>
          <p:cNvSpPr txBox="1"/>
          <p:nvPr/>
        </p:nvSpPr>
        <p:spPr>
          <a:xfrm>
            <a:off x="5917939" y="311455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19" name="T"/>
          <p:cNvSpPr txBox="1"/>
          <p:nvPr/>
        </p:nvSpPr>
        <p:spPr>
          <a:xfrm>
            <a:off x="6192259" y="315113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 Utara</a:t>
            </a:r>
            <a:endParaRPr lang="id-ID" sz="750"/>
          </a:p>
        </p:txBody>
      </p:sp>
      <p:sp>
        <p:nvSpPr>
          <p:cNvPr id="420" name="K"/>
          <p:cNvSpPr/>
          <p:nvPr/>
        </p:nvSpPr>
        <p:spPr>
          <a:xfrm>
            <a:off x="6513134" y="3456879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421" name="T"/>
          <p:cNvSpPr txBox="1"/>
          <p:nvPr/>
        </p:nvSpPr>
        <p:spPr>
          <a:xfrm>
            <a:off x="6513134" y="3456879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22" name="K"/>
          <p:cNvSpPr/>
          <p:nvPr/>
        </p:nvSpPr>
        <p:spPr>
          <a:xfrm>
            <a:off x="6452966" y="3581055"/>
            <a:ext cx="155448" cy="155448"/>
          </a:xfrm>
          <a:prstGeom prst="ellipse">
            <a:avLst/>
          </a:prstGeom>
          <a:solidFill>
            <a:srgbClr val="A23B2A"/>
          </a:solidFill>
          <a:ln w="12700">
            <a:solidFill>
              <a:srgbClr val="FFFFFF"/>
            </a:solidFill>
          </a:ln>
        </p:spPr>
      </p:sp>
      <p:sp>
        <p:nvSpPr>
          <p:cNvPr id="423" name="T"/>
          <p:cNvSpPr txBox="1"/>
          <p:nvPr/>
        </p:nvSpPr>
        <p:spPr>
          <a:xfrm>
            <a:off x="6452966" y="3581055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6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650"/>
          </a:p>
        </p:txBody>
      </p:sp>
      <p:sp>
        <p:nvSpPr>
          <p:cNvPr id="424" name="T"/>
          <p:cNvSpPr txBox="1"/>
          <p:nvPr/>
        </p:nvSpPr>
        <p:spPr>
          <a:xfrm>
            <a:off x="6787454" y="3493455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Barat Daya</a:t>
            </a:r>
            <a:endParaRPr lang="id-ID" sz="750"/>
          </a:p>
        </p:txBody>
      </p:sp>
      <p:sp>
        <p:nvSpPr>
          <p:cNvPr id="425" name="K"/>
          <p:cNvSpPr/>
          <p:nvPr/>
        </p:nvSpPr>
        <p:spPr>
          <a:xfrm>
            <a:off x="4767899" y="4701217"/>
            <a:ext cx="219456" cy="219456"/>
          </a:xfrm>
          <a:prstGeom prst="ellipse">
            <a:avLst/>
          </a:prstGeom>
          <a:solidFill>
            <a:srgbClr val="5B7A99"/>
          </a:solidFill>
          <a:ln w="19050">
            <a:solidFill>
              <a:srgbClr val="FFFFFF"/>
            </a:solidFill>
          </a:ln>
        </p:spPr>
      </p:sp>
      <p:sp>
        <p:nvSpPr>
          <p:cNvPr id="426" name="T"/>
          <p:cNvSpPr txBox="1"/>
          <p:nvPr/>
        </p:nvSpPr>
        <p:spPr>
          <a:xfrm>
            <a:off x="4767899" y="470121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27" name="T"/>
          <p:cNvSpPr txBox="1"/>
          <p:nvPr/>
        </p:nvSpPr>
        <p:spPr>
          <a:xfrm>
            <a:off x="5042219" y="473779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NTT</a:t>
            </a:r>
            <a:endParaRPr lang="id-ID" sz="750"/>
          </a:p>
        </p:txBody>
      </p:sp>
      <p:sp>
        <p:nvSpPr>
          <p:cNvPr id="428" name="K"/>
          <p:cNvSpPr/>
          <p:nvPr/>
        </p:nvSpPr>
        <p:spPr>
          <a:xfrm>
            <a:off x="1089379" y="2874865"/>
            <a:ext cx="219456" cy="219456"/>
          </a:xfrm>
          <a:prstGeom prst="ellipse">
            <a:avLst/>
          </a:prstGeom>
          <a:solidFill>
            <a:srgbClr val="2F6FB5"/>
          </a:solidFill>
          <a:ln w="19050">
            <a:solidFill>
              <a:srgbClr val="FFFFFF"/>
            </a:solidFill>
          </a:ln>
        </p:spPr>
      </p:sp>
      <p:sp>
        <p:nvSpPr>
          <p:cNvPr id="429" name="T"/>
          <p:cNvSpPr txBox="1"/>
          <p:nvPr/>
        </p:nvSpPr>
        <p:spPr>
          <a:xfrm>
            <a:off x="1089379" y="2874865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30" name="T"/>
          <p:cNvSpPr txBox="1"/>
          <p:nvPr/>
        </p:nvSpPr>
        <p:spPr>
          <a:xfrm>
            <a:off x="-428524" y="2911441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Sum. Utara</a:t>
            </a:r>
            <a:endParaRPr lang="id-ID" sz="750"/>
          </a:p>
        </p:txBody>
      </p:sp>
      <p:sp>
        <p:nvSpPr>
          <p:cNvPr id="431" name="K"/>
          <p:cNvSpPr/>
          <p:nvPr/>
        </p:nvSpPr>
        <p:spPr>
          <a:xfrm>
            <a:off x="1371600" y="5216652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</p:sp>
      <p:sp>
        <p:nvSpPr>
          <p:cNvPr id="432" name="T"/>
          <p:cNvSpPr txBox="1"/>
          <p:nvPr/>
        </p:nvSpPr>
        <p:spPr>
          <a:xfrm>
            <a:off x="1554480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750"/>
          </a:p>
        </p:txBody>
      </p:sp>
      <p:sp>
        <p:nvSpPr>
          <p:cNvPr id="433" name="K"/>
          <p:cNvSpPr/>
          <p:nvPr/>
        </p:nvSpPr>
        <p:spPr>
          <a:xfrm>
            <a:off x="2199080" y="5207508"/>
            <a:ext cx="146304" cy="146304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sp>
        <p:nvSpPr>
          <p:cNvPr id="434" name="T"/>
          <p:cNvSpPr txBox="1"/>
          <p:nvPr/>
        </p:nvSpPr>
        <p:spPr>
          <a:xfrm>
            <a:off x="2400248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750"/>
          </a:p>
        </p:txBody>
      </p:sp>
      <p:sp>
        <p:nvSpPr>
          <p:cNvPr id="435" name="K"/>
          <p:cNvSpPr/>
          <p:nvPr/>
        </p:nvSpPr>
        <p:spPr>
          <a:xfrm>
            <a:off x="3148848" y="5207508"/>
            <a:ext cx="146304" cy="146304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sp>
        <p:nvSpPr>
          <p:cNvPr id="436" name="T"/>
          <p:cNvSpPr txBox="1"/>
          <p:nvPr/>
        </p:nvSpPr>
        <p:spPr>
          <a:xfrm>
            <a:off x="3350016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gempa bumi</a:t>
            </a:r>
            <a:endParaRPr lang="id-ID" sz="750"/>
          </a:p>
        </p:txBody>
      </p:sp>
      <p:sp>
        <p:nvSpPr>
          <p:cNvPr id="437" name="K"/>
          <p:cNvSpPr/>
          <p:nvPr/>
        </p:nvSpPr>
        <p:spPr>
          <a:xfrm>
            <a:off x="4098616" y="5207508"/>
            <a:ext cx="146304" cy="146304"/>
          </a:xfrm>
          <a:prstGeom prst="ellipse">
            <a:avLst/>
          </a:prstGeom>
          <a:solidFill>
            <a:srgbClr val="A23B2A"/>
          </a:solidFill>
          <a:ln>
            <a:noFill/>
          </a:ln>
        </p:spPr>
      </p:sp>
      <p:sp>
        <p:nvSpPr>
          <p:cNvPr id="438" name="T"/>
          <p:cNvSpPr txBox="1"/>
          <p:nvPr/>
        </p:nvSpPr>
        <p:spPr>
          <a:xfrm>
            <a:off x="4299784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kebakaran TPA</a:t>
            </a:r>
            <a:endParaRPr lang="id-ID" sz="750"/>
          </a:p>
        </p:txBody>
      </p:sp>
      <p:sp>
        <p:nvSpPr>
          <p:cNvPr id="439" name="K"/>
          <p:cNvSpPr/>
          <p:nvPr/>
        </p:nvSpPr>
        <p:spPr>
          <a:xfrm>
            <a:off x="5204384" y="5207508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sp>
        <p:nvSpPr>
          <p:cNvPr id="440" name="T"/>
          <p:cNvSpPr txBox="1"/>
          <p:nvPr/>
        </p:nvSpPr>
        <p:spPr>
          <a:xfrm>
            <a:off x="5405552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banjir</a:t>
            </a:r>
            <a:endParaRPr lang="id-ID" sz="750"/>
          </a:p>
        </p:txBody>
      </p:sp>
      <p:sp>
        <p:nvSpPr>
          <p:cNvPr id="441" name="K"/>
          <p:cNvSpPr/>
          <p:nvPr/>
        </p:nvSpPr>
        <p:spPr>
          <a:xfrm>
            <a:off x="5946152" y="5207508"/>
            <a:ext cx="146304" cy="146304"/>
          </a:xfrm>
          <a:prstGeom prst="ellipse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442" name="T"/>
          <p:cNvSpPr txBox="1"/>
          <p:nvPr/>
        </p:nvSpPr>
        <p:spPr>
          <a:xfrm>
            <a:off x="5946152" y="520750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50"/>
          </a:p>
        </p:txBody>
      </p:sp>
      <p:sp>
        <p:nvSpPr>
          <p:cNvPr id="443" name="T"/>
          <p:cNvSpPr txBox="1"/>
          <p:nvPr/>
        </p:nvSpPr>
        <p:spPr>
          <a:xfrm>
            <a:off x="6147320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750"/>
          </a:p>
        </p:txBody>
      </p:sp>
      <p:sp>
        <p:nvSpPr>
          <p:cNvPr id="444" name="K"/>
          <p:cNvSpPr/>
          <p:nvPr/>
        </p:nvSpPr>
        <p:spPr>
          <a:xfrm>
            <a:off x="8503920" y="2331720"/>
            <a:ext cx="3139135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445" name="T"/>
          <p:cNvSpPr txBox="1"/>
          <p:nvPr/>
        </p:nvSpPr>
        <p:spPr>
          <a:xfrm>
            <a:off x="8668512" y="2441448"/>
            <a:ext cx="286481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STATUS PENANGANAN</a:t>
            </a:r>
            <a:endParaRPr lang="id-ID" sz="750"/>
          </a:p>
        </p:txBody>
      </p:sp>
      <p:sp>
        <p:nvSpPr>
          <p:cNvPr id="446" name="K"/>
          <p:cNvSpPr/>
          <p:nvPr/>
        </p:nvSpPr>
        <p:spPr>
          <a:xfrm>
            <a:off x="8668512" y="2697480"/>
            <a:ext cx="1123980" cy="201168"/>
          </a:xfrm>
          <a:prstGeom prst="rect">
            <a:avLst/>
          </a:prstGeom>
          <a:solidFill>
            <a:srgbClr val="051C2C"/>
          </a:solidFill>
          <a:ln>
            <a:noFill/>
          </a:ln>
        </p:spPr>
      </p:sp>
      <p:sp>
        <p:nvSpPr>
          <p:cNvPr id="447" name="T"/>
          <p:cNvSpPr txBox="1"/>
          <p:nvPr/>
        </p:nvSpPr>
        <p:spPr>
          <a:xfrm>
            <a:off x="8668512" y="2697480"/>
            <a:ext cx="11239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40%</a:t>
            </a:r>
            <a:endParaRPr lang="id-ID" sz="750"/>
          </a:p>
        </p:txBody>
      </p:sp>
      <p:sp>
        <p:nvSpPr>
          <p:cNvPr id="448" name="K"/>
          <p:cNvSpPr/>
          <p:nvPr/>
        </p:nvSpPr>
        <p:spPr>
          <a:xfrm>
            <a:off x="9792492" y="2697480"/>
            <a:ext cx="1685971" cy="201168"/>
          </a:xfrm>
          <a:prstGeom prst="rect">
            <a:avLst/>
          </a:prstGeom>
          <a:solidFill>
            <a:srgbClr val="D9600B"/>
          </a:solidFill>
          <a:ln>
            <a:noFill/>
          </a:ln>
        </p:spPr>
      </p:sp>
      <p:sp>
        <p:nvSpPr>
          <p:cNvPr id="449" name="T"/>
          <p:cNvSpPr txBox="1"/>
          <p:nvPr/>
        </p:nvSpPr>
        <p:spPr>
          <a:xfrm>
            <a:off x="9792492" y="2697480"/>
            <a:ext cx="1685971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60%</a:t>
            </a:r>
            <a:endParaRPr lang="id-ID" sz="750"/>
          </a:p>
        </p:txBody>
      </p:sp>
      <p:sp>
        <p:nvSpPr>
          <p:cNvPr id="450" name="K"/>
          <p:cNvSpPr/>
          <p:nvPr/>
        </p:nvSpPr>
        <p:spPr>
          <a:xfrm>
            <a:off x="8668512" y="2971800"/>
            <a:ext cx="1368400" cy="512064"/>
          </a:xfrm>
          <a:prstGeom prst="roundRect">
            <a:avLst>
              <a:gd name="adj" fmla="val 9000"/>
            </a:avLst>
          </a:prstGeom>
          <a:solidFill>
            <a:srgbClr val="E6EAF0"/>
          </a:solidFill>
          <a:ln>
            <a:noFill/>
          </a:ln>
        </p:spPr>
      </p:sp>
      <p:sp>
        <p:nvSpPr>
          <p:cNvPr id="451" name="K"/>
          <p:cNvSpPr/>
          <p:nvPr/>
        </p:nvSpPr>
        <p:spPr>
          <a:xfrm>
            <a:off x="8778240" y="3063240"/>
            <a:ext cx="329184" cy="32918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52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8860536" y="3145536"/>
            <a:ext cx="164592" cy="164592"/>
          </a:xfrm>
          <a:prstGeom prst="rect">
            <a:avLst/>
          </a:prstGeom>
        </p:spPr>
      </p:pic>
      <p:sp>
        <p:nvSpPr>
          <p:cNvPr id="453" name="T"/>
          <p:cNvSpPr txBox="1"/>
          <p:nvPr/>
        </p:nvSpPr>
        <p:spPr>
          <a:xfrm>
            <a:off x="9180576" y="2990088"/>
            <a:ext cx="819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14</a:t>
            </a:r>
            <a:r>
              <a:rPr lang="id-ID" sz="1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/ 35</a:t>
            </a:r>
            <a:endParaRPr lang="id-ID" sz="1700"/>
          </a:p>
        </p:txBody>
      </p:sp>
      <p:sp>
        <p:nvSpPr>
          <p:cNvPr id="454" name="T"/>
          <p:cNvSpPr txBox="1"/>
          <p:nvPr/>
        </p:nvSpPr>
        <p:spPr>
          <a:xfrm>
            <a:off x="9180576" y="3273552"/>
            <a:ext cx="84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8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selesai</a:t>
            </a:r>
            <a:endParaRPr lang="id-ID" sz="680"/>
          </a:p>
        </p:txBody>
      </p:sp>
      <p:sp>
        <p:nvSpPr>
          <p:cNvPr id="455" name="K"/>
          <p:cNvSpPr/>
          <p:nvPr/>
        </p:nvSpPr>
        <p:spPr>
          <a:xfrm>
            <a:off x="10110064" y="2971800"/>
            <a:ext cx="1368400" cy="512064"/>
          </a:xfrm>
          <a:prstGeom prst="roundRect">
            <a:avLst>
              <a:gd name="adj" fmla="val 9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456" name="K"/>
          <p:cNvSpPr/>
          <p:nvPr/>
        </p:nvSpPr>
        <p:spPr>
          <a:xfrm>
            <a:off x="10219792" y="3063240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57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302088" y="3145536"/>
            <a:ext cx="164592" cy="164592"/>
          </a:xfrm>
          <a:prstGeom prst="rect">
            <a:avLst/>
          </a:prstGeom>
        </p:spPr>
      </p:pic>
      <p:sp>
        <p:nvSpPr>
          <p:cNvPr id="458" name="T"/>
          <p:cNvSpPr txBox="1"/>
          <p:nvPr/>
        </p:nvSpPr>
        <p:spPr>
          <a:xfrm>
            <a:off x="10622128" y="2990088"/>
            <a:ext cx="819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21</a:t>
            </a:r>
            <a:r>
              <a:rPr lang="id-ID" sz="1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/ 35</a:t>
            </a:r>
            <a:endParaRPr lang="id-ID" sz="1700"/>
          </a:p>
        </p:txBody>
      </p:sp>
      <p:sp>
        <p:nvSpPr>
          <p:cNvPr id="459" name="T"/>
          <p:cNvSpPr txBox="1"/>
          <p:nvPr/>
        </p:nvSpPr>
        <p:spPr>
          <a:xfrm>
            <a:off x="10622128" y="3273552"/>
            <a:ext cx="84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dalam penanganan</a:t>
            </a:r>
            <a:endParaRPr lang="id-ID" sz="680"/>
          </a:p>
        </p:txBody>
      </p:sp>
      <p:cxnSp>
        <p:nvCxnSpPr>
          <p:cNvPr id="460" name="L"/>
          <p:cNvCxnSpPr/>
          <p:nvPr/>
        </p:nvCxnSpPr>
        <p:spPr>
          <a:xfrm>
            <a:off x="8668512" y="3557016"/>
            <a:ext cx="2809951" cy="0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461" name="T"/>
          <p:cNvSpPr txBox="1"/>
          <p:nvPr/>
        </p:nvSpPr>
        <p:spPr>
          <a:xfrm>
            <a:off x="8668512" y="3621024"/>
            <a:ext cx="286481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KARHUTLA DALAM PENANGANAN (13)</a:t>
            </a:r>
            <a:endParaRPr lang="id-ID" sz="750"/>
          </a:p>
        </p:txBody>
      </p:sp>
      <p:sp>
        <p:nvSpPr>
          <p:cNvPr id="462" name="K"/>
          <p:cNvSpPr/>
          <p:nvPr/>
        </p:nvSpPr>
        <p:spPr>
          <a:xfrm>
            <a:off x="8668512" y="384048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63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3857545"/>
            <a:ext cx="55685" cy="55685"/>
          </a:xfrm>
          <a:prstGeom prst="rect">
            <a:avLst/>
          </a:prstGeom>
        </p:spPr>
      </p:pic>
      <p:sp>
        <p:nvSpPr>
          <p:cNvPr id="464" name="K"/>
          <p:cNvSpPr/>
          <p:nvPr/>
        </p:nvSpPr>
        <p:spPr>
          <a:xfrm>
            <a:off x="8731383" y="382251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65" name="T"/>
          <p:cNvSpPr txBox="1"/>
          <p:nvPr/>
        </p:nvSpPr>
        <p:spPr>
          <a:xfrm>
            <a:off x="8731383" y="382251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66" name="T"/>
          <p:cNvSpPr txBox="1"/>
          <p:nvPr/>
        </p:nvSpPr>
        <p:spPr>
          <a:xfrm>
            <a:off x="8869680" y="380309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  <a:endParaRPr lang="id-ID" sz="680"/>
          </a:p>
        </p:txBody>
      </p:sp>
      <p:sp>
        <p:nvSpPr>
          <p:cNvPr id="467" name="K"/>
          <p:cNvSpPr/>
          <p:nvPr/>
        </p:nvSpPr>
        <p:spPr>
          <a:xfrm>
            <a:off x="10545775" y="384048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68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3854850"/>
            <a:ext cx="61074" cy="61074"/>
          </a:xfrm>
          <a:prstGeom prst="rect">
            <a:avLst/>
          </a:prstGeom>
        </p:spPr>
      </p:pic>
      <p:sp>
        <p:nvSpPr>
          <p:cNvPr id="469" name="T"/>
          <p:cNvSpPr txBox="1"/>
          <p:nvPr/>
        </p:nvSpPr>
        <p:spPr>
          <a:xfrm>
            <a:off x="10746943" y="384048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16.097 ha</a:t>
            </a:r>
            <a:endParaRPr lang="id-ID" sz="620"/>
          </a:p>
        </p:txBody>
      </p:sp>
      <p:cxnSp>
        <p:nvCxnSpPr>
          <p:cNvPr id="470" name="L"/>
          <p:cNvCxnSpPr/>
          <p:nvPr/>
        </p:nvCxnSpPr>
        <p:spPr>
          <a:xfrm>
            <a:off x="8668512" y="394152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71" name="K"/>
          <p:cNvSpPr/>
          <p:nvPr/>
        </p:nvSpPr>
        <p:spPr>
          <a:xfrm>
            <a:off x="8668512" y="395275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72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3969815"/>
            <a:ext cx="55685" cy="55685"/>
          </a:xfrm>
          <a:prstGeom prst="rect">
            <a:avLst/>
          </a:prstGeom>
        </p:spPr>
      </p:pic>
      <p:sp>
        <p:nvSpPr>
          <p:cNvPr id="473" name="K"/>
          <p:cNvSpPr/>
          <p:nvPr/>
        </p:nvSpPr>
        <p:spPr>
          <a:xfrm>
            <a:off x="8731383" y="393478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74" name="T"/>
          <p:cNvSpPr txBox="1"/>
          <p:nvPr/>
        </p:nvSpPr>
        <p:spPr>
          <a:xfrm>
            <a:off x="8731383" y="393478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75" name="T"/>
          <p:cNvSpPr txBox="1"/>
          <p:nvPr/>
        </p:nvSpPr>
        <p:spPr>
          <a:xfrm>
            <a:off x="8869680" y="391536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  <a:endParaRPr lang="id-ID" sz="680"/>
          </a:p>
        </p:txBody>
      </p:sp>
      <p:sp>
        <p:nvSpPr>
          <p:cNvPr id="476" name="K"/>
          <p:cNvSpPr/>
          <p:nvPr/>
        </p:nvSpPr>
        <p:spPr>
          <a:xfrm>
            <a:off x="10545775" y="395275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77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3967120"/>
            <a:ext cx="61074" cy="61074"/>
          </a:xfrm>
          <a:prstGeom prst="rect">
            <a:avLst/>
          </a:prstGeom>
        </p:spPr>
      </p:pic>
      <p:sp>
        <p:nvSpPr>
          <p:cNvPr id="478" name="T"/>
          <p:cNvSpPr txBox="1"/>
          <p:nvPr/>
        </p:nvSpPr>
        <p:spPr>
          <a:xfrm>
            <a:off x="10746943" y="395275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2.050 ha</a:t>
            </a:r>
            <a:endParaRPr lang="id-ID" sz="620"/>
          </a:p>
        </p:txBody>
      </p:sp>
      <p:cxnSp>
        <p:nvCxnSpPr>
          <p:cNvPr id="479" name="L"/>
          <p:cNvCxnSpPr/>
          <p:nvPr/>
        </p:nvCxnSpPr>
        <p:spPr>
          <a:xfrm>
            <a:off x="8668512" y="405379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80" name="K"/>
          <p:cNvSpPr/>
          <p:nvPr/>
        </p:nvSpPr>
        <p:spPr>
          <a:xfrm>
            <a:off x="8668512" y="406502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81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4082085"/>
            <a:ext cx="55685" cy="55685"/>
          </a:xfrm>
          <a:prstGeom prst="rect">
            <a:avLst/>
          </a:prstGeom>
        </p:spPr>
      </p:pic>
      <p:sp>
        <p:nvSpPr>
          <p:cNvPr id="482" name="K"/>
          <p:cNvSpPr/>
          <p:nvPr/>
        </p:nvSpPr>
        <p:spPr>
          <a:xfrm>
            <a:off x="8731383" y="404705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83" name="T"/>
          <p:cNvSpPr txBox="1"/>
          <p:nvPr/>
        </p:nvSpPr>
        <p:spPr>
          <a:xfrm>
            <a:off x="8731383" y="404705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84" name="T"/>
          <p:cNvSpPr txBox="1"/>
          <p:nvPr/>
        </p:nvSpPr>
        <p:spPr>
          <a:xfrm>
            <a:off x="8869680" y="402763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  <a:endParaRPr lang="id-ID" sz="680"/>
          </a:p>
        </p:txBody>
      </p:sp>
      <p:sp>
        <p:nvSpPr>
          <p:cNvPr id="485" name="K"/>
          <p:cNvSpPr/>
          <p:nvPr/>
        </p:nvSpPr>
        <p:spPr>
          <a:xfrm>
            <a:off x="10545775" y="406502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86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079390"/>
            <a:ext cx="61074" cy="61074"/>
          </a:xfrm>
          <a:prstGeom prst="rect">
            <a:avLst/>
          </a:prstGeom>
        </p:spPr>
      </p:pic>
      <p:sp>
        <p:nvSpPr>
          <p:cNvPr id="487" name="T"/>
          <p:cNvSpPr txBox="1"/>
          <p:nvPr/>
        </p:nvSpPr>
        <p:spPr>
          <a:xfrm>
            <a:off x="10746943" y="406502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1.506 ha</a:t>
            </a:r>
            <a:endParaRPr lang="id-ID" sz="620"/>
          </a:p>
        </p:txBody>
      </p:sp>
      <p:cxnSp>
        <p:nvCxnSpPr>
          <p:cNvPr id="488" name="L"/>
          <p:cNvCxnSpPr/>
          <p:nvPr/>
        </p:nvCxnSpPr>
        <p:spPr>
          <a:xfrm>
            <a:off x="8668512" y="416606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89" name="K"/>
          <p:cNvSpPr/>
          <p:nvPr/>
        </p:nvSpPr>
        <p:spPr>
          <a:xfrm>
            <a:off x="8668512" y="417729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90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4194355"/>
            <a:ext cx="55685" cy="55685"/>
          </a:xfrm>
          <a:prstGeom prst="rect">
            <a:avLst/>
          </a:prstGeom>
        </p:spPr>
      </p:pic>
      <p:sp>
        <p:nvSpPr>
          <p:cNvPr id="491" name="K"/>
          <p:cNvSpPr/>
          <p:nvPr/>
        </p:nvSpPr>
        <p:spPr>
          <a:xfrm>
            <a:off x="8731383" y="415932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92" name="T"/>
          <p:cNvSpPr txBox="1"/>
          <p:nvPr/>
        </p:nvSpPr>
        <p:spPr>
          <a:xfrm>
            <a:off x="8731383" y="415932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93" name="T"/>
          <p:cNvSpPr txBox="1"/>
          <p:nvPr/>
        </p:nvSpPr>
        <p:spPr>
          <a:xfrm>
            <a:off x="8869680" y="413990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  <a:endParaRPr lang="id-ID" sz="680"/>
          </a:p>
        </p:txBody>
      </p:sp>
      <p:sp>
        <p:nvSpPr>
          <p:cNvPr id="494" name="K"/>
          <p:cNvSpPr/>
          <p:nvPr/>
        </p:nvSpPr>
        <p:spPr>
          <a:xfrm>
            <a:off x="10545775" y="417729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95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191660"/>
            <a:ext cx="61074" cy="61074"/>
          </a:xfrm>
          <a:prstGeom prst="rect">
            <a:avLst/>
          </a:prstGeom>
        </p:spPr>
      </p:pic>
      <p:sp>
        <p:nvSpPr>
          <p:cNvPr id="496" name="T"/>
          <p:cNvSpPr txBox="1"/>
          <p:nvPr/>
        </p:nvSpPr>
        <p:spPr>
          <a:xfrm>
            <a:off x="10746943" y="417729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1.370 ha</a:t>
            </a:r>
            <a:endParaRPr lang="id-ID" sz="620"/>
          </a:p>
        </p:txBody>
      </p:sp>
      <p:cxnSp>
        <p:nvCxnSpPr>
          <p:cNvPr id="497" name="L"/>
          <p:cNvCxnSpPr/>
          <p:nvPr/>
        </p:nvCxnSpPr>
        <p:spPr>
          <a:xfrm>
            <a:off x="8668512" y="427833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98" name="K"/>
          <p:cNvSpPr/>
          <p:nvPr/>
        </p:nvSpPr>
        <p:spPr>
          <a:xfrm>
            <a:off x="8668512" y="428956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99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4306625"/>
            <a:ext cx="55685" cy="55685"/>
          </a:xfrm>
          <a:prstGeom prst="rect">
            <a:avLst/>
          </a:prstGeom>
        </p:spPr>
      </p:pic>
      <p:sp>
        <p:nvSpPr>
          <p:cNvPr id="500" name="K"/>
          <p:cNvSpPr/>
          <p:nvPr/>
        </p:nvSpPr>
        <p:spPr>
          <a:xfrm>
            <a:off x="8731383" y="427159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01" name="T"/>
          <p:cNvSpPr txBox="1"/>
          <p:nvPr/>
        </p:nvSpPr>
        <p:spPr>
          <a:xfrm>
            <a:off x="8731383" y="427159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02" name="T"/>
          <p:cNvSpPr txBox="1"/>
          <p:nvPr/>
        </p:nvSpPr>
        <p:spPr>
          <a:xfrm>
            <a:off x="8869680" y="425217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  <a:endParaRPr lang="id-ID" sz="680"/>
          </a:p>
        </p:txBody>
      </p:sp>
      <p:sp>
        <p:nvSpPr>
          <p:cNvPr id="503" name="K"/>
          <p:cNvSpPr/>
          <p:nvPr/>
        </p:nvSpPr>
        <p:spPr>
          <a:xfrm>
            <a:off x="10545775" y="428956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04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303930"/>
            <a:ext cx="61074" cy="61074"/>
          </a:xfrm>
          <a:prstGeom prst="rect">
            <a:avLst/>
          </a:prstGeom>
        </p:spPr>
      </p:pic>
      <p:sp>
        <p:nvSpPr>
          <p:cNvPr id="505" name="T"/>
          <p:cNvSpPr txBox="1"/>
          <p:nvPr/>
        </p:nvSpPr>
        <p:spPr>
          <a:xfrm>
            <a:off x="10746943" y="428956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1.295 ha</a:t>
            </a:r>
            <a:endParaRPr lang="id-ID" sz="620"/>
          </a:p>
        </p:txBody>
      </p:sp>
      <p:cxnSp>
        <p:nvCxnSpPr>
          <p:cNvPr id="506" name="L"/>
          <p:cNvCxnSpPr/>
          <p:nvPr/>
        </p:nvCxnSpPr>
        <p:spPr>
          <a:xfrm>
            <a:off x="8668512" y="439060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07" name="K"/>
          <p:cNvSpPr/>
          <p:nvPr/>
        </p:nvSpPr>
        <p:spPr>
          <a:xfrm>
            <a:off x="8668512" y="440183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08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4418895"/>
            <a:ext cx="55685" cy="55685"/>
          </a:xfrm>
          <a:prstGeom prst="rect">
            <a:avLst/>
          </a:prstGeom>
        </p:spPr>
      </p:pic>
      <p:sp>
        <p:nvSpPr>
          <p:cNvPr id="509" name="K"/>
          <p:cNvSpPr/>
          <p:nvPr/>
        </p:nvSpPr>
        <p:spPr>
          <a:xfrm>
            <a:off x="8731383" y="438386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10" name="T"/>
          <p:cNvSpPr txBox="1"/>
          <p:nvPr/>
        </p:nvSpPr>
        <p:spPr>
          <a:xfrm>
            <a:off x="8731383" y="438386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11" name="T"/>
          <p:cNvSpPr txBox="1"/>
          <p:nvPr/>
        </p:nvSpPr>
        <p:spPr>
          <a:xfrm>
            <a:off x="8869680" y="436444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680"/>
          </a:p>
        </p:txBody>
      </p:sp>
      <p:sp>
        <p:nvSpPr>
          <p:cNvPr id="512" name="K"/>
          <p:cNvSpPr/>
          <p:nvPr/>
        </p:nvSpPr>
        <p:spPr>
          <a:xfrm>
            <a:off x="10545775" y="440183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13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416200"/>
            <a:ext cx="61074" cy="61074"/>
          </a:xfrm>
          <a:prstGeom prst="rect">
            <a:avLst/>
          </a:prstGeom>
        </p:spPr>
      </p:pic>
      <p:sp>
        <p:nvSpPr>
          <p:cNvPr id="514" name="T"/>
          <p:cNvSpPr txBox="1"/>
          <p:nvPr/>
        </p:nvSpPr>
        <p:spPr>
          <a:xfrm>
            <a:off x="10746943" y="440183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861 ha</a:t>
            </a:r>
            <a:endParaRPr lang="id-ID" sz="620"/>
          </a:p>
        </p:txBody>
      </p:sp>
      <p:cxnSp>
        <p:nvCxnSpPr>
          <p:cNvPr id="515" name="L"/>
          <p:cNvCxnSpPr/>
          <p:nvPr/>
        </p:nvCxnSpPr>
        <p:spPr>
          <a:xfrm>
            <a:off x="8668512" y="450287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16" name="K"/>
          <p:cNvSpPr/>
          <p:nvPr/>
        </p:nvSpPr>
        <p:spPr>
          <a:xfrm>
            <a:off x="8668512" y="451410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17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4531165"/>
            <a:ext cx="55685" cy="55685"/>
          </a:xfrm>
          <a:prstGeom prst="rect">
            <a:avLst/>
          </a:prstGeom>
        </p:spPr>
      </p:pic>
      <p:sp>
        <p:nvSpPr>
          <p:cNvPr id="518" name="K"/>
          <p:cNvSpPr/>
          <p:nvPr/>
        </p:nvSpPr>
        <p:spPr>
          <a:xfrm>
            <a:off x="8731383" y="449613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19" name="T"/>
          <p:cNvSpPr txBox="1"/>
          <p:nvPr/>
        </p:nvSpPr>
        <p:spPr>
          <a:xfrm>
            <a:off x="8731383" y="449613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20" name="T"/>
          <p:cNvSpPr txBox="1"/>
          <p:nvPr/>
        </p:nvSpPr>
        <p:spPr>
          <a:xfrm>
            <a:off x="8869680" y="447671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  <a:endParaRPr lang="id-ID" sz="680"/>
          </a:p>
        </p:txBody>
      </p:sp>
      <p:sp>
        <p:nvSpPr>
          <p:cNvPr id="521" name="K"/>
          <p:cNvSpPr/>
          <p:nvPr/>
        </p:nvSpPr>
        <p:spPr>
          <a:xfrm>
            <a:off x="10545775" y="451410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22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528470"/>
            <a:ext cx="61074" cy="61074"/>
          </a:xfrm>
          <a:prstGeom prst="rect">
            <a:avLst/>
          </a:prstGeom>
        </p:spPr>
      </p:pic>
      <p:sp>
        <p:nvSpPr>
          <p:cNvPr id="523" name="T"/>
          <p:cNvSpPr txBox="1"/>
          <p:nvPr/>
        </p:nvSpPr>
        <p:spPr>
          <a:xfrm>
            <a:off x="10746943" y="451410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379 ha</a:t>
            </a:r>
            <a:endParaRPr lang="id-ID" sz="620"/>
          </a:p>
        </p:txBody>
      </p:sp>
      <p:cxnSp>
        <p:nvCxnSpPr>
          <p:cNvPr id="524" name="L"/>
          <p:cNvCxnSpPr/>
          <p:nvPr/>
        </p:nvCxnSpPr>
        <p:spPr>
          <a:xfrm>
            <a:off x="8668512" y="461514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25" name="K"/>
          <p:cNvSpPr/>
          <p:nvPr/>
        </p:nvSpPr>
        <p:spPr>
          <a:xfrm>
            <a:off x="8668512" y="462637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26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4643435"/>
            <a:ext cx="55685" cy="55685"/>
          </a:xfrm>
          <a:prstGeom prst="rect">
            <a:avLst/>
          </a:prstGeom>
        </p:spPr>
      </p:pic>
      <p:sp>
        <p:nvSpPr>
          <p:cNvPr id="527" name="K"/>
          <p:cNvSpPr/>
          <p:nvPr/>
        </p:nvSpPr>
        <p:spPr>
          <a:xfrm>
            <a:off x="8731383" y="460840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28" name="T"/>
          <p:cNvSpPr txBox="1"/>
          <p:nvPr/>
        </p:nvSpPr>
        <p:spPr>
          <a:xfrm>
            <a:off x="8731383" y="460840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29" name="T"/>
          <p:cNvSpPr txBox="1"/>
          <p:nvPr/>
        </p:nvSpPr>
        <p:spPr>
          <a:xfrm>
            <a:off x="8869680" y="458898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Tojo Una-Una</a:t>
            </a:r>
            <a:endParaRPr lang="id-ID" sz="680"/>
          </a:p>
        </p:txBody>
      </p:sp>
      <p:sp>
        <p:nvSpPr>
          <p:cNvPr id="530" name="K"/>
          <p:cNvSpPr/>
          <p:nvPr/>
        </p:nvSpPr>
        <p:spPr>
          <a:xfrm>
            <a:off x="10545775" y="462637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31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640740"/>
            <a:ext cx="61074" cy="61074"/>
          </a:xfrm>
          <a:prstGeom prst="rect">
            <a:avLst/>
          </a:prstGeom>
        </p:spPr>
      </p:pic>
      <p:sp>
        <p:nvSpPr>
          <p:cNvPr id="532" name="T"/>
          <p:cNvSpPr txBox="1"/>
          <p:nvPr/>
        </p:nvSpPr>
        <p:spPr>
          <a:xfrm>
            <a:off x="10746943" y="462637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225 ha</a:t>
            </a:r>
            <a:endParaRPr lang="id-ID" sz="620"/>
          </a:p>
        </p:txBody>
      </p:sp>
      <p:cxnSp>
        <p:nvCxnSpPr>
          <p:cNvPr id="533" name="L"/>
          <p:cNvCxnSpPr/>
          <p:nvPr/>
        </p:nvCxnSpPr>
        <p:spPr>
          <a:xfrm>
            <a:off x="8668512" y="472741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34" name="K"/>
          <p:cNvSpPr/>
          <p:nvPr/>
        </p:nvSpPr>
        <p:spPr>
          <a:xfrm>
            <a:off x="8668512" y="473864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35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4755705"/>
            <a:ext cx="55685" cy="55685"/>
          </a:xfrm>
          <a:prstGeom prst="rect">
            <a:avLst/>
          </a:prstGeom>
        </p:spPr>
      </p:pic>
      <p:sp>
        <p:nvSpPr>
          <p:cNvPr id="536" name="K"/>
          <p:cNvSpPr/>
          <p:nvPr/>
        </p:nvSpPr>
        <p:spPr>
          <a:xfrm>
            <a:off x="8731383" y="472067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37" name="T"/>
          <p:cNvSpPr txBox="1"/>
          <p:nvPr/>
        </p:nvSpPr>
        <p:spPr>
          <a:xfrm>
            <a:off x="8731383" y="472067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38" name="T"/>
          <p:cNvSpPr txBox="1"/>
          <p:nvPr/>
        </p:nvSpPr>
        <p:spPr>
          <a:xfrm>
            <a:off x="8869680" y="470125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Pegunungan</a:t>
            </a:r>
            <a:endParaRPr lang="id-ID" sz="680"/>
          </a:p>
        </p:txBody>
      </p:sp>
      <p:sp>
        <p:nvSpPr>
          <p:cNvPr id="539" name="K"/>
          <p:cNvSpPr/>
          <p:nvPr/>
        </p:nvSpPr>
        <p:spPr>
          <a:xfrm>
            <a:off x="10545775" y="473864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40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753010"/>
            <a:ext cx="61074" cy="61074"/>
          </a:xfrm>
          <a:prstGeom prst="rect">
            <a:avLst/>
          </a:prstGeom>
        </p:spPr>
      </p:pic>
      <p:sp>
        <p:nvSpPr>
          <p:cNvPr id="541" name="T"/>
          <p:cNvSpPr txBox="1"/>
          <p:nvPr/>
        </p:nvSpPr>
        <p:spPr>
          <a:xfrm>
            <a:off x="10746943" y="473864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186 ha</a:t>
            </a:r>
            <a:endParaRPr lang="id-ID" sz="620"/>
          </a:p>
        </p:txBody>
      </p:sp>
      <p:cxnSp>
        <p:nvCxnSpPr>
          <p:cNvPr id="542" name="L"/>
          <p:cNvCxnSpPr/>
          <p:nvPr/>
        </p:nvCxnSpPr>
        <p:spPr>
          <a:xfrm>
            <a:off x="8668512" y="483968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43" name="K"/>
          <p:cNvSpPr/>
          <p:nvPr/>
        </p:nvSpPr>
        <p:spPr>
          <a:xfrm>
            <a:off x="8668512" y="485091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44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4867975"/>
            <a:ext cx="55685" cy="55685"/>
          </a:xfrm>
          <a:prstGeom prst="rect">
            <a:avLst/>
          </a:prstGeom>
        </p:spPr>
      </p:pic>
      <p:sp>
        <p:nvSpPr>
          <p:cNvPr id="545" name="T"/>
          <p:cNvSpPr txBox="1"/>
          <p:nvPr/>
        </p:nvSpPr>
        <p:spPr>
          <a:xfrm>
            <a:off x="8869680" y="481352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Barat</a:t>
            </a:r>
            <a:endParaRPr lang="id-ID" sz="680"/>
          </a:p>
        </p:txBody>
      </p:sp>
      <p:sp>
        <p:nvSpPr>
          <p:cNvPr id="546" name="K"/>
          <p:cNvSpPr/>
          <p:nvPr/>
        </p:nvSpPr>
        <p:spPr>
          <a:xfrm>
            <a:off x="10545775" y="485091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47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865280"/>
            <a:ext cx="61074" cy="61074"/>
          </a:xfrm>
          <a:prstGeom prst="rect">
            <a:avLst/>
          </a:prstGeom>
        </p:spPr>
      </p:pic>
      <p:sp>
        <p:nvSpPr>
          <p:cNvPr id="548" name="T"/>
          <p:cNvSpPr txBox="1"/>
          <p:nvPr/>
        </p:nvSpPr>
        <p:spPr>
          <a:xfrm>
            <a:off x="10746943" y="485091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39 ha</a:t>
            </a:r>
            <a:endParaRPr lang="id-ID" sz="620"/>
          </a:p>
        </p:txBody>
      </p:sp>
      <p:cxnSp>
        <p:nvCxnSpPr>
          <p:cNvPr id="549" name="L"/>
          <p:cNvCxnSpPr/>
          <p:nvPr/>
        </p:nvCxnSpPr>
        <p:spPr>
          <a:xfrm>
            <a:off x="8668512" y="495195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50" name="K"/>
          <p:cNvSpPr/>
          <p:nvPr/>
        </p:nvSpPr>
        <p:spPr>
          <a:xfrm>
            <a:off x="8668512" y="496318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51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4980245"/>
            <a:ext cx="55685" cy="55685"/>
          </a:xfrm>
          <a:prstGeom prst="rect">
            <a:avLst/>
          </a:prstGeom>
        </p:spPr>
      </p:pic>
      <p:sp>
        <p:nvSpPr>
          <p:cNvPr id="552" name="K"/>
          <p:cNvSpPr/>
          <p:nvPr/>
        </p:nvSpPr>
        <p:spPr>
          <a:xfrm>
            <a:off x="8731383" y="494521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53" name="T"/>
          <p:cNvSpPr txBox="1"/>
          <p:nvPr/>
        </p:nvSpPr>
        <p:spPr>
          <a:xfrm>
            <a:off x="8731383" y="494521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54" name="T"/>
          <p:cNvSpPr txBox="1"/>
          <p:nvPr/>
        </p:nvSpPr>
        <p:spPr>
          <a:xfrm>
            <a:off x="8869680" y="492579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Timur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Gunung Arjuno</a:t>
            </a:r>
            <a:endParaRPr lang="id-ID" sz="680"/>
          </a:p>
        </p:txBody>
      </p:sp>
      <p:sp>
        <p:nvSpPr>
          <p:cNvPr id="555" name="K"/>
          <p:cNvSpPr/>
          <p:nvPr/>
        </p:nvSpPr>
        <p:spPr>
          <a:xfrm>
            <a:off x="10545775" y="496318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56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4977550"/>
            <a:ext cx="61074" cy="61074"/>
          </a:xfrm>
          <a:prstGeom prst="rect">
            <a:avLst/>
          </a:prstGeom>
        </p:spPr>
      </p:pic>
      <p:sp>
        <p:nvSpPr>
          <p:cNvPr id="557" name="T"/>
          <p:cNvSpPr txBox="1"/>
          <p:nvPr/>
        </p:nvSpPr>
        <p:spPr>
          <a:xfrm>
            <a:off x="10746943" y="496318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20 ha</a:t>
            </a:r>
            <a:endParaRPr lang="id-ID" sz="620"/>
          </a:p>
        </p:txBody>
      </p:sp>
      <p:cxnSp>
        <p:nvCxnSpPr>
          <p:cNvPr id="558" name="L"/>
          <p:cNvCxnSpPr/>
          <p:nvPr/>
        </p:nvCxnSpPr>
        <p:spPr>
          <a:xfrm>
            <a:off x="8668512" y="506422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59" name="K"/>
          <p:cNvSpPr/>
          <p:nvPr/>
        </p:nvSpPr>
        <p:spPr>
          <a:xfrm>
            <a:off x="8668512" y="507545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60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5092515"/>
            <a:ext cx="55685" cy="55685"/>
          </a:xfrm>
          <a:prstGeom prst="rect">
            <a:avLst/>
          </a:prstGeom>
        </p:spPr>
      </p:pic>
      <p:sp>
        <p:nvSpPr>
          <p:cNvPr id="561" name="K"/>
          <p:cNvSpPr/>
          <p:nvPr/>
        </p:nvSpPr>
        <p:spPr>
          <a:xfrm>
            <a:off x="8731383" y="505748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62" name="T"/>
          <p:cNvSpPr txBox="1"/>
          <p:nvPr/>
        </p:nvSpPr>
        <p:spPr>
          <a:xfrm>
            <a:off x="8731383" y="505748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63" name="T"/>
          <p:cNvSpPr txBox="1"/>
          <p:nvPr/>
        </p:nvSpPr>
        <p:spPr>
          <a:xfrm>
            <a:off x="8869680" y="503806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Tengah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Karanganyar</a:t>
            </a:r>
            <a:endParaRPr lang="id-ID" sz="680"/>
          </a:p>
        </p:txBody>
      </p:sp>
      <p:sp>
        <p:nvSpPr>
          <p:cNvPr id="564" name="K"/>
          <p:cNvSpPr/>
          <p:nvPr/>
        </p:nvSpPr>
        <p:spPr>
          <a:xfrm>
            <a:off x="10545775" y="507545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65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5089820"/>
            <a:ext cx="61074" cy="61074"/>
          </a:xfrm>
          <a:prstGeom prst="rect">
            <a:avLst/>
          </a:prstGeom>
        </p:spPr>
      </p:pic>
      <p:sp>
        <p:nvSpPr>
          <p:cNvPr id="566" name="T"/>
          <p:cNvSpPr txBox="1"/>
          <p:nvPr/>
        </p:nvSpPr>
        <p:spPr>
          <a:xfrm>
            <a:off x="10746943" y="507545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18 ha</a:t>
            </a:r>
            <a:endParaRPr lang="id-ID" sz="620"/>
          </a:p>
        </p:txBody>
      </p:sp>
      <p:cxnSp>
        <p:nvCxnSpPr>
          <p:cNvPr id="567" name="L"/>
          <p:cNvCxnSpPr/>
          <p:nvPr/>
        </p:nvCxnSpPr>
        <p:spPr>
          <a:xfrm>
            <a:off x="8668512" y="517649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68" name="K"/>
          <p:cNvSpPr/>
          <p:nvPr/>
        </p:nvSpPr>
        <p:spPr>
          <a:xfrm>
            <a:off x="8668512" y="5187720"/>
            <a:ext cx="89816" cy="898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69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5577" y="5204785"/>
            <a:ext cx="55685" cy="55685"/>
          </a:xfrm>
          <a:prstGeom prst="rect">
            <a:avLst/>
          </a:prstGeom>
        </p:spPr>
      </p:pic>
      <p:sp>
        <p:nvSpPr>
          <p:cNvPr id="570" name="K"/>
          <p:cNvSpPr/>
          <p:nvPr/>
        </p:nvSpPr>
        <p:spPr>
          <a:xfrm>
            <a:off x="8731383" y="5169756"/>
            <a:ext cx="49398" cy="49398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71" name="T"/>
          <p:cNvSpPr txBox="1"/>
          <p:nvPr/>
        </p:nvSpPr>
        <p:spPr>
          <a:xfrm>
            <a:off x="8731383" y="5169756"/>
            <a:ext cx="49398" cy="49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72" name="T"/>
          <p:cNvSpPr txBox="1"/>
          <p:nvPr/>
        </p:nvSpPr>
        <p:spPr>
          <a:xfrm>
            <a:off x="8869680" y="515033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Tengah</a:t>
            </a: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Wonosobo</a:t>
            </a:r>
            <a:endParaRPr lang="id-ID" sz="680"/>
          </a:p>
        </p:txBody>
      </p:sp>
      <p:sp>
        <p:nvSpPr>
          <p:cNvPr id="573" name="K"/>
          <p:cNvSpPr/>
          <p:nvPr/>
        </p:nvSpPr>
        <p:spPr>
          <a:xfrm>
            <a:off x="10545775" y="5187720"/>
            <a:ext cx="932688" cy="898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74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09783" y="5202090"/>
            <a:ext cx="61074" cy="61074"/>
          </a:xfrm>
          <a:prstGeom prst="rect">
            <a:avLst/>
          </a:prstGeom>
        </p:spPr>
      </p:pic>
      <p:sp>
        <p:nvSpPr>
          <p:cNvPr id="575" name="T"/>
          <p:cNvSpPr txBox="1"/>
          <p:nvPr/>
        </p:nvSpPr>
        <p:spPr>
          <a:xfrm>
            <a:off x="10746943" y="5187720"/>
            <a:ext cx="713232" cy="898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5 ha</a:t>
            </a:r>
            <a:endParaRPr lang="id-ID" sz="620"/>
          </a:p>
        </p:txBody>
      </p:sp>
      <p:sp>
        <p:nvSpPr>
          <p:cNvPr id="576" name="K"/>
          <p:cNvSpPr/>
          <p:nvPr/>
        </p:nvSpPr>
        <p:spPr>
          <a:xfrm>
            <a:off x="548640" y="546811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F4EC"/>
          </a:solidFill>
          <a:ln>
            <a:noFill/>
          </a:ln>
        </p:spPr>
      </p:sp>
      <p:sp>
        <p:nvSpPr>
          <p:cNvPr id="577" name="T"/>
          <p:cNvSpPr txBox="1"/>
          <p:nvPr/>
        </p:nvSpPr>
        <p:spPr>
          <a:xfrm>
            <a:off x="694944" y="55412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YANG AKAN DILAKUKAN BNPB</a:t>
            </a:r>
            <a:endParaRPr lang="id-ID" sz="750"/>
          </a:p>
        </p:txBody>
      </p:sp>
      <p:sp>
        <p:nvSpPr>
          <p:cNvPr id="578" name="K"/>
          <p:cNvSpPr/>
          <p:nvPr/>
        </p:nvSpPr>
        <p:spPr>
          <a:xfrm>
            <a:off x="694944" y="5815584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79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768096" y="5888736"/>
            <a:ext cx="182880" cy="182880"/>
          </a:xfrm>
          <a:prstGeom prst="rect">
            <a:avLst/>
          </a:prstGeom>
        </p:spPr>
      </p:pic>
      <p:sp>
        <p:nvSpPr>
          <p:cNvPr id="580" name="T"/>
          <p:cNvSpPr txBox="1"/>
          <p:nvPr/>
        </p:nvSpPr>
        <p:spPr>
          <a:xfrm>
            <a:off x="1115568" y="5760720"/>
            <a:ext cx="305196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Pemadaman prioritas</a:t>
            </a:r>
            <a:endParaRPr lang="id-ID" sz="900"/>
          </a:p>
        </p:txBody>
      </p:sp>
      <p:sp>
        <p:nvSpPr>
          <p:cNvPr id="581" name="T"/>
          <p:cNvSpPr txBox="1"/>
          <p:nvPr/>
        </p:nvSpPr>
        <p:spPr>
          <a:xfrm>
            <a:off x="1115568" y="5961888"/>
            <a:ext cx="3051962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Water bombing dan penyekatan di Gunung Arjuno dan Karanganyar</a:t>
            </a:r>
            <a:endParaRPr lang="id-ID" sz="720"/>
          </a:p>
          <a:p>
            <a:pPr algn="l"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Pemadaman darat di Tojo Una-Una</a:t>
            </a:r>
            <a:endParaRPr lang="id-ID" sz="720"/>
          </a:p>
        </p:txBody>
      </p:sp>
      <p:cxnSp>
        <p:nvCxnSpPr>
          <p:cNvPr id="582" name="L"/>
          <p:cNvCxnSpPr/>
          <p:nvPr/>
        </p:nvCxnSpPr>
        <p:spPr>
          <a:xfrm>
            <a:off x="4222394" y="5797296"/>
            <a:ext cx="0" cy="457200"/>
          </a:xfrm>
          <a:prstGeom prst="line">
            <a:avLst/>
          </a:prstGeom>
          <a:ln w="9525">
            <a:solidFill>
              <a:srgbClr val="F2D3BA"/>
            </a:solidFill>
          </a:ln>
        </p:spPr>
      </p:cxnSp>
      <p:sp>
        <p:nvSpPr>
          <p:cNvPr id="583" name="K"/>
          <p:cNvSpPr/>
          <p:nvPr/>
        </p:nvSpPr>
        <p:spPr>
          <a:xfrm>
            <a:off x="4295546" y="5815584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84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4368698" y="5888736"/>
            <a:ext cx="182880" cy="182880"/>
          </a:xfrm>
          <a:prstGeom prst="rect">
            <a:avLst/>
          </a:prstGeom>
        </p:spPr>
      </p:pic>
      <p:sp>
        <p:nvSpPr>
          <p:cNvPr id="585" name="T"/>
          <p:cNvSpPr txBox="1"/>
          <p:nvPr/>
        </p:nvSpPr>
        <p:spPr>
          <a:xfrm>
            <a:off x="4716170" y="5760720"/>
            <a:ext cx="305196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Keselamatan warga</a:t>
            </a:r>
            <a:endParaRPr lang="id-ID" sz="900"/>
          </a:p>
        </p:txBody>
      </p:sp>
      <p:sp>
        <p:nvSpPr>
          <p:cNvPr id="586" name="T"/>
          <p:cNvSpPr txBox="1"/>
          <p:nvPr/>
        </p:nvSpPr>
        <p:spPr>
          <a:xfrm>
            <a:off x="4716170" y="5961888"/>
            <a:ext cx="3051962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Pendampingan 152 pendaki terdampak di Wonosobo; masker untuk warga di kota dengan PM2.5 Berbahaya (Palembang, Palangka Raya)</a:t>
            </a:r>
            <a:endParaRPr lang="id-ID" sz="720"/>
          </a:p>
        </p:txBody>
      </p:sp>
      <p:cxnSp>
        <p:nvCxnSpPr>
          <p:cNvPr id="587" name="L"/>
          <p:cNvCxnSpPr/>
          <p:nvPr/>
        </p:nvCxnSpPr>
        <p:spPr>
          <a:xfrm>
            <a:off x="7822996" y="5797296"/>
            <a:ext cx="0" cy="457200"/>
          </a:xfrm>
          <a:prstGeom prst="line">
            <a:avLst/>
          </a:prstGeom>
          <a:ln w="9525">
            <a:solidFill>
              <a:srgbClr val="F2D3BA"/>
            </a:solidFill>
          </a:ln>
        </p:spPr>
      </p:cxnSp>
      <p:sp>
        <p:nvSpPr>
          <p:cNvPr id="588" name="K"/>
          <p:cNvSpPr/>
          <p:nvPr/>
        </p:nvSpPr>
        <p:spPr>
          <a:xfrm>
            <a:off x="7896148" y="5815584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89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7969300" y="5888736"/>
            <a:ext cx="182880" cy="182880"/>
          </a:xfrm>
          <a:prstGeom prst="rect">
            <a:avLst/>
          </a:prstGeom>
        </p:spPr>
      </p:pic>
      <p:sp>
        <p:nvSpPr>
          <p:cNvPr id="590" name="T"/>
          <p:cNvSpPr txBox="1"/>
          <p:nvPr/>
        </p:nvSpPr>
        <p:spPr>
          <a:xfrm>
            <a:off x="8316772" y="5760720"/>
            <a:ext cx="305196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Air bersih</a:t>
            </a:r>
            <a:endParaRPr lang="id-ID" sz="900"/>
          </a:p>
        </p:txBody>
      </p:sp>
      <p:sp>
        <p:nvSpPr>
          <p:cNvPr id="591" name="T"/>
          <p:cNvSpPr txBox="1"/>
          <p:nvPr/>
        </p:nvSpPr>
        <p:spPr>
          <a:xfrm>
            <a:off x="8316772" y="5961888"/>
            <a:ext cx="3051962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Melanjutkan distribusi air bersih untuk ±44.045 KK terdampak kekeringan di 5 kabupaten Jawa Tengah</a:t>
            </a:r>
            <a:endParaRPr lang="id-ID" sz="7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683" name="T"/>
          <p:cNvSpPr txBox="1"/>
          <p:nvPr/>
        </p:nvSpPr>
        <p:spPr>
          <a:xfrm>
            <a:off x="548640" y="292608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Rincian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35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kejadian menonjol: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26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 (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di antaranya masih dalam proses penanganan),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5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kekeringan di Jawa Tengah, dan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4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bencana lainnya</a:t>
            </a:r>
            <a:endParaRPr lang="id-ID" sz="2200"/>
          </a:p>
        </p:txBody>
      </p:sp>
      <p:sp>
        <p:nvSpPr>
          <p:cNvPr id="301" name="K"/>
          <p:cNvSpPr/>
          <p:nvPr/>
        </p:nvSpPr>
        <p:spPr>
          <a:xfrm>
            <a:off x="548640" y="1325880"/>
            <a:ext cx="672084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02" name="K"/>
          <p:cNvSpPr/>
          <p:nvPr/>
        </p:nvSpPr>
        <p:spPr>
          <a:xfrm>
            <a:off x="548640" y="132588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303" name="K"/>
          <p:cNvSpPr/>
          <p:nvPr/>
        </p:nvSpPr>
        <p:spPr>
          <a:xfrm>
            <a:off x="548640" y="1600200"/>
            <a:ext cx="6720840" cy="182880"/>
          </a:xfrm>
          <a:prstGeom prst="rect">
            <a:avLst/>
          </a:prstGeom>
          <a:solidFill>
            <a:srgbClr val="FBE7D6"/>
          </a:solidFill>
          <a:ln>
            <a:noFill/>
          </a:ln>
        </p:spPr>
      </p:sp>
      <p:sp>
        <p:nvSpPr>
          <p:cNvPr id="304" name="K"/>
          <p:cNvSpPr/>
          <p:nvPr/>
        </p:nvSpPr>
        <p:spPr>
          <a:xfrm>
            <a:off x="676656" y="1408176"/>
            <a:ext cx="292608" cy="29260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05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306" name="T"/>
          <p:cNvSpPr txBox="1"/>
          <p:nvPr/>
        </p:nvSpPr>
        <p:spPr>
          <a:xfrm>
            <a:off x="1051560" y="1325880"/>
            <a:ext cx="5620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1100"/>
          </a:p>
        </p:txBody>
      </p:sp>
      <p:sp>
        <p:nvSpPr>
          <p:cNvPr id="307" name="T"/>
          <p:cNvSpPr txBox="1"/>
          <p:nvPr/>
        </p:nvSpPr>
        <p:spPr>
          <a:xfrm>
            <a:off x="6629400" y="1325880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26</a:t>
            </a:r>
            <a:endParaRPr lang="id-ID" sz="1800"/>
          </a:p>
        </p:txBody>
      </p:sp>
      <p:sp>
        <p:nvSpPr>
          <p:cNvPr id="308" name="T"/>
          <p:cNvSpPr txBox="1"/>
          <p:nvPr/>
        </p:nvSpPr>
        <p:spPr>
          <a:xfrm>
            <a:off x="676656" y="185623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5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LOKASI</a:t>
            </a:r>
            <a:endParaRPr lang="id-ID" sz="650"/>
          </a:p>
        </p:txBody>
      </p:sp>
      <p:sp>
        <p:nvSpPr>
          <p:cNvPr id="309" name="T"/>
          <p:cNvSpPr txBox="1"/>
          <p:nvPr/>
        </p:nvSpPr>
        <p:spPr>
          <a:xfrm>
            <a:off x="3291840" y="185623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5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TERBAKAR 1 JAN–22 OKT</a:t>
            </a:r>
            <a:endParaRPr lang="id-ID" sz="650"/>
          </a:p>
        </p:txBody>
      </p:sp>
      <p:sp>
        <p:nvSpPr>
          <p:cNvPr id="310" name="T"/>
          <p:cNvSpPr txBox="1"/>
          <p:nvPr/>
        </p:nvSpPr>
        <p:spPr>
          <a:xfrm>
            <a:off x="4617720" y="1856232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65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22 OKT: HOTSPOT, SISA</a:t>
            </a:r>
            <a:endParaRPr lang="id-ID" sz="650"/>
          </a:p>
        </p:txBody>
      </p:sp>
      <p:cxnSp>
        <p:nvCxnSpPr>
          <p:cNvPr id="311" name="L"/>
          <p:cNvCxnSpPr/>
          <p:nvPr/>
        </p:nvCxnSpPr>
        <p:spPr>
          <a:xfrm>
            <a:off x="676656" y="2039112"/>
            <a:ext cx="646480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12" name="K"/>
          <p:cNvSpPr/>
          <p:nvPr/>
        </p:nvSpPr>
        <p:spPr>
          <a:xfrm>
            <a:off x="676656" y="2082270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1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694035" y="2099650"/>
            <a:ext cx="61795" cy="61795"/>
          </a:xfrm>
          <a:prstGeom prst="rect">
            <a:avLst/>
          </a:prstGeom>
        </p:spPr>
      </p:pic>
      <p:sp>
        <p:nvSpPr>
          <p:cNvPr id="314" name="T"/>
          <p:cNvSpPr txBox="1"/>
          <p:nvPr/>
        </p:nvSpPr>
        <p:spPr>
          <a:xfrm>
            <a:off x="950976" y="2057400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  <a:endParaRPr lang="id-ID" sz="717"/>
          </a:p>
        </p:txBody>
      </p:sp>
      <p:sp>
        <p:nvSpPr>
          <p:cNvPr id="315" name="T"/>
          <p:cNvSpPr txBox="1"/>
          <p:nvPr/>
        </p:nvSpPr>
        <p:spPr>
          <a:xfrm>
            <a:off x="3291840" y="2057400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714.785 ha</a:t>
            </a:r>
            <a:endParaRPr lang="id-ID" sz="702"/>
          </a:p>
        </p:txBody>
      </p:sp>
      <p:sp>
        <p:nvSpPr>
          <p:cNvPr id="316" name="K"/>
          <p:cNvSpPr/>
          <p:nvPr/>
        </p:nvSpPr>
        <p:spPr>
          <a:xfrm>
            <a:off x="4739006" y="2079344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17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097266"/>
            <a:ext cx="66564" cy="66564"/>
          </a:xfrm>
          <a:prstGeom prst="rect">
            <a:avLst/>
          </a:prstGeom>
        </p:spPr>
      </p:pic>
      <p:sp>
        <p:nvSpPr>
          <p:cNvPr id="318" name="T"/>
          <p:cNvSpPr txBox="1"/>
          <p:nvPr/>
        </p:nvSpPr>
        <p:spPr>
          <a:xfrm>
            <a:off x="4985894" y="2079344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12.682 hotspot</a:t>
            </a:r>
            <a:endParaRPr lang="id-ID" sz="608"/>
          </a:p>
        </p:txBody>
      </p:sp>
      <p:sp>
        <p:nvSpPr>
          <p:cNvPr id="319" name="K"/>
          <p:cNvSpPr/>
          <p:nvPr/>
        </p:nvSpPr>
        <p:spPr>
          <a:xfrm>
            <a:off x="5864742" y="2079344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20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2097266"/>
            <a:ext cx="66564" cy="66564"/>
          </a:xfrm>
          <a:prstGeom prst="rect">
            <a:avLst/>
          </a:prstGeom>
        </p:spPr>
      </p:pic>
      <p:sp>
        <p:nvSpPr>
          <p:cNvPr id="321" name="T"/>
          <p:cNvSpPr txBox="1"/>
          <p:nvPr/>
        </p:nvSpPr>
        <p:spPr>
          <a:xfrm>
            <a:off x="6111630" y="2079344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16.097 ha</a:t>
            </a:r>
            <a:endParaRPr lang="id-ID" sz="608"/>
          </a:p>
        </p:txBody>
      </p:sp>
      <p:cxnSp>
        <p:nvCxnSpPr>
          <p:cNvPr id="322" name="L"/>
          <p:cNvCxnSpPr/>
          <p:nvPr/>
        </p:nvCxnSpPr>
        <p:spPr>
          <a:xfrm>
            <a:off x="676656" y="220369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23" name="K"/>
          <p:cNvSpPr/>
          <p:nvPr/>
        </p:nvSpPr>
        <p:spPr>
          <a:xfrm>
            <a:off x="676656" y="2228566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2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694035" y="2245946"/>
            <a:ext cx="61795" cy="61795"/>
          </a:xfrm>
          <a:prstGeom prst="rect">
            <a:avLst/>
          </a:prstGeom>
        </p:spPr>
      </p:pic>
      <p:sp>
        <p:nvSpPr>
          <p:cNvPr id="325" name="T"/>
          <p:cNvSpPr txBox="1"/>
          <p:nvPr/>
        </p:nvSpPr>
        <p:spPr>
          <a:xfrm>
            <a:off x="950976" y="2203696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  <a:endParaRPr lang="id-ID" sz="717"/>
          </a:p>
        </p:txBody>
      </p:sp>
      <p:sp>
        <p:nvSpPr>
          <p:cNvPr id="326" name="T"/>
          <p:cNvSpPr txBox="1"/>
          <p:nvPr/>
        </p:nvSpPr>
        <p:spPr>
          <a:xfrm>
            <a:off x="3291840" y="2203696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355.200 ha</a:t>
            </a:r>
            <a:endParaRPr lang="id-ID" sz="702"/>
          </a:p>
        </p:txBody>
      </p:sp>
      <p:sp>
        <p:nvSpPr>
          <p:cNvPr id="327" name="K"/>
          <p:cNvSpPr/>
          <p:nvPr/>
        </p:nvSpPr>
        <p:spPr>
          <a:xfrm>
            <a:off x="4739006" y="2225640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2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243562"/>
            <a:ext cx="66564" cy="66564"/>
          </a:xfrm>
          <a:prstGeom prst="rect">
            <a:avLst/>
          </a:prstGeom>
        </p:spPr>
      </p:pic>
      <p:sp>
        <p:nvSpPr>
          <p:cNvPr id="329" name="T"/>
          <p:cNvSpPr txBox="1"/>
          <p:nvPr/>
        </p:nvSpPr>
        <p:spPr>
          <a:xfrm>
            <a:off x="4985894" y="2225640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1.016 hotspot</a:t>
            </a:r>
            <a:endParaRPr lang="id-ID" sz="608"/>
          </a:p>
        </p:txBody>
      </p:sp>
      <p:sp>
        <p:nvSpPr>
          <p:cNvPr id="330" name="K"/>
          <p:cNvSpPr/>
          <p:nvPr/>
        </p:nvSpPr>
        <p:spPr>
          <a:xfrm>
            <a:off x="5864742" y="2225640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31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2243562"/>
            <a:ext cx="66564" cy="66564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6111630" y="2225640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1.370 ha</a:t>
            </a:r>
            <a:endParaRPr lang="id-ID" sz="608"/>
          </a:p>
        </p:txBody>
      </p:sp>
      <p:cxnSp>
        <p:nvCxnSpPr>
          <p:cNvPr id="333" name="L"/>
          <p:cNvCxnSpPr/>
          <p:nvPr/>
        </p:nvCxnSpPr>
        <p:spPr>
          <a:xfrm>
            <a:off x="676656" y="2349992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34" name="K"/>
          <p:cNvSpPr/>
          <p:nvPr/>
        </p:nvSpPr>
        <p:spPr>
          <a:xfrm>
            <a:off x="676656" y="2374862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35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694035" y="2392242"/>
            <a:ext cx="61795" cy="61795"/>
          </a:xfrm>
          <a:prstGeom prst="rect">
            <a:avLst/>
          </a:prstGeom>
        </p:spPr>
      </p:pic>
      <p:sp>
        <p:nvSpPr>
          <p:cNvPr id="336" name="T"/>
          <p:cNvSpPr txBox="1"/>
          <p:nvPr/>
        </p:nvSpPr>
        <p:spPr>
          <a:xfrm>
            <a:off x="950976" y="2349992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  <a:endParaRPr lang="id-ID" sz="717"/>
          </a:p>
        </p:txBody>
      </p:sp>
      <p:sp>
        <p:nvSpPr>
          <p:cNvPr id="337" name="T"/>
          <p:cNvSpPr txBox="1"/>
          <p:nvPr/>
        </p:nvSpPr>
        <p:spPr>
          <a:xfrm>
            <a:off x="3291840" y="2349992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225.464 ha</a:t>
            </a:r>
            <a:endParaRPr lang="id-ID" sz="702"/>
          </a:p>
        </p:txBody>
      </p:sp>
      <p:sp>
        <p:nvSpPr>
          <p:cNvPr id="338" name="K"/>
          <p:cNvSpPr/>
          <p:nvPr/>
        </p:nvSpPr>
        <p:spPr>
          <a:xfrm>
            <a:off x="4739006" y="2371936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39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389858"/>
            <a:ext cx="66564" cy="66564"/>
          </a:xfrm>
          <a:prstGeom prst="rect">
            <a:avLst/>
          </a:prstGeom>
        </p:spPr>
      </p:pic>
      <p:sp>
        <p:nvSpPr>
          <p:cNvPr id="340" name="T"/>
          <p:cNvSpPr txBox="1"/>
          <p:nvPr/>
        </p:nvSpPr>
        <p:spPr>
          <a:xfrm>
            <a:off x="4985894" y="2371936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2.327 hotspot</a:t>
            </a:r>
            <a:endParaRPr lang="id-ID" sz="608"/>
          </a:p>
        </p:txBody>
      </p:sp>
      <p:sp>
        <p:nvSpPr>
          <p:cNvPr id="341" name="K"/>
          <p:cNvSpPr/>
          <p:nvPr/>
        </p:nvSpPr>
        <p:spPr>
          <a:xfrm>
            <a:off x="5864742" y="2371936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4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2389858"/>
            <a:ext cx="66564" cy="66564"/>
          </a:xfrm>
          <a:prstGeom prst="rect">
            <a:avLst/>
          </a:prstGeom>
        </p:spPr>
      </p:pic>
      <p:sp>
        <p:nvSpPr>
          <p:cNvPr id="343" name="T"/>
          <p:cNvSpPr txBox="1"/>
          <p:nvPr/>
        </p:nvSpPr>
        <p:spPr>
          <a:xfrm>
            <a:off x="6111630" y="2371936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2.050 ha</a:t>
            </a:r>
            <a:endParaRPr lang="id-ID" sz="608"/>
          </a:p>
        </p:txBody>
      </p:sp>
      <p:cxnSp>
        <p:nvCxnSpPr>
          <p:cNvPr id="344" name="L"/>
          <p:cNvCxnSpPr/>
          <p:nvPr/>
        </p:nvCxnSpPr>
        <p:spPr>
          <a:xfrm>
            <a:off x="676656" y="2496288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45" name="K"/>
          <p:cNvSpPr/>
          <p:nvPr/>
        </p:nvSpPr>
        <p:spPr>
          <a:xfrm>
            <a:off x="676656" y="2521158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46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694035" y="2538538"/>
            <a:ext cx="61795" cy="61795"/>
          </a:xfrm>
          <a:prstGeom prst="rect">
            <a:avLst/>
          </a:prstGeom>
        </p:spPr>
      </p:pic>
      <p:sp>
        <p:nvSpPr>
          <p:cNvPr id="347" name="T"/>
          <p:cNvSpPr txBox="1"/>
          <p:nvPr/>
        </p:nvSpPr>
        <p:spPr>
          <a:xfrm>
            <a:off x="950976" y="2496288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  <a:endParaRPr lang="id-ID" sz="717"/>
          </a:p>
        </p:txBody>
      </p:sp>
      <p:sp>
        <p:nvSpPr>
          <p:cNvPr id="348" name="T"/>
          <p:cNvSpPr txBox="1"/>
          <p:nvPr/>
        </p:nvSpPr>
        <p:spPr>
          <a:xfrm>
            <a:off x="3291840" y="2496288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36.620 ha</a:t>
            </a:r>
            <a:endParaRPr lang="id-ID" sz="702"/>
          </a:p>
        </p:txBody>
      </p:sp>
      <p:sp>
        <p:nvSpPr>
          <p:cNvPr id="349" name="K"/>
          <p:cNvSpPr/>
          <p:nvPr/>
        </p:nvSpPr>
        <p:spPr>
          <a:xfrm>
            <a:off x="4739006" y="2518232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50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536154"/>
            <a:ext cx="66564" cy="66564"/>
          </a:xfrm>
          <a:prstGeom prst="rect">
            <a:avLst/>
          </a:prstGeom>
        </p:spPr>
      </p:pic>
      <p:sp>
        <p:nvSpPr>
          <p:cNvPr id="351" name="T"/>
          <p:cNvSpPr txBox="1"/>
          <p:nvPr/>
        </p:nvSpPr>
        <p:spPr>
          <a:xfrm>
            <a:off x="4985894" y="2518232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383 hotspot</a:t>
            </a:r>
            <a:endParaRPr lang="id-ID" sz="608"/>
          </a:p>
        </p:txBody>
      </p:sp>
      <p:sp>
        <p:nvSpPr>
          <p:cNvPr id="352" name="K"/>
          <p:cNvSpPr/>
          <p:nvPr/>
        </p:nvSpPr>
        <p:spPr>
          <a:xfrm>
            <a:off x="5864742" y="2518232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53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2536154"/>
            <a:ext cx="66564" cy="66564"/>
          </a:xfrm>
          <a:prstGeom prst="rect">
            <a:avLst/>
          </a:prstGeom>
        </p:spPr>
      </p:pic>
      <p:sp>
        <p:nvSpPr>
          <p:cNvPr id="354" name="T"/>
          <p:cNvSpPr txBox="1"/>
          <p:nvPr/>
        </p:nvSpPr>
        <p:spPr>
          <a:xfrm>
            <a:off x="6111630" y="2518232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379 ha</a:t>
            </a:r>
            <a:endParaRPr lang="id-ID" sz="608"/>
          </a:p>
        </p:txBody>
      </p:sp>
      <p:cxnSp>
        <p:nvCxnSpPr>
          <p:cNvPr id="355" name="L"/>
          <p:cNvCxnSpPr/>
          <p:nvPr/>
        </p:nvCxnSpPr>
        <p:spPr>
          <a:xfrm>
            <a:off x="676656" y="2642584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56" name="K"/>
          <p:cNvSpPr/>
          <p:nvPr/>
        </p:nvSpPr>
        <p:spPr>
          <a:xfrm>
            <a:off x="676656" y="2667454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357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694035" y="2684834"/>
            <a:ext cx="61795" cy="61795"/>
          </a:xfrm>
          <a:prstGeom prst="rect">
            <a:avLst/>
          </a:prstGeom>
        </p:spPr>
      </p:pic>
      <p:sp>
        <p:nvSpPr>
          <p:cNvPr id="358" name="T"/>
          <p:cNvSpPr txBox="1"/>
          <p:nvPr/>
        </p:nvSpPr>
        <p:spPr>
          <a:xfrm>
            <a:off x="950976" y="2642584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Riau</a:t>
            </a:r>
            <a:endParaRPr lang="id-ID" sz="717"/>
          </a:p>
        </p:txBody>
      </p:sp>
      <p:sp>
        <p:nvSpPr>
          <p:cNvPr id="359" name="T"/>
          <p:cNvSpPr txBox="1"/>
          <p:nvPr/>
        </p:nvSpPr>
        <p:spPr>
          <a:xfrm>
            <a:off x="3291840" y="2642584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31.366 ha</a:t>
            </a:r>
            <a:endParaRPr lang="id-ID" sz="702"/>
          </a:p>
        </p:txBody>
      </p:sp>
      <p:cxnSp>
        <p:nvCxnSpPr>
          <p:cNvPr id="360" name="L"/>
          <p:cNvCxnSpPr/>
          <p:nvPr/>
        </p:nvCxnSpPr>
        <p:spPr>
          <a:xfrm>
            <a:off x="676656" y="278888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61" name="K"/>
          <p:cNvSpPr/>
          <p:nvPr/>
        </p:nvSpPr>
        <p:spPr>
          <a:xfrm>
            <a:off x="676656" y="2813750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62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694035" y="2831130"/>
            <a:ext cx="61795" cy="61795"/>
          </a:xfrm>
          <a:prstGeom prst="rect">
            <a:avLst/>
          </a:prstGeom>
        </p:spPr>
      </p:pic>
      <p:sp>
        <p:nvSpPr>
          <p:cNvPr id="363" name="T"/>
          <p:cNvSpPr txBox="1"/>
          <p:nvPr/>
        </p:nvSpPr>
        <p:spPr>
          <a:xfrm>
            <a:off x="950976" y="2788880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  <a:endParaRPr lang="id-ID" sz="717"/>
          </a:p>
        </p:txBody>
      </p:sp>
      <p:sp>
        <p:nvSpPr>
          <p:cNvPr id="364" name="T"/>
          <p:cNvSpPr txBox="1"/>
          <p:nvPr/>
        </p:nvSpPr>
        <p:spPr>
          <a:xfrm>
            <a:off x="3291840" y="2788880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117.408 ha</a:t>
            </a:r>
            <a:endParaRPr lang="id-ID" sz="702"/>
          </a:p>
        </p:txBody>
      </p:sp>
      <p:sp>
        <p:nvSpPr>
          <p:cNvPr id="365" name="K"/>
          <p:cNvSpPr/>
          <p:nvPr/>
        </p:nvSpPr>
        <p:spPr>
          <a:xfrm>
            <a:off x="4739006" y="2810824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66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828746"/>
            <a:ext cx="66564" cy="66564"/>
          </a:xfrm>
          <a:prstGeom prst="rect">
            <a:avLst/>
          </a:prstGeom>
        </p:spPr>
      </p:pic>
      <p:sp>
        <p:nvSpPr>
          <p:cNvPr id="367" name="T"/>
          <p:cNvSpPr txBox="1"/>
          <p:nvPr/>
        </p:nvSpPr>
        <p:spPr>
          <a:xfrm>
            <a:off x="4985894" y="2810824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1.447 hotspot</a:t>
            </a:r>
            <a:endParaRPr lang="id-ID" sz="608"/>
          </a:p>
        </p:txBody>
      </p:sp>
      <p:sp>
        <p:nvSpPr>
          <p:cNvPr id="368" name="K"/>
          <p:cNvSpPr/>
          <p:nvPr/>
        </p:nvSpPr>
        <p:spPr>
          <a:xfrm>
            <a:off x="5864742" y="2810824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69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2828746"/>
            <a:ext cx="66564" cy="66564"/>
          </a:xfrm>
          <a:prstGeom prst="rect">
            <a:avLst/>
          </a:prstGeom>
        </p:spPr>
      </p:pic>
      <p:sp>
        <p:nvSpPr>
          <p:cNvPr id="370" name="T"/>
          <p:cNvSpPr txBox="1"/>
          <p:nvPr/>
        </p:nvSpPr>
        <p:spPr>
          <a:xfrm>
            <a:off x="6111630" y="2810824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1.506 ha</a:t>
            </a:r>
            <a:endParaRPr lang="id-ID" sz="608"/>
          </a:p>
        </p:txBody>
      </p:sp>
      <p:cxnSp>
        <p:nvCxnSpPr>
          <p:cNvPr id="371" name="L"/>
          <p:cNvCxnSpPr/>
          <p:nvPr/>
        </p:nvCxnSpPr>
        <p:spPr>
          <a:xfrm>
            <a:off x="676656" y="293517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72" name="K"/>
          <p:cNvSpPr/>
          <p:nvPr/>
        </p:nvSpPr>
        <p:spPr>
          <a:xfrm>
            <a:off x="676656" y="2960046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7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694035" y="2977426"/>
            <a:ext cx="61795" cy="61795"/>
          </a:xfrm>
          <a:prstGeom prst="rect">
            <a:avLst/>
          </a:prstGeom>
        </p:spPr>
      </p:pic>
      <p:sp>
        <p:nvSpPr>
          <p:cNvPr id="374" name="T"/>
          <p:cNvSpPr txBox="1"/>
          <p:nvPr/>
        </p:nvSpPr>
        <p:spPr>
          <a:xfrm>
            <a:off x="950976" y="2935176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  <a:endParaRPr lang="id-ID" sz="717"/>
          </a:p>
        </p:txBody>
      </p:sp>
      <p:sp>
        <p:nvSpPr>
          <p:cNvPr id="375" name="T"/>
          <p:cNvSpPr txBox="1"/>
          <p:nvPr/>
        </p:nvSpPr>
        <p:spPr>
          <a:xfrm>
            <a:off x="3291840" y="2935176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139.719 ha</a:t>
            </a:r>
            <a:endParaRPr lang="id-ID" sz="702"/>
          </a:p>
        </p:txBody>
      </p:sp>
      <p:sp>
        <p:nvSpPr>
          <p:cNvPr id="376" name="K"/>
          <p:cNvSpPr/>
          <p:nvPr/>
        </p:nvSpPr>
        <p:spPr>
          <a:xfrm>
            <a:off x="4739006" y="2957120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77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975042"/>
            <a:ext cx="66564" cy="66564"/>
          </a:xfrm>
          <a:prstGeom prst="rect">
            <a:avLst/>
          </a:prstGeom>
        </p:spPr>
      </p:pic>
      <p:sp>
        <p:nvSpPr>
          <p:cNvPr id="378" name="T"/>
          <p:cNvSpPr txBox="1"/>
          <p:nvPr/>
        </p:nvSpPr>
        <p:spPr>
          <a:xfrm>
            <a:off x="4985894" y="2957120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999 hotspot</a:t>
            </a:r>
            <a:endParaRPr lang="id-ID" sz="608"/>
          </a:p>
        </p:txBody>
      </p:sp>
      <p:sp>
        <p:nvSpPr>
          <p:cNvPr id="379" name="K"/>
          <p:cNvSpPr/>
          <p:nvPr/>
        </p:nvSpPr>
        <p:spPr>
          <a:xfrm>
            <a:off x="5864742" y="2957120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80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2975042"/>
            <a:ext cx="66564" cy="66564"/>
          </a:xfrm>
          <a:prstGeom prst="rect">
            <a:avLst/>
          </a:prstGeom>
        </p:spPr>
      </p:pic>
      <p:sp>
        <p:nvSpPr>
          <p:cNvPr id="381" name="T"/>
          <p:cNvSpPr txBox="1"/>
          <p:nvPr/>
        </p:nvSpPr>
        <p:spPr>
          <a:xfrm>
            <a:off x="6111630" y="2957120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1.295 ha</a:t>
            </a:r>
            <a:endParaRPr lang="id-ID" sz="608"/>
          </a:p>
        </p:txBody>
      </p:sp>
      <p:cxnSp>
        <p:nvCxnSpPr>
          <p:cNvPr id="382" name="L"/>
          <p:cNvCxnSpPr/>
          <p:nvPr/>
        </p:nvCxnSpPr>
        <p:spPr>
          <a:xfrm>
            <a:off x="676656" y="3081472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83" name="K"/>
          <p:cNvSpPr/>
          <p:nvPr/>
        </p:nvSpPr>
        <p:spPr>
          <a:xfrm>
            <a:off x="676656" y="3106342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8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694035" y="3123722"/>
            <a:ext cx="61795" cy="61795"/>
          </a:xfrm>
          <a:prstGeom prst="rect">
            <a:avLst/>
          </a:prstGeom>
        </p:spPr>
      </p:pic>
      <p:sp>
        <p:nvSpPr>
          <p:cNvPr id="385" name="T"/>
          <p:cNvSpPr txBox="1"/>
          <p:nvPr/>
        </p:nvSpPr>
        <p:spPr>
          <a:xfrm>
            <a:off x="950976" y="3081472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717"/>
          </a:p>
        </p:txBody>
      </p:sp>
      <p:sp>
        <p:nvSpPr>
          <p:cNvPr id="386" name="T"/>
          <p:cNvSpPr txBox="1"/>
          <p:nvPr/>
        </p:nvSpPr>
        <p:spPr>
          <a:xfrm>
            <a:off x="3291840" y="3081472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313.281 ha</a:t>
            </a:r>
            <a:endParaRPr lang="id-ID" sz="702"/>
          </a:p>
        </p:txBody>
      </p:sp>
      <p:sp>
        <p:nvSpPr>
          <p:cNvPr id="387" name="K"/>
          <p:cNvSpPr/>
          <p:nvPr/>
        </p:nvSpPr>
        <p:spPr>
          <a:xfrm>
            <a:off x="4739006" y="3103416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8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121338"/>
            <a:ext cx="66564" cy="66564"/>
          </a:xfrm>
          <a:prstGeom prst="rect">
            <a:avLst/>
          </a:prstGeom>
        </p:spPr>
      </p:pic>
      <p:sp>
        <p:nvSpPr>
          <p:cNvPr id="389" name="T"/>
          <p:cNvSpPr txBox="1"/>
          <p:nvPr/>
        </p:nvSpPr>
        <p:spPr>
          <a:xfrm>
            <a:off x="4985894" y="3103416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1.169 hotspot</a:t>
            </a:r>
            <a:endParaRPr lang="id-ID" sz="608"/>
          </a:p>
        </p:txBody>
      </p:sp>
      <p:sp>
        <p:nvSpPr>
          <p:cNvPr id="390" name="K"/>
          <p:cNvSpPr/>
          <p:nvPr/>
        </p:nvSpPr>
        <p:spPr>
          <a:xfrm>
            <a:off x="5864742" y="3103416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91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3121338"/>
            <a:ext cx="66564" cy="66564"/>
          </a:xfrm>
          <a:prstGeom prst="rect">
            <a:avLst/>
          </a:prstGeom>
        </p:spPr>
      </p:pic>
      <p:sp>
        <p:nvSpPr>
          <p:cNvPr id="392" name="T"/>
          <p:cNvSpPr txBox="1"/>
          <p:nvPr/>
        </p:nvSpPr>
        <p:spPr>
          <a:xfrm>
            <a:off x="6111630" y="3103416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861 ha</a:t>
            </a:r>
            <a:endParaRPr lang="id-ID" sz="608"/>
          </a:p>
        </p:txBody>
      </p:sp>
      <p:cxnSp>
        <p:nvCxnSpPr>
          <p:cNvPr id="393" name="L"/>
          <p:cNvCxnSpPr/>
          <p:nvPr/>
        </p:nvCxnSpPr>
        <p:spPr>
          <a:xfrm>
            <a:off x="676656" y="3227768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94" name="K"/>
          <p:cNvSpPr/>
          <p:nvPr/>
        </p:nvSpPr>
        <p:spPr>
          <a:xfrm>
            <a:off x="676656" y="3252638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95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694035" y="3270018"/>
            <a:ext cx="61795" cy="61795"/>
          </a:xfrm>
          <a:prstGeom prst="rect">
            <a:avLst/>
          </a:prstGeom>
        </p:spPr>
      </p:pic>
      <p:sp>
        <p:nvSpPr>
          <p:cNvPr id="396" name="T"/>
          <p:cNvSpPr txBox="1"/>
          <p:nvPr/>
        </p:nvSpPr>
        <p:spPr>
          <a:xfrm>
            <a:off x="950976" y="3227768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Pegunungan</a:t>
            </a:r>
            <a:endParaRPr lang="id-ID" sz="717"/>
          </a:p>
        </p:txBody>
      </p:sp>
      <p:sp>
        <p:nvSpPr>
          <p:cNvPr id="397" name="T"/>
          <p:cNvSpPr txBox="1"/>
          <p:nvPr/>
        </p:nvSpPr>
        <p:spPr>
          <a:xfrm>
            <a:off x="3291840" y="3227768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14.347 ha</a:t>
            </a:r>
            <a:endParaRPr lang="id-ID" sz="702"/>
          </a:p>
        </p:txBody>
      </p:sp>
      <p:sp>
        <p:nvSpPr>
          <p:cNvPr id="398" name="K"/>
          <p:cNvSpPr/>
          <p:nvPr/>
        </p:nvSpPr>
        <p:spPr>
          <a:xfrm>
            <a:off x="4739006" y="3249712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99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267634"/>
            <a:ext cx="66564" cy="66564"/>
          </a:xfrm>
          <a:prstGeom prst="rect">
            <a:avLst/>
          </a:prstGeom>
        </p:spPr>
      </p:pic>
      <p:sp>
        <p:nvSpPr>
          <p:cNvPr id="400" name="T"/>
          <p:cNvSpPr txBox="1"/>
          <p:nvPr/>
        </p:nvSpPr>
        <p:spPr>
          <a:xfrm>
            <a:off x="4985894" y="3249712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276 hotspot</a:t>
            </a:r>
            <a:endParaRPr lang="id-ID" sz="608"/>
          </a:p>
        </p:txBody>
      </p:sp>
      <p:sp>
        <p:nvSpPr>
          <p:cNvPr id="401" name="K"/>
          <p:cNvSpPr/>
          <p:nvPr/>
        </p:nvSpPr>
        <p:spPr>
          <a:xfrm>
            <a:off x="5864742" y="3249712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0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3267634"/>
            <a:ext cx="66564" cy="66564"/>
          </a:xfrm>
          <a:prstGeom prst="rect">
            <a:avLst/>
          </a:prstGeom>
        </p:spPr>
      </p:pic>
      <p:sp>
        <p:nvSpPr>
          <p:cNvPr id="403" name="T"/>
          <p:cNvSpPr txBox="1"/>
          <p:nvPr/>
        </p:nvSpPr>
        <p:spPr>
          <a:xfrm>
            <a:off x="6111630" y="3249712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186 ha</a:t>
            </a:r>
            <a:endParaRPr lang="id-ID" sz="608"/>
          </a:p>
        </p:txBody>
      </p:sp>
      <p:cxnSp>
        <p:nvCxnSpPr>
          <p:cNvPr id="404" name="L"/>
          <p:cNvCxnSpPr/>
          <p:nvPr/>
        </p:nvCxnSpPr>
        <p:spPr>
          <a:xfrm>
            <a:off x="676656" y="3374064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05" name="K"/>
          <p:cNvSpPr/>
          <p:nvPr/>
        </p:nvSpPr>
        <p:spPr>
          <a:xfrm>
            <a:off x="676656" y="3398934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06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694035" y="3416314"/>
            <a:ext cx="61795" cy="61795"/>
          </a:xfrm>
          <a:prstGeom prst="rect">
            <a:avLst/>
          </a:prstGeom>
        </p:spPr>
      </p:pic>
      <p:sp>
        <p:nvSpPr>
          <p:cNvPr id="407" name="T"/>
          <p:cNvSpPr txBox="1"/>
          <p:nvPr/>
        </p:nvSpPr>
        <p:spPr>
          <a:xfrm>
            <a:off x="950976" y="3374064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Barat</a:t>
            </a:r>
            <a:endParaRPr lang="id-ID" sz="717"/>
          </a:p>
        </p:txBody>
      </p:sp>
      <p:sp>
        <p:nvSpPr>
          <p:cNvPr id="408" name="T"/>
          <p:cNvSpPr txBox="1"/>
          <p:nvPr/>
        </p:nvSpPr>
        <p:spPr>
          <a:xfrm>
            <a:off x="3291840" y="3374064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28.592 ha</a:t>
            </a:r>
            <a:endParaRPr lang="id-ID" sz="702"/>
          </a:p>
        </p:txBody>
      </p:sp>
      <p:sp>
        <p:nvSpPr>
          <p:cNvPr id="409" name="K"/>
          <p:cNvSpPr/>
          <p:nvPr/>
        </p:nvSpPr>
        <p:spPr>
          <a:xfrm>
            <a:off x="4739006" y="3396008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10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413930"/>
            <a:ext cx="66564" cy="66564"/>
          </a:xfrm>
          <a:prstGeom prst="rect">
            <a:avLst/>
          </a:prstGeom>
        </p:spPr>
      </p:pic>
      <p:sp>
        <p:nvSpPr>
          <p:cNvPr id="411" name="T"/>
          <p:cNvSpPr txBox="1"/>
          <p:nvPr/>
        </p:nvSpPr>
        <p:spPr>
          <a:xfrm>
            <a:off x="4985894" y="3396008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173 hotspot</a:t>
            </a:r>
            <a:endParaRPr lang="id-ID" sz="608"/>
          </a:p>
        </p:txBody>
      </p:sp>
      <p:sp>
        <p:nvSpPr>
          <p:cNvPr id="412" name="K"/>
          <p:cNvSpPr/>
          <p:nvPr/>
        </p:nvSpPr>
        <p:spPr>
          <a:xfrm>
            <a:off x="5864742" y="3396008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13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3413930"/>
            <a:ext cx="66564" cy="66564"/>
          </a:xfrm>
          <a:prstGeom prst="rect">
            <a:avLst/>
          </a:prstGeom>
        </p:spPr>
      </p:pic>
      <p:sp>
        <p:nvSpPr>
          <p:cNvPr id="414" name="T"/>
          <p:cNvSpPr txBox="1"/>
          <p:nvPr/>
        </p:nvSpPr>
        <p:spPr>
          <a:xfrm>
            <a:off x="6111630" y="3396008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39 ha</a:t>
            </a:r>
            <a:endParaRPr lang="id-ID" sz="608"/>
          </a:p>
        </p:txBody>
      </p:sp>
      <p:cxnSp>
        <p:nvCxnSpPr>
          <p:cNvPr id="415" name="L"/>
          <p:cNvCxnSpPr/>
          <p:nvPr/>
        </p:nvCxnSpPr>
        <p:spPr>
          <a:xfrm>
            <a:off x="676656" y="352036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16" name="K"/>
          <p:cNvSpPr/>
          <p:nvPr/>
        </p:nvSpPr>
        <p:spPr>
          <a:xfrm>
            <a:off x="676656" y="3545230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17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694035" y="3562610"/>
            <a:ext cx="61795" cy="61795"/>
          </a:xfrm>
          <a:prstGeom prst="rect">
            <a:avLst/>
          </a:prstGeom>
        </p:spPr>
      </p:pic>
      <p:sp>
        <p:nvSpPr>
          <p:cNvPr id="418" name="T"/>
          <p:cNvSpPr txBox="1"/>
          <p:nvPr/>
        </p:nvSpPr>
        <p:spPr>
          <a:xfrm>
            <a:off x="950976" y="3520360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Kep. Bangka Belitung</a:t>
            </a: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Bangka Tengah</a:t>
            </a:r>
            <a:endParaRPr lang="id-ID" sz="717"/>
          </a:p>
        </p:txBody>
      </p:sp>
      <p:sp>
        <p:nvSpPr>
          <p:cNvPr id="419" name="T"/>
          <p:cNvSpPr txBox="1"/>
          <p:nvPr/>
        </p:nvSpPr>
        <p:spPr>
          <a:xfrm>
            <a:off x="3291840" y="3520360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6.545 ha</a:t>
            </a:r>
            <a:endParaRPr lang="id-ID" sz="702"/>
          </a:p>
        </p:txBody>
      </p:sp>
      <p:cxnSp>
        <p:nvCxnSpPr>
          <p:cNvPr id="420" name="L"/>
          <p:cNvCxnSpPr/>
          <p:nvPr/>
        </p:nvCxnSpPr>
        <p:spPr>
          <a:xfrm>
            <a:off x="676656" y="366665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21" name="K"/>
          <p:cNvSpPr/>
          <p:nvPr/>
        </p:nvSpPr>
        <p:spPr>
          <a:xfrm>
            <a:off x="676656" y="3691526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22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694035" y="3708906"/>
            <a:ext cx="61795" cy="61795"/>
          </a:xfrm>
          <a:prstGeom prst="rect">
            <a:avLst/>
          </a:prstGeom>
        </p:spPr>
      </p:pic>
      <p:sp>
        <p:nvSpPr>
          <p:cNvPr id="423" name="T"/>
          <p:cNvSpPr txBox="1"/>
          <p:nvPr/>
        </p:nvSpPr>
        <p:spPr>
          <a:xfrm>
            <a:off x="950976" y="3666656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Barat</a:t>
            </a: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Sumedang</a:t>
            </a:r>
            <a:endParaRPr lang="id-ID" sz="717"/>
          </a:p>
        </p:txBody>
      </p:sp>
      <p:sp>
        <p:nvSpPr>
          <p:cNvPr id="424" name="T"/>
          <p:cNvSpPr txBox="1"/>
          <p:nvPr/>
        </p:nvSpPr>
        <p:spPr>
          <a:xfrm>
            <a:off x="3291840" y="3666656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677 ha</a:t>
            </a:r>
            <a:endParaRPr lang="id-ID" sz="702"/>
          </a:p>
        </p:txBody>
      </p:sp>
      <p:sp>
        <p:nvSpPr>
          <p:cNvPr id="425" name="K"/>
          <p:cNvSpPr/>
          <p:nvPr/>
        </p:nvSpPr>
        <p:spPr>
          <a:xfrm>
            <a:off x="676656" y="3821729"/>
            <a:ext cx="6464808" cy="12874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426" name="T"/>
          <p:cNvSpPr txBox="1"/>
          <p:nvPr/>
        </p:nvSpPr>
        <p:spPr>
          <a:xfrm>
            <a:off x="749808" y="3812952"/>
            <a:ext cx="164592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Tengah</a:t>
            </a:r>
            <a:endParaRPr lang="id-ID" sz="717"/>
          </a:p>
        </p:txBody>
      </p:sp>
      <p:sp>
        <p:nvSpPr>
          <p:cNvPr id="427" name="K"/>
          <p:cNvSpPr/>
          <p:nvPr/>
        </p:nvSpPr>
        <p:spPr>
          <a:xfrm>
            <a:off x="1709808" y="3840748"/>
            <a:ext cx="638251" cy="9070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428" name="T"/>
          <p:cNvSpPr txBox="1"/>
          <p:nvPr/>
        </p:nvSpPr>
        <p:spPr>
          <a:xfrm>
            <a:off x="1709808" y="3840748"/>
            <a:ext cx="638251" cy="907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47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3 kejadian</a:t>
            </a:r>
            <a:endParaRPr lang="id-ID" sz="547"/>
          </a:p>
        </p:txBody>
      </p:sp>
      <p:sp>
        <p:nvSpPr>
          <p:cNvPr id="429" name="K"/>
          <p:cNvSpPr/>
          <p:nvPr/>
        </p:nvSpPr>
        <p:spPr>
          <a:xfrm>
            <a:off x="3291840" y="3840748"/>
            <a:ext cx="1005840" cy="907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C9A8"/>
            </a:solidFill>
          </a:ln>
        </p:spPr>
      </p:sp>
      <p:sp>
        <p:nvSpPr>
          <p:cNvPr id="430" name="T"/>
          <p:cNvSpPr txBox="1"/>
          <p:nvPr/>
        </p:nvSpPr>
        <p:spPr>
          <a:xfrm>
            <a:off x="3291840" y="3840748"/>
            <a:ext cx="1005840" cy="907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7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total ± 597 ha</a:t>
            </a:r>
            <a:endParaRPr lang="id-ID" sz="577"/>
          </a:p>
        </p:txBody>
      </p:sp>
      <p:cxnSp>
        <p:nvCxnSpPr>
          <p:cNvPr id="431" name="L"/>
          <p:cNvCxnSpPr/>
          <p:nvPr/>
        </p:nvCxnSpPr>
        <p:spPr>
          <a:xfrm>
            <a:off x="676656" y="3959248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32" name="K"/>
          <p:cNvSpPr/>
          <p:nvPr/>
        </p:nvSpPr>
        <p:spPr>
          <a:xfrm>
            <a:off x="841248" y="3984118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3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858627" y="4001498"/>
            <a:ext cx="61795" cy="61795"/>
          </a:xfrm>
          <a:prstGeom prst="rect">
            <a:avLst/>
          </a:prstGeom>
        </p:spPr>
      </p:pic>
      <p:sp>
        <p:nvSpPr>
          <p:cNvPr id="434" name="T"/>
          <p:cNvSpPr txBox="1"/>
          <p:nvPr/>
        </p:nvSpPr>
        <p:spPr>
          <a:xfrm>
            <a:off x="1115568" y="3959248"/>
            <a:ext cx="1947672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Karanganyar</a:t>
            </a:r>
            <a:endParaRPr lang="id-ID" sz="717"/>
          </a:p>
        </p:txBody>
      </p:sp>
      <p:sp>
        <p:nvSpPr>
          <p:cNvPr id="435" name="T"/>
          <p:cNvSpPr txBox="1"/>
          <p:nvPr/>
        </p:nvSpPr>
        <p:spPr>
          <a:xfrm>
            <a:off x="3291840" y="3959248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312 ha</a:t>
            </a:r>
            <a:endParaRPr lang="id-ID" sz="702"/>
          </a:p>
        </p:txBody>
      </p:sp>
      <p:sp>
        <p:nvSpPr>
          <p:cNvPr id="436" name="K"/>
          <p:cNvSpPr/>
          <p:nvPr/>
        </p:nvSpPr>
        <p:spPr>
          <a:xfrm>
            <a:off x="4739006" y="3981192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37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999114"/>
            <a:ext cx="66564" cy="66564"/>
          </a:xfrm>
          <a:prstGeom prst="rect">
            <a:avLst/>
          </a:prstGeom>
        </p:spPr>
      </p:pic>
      <p:sp>
        <p:nvSpPr>
          <p:cNvPr id="438" name="T"/>
          <p:cNvSpPr txBox="1"/>
          <p:nvPr/>
        </p:nvSpPr>
        <p:spPr>
          <a:xfrm>
            <a:off x="4985894" y="3981192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15 hotspot</a:t>
            </a:r>
            <a:endParaRPr lang="id-ID" sz="608"/>
          </a:p>
        </p:txBody>
      </p:sp>
      <p:sp>
        <p:nvSpPr>
          <p:cNvPr id="439" name="K"/>
          <p:cNvSpPr/>
          <p:nvPr/>
        </p:nvSpPr>
        <p:spPr>
          <a:xfrm>
            <a:off x="5864742" y="3981192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40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3999114"/>
            <a:ext cx="66564" cy="66564"/>
          </a:xfrm>
          <a:prstGeom prst="rect">
            <a:avLst/>
          </a:prstGeom>
        </p:spPr>
      </p:pic>
      <p:sp>
        <p:nvSpPr>
          <p:cNvPr id="441" name="T"/>
          <p:cNvSpPr txBox="1"/>
          <p:nvPr/>
        </p:nvSpPr>
        <p:spPr>
          <a:xfrm>
            <a:off x="6111630" y="3981192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18 ha</a:t>
            </a:r>
            <a:endParaRPr lang="id-ID" sz="608"/>
          </a:p>
        </p:txBody>
      </p:sp>
      <p:cxnSp>
        <p:nvCxnSpPr>
          <p:cNvPr id="442" name="L"/>
          <p:cNvCxnSpPr/>
          <p:nvPr/>
        </p:nvCxnSpPr>
        <p:spPr>
          <a:xfrm>
            <a:off x="676656" y="4105544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43" name="K"/>
          <p:cNvSpPr/>
          <p:nvPr/>
        </p:nvSpPr>
        <p:spPr>
          <a:xfrm>
            <a:off x="841248" y="4130414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4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858627" y="4147794"/>
            <a:ext cx="61795" cy="61795"/>
          </a:xfrm>
          <a:prstGeom prst="rect">
            <a:avLst/>
          </a:prstGeom>
        </p:spPr>
      </p:pic>
      <p:sp>
        <p:nvSpPr>
          <p:cNvPr id="445" name="T"/>
          <p:cNvSpPr txBox="1"/>
          <p:nvPr/>
        </p:nvSpPr>
        <p:spPr>
          <a:xfrm>
            <a:off x="1115568" y="4105544"/>
            <a:ext cx="1947672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Wonosobo</a:t>
            </a:r>
            <a:endParaRPr lang="id-ID" sz="717"/>
          </a:p>
        </p:txBody>
      </p:sp>
      <p:sp>
        <p:nvSpPr>
          <p:cNvPr id="446" name="T"/>
          <p:cNvSpPr txBox="1"/>
          <p:nvPr/>
        </p:nvSpPr>
        <p:spPr>
          <a:xfrm>
            <a:off x="3291840" y="4105544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104 ha</a:t>
            </a:r>
            <a:endParaRPr lang="id-ID" sz="702"/>
          </a:p>
        </p:txBody>
      </p:sp>
      <p:sp>
        <p:nvSpPr>
          <p:cNvPr id="447" name="K"/>
          <p:cNvSpPr/>
          <p:nvPr/>
        </p:nvSpPr>
        <p:spPr>
          <a:xfrm>
            <a:off x="4739006" y="4127488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4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4145410"/>
            <a:ext cx="66564" cy="66564"/>
          </a:xfrm>
          <a:prstGeom prst="rect">
            <a:avLst/>
          </a:prstGeom>
        </p:spPr>
      </p:pic>
      <p:sp>
        <p:nvSpPr>
          <p:cNvPr id="449" name="T"/>
          <p:cNvSpPr txBox="1"/>
          <p:nvPr/>
        </p:nvSpPr>
        <p:spPr>
          <a:xfrm>
            <a:off x="4985894" y="4127488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5 hotspot</a:t>
            </a:r>
            <a:endParaRPr lang="id-ID" sz="608"/>
          </a:p>
        </p:txBody>
      </p:sp>
      <p:sp>
        <p:nvSpPr>
          <p:cNvPr id="450" name="K"/>
          <p:cNvSpPr/>
          <p:nvPr/>
        </p:nvSpPr>
        <p:spPr>
          <a:xfrm>
            <a:off x="5864742" y="4127488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51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4145410"/>
            <a:ext cx="66564" cy="66564"/>
          </a:xfrm>
          <a:prstGeom prst="rect">
            <a:avLst/>
          </a:prstGeom>
        </p:spPr>
      </p:pic>
      <p:sp>
        <p:nvSpPr>
          <p:cNvPr id="452" name="T"/>
          <p:cNvSpPr txBox="1"/>
          <p:nvPr/>
        </p:nvSpPr>
        <p:spPr>
          <a:xfrm>
            <a:off x="6111630" y="4127488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5 ha</a:t>
            </a:r>
            <a:endParaRPr lang="id-ID" sz="608"/>
          </a:p>
        </p:txBody>
      </p:sp>
      <p:cxnSp>
        <p:nvCxnSpPr>
          <p:cNvPr id="453" name="L"/>
          <p:cNvCxnSpPr/>
          <p:nvPr/>
        </p:nvCxnSpPr>
        <p:spPr>
          <a:xfrm>
            <a:off x="676656" y="425184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54" name="K"/>
          <p:cNvSpPr/>
          <p:nvPr/>
        </p:nvSpPr>
        <p:spPr>
          <a:xfrm>
            <a:off x="841248" y="4276710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55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58627" y="4294090"/>
            <a:ext cx="61795" cy="61795"/>
          </a:xfrm>
          <a:prstGeom prst="rect">
            <a:avLst/>
          </a:prstGeom>
        </p:spPr>
      </p:pic>
      <p:sp>
        <p:nvSpPr>
          <p:cNvPr id="456" name="T"/>
          <p:cNvSpPr txBox="1"/>
          <p:nvPr/>
        </p:nvSpPr>
        <p:spPr>
          <a:xfrm>
            <a:off x="1115568" y="4251840"/>
            <a:ext cx="1947672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Klaten</a:t>
            </a:r>
            <a:endParaRPr lang="id-ID" sz="717"/>
          </a:p>
        </p:txBody>
      </p:sp>
      <p:sp>
        <p:nvSpPr>
          <p:cNvPr id="457" name="T"/>
          <p:cNvSpPr txBox="1"/>
          <p:nvPr/>
        </p:nvSpPr>
        <p:spPr>
          <a:xfrm>
            <a:off x="3291840" y="4251840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181 ha</a:t>
            </a:r>
            <a:endParaRPr lang="id-ID" sz="702"/>
          </a:p>
        </p:txBody>
      </p:sp>
      <p:sp>
        <p:nvSpPr>
          <p:cNvPr id="458" name="K"/>
          <p:cNvSpPr/>
          <p:nvPr/>
        </p:nvSpPr>
        <p:spPr>
          <a:xfrm>
            <a:off x="676656" y="4406913"/>
            <a:ext cx="6464808" cy="12874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459" name="T"/>
          <p:cNvSpPr txBox="1"/>
          <p:nvPr/>
        </p:nvSpPr>
        <p:spPr>
          <a:xfrm>
            <a:off x="749808" y="4398136"/>
            <a:ext cx="164592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Timur</a:t>
            </a:r>
            <a:endParaRPr lang="id-ID" sz="717"/>
          </a:p>
        </p:txBody>
      </p:sp>
      <p:sp>
        <p:nvSpPr>
          <p:cNvPr id="460" name="K"/>
          <p:cNvSpPr/>
          <p:nvPr/>
        </p:nvSpPr>
        <p:spPr>
          <a:xfrm>
            <a:off x="1709808" y="4425932"/>
            <a:ext cx="638251" cy="9070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461" name="T"/>
          <p:cNvSpPr txBox="1"/>
          <p:nvPr/>
        </p:nvSpPr>
        <p:spPr>
          <a:xfrm>
            <a:off x="1709808" y="4425932"/>
            <a:ext cx="638251" cy="907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47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4 kejadian</a:t>
            </a:r>
            <a:endParaRPr lang="id-ID" sz="547"/>
          </a:p>
        </p:txBody>
      </p:sp>
      <p:sp>
        <p:nvSpPr>
          <p:cNvPr id="462" name="K"/>
          <p:cNvSpPr/>
          <p:nvPr/>
        </p:nvSpPr>
        <p:spPr>
          <a:xfrm>
            <a:off x="3291840" y="4425932"/>
            <a:ext cx="1005840" cy="907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C9A8"/>
            </a:solidFill>
          </a:ln>
        </p:spPr>
      </p:sp>
      <p:sp>
        <p:nvSpPr>
          <p:cNvPr id="463" name="T"/>
          <p:cNvSpPr txBox="1"/>
          <p:nvPr/>
        </p:nvSpPr>
        <p:spPr>
          <a:xfrm>
            <a:off x="3291840" y="4425932"/>
            <a:ext cx="1005840" cy="907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7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total ± 7.160 ha</a:t>
            </a:r>
            <a:endParaRPr lang="id-ID" sz="577"/>
          </a:p>
        </p:txBody>
      </p:sp>
      <p:cxnSp>
        <p:nvCxnSpPr>
          <p:cNvPr id="464" name="L"/>
          <p:cNvCxnSpPr/>
          <p:nvPr/>
        </p:nvCxnSpPr>
        <p:spPr>
          <a:xfrm>
            <a:off x="676656" y="4544432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65" name="K"/>
          <p:cNvSpPr/>
          <p:nvPr/>
        </p:nvSpPr>
        <p:spPr>
          <a:xfrm>
            <a:off x="841248" y="4569302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66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858627" y="4586682"/>
            <a:ext cx="61795" cy="61795"/>
          </a:xfrm>
          <a:prstGeom prst="rect">
            <a:avLst/>
          </a:prstGeom>
        </p:spPr>
      </p:pic>
      <p:sp>
        <p:nvSpPr>
          <p:cNvPr id="467" name="T"/>
          <p:cNvSpPr txBox="1"/>
          <p:nvPr/>
        </p:nvSpPr>
        <p:spPr>
          <a:xfrm>
            <a:off x="1115568" y="4544432"/>
            <a:ext cx="1947672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Gunung Arjuno</a:t>
            </a:r>
            <a:endParaRPr lang="id-ID" sz="717"/>
          </a:p>
        </p:txBody>
      </p:sp>
      <p:sp>
        <p:nvSpPr>
          <p:cNvPr id="468" name="T"/>
          <p:cNvSpPr txBox="1"/>
          <p:nvPr/>
        </p:nvSpPr>
        <p:spPr>
          <a:xfrm>
            <a:off x="3291840" y="4544432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2.576 ha</a:t>
            </a:r>
            <a:endParaRPr lang="id-ID" sz="702"/>
          </a:p>
        </p:txBody>
      </p:sp>
      <p:sp>
        <p:nvSpPr>
          <p:cNvPr id="469" name="K"/>
          <p:cNvSpPr/>
          <p:nvPr/>
        </p:nvSpPr>
        <p:spPr>
          <a:xfrm>
            <a:off x="4739006" y="4566376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70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4584298"/>
            <a:ext cx="66564" cy="66564"/>
          </a:xfrm>
          <a:prstGeom prst="rect">
            <a:avLst/>
          </a:prstGeom>
        </p:spPr>
      </p:pic>
      <p:sp>
        <p:nvSpPr>
          <p:cNvPr id="471" name="T"/>
          <p:cNvSpPr txBox="1"/>
          <p:nvPr/>
        </p:nvSpPr>
        <p:spPr>
          <a:xfrm>
            <a:off x="4985894" y="4566376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19 hotspot</a:t>
            </a:r>
            <a:endParaRPr lang="id-ID" sz="608"/>
          </a:p>
        </p:txBody>
      </p:sp>
      <p:sp>
        <p:nvSpPr>
          <p:cNvPr id="472" name="K"/>
          <p:cNvSpPr/>
          <p:nvPr/>
        </p:nvSpPr>
        <p:spPr>
          <a:xfrm>
            <a:off x="5864742" y="4566376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73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4584298"/>
            <a:ext cx="66564" cy="66564"/>
          </a:xfrm>
          <a:prstGeom prst="rect">
            <a:avLst/>
          </a:prstGeom>
        </p:spPr>
      </p:pic>
      <p:sp>
        <p:nvSpPr>
          <p:cNvPr id="474" name="T"/>
          <p:cNvSpPr txBox="1"/>
          <p:nvPr/>
        </p:nvSpPr>
        <p:spPr>
          <a:xfrm>
            <a:off x="6111630" y="4566376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20 ha</a:t>
            </a:r>
            <a:endParaRPr lang="id-ID" sz="608"/>
          </a:p>
        </p:txBody>
      </p:sp>
      <p:cxnSp>
        <p:nvCxnSpPr>
          <p:cNvPr id="475" name="L"/>
          <p:cNvCxnSpPr/>
          <p:nvPr/>
        </p:nvCxnSpPr>
        <p:spPr>
          <a:xfrm>
            <a:off x="676656" y="4690728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76" name="K"/>
          <p:cNvSpPr/>
          <p:nvPr/>
        </p:nvSpPr>
        <p:spPr>
          <a:xfrm>
            <a:off x="841248" y="4715598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77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58627" y="4732978"/>
            <a:ext cx="61795" cy="61795"/>
          </a:xfrm>
          <a:prstGeom prst="rect">
            <a:avLst/>
          </a:prstGeom>
        </p:spPr>
      </p:pic>
      <p:sp>
        <p:nvSpPr>
          <p:cNvPr id="478" name="T"/>
          <p:cNvSpPr txBox="1"/>
          <p:nvPr/>
        </p:nvSpPr>
        <p:spPr>
          <a:xfrm>
            <a:off x="1115568" y="4690728"/>
            <a:ext cx="1947672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Probolinggo</a:t>
            </a:r>
            <a:endParaRPr lang="id-ID" sz="717"/>
          </a:p>
        </p:txBody>
      </p:sp>
      <p:sp>
        <p:nvSpPr>
          <p:cNvPr id="479" name="T"/>
          <p:cNvSpPr txBox="1"/>
          <p:nvPr/>
        </p:nvSpPr>
        <p:spPr>
          <a:xfrm>
            <a:off x="3291840" y="4690728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3.088 ha</a:t>
            </a:r>
            <a:endParaRPr lang="id-ID" sz="702"/>
          </a:p>
        </p:txBody>
      </p:sp>
      <p:cxnSp>
        <p:nvCxnSpPr>
          <p:cNvPr id="480" name="L"/>
          <p:cNvCxnSpPr/>
          <p:nvPr/>
        </p:nvCxnSpPr>
        <p:spPr>
          <a:xfrm>
            <a:off x="676656" y="4837024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81" name="K"/>
          <p:cNvSpPr/>
          <p:nvPr/>
        </p:nvSpPr>
        <p:spPr>
          <a:xfrm>
            <a:off x="841248" y="4861894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82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58627" y="4879274"/>
            <a:ext cx="61795" cy="61795"/>
          </a:xfrm>
          <a:prstGeom prst="rect">
            <a:avLst/>
          </a:prstGeom>
        </p:spPr>
      </p:pic>
      <p:sp>
        <p:nvSpPr>
          <p:cNvPr id="483" name="T"/>
          <p:cNvSpPr txBox="1"/>
          <p:nvPr/>
        </p:nvSpPr>
        <p:spPr>
          <a:xfrm>
            <a:off x="1115568" y="4837024"/>
            <a:ext cx="1947672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Magetan</a:t>
            </a:r>
            <a:endParaRPr lang="id-ID" sz="717"/>
          </a:p>
        </p:txBody>
      </p:sp>
      <p:sp>
        <p:nvSpPr>
          <p:cNvPr id="484" name="T"/>
          <p:cNvSpPr txBox="1"/>
          <p:nvPr/>
        </p:nvSpPr>
        <p:spPr>
          <a:xfrm>
            <a:off x="3291840" y="4837024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357 ha</a:t>
            </a:r>
            <a:endParaRPr lang="id-ID" sz="702"/>
          </a:p>
        </p:txBody>
      </p:sp>
      <p:cxnSp>
        <p:nvCxnSpPr>
          <p:cNvPr id="485" name="L"/>
          <p:cNvCxnSpPr/>
          <p:nvPr/>
        </p:nvCxnSpPr>
        <p:spPr>
          <a:xfrm>
            <a:off x="676656" y="498332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86" name="K"/>
          <p:cNvSpPr/>
          <p:nvPr/>
        </p:nvSpPr>
        <p:spPr>
          <a:xfrm>
            <a:off x="841248" y="5008190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87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58627" y="5025570"/>
            <a:ext cx="61795" cy="61795"/>
          </a:xfrm>
          <a:prstGeom prst="rect">
            <a:avLst/>
          </a:prstGeom>
        </p:spPr>
      </p:pic>
      <p:sp>
        <p:nvSpPr>
          <p:cNvPr id="488" name="T"/>
          <p:cNvSpPr txBox="1"/>
          <p:nvPr/>
        </p:nvSpPr>
        <p:spPr>
          <a:xfrm>
            <a:off x="1115568" y="4983320"/>
            <a:ext cx="1947672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Jombang</a:t>
            </a:r>
            <a:endParaRPr lang="id-ID" sz="717"/>
          </a:p>
        </p:txBody>
      </p:sp>
      <p:sp>
        <p:nvSpPr>
          <p:cNvPr id="489" name="T"/>
          <p:cNvSpPr txBox="1"/>
          <p:nvPr/>
        </p:nvSpPr>
        <p:spPr>
          <a:xfrm>
            <a:off x="3291840" y="4983320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1.139 ha</a:t>
            </a:r>
            <a:endParaRPr lang="id-ID" sz="702"/>
          </a:p>
        </p:txBody>
      </p:sp>
      <p:cxnSp>
        <p:nvCxnSpPr>
          <p:cNvPr id="490" name="L"/>
          <p:cNvCxnSpPr/>
          <p:nvPr/>
        </p:nvCxnSpPr>
        <p:spPr>
          <a:xfrm>
            <a:off x="676656" y="512961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91" name="K"/>
          <p:cNvSpPr/>
          <p:nvPr/>
        </p:nvSpPr>
        <p:spPr>
          <a:xfrm>
            <a:off x="676656" y="5154486"/>
            <a:ext cx="96555" cy="9655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92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694035" y="5171866"/>
            <a:ext cx="61795" cy="61795"/>
          </a:xfrm>
          <a:prstGeom prst="rect">
            <a:avLst/>
          </a:prstGeom>
        </p:spPr>
      </p:pic>
      <p:sp>
        <p:nvSpPr>
          <p:cNvPr id="493" name="T"/>
          <p:cNvSpPr txBox="1"/>
          <p:nvPr/>
        </p:nvSpPr>
        <p:spPr>
          <a:xfrm>
            <a:off x="950976" y="5129616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Tojo Una-Una</a:t>
            </a:r>
            <a:endParaRPr lang="id-ID" sz="717"/>
          </a:p>
        </p:txBody>
      </p:sp>
      <p:sp>
        <p:nvSpPr>
          <p:cNvPr id="494" name="T"/>
          <p:cNvSpPr txBox="1"/>
          <p:nvPr/>
        </p:nvSpPr>
        <p:spPr>
          <a:xfrm>
            <a:off x="3291840" y="5129616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11.202 ha</a:t>
            </a:r>
            <a:endParaRPr lang="id-ID" sz="702"/>
          </a:p>
        </p:txBody>
      </p:sp>
      <p:sp>
        <p:nvSpPr>
          <p:cNvPr id="495" name="K"/>
          <p:cNvSpPr/>
          <p:nvPr/>
        </p:nvSpPr>
        <p:spPr>
          <a:xfrm>
            <a:off x="4739006" y="5151560"/>
            <a:ext cx="1052584" cy="102407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96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5169482"/>
            <a:ext cx="66564" cy="66564"/>
          </a:xfrm>
          <a:prstGeom prst="rect">
            <a:avLst/>
          </a:prstGeom>
        </p:spPr>
      </p:pic>
      <p:sp>
        <p:nvSpPr>
          <p:cNvPr id="497" name="T"/>
          <p:cNvSpPr txBox="1"/>
          <p:nvPr/>
        </p:nvSpPr>
        <p:spPr>
          <a:xfrm>
            <a:off x="4985894" y="5151560"/>
            <a:ext cx="796552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68 hotspot</a:t>
            </a:r>
            <a:endParaRPr lang="id-ID" sz="608"/>
          </a:p>
        </p:txBody>
      </p:sp>
      <p:sp>
        <p:nvSpPr>
          <p:cNvPr id="498" name="K"/>
          <p:cNvSpPr/>
          <p:nvPr/>
        </p:nvSpPr>
        <p:spPr>
          <a:xfrm>
            <a:off x="5864742" y="5151560"/>
            <a:ext cx="1155436" cy="102407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99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937894" y="5169482"/>
            <a:ext cx="66564" cy="66564"/>
          </a:xfrm>
          <a:prstGeom prst="rect">
            <a:avLst/>
          </a:prstGeom>
        </p:spPr>
      </p:pic>
      <p:sp>
        <p:nvSpPr>
          <p:cNvPr id="500" name="T"/>
          <p:cNvSpPr txBox="1"/>
          <p:nvPr/>
        </p:nvSpPr>
        <p:spPr>
          <a:xfrm>
            <a:off x="6111630" y="5151560"/>
            <a:ext cx="899404" cy="1024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08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225 ha</a:t>
            </a:r>
            <a:endParaRPr lang="id-ID" sz="608"/>
          </a:p>
        </p:txBody>
      </p:sp>
      <p:sp>
        <p:nvSpPr>
          <p:cNvPr id="501" name="K"/>
          <p:cNvSpPr/>
          <p:nvPr/>
        </p:nvSpPr>
        <p:spPr>
          <a:xfrm>
            <a:off x="676656" y="5284689"/>
            <a:ext cx="6464808" cy="12874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502" name="T"/>
          <p:cNvSpPr txBox="1"/>
          <p:nvPr/>
        </p:nvSpPr>
        <p:spPr>
          <a:xfrm>
            <a:off x="749808" y="5275912"/>
            <a:ext cx="164592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  <a:endParaRPr lang="id-ID" sz="717"/>
          </a:p>
        </p:txBody>
      </p:sp>
      <p:sp>
        <p:nvSpPr>
          <p:cNvPr id="503" name="K"/>
          <p:cNvSpPr/>
          <p:nvPr/>
        </p:nvSpPr>
        <p:spPr>
          <a:xfrm>
            <a:off x="2315728" y="5303708"/>
            <a:ext cx="638251" cy="9070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504" name="T"/>
          <p:cNvSpPr txBox="1"/>
          <p:nvPr/>
        </p:nvSpPr>
        <p:spPr>
          <a:xfrm>
            <a:off x="2315728" y="5303708"/>
            <a:ext cx="638251" cy="907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47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3 kejadian</a:t>
            </a:r>
            <a:endParaRPr lang="id-ID" sz="547"/>
          </a:p>
        </p:txBody>
      </p:sp>
      <p:sp>
        <p:nvSpPr>
          <p:cNvPr id="505" name="K"/>
          <p:cNvSpPr/>
          <p:nvPr/>
        </p:nvSpPr>
        <p:spPr>
          <a:xfrm>
            <a:off x="3291840" y="5303708"/>
            <a:ext cx="1005840" cy="907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C9A8"/>
            </a:solidFill>
          </a:ln>
        </p:spPr>
      </p:sp>
      <p:sp>
        <p:nvSpPr>
          <p:cNvPr id="506" name="T"/>
          <p:cNvSpPr txBox="1"/>
          <p:nvPr/>
        </p:nvSpPr>
        <p:spPr>
          <a:xfrm>
            <a:off x="3291840" y="5303708"/>
            <a:ext cx="1005840" cy="907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57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total ± 3.248 ha</a:t>
            </a:r>
            <a:endParaRPr lang="id-ID" sz="577"/>
          </a:p>
        </p:txBody>
      </p:sp>
      <p:cxnSp>
        <p:nvCxnSpPr>
          <p:cNvPr id="507" name="L"/>
          <p:cNvCxnSpPr/>
          <p:nvPr/>
        </p:nvCxnSpPr>
        <p:spPr>
          <a:xfrm>
            <a:off x="676656" y="5422208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08" name="K"/>
          <p:cNvSpPr/>
          <p:nvPr/>
        </p:nvSpPr>
        <p:spPr>
          <a:xfrm>
            <a:off x="841248" y="5447078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509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58627" y="5464458"/>
            <a:ext cx="61795" cy="61795"/>
          </a:xfrm>
          <a:prstGeom prst="rect">
            <a:avLst/>
          </a:prstGeom>
        </p:spPr>
      </p:pic>
      <p:sp>
        <p:nvSpPr>
          <p:cNvPr id="510" name="T"/>
          <p:cNvSpPr txBox="1"/>
          <p:nvPr/>
        </p:nvSpPr>
        <p:spPr>
          <a:xfrm>
            <a:off x="1115568" y="5422208"/>
            <a:ext cx="1947672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Sidenreng Rappang</a:t>
            </a:r>
            <a:endParaRPr lang="id-ID" sz="717"/>
          </a:p>
        </p:txBody>
      </p:sp>
      <p:sp>
        <p:nvSpPr>
          <p:cNvPr id="511" name="T"/>
          <p:cNvSpPr txBox="1"/>
          <p:nvPr/>
        </p:nvSpPr>
        <p:spPr>
          <a:xfrm>
            <a:off x="3291840" y="5422208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2.587 ha</a:t>
            </a:r>
            <a:endParaRPr lang="id-ID" sz="702"/>
          </a:p>
        </p:txBody>
      </p:sp>
      <p:cxnSp>
        <p:nvCxnSpPr>
          <p:cNvPr id="512" name="L"/>
          <p:cNvCxnSpPr/>
          <p:nvPr/>
        </p:nvCxnSpPr>
        <p:spPr>
          <a:xfrm>
            <a:off x="676656" y="5568504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13" name="K"/>
          <p:cNvSpPr/>
          <p:nvPr/>
        </p:nvSpPr>
        <p:spPr>
          <a:xfrm>
            <a:off x="841248" y="5593374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514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58627" y="5610754"/>
            <a:ext cx="61795" cy="61795"/>
          </a:xfrm>
          <a:prstGeom prst="rect">
            <a:avLst/>
          </a:prstGeom>
        </p:spPr>
      </p:pic>
      <p:sp>
        <p:nvSpPr>
          <p:cNvPr id="515" name="T"/>
          <p:cNvSpPr txBox="1"/>
          <p:nvPr/>
        </p:nvSpPr>
        <p:spPr>
          <a:xfrm>
            <a:off x="1115568" y="5568504"/>
            <a:ext cx="1947672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Luwu</a:t>
            </a:r>
            <a:endParaRPr lang="id-ID" sz="717"/>
          </a:p>
        </p:txBody>
      </p:sp>
      <p:sp>
        <p:nvSpPr>
          <p:cNvPr id="516" name="T"/>
          <p:cNvSpPr txBox="1"/>
          <p:nvPr/>
        </p:nvSpPr>
        <p:spPr>
          <a:xfrm>
            <a:off x="3291840" y="5568504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639 ha</a:t>
            </a:r>
            <a:endParaRPr lang="id-ID" sz="702"/>
          </a:p>
        </p:txBody>
      </p:sp>
      <p:cxnSp>
        <p:nvCxnSpPr>
          <p:cNvPr id="517" name="L"/>
          <p:cNvCxnSpPr/>
          <p:nvPr/>
        </p:nvCxnSpPr>
        <p:spPr>
          <a:xfrm>
            <a:off x="676656" y="571480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18" name="K"/>
          <p:cNvSpPr/>
          <p:nvPr/>
        </p:nvSpPr>
        <p:spPr>
          <a:xfrm>
            <a:off x="841248" y="5739670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519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58627" y="5757050"/>
            <a:ext cx="61795" cy="61795"/>
          </a:xfrm>
          <a:prstGeom prst="rect">
            <a:avLst/>
          </a:prstGeom>
        </p:spPr>
      </p:pic>
      <p:sp>
        <p:nvSpPr>
          <p:cNvPr id="520" name="T"/>
          <p:cNvSpPr txBox="1"/>
          <p:nvPr/>
        </p:nvSpPr>
        <p:spPr>
          <a:xfrm>
            <a:off x="1115568" y="5714800"/>
            <a:ext cx="1947672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Sinjai</a:t>
            </a:r>
            <a:endParaRPr lang="id-ID" sz="717"/>
          </a:p>
        </p:txBody>
      </p:sp>
      <p:sp>
        <p:nvSpPr>
          <p:cNvPr id="521" name="T"/>
          <p:cNvSpPr txBox="1"/>
          <p:nvPr/>
        </p:nvSpPr>
        <p:spPr>
          <a:xfrm>
            <a:off x="3291840" y="5714800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22 ha</a:t>
            </a:r>
            <a:endParaRPr lang="id-ID" sz="702"/>
          </a:p>
        </p:txBody>
      </p:sp>
      <p:cxnSp>
        <p:nvCxnSpPr>
          <p:cNvPr id="522" name="L"/>
          <p:cNvCxnSpPr/>
          <p:nvPr/>
        </p:nvCxnSpPr>
        <p:spPr>
          <a:xfrm>
            <a:off x="676656" y="586109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23" name="K"/>
          <p:cNvSpPr/>
          <p:nvPr/>
        </p:nvSpPr>
        <p:spPr>
          <a:xfrm>
            <a:off x="676656" y="5885966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524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694035" y="5903346"/>
            <a:ext cx="61795" cy="61795"/>
          </a:xfrm>
          <a:prstGeom prst="rect">
            <a:avLst/>
          </a:prstGeom>
        </p:spPr>
      </p:pic>
      <p:sp>
        <p:nvSpPr>
          <p:cNvPr id="525" name="T"/>
          <p:cNvSpPr txBox="1"/>
          <p:nvPr/>
        </p:nvSpPr>
        <p:spPr>
          <a:xfrm>
            <a:off x="950976" y="5861096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Utara</a:t>
            </a: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Minahasa</a:t>
            </a:r>
            <a:endParaRPr lang="id-ID" sz="717"/>
          </a:p>
        </p:txBody>
      </p:sp>
      <p:sp>
        <p:nvSpPr>
          <p:cNvPr id="526" name="T"/>
          <p:cNvSpPr txBox="1"/>
          <p:nvPr/>
        </p:nvSpPr>
        <p:spPr>
          <a:xfrm>
            <a:off x="3291840" y="5861096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228 ha</a:t>
            </a:r>
            <a:endParaRPr lang="id-ID" sz="702"/>
          </a:p>
        </p:txBody>
      </p:sp>
      <p:cxnSp>
        <p:nvCxnSpPr>
          <p:cNvPr id="527" name="L"/>
          <p:cNvCxnSpPr/>
          <p:nvPr/>
        </p:nvCxnSpPr>
        <p:spPr>
          <a:xfrm>
            <a:off x="676656" y="6007392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28" name="K"/>
          <p:cNvSpPr/>
          <p:nvPr/>
        </p:nvSpPr>
        <p:spPr>
          <a:xfrm>
            <a:off x="676656" y="6032262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529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694035" y="6049642"/>
            <a:ext cx="61795" cy="61795"/>
          </a:xfrm>
          <a:prstGeom prst="rect">
            <a:avLst/>
          </a:prstGeom>
        </p:spPr>
      </p:pic>
      <p:sp>
        <p:nvSpPr>
          <p:cNvPr id="530" name="T"/>
          <p:cNvSpPr txBox="1"/>
          <p:nvPr/>
        </p:nvSpPr>
        <p:spPr>
          <a:xfrm>
            <a:off x="950976" y="6007392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 Utara</a:t>
            </a: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Kota Tidore</a:t>
            </a:r>
            <a:endParaRPr lang="id-ID" sz="717"/>
          </a:p>
        </p:txBody>
      </p:sp>
      <p:sp>
        <p:nvSpPr>
          <p:cNvPr id="531" name="T"/>
          <p:cNvSpPr txBox="1"/>
          <p:nvPr/>
        </p:nvSpPr>
        <p:spPr>
          <a:xfrm>
            <a:off x="3291840" y="6007392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422 ha</a:t>
            </a:r>
            <a:endParaRPr lang="id-ID" sz="702"/>
          </a:p>
        </p:txBody>
      </p:sp>
      <p:cxnSp>
        <p:nvCxnSpPr>
          <p:cNvPr id="532" name="L"/>
          <p:cNvCxnSpPr/>
          <p:nvPr/>
        </p:nvCxnSpPr>
        <p:spPr>
          <a:xfrm>
            <a:off x="676656" y="6153688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33" name="K"/>
          <p:cNvSpPr/>
          <p:nvPr/>
        </p:nvSpPr>
        <p:spPr>
          <a:xfrm>
            <a:off x="676656" y="6178558"/>
            <a:ext cx="96555" cy="9655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534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694035" y="6195938"/>
            <a:ext cx="61795" cy="61795"/>
          </a:xfrm>
          <a:prstGeom prst="rect">
            <a:avLst/>
          </a:prstGeom>
        </p:spPr>
      </p:pic>
      <p:sp>
        <p:nvSpPr>
          <p:cNvPr id="535" name="T"/>
          <p:cNvSpPr txBox="1"/>
          <p:nvPr/>
        </p:nvSpPr>
        <p:spPr>
          <a:xfrm>
            <a:off x="950976" y="6153688"/>
            <a:ext cx="2112264" cy="146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17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Barat Daya</a:t>
            </a:r>
            <a:r>
              <a:rPr lang="id-ID" sz="717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Raja Ampat</a:t>
            </a:r>
            <a:endParaRPr lang="id-ID" sz="717"/>
          </a:p>
        </p:txBody>
      </p:sp>
      <p:sp>
        <p:nvSpPr>
          <p:cNvPr id="536" name="T"/>
          <p:cNvSpPr txBox="1"/>
          <p:nvPr/>
        </p:nvSpPr>
        <p:spPr>
          <a:xfrm>
            <a:off x="3291840" y="6153688"/>
            <a:ext cx="1234440" cy="146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2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 2.474 ha</a:t>
            </a:r>
            <a:endParaRPr lang="id-ID" sz="702"/>
          </a:p>
        </p:txBody>
      </p:sp>
      <p:sp>
        <p:nvSpPr>
          <p:cNvPr id="603" name="K"/>
          <p:cNvSpPr/>
          <p:nvPr/>
        </p:nvSpPr>
        <p:spPr>
          <a:xfrm>
            <a:off x="7406640" y="1325880"/>
            <a:ext cx="4236415" cy="2258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604" name="K"/>
          <p:cNvSpPr/>
          <p:nvPr/>
        </p:nvSpPr>
        <p:spPr>
          <a:xfrm>
            <a:off x="7406640" y="1325880"/>
            <a:ext cx="4236415" cy="457200"/>
          </a:xfrm>
          <a:prstGeom prst="roundRect">
            <a:avLst>
              <a:gd name="adj" fmla="val 16000"/>
            </a:avLst>
          </a:prstGeom>
          <a:solidFill>
            <a:srgbClr val="F4ECDC"/>
          </a:solidFill>
          <a:ln>
            <a:noFill/>
          </a:ln>
        </p:spPr>
      </p:sp>
      <p:sp>
        <p:nvSpPr>
          <p:cNvPr id="605" name="K"/>
          <p:cNvSpPr/>
          <p:nvPr/>
        </p:nvSpPr>
        <p:spPr>
          <a:xfrm>
            <a:off x="7406640" y="1600200"/>
            <a:ext cx="4236415" cy="182880"/>
          </a:xfrm>
          <a:prstGeom prst="rect">
            <a:avLst/>
          </a:prstGeom>
          <a:solidFill>
            <a:srgbClr val="F4ECDC"/>
          </a:solidFill>
          <a:ln>
            <a:noFill/>
          </a:ln>
        </p:spPr>
      </p:sp>
      <p:sp>
        <p:nvSpPr>
          <p:cNvPr id="606" name="K"/>
          <p:cNvSpPr/>
          <p:nvPr/>
        </p:nvSpPr>
        <p:spPr>
          <a:xfrm>
            <a:off x="7534656" y="1408176"/>
            <a:ext cx="292608" cy="292608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pic>
        <p:nvPicPr>
          <p:cNvPr id="60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7589520" y="1463040"/>
            <a:ext cx="182880" cy="182880"/>
          </a:xfrm>
          <a:prstGeom prst="rect">
            <a:avLst/>
          </a:prstGeom>
        </p:spPr>
      </p:pic>
      <p:sp>
        <p:nvSpPr>
          <p:cNvPr id="608" name="T"/>
          <p:cNvSpPr txBox="1"/>
          <p:nvPr/>
        </p:nvSpPr>
        <p:spPr>
          <a:xfrm>
            <a:off x="7909560" y="1325880"/>
            <a:ext cx="313641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1100"/>
          </a:p>
        </p:txBody>
      </p:sp>
      <p:sp>
        <p:nvSpPr>
          <p:cNvPr id="609" name="T"/>
          <p:cNvSpPr txBox="1"/>
          <p:nvPr/>
        </p:nvSpPr>
        <p:spPr>
          <a:xfrm>
            <a:off x="11002975" y="1325880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B08A3E"/>
                </a:solidFill>
                <a:latin typeface="Roboto"/>
                <a:ea typeface="Roboto"/>
                <a:cs typeface="Roboto"/>
              </a:rPr>
              <a:t>5</a:t>
            </a:r>
            <a:endParaRPr lang="id-ID" sz="1800"/>
          </a:p>
        </p:txBody>
      </p:sp>
      <p:sp>
        <p:nvSpPr>
          <p:cNvPr id="610" name="T"/>
          <p:cNvSpPr txBox="1"/>
          <p:nvPr/>
        </p:nvSpPr>
        <p:spPr>
          <a:xfrm>
            <a:off x="7571232" y="185623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Tengah</a:t>
            </a:r>
            <a:endParaRPr lang="id-ID" sz="950"/>
          </a:p>
        </p:txBody>
      </p:sp>
      <p:sp>
        <p:nvSpPr>
          <p:cNvPr id="611" name="K"/>
          <p:cNvSpPr/>
          <p:nvPr/>
        </p:nvSpPr>
        <p:spPr>
          <a:xfrm>
            <a:off x="8458200" y="1883664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4ECDC"/>
          </a:solidFill>
          <a:ln>
            <a:noFill/>
          </a:ln>
        </p:spPr>
      </p:sp>
      <p:sp>
        <p:nvSpPr>
          <p:cNvPr id="612" name="T"/>
          <p:cNvSpPr txBox="1"/>
          <p:nvPr/>
        </p:nvSpPr>
        <p:spPr>
          <a:xfrm>
            <a:off x="8458200" y="188366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6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5 kejadian</a:t>
            </a:r>
            <a:endParaRPr lang="id-ID" sz="620"/>
          </a:p>
        </p:txBody>
      </p:sp>
      <p:sp>
        <p:nvSpPr>
          <p:cNvPr id="613" name="T"/>
          <p:cNvSpPr txBox="1"/>
          <p:nvPr/>
        </p:nvSpPr>
        <p:spPr>
          <a:xfrm>
            <a:off x="7571232" y="2121408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2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LOKASI</a:t>
            </a:r>
            <a:endParaRPr lang="id-ID" sz="620"/>
          </a:p>
        </p:txBody>
      </p:sp>
      <p:sp>
        <p:nvSpPr>
          <p:cNvPr id="614" name="T"/>
          <p:cNvSpPr txBox="1"/>
          <p:nvPr/>
        </p:nvSpPr>
        <p:spPr>
          <a:xfrm>
            <a:off x="8686800" y="2121408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2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TERDAMPAK</a:t>
            </a:r>
            <a:endParaRPr lang="id-ID" sz="620"/>
          </a:p>
        </p:txBody>
      </p:sp>
      <p:sp>
        <p:nvSpPr>
          <p:cNvPr id="615" name="T"/>
          <p:cNvSpPr txBox="1"/>
          <p:nvPr/>
        </p:nvSpPr>
        <p:spPr>
          <a:xfrm>
            <a:off x="10241280" y="2121408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62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BANTUAN AIR</a:t>
            </a:r>
            <a:endParaRPr lang="id-ID" sz="620"/>
          </a:p>
        </p:txBody>
      </p:sp>
      <p:cxnSp>
        <p:nvCxnSpPr>
          <p:cNvPr id="616" name="L"/>
          <p:cNvCxnSpPr/>
          <p:nvPr/>
        </p:nvCxnSpPr>
        <p:spPr>
          <a:xfrm>
            <a:off x="7571232" y="2286000"/>
            <a:ext cx="3907231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17" name="K"/>
          <p:cNvSpPr/>
          <p:nvPr/>
        </p:nvSpPr>
        <p:spPr>
          <a:xfrm>
            <a:off x="7571232" y="2320137"/>
            <a:ext cx="3907231" cy="16642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618" name="T"/>
          <p:cNvSpPr txBox="1"/>
          <p:nvPr/>
        </p:nvSpPr>
        <p:spPr>
          <a:xfrm>
            <a:off x="7662672" y="2304288"/>
            <a:ext cx="1000000" cy="198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TOTAL</a:t>
            </a:r>
            <a:endParaRPr lang="id-ID" sz="700"/>
          </a:p>
        </p:txBody>
      </p:sp>
      <p:pic>
        <p:nvPicPr>
          <p:cNvPr id="619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8686800" y="2348484"/>
            <a:ext cx="109728" cy="109728"/>
          </a:xfrm>
          <a:prstGeom prst="rect">
            <a:avLst/>
          </a:prstGeom>
        </p:spPr>
      </p:pic>
      <p:sp>
        <p:nvSpPr>
          <p:cNvPr id="620" name="T"/>
          <p:cNvSpPr txBox="1"/>
          <p:nvPr/>
        </p:nvSpPr>
        <p:spPr>
          <a:xfrm>
            <a:off x="8832000" y="2304288"/>
            <a:ext cx="1380000" cy="1981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44.045 KK</a:t>
            </a: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154.471 jiwa</a:t>
            </a:r>
            <a:endParaRPr lang="id-ID" sz="800"/>
          </a:p>
        </p:txBody>
      </p:sp>
      <p:sp>
        <p:nvSpPr>
          <p:cNvPr id="621" name="K"/>
          <p:cNvSpPr/>
          <p:nvPr/>
        </p:nvSpPr>
        <p:spPr>
          <a:xfrm>
            <a:off x="10241280" y="2325624"/>
            <a:ext cx="123718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8A3E"/>
            </a:solidFill>
          </a:ln>
        </p:spPr>
      </p:sp>
      <p:pic>
        <p:nvPicPr>
          <p:cNvPr id="622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10296144" y="2353056"/>
            <a:ext cx="100584" cy="100584"/>
          </a:xfrm>
          <a:prstGeom prst="rect">
            <a:avLst/>
          </a:prstGeom>
        </p:spPr>
      </p:pic>
      <p:sp>
        <p:nvSpPr>
          <p:cNvPr id="623" name="T"/>
          <p:cNvSpPr txBox="1"/>
          <p:nvPr/>
        </p:nvSpPr>
        <p:spPr>
          <a:xfrm>
            <a:off x="10424160" y="2325624"/>
            <a:ext cx="1030000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231.000 liter</a:t>
            </a: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46 tangki</a:t>
            </a:r>
            <a:endParaRPr lang="id-ID" sz="700"/>
          </a:p>
        </p:txBody>
      </p:sp>
      <p:sp>
        <p:nvSpPr>
          <p:cNvPr id="624" name="K"/>
          <p:cNvSpPr/>
          <p:nvPr/>
        </p:nvSpPr>
        <p:spPr>
          <a:xfrm>
            <a:off x="7571232" y="2519172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25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548798"/>
            <a:ext cx="105338" cy="105338"/>
          </a:xfrm>
          <a:prstGeom prst="rect">
            <a:avLst/>
          </a:prstGeom>
        </p:spPr>
      </p:pic>
      <p:sp>
        <p:nvSpPr>
          <p:cNvPr id="626" name="T"/>
          <p:cNvSpPr txBox="1"/>
          <p:nvPr/>
        </p:nvSpPr>
        <p:spPr>
          <a:xfrm>
            <a:off x="7799832" y="2502408"/>
            <a:ext cx="1100000" cy="198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Banyumas</a:t>
            </a:r>
            <a:endParaRPr lang="id-ID" sz="850"/>
          </a:p>
        </p:txBody>
      </p:sp>
      <p:pic>
        <p:nvPicPr>
          <p:cNvPr id="627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8686800" y="2546604"/>
            <a:ext cx="109728" cy="109728"/>
          </a:xfrm>
          <a:prstGeom prst="rect">
            <a:avLst/>
          </a:prstGeom>
        </p:spPr>
      </p:pic>
      <p:sp>
        <p:nvSpPr>
          <p:cNvPr id="628" name="T"/>
          <p:cNvSpPr txBox="1"/>
          <p:nvPr/>
        </p:nvSpPr>
        <p:spPr>
          <a:xfrm>
            <a:off x="8832000" y="2502408"/>
            <a:ext cx="1380000" cy="1981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19.941 KK</a:t>
            </a: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68.750 jiwa</a:t>
            </a:r>
            <a:endParaRPr lang="id-ID" sz="800"/>
          </a:p>
        </p:txBody>
      </p:sp>
      <p:sp>
        <p:nvSpPr>
          <p:cNvPr id="629" name="K"/>
          <p:cNvSpPr/>
          <p:nvPr/>
        </p:nvSpPr>
        <p:spPr>
          <a:xfrm>
            <a:off x="10241280" y="2523744"/>
            <a:ext cx="123718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30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10296144" y="2551176"/>
            <a:ext cx="100584" cy="100584"/>
          </a:xfrm>
          <a:prstGeom prst="rect">
            <a:avLst/>
          </a:prstGeom>
        </p:spPr>
      </p:pic>
      <p:sp>
        <p:nvSpPr>
          <p:cNvPr id="631" name="T"/>
          <p:cNvSpPr txBox="1"/>
          <p:nvPr/>
        </p:nvSpPr>
        <p:spPr>
          <a:xfrm>
            <a:off x="10424160" y="2523744"/>
            <a:ext cx="1030000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45.000 liter</a:t>
            </a: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10 tangki</a:t>
            </a:r>
            <a:endParaRPr lang="id-ID" sz="700"/>
          </a:p>
        </p:txBody>
      </p:sp>
      <p:cxnSp>
        <p:nvCxnSpPr>
          <p:cNvPr id="632" name="L"/>
          <p:cNvCxnSpPr/>
          <p:nvPr/>
        </p:nvCxnSpPr>
        <p:spPr>
          <a:xfrm>
            <a:off x="7571232" y="2700528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33" name="K"/>
          <p:cNvSpPr/>
          <p:nvPr/>
        </p:nvSpPr>
        <p:spPr>
          <a:xfrm>
            <a:off x="7571232" y="2717292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3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746918"/>
            <a:ext cx="105338" cy="105338"/>
          </a:xfrm>
          <a:prstGeom prst="rect">
            <a:avLst/>
          </a:prstGeom>
        </p:spPr>
      </p:pic>
      <p:sp>
        <p:nvSpPr>
          <p:cNvPr id="635" name="T"/>
          <p:cNvSpPr txBox="1"/>
          <p:nvPr/>
        </p:nvSpPr>
        <p:spPr>
          <a:xfrm>
            <a:off x="7799832" y="2700528"/>
            <a:ext cx="1100000" cy="198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Magelang</a:t>
            </a:r>
            <a:endParaRPr lang="id-ID" sz="850"/>
          </a:p>
        </p:txBody>
      </p:sp>
      <p:pic>
        <p:nvPicPr>
          <p:cNvPr id="636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8686800" y="2744724"/>
            <a:ext cx="109728" cy="109728"/>
          </a:xfrm>
          <a:prstGeom prst="rect">
            <a:avLst/>
          </a:prstGeom>
        </p:spPr>
      </p:pic>
      <p:sp>
        <p:nvSpPr>
          <p:cNvPr id="637" name="T"/>
          <p:cNvSpPr txBox="1"/>
          <p:nvPr/>
        </p:nvSpPr>
        <p:spPr>
          <a:xfrm>
            <a:off x="8832000" y="2700528"/>
            <a:ext cx="1380000" cy="1981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8.226 KK</a:t>
            </a: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31.270 jiwa</a:t>
            </a:r>
            <a:endParaRPr lang="id-ID" sz="800"/>
          </a:p>
        </p:txBody>
      </p:sp>
      <p:sp>
        <p:nvSpPr>
          <p:cNvPr id="638" name="K"/>
          <p:cNvSpPr/>
          <p:nvPr/>
        </p:nvSpPr>
        <p:spPr>
          <a:xfrm>
            <a:off x="10241280" y="2721864"/>
            <a:ext cx="123718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39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10296144" y="2749296"/>
            <a:ext cx="100584" cy="100584"/>
          </a:xfrm>
          <a:prstGeom prst="rect">
            <a:avLst/>
          </a:prstGeom>
        </p:spPr>
      </p:pic>
      <p:sp>
        <p:nvSpPr>
          <p:cNvPr id="640" name="T"/>
          <p:cNvSpPr txBox="1"/>
          <p:nvPr/>
        </p:nvSpPr>
        <p:spPr>
          <a:xfrm>
            <a:off x="10424160" y="2721864"/>
            <a:ext cx="1030000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39.000 liter</a:t>
            </a: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8 tangki</a:t>
            </a:r>
            <a:endParaRPr lang="id-ID" sz="700"/>
          </a:p>
        </p:txBody>
      </p:sp>
      <p:cxnSp>
        <p:nvCxnSpPr>
          <p:cNvPr id="641" name="L"/>
          <p:cNvCxnSpPr/>
          <p:nvPr/>
        </p:nvCxnSpPr>
        <p:spPr>
          <a:xfrm>
            <a:off x="7571232" y="2898648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42" name="K"/>
          <p:cNvSpPr/>
          <p:nvPr/>
        </p:nvSpPr>
        <p:spPr>
          <a:xfrm>
            <a:off x="7571232" y="2915412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4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945038"/>
            <a:ext cx="105338" cy="105338"/>
          </a:xfrm>
          <a:prstGeom prst="rect">
            <a:avLst/>
          </a:prstGeom>
        </p:spPr>
      </p:pic>
      <p:sp>
        <p:nvSpPr>
          <p:cNvPr id="644" name="T"/>
          <p:cNvSpPr txBox="1"/>
          <p:nvPr/>
        </p:nvSpPr>
        <p:spPr>
          <a:xfrm>
            <a:off x="7799832" y="2898648"/>
            <a:ext cx="1100000" cy="198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Demak</a:t>
            </a:r>
            <a:endParaRPr lang="id-ID" sz="850"/>
          </a:p>
        </p:txBody>
      </p:sp>
      <p:pic>
        <p:nvPicPr>
          <p:cNvPr id="645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8686800" y="2942844"/>
            <a:ext cx="109728" cy="109728"/>
          </a:xfrm>
          <a:prstGeom prst="rect">
            <a:avLst/>
          </a:prstGeom>
        </p:spPr>
      </p:pic>
      <p:sp>
        <p:nvSpPr>
          <p:cNvPr id="646" name="T"/>
          <p:cNvSpPr txBox="1"/>
          <p:nvPr/>
        </p:nvSpPr>
        <p:spPr>
          <a:xfrm>
            <a:off x="8832000" y="2898648"/>
            <a:ext cx="1380000" cy="1981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7.457 KK</a:t>
            </a: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37.324 jiwa</a:t>
            </a:r>
            <a:endParaRPr lang="id-ID" sz="800"/>
          </a:p>
        </p:txBody>
      </p:sp>
      <p:sp>
        <p:nvSpPr>
          <p:cNvPr id="647" name="K"/>
          <p:cNvSpPr/>
          <p:nvPr/>
        </p:nvSpPr>
        <p:spPr>
          <a:xfrm>
            <a:off x="10241280" y="2919984"/>
            <a:ext cx="123718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48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10296144" y="2947416"/>
            <a:ext cx="100584" cy="100584"/>
          </a:xfrm>
          <a:prstGeom prst="rect">
            <a:avLst/>
          </a:prstGeom>
        </p:spPr>
      </p:pic>
      <p:sp>
        <p:nvSpPr>
          <p:cNvPr id="649" name="T"/>
          <p:cNvSpPr txBox="1"/>
          <p:nvPr/>
        </p:nvSpPr>
        <p:spPr>
          <a:xfrm>
            <a:off x="10424160" y="2919984"/>
            <a:ext cx="1030000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50.000 liter</a:t>
            </a: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10 tangki</a:t>
            </a:r>
            <a:endParaRPr lang="id-ID" sz="700"/>
          </a:p>
        </p:txBody>
      </p:sp>
      <p:cxnSp>
        <p:nvCxnSpPr>
          <p:cNvPr id="650" name="L"/>
          <p:cNvCxnSpPr/>
          <p:nvPr/>
        </p:nvCxnSpPr>
        <p:spPr>
          <a:xfrm>
            <a:off x="7571232" y="3096768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51" name="K"/>
          <p:cNvSpPr/>
          <p:nvPr/>
        </p:nvSpPr>
        <p:spPr>
          <a:xfrm>
            <a:off x="7571232" y="3113532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52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143158"/>
            <a:ext cx="105338" cy="105338"/>
          </a:xfrm>
          <a:prstGeom prst="rect">
            <a:avLst/>
          </a:prstGeom>
        </p:spPr>
      </p:pic>
      <p:sp>
        <p:nvSpPr>
          <p:cNvPr id="653" name="T"/>
          <p:cNvSpPr txBox="1"/>
          <p:nvPr/>
        </p:nvSpPr>
        <p:spPr>
          <a:xfrm>
            <a:off x="7799832" y="3096768"/>
            <a:ext cx="1100000" cy="198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Klaten</a:t>
            </a:r>
            <a:endParaRPr lang="id-ID" sz="850"/>
          </a:p>
        </p:txBody>
      </p:sp>
      <p:pic>
        <p:nvPicPr>
          <p:cNvPr id="654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8686800" y="3140964"/>
            <a:ext cx="109728" cy="109728"/>
          </a:xfrm>
          <a:prstGeom prst="rect">
            <a:avLst/>
          </a:prstGeom>
        </p:spPr>
      </p:pic>
      <p:sp>
        <p:nvSpPr>
          <p:cNvPr id="655" name="T"/>
          <p:cNvSpPr txBox="1"/>
          <p:nvPr/>
        </p:nvSpPr>
        <p:spPr>
          <a:xfrm>
            <a:off x="8832000" y="3096768"/>
            <a:ext cx="1380000" cy="1981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5.136 KK</a:t>
            </a: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17.127 jiwa</a:t>
            </a:r>
            <a:endParaRPr lang="id-ID" sz="800"/>
          </a:p>
        </p:txBody>
      </p:sp>
      <p:sp>
        <p:nvSpPr>
          <p:cNvPr id="656" name="K"/>
          <p:cNvSpPr/>
          <p:nvPr/>
        </p:nvSpPr>
        <p:spPr>
          <a:xfrm>
            <a:off x="10241280" y="3118104"/>
            <a:ext cx="123718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57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10296144" y="3145536"/>
            <a:ext cx="100584" cy="100584"/>
          </a:xfrm>
          <a:prstGeom prst="rect">
            <a:avLst/>
          </a:prstGeom>
        </p:spPr>
      </p:pic>
      <p:sp>
        <p:nvSpPr>
          <p:cNvPr id="658" name="T"/>
          <p:cNvSpPr txBox="1"/>
          <p:nvPr/>
        </p:nvSpPr>
        <p:spPr>
          <a:xfrm>
            <a:off x="10424160" y="3118104"/>
            <a:ext cx="1030000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80.000 liter</a:t>
            </a: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16 tangki</a:t>
            </a:r>
            <a:endParaRPr lang="id-ID" sz="700"/>
          </a:p>
        </p:txBody>
      </p:sp>
      <p:cxnSp>
        <p:nvCxnSpPr>
          <p:cNvPr id="659" name="L"/>
          <p:cNvCxnSpPr/>
          <p:nvPr/>
        </p:nvCxnSpPr>
        <p:spPr>
          <a:xfrm>
            <a:off x="7571232" y="3294888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60" name="K"/>
          <p:cNvSpPr/>
          <p:nvPr/>
        </p:nvSpPr>
        <p:spPr>
          <a:xfrm>
            <a:off x="7571232" y="3311652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61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341278"/>
            <a:ext cx="105338" cy="105338"/>
          </a:xfrm>
          <a:prstGeom prst="rect">
            <a:avLst/>
          </a:prstGeom>
        </p:spPr>
      </p:pic>
      <p:sp>
        <p:nvSpPr>
          <p:cNvPr id="662" name="T"/>
          <p:cNvSpPr txBox="1"/>
          <p:nvPr/>
        </p:nvSpPr>
        <p:spPr>
          <a:xfrm>
            <a:off x="7799832" y="3294888"/>
            <a:ext cx="1100000" cy="198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Grobogan</a:t>
            </a:r>
            <a:endParaRPr lang="id-ID" sz="850"/>
          </a:p>
        </p:txBody>
      </p:sp>
      <p:pic>
        <p:nvPicPr>
          <p:cNvPr id="663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8686800" y="3339084"/>
            <a:ext cx="109728" cy="109728"/>
          </a:xfrm>
          <a:prstGeom prst="rect">
            <a:avLst/>
          </a:prstGeom>
        </p:spPr>
      </p:pic>
      <p:sp>
        <p:nvSpPr>
          <p:cNvPr id="664" name="T"/>
          <p:cNvSpPr txBox="1"/>
          <p:nvPr/>
        </p:nvSpPr>
        <p:spPr>
          <a:xfrm>
            <a:off x="8832000" y="3294888"/>
            <a:ext cx="1380000" cy="1981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3.285 KK</a:t>
            </a: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dalam pendataan</a:t>
            </a:r>
            <a:endParaRPr lang="id-ID" sz="800"/>
          </a:p>
        </p:txBody>
      </p:sp>
      <p:sp>
        <p:nvSpPr>
          <p:cNvPr id="665" name="K"/>
          <p:cNvSpPr/>
          <p:nvPr/>
        </p:nvSpPr>
        <p:spPr>
          <a:xfrm>
            <a:off x="10241280" y="3316224"/>
            <a:ext cx="1237183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66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10296144" y="3343656"/>
            <a:ext cx="100584" cy="100584"/>
          </a:xfrm>
          <a:prstGeom prst="rect">
            <a:avLst/>
          </a:prstGeom>
        </p:spPr>
      </p:pic>
      <p:sp>
        <p:nvSpPr>
          <p:cNvPr id="667" name="T"/>
          <p:cNvSpPr txBox="1"/>
          <p:nvPr/>
        </p:nvSpPr>
        <p:spPr>
          <a:xfrm>
            <a:off x="10424160" y="3316224"/>
            <a:ext cx="1030000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17.000 liter</a:t>
            </a: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2 tangki</a:t>
            </a:r>
            <a:endParaRPr lang="id-ID" sz="700"/>
          </a:p>
        </p:txBody>
      </p:sp>
      <p:sp>
        <p:nvSpPr>
          <p:cNvPr id="668" name="K"/>
          <p:cNvSpPr/>
          <p:nvPr/>
        </p:nvSpPr>
        <p:spPr>
          <a:xfrm>
            <a:off x="7406640" y="3675888"/>
            <a:ext cx="4236415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669" name="K"/>
          <p:cNvSpPr/>
          <p:nvPr/>
        </p:nvSpPr>
        <p:spPr>
          <a:xfrm>
            <a:off x="7406640" y="3675888"/>
            <a:ext cx="4236415" cy="365760"/>
          </a:xfrm>
          <a:prstGeom prst="roundRect">
            <a:avLst>
              <a:gd name="adj" fmla="val 16000"/>
            </a:avLst>
          </a:prstGeom>
          <a:solidFill>
            <a:srgbClr val="E3EAF1"/>
          </a:solidFill>
          <a:ln>
            <a:noFill/>
          </a:ln>
        </p:spPr>
      </p:sp>
      <p:sp>
        <p:nvSpPr>
          <p:cNvPr id="670" name="K"/>
          <p:cNvSpPr/>
          <p:nvPr/>
        </p:nvSpPr>
        <p:spPr>
          <a:xfrm>
            <a:off x="7406640" y="3895344"/>
            <a:ext cx="4236415" cy="146304"/>
          </a:xfrm>
          <a:prstGeom prst="rect">
            <a:avLst/>
          </a:prstGeom>
          <a:solidFill>
            <a:srgbClr val="E3EAF1"/>
          </a:solidFill>
          <a:ln>
            <a:noFill/>
          </a:ln>
        </p:spPr>
      </p:sp>
      <p:sp>
        <p:nvSpPr>
          <p:cNvPr id="671" name="K"/>
          <p:cNvSpPr/>
          <p:nvPr/>
        </p:nvSpPr>
        <p:spPr>
          <a:xfrm>
            <a:off x="7534656" y="3712464"/>
            <a:ext cx="292608" cy="292608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672" name="G"/>
          <p:cNvPicPr>
            <a:picLocks noChangeAspect="1"/>
          </p:cNvPicPr>
          <p:nvPr/>
        </p:nvPicPr>
        <p:blipFill>
          <a:blip r:embed="rIdM19"/>
          <a:stretch>
            <a:fillRect/>
          </a:stretch>
        </p:blipFill>
        <p:spPr>
          <a:xfrm>
            <a:off x="7589520" y="3767328"/>
            <a:ext cx="182880" cy="182880"/>
          </a:xfrm>
          <a:prstGeom prst="rect">
            <a:avLst/>
          </a:prstGeom>
        </p:spPr>
      </p:pic>
      <p:sp>
        <p:nvSpPr>
          <p:cNvPr id="673" name="T"/>
          <p:cNvSpPr txBox="1"/>
          <p:nvPr/>
        </p:nvSpPr>
        <p:spPr>
          <a:xfrm>
            <a:off x="7909560" y="3675888"/>
            <a:ext cx="3136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Bencana lainnya</a:t>
            </a:r>
            <a:endParaRPr lang="id-ID" sz="1100"/>
          </a:p>
        </p:txBody>
      </p:sp>
      <p:sp>
        <p:nvSpPr>
          <p:cNvPr id="674" name="T"/>
          <p:cNvSpPr txBox="1"/>
          <p:nvPr/>
        </p:nvSpPr>
        <p:spPr>
          <a:xfrm>
            <a:off x="11002975" y="3675888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4</a:t>
            </a:r>
            <a:endParaRPr lang="id-ID" sz="1800"/>
          </a:p>
        </p:txBody>
      </p:sp>
      <p:sp>
        <p:nvSpPr>
          <p:cNvPr id="537" name="K"/>
          <p:cNvSpPr/>
          <p:nvPr/>
        </p:nvSpPr>
        <p:spPr>
          <a:xfrm>
            <a:off x="7571232" y="4087368"/>
            <a:ext cx="3907231" cy="182880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538" name="K"/>
          <p:cNvSpPr/>
          <p:nvPr/>
        </p:nvSpPr>
        <p:spPr>
          <a:xfrm>
            <a:off x="7616952" y="4105656"/>
            <a:ext cx="146304" cy="146304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539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7644384" y="4133088"/>
            <a:ext cx="91440" cy="91440"/>
          </a:xfrm>
          <a:prstGeom prst="rect">
            <a:avLst/>
          </a:prstGeom>
        </p:spPr>
      </p:pic>
      <p:sp>
        <p:nvSpPr>
          <p:cNvPr id="542" name="T"/>
          <p:cNvSpPr txBox="1"/>
          <p:nvPr/>
        </p:nvSpPr>
        <p:spPr>
          <a:xfrm>
            <a:off x="7808976" y="4087368"/>
            <a:ext cx="160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Gempa bumi</a:t>
            </a:r>
            <a:endParaRPr lang="id-ID" sz="820"/>
          </a:p>
        </p:txBody>
      </p:sp>
      <p:sp>
        <p:nvSpPr>
          <p:cNvPr id="540" name="K"/>
          <p:cNvSpPr/>
          <p:nvPr/>
        </p:nvSpPr>
        <p:spPr>
          <a:xfrm>
            <a:off x="8511232" y="4114800"/>
            <a:ext cx="479600" cy="128016"/>
          </a:xfrm>
          <a:prstGeom prst="roundRect">
            <a:avLst>
              <a:gd name="adj" fmla="val 50000"/>
            </a:avLst>
          </a:prstGeom>
          <a:solidFill>
            <a:srgbClr val="E3EAF1"/>
          </a:solidFill>
          <a:ln>
            <a:noFill/>
          </a:ln>
        </p:spPr>
      </p:sp>
      <p:sp>
        <p:nvSpPr>
          <p:cNvPr id="541" name="T"/>
          <p:cNvSpPr txBox="1"/>
          <p:nvPr/>
        </p:nvSpPr>
        <p:spPr>
          <a:xfrm>
            <a:off x="8511232" y="4114800"/>
            <a:ext cx="4796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58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1 kejadian</a:t>
            </a:r>
            <a:endParaRPr lang="id-ID" sz="580"/>
          </a:p>
        </p:txBody>
      </p:sp>
      <p:sp>
        <p:nvSpPr>
          <p:cNvPr id="543" name="K"/>
          <p:cNvSpPr/>
          <p:nvPr/>
        </p:nvSpPr>
        <p:spPr>
          <a:xfrm>
            <a:off x="7589520" y="4306824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4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4333158"/>
            <a:ext cx="93634" cy="93634"/>
          </a:xfrm>
          <a:prstGeom prst="rect">
            <a:avLst/>
          </a:prstGeom>
        </p:spPr>
      </p:pic>
      <p:sp>
        <p:nvSpPr>
          <p:cNvPr id="545" name="T"/>
          <p:cNvSpPr txBox="1"/>
          <p:nvPr/>
        </p:nvSpPr>
        <p:spPr>
          <a:xfrm>
            <a:off x="7790688" y="4288536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  <a:endParaRPr lang="id-ID" sz="760"/>
          </a:p>
        </p:txBody>
      </p:sp>
      <p:sp>
        <p:nvSpPr>
          <p:cNvPr id="546" name="K"/>
          <p:cNvSpPr/>
          <p:nvPr/>
        </p:nvSpPr>
        <p:spPr>
          <a:xfrm>
            <a:off x="10782842" y="4297680"/>
            <a:ext cx="677332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547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10840449" y="4330598"/>
            <a:ext cx="98755" cy="98755"/>
          </a:xfrm>
          <a:prstGeom prst="rect">
            <a:avLst/>
          </a:prstGeom>
        </p:spPr>
      </p:pic>
      <p:sp>
        <p:nvSpPr>
          <p:cNvPr id="548" name="T"/>
          <p:cNvSpPr txBox="1"/>
          <p:nvPr/>
        </p:nvSpPr>
        <p:spPr>
          <a:xfrm>
            <a:off x="10939204" y="4297680"/>
            <a:ext cx="5209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186 huntara</a:t>
            </a:r>
            <a:endParaRPr lang="id-ID" sz="600"/>
          </a:p>
        </p:txBody>
      </p:sp>
      <p:sp>
        <p:nvSpPr>
          <p:cNvPr id="549" name="K"/>
          <p:cNvSpPr/>
          <p:nvPr/>
        </p:nvSpPr>
        <p:spPr>
          <a:xfrm>
            <a:off x="9734133" y="4297680"/>
            <a:ext cx="1012132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50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9791740" y="4330598"/>
            <a:ext cx="98755" cy="98755"/>
          </a:xfrm>
          <a:prstGeom prst="rect">
            <a:avLst/>
          </a:prstGeom>
        </p:spPr>
      </p:pic>
      <p:sp>
        <p:nvSpPr>
          <p:cNvPr id="551" name="T"/>
          <p:cNvSpPr txBox="1"/>
          <p:nvPr/>
        </p:nvSpPr>
        <p:spPr>
          <a:xfrm>
            <a:off x="9890495" y="4297680"/>
            <a:ext cx="85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Transisi s.d. 27 Des</a:t>
            </a:r>
            <a:endParaRPr lang="id-ID" sz="600"/>
          </a:p>
        </p:txBody>
      </p:sp>
      <p:sp>
        <p:nvSpPr>
          <p:cNvPr id="552" name="K"/>
          <p:cNvSpPr/>
          <p:nvPr/>
        </p:nvSpPr>
        <p:spPr>
          <a:xfrm>
            <a:off x="7790688" y="4480560"/>
            <a:ext cx="1198778" cy="32004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53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7854696" y="4526280"/>
            <a:ext cx="118872" cy="118872"/>
          </a:xfrm>
          <a:prstGeom prst="rect">
            <a:avLst/>
          </a:prstGeom>
        </p:spPr>
      </p:pic>
      <p:sp>
        <p:nvSpPr>
          <p:cNvPr id="554" name="T"/>
          <p:cNvSpPr txBox="1"/>
          <p:nvPr/>
        </p:nvSpPr>
        <p:spPr>
          <a:xfrm>
            <a:off x="8010144" y="4498848"/>
            <a:ext cx="958778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5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±27.567</a:t>
            </a:r>
            <a:endParaRPr lang="id-ID" sz="950"/>
          </a:p>
        </p:txBody>
      </p:sp>
      <p:sp>
        <p:nvSpPr>
          <p:cNvPr id="555" name="T"/>
          <p:cNvSpPr txBox="1"/>
          <p:nvPr/>
        </p:nvSpPr>
        <p:spPr>
          <a:xfrm>
            <a:off x="7854696" y="4663440"/>
            <a:ext cx="1098778" cy="1188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 mengungsi</a:t>
            </a:r>
            <a:endParaRPr lang="id-ID" sz="620"/>
          </a:p>
        </p:txBody>
      </p:sp>
      <p:sp>
        <p:nvSpPr>
          <p:cNvPr id="556" name="K"/>
          <p:cNvSpPr/>
          <p:nvPr/>
        </p:nvSpPr>
        <p:spPr>
          <a:xfrm>
            <a:off x="9035186" y="4480560"/>
            <a:ext cx="1198778" cy="32004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57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9099194" y="4526280"/>
            <a:ext cx="118872" cy="118872"/>
          </a:xfrm>
          <a:prstGeom prst="rect">
            <a:avLst/>
          </a:prstGeom>
        </p:spPr>
      </p:pic>
      <p:sp>
        <p:nvSpPr>
          <p:cNvPr id="558" name="T"/>
          <p:cNvSpPr txBox="1"/>
          <p:nvPr/>
        </p:nvSpPr>
        <p:spPr>
          <a:xfrm>
            <a:off x="9254642" y="4498848"/>
            <a:ext cx="958778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5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156</a:t>
            </a:r>
            <a:endParaRPr lang="id-ID" sz="950"/>
          </a:p>
        </p:txBody>
      </p:sp>
      <p:sp>
        <p:nvSpPr>
          <p:cNvPr id="559" name="T"/>
          <p:cNvSpPr txBox="1"/>
          <p:nvPr/>
        </p:nvSpPr>
        <p:spPr>
          <a:xfrm>
            <a:off x="9099194" y="4663440"/>
            <a:ext cx="1098778" cy="1188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 meninggal</a:t>
            </a:r>
            <a:endParaRPr lang="id-ID" sz="620"/>
          </a:p>
        </p:txBody>
      </p:sp>
      <p:sp>
        <p:nvSpPr>
          <p:cNvPr id="560" name="K"/>
          <p:cNvSpPr/>
          <p:nvPr/>
        </p:nvSpPr>
        <p:spPr>
          <a:xfrm>
            <a:off x="10279684" y="4480560"/>
            <a:ext cx="1198778" cy="32004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61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343692" y="4526280"/>
            <a:ext cx="118872" cy="118872"/>
          </a:xfrm>
          <a:prstGeom prst="rect">
            <a:avLst/>
          </a:prstGeom>
        </p:spPr>
      </p:pic>
      <p:sp>
        <p:nvSpPr>
          <p:cNvPr id="562" name="T"/>
          <p:cNvSpPr txBox="1"/>
          <p:nvPr/>
        </p:nvSpPr>
        <p:spPr>
          <a:xfrm>
            <a:off x="10499140" y="4498848"/>
            <a:ext cx="958778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5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118.834</a:t>
            </a:r>
            <a:endParaRPr lang="id-ID" sz="950"/>
          </a:p>
        </p:txBody>
      </p:sp>
      <p:sp>
        <p:nvSpPr>
          <p:cNvPr id="563" name="T"/>
          <p:cNvSpPr txBox="1"/>
          <p:nvPr/>
        </p:nvSpPr>
        <p:spPr>
          <a:xfrm>
            <a:off x="10343692" y="4663440"/>
            <a:ext cx="1098778" cy="1188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6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rumah rusak</a:t>
            </a:r>
            <a:endParaRPr lang="id-ID" sz="620"/>
          </a:p>
        </p:txBody>
      </p:sp>
      <p:sp>
        <p:nvSpPr>
          <p:cNvPr id="564" name="K"/>
          <p:cNvSpPr/>
          <p:nvPr/>
        </p:nvSpPr>
        <p:spPr>
          <a:xfrm>
            <a:off x="7571232" y="4882896"/>
            <a:ext cx="3907231" cy="182880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565" name="K"/>
          <p:cNvSpPr/>
          <p:nvPr/>
        </p:nvSpPr>
        <p:spPr>
          <a:xfrm>
            <a:off x="7616952" y="4901184"/>
            <a:ext cx="146304" cy="146304"/>
          </a:xfrm>
          <a:prstGeom prst="ellipse">
            <a:avLst/>
          </a:prstGeom>
          <a:solidFill>
            <a:srgbClr val="A23B2A"/>
          </a:solidFill>
          <a:ln>
            <a:noFill/>
          </a:ln>
        </p:spPr>
      </p:sp>
      <p:pic>
        <p:nvPicPr>
          <p:cNvPr id="566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7644384" y="4928616"/>
            <a:ext cx="91440" cy="91440"/>
          </a:xfrm>
          <a:prstGeom prst="rect">
            <a:avLst/>
          </a:prstGeom>
        </p:spPr>
      </p:pic>
      <p:sp>
        <p:nvSpPr>
          <p:cNvPr id="569" name="T"/>
          <p:cNvSpPr txBox="1"/>
          <p:nvPr/>
        </p:nvSpPr>
        <p:spPr>
          <a:xfrm>
            <a:off x="7808976" y="4882896"/>
            <a:ext cx="160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Kebakaran TPA</a:t>
            </a:r>
            <a:endParaRPr lang="id-ID" sz="820"/>
          </a:p>
        </p:txBody>
      </p:sp>
      <p:sp>
        <p:nvSpPr>
          <p:cNvPr id="567" name="K"/>
          <p:cNvSpPr/>
          <p:nvPr/>
        </p:nvSpPr>
        <p:spPr>
          <a:xfrm>
            <a:off x="8703232" y="4910328"/>
            <a:ext cx="479600" cy="128016"/>
          </a:xfrm>
          <a:prstGeom prst="roundRect">
            <a:avLst>
              <a:gd name="adj" fmla="val 50000"/>
            </a:avLst>
          </a:prstGeom>
          <a:solidFill>
            <a:srgbClr val="F5E1DD"/>
          </a:solidFill>
          <a:ln>
            <a:noFill/>
          </a:ln>
        </p:spPr>
      </p:sp>
      <p:sp>
        <p:nvSpPr>
          <p:cNvPr id="568" name="T"/>
          <p:cNvSpPr txBox="1"/>
          <p:nvPr/>
        </p:nvSpPr>
        <p:spPr>
          <a:xfrm>
            <a:off x="8703232" y="4910328"/>
            <a:ext cx="4796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580" b="1" dirty="0">
                <a:solidFill>
                  <a:srgbClr val="A23B2A"/>
                </a:solidFill>
                <a:latin typeface="Roboto"/>
                <a:ea typeface="Roboto"/>
                <a:cs typeface="Roboto"/>
              </a:rPr>
              <a:t>2 kejadian</a:t>
            </a:r>
            <a:endParaRPr lang="id-ID" sz="580"/>
          </a:p>
        </p:txBody>
      </p:sp>
      <p:sp>
        <p:nvSpPr>
          <p:cNvPr id="570" name="K"/>
          <p:cNvSpPr/>
          <p:nvPr/>
        </p:nvSpPr>
        <p:spPr>
          <a:xfrm>
            <a:off x="7589520" y="5102352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71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5128686"/>
            <a:ext cx="93634" cy="93634"/>
          </a:xfrm>
          <a:prstGeom prst="rect">
            <a:avLst/>
          </a:prstGeom>
        </p:spPr>
      </p:pic>
      <p:sp>
        <p:nvSpPr>
          <p:cNvPr id="572" name="T"/>
          <p:cNvSpPr txBox="1"/>
          <p:nvPr/>
        </p:nvSpPr>
        <p:spPr>
          <a:xfrm>
            <a:off x="7790688" y="5084064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Timur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TPA Supit Urang</a:t>
            </a:r>
            <a:endParaRPr lang="id-ID" sz="760"/>
          </a:p>
        </p:txBody>
      </p:sp>
      <p:sp>
        <p:nvSpPr>
          <p:cNvPr id="573" name="K"/>
          <p:cNvSpPr/>
          <p:nvPr/>
        </p:nvSpPr>
        <p:spPr>
          <a:xfrm>
            <a:off x="10634042" y="5093208"/>
            <a:ext cx="826132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74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691649" y="5126126"/>
            <a:ext cx="98755" cy="98755"/>
          </a:xfrm>
          <a:prstGeom prst="rect">
            <a:avLst/>
          </a:prstGeom>
        </p:spPr>
      </p:pic>
      <p:sp>
        <p:nvSpPr>
          <p:cNvPr id="575" name="T"/>
          <p:cNvSpPr txBox="1"/>
          <p:nvPr/>
        </p:nvSpPr>
        <p:spPr>
          <a:xfrm>
            <a:off x="10790404" y="5093208"/>
            <a:ext cx="669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masih pemadaman</a:t>
            </a:r>
            <a:endParaRPr lang="id-ID" sz="600"/>
          </a:p>
        </p:txBody>
      </p:sp>
      <p:sp>
        <p:nvSpPr>
          <p:cNvPr id="576" name="K"/>
          <p:cNvSpPr/>
          <p:nvPr/>
        </p:nvSpPr>
        <p:spPr>
          <a:xfrm>
            <a:off x="10217066" y="5093208"/>
            <a:ext cx="380400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sp>
        <p:nvSpPr>
          <p:cNvPr id="577" name="T"/>
          <p:cNvSpPr txBox="1"/>
          <p:nvPr/>
        </p:nvSpPr>
        <p:spPr>
          <a:xfrm>
            <a:off x="10217066" y="5093208"/>
            <a:ext cx="3804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14 ha</a:t>
            </a:r>
            <a:endParaRPr lang="id-ID" sz="600"/>
          </a:p>
        </p:txBody>
      </p:sp>
      <p:sp>
        <p:nvSpPr>
          <p:cNvPr id="578" name="K"/>
          <p:cNvSpPr/>
          <p:nvPr/>
        </p:nvSpPr>
        <p:spPr>
          <a:xfrm>
            <a:off x="7589520" y="5303520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79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5329854"/>
            <a:ext cx="93634" cy="93634"/>
          </a:xfrm>
          <a:prstGeom prst="rect">
            <a:avLst/>
          </a:prstGeom>
        </p:spPr>
      </p:pic>
      <p:sp>
        <p:nvSpPr>
          <p:cNvPr id="580" name="T"/>
          <p:cNvSpPr txBox="1"/>
          <p:nvPr/>
        </p:nvSpPr>
        <p:spPr>
          <a:xfrm>
            <a:off x="7790688" y="5285232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Barat Daya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TPA Malkon, Sorong</a:t>
            </a:r>
            <a:endParaRPr lang="id-ID" sz="760"/>
          </a:p>
        </p:txBody>
      </p:sp>
      <p:sp>
        <p:nvSpPr>
          <p:cNvPr id="581" name="K"/>
          <p:cNvSpPr/>
          <p:nvPr/>
        </p:nvSpPr>
        <p:spPr>
          <a:xfrm>
            <a:off x="10782842" y="5294376"/>
            <a:ext cx="677332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82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840449" y="5327294"/>
            <a:ext cx="98755" cy="98755"/>
          </a:xfrm>
          <a:prstGeom prst="rect">
            <a:avLst/>
          </a:prstGeom>
        </p:spPr>
      </p:pic>
      <p:sp>
        <p:nvSpPr>
          <p:cNvPr id="583" name="T"/>
          <p:cNvSpPr txBox="1"/>
          <p:nvPr/>
        </p:nvSpPr>
        <p:spPr>
          <a:xfrm>
            <a:off x="10939204" y="5294376"/>
            <a:ext cx="5209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 ± 3 ha</a:t>
            </a:r>
            <a:endParaRPr lang="id-ID" sz="600"/>
          </a:p>
        </p:txBody>
      </p:sp>
      <p:sp>
        <p:nvSpPr>
          <p:cNvPr id="584" name="K"/>
          <p:cNvSpPr/>
          <p:nvPr/>
        </p:nvSpPr>
        <p:spPr>
          <a:xfrm>
            <a:off x="10403066" y="5294376"/>
            <a:ext cx="343200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sp>
        <p:nvSpPr>
          <p:cNvPr id="585" name="T"/>
          <p:cNvSpPr txBox="1"/>
          <p:nvPr/>
        </p:nvSpPr>
        <p:spPr>
          <a:xfrm>
            <a:off x="10403066" y="5294376"/>
            <a:ext cx="3432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7 ha</a:t>
            </a:r>
            <a:endParaRPr lang="id-ID" sz="600"/>
          </a:p>
        </p:txBody>
      </p:sp>
      <p:sp>
        <p:nvSpPr>
          <p:cNvPr id="586" name="K"/>
          <p:cNvSpPr/>
          <p:nvPr/>
        </p:nvSpPr>
        <p:spPr>
          <a:xfrm>
            <a:off x="7571232" y="5541264"/>
            <a:ext cx="3907231" cy="182880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587" name="K"/>
          <p:cNvSpPr/>
          <p:nvPr/>
        </p:nvSpPr>
        <p:spPr>
          <a:xfrm>
            <a:off x="7616952" y="5559552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588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7644384" y="5586984"/>
            <a:ext cx="91440" cy="91440"/>
          </a:xfrm>
          <a:prstGeom prst="rect">
            <a:avLst/>
          </a:prstGeom>
        </p:spPr>
      </p:pic>
      <p:sp>
        <p:nvSpPr>
          <p:cNvPr id="591" name="T"/>
          <p:cNvSpPr txBox="1"/>
          <p:nvPr/>
        </p:nvSpPr>
        <p:spPr>
          <a:xfrm>
            <a:off x="7808976" y="5541264"/>
            <a:ext cx="160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Banjir</a:t>
            </a:r>
            <a:endParaRPr lang="id-ID" sz="820"/>
          </a:p>
        </p:txBody>
      </p:sp>
      <p:sp>
        <p:nvSpPr>
          <p:cNvPr id="589" name="K"/>
          <p:cNvSpPr/>
          <p:nvPr/>
        </p:nvSpPr>
        <p:spPr>
          <a:xfrm>
            <a:off x="8255232" y="5568696"/>
            <a:ext cx="479600" cy="12801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>
            <a:noFill/>
          </a:ln>
        </p:spPr>
      </p:sp>
      <p:sp>
        <p:nvSpPr>
          <p:cNvPr id="590" name="T"/>
          <p:cNvSpPr txBox="1"/>
          <p:nvPr/>
        </p:nvSpPr>
        <p:spPr>
          <a:xfrm>
            <a:off x="8255232" y="5568696"/>
            <a:ext cx="4796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580" b="1" dirty="0">
                <a:solidFill>
                  <a:srgbClr val="2F6FB5"/>
                </a:solidFill>
                <a:latin typeface="Roboto"/>
                <a:ea typeface="Roboto"/>
                <a:cs typeface="Roboto"/>
              </a:rPr>
              <a:t>1 kejadian</a:t>
            </a:r>
            <a:endParaRPr lang="id-ID" sz="580"/>
          </a:p>
        </p:txBody>
      </p:sp>
      <p:sp>
        <p:nvSpPr>
          <p:cNvPr id="592" name="K"/>
          <p:cNvSpPr/>
          <p:nvPr/>
        </p:nvSpPr>
        <p:spPr>
          <a:xfrm>
            <a:off x="7589520" y="5760720"/>
            <a:ext cx="146304" cy="14630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593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615854" y="5787054"/>
            <a:ext cx="93634" cy="93634"/>
          </a:xfrm>
          <a:prstGeom prst="rect">
            <a:avLst/>
          </a:prstGeom>
        </p:spPr>
      </p:pic>
      <p:sp>
        <p:nvSpPr>
          <p:cNvPr id="594" name="T"/>
          <p:cNvSpPr txBox="1"/>
          <p:nvPr/>
        </p:nvSpPr>
        <p:spPr>
          <a:xfrm>
            <a:off x="7790688" y="5742432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Utara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Simalungun</a:t>
            </a:r>
            <a:endParaRPr lang="id-ID" sz="760"/>
          </a:p>
        </p:txBody>
      </p:sp>
      <p:sp>
        <p:nvSpPr>
          <p:cNvPr id="595" name="K"/>
          <p:cNvSpPr/>
          <p:nvPr/>
        </p:nvSpPr>
        <p:spPr>
          <a:xfrm>
            <a:off x="11154175" y="5751576"/>
            <a:ext cx="30600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sp>
        <p:nvSpPr>
          <p:cNvPr id="596" name="T"/>
          <p:cNvSpPr txBox="1"/>
          <p:nvPr/>
        </p:nvSpPr>
        <p:spPr>
          <a:xfrm>
            <a:off x="11154175" y="5751576"/>
            <a:ext cx="306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surut</a:t>
            </a:r>
            <a:endParaRPr lang="id-ID" sz="600"/>
          </a:p>
        </p:txBody>
      </p:sp>
      <p:sp>
        <p:nvSpPr>
          <p:cNvPr id="597" name="K"/>
          <p:cNvSpPr/>
          <p:nvPr/>
        </p:nvSpPr>
        <p:spPr>
          <a:xfrm>
            <a:off x="10514666" y="5751576"/>
            <a:ext cx="6029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98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572273" y="5784494"/>
            <a:ext cx="98755" cy="98755"/>
          </a:xfrm>
          <a:prstGeom prst="rect">
            <a:avLst/>
          </a:prstGeom>
        </p:spPr>
      </p:pic>
      <p:sp>
        <p:nvSpPr>
          <p:cNvPr id="599" name="T"/>
          <p:cNvSpPr txBox="1"/>
          <p:nvPr/>
        </p:nvSpPr>
        <p:spPr>
          <a:xfrm>
            <a:off x="10671028" y="5751576"/>
            <a:ext cx="4465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±90 rumah</a:t>
            </a:r>
            <a:endParaRPr lang="id-ID" sz="600"/>
          </a:p>
        </p:txBody>
      </p:sp>
      <p:sp>
        <p:nvSpPr>
          <p:cNvPr id="600" name="K"/>
          <p:cNvSpPr/>
          <p:nvPr/>
        </p:nvSpPr>
        <p:spPr>
          <a:xfrm>
            <a:off x="9949557" y="5751576"/>
            <a:ext cx="5285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601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10007164" y="5784494"/>
            <a:ext cx="98755" cy="98755"/>
          </a:xfrm>
          <a:prstGeom prst="rect">
            <a:avLst/>
          </a:prstGeom>
        </p:spPr>
      </p:pic>
      <p:sp>
        <p:nvSpPr>
          <p:cNvPr id="602" name="T"/>
          <p:cNvSpPr txBox="1"/>
          <p:nvPr/>
        </p:nvSpPr>
        <p:spPr>
          <a:xfrm>
            <a:off x="10105919" y="5751576"/>
            <a:ext cx="3721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6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±128 KK</a:t>
            </a:r>
            <a:endParaRPr lang="id-ID" sz="600"/>
          </a:p>
        </p:txBody>
      </p:sp>
      <p:sp>
        <p:nvSpPr>
          <p:cNvPr id="675" name="K"/>
          <p:cNvSpPr/>
          <p:nvPr/>
        </p:nvSpPr>
        <p:spPr>
          <a:xfrm>
            <a:off x="7406640" y="6080760"/>
            <a:ext cx="4236415" cy="27432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</p:spPr>
      </p:sp>
      <p:sp>
        <p:nvSpPr>
          <p:cNvPr id="676" name="T"/>
          <p:cNvSpPr txBox="1"/>
          <p:nvPr/>
        </p:nvSpPr>
        <p:spPr>
          <a:xfrm>
            <a:off x="7974025" y="608076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80" b="1" spc="10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KETERANGAN</a:t>
            </a:r>
            <a:endParaRPr lang="id-ID" sz="680"/>
          </a:p>
        </p:txBody>
      </p:sp>
      <p:sp>
        <p:nvSpPr>
          <p:cNvPr id="677" name="K"/>
          <p:cNvSpPr/>
          <p:nvPr/>
        </p:nvSpPr>
        <p:spPr>
          <a:xfrm>
            <a:off x="9117025" y="6140196"/>
            <a:ext cx="155448" cy="15544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678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9149029" y="6172200"/>
            <a:ext cx="91440" cy="91440"/>
          </a:xfrm>
          <a:prstGeom prst="rect">
            <a:avLst/>
          </a:prstGeom>
        </p:spPr>
      </p:pic>
      <p:sp>
        <p:nvSpPr>
          <p:cNvPr id="679" name="T"/>
          <p:cNvSpPr txBox="1"/>
          <p:nvPr/>
        </p:nvSpPr>
        <p:spPr>
          <a:xfrm>
            <a:off x="9327337" y="6080760"/>
            <a:ext cx="106436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selesai</a:t>
            </a:r>
            <a:endParaRPr lang="id-ID" sz="750"/>
          </a:p>
        </p:txBody>
      </p:sp>
      <p:sp>
        <p:nvSpPr>
          <p:cNvPr id="680" name="K"/>
          <p:cNvSpPr/>
          <p:nvPr/>
        </p:nvSpPr>
        <p:spPr>
          <a:xfrm>
            <a:off x="10011308" y="6140196"/>
            <a:ext cx="155448" cy="15544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81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10043312" y="6172200"/>
            <a:ext cx="91440" cy="91440"/>
          </a:xfrm>
          <a:prstGeom prst="rect">
            <a:avLst/>
          </a:prstGeom>
        </p:spPr>
      </p:pic>
      <p:sp>
        <p:nvSpPr>
          <p:cNvPr id="682" name="T"/>
          <p:cNvSpPr txBox="1"/>
          <p:nvPr/>
        </p:nvSpPr>
        <p:spPr>
          <a:xfrm>
            <a:off x="10221620" y="6080760"/>
            <a:ext cx="106436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dalam penanganan</a:t>
            </a:r>
            <a:endParaRPr lang="id-ID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Karhutla 6 Provinsi Prioritas</dc:title>
  <dc:subject>PptxGenJS Presentation</dc:subject>
  <dc:creator>BNPB</dc:creator>
  <cp:lastModifiedBy>BNPB</cp:lastModifiedBy>
  <cp:revision>1</cp:revision>
  <dcterms:created xsi:type="dcterms:W3CDTF">2026-10-22T07:37:45Z</dcterms:created>
  <dcterms:modified xsi:type="dcterms:W3CDTF">2026-10-22T07:37:45Z</dcterms:modified>
</cp:coreProperties>
</file>