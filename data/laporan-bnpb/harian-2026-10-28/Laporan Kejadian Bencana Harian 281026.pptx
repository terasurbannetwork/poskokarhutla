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UTIH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ELAP">
    <p:bg>
      <p:bgPr>
        <a:solidFill>
          <a:srgbClr val="05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image" Target="../media/image-2-1.png"/><Relationship Id="rId33" Type="http://schemas.openxmlformats.org/officeDocument/2006/relationships/slideLayout" Target="../slideLayouts/slideLayout2.xml"/><Relationship Id="rId34" Type="http://schemas.openxmlformats.org/officeDocument/2006/relationships/notesSlide" Target="../notesSlides/notesSlide2.xml"/><Relationship Id="rIdM1" Type="http://schemas.openxmlformats.org/officeDocument/2006/relationships/image" Target="../media/h-tpl-ppt-media-image-2-2.png"/><Relationship Id="rIdM2" Type="http://schemas.openxmlformats.org/officeDocument/2006/relationships/image" Target="../media/h-tpl-ppt-media-image-2-3.png"/><Relationship Id="rIdM3" Type="http://schemas.openxmlformats.org/officeDocument/2006/relationships/image" Target="../media/h-tpl-ppt-media-image-2-4.png"/><Relationship Id="rIdM4" Type="http://schemas.openxmlformats.org/officeDocument/2006/relationships/image" Target="../media/h-tpl-ppt-media-image-2-5.png"/><Relationship Id="rIdM5" Type="http://schemas.openxmlformats.org/officeDocument/2006/relationships/image" Target="../media/h-tpl-ppt-media-image-2-6.png"/><Relationship Id="rIdM6" Type="http://schemas.openxmlformats.org/officeDocument/2006/relationships/image" Target="../media/h-tpl-ppt-media-image-2-7.png"/><Relationship Id="rIdM7" Type="http://schemas.openxmlformats.org/officeDocument/2006/relationships/image" Target="../media/h-ik-awas-slate.png"/><Relationship Id="rIdM8" Type="http://schemas.openxmlformats.org/officeDocument/2006/relationships/image" Target="../media/h-ik-awas-merah.png"/><Relationship Id="rIdM9" Type="http://schemas.openxmlformats.org/officeDocument/2006/relationships/image" Target="../media/h-peta.png"/><Relationship Id="rIdM10" Type="http://schemas.openxmlformats.org/officeDocument/2006/relationships/image" Target="../media/h-tpl-ppt-media-image-2-10.png"/><Relationship Id="rIdM11" Type="http://schemas.openxmlformats.org/officeDocument/2006/relationships/image" Target="../media/h-tpl-ppt-media-image-2-11.png"/><Relationship Id="rIdM12" Type="http://schemas.openxmlformats.org/officeDocument/2006/relationships/image" Target="../media/h-tpl-ppt-media-image-2-12.png"/><Relationship Id="rIdM13" Type="http://schemas.openxmlformats.org/officeDocument/2006/relationships/image" Target="../media/h-tpl-ppt-media-image-2-13.png"/><Relationship Id="rIdM14" Type="http://schemas.openxmlformats.org/officeDocument/2006/relationships/image" Target="../media/h-tpl-ppt-media-image-2-32.png"/><Relationship Id="rIdM15" Type="http://schemas.openxmlformats.org/officeDocument/2006/relationships/image" Target="../media/h-tpl-ppt-media-image-3-37.png"/><Relationship Id="rIdM16" Type="http://schemas.openxmlformats.org/officeDocument/2006/relationships/image" Target="../media/h-ik-banjir-putih.png"/><Relationship Id="rIdM17" Type="http://schemas.openxmlformats.org/officeDocument/2006/relationships/image" Target="../media/h-ik-orang-slate.png"/><Relationship Id="rIdM18" Type="http://schemas.openxmlformats.org/officeDocument/2006/relationships/image" Target="../media/h-ik-api-putih.png"/><Relationship Id="rIdM19" Type="http://schemas.openxmlformats.org/officeDocument/2006/relationships/image" Target="../media/h-ik-api-merah.png"/><Relationship Id="rIdM20" Type="http://schemas.openxmlformats.org/officeDocument/2006/relationships/image" Target="../media/h-ik-gempa-putih.png"/><Relationship Id="rIdM21" Type="http://schemas.openxmlformats.org/officeDocument/2006/relationships/image" Target="../media/h-ik-angin-putih.png"/><Relationship Id="rIdM22" Type="http://schemas.openxmlformats.org/officeDocument/2006/relationships/image" Target="../media/h-tpl-ppt-media-image-2-30.png"/><Relationship Id="rIdM23" Type="http://schemas.openxmlformats.org/officeDocument/2006/relationships/image" Target="../media/h-tpl-ppt-media-image-2-31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image" Target="../media/image-3-1.png"/><Relationship Id="rId45" Type="http://schemas.openxmlformats.org/officeDocument/2006/relationships/slideLayout" Target="../slideLayouts/slideLayout2.xml"/><Relationship Id="rId46" Type="http://schemas.openxmlformats.org/officeDocument/2006/relationships/notesSlide" Target="../notesSlides/notesSlide3.xml"/><Relationship Id="rIdM1" Type="http://schemas.openxmlformats.org/officeDocument/2006/relationships/image" Target="../media/h-tpl-ppt-media-image-2-12.png"/><Relationship Id="rIdM2" Type="http://schemas.openxmlformats.org/officeDocument/2006/relationships/image" Target="../media/h-tpl-ppt-media-image-2-11.png"/><Relationship Id="rIdM3" Type="http://schemas.openxmlformats.org/officeDocument/2006/relationships/image" Target="../media/h-tpl-ppt-media-image-3-4.png"/><Relationship Id="rIdM4" Type="http://schemas.openxmlformats.org/officeDocument/2006/relationships/image" Target="../media/h-tpl-ppt-media-image-2-13.png"/><Relationship Id="rIdM5" Type="http://schemas.openxmlformats.org/officeDocument/2006/relationships/image" Target="../media/h-tpl-ppt-media-image-2-10.png"/><Relationship Id="rIdM6" Type="http://schemas.openxmlformats.org/officeDocument/2006/relationships/image" Target="../media/h-ik-gempa-putih.png"/><Relationship Id="rIdM7" Type="http://schemas.openxmlformats.org/officeDocument/2006/relationships/image" Target="../media/h-ik-gempa-slate.png"/><Relationship Id="rIdM8" Type="http://schemas.openxmlformats.org/officeDocument/2006/relationships/image" Target="../media/h-ik-kalender-oranye.png"/><Relationship Id="rIdM9" Type="http://schemas.openxmlformats.org/officeDocument/2006/relationships/image" Target="../media/h-ik-tenda-slate.png"/><Relationship Id="rIdM10" Type="http://schemas.openxmlformats.org/officeDocument/2006/relationships/image" Target="../media/h-ik-hati-merah.png"/><Relationship Id="rIdM11" Type="http://schemas.openxmlformats.org/officeDocument/2006/relationships/image" Target="../media/h-ik-orang-slate.png"/><Relationship Id="rIdM12" Type="http://schemas.openxmlformats.org/officeDocument/2006/relationships/image" Target="../media/h-ik-api-putih.png"/><Relationship Id="rIdM13" Type="http://schemas.openxmlformats.org/officeDocument/2006/relationships/image" Target="../media/h-ik-api-merah.png"/><Relationship Id="rIdM14" Type="http://schemas.openxmlformats.org/officeDocument/2006/relationships/image" Target="../media/h-ik-api-oranye.png"/><Relationship Id="rIdM15" Type="http://schemas.openxmlformats.org/officeDocument/2006/relationships/image" Target="../media/h-ik-sampah-slate.png"/><Relationship Id="rIdM16" Type="http://schemas.openxmlformats.org/officeDocument/2006/relationships/image" Target="../media/h-ik-banjir-putih.png"/><Relationship Id="rIdM17" Type="http://schemas.openxmlformats.org/officeDocument/2006/relationships/image" Target="../media/h-ik-banjir-navy.png"/><Relationship Id="rIdM18" Type="http://schemas.openxmlformats.org/officeDocument/2006/relationships/image" Target="../media/h-ik-rumah-slate.png"/><Relationship Id="rIdM19" Type="http://schemas.openxmlformats.org/officeDocument/2006/relationships/image" Target="../media/h-ik-angin-putih.png"/><Relationship Id="rIdM20" Type="http://schemas.openxmlformats.org/officeDocument/2006/relationships/image" Target="../media/h-ik-angin-slate.png"/><Relationship Id="rIdM21" Type="http://schemas.openxmlformats.org/officeDocument/2006/relationships/image" Target="../media/h-ik-awas-oranye.png"/><Relationship Id="rIdM22" Type="http://schemas.openxmlformats.org/officeDocument/2006/relationships/image" Target="../media/h-tpl-ppt-media-image-3-34.png"/><Relationship Id="rIdM23" Type="http://schemas.openxmlformats.org/officeDocument/2006/relationships/image" Target="../media/h-tpl-ppt-media-image-3-38.png"/><Relationship Id="rIdM24" Type="http://schemas.openxmlformats.org/officeDocument/2006/relationships/image" Target="../media/h-ik-truk-kering.png"/><Relationship Id="rIdM25" Type="http://schemas.openxmlformats.org/officeDocument/2006/relationships/image" Target="../media/h-ik-awas-putih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0"/>
            <a:ext cx="588233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457200"/>
            <a:ext cx="1005840" cy="1005840"/>
          </a:xfrm>
          <a:prstGeom prst="ellipse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143" y="618134"/>
            <a:ext cx="542834" cy="683971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28455" y="457200"/>
            <a:ext cx="25146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000000">
                <a:alpha val="20000"/>
              </a:srgbClr>
            </a:outerShdw>
          </a:effectLst>
        </p:spPr>
      </p:sp>
      <p:pic>
        <p:nvPicPr>
          <p:cNvPr id="6" name="Image 2" descr="img/berakhla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65615" y="530352"/>
            <a:ext cx="2240280" cy="852561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178308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Laporan Kejadian Bencana Harian</a:t>
            </a:r>
            <a:endParaRPr lang="en-US" sz="3400" dirty="0"/>
          </a:p>
        </p:txBody>
      </p:sp>
      <p:sp>
        <p:nvSpPr>
          <p:cNvPr id="8" name="Text 3"/>
          <p:cNvSpPr txBox="1"/>
          <p:nvPr/>
        </p:nvSpPr>
        <p:spPr>
          <a:xfrm>
            <a:off x="548640" y="3017520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499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Badan Nasional Penanggulangan Bencana</a:t>
            </a:r>
            <a:endParaRPr lang="en-US" sz="1600" dirty="0"/>
          </a:p>
        </p:txBody>
      </p:sp>
      <p:sp>
        <p:nvSpPr>
          <p:cNvPr id="9" name="Shape 4"/>
          <p:cNvSpPr/>
          <p:nvPr/>
        </p:nvSpPr>
        <p:spPr>
          <a:xfrm>
            <a:off x="548640" y="3493008"/>
            <a:ext cx="4206240" cy="384048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/>
        </p:spPr>
      </p:sp>
      <p:sp>
        <p:nvSpPr>
          <p:cNvPr id="10" name="Shape 5"/>
          <p:cNvSpPr/>
          <p:nvPr/>
        </p:nvSpPr>
        <p:spPr>
          <a:xfrm>
            <a:off x="612648" y="3547872"/>
            <a:ext cx="274320" cy="274320"/>
          </a:xfrm>
          <a:prstGeom prst="ellipse">
            <a:avLst/>
          </a:prstGeom>
          <a:solidFill>
            <a:srgbClr val="D9600B"/>
          </a:solidFill>
          <a:ln/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" y="3607308"/>
            <a:ext cx="155448" cy="155448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960120" y="349300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D9600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PERIODE   </a:t>
            </a:r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27 Okt 2026, 07.00  –  28 Okt 2026, 07.00 WIB</a:t>
            </a:r>
            <a:endParaRPr lang="en-US" sz="1200" dirty="0"/>
          </a:p>
        </p:txBody>
      </p:sp>
      <p:sp>
        <p:nvSpPr>
          <p:cNvPr id="13" name="Shape 7"/>
          <p:cNvSpPr/>
          <p:nvPr/>
        </p:nvSpPr>
        <p:spPr>
          <a:xfrm>
            <a:off x="548640" y="4206240"/>
            <a:ext cx="5120640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548640" y="431596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D9600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DISAMPAIKAN OLEH</a:t>
            </a:r>
            <a:endParaRPr lang="en-US" sz="900" dirty="0"/>
          </a:p>
        </p:txBody>
      </p:sp>
      <p:sp>
        <p:nvSpPr>
          <p:cNvPr id="15" name="Text 9"/>
          <p:cNvSpPr txBox="1"/>
          <p:nvPr/>
        </p:nvSpPr>
        <p:spPr>
          <a:xfrm>
            <a:off x="548640" y="452628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Letnan Jenderal TNI Kristomei Sianturi, S.Sos., M.Si., M.Si. (Han)</a:t>
            </a:r>
            <a:endParaRPr lang="en-US" sz="1400" dirty="0"/>
          </a:p>
        </p:txBody>
      </p:sp>
      <p:sp>
        <p:nvSpPr>
          <p:cNvPr id="16" name="Text 10"/>
          <p:cNvSpPr txBox="1"/>
          <p:nvPr/>
        </p:nvSpPr>
        <p:spPr>
          <a:xfrm>
            <a:off x="548640" y="4828032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Kepala Badan Nasional Penanggulangan Bencana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548640" y="5303520"/>
            <a:ext cx="2926080" cy="384048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/>
        </p:spPr>
      </p:sp>
      <p:sp>
        <p:nvSpPr>
          <p:cNvPr id="18" name="Text 12"/>
          <p:cNvSpPr txBox="1"/>
          <p:nvPr/>
        </p:nvSpPr>
        <p:spPr>
          <a:xfrm>
            <a:off x="548640" y="530352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Rabu, 28 Oktober 2026</a:t>
            </a:r>
            <a:endParaRPr lang="en-US" sz="1100" dirty="0"/>
          </a:p>
        </p:txBody>
      </p:sp>
      <p:sp>
        <p:nvSpPr>
          <p:cNvPr id="19" name="Text 13"/>
          <p:cNvSpPr txBox="1"/>
          <p:nvPr/>
        </p:nvSpPr>
        <p:spPr>
          <a:xfrm>
            <a:off x="7985455" y="6565392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Foto: DenY Krisbiyantoro, CC BY-SA 4.0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48640" y="1207008"/>
            <a:ext cx="11094415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5583" y="365760"/>
            <a:ext cx="34747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651052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Badan Nasional Penanggulangan Bencana  |  Copyright 2026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10728655" y="651052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</a:t>
            </a:r>
            <a:endParaRPr lang="en-US" sz="850" dirty="0"/>
          </a:p>
        </p:txBody>
      </p:sp>
      <p:sp>
        <p:nvSpPr>
          <p:cNvPr id="569" name="T"/>
          <p:cNvSpPr txBox="1"/>
          <p:nvPr/>
        </p:nvSpPr>
        <p:spPr>
          <a:xfrm>
            <a:off x="548640" y="292608"/>
            <a:ext cx="10454335" cy="8229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buNone/>
            </a:pPr>
            <a:r>
              <a:rPr lang="id-ID" sz="20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Laporan 27–28 Oktober 2026: </a:t>
            </a:r>
            <a:r>
              <a:rPr lang="id-ID" sz="20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27</a:t>
            </a:r>
            <a:r>
              <a:rPr lang="id-ID" sz="20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 kejadian menonjol di </a:t>
            </a:r>
            <a:r>
              <a:rPr lang="id-ID" sz="20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18 provinsi</a:t>
            </a:r>
            <a:r>
              <a:rPr lang="id-ID" sz="20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, terdiri atas </a:t>
            </a:r>
            <a:r>
              <a:rPr lang="id-ID" sz="20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13</a:t>
            </a:r>
            <a:r>
              <a:rPr lang="id-ID" sz="20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 karhutla, </a:t>
            </a:r>
            <a:r>
              <a:rPr lang="id-ID" sz="20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7</a:t>
            </a:r>
            <a:r>
              <a:rPr lang="id-ID" sz="20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 kekeringan, dan </a:t>
            </a:r>
            <a:r>
              <a:rPr lang="id-ID" sz="20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7</a:t>
            </a:r>
            <a:r>
              <a:rPr lang="id-ID" sz="20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 bencana lainnya</a:t>
            </a:r>
            <a:endParaRPr lang="id-ID" sz="2000"/>
          </a:p>
        </p:txBody>
      </p:sp>
      <p:sp>
        <p:nvSpPr>
          <p:cNvPr id="301" name="K"/>
          <p:cNvSpPr/>
          <p:nvPr/>
        </p:nvSpPr>
        <p:spPr>
          <a:xfrm>
            <a:off x="548640" y="1280160"/>
            <a:ext cx="8579267" cy="932688"/>
          </a:xfrm>
          <a:prstGeom prst="roundRect">
            <a:avLst>
              <a:gd name="adj" fmla="val 7843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302" name="K"/>
          <p:cNvSpPr/>
          <p:nvPr/>
        </p:nvSpPr>
        <p:spPr>
          <a:xfrm>
            <a:off x="658368" y="1335024"/>
            <a:ext cx="1525219" cy="18288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</p:sp>
      <p:pic>
        <p:nvPicPr>
          <p:cNvPr id="303" name="G"/>
          <p:cNvPicPr>
            <a:picLocks noChangeAspect="1"/>
          </p:cNvPicPr>
          <p:nvPr/>
        </p:nvPicPr>
        <p:blipFill>
          <a:blip r:embed="rIdM1"/>
          <a:stretch>
            <a:fillRect/>
          </a:stretch>
        </p:blipFill>
        <p:spPr>
          <a:xfrm>
            <a:off x="731520" y="1371600"/>
            <a:ext cx="109728" cy="109728"/>
          </a:xfrm>
          <a:prstGeom prst="rect">
            <a:avLst/>
          </a:prstGeom>
        </p:spPr>
      </p:pic>
      <p:sp>
        <p:nvSpPr>
          <p:cNvPr id="304" name="T"/>
          <p:cNvSpPr txBox="1"/>
          <p:nvPr/>
        </p:nvSpPr>
        <p:spPr>
          <a:xfrm>
            <a:off x="896112" y="1335024"/>
            <a:ext cx="1265219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00" b="1" spc="100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KEJADIAN BENCANA</a:t>
            </a:r>
            <a:endParaRPr lang="id-ID" sz="660"/>
          </a:p>
        </p:txBody>
      </p:sp>
      <p:sp>
        <p:nvSpPr>
          <p:cNvPr id="305" name="K"/>
          <p:cNvSpPr/>
          <p:nvPr/>
        </p:nvSpPr>
        <p:spPr>
          <a:xfrm>
            <a:off x="9402227" y="1280160"/>
            <a:ext cx="2240829" cy="932688"/>
          </a:xfrm>
          <a:prstGeom prst="roundRect">
            <a:avLst>
              <a:gd name="adj" fmla="val 7843"/>
            </a:avLst>
          </a:prstGeom>
          <a:solidFill>
            <a:srgbClr val="FCF1F2"/>
          </a:solidFill>
          <a:ln>
            <a:noFill/>
          </a:ln>
        </p:spPr>
      </p:sp>
      <p:sp>
        <p:nvSpPr>
          <p:cNvPr id="306" name="K"/>
          <p:cNvSpPr/>
          <p:nvPr/>
        </p:nvSpPr>
        <p:spPr>
          <a:xfrm>
            <a:off x="9511955" y="1335024"/>
            <a:ext cx="1453896" cy="182880"/>
          </a:xfrm>
          <a:prstGeom prst="roundRect">
            <a:avLst>
              <a:gd name="adj" fmla="val 50000"/>
            </a:avLst>
          </a:prstGeom>
          <a:solidFill>
            <a:srgbClr val="C8102E"/>
          </a:solidFill>
          <a:ln>
            <a:noFill/>
          </a:ln>
        </p:spPr>
      </p:sp>
      <p:pic>
        <p:nvPicPr>
          <p:cNvPr id="307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9585107" y="1371600"/>
            <a:ext cx="109728" cy="109728"/>
          </a:xfrm>
          <a:prstGeom prst="rect">
            <a:avLst/>
          </a:prstGeom>
        </p:spPr>
      </p:pic>
      <p:sp>
        <p:nvSpPr>
          <p:cNvPr id="308" name="T"/>
          <p:cNvSpPr txBox="1"/>
          <p:nvPr/>
        </p:nvSpPr>
        <p:spPr>
          <a:xfrm>
            <a:off x="9749699" y="1335024"/>
            <a:ext cx="1193896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00" b="1" spc="100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PERLU PERHATIAN</a:t>
            </a:r>
            <a:endParaRPr lang="id-ID" sz="660"/>
          </a:p>
        </p:txBody>
      </p:sp>
      <p:sp>
        <p:nvSpPr>
          <p:cNvPr id="309" name="K"/>
          <p:cNvSpPr/>
          <p:nvPr/>
        </p:nvSpPr>
        <p:spPr>
          <a:xfrm>
            <a:off x="658368" y="1591056"/>
            <a:ext cx="159881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</p:spPr>
      </p:sp>
      <p:sp>
        <p:nvSpPr>
          <p:cNvPr id="310" name="K"/>
          <p:cNvSpPr/>
          <p:nvPr/>
        </p:nvSpPr>
        <p:spPr>
          <a:xfrm>
            <a:off x="768096" y="1682496"/>
            <a:ext cx="329184" cy="329184"/>
          </a:xfrm>
          <a:prstGeom prst="ellipse">
            <a:avLst/>
          </a:prstGeom>
          <a:solidFill>
            <a:srgbClr val="E6EAF0"/>
          </a:solidFill>
          <a:ln>
            <a:noFill/>
          </a:ln>
        </p:spPr>
      </p:sp>
      <p:pic>
        <p:nvPicPr>
          <p:cNvPr id="311" name="G"/>
          <p:cNvPicPr>
            <a:picLocks noChangeAspect="1"/>
          </p:cNvPicPr>
          <p:nvPr/>
        </p:nvPicPr>
        <p:blipFill>
          <a:blip r:embed="rIdM3"/>
          <a:stretch>
            <a:fillRect/>
          </a:stretch>
        </p:blipFill>
        <p:spPr>
          <a:xfrm>
            <a:off x="841248" y="1755648"/>
            <a:ext cx="182880" cy="182880"/>
          </a:xfrm>
          <a:prstGeom prst="rect">
            <a:avLst/>
          </a:prstGeom>
        </p:spPr>
      </p:pic>
      <p:sp>
        <p:nvSpPr>
          <p:cNvPr id="312" name="T"/>
          <p:cNvSpPr txBox="1"/>
          <p:nvPr/>
        </p:nvSpPr>
        <p:spPr>
          <a:xfrm>
            <a:off x="1170432" y="1627632"/>
            <a:ext cx="105017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700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26</a:t>
            </a:r>
            <a:endParaRPr lang="id-ID" sz="1700"/>
          </a:p>
        </p:txBody>
      </p:sp>
      <p:sp>
        <p:nvSpPr>
          <p:cNvPr id="313" name="T"/>
          <p:cNvSpPr txBox="1"/>
          <p:nvPr/>
        </p:nvSpPr>
        <p:spPr>
          <a:xfrm>
            <a:off x="1170432" y="1892808"/>
            <a:ext cx="1050170" cy="1554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5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laporan kejadian</a:t>
            </a:r>
            <a:endParaRPr lang="id-ID" sz="750"/>
          </a:p>
        </p:txBody>
      </p:sp>
      <p:sp>
        <p:nvSpPr>
          <p:cNvPr id="314" name="K"/>
          <p:cNvSpPr/>
          <p:nvPr/>
        </p:nvSpPr>
        <p:spPr>
          <a:xfrm>
            <a:off x="2348618" y="1591056"/>
            <a:ext cx="159881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</p:spPr>
      </p:sp>
      <p:sp>
        <p:nvSpPr>
          <p:cNvPr id="315" name="K"/>
          <p:cNvSpPr/>
          <p:nvPr/>
        </p:nvSpPr>
        <p:spPr>
          <a:xfrm>
            <a:off x="2458346" y="1682496"/>
            <a:ext cx="329184" cy="329184"/>
          </a:xfrm>
          <a:prstGeom prst="ellipse">
            <a:avLst/>
          </a:prstGeom>
          <a:solidFill>
            <a:srgbClr val="E6EAF0"/>
          </a:solidFill>
          <a:ln>
            <a:noFill/>
          </a:ln>
        </p:spPr>
      </p:sp>
      <p:pic>
        <p:nvPicPr>
          <p:cNvPr id="316" name="G"/>
          <p:cNvPicPr>
            <a:picLocks noChangeAspect="1"/>
          </p:cNvPicPr>
          <p:nvPr/>
        </p:nvPicPr>
        <p:blipFill>
          <a:blip r:embed="rIdM4"/>
          <a:stretch>
            <a:fillRect/>
          </a:stretch>
        </p:blipFill>
        <p:spPr>
          <a:xfrm>
            <a:off x="2531498" y="1755648"/>
            <a:ext cx="182880" cy="182880"/>
          </a:xfrm>
          <a:prstGeom prst="rect">
            <a:avLst/>
          </a:prstGeom>
        </p:spPr>
      </p:pic>
      <p:sp>
        <p:nvSpPr>
          <p:cNvPr id="317" name="T"/>
          <p:cNvSpPr txBox="1"/>
          <p:nvPr/>
        </p:nvSpPr>
        <p:spPr>
          <a:xfrm>
            <a:off x="2860682" y="1627632"/>
            <a:ext cx="105017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700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27</a:t>
            </a:r>
            <a:endParaRPr lang="id-ID" sz="1700"/>
          </a:p>
        </p:txBody>
      </p:sp>
      <p:sp>
        <p:nvSpPr>
          <p:cNvPr id="318" name="T"/>
          <p:cNvSpPr txBox="1"/>
          <p:nvPr/>
        </p:nvSpPr>
        <p:spPr>
          <a:xfrm>
            <a:off x="2860682" y="1892808"/>
            <a:ext cx="1050170" cy="1554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5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kejadian menonjol</a:t>
            </a:r>
            <a:endParaRPr lang="id-ID" sz="750"/>
          </a:p>
        </p:txBody>
      </p:sp>
      <p:sp>
        <p:nvSpPr>
          <p:cNvPr id="319" name="K"/>
          <p:cNvSpPr/>
          <p:nvPr/>
        </p:nvSpPr>
        <p:spPr>
          <a:xfrm>
            <a:off x="4038868" y="1591056"/>
            <a:ext cx="159881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</p:spPr>
      </p:sp>
      <p:sp>
        <p:nvSpPr>
          <p:cNvPr id="320" name="K"/>
          <p:cNvSpPr/>
          <p:nvPr/>
        </p:nvSpPr>
        <p:spPr>
          <a:xfrm>
            <a:off x="4148596" y="1682496"/>
            <a:ext cx="329184" cy="329184"/>
          </a:xfrm>
          <a:prstGeom prst="ellipse">
            <a:avLst/>
          </a:prstGeom>
          <a:solidFill>
            <a:srgbClr val="FBE7D6"/>
          </a:solidFill>
          <a:ln>
            <a:noFill/>
          </a:ln>
        </p:spPr>
      </p:sp>
      <p:pic>
        <p:nvPicPr>
          <p:cNvPr id="321" name="G"/>
          <p:cNvPicPr>
            <a:picLocks noChangeAspect="1"/>
          </p:cNvPicPr>
          <p:nvPr/>
        </p:nvPicPr>
        <p:blipFill>
          <a:blip r:embed="rIdM5"/>
          <a:stretch>
            <a:fillRect/>
          </a:stretch>
        </p:blipFill>
        <p:spPr>
          <a:xfrm>
            <a:off x="4221748" y="1755648"/>
            <a:ext cx="182880" cy="182880"/>
          </a:xfrm>
          <a:prstGeom prst="rect">
            <a:avLst/>
          </a:prstGeom>
        </p:spPr>
      </p:pic>
      <p:sp>
        <p:nvSpPr>
          <p:cNvPr id="322" name="T"/>
          <p:cNvSpPr txBox="1"/>
          <p:nvPr/>
        </p:nvSpPr>
        <p:spPr>
          <a:xfrm>
            <a:off x="4550932" y="1627632"/>
            <a:ext cx="105017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7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13</a:t>
            </a:r>
            <a:endParaRPr lang="id-ID" sz="1700"/>
          </a:p>
        </p:txBody>
      </p:sp>
      <p:sp>
        <p:nvSpPr>
          <p:cNvPr id="323" name="T"/>
          <p:cNvSpPr txBox="1"/>
          <p:nvPr/>
        </p:nvSpPr>
        <p:spPr>
          <a:xfrm>
            <a:off x="4550932" y="1892808"/>
            <a:ext cx="1050170" cy="1554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5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karhutla</a:t>
            </a:r>
            <a:endParaRPr lang="id-ID" sz="750"/>
          </a:p>
        </p:txBody>
      </p:sp>
      <p:sp>
        <p:nvSpPr>
          <p:cNvPr id="324" name="K"/>
          <p:cNvSpPr/>
          <p:nvPr/>
        </p:nvSpPr>
        <p:spPr>
          <a:xfrm>
            <a:off x="5729118" y="1591056"/>
            <a:ext cx="159881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</p:spPr>
      </p:sp>
      <p:sp>
        <p:nvSpPr>
          <p:cNvPr id="325" name="K"/>
          <p:cNvSpPr/>
          <p:nvPr/>
        </p:nvSpPr>
        <p:spPr>
          <a:xfrm>
            <a:off x="5838846" y="1682496"/>
            <a:ext cx="329184" cy="329184"/>
          </a:xfrm>
          <a:prstGeom prst="ellipse">
            <a:avLst/>
          </a:prstGeom>
          <a:solidFill>
            <a:srgbClr val="F4ECDC"/>
          </a:solidFill>
          <a:ln>
            <a:noFill/>
          </a:ln>
        </p:spPr>
      </p:sp>
      <p:pic>
        <p:nvPicPr>
          <p:cNvPr id="326" name="G"/>
          <p:cNvPicPr>
            <a:picLocks noChangeAspect="1"/>
          </p:cNvPicPr>
          <p:nvPr/>
        </p:nvPicPr>
        <p:blipFill>
          <a:blip r:embed="rIdM6"/>
          <a:stretch>
            <a:fillRect/>
          </a:stretch>
        </p:blipFill>
        <p:spPr>
          <a:xfrm>
            <a:off x="5911998" y="1755648"/>
            <a:ext cx="182880" cy="182880"/>
          </a:xfrm>
          <a:prstGeom prst="rect">
            <a:avLst/>
          </a:prstGeom>
        </p:spPr>
      </p:pic>
      <p:sp>
        <p:nvSpPr>
          <p:cNvPr id="327" name="T"/>
          <p:cNvSpPr txBox="1"/>
          <p:nvPr/>
        </p:nvSpPr>
        <p:spPr>
          <a:xfrm>
            <a:off x="6241182" y="1627632"/>
            <a:ext cx="105017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700" b="1" dirty="0">
                <a:solidFill>
                  <a:srgbClr val="B08A3E"/>
                </a:solidFill>
                <a:latin typeface="Roboto"/>
                <a:ea typeface="Roboto"/>
                <a:cs typeface="Roboto"/>
              </a:rPr>
              <a:t>7</a:t>
            </a:r>
            <a:endParaRPr lang="id-ID" sz="1700"/>
          </a:p>
        </p:txBody>
      </p:sp>
      <p:sp>
        <p:nvSpPr>
          <p:cNvPr id="328" name="T"/>
          <p:cNvSpPr txBox="1"/>
          <p:nvPr/>
        </p:nvSpPr>
        <p:spPr>
          <a:xfrm>
            <a:off x="6241182" y="1892808"/>
            <a:ext cx="1050170" cy="1554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5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kekeringan</a:t>
            </a:r>
            <a:endParaRPr lang="id-ID" sz="750"/>
          </a:p>
        </p:txBody>
      </p:sp>
      <p:sp>
        <p:nvSpPr>
          <p:cNvPr id="329" name="K"/>
          <p:cNvSpPr/>
          <p:nvPr/>
        </p:nvSpPr>
        <p:spPr>
          <a:xfrm>
            <a:off x="7419368" y="1591056"/>
            <a:ext cx="159881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</p:spPr>
      </p:sp>
      <p:sp>
        <p:nvSpPr>
          <p:cNvPr id="330" name="K"/>
          <p:cNvSpPr/>
          <p:nvPr/>
        </p:nvSpPr>
        <p:spPr>
          <a:xfrm>
            <a:off x="7529096" y="1682496"/>
            <a:ext cx="329184" cy="329184"/>
          </a:xfrm>
          <a:prstGeom prst="ellipse">
            <a:avLst/>
          </a:prstGeom>
          <a:solidFill>
            <a:srgbClr val="E3EAF1"/>
          </a:solidFill>
          <a:ln>
            <a:noFill/>
          </a:ln>
        </p:spPr>
      </p:sp>
      <p:pic>
        <p:nvPicPr>
          <p:cNvPr id="331" name="G"/>
          <p:cNvPicPr>
            <a:picLocks noChangeAspect="1"/>
          </p:cNvPicPr>
          <p:nvPr/>
        </p:nvPicPr>
        <p:blipFill>
          <a:blip r:embed="rIdM7"/>
          <a:stretch>
            <a:fillRect/>
          </a:stretch>
        </p:blipFill>
        <p:spPr>
          <a:xfrm>
            <a:off x="7602248" y="1755648"/>
            <a:ext cx="182880" cy="182880"/>
          </a:xfrm>
          <a:prstGeom prst="rect">
            <a:avLst/>
          </a:prstGeom>
        </p:spPr>
      </p:pic>
      <p:sp>
        <p:nvSpPr>
          <p:cNvPr id="332" name="T"/>
          <p:cNvSpPr txBox="1"/>
          <p:nvPr/>
        </p:nvSpPr>
        <p:spPr>
          <a:xfrm>
            <a:off x="7931432" y="1627632"/>
            <a:ext cx="105017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700" b="1" dirty="0">
                <a:solidFill>
                  <a:srgbClr val="5B7A99"/>
                </a:solidFill>
                <a:latin typeface="Roboto"/>
                <a:ea typeface="Roboto"/>
                <a:cs typeface="Roboto"/>
              </a:rPr>
              <a:t>7</a:t>
            </a:r>
            <a:endParaRPr lang="id-ID" sz="1700"/>
          </a:p>
        </p:txBody>
      </p:sp>
      <p:sp>
        <p:nvSpPr>
          <p:cNvPr id="333" name="T"/>
          <p:cNvSpPr txBox="1"/>
          <p:nvPr/>
        </p:nvSpPr>
        <p:spPr>
          <a:xfrm>
            <a:off x="7931432" y="1892808"/>
            <a:ext cx="1050170" cy="1554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5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bencana lainnya</a:t>
            </a:r>
            <a:endParaRPr lang="id-ID" sz="750"/>
          </a:p>
        </p:txBody>
      </p:sp>
      <p:sp>
        <p:nvSpPr>
          <p:cNvPr id="334" name="K"/>
          <p:cNvSpPr/>
          <p:nvPr/>
        </p:nvSpPr>
        <p:spPr>
          <a:xfrm>
            <a:off x="9511955" y="1591056"/>
            <a:ext cx="2021373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</p:spPr>
      </p:sp>
      <p:sp>
        <p:nvSpPr>
          <p:cNvPr id="335" name="K"/>
          <p:cNvSpPr/>
          <p:nvPr/>
        </p:nvSpPr>
        <p:spPr>
          <a:xfrm>
            <a:off x="9621683" y="1682496"/>
            <a:ext cx="329184" cy="329184"/>
          </a:xfrm>
          <a:prstGeom prst="ellipse">
            <a:avLst/>
          </a:prstGeom>
          <a:solidFill>
            <a:srgbClr val="F8DDE0"/>
          </a:solidFill>
          <a:ln>
            <a:noFill/>
          </a:ln>
        </p:spPr>
      </p:sp>
      <p:pic>
        <p:nvPicPr>
          <p:cNvPr id="336" name="G"/>
          <p:cNvPicPr>
            <a:picLocks noChangeAspect="1"/>
          </p:cNvPicPr>
          <p:nvPr/>
        </p:nvPicPr>
        <p:blipFill>
          <a:blip r:embed="rIdM8"/>
          <a:stretch>
            <a:fillRect/>
          </a:stretch>
        </p:blipFill>
        <p:spPr>
          <a:xfrm>
            <a:off x="9694835" y="1755648"/>
            <a:ext cx="182880" cy="182880"/>
          </a:xfrm>
          <a:prstGeom prst="rect">
            <a:avLst/>
          </a:prstGeom>
        </p:spPr>
      </p:pic>
      <p:sp>
        <p:nvSpPr>
          <p:cNvPr id="337" name="T"/>
          <p:cNvSpPr txBox="1"/>
          <p:nvPr/>
        </p:nvSpPr>
        <p:spPr>
          <a:xfrm>
            <a:off x="10024019" y="1627632"/>
            <a:ext cx="1472733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700" b="1" dirty="0">
                <a:solidFill>
                  <a:srgbClr val="C8102E"/>
                </a:solidFill>
                <a:latin typeface="Roboto"/>
                <a:ea typeface="Roboto"/>
                <a:cs typeface="Roboto"/>
              </a:rPr>
              <a:t>6</a:t>
            </a:r>
            <a:endParaRPr lang="id-ID" sz="1700"/>
          </a:p>
        </p:txBody>
      </p:sp>
      <p:sp>
        <p:nvSpPr>
          <p:cNvPr id="338" name="T"/>
          <p:cNvSpPr txBox="1"/>
          <p:nvPr/>
        </p:nvSpPr>
        <p:spPr>
          <a:xfrm>
            <a:off x="10024019" y="1892808"/>
            <a:ext cx="1472733" cy="1554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5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kejadian perlu perhatian</a:t>
            </a:r>
            <a:endParaRPr lang="id-ID" sz="750"/>
          </a:p>
        </p:txBody>
      </p:sp>
      <p:pic>
        <p:nvPicPr>
          <p:cNvPr id="339" name="G"/>
          <p:cNvPicPr>
            <a:picLocks noChangeAspect="1"/>
          </p:cNvPicPr>
          <p:nvPr/>
        </p:nvPicPr>
        <p:blipFill>
          <a:blip r:embed="rIdM9"/>
          <a:stretch>
            <a:fillRect/>
          </a:stretch>
        </p:blipFill>
        <p:spPr>
          <a:xfrm>
            <a:off x="502920" y="2331720"/>
            <a:ext cx="7680960" cy="2880360"/>
          </a:xfrm>
          <a:prstGeom prst="rect">
            <a:avLst/>
          </a:prstGeom>
        </p:spPr>
      </p:pic>
      <p:sp>
        <p:nvSpPr>
          <p:cNvPr id="340" name="K"/>
          <p:cNvSpPr/>
          <p:nvPr/>
        </p:nvSpPr>
        <p:spPr>
          <a:xfrm>
            <a:off x="3980367" y="3183193"/>
            <a:ext cx="219456" cy="219456"/>
          </a:xfrm>
          <a:prstGeom prst="ellipse">
            <a:avLst/>
          </a:prstGeom>
          <a:solidFill>
            <a:srgbClr val="D9600B"/>
          </a:solidFill>
          <a:ln w="19050">
            <a:solidFill>
              <a:srgbClr val="FFFFFF"/>
            </a:solidFill>
          </a:ln>
        </p:spPr>
      </p:sp>
      <p:sp>
        <p:nvSpPr>
          <p:cNvPr id="341" name="T"/>
          <p:cNvSpPr txBox="1"/>
          <p:nvPr/>
        </p:nvSpPr>
        <p:spPr>
          <a:xfrm>
            <a:off x="3980367" y="3183193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342" name="T"/>
          <p:cNvSpPr txBox="1"/>
          <p:nvPr/>
        </p:nvSpPr>
        <p:spPr>
          <a:xfrm>
            <a:off x="4254687" y="3219769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Kal. Timur</a:t>
            </a:r>
            <a:endParaRPr lang="id-ID" sz="750"/>
          </a:p>
        </p:txBody>
      </p:sp>
      <p:sp>
        <p:nvSpPr>
          <p:cNvPr id="343" name="K"/>
          <p:cNvSpPr/>
          <p:nvPr/>
        </p:nvSpPr>
        <p:spPr>
          <a:xfrm>
            <a:off x="7871081" y="4351809"/>
            <a:ext cx="219456" cy="219456"/>
          </a:xfrm>
          <a:prstGeom prst="ellipse">
            <a:avLst/>
          </a:prstGeom>
          <a:solidFill>
            <a:srgbClr val="D9600B"/>
          </a:solidFill>
          <a:ln w="19050">
            <a:solidFill>
              <a:srgbClr val="FFFFFF"/>
            </a:solidFill>
          </a:ln>
        </p:spPr>
      </p:sp>
      <p:sp>
        <p:nvSpPr>
          <p:cNvPr id="344" name="T"/>
          <p:cNvSpPr txBox="1"/>
          <p:nvPr/>
        </p:nvSpPr>
        <p:spPr>
          <a:xfrm>
            <a:off x="7871081" y="4351809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345" name="K"/>
          <p:cNvSpPr/>
          <p:nvPr/>
        </p:nvSpPr>
        <p:spPr>
          <a:xfrm>
            <a:off x="8004400" y="4300785"/>
            <a:ext cx="137160" cy="13716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FFFFFF"/>
            </a:solidFill>
          </a:ln>
        </p:spPr>
      </p:sp>
      <p:sp>
        <p:nvSpPr>
          <p:cNvPr id="346" name="T"/>
          <p:cNvSpPr txBox="1"/>
          <p:nvPr/>
        </p:nvSpPr>
        <p:spPr>
          <a:xfrm>
            <a:off x="8004400" y="4300785"/>
            <a:ext cx="137160" cy="1371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!</a:t>
            </a:r>
            <a:endParaRPr lang="id-ID" sz="700"/>
          </a:p>
        </p:txBody>
      </p:sp>
      <p:sp>
        <p:nvSpPr>
          <p:cNvPr id="347" name="T"/>
          <p:cNvSpPr txBox="1"/>
          <p:nvPr/>
        </p:nvSpPr>
        <p:spPr>
          <a:xfrm>
            <a:off x="6353177" y="4388385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Papua Selatan</a:t>
            </a:r>
            <a:endParaRPr lang="id-ID" sz="750"/>
          </a:p>
        </p:txBody>
      </p:sp>
      <p:sp>
        <p:nvSpPr>
          <p:cNvPr id="348" name="K"/>
          <p:cNvSpPr/>
          <p:nvPr/>
        </p:nvSpPr>
        <p:spPr>
          <a:xfrm>
            <a:off x="4579153" y="3973437"/>
            <a:ext cx="265176" cy="265176"/>
          </a:xfrm>
          <a:prstGeom prst="ellipse">
            <a:avLst/>
          </a:prstGeom>
          <a:solidFill>
            <a:srgbClr val="D9600B"/>
          </a:solidFill>
          <a:ln w="19050">
            <a:solidFill>
              <a:srgbClr val="FFFFFF"/>
            </a:solidFill>
          </a:ln>
        </p:spPr>
      </p:sp>
      <p:sp>
        <p:nvSpPr>
          <p:cNvPr id="349" name="T"/>
          <p:cNvSpPr txBox="1"/>
          <p:nvPr/>
        </p:nvSpPr>
        <p:spPr>
          <a:xfrm>
            <a:off x="4579153" y="3973437"/>
            <a:ext cx="265176" cy="26517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2</a:t>
            </a:r>
            <a:endParaRPr lang="id-ID" sz="850"/>
          </a:p>
        </p:txBody>
      </p:sp>
      <p:sp>
        <p:nvSpPr>
          <p:cNvPr id="350" name="K"/>
          <p:cNvSpPr/>
          <p:nvPr/>
        </p:nvSpPr>
        <p:spPr>
          <a:xfrm>
            <a:off x="4745390" y="4139675"/>
            <a:ext cx="155448" cy="155448"/>
          </a:xfrm>
          <a:prstGeom prst="ellipse">
            <a:avLst/>
          </a:prstGeom>
          <a:solidFill>
            <a:srgbClr val="B08A3E"/>
          </a:solidFill>
          <a:ln w="12700">
            <a:solidFill>
              <a:srgbClr val="FFFFFF"/>
            </a:solidFill>
          </a:ln>
        </p:spPr>
      </p:sp>
      <p:sp>
        <p:nvSpPr>
          <p:cNvPr id="351" name="T"/>
          <p:cNvSpPr txBox="1"/>
          <p:nvPr/>
        </p:nvSpPr>
        <p:spPr>
          <a:xfrm>
            <a:off x="4745390" y="4139675"/>
            <a:ext cx="155448" cy="1554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2</a:t>
            </a:r>
            <a:endParaRPr lang="id-ID" sz="650"/>
          </a:p>
        </p:txBody>
      </p:sp>
      <p:sp>
        <p:nvSpPr>
          <p:cNvPr id="352" name="T"/>
          <p:cNvSpPr txBox="1"/>
          <p:nvPr/>
        </p:nvSpPr>
        <p:spPr>
          <a:xfrm>
            <a:off x="3980221" y="4313411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Sul. Selatan</a:t>
            </a:r>
            <a:endParaRPr lang="id-ID" sz="750"/>
          </a:p>
        </p:txBody>
      </p:sp>
      <p:sp>
        <p:nvSpPr>
          <p:cNvPr id="353" name="K"/>
          <p:cNvSpPr/>
          <p:nvPr/>
        </p:nvSpPr>
        <p:spPr>
          <a:xfrm>
            <a:off x="4881742" y="3897704"/>
            <a:ext cx="219456" cy="219456"/>
          </a:xfrm>
          <a:prstGeom prst="ellipse">
            <a:avLst/>
          </a:prstGeom>
          <a:solidFill>
            <a:srgbClr val="D9600B"/>
          </a:solidFill>
          <a:ln w="19050">
            <a:solidFill>
              <a:srgbClr val="FFFFFF"/>
            </a:solidFill>
          </a:ln>
        </p:spPr>
      </p:sp>
      <p:sp>
        <p:nvSpPr>
          <p:cNvPr id="354" name="T"/>
          <p:cNvSpPr txBox="1"/>
          <p:nvPr/>
        </p:nvSpPr>
        <p:spPr>
          <a:xfrm>
            <a:off x="4881742" y="3897704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355" name="K"/>
          <p:cNvSpPr/>
          <p:nvPr/>
        </p:nvSpPr>
        <p:spPr>
          <a:xfrm>
            <a:off x="5015062" y="3846681"/>
            <a:ext cx="137160" cy="13716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FFFFFF"/>
            </a:solidFill>
          </a:ln>
        </p:spPr>
      </p:sp>
      <p:sp>
        <p:nvSpPr>
          <p:cNvPr id="356" name="T"/>
          <p:cNvSpPr txBox="1"/>
          <p:nvPr/>
        </p:nvSpPr>
        <p:spPr>
          <a:xfrm>
            <a:off x="5015062" y="3846681"/>
            <a:ext cx="137160" cy="1371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!</a:t>
            </a:r>
            <a:endParaRPr lang="id-ID" sz="700"/>
          </a:p>
        </p:txBody>
      </p:sp>
      <p:sp>
        <p:nvSpPr>
          <p:cNvPr id="357" name="T"/>
          <p:cNvSpPr txBox="1"/>
          <p:nvPr/>
        </p:nvSpPr>
        <p:spPr>
          <a:xfrm>
            <a:off x="5156062" y="3934280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Sul. Tenggara</a:t>
            </a:r>
            <a:endParaRPr lang="id-ID" sz="750"/>
          </a:p>
        </p:txBody>
      </p:sp>
      <p:sp>
        <p:nvSpPr>
          <p:cNvPr id="358" name="K"/>
          <p:cNvSpPr/>
          <p:nvPr/>
        </p:nvSpPr>
        <p:spPr>
          <a:xfrm>
            <a:off x="4675098" y="3427152"/>
            <a:ext cx="219456" cy="219456"/>
          </a:xfrm>
          <a:prstGeom prst="ellipse">
            <a:avLst/>
          </a:prstGeom>
          <a:solidFill>
            <a:srgbClr val="D9600B"/>
          </a:solidFill>
          <a:ln w="19050">
            <a:solidFill>
              <a:srgbClr val="FFFFFF"/>
            </a:solidFill>
          </a:ln>
        </p:spPr>
      </p:sp>
      <p:sp>
        <p:nvSpPr>
          <p:cNvPr id="359" name="T"/>
          <p:cNvSpPr txBox="1"/>
          <p:nvPr/>
        </p:nvSpPr>
        <p:spPr>
          <a:xfrm>
            <a:off x="4675098" y="3427152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360" name="T"/>
          <p:cNvSpPr txBox="1"/>
          <p:nvPr/>
        </p:nvSpPr>
        <p:spPr>
          <a:xfrm>
            <a:off x="4949418" y="3463728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Sul. Tengah</a:t>
            </a:r>
            <a:endParaRPr lang="id-ID" sz="750"/>
          </a:p>
        </p:txBody>
      </p:sp>
      <p:sp>
        <p:nvSpPr>
          <p:cNvPr id="361" name="K"/>
          <p:cNvSpPr/>
          <p:nvPr/>
        </p:nvSpPr>
        <p:spPr>
          <a:xfrm>
            <a:off x="3804910" y="3755423"/>
            <a:ext cx="219456" cy="219456"/>
          </a:xfrm>
          <a:prstGeom prst="ellipse">
            <a:avLst/>
          </a:prstGeom>
          <a:solidFill>
            <a:srgbClr val="D9600B"/>
          </a:solidFill>
          <a:ln w="19050">
            <a:solidFill>
              <a:srgbClr val="FFFFFF"/>
            </a:solidFill>
          </a:ln>
        </p:spPr>
      </p:sp>
      <p:sp>
        <p:nvSpPr>
          <p:cNvPr id="362" name="T"/>
          <p:cNvSpPr txBox="1"/>
          <p:nvPr/>
        </p:nvSpPr>
        <p:spPr>
          <a:xfrm>
            <a:off x="3804910" y="3755423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363" name="K"/>
          <p:cNvSpPr/>
          <p:nvPr/>
        </p:nvSpPr>
        <p:spPr>
          <a:xfrm>
            <a:off x="3744742" y="3879598"/>
            <a:ext cx="155448" cy="155448"/>
          </a:xfrm>
          <a:prstGeom prst="ellipse">
            <a:avLst/>
          </a:prstGeom>
          <a:solidFill>
            <a:srgbClr val="0E7490"/>
          </a:solidFill>
          <a:ln w="12700">
            <a:solidFill>
              <a:srgbClr val="FFFFFF"/>
            </a:solidFill>
          </a:ln>
        </p:spPr>
      </p:sp>
      <p:sp>
        <p:nvSpPr>
          <p:cNvPr id="364" name="T"/>
          <p:cNvSpPr txBox="1"/>
          <p:nvPr/>
        </p:nvSpPr>
        <p:spPr>
          <a:xfrm>
            <a:off x="3744742" y="3879598"/>
            <a:ext cx="155448" cy="1554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650"/>
          </a:p>
        </p:txBody>
      </p:sp>
      <p:sp>
        <p:nvSpPr>
          <p:cNvPr id="365" name="T"/>
          <p:cNvSpPr txBox="1"/>
          <p:nvPr/>
        </p:nvSpPr>
        <p:spPr>
          <a:xfrm>
            <a:off x="3183118" y="4053334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Kal. Selatan</a:t>
            </a:r>
            <a:endParaRPr lang="id-ID" sz="750"/>
          </a:p>
        </p:txBody>
      </p:sp>
      <p:sp>
        <p:nvSpPr>
          <p:cNvPr id="366" name="K"/>
          <p:cNvSpPr/>
          <p:nvPr/>
        </p:nvSpPr>
        <p:spPr>
          <a:xfrm>
            <a:off x="1927738" y="3798728"/>
            <a:ext cx="219456" cy="219456"/>
          </a:xfrm>
          <a:prstGeom prst="ellipse">
            <a:avLst/>
          </a:prstGeom>
          <a:solidFill>
            <a:srgbClr val="D9600B"/>
          </a:solidFill>
          <a:ln w="19050">
            <a:solidFill>
              <a:srgbClr val="FFFFFF"/>
            </a:solidFill>
          </a:ln>
        </p:spPr>
      </p:sp>
      <p:sp>
        <p:nvSpPr>
          <p:cNvPr id="367" name="T"/>
          <p:cNvSpPr txBox="1"/>
          <p:nvPr/>
        </p:nvSpPr>
        <p:spPr>
          <a:xfrm>
            <a:off x="1927738" y="3798728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368" name="K"/>
          <p:cNvSpPr/>
          <p:nvPr/>
        </p:nvSpPr>
        <p:spPr>
          <a:xfrm>
            <a:off x="2061058" y="3747705"/>
            <a:ext cx="137160" cy="13716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FFFFFF"/>
            </a:solidFill>
          </a:ln>
        </p:spPr>
      </p:sp>
      <p:sp>
        <p:nvSpPr>
          <p:cNvPr id="369" name="T"/>
          <p:cNvSpPr txBox="1"/>
          <p:nvPr/>
        </p:nvSpPr>
        <p:spPr>
          <a:xfrm>
            <a:off x="2061058" y="3747705"/>
            <a:ext cx="137160" cy="1371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!</a:t>
            </a:r>
            <a:endParaRPr lang="id-ID" sz="700"/>
          </a:p>
        </p:txBody>
      </p:sp>
      <p:sp>
        <p:nvSpPr>
          <p:cNvPr id="370" name="T"/>
          <p:cNvSpPr txBox="1"/>
          <p:nvPr/>
        </p:nvSpPr>
        <p:spPr>
          <a:xfrm>
            <a:off x="409834" y="3835304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Sum. Selatan</a:t>
            </a:r>
            <a:endParaRPr lang="id-ID" sz="750"/>
          </a:p>
        </p:txBody>
      </p:sp>
      <p:sp>
        <p:nvSpPr>
          <p:cNvPr id="371" name="K"/>
          <p:cNvSpPr/>
          <p:nvPr/>
        </p:nvSpPr>
        <p:spPr>
          <a:xfrm>
            <a:off x="1526329" y="3185000"/>
            <a:ext cx="219456" cy="219456"/>
          </a:xfrm>
          <a:prstGeom prst="ellipse">
            <a:avLst/>
          </a:prstGeom>
          <a:solidFill>
            <a:srgbClr val="D9600B"/>
          </a:solidFill>
          <a:ln w="19050">
            <a:solidFill>
              <a:srgbClr val="FFFFFF"/>
            </a:solidFill>
          </a:ln>
        </p:spPr>
      </p:sp>
      <p:sp>
        <p:nvSpPr>
          <p:cNvPr id="372" name="T"/>
          <p:cNvSpPr txBox="1"/>
          <p:nvPr/>
        </p:nvSpPr>
        <p:spPr>
          <a:xfrm>
            <a:off x="1526329" y="3185000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373" name="T"/>
          <p:cNvSpPr txBox="1"/>
          <p:nvPr/>
        </p:nvSpPr>
        <p:spPr>
          <a:xfrm>
            <a:off x="1800649" y="3221576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Riau</a:t>
            </a:r>
            <a:endParaRPr lang="id-ID" sz="750"/>
          </a:p>
        </p:txBody>
      </p:sp>
      <p:sp>
        <p:nvSpPr>
          <p:cNvPr id="374" name="K"/>
          <p:cNvSpPr/>
          <p:nvPr/>
        </p:nvSpPr>
        <p:spPr>
          <a:xfrm>
            <a:off x="1684296" y="3544753"/>
            <a:ext cx="219456" cy="219456"/>
          </a:xfrm>
          <a:prstGeom prst="ellipse">
            <a:avLst/>
          </a:prstGeom>
          <a:solidFill>
            <a:srgbClr val="D9600B"/>
          </a:solidFill>
          <a:ln w="19050">
            <a:solidFill>
              <a:srgbClr val="FFFFFF"/>
            </a:solidFill>
          </a:ln>
        </p:spPr>
      </p:sp>
      <p:sp>
        <p:nvSpPr>
          <p:cNvPr id="375" name="T"/>
          <p:cNvSpPr txBox="1"/>
          <p:nvPr/>
        </p:nvSpPr>
        <p:spPr>
          <a:xfrm>
            <a:off x="1684296" y="3544753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376" name="T"/>
          <p:cNvSpPr txBox="1"/>
          <p:nvPr/>
        </p:nvSpPr>
        <p:spPr>
          <a:xfrm>
            <a:off x="166392" y="3581329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Jambi</a:t>
            </a:r>
            <a:endParaRPr lang="id-ID" sz="750"/>
          </a:p>
        </p:txBody>
      </p:sp>
      <p:sp>
        <p:nvSpPr>
          <p:cNvPr id="377" name="K"/>
          <p:cNvSpPr/>
          <p:nvPr/>
        </p:nvSpPr>
        <p:spPr>
          <a:xfrm>
            <a:off x="2397970" y="3741407"/>
            <a:ext cx="219456" cy="219456"/>
          </a:xfrm>
          <a:prstGeom prst="ellipse">
            <a:avLst/>
          </a:prstGeom>
          <a:solidFill>
            <a:srgbClr val="D9600B"/>
          </a:solidFill>
          <a:ln w="19050">
            <a:solidFill>
              <a:srgbClr val="FFFFFF"/>
            </a:solidFill>
          </a:ln>
        </p:spPr>
      </p:sp>
      <p:sp>
        <p:nvSpPr>
          <p:cNvPr id="378" name="T"/>
          <p:cNvSpPr txBox="1"/>
          <p:nvPr/>
        </p:nvSpPr>
        <p:spPr>
          <a:xfrm>
            <a:off x="2397970" y="3741407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379" name="T"/>
          <p:cNvSpPr txBox="1"/>
          <p:nvPr/>
        </p:nvSpPr>
        <p:spPr>
          <a:xfrm>
            <a:off x="2672290" y="3777983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Kep. Babel</a:t>
            </a:r>
            <a:endParaRPr lang="id-ID" sz="750"/>
          </a:p>
        </p:txBody>
      </p:sp>
      <p:sp>
        <p:nvSpPr>
          <p:cNvPr id="380" name="K"/>
          <p:cNvSpPr/>
          <p:nvPr/>
        </p:nvSpPr>
        <p:spPr>
          <a:xfrm>
            <a:off x="2069993" y="4083051"/>
            <a:ext cx="219456" cy="219456"/>
          </a:xfrm>
          <a:prstGeom prst="ellipse">
            <a:avLst/>
          </a:prstGeom>
          <a:solidFill>
            <a:srgbClr val="D9600B"/>
          </a:solidFill>
          <a:ln w="19050">
            <a:solidFill>
              <a:srgbClr val="FFFFFF"/>
            </a:solidFill>
          </a:ln>
        </p:spPr>
      </p:sp>
      <p:sp>
        <p:nvSpPr>
          <p:cNvPr id="381" name="T"/>
          <p:cNvSpPr txBox="1"/>
          <p:nvPr/>
        </p:nvSpPr>
        <p:spPr>
          <a:xfrm>
            <a:off x="2069993" y="4083051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382" name="T"/>
          <p:cNvSpPr txBox="1"/>
          <p:nvPr/>
        </p:nvSpPr>
        <p:spPr>
          <a:xfrm>
            <a:off x="2344313" y="4119627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Lampung</a:t>
            </a:r>
            <a:endParaRPr lang="id-ID" sz="750"/>
          </a:p>
        </p:txBody>
      </p:sp>
      <p:sp>
        <p:nvSpPr>
          <p:cNvPr id="383" name="K"/>
          <p:cNvSpPr/>
          <p:nvPr/>
        </p:nvSpPr>
        <p:spPr>
          <a:xfrm>
            <a:off x="2502218" y="4460676"/>
            <a:ext cx="219456" cy="219456"/>
          </a:xfrm>
          <a:prstGeom prst="ellipse">
            <a:avLst/>
          </a:prstGeom>
          <a:solidFill>
            <a:srgbClr val="D9600B"/>
          </a:solidFill>
          <a:ln w="19050">
            <a:solidFill>
              <a:srgbClr val="FFFFFF"/>
            </a:solidFill>
          </a:ln>
        </p:spPr>
      </p:sp>
      <p:sp>
        <p:nvSpPr>
          <p:cNvPr id="384" name="T"/>
          <p:cNvSpPr txBox="1"/>
          <p:nvPr/>
        </p:nvSpPr>
        <p:spPr>
          <a:xfrm>
            <a:off x="2502218" y="4460676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385" name="T"/>
          <p:cNvSpPr txBox="1"/>
          <p:nvPr/>
        </p:nvSpPr>
        <p:spPr>
          <a:xfrm>
            <a:off x="984314" y="4497252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Jabar</a:t>
            </a:r>
            <a:endParaRPr lang="id-ID" sz="750"/>
          </a:p>
        </p:txBody>
      </p:sp>
      <p:sp>
        <p:nvSpPr>
          <p:cNvPr id="386" name="K"/>
          <p:cNvSpPr/>
          <p:nvPr/>
        </p:nvSpPr>
        <p:spPr>
          <a:xfrm>
            <a:off x="718569" y="2542878"/>
            <a:ext cx="219456" cy="219456"/>
          </a:xfrm>
          <a:prstGeom prst="ellipse">
            <a:avLst/>
          </a:prstGeom>
          <a:solidFill>
            <a:srgbClr val="2F6FB5"/>
          </a:solidFill>
          <a:ln w="19050">
            <a:solidFill>
              <a:srgbClr val="FFFFFF"/>
            </a:solidFill>
          </a:ln>
        </p:spPr>
      </p:sp>
      <p:sp>
        <p:nvSpPr>
          <p:cNvPr id="387" name="T"/>
          <p:cNvSpPr txBox="1"/>
          <p:nvPr/>
        </p:nvSpPr>
        <p:spPr>
          <a:xfrm>
            <a:off x="718569" y="2542878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388" name="K"/>
          <p:cNvSpPr/>
          <p:nvPr/>
        </p:nvSpPr>
        <p:spPr>
          <a:xfrm>
            <a:off x="851889" y="2491855"/>
            <a:ext cx="137160" cy="13716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FFFFFF"/>
            </a:solidFill>
          </a:ln>
        </p:spPr>
      </p:sp>
      <p:sp>
        <p:nvSpPr>
          <p:cNvPr id="389" name="T"/>
          <p:cNvSpPr txBox="1"/>
          <p:nvPr/>
        </p:nvSpPr>
        <p:spPr>
          <a:xfrm>
            <a:off x="851889" y="2491855"/>
            <a:ext cx="137160" cy="1371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!</a:t>
            </a:r>
            <a:endParaRPr lang="id-ID" sz="700"/>
          </a:p>
        </p:txBody>
      </p:sp>
      <p:sp>
        <p:nvSpPr>
          <p:cNvPr id="390" name="T"/>
          <p:cNvSpPr txBox="1"/>
          <p:nvPr/>
        </p:nvSpPr>
        <p:spPr>
          <a:xfrm>
            <a:off x="992889" y="2579454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Aceh</a:t>
            </a:r>
            <a:endParaRPr lang="id-ID" sz="750"/>
          </a:p>
        </p:txBody>
      </p:sp>
      <p:sp>
        <p:nvSpPr>
          <p:cNvPr id="391" name="K"/>
          <p:cNvSpPr/>
          <p:nvPr/>
        </p:nvSpPr>
        <p:spPr>
          <a:xfrm>
            <a:off x="1066519" y="2852005"/>
            <a:ext cx="265176" cy="265176"/>
          </a:xfrm>
          <a:prstGeom prst="ellipse">
            <a:avLst/>
          </a:prstGeom>
          <a:solidFill>
            <a:srgbClr val="2F6FB5"/>
          </a:solidFill>
          <a:ln w="19050">
            <a:solidFill>
              <a:srgbClr val="FFFFFF"/>
            </a:solidFill>
          </a:ln>
        </p:spPr>
      </p:sp>
      <p:sp>
        <p:nvSpPr>
          <p:cNvPr id="392" name="T"/>
          <p:cNvSpPr txBox="1"/>
          <p:nvPr/>
        </p:nvSpPr>
        <p:spPr>
          <a:xfrm>
            <a:off x="1066519" y="2852005"/>
            <a:ext cx="265176" cy="26517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3</a:t>
            </a:r>
            <a:endParaRPr lang="id-ID" sz="850"/>
          </a:p>
        </p:txBody>
      </p:sp>
      <p:sp>
        <p:nvSpPr>
          <p:cNvPr id="393" name="K"/>
          <p:cNvSpPr/>
          <p:nvPr/>
        </p:nvSpPr>
        <p:spPr>
          <a:xfrm>
            <a:off x="1241901" y="2804639"/>
            <a:ext cx="137160" cy="13716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FFFFFF"/>
            </a:solidFill>
          </a:ln>
        </p:spPr>
      </p:sp>
      <p:sp>
        <p:nvSpPr>
          <p:cNvPr id="394" name="T"/>
          <p:cNvSpPr txBox="1"/>
          <p:nvPr/>
        </p:nvSpPr>
        <p:spPr>
          <a:xfrm>
            <a:off x="1241901" y="2804639"/>
            <a:ext cx="137160" cy="1371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!</a:t>
            </a:r>
            <a:endParaRPr lang="id-ID" sz="700"/>
          </a:p>
        </p:txBody>
      </p:sp>
      <p:sp>
        <p:nvSpPr>
          <p:cNvPr id="395" name="T"/>
          <p:cNvSpPr txBox="1"/>
          <p:nvPr/>
        </p:nvSpPr>
        <p:spPr>
          <a:xfrm>
            <a:off x="467587" y="3144613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Sum. Utara</a:t>
            </a:r>
            <a:endParaRPr lang="id-ID" sz="750"/>
          </a:p>
        </p:txBody>
      </p:sp>
      <p:sp>
        <p:nvSpPr>
          <p:cNvPr id="396" name="K"/>
          <p:cNvSpPr/>
          <p:nvPr/>
        </p:nvSpPr>
        <p:spPr>
          <a:xfrm>
            <a:off x="2914900" y="4390635"/>
            <a:ext cx="265176" cy="265176"/>
          </a:xfrm>
          <a:prstGeom prst="ellipse">
            <a:avLst/>
          </a:prstGeom>
          <a:solidFill>
            <a:srgbClr val="B08A3E"/>
          </a:solidFill>
          <a:ln w="19050">
            <a:solidFill>
              <a:srgbClr val="FFFFFF"/>
            </a:solidFill>
          </a:ln>
        </p:spPr>
      </p:sp>
      <p:sp>
        <p:nvSpPr>
          <p:cNvPr id="397" name="T"/>
          <p:cNvSpPr txBox="1"/>
          <p:nvPr/>
        </p:nvSpPr>
        <p:spPr>
          <a:xfrm>
            <a:off x="2914900" y="4390635"/>
            <a:ext cx="265176" cy="26517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3</a:t>
            </a:r>
            <a:endParaRPr lang="id-ID" sz="850"/>
          </a:p>
        </p:txBody>
      </p:sp>
      <p:sp>
        <p:nvSpPr>
          <p:cNvPr id="398" name="T"/>
          <p:cNvSpPr txBox="1"/>
          <p:nvPr/>
        </p:nvSpPr>
        <p:spPr>
          <a:xfrm>
            <a:off x="2315968" y="4683243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Jateng</a:t>
            </a:r>
            <a:endParaRPr lang="id-ID" sz="750"/>
          </a:p>
        </p:txBody>
      </p:sp>
      <p:sp>
        <p:nvSpPr>
          <p:cNvPr id="399" name="K"/>
          <p:cNvSpPr/>
          <p:nvPr/>
        </p:nvSpPr>
        <p:spPr>
          <a:xfrm>
            <a:off x="3484137" y="4546344"/>
            <a:ext cx="265176" cy="265176"/>
          </a:xfrm>
          <a:prstGeom prst="ellipse">
            <a:avLst/>
          </a:prstGeom>
          <a:solidFill>
            <a:srgbClr val="A23B2A"/>
          </a:solidFill>
          <a:ln w="19050">
            <a:solidFill>
              <a:srgbClr val="FFFFFF"/>
            </a:solidFill>
          </a:ln>
        </p:spPr>
      </p:sp>
      <p:sp>
        <p:nvSpPr>
          <p:cNvPr id="400" name="T"/>
          <p:cNvSpPr txBox="1"/>
          <p:nvPr/>
        </p:nvSpPr>
        <p:spPr>
          <a:xfrm>
            <a:off x="3484137" y="4546344"/>
            <a:ext cx="265176" cy="26517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401" name="K"/>
          <p:cNvSpPr/>
          <p:nvPr/>
        </p:nvSpPr>
        <p:spPr>
          <a:xfrm>
            <a:off x="3650375" y="4712581"/>
            <a:ext cx="155448" cy="155448"/>
          </a:xfrm>
          <a:prstGeom prst="ellipse">
            <a:avLst/>
          </a:prstGeom>
          <a:solidFill>
            <a:srgbClr val="B08A3E"/>
          </a:solidFill>
          <a:ln w="12700">
            <a:solidFill>
              <a:srgbClr val="FFFFFF"/>
            </a:solidFill>
          </a:ln>
        </p:spPr>
      </p:sp>
      <p:sp>
        <p:nvSpPr>
          <p:cNvPr id="402" name="T"/>
          <p:cNvSpPr txBox="1"/>
          <p:nvPr/>
        </p:nvSpPr>
        <p:spPr>
          <a:xfrm>
            <a:off x="3650375" y="4712581"/>
            <a:ext cx="155448" cy="1554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650"/>
          </a:p>
        </p:txBody>
      </p:sp>
      <p:sp>
        <p:nvSpPr>
          <p:cNvPr id="403" name="T"/>
          <p:cNvSpPr txBox="1"/>
          <p:nvPr/>
        </p:nvSpPr>
        <p:spPr>
          <a:xfrm>
            <a:off x="3804177" y="4605780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Jatim</a:t>
            </a:r>
            <a:endParaRPr lang="id-ID" sz="750"/>
          </a:p>
        </p:txBody>
      </p:sp>
      <p:sp>
        <p:nvSpPr>
          <p:cNvPr id="404" name="K"/>
          <p:cNvSpPr/>
          <p:nvPr/>
        </p:nvSpPr>
        <p:spPr>
          <a:xfrm>
            <a:off x="4767899" y="4701217"/>
            <a:ext cx="219456" cy="219456"/>
          </a:xfrm>
          <a:prstGeom prst="ellipse">
            <a:avLst/>
          </a:prstGeom>
          <a:solidFill>
            <a:srgbClr val="5B7A99"/>
          </a:solidFill>
          <a:ln w="19050">
            <a:solidFill>
              <a:srgbClr val="FFFFFF"/>
            </a:solidFill>
          </a:ln>
        </p:spPr>
      </p:sp>
      <p:sp>
        <p:nvSpPr>
          <p:cNvPr id="405" name="T"/>
          <p:cNvSpPr txBox="1"/>
          <p:nvPr/>
        </p:nvSpPr>
        <p:spPr>
          <a:xfrm>
            <a:off x="4767899" y="4701217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406" name="T"/>
          <p:cNvSpPr txBox="1"/>
          <p:nvPr/>
        </p:nvSpPr>
        <p:spPr>
          <a:xfrm>
            <a:off x="5042219" y="4737793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NTT</a:t>
            </a:r>
            <a:endParaRPr lang="id-ID" sz="750"/>
          </a:p>
        </p:txBody>
      </p:sp>
      <p:sp>
        <p:nvSpPr>
          <p:cNvPr id="407" name="K"/>
          <p:cNvSpPr/>
          <p:nvPr/>
        </p:nvSpPr>
        <p:spPr>
          <a:xfrm>
            <a:off x="6160213" y="3796350"/>
            <a:ext cx="219456" cy="219456"/>
          </a:xfrm>
          <a:prstGeom prst="ellipse">
            <a:avLst/>
          </a:prstGeom>
          <a:solidFill>
            <a:srgbClr val="B08A3E"/>
          </a:solidFill>
          <a:ln w="19050">
            <a:solidFill>
              <a:srgbClr val="FFFFFF"/>
            </a:solidFill>
          </a:ln>
        </p:spPr>
      </p:sp>
      <p:sp>
        <p:nvSpPr>
          <p:cNvPr id="408" name="T"/>
          <p:cNvSpPr txBox="1"/>
          <p:nvPr/>
        </p:nvSpPr>
        <p:spPr>
          <a:xfrm>
            <a:off x="6160213" y="3796350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409" name="T"/>
          <p:cNvSpPr txBox="1"/>
          <p:nvPr/>
        </p:nvSpPr>
        <p:spPr>
          <a:xfrm>
            <a:off x="6434533" y="3832926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Maluku</a:t>
            </a:r>
            <a:endParaRPr lang="id-ID" sz="750"/>
          </a:p>
        </p:txBody>
      </p:sp>
      <p:sp>
        <p:nvSpPr>
          <p:cNvPr id="410" name="K"/>
          <p:cNvSpPr/>
          <p:nvPr/>
        </p:nvSpPr>
        <p:spPr>
          <a:xfrm>
            <a:off x="1371600" y="5216652"/>
            <a:ext cx="128016" cy="128016"/>
          </a:xfrm>
          <a:prstGeom prst="rect">
            <a:avLst/>
          </a:prstGeom>
          <a:solidFill>
            <a:srgbClr val="D9600B"/>
          </a:solidFill>
          <a:ln>
            <a:noFill/>
          </a:ln>
        </p:spPr>
      </p:sp>
      <p:sp>
        <p:nvSpPr>
          <p:cNvPr id="411" name="T"/>
          <p:cNvSpPr txBox="1"/>
          <p:nvPr/>
        </p:nvSpPr>
        <p:spPr>
          <a:xfrm>
            <a:off x="1554480" y="5184648"/>
            <a:ext cx="110000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karhutla</a:t>
            </a:r>
            <a:endParaRPr lang="id-ID" sz="750"/>
          </a:p>
        </p:txBody>
      </p:sp>
      <p:sp>
        <p:nvSpPr>
          <p:cNvPr id="412" name="K"/>
          <p:cNvSpPr/>
          <p:nvPr/>
        </p:nvSpPr>
        <p:spPr>
          <a:xfrm>
            <a:off x="2199080" y="5207508"/>
            <a:ext cx="146304" cy="146304"/>
          </a:xfrm>
          <a:prstGeom prst="ellipse">
            <a:avLst/>
          </a:prstGeom>
          <a:solidFill>
            <a:srgbClr val="B08A3E"/>
          </a:solidFill>
          <a:ln>
            <a:noFill/>
          </a:ln>
        </p:spPr>
      </p:sp>
      <p:sp>
        <p:nvSpPr>
          <p:cNvPr id="413" name="T"/>
          <p:cNvSpPr txBox="1"/>
          <p:nvPr/>
        </p:nvSpPr>
        <p:spPr>
          <a:xfrm>
            <a:off x="2400248" y="5184648"/>
            <a:ext cx="110000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kekeringan</a:t>
            </a:r>
            <a:endParaRPr lang="id-ID" sz="750"/>
          </a:p>
        </p:txBody>
      </p:sp>
      <p:sp>
        <p:nvSpPr>
          <p:cNvPr id="414" name="K"/>
          <p:cNvSpPr/>
          <p:nvPr/>
        </p:nvSpPr>
        <p:spPr>
          <a:xfrm>
            <a:off x="3148848" y="5207508"/>
            <a:ext cx="146304" cy="146304"/>
          </a:xfrm>
          <a:prstGeom prst="ellipse">
            <a:avLst/>
          </a:prstGeom>
          <a:solidFill>
            <a:srgbClr val="5B7A99"/>
          </a:solidFill>
          <a:ln>
            <a:noFill/>
          </a:ln>
        </p:spPr>
      </p:sp>
      <p:sp>
        <p:nvSpPr>
          <p:cNvPr id="415" name="T"/>
          <p:cNvSpPr txBox="1"/>
          <p:nvPr/>
        </p:nvSpPr>
        <p:spPr>
          <a:xfrm>
            <a:off x="3350016" y="5184648"/>
            <a:ext cx="110000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gempa bumi</a:t>
            </a:r>
            <a:endParaRPr lang="id-ID" sz="750"/>
          </a:p>
        </p:txBody>
      </p:sp>
      <p:sp>
        <p:nvSpPr>
          <p:cNvPr id="416" name="K"/>
          <p:cNvSpPr/>
          <p:nvPr/>
        </p:nvSpPr>
        <p:spPr>
          <a:xfrm>
            <a:off x="4098616" y="5207508"/>
            <a:ext cx="146304" cy="146304"/>
          </a:xfrm>
          <a:prstGeom prst="ellipse">
            <a:avLst/>
          </a:prstGeom>
          <a:solidFill>
            <a:srgbClr val="A23B2A"/>
          </a:solidFill>
          <a:ln>
            <a:noFill/>
          </a:ln>
        </p:spPr>
      </p:sp>
      <p:sp>
        <p:nvSpPr>
          <p:cNvPr id="417" name="T"/>
          <p:cNvSpPr txBox="1"/>
          <p:nvPr/>
        </p:nvSpPr>
        <p:spPr>
          <a:xfrm>
            <a:off x="4299784" y="5184648"/>
            <a:ext cx="110000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kebakaran TPA</a:t>
            </a:r>
            <a:endParaRPr lang="id-ID" sz="750"/>
          </a:p>
        </p:txBody>
      </p:sp>
      <p:sp>
        <p:nvSpPr>
          <p:cNvPr id="418" name="K"/>
          <p:cNvSpPr/>
          <p:nvPr/>
        </p:nvSpPr>
        <p:spPr>
          <a:xfrm>
            <a:off x="5204384" y="5207508"/>
            <a:ext cx="146304" cy="146304"/>
          </a:xfrm>
          <a:prstGeom prst="ellipse">
            <a:avLst/>
          </a:prstGeom>
          <a:solidFill>
            <a:srgbClr val="2F6FB5"/>
          </a:solidFill>
          <a:ln>
            <a:noFill/>
          </a:ln>
        </p:spPr>
      </p:sp>
      <p:sp>
        <p:nvSpPr>
          <p:cNvPr id="419" name="T"/>
          <p:cNvSpPr txBox="1"/>
          <p:nvPr/>
        </p:nvSpPr>
        <p:spPr>
          <a:xfrm>
            <a:off x="5405552" y="5184648"/>
            <a:ext cx="110000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banjir</a:t>
            </a:r>
            <a:endParaRPr lang="id-ID" sz="750"/>
          </a:p>
        </p:txBody>
      </p:sp>
      <p:sp>
        <p:nvSpPr>
          <p:cNvPr id="420" name="K"/>
          <p:cNvSpPr/>
          <p:nvPr/>
        </p:nvSpPr>
        <p:spPr>
          <a:xfrm>
            <a:off x="5946152" y="5207508"/>
            <a:ext cx="146304" cy="146304"/>
          </a:xfrm>
          <a:prstGeom prst="ellipse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21" name="T"/>
          <p:cNvSpPr txBox="1"/>
          <p:nvPr/>
        </p:nvSpPr>
        <p:spPr>
          <a:xfrm>
            <a:off x="6147320" y="5184648"/>
            <a:ext cx="110000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angin kencang</a:t>
            </a:r>
            <a:endParaRPr lang="id-ID" sz="750"/>
          </a:p>
        </p:txBody>
      </p:sp>
      <p:sp>
        <p:nvSpPr>
          <p:cNvPr id="422" name="K"/>
          <p:cNvSpPr/>
          <p:nvPr/>
        </p:nvSpPr>
        <p:spPr>
          <a:xfrm>
            <a:off x="7051920" y="5207508"/>
            <a:ext cx="146304" cy="146304"/>
          </a:xfrm>
          <a:prstGeom prst="ellipse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423" name="T"/>
          <p:cNvSpPr txBox="1"/>
          <p:nvPr/>
        </p:nvSpPr>
        <p:spPr>
          <a:xfrm>
            <a:off x="7051920" y="5207508"/>
            <a:ext cx="146304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!</a:t>
            </a:r>
            <a:endParaRPr lang="id-ID" sz="750"/>
          </a:p>
        </p:txBody>
      </p:sp>
      <p:sp>
        <p:nvSpPr>
          <p:cNvPr id="424" name="T"/>
          <p:cNvSpPr txBox="1"/>
          <p:nvPr/>
        </p:nvSpPr>
        <p:spPr>
          <a:xfrm>
            <a:off x="7253088" y="5184648"/>
            <a:ext cx="110000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perlu perhatian</a:t>
            </a:r>
            <a:endParaRPr lang="id-ID" sz="750"/>
          </a:p>
        </p:txBody>
      </p:sp>
      <p:sp>
        <p:nvSpPr>
          <p:cNvPr id="425" name="K"/>
          <p:cNvSpPr/>
          <p:nvPr/>
        </p:nvSpPr>
        <p:spPr>
          <a:xfrm>
            <a:off x="8503920" y="2331720"/>
            <a:ext cx="3139135" cy="30175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</p:spPr>
      </p:sp>
      <p:sp>
        <p:nvSpPr>
          <p:cNvPr id="426" name="T"/>
          <p:cNvSpPr txBox="1"/>
          <p:nvPr/>
        </p:nvSpPr>
        <p:spPr>
          <a:xfrm>
            <a:off x="8668512" y="2441448"/>
            <a:ext cx="2864815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50" b="1" spc="100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STATUS PENANGANAN</a:t>
            </a:r>
            <a:endParaRPr lang="id-ID" sz="750"/>
          </a:p>
        </p:txBody>
      </p:sp>
      <p:sp>
        <p:nvSpPr>
          <p:cNvPr id="427" name="K"/>
          <p:cNvSpPr/>
          <p:nvPr/>
        </p:nvSpPr>
        <p:spPr>
          <a:xfrm>
            <a:off x="8668512" y="2697480"/>
            <a:ext cx="728506" cy="201168"/>
          </a:xfrm>
          <a:prstGeom prst="rect">
            <a:avLst/>
          </a:prstGeom>
          <a:solidFill>
            <a:srgbClr val="051C2C"/>
          </a:solidFill>
          <a:ln>
            <a:noFill/>
          </a:ln>
        </p:spPr>
      </p:sp>
      <p:sp>
        <p:nvSpPr>
          <p:cNvPr id="428" name="T"/>
          <p:cNvSpPr txBox="1"/>
          <p:nvPr/>
        </p:nvSpPr>
        <p:spPr>
          <a:xfrm>
            <a:off x="8668512" y="2697480"/>
            <a:ext cx="728506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26%</a:t>
            </a:r>
            <a:endParaRPr lang="id-ID" sz="750"/>
          </a:p>
        </p:txBody>
      </p:sp>
      <p:sp>
        <p:nvSpPr>
          <p:cNvPr id="429" name="K"/>
          <p:cNvSpPr/>
          <p:nvPr/>
        </p:nvSpPr>
        <p:spPr>
          <a:xfrm>
            <a:off x="9397018" y="2697480"/>
            <a:ext cx="2081445" cy="201168"/>
          </a:xfrm>
          <a:prstGeom prst="rect">
            <a:avLst/>
          </a:prstGeom>
          <a:solidFill>
            <a:srgbClr val="D9600B"/>
          </a:solidFill>
          <a:ln>
            <a:noFill/>
          </a:ln>
        </p:spPr>
      </p:sp>
      <p:sp>
        <p:nvSpPr>
          <p:cNvPr id="430" name="T"/>
          <p:cNvSpPr txBox="1"/>
          <p:nvPr/>
        </p:nvSpPr>
        <p:spPr>
          <a:xfrm>
            <a:off x="9397018" y="2697480"/>
            <a:ext cx="2081445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74%</a:t>
            </a:r>
            <a:endParaRPr lang="id-ID" sz="750"/>
          </a:p>
        </p:txBody>
      </p:sp>
      <p:sp>
        <p:nvSpPr>
          <p:cNvPr id="431" name="K"/>
          <p:cNvSpPr/>
          <p:nvPr/>
        </p:nvSpPr>
        <p:spPr>
          <a:xfrm>
            <a:off x="8668512" y="2971800"/>
            <a:ext cx="1368400" cy="512064"/>
          </a:xfrm>
          <a:prstGeom prst="roundRect">
            <a:avLst>
              <a:gd name="adj" fmla="val 9000"/>
            </a:avLst>
          </a:prstGeom>
          <a:solidFill>
            <a:srgbClr val="E6EAF0"/>
          </a:solidFill>
          <a:ln>
            <a:noFill/>
          </a:ln>
        </p:spPr>
      </p:sp>
      <p:sp>
        <p:nvSpPr>
          <p:cNvPr id="432" name="K"/>
          <p:cNvSpPr/>
          <p:nvPr/>
        </p:nvSpPr>
        <p:spPr>
          <a:xfrm>
            <a:off x="8778240" y="3063240"/>
            <a:ext cx="329184" cy="329184"/>
          </a:xfrm>
          <a:prstGeom prst="ellipse">
            <a:avLst/>
          </a:prstGeom>
          <a:solidFill>
            <a:srgbClr val="051C2C"/>
          </a:solidFill>
          <a:ln>
            <a:noFill/>
          </a:ln>
        </p:spPr>
      </p:sp>
      <p:pic>
        <p:nvPicPr>
          <p:cNvPr id="433" name="G"/>
          <p:cNvPicPr>
            <a:picLocks noChangeAspect="1"/>
          </p:cNvPicPr>
          <p:nvPr/>
        </p:nvPicPr>
        <p:blipFill>
          <a:blip r:embed="rIdM10"/>
          <a:stretch>
            <a:fillRect/>
          </a:stretch>
        </p:blipFill>
        <p:spPr>
          <a:xfrm>
            <a:off x="8860536" y="3145536"/>
            <a:ext cx="164592" cy="164592"/>
          </a:xfrm>
          <a:prstGeom prst="rect">
            <a:avLst/>
          </a:prstGeom>
        </p:spPr>
      </p:pic>
      <p:sp>
        <p:nvSpPr>
          <p:cNvPr id="434" name="T"/>
          <p:cNvSpPr txBox="1"/>
          <p:nvPr/>
        </p:nvSpPr>
        <p:spPr>
          <a:xfrm>
            <a:off x="9180576" y="2990088"/>
            <a:ext cx="81976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700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7</a:t>
            </a:r>
            <a:r>
              <a:rPr lang="id-ID" sz="17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  / 27</a:t>
            </a:r>
            <a:endParaRPr lang="id-ID" sz="1700"/>
          </a:p>
        </p:txBody>
      </p:sp>
      <p:sp>
        <p:nvSpPr>
          <p:cNvPr id="435" name="T"/>
          <p:cNvSpPr txBox="1"/>
          <p:nvPr/>
        </p:nvSpPr>
        <p:spPr>
          <a:xfrm>
            <a:off x="9180576" y="3273552"/>
            <a:ext cx="840000" cy="1645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00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selesai</a:t>
            </a:r>
            <a:endParaRPr lang="id-ID" sz="680"/>
          </a:p>
        </p:txBody>
      </p:sp>
      <p:sp>
        <p:nvSpPr>
          <p:cNvPr id="436" name="K"/>
          <p:cNvSpPr/>
          <p:nvPr/>
        </p:nvSpPr>
        <p:spPr>
          <a:xfrm>
            <a:off x="10110064" y="2971800"/>
            <a:ext cx="1368400" cy="512064"/>
          </a:xfrm>
          <a:prstGeom prst="roundRect">
            <a:avLst>
              <a:gd name="adj" fmla="val 9000"/>
            </a:avLst>
          </a:prstGeom>
          <a:solidFill>
            <a:srgbClr val="FBE7D6"/>
          </a:solidFill>
          <a:ln>
            <a:noFill/>
          </a:ln>
        </p:spPr>
      </p:sp>
      <p:sp>
        <p:nvSpPr>
          <p:cNvPr id="437" name="K"/>
          <p:cNvSpPr/>
          <p:nvPr/>
        </p:nvSpPr>
        <p:spPr>
          <a:xfrm>
            <a:off x="10219792" y="3063240"/>
            <a:ext cx="329184" cy="329184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438" name="G"/>
          <p:cNvPicPr>
            <a:picLocks noChangeAspect="1"/>
          </p:cNvPicPr>
          <p:nvPr/>
        </p:nvPicPr>
        <p:blipFill>
          <a:blip r:embed="rIdM11"/>
          <a:stretch>
            <a:fillRect/>
          </a:stretch>
        </p:blipFill>
        <p:spPr>
          <a:xfrm>
            <a:off x="10302088" y="3145536"/>
            <a:ext cx="164592" cy="164592"/>
          </a:xfrm>
          <a:prstGeom prst="rect">
            <a:avLst/>
          </a:prstGeom>
        </p:spPr>
      </p:pic>
      <p:sp>
        <p:nvSpPr>
          <p:cNvPr id="439" name="T"/>
          <p:cNvSpPr txBox="1"/>
          <p:nvPr/>
        </p:nvSpPr>
        <p:spPr>
          <a:xfrm>
            <a:off x="10622128" y="2990088"/>
            <a:ext cx="81976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7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20</a:t>
            </a:r>
            <a:r>
              <a:rPr lang="id-ID" sz="17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  / 27</a:t>
            </a:r>
            <a:endParaRPr lang="id-ID" sz="1700"/>
          </a:p>
        </p:txBody>
      </p:sp>
      <p:sp>
        <p:nvSpPr>
          <p:cNvPr id="440" name="T"/>
          <p:cNvSpPr txBox="1"/>
          <p:nvPr/>
        </p:nvSpPr>
        <p:spPr>
          <a:xfrm>
            <a:off x="10622128" y="3273552"/>
            <a:ext cx="840000" cy="1645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dalam penanganan</a:t>
            </a:r>
            <a:endParaRPr lang="id-ID" sz="680"/>
          </a:p>
        </p:txBody>
      </p:sp>
      <p:cxnSp>
        <p:nvCxnSpPr>
          <p:cNvPr id="441" name="L"/>
          <p:cNvCxnSpPr/>
          <p:nvPr/>
        </p:nvCxnSpPr>
        <p:spPr>
          <a:xfrm>
            <a:off x="8668512" y="3557016"/>
            <a:ext cx="2809951" cy="0"/>
          </a:xfrm>
          <a:prstGeom prst="line">
            <a:avLst/>
          </a:prstGeom>
          <a:ln w="9525">
            <a:solidFill>
              <a:srgbClr val="E5E7EB"/>
            </a:solidFill>
          </a:ln>
        </p:spPr>
      </p:cxnSp>
      <p:sp>
        <p:nvSpPr>
          <p:cNvPr id="442" name="T"/>
          <p:cNvSpPr txBox="1"/>
          <p:nvPr/>
        </p:nvSpPr>
        <p:spPr>
          <a:xfrm>
            <a:off x="8668512" y="3621024"/>
            <a:ext cx="2864815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50" b="1" spc="100" dirty="0">
                <a:solidFill>
                  <a:srgbClr val="C8102E"/>
                </a:solidFill>
                <a:latin typeface="Roboto"/>
                <a:ea typeface="Roboto"/>
                <a:cs typeface="Roboto"/>
              </a:rPr>
              <a:t>BENCANA DALAM PENANGANAN (20)</a:t>
            </a:r>
            <a:endParaRPr lang="id-ID" sz="750"/>
          </a:p>
        </p:txBody>
      </p:sp>
      <p:sp>
        <p:nvSpPr>
          <p:cNvPr id="443" name="K"/>
          <p:cNvSpPr/>
          <p:nvPr/>
        </p:nvSpPr>
        <p:spPr>
          <a:xfrm>
            <a:off x="8668512" y="3840480"/>
            <a:ext cx="97300" cy="9730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444" name="G"/>
          <p:cNvPicPr>
            <a:picLocks noChangeAspect="1"/>
          </p:cNvPicPr>
          <p:nvPr/>
        </p:nvPicPr>
        <p:blipFill>
          <a:blip r:embed="rIdM12"/>
          <a:stretch>
            <a:fillRect/>
          </a:stretch>
        </p:blipFill>
        <p:spPr>
          <a:xfrm>
            <a:off x="8686999" y="3858967"/>
            <a:ext cx="60326" cy="60326"/>
          </a:xfrm>
          <a:prstGeom prst="rect">
            <a:avLst/>
          </a:prstGeom>
        </p:spPr>
      </p:pic>
      <p:sp>
        <p:nvSpPr>
          <p:cNvPr id="445" name="T"/>
          <p:cNvSpPr txBox="1"/>
          <p:nvPr/>
        </p:nvSpPr>
        <p:spPr>
          <a:xfrm>
            <a:off x="8869680" y="3806834"/>
            <a:ext cx="1758391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Kalimantan Timur</a:t>
            </a:r>
            <a:endParaRPr lang="id-ID" sz="760"/>
          </a:p>
        </p:txBody>
      </p:sp>
      <p:sp>
        <p:nvSpPr>
          <p:cNvPr id="446" name="K"/>
          <p:cNvSpPr/>
          <p:nvPr/>
        </p:nvSpPr>
        <p:spPr>
          <a:xfrm>
            <a:off x="10470000" y="3840480"/>
            <a:ext cx="1070000" cy="97300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447" name="G"/>
          <p:cNvPicPr>
            <a:picLocks noChangeAspect="1"/>
          </p:cNvPicPr>
          <p:nvPr/>
        </p:nvPicPr>
        <p:blipFill>
          <a:blip r:embed="rIdM13"/>
          <a:stretch>
            <a:fillRect/>
          </a:stretch>
        </p:blipFill>
        <p:spPr>
          <a:xfrm>
            <a:off x="10520000" y="3856048"/>
            <a:ext cx="66164" cy="66164"/>
          </a:xfrm>
          <a:prstGeom prst="rect">
            <a:avLst/>
          </a:prstGeom>
        </p:spPr>
      </p:pic>
      <p:sp>
        <p:nvSpPr>
          <p:cNvPr id="448" name="T"/>
          <p:cNvSpPr txBox="1"/>
          <p:nvPr/>
        </p:nvSpPr>
        <p:spPr>
          <a:xfrm>
            <a:off x="10650000" y="3840480"/>
            <a:ext cx="26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sisa</a:t>
            </a:r>
            <a:endParaRPr lang="id-ID" sz="720"/>
          </a:p>
        </p:txBody>
      </p:sp>
      <p:sp>
        <p:nvSpPr>
          <p:cNvPr id="449" name="T"/>
          <p:cNvSpPr txBox="1"/>
          <p:nvPr/>
        </p:nvSpPr>
        <p:spPr>
          <a:xfrm>
            <a:off x="10800000" y="3840480"/>
            <a:ext cx="38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± 461</a:t>
            </a:r>
            <a:endParaRPr lang="id-ID" sz="720"/>
          </a:p>
        </p:txBody>
      </p:sp>
      <p:sp>
        <p:nvSpPr>
          <p:cNvPr id="450" name="T"/>
          <p:cNvSpPr txBox="1"/>
          <p:nvPr/>
        </p:nvSpPr>
        <p:spPr>
          <a:xfrm>
            <a:off x="11201600" y="3840480"/>
            <a:ext cx="2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ha</a:t>
            </a:r>
            <a:endParaRPr lang="id-ID" sz="720"/>
          </a:p>
        </p:txBody>
      </p:sp>
      <p:cxnSp>
        <p:nvCxnSpPr>
          <p:cNvPr id="451" name="L"/>
          <p:cNvCxnSpPr/>
          <p:nvPr/>
        </p:nvCxnSpPr>
        <p:spPr>
          <a:xfrm>
            <a:off x="8668512" y="3949943"/>
            <a:ext cx="2809951" cy="0"/>
          </a:xfrm>
          <a:prstGeom prst="line">
            <a:avLst/>
          </a:prstGeom>
          <a:ln w="9525">
            <a:solidFill>
              <a:srgbClr val="F1F2F4"/>
            </a:solidFill>
          </a:ln>
        </p:spPr>
      </p:cxnSp>
      <p:sp>
        <p:nvSpPr>
          <p:cNvPr id="452" name="K"/>
          <p:cNvSpPr/>
          <p:nvPr/>
        </p:nvSpPr>
        <p:spPr>
          <a:xfrm>
            <a:off x="8668512" y="3962106"/>
            <a:ext cx="97300" cy="9730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453" name="G"/>
          <p:cNvPicPr>
            <a:picLocks noChangeAspect="1"/>
          </p:cNvPicPr>
          <p:nvPr/>
        </p:nvPicPr>
        <p:blipFill>
          <a:blip r:embed="rIdM12"/>
          <a:stretch>
            <a:fillRect/>
          </a:stretch>
        </p:blipFill>
        <p:spPr>
          <a:xfrm>
            <a:off x="8686999" y="3980593"/>
            <a:ext cx="60326" cy="60326"/>
          </a:xfrm>
          <a:prstGeom prst="rect">
            <a:avLst/>
          </a:prstGeom>
        </p:spPr>
      </p:pic>
      <p:sp>
        <p:nvSpPr>
          <p:cNvPr id="454" name="K"/>
          <p:cNvSpPr/>
          <p:nvPr/>
        </p:nvSpPr>
        <p:spPr>
          <a:xfrm>
            <a:off x="8736622" y="3942646"/>
            <a:ext cx="53515" cy="53515"/>
          </a:xfrm>
          <a:prstGeom prst="ellipse">
            <a:avLst/>
          </a:prstGeom>
          <a:solidFill>
            <a:srgbClr val="C8102E"/>
          </a:solidFill>
          <a:ln w="6350">
            <a:solidFill>
              <a:srgbClr val="FFFFFF"/>
            </a:solidFill>
          </a:ln>
        </p:spPr>
      </p:sp>
      <p:sp>
        <p:nvSpPr>
          <p:cNvPr id="455" name="T"/>
          <p:cNvSpPr txBox="1"/>
          <p:nvPr/>
        </p:nvSpPr>
        <p:spPr>
          <a:xfrm>
            <a:off x="8736622" y="3942646"/>
            <a:ext cx="53515" cy="5351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!</a:t>
            </a:r>
            <a:endParaRPr lang="id-ID" sz="500"/>
          </a:p>
        </p:txBody>
      </p:sp>
      <p:sp>
        <p:nvSpPr>
          <p:cNvPr id="456" name="T"/>
          <p:cNvSpPr txBox="1"/>
          <p:nvPr/>
        </p:nvSpPr>
        <p:spPr>
          <a:xfrm>
            <a:off x="8869680" y="3928460"/>
            <a:ext cx="1758391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Papua Selatan</a:t>
            </a:r>
            <a:endParaRPr lang="id-ID" sz="760"/>
          </a:p>
        </p:txBody>
      </p:sp>
      <p:sp>
        <p:nvSpPr>
          <p:cNvPr id="457" name="K"/>
          <p:cNvSpPr/>
          <p:nvPr/>
        </p:nvSpPr>
        <p:spPr>
          <a:xfrm>
            <a:off x="10470000" y="3962106"/>
            <a:ext cx="1070000" cy="97300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458" name="G"/>
          <p:cNvPicPr>
            <a:picLocks noChangeAspect="1"/>
          </p:cNvPicPr>
          <p:nvPr/>
        </p:nvPicPr>
        <p:blipFill>
          <a:blip r:embed="rIdM13"/>
          <a:stretch>
            <a:fillRect/>
          </a:stretch>
        </p:blipFill>
        <p:spPr>
          <a:xfrm>
            <a:off x="10520000" y="3977674"/>
            <a:ext cx="66164" cy="66164"/>
          </a:xfrm>
          <a:prstGeom prst="rect">
            <a:avLst/>
          </a:prstGeom>
        </p:spPr>
      </p:pic>
      <p:sp>
        <p:nvSpPr>
          <p:cNvPr id="459" name="T"/>
          <p:cNvSpPr txBox="1"/>
          <p:nvPr/>
        </p:nvSpPr>
        <p:spPr>
          <a:xfrm>
            <a:off x="10650000" y="3962106"/>
            <a:ext cx="26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sisa</a:t>
            </a:r>
            <a:endParaRPr lang="id-ID" sz="720"/>
          </a:p>
        </p:txBody>
      </p:sp>
      <p:sp>
        <p:nvSpPr>
          <p:cNvPr id="460" name="T"/>
          <p:cNvSpPr txBox="1"/>
          <p:nvPr/>
        </p:nvSpPr>
        <p:spPr>
          <a:xfrm>
            <a:off x="10800000" y="3962106"/>
            <a:ext cx="38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± 373</a:t>
            </a:r>
            <a:endParaRPr lang="id-ID" sz="720"/>
          </a:p>
        </p:txBody>
      </p:sp>
      <p:sp>
        <p:nvSpPr>
          <p:cNvPr id="461" name="T"/>
          <p:cNvSpPr txBox="1"/>
          <p:nvPr/>
        </p:nvSpPr>
        <p:spPr>
          <a:xfrm>
            <a:off x="11201600" y="3962106"/>
            <a:ext cx="2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ha</a:t>
            </a:r>
            <a:endParaRPr lang="id-ID" sz="720"/>
          </a:p>
        </p:txBody>
      </p:sp>
      <p:cxnSp>
        <p:nvCxnSpPr>
          <p:cNvPr id="462" name="L"/>
          <p:cNvCxnSpPr/>
          <p:nvPr/>
        </p:nvCxnSpPr>
        <p:spPr>
          <a:xfrm>
            <a:off x="8668512" y="4071569"/>
            <a:ext cx="2809951" cy="0"/>
          </a:xfrm>
          <a:prstGeom prst="line">
            <a:avLst/>
          </a:prstGeom>
          <a:ln w="9525">
            <a:solidFill>
              <a:srgbClr val="F1F2F4"/>
            </a:solidFill>
          </a:ln>
        </p:spPr>
      </p:cxnSp>
      <p:sp>
        <p:nvSpPr>
          <p:cNvPr id="463" name="K"/>
          <p:cNvSpPr/>
          <p:nvPr/>
        </p:nvSpPr>
        <p:spPr>
          <a:xfrm>
            <a:off x="8668512" y="4083732"/>
            <a:ext cx="97300" cy="9730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464" name="G"/>
          <p:cNvPicPr>
            <a:picLocks noChangeAspect="1"/>
          </p:cNvPicPr>
          <p:nvPr/>
        </p:nvPicPr>
        <p:blipFill>
          <a:blip r:embed="rIdM12"/>
          <a:stretch>
            <a:fillRect/>
          </a:stretch>
        </p:blipFill>
        <p:spPr>
          <a:xfrm>
            <a:off x="8686999" y="4102219"/>
            <a:ext cx="60326" cy="60326"/>
          </a:xfrm>
          <a:prstGeom prst="rect">
            <a:avLst/>
          </a:prstGeom>
        </p:spPr>
      </p:pic>
      <p:sp>
        <p:nvSpPr>
          <p:cNvPr id="465" name="T"/>
          <p:cNvSpPr txBox="1"/>
          <p:nvPr/>
        </p:nvSpPr>
        <p:spPr>
          <a:xfrm>
            <a:off x="8869680" y="4050086"/>
            <a:ext cx="1758391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Sulawesi Selatan</a:t>
            </a:r>
            <a:endParaRPr lang="id-ID" sz="760"/>
          </a:p>
        </p:txBody>
      </p:sp>
      <p:sp>
        <p:nvSpPr>
          <p:cNvPr id="466" name="K"/>
          <p:cNvSpPr/>
          <p:nvPr/>
        </p:nvSpPr>
        <p:spPr>
          <a:xfrm>
            <a:off x="10470000" y="4083732"/>
            <a:ext cx="1070000" cy="97300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467" name="G"/>
          <p:cNvPicPr>
            <a:picLocks noChangeAspect="1"/>
          </p:cNvPicPr>
          <p:nvPr/>
        </p:nvPicPr>
        <p:blipFill>
          <a:blip r:embed="rIdM13"/>
          <a:stretch>
            <a:fillRect/>
          </a:stretch>
        </p:blipFill>
        <p:spPr>
          <a:xfrm>
            <a:off x="10520000" y="4099300"/>
            <a:ext cx="66164" cy="66164"/>
          </a:xfrm>
          <a:prstGeom prst="rect">
            <a:avLst/>
          </a:prstGeom>
        </p:spPr>
      </p:pic>
      <p:sp>
        <p:nvSpPr>
          <p:cNvPr id="468" name="T"/>
          <p:cNvSpPr txBox="1"/>
          <p:nvPr/>
        </p:nvSpPr>
        <p:spPr>
          <a:xfrm>
            <a:off x="10650000" y="4083732"/>
            <a:ext cx="26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sisa</a:t>
            </a:r>
            <a:endParaRPr lang="id-ID" sz="720"/>
          </a:p>
        </p:txBody>
      </p:sp>
      <p:sp>
        <p:nvSpPr>
          <p:cNvPr id="469" name="T"/>
          <p:cNvSpPr txBox="1"/>
          <p:nvPr/>
        </p:nvSpPr>
        <p:spPr>
          <a:xfrm>
            <a:off x="10800000" y="4083732"/>
            <a:ext cx="38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± 95</a:t>
            </a:r>
            <a:endParaRPr lang="id-ID" sz="720"/>
          </a:p>
        </p:txBody>
      </p:sp>
      <p:sp>
        <p:nvSpPr>
          <p:cNvPr id="470" name="T"/>
          <p:cNvSpPr txBox="1"/>
          <p:nvPr/>
        </p:nvSpPr>
        <p:spPr>
          <a:xfrm>
            <a:off x="11201600" y="4083732"/>
            <a:ext cx="2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ha</a:t>
            </a:r>
            <a:endParaRPr lang="id-ID" sz="720"/>
          </a:p>
        </p:txBody>
      </p:sp>
      <p:cxnSp>
        <p:nvCxnSpPr>
          <p:cNvPr id="471" name="L"/>
          <p:cNvCxnSpPr/>
          <p:nvPr/>
        </p:nvCxnSpPr>
        <p:spPr>
          <a:xfrm>
            <a:off x="8668512" y="4193195"/>
            <a:ext cx="2809951" cy="0"/>
          </a:xfrm>
          <a:prstGeom prst="line">
            <a:avLst/>
          </a:prstGeom>
          <a:ln w="9525">
            <a:solidFill>
              <a:srgbClr val="F1F2F4"/>
            </a:solidFill>
          </a:ln>
        </p:spPr>
      </p:cxnSp>
      <p:sp>
        <p:nvSpPr>
          <p:cNvPr id="472" name="K"/>
          <p:cNvSpPr/>
          <p:nvPr/>
        </p:nvSpPr>
        <p:spPr>
          <a:xfrm>
            <a:off x="8668512" y="4205358"/>
            <a:ext cx="97300" cy="9730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473" name="G"/>
          <p:cNvPicPr>
            <a:picLocks noChangeAspect="1"/>
          </p:cNvPicPr>
          <p:nvPr/>
        </p:nvPicPr>
        <p:blipFill>
          <a:blip r:embed="rIdM12"/>
          <a:stretch>
            <a:fillRect/>
          </a:stretch>
        </p:blipFill>
        <p:spPr>
          <a:xfrm>
            <a:off x="8686999" y="4223845"/>
            <a:ext cx="60326" cy="60326"/>
          </a:xfrm>
          <a:prstGeom prst="rect">
            <a:avLst/>
          </a:prstGeom>
        </p:spPr>
      </p:pic>
      <p:sp>
        <p:nvSpPr>
          <p:cNvPr id="474" name="K"/>
          <p:cNvSpPr/>
          <p:nvPr/>
        </p:nvSpPr>
        <p:spPr>
          <a:xfrm>
            <a:off x="8736622" y="4185898"/>
            <a:ext cx="53515" cy="53515"/>
          </a:xfrm>
          <a:prstGeom prst="ellipse">
            <a:avLst/>
          </a:prstGeom>
          <a:solidFill>
            <a:srgbClr val="C8102E"/>
          </a:solidFill>
          <a:ln w="6350">
            <a:solidFill>
              <a:srgbClr val="FFFFFF"/>
            </a:solidFill>
          </a:ln>
        </p:spPr>
      </p:sp>
      <p:sp>
        <p:nvSpPr>
          <p:cNvPr id="475" name="T"/>
          <p:cNvSpPr txBox="1"/>
          <p:nvPr/>
        </p:nvSpPr>
        <p:spPr>
          <a:xfrm>
            <a:off x="8736622" y="4185898"/>
            <a:ext cx="53515" cy="5351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!</a:t>
            </a:r>
            <a:endParaRPr lang="id-ID" sz="500"/>
          </a:p>
        </p:txBody>
      </p:sp>
      <p:sp>
        <p:nvSpPr>
          <p:cNvPr id="476" name="T"/>
          <p:cNvSpPr txBox="1"/>
          <p:nvPr/>
        </p:nvSpPr>
        <p:spPr>
          <a:xfrm>
            <a:off x="8869680" y="4171712"/>
            <a:ext cx="1758391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Sulawesi Tenggara</a:t>
            </a:r>
            <a:endParaRPr lang="id-ID" sz="760"/>
          </a:p>
        </p:txBody>
      </p:sp>
      <p:sp>
        <p:nvSpPr>
          <p:cNvPr id="477" name="K"/>
          <p:cNvSpPr/>
          <p:nvPr/>
        </p:nvSpPr>
        <p:spPr>
          <a:xfrm>
            <a:off x="10470000" y="4205358"/>
            <a:ext cx="1070000" cy="97300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478" name="G"/>
          <p:cNvPicPr>
            <a:picLocks noChangeAspect="1"/>
          </p:cNvPicPr>
          <p:nvPr/>
        </p:nvPicPr>
        <p:blipFill>
          <a:blip r:embed="rIdM13"/>
          <a:stretch>
            <a:fillRect/>
          </a:stretch>
        </p:blipFill>
        <p:spPr>
          <a:xfrm>
            <a:off x="10520000" y="4220926"/>
            <a:ext cx="66164" cy="66164"/>
          </a:xfrm>
          <a:prstGeom prst="rect">
            <a:avLst/>
          </a:prstGeom>
        </p:spPr>
      </p:pic>
      <p:sp>
        <p:nvSpPr>
          <p:cNvPr id="479" name="T"/>
          <p:cNvSpPr txBox="1"/>
          <p:nvPr/>
        </p:nvSpPr>
        <p:spPr>
          <a:xfrm>
            <a:off x="10650000" y="4205358"/>
            <a:ext cx="26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sisa</a:t>
            </a:r>
            <a:endParaRPr lang="id-ID" sz="720"/>
          </a:p>
        </p:txBody>
      </p:sp>
      <p:sp>
        <p:nvSpPr>
          <p:cNvPr id="480" name="T"/>
          <p:cNvSpPr txBox="1"/>
          <p:nvPr/>
        </p:nvSpPr>
        <p:spPr>
          <a:xfrm>
            <a:off x="10800000" y="4205358"/>
            <a:ext cx="38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± 79</a:t>
            </a:r>
            <a:endParaRPr lang="id-ID" sz="720"/>
          </a:p>
        </p:txBody>
      </p:sp>
      <p:sp>
        <p:nvSpPr>
          <p:cNvPr id="481" name="T"/>
          <p:cNvSpPr txBox="1"/>
          <p:nvPr/>
        </p:nvSpPr>
        <p:spPr>
          <a:xfrm>
            <a:off x="11201600" y="4205358"/>
            <a:ext cx="2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ha</a:t>
            </a:r>
            <a:endParaRPr lang="id-ID" sz="720"/>
          </a:p>
        </p:txBody>
      </p:sp>
      <p:cxnSp>
        <p:nvCxnSpPr>
          <p:cNvPr id="482" name="L"/>
          <p:cNvCxnSpPr/>
          <p:nvPr/>
        </p:nvCxnSpPr>
        <p:spPr>
          <a:xfrm>
            <a:off x="8668512" y="4314821"/>
            <a:ext cx="2809951" cy="0"/>
          </a:xfrm>
          <a:prstGeom prst="line">
            <a:avLst/>
          </a:prstGeom>
          <a:ln w="9525">
            <a:solidFill>
              <a:srgbClr val="F1F2F4"/>
            </a:solidFill>
          </a:ln>
        </p:spPr>
      </p:cxnSp>
      <p:sp>
        <p:nvSpPr>
          <p:cNvPr id="483" name="K"/>
          <p:cNvSpPr/>
          <p:nvPr/>
        </p:nvSpPr>
        <p:spPr>
          <a:xfrm>
            <a:off x="8668512" y="4326984"/>
            <a:ext cx="97300" cy="9730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484" name="G"/>
          <p:cNvPicPr>
            <a:picLocks noChangeAspect="1"/>
          </p:cNvPicPr>
          <p:nvPr/>
        </p:nvPicPr>
        <p:blipFill>
          <a:blip r:embed="rIdM12"/>
          <a:stretch>
            <a:fillRect/>
          </a:stretch>
        </p:blipFill>
        <p:spPr>
          <a:xfrm>
            <a:off x="8686999" y="4345471"/>
            <a:ext cx="60326" cy="60326"/>
          </a:xfrm>
          <a:prstGeom prst="rect">
            <a:avLst/>
          </a:prstGeom>
        </p:spPr>
      </p:pic>
      <p:sp>
        <p:nvSpPr>
          <p:cNvPr id="485" name="T"/>
          <p:cNvSpPr txBox="1"/>
          <p:nvPr/>
        </p:nvSpPr>
        <p:spPr>
          <a:xfrm>
            <a:off x="8869680" y="4293338"/>
            <a:ext cx="1758391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Sulawesi Tengah</a:t>
            </a:r>
            <a:endParaRPr lang="id-ID" sz="760"/>
          </a:p>
        </p:txBody>
      </p:sp>
      <p:sp>
        <p:nvSpPr>
          <p:cNvPr id="486" name="K"/>
          <p:cNvSpPr/>
          <p:nvPr/>
        </p:nvSpPr>
        <p:spPr>
          <a:xfrm>
            <a:off x="10470000" y="4326984"/>
            <a:ext cx="1070000" cy="97300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487" name="G"/>
          <p:cNvPicPr>
            <a:picLocks noChangeAspect="1"/>
          </p:cNvPicPr>
          <p:nvPr/>
        </p:nvPicPr>
        <p:blipFill>
          <a:blip r:embed="rIdM13"/>
          <a:stretch>
            <a:fillRect/>
          </a:stretch>
        </p:blipFill>
        <p:spPr>
          <a:xfrm>
            <a:off x="10520000" y="4342552"/>
            <a:ext cx="66164" cy="66164"/>
          </a:xfrm>
          <a:prstGeom prst="rect">
            <a:avLst/>
          </a:prstGeom>
        </p:spPr>
      </p:pic>
      <p:sp>
        <p:nvSpPr>
          <p:cNvPr id="488" name="T"/>
          <p:cNvSpPr txBox="1"/>
          <p:nvPr/>
        </p:nvSpPr>
        <p:spPr>
          <a:xfrm>
            <a:off x="10650000" y="4326984"/>
            <a:ext cx="26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sisa</a:t>
            </a:r>
            <a:endParaRPr lang="id-ID" sz="720"/>
          </a:p>
        </p:txBody>
      </p:sp>
      <p:sp>
        <p:nvSpPr>
          <p:cNvPr id="489" name="T"/>
          <p:cNvSpPr txBox="1"/>
          <p:nvPr/>
        </p:nvSpPr>
        <p:spPr>
          <a:xfrm>
            <a:off x="10800000" y="4326984"/>
            <a:ext cx="38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± 64</a:t>
            </a:r>
            <a:endParaRPr lang="id-ID" sz="720"/>
          </a:p>
        </p:txBody>
      </p:sp>
      <p:sp>
        <p:nvSpPr>
          <p:cNvPr id="490" name="T"/>
          <p:cNvSpPr txBox="1"/>
          <p:nvPr/>
        </p:nvSpPr>
        <p:spPr>
          <a:xfrm>
            <a:off x="11201600" y="4326984"/>
            <a:ext cx="2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ha</a:t>
            </a:r>
            <a:endParaRPr lang="id-ID" sz="720"/>
          </a:p>
        </p:txBody>
      </p:sp>
      <p:cxnSp>
        <p:nvCxnSpPr>
          <p:cNvPr id="491" name="L"/>
          <p:cNvCxnSpPr/>
          <p:nvPr/>
        </p:nvCxnSpPr>
        <p:spPr>
          <a:xfrm>
            <a:off x="8668512" y="4436447"/>
            <a:ext cx="2809951" cy="0"/>
          </a:xfrm>
          <a:prstGeom prst="line">
            <a:avLst/>
          </a:prstGeom>
          <a:ln w="9525">
            <a:solidFill>
              <a:srgbClr val="F1F2F4"/>
            </a:solidFill>
          </a:ln>
        </p:spPr>
      </p:cxnSp>
      <p:sp>
        <p:nvSpPr>
          <p:cNvPr id="492" name="K"/>
          <p:cNvSpPr/>
          <p:nvPr/>
        </p:nvSpPr>
        <p:spPr>
          <a:xfrm>
            <a:off x="8668512" y="4448610"/>
            <a:ext cx="97300" cy="9730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493" name="G"/>
          <p:cNvPicPr>
            <a:picLocks noChangeAspect="1"/>
          </p:cNvPicPr>
          <p:nvPr/>
        </p:nvPicPr>
        <p:blipFill>
          <a:blip r:embed="rIdM12"/>
          <a:stretch>
            <a:fillRect/>
          </a:stretch>
        </p:blipFill>
        <p:spPr>
          <a:xfrm>
            <a:off x="8686999" y="4467097"/>
            <a:ext cx="60326" cy="60326"/>
          </a:xfrm>
          <a:prstGeom prst="rect">
            <a:avLst/>
          </a:prstGeom>
        </p:spPr>
      </p:pic>
      <p:sp>
        <p:nvSpPr>
          <p:cNvPr id="494" name="T"/>
          <p:cNvSpPr txBox="1"/>
          <p:nvPr/>
        </p:nvSpPr>
        <p:spPr>
          <a:xfrm>
            <a:off x="8869680" y="4414964"/>
            <a:ext cx="1758391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Kalimantan Selatan</a:t>
            </a:r>
            <a:endParaRPr lang="id-ID" sz="760"/>
          </a:p>
        </p:txBody>
      </p:sp>
      <p:sp>
        <p:nvSpPr>
          <p:cNvPr id="495" name="K"/>
          <p:cNvSpPr/>
          <p:nvPr/>
        </p:nvSpPr>
        <p:spPr>
          <a:xfrm>
            <a:off x="10470000" y="4448610"/>
            <a:ext cx="1070000" cy="97300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496" name="G"/>
          <p:cNvPicPr>
            <a:picLocks noChangeAspect="1"/>
          </p:cNvPicPr>
          <p:nvPr/>
        </p:nvPicPr>
        <p:blipFill>
          <a:blip r:embed="rIdM13"/>
          <a:stretch>
            <a:fillRect/>
          </a:stretch>
        </p:blipFill>
        <p:spPr>
          <a:xfrm>
            <a:off x="10520000" y="4464178"/>
            <a:ext cx="66164" cy="66164"/>
          </a:xfrm>
          <a:prstGeom prst="rect">
            <a:avLst/>
          </a:prstGeom>
        </p:spPr>
      </p:pic>
      <p:sp>
        <p:nvSpPr>
          <p:cNvPr id="497" name="T"/>
          <p:cNvSpPr txBox="1"/>
          <p:nvPr/>
        </p:nvSpPr>
        <p:spPr>
          <a:xfrm>
            <a:off x="10650000" y="4448610"/>
            <a:ext cx="26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sisa</a:t>
            </a:r>
            <a:endParaRPr lang="id-ID" sz="720"/>
          </a:p>
        </p:txBody>
      </p:sp>
      <p:sp>
        <p:nvSpPr>
          <p:cNvPr id="498" name="T"/>
          <p:cNvSpPr txBox="1"/>
          <p:nvPr/>
        </p:nvSpPr>
        <p:spPr>
          <a:xfrm>
            <a:off x="10800000" y="4448610"/>
            <a:ext cx="38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± 62</a:t>
            </a:r>
            <a:endParaRPr lang="id-ID" sz="720"/>
          </a:p>
        </p:txBody>
      </p:sp>
      <p:sp>
        <p:nvSpPr>
          <p:cNvPr id="499" name="T"/>
          <p:cNvSpPr txBox="1"/>
          <p:nvPr/>
        </p:nvSpPr>
        <p:spPr>
          <a:xfrm>
            <a:off x="11201600" y="4448610"/>
            <a:ext cx="2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ha</a:t>
            </a:r>
            <a:endParaRPr lang="id-ID" sz="720"/>
          </a:p>
        </p:txBody>
      </p:sp>
      <p:cxnSp>
        <p:nvCxnSpPr>
          <p:cNvPr id="500" name="L"/>
          <p:cNvCxnSpPr/>
          <p:nvPr/>
        </p:nvCxnSpPr>
        <p:spPr>
          <a:xfrm>
            <a:off x="8668512" y="4558073"/>
            <a:ext cx="2809951" cy="0"/>
          </a:xfrm>
          <a:prstGeom prst="line">
            <a:avLst/>
          </a:prstGeom>
          <a:ln w="9525">
            <a:solidFill>
              <a:srgbClr val="F1F2F4"/>
            </a:solidFill>
          </a:ln>
        </p:spPr>
      </p:cxnSp>
      <p:sp>
        <p:nvSpPr>
          <p:cNvPr id="501" name="K"/>
          <p:cNvSpPr/>
          <p:nvPr/>
        </p:nvSpPr>
        <p:spPr>
          <a:xfrm>
            <a:off x="8668512" y="4570236"/>
            <a:ext cx="97300" cy="9730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502" name="G"/>
          <p:cNvPicPr>
            <a:picLocks noChangeAspect="1"/>
          </p:cNvPicPr>
          <p:nvPr/>
        </p:nvPicPr>
        <p:blipFill>
          <a:blip r:embed="rIdM12"/>
          <a:stretch>
            <a:fillRect/>
          </a:stretch>
        </p:blipFill>
        <p:spPr>
          <a:xfrm>
            <a:off x="8686999" y="4588723"/>
            <a:ext cx="60326" cy="60326"/>
          </a:xfrm>
          <a:prstGeom prst="rect">
            <a:avLst/>
          </a:prstGeom>
        </p:spPr>
      </p:pic>
      <p:sp>
        <p:nvSpPr>
          <p:cNvPr id="503" name="K"/>
          <p:cNvSpPr/>
          <p:nvPr/>
        </p:nvSpPr>
        <p:spPr>
          <a:xfrm>
            <a:off x="8736622" y="4550776"/>
            <a:ext cx="53515" cy="53515"/>
          </a:xfrm>
          <a:prstGeom prst="ellipse">
            <a:avLst/>
          </a:prstGeom>
          <a:solidFill>
            <a:srgbClr val="C8102E"/>
          </a:solidFill>
          <a:ln w="6350">
            <a:solidFill>
              <a:srgbClr val="FFFFFF"/>
            </a:solidFill>
          </a:ln>
        </p:spPr>
      </p:sp>
      <p:sp>
        <p:nvSpPr>
          <p:cNvPr id="504" name="T"/>
          <p:cNvSpPr txBox="1"/>
          <p:nvPr/>
        </p:nvSpPr>
        <p:spPr>
          <a:xfrm>
            <a:off x="8736622" y="4550776"/>
            <a:ext cx="53515" cy="5351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!</a:t>
            </a:r>
            <a:endParaRPr lang="id-ID" sz="500"/>
          </a:p>
        </p:txBody>
      </p:sp>
      <p:sp>
        <p:nvSpPr>
          <p:cNvPr id="505" name="T"/>
          <p:cNvSpPr txBox="1"/>
          <p:nvPr/>
        </p:nvSpPr>
        <p:spPr>
          <a:xfrm>
            <a:off x="8869680" y="4536590"/>
            <a:ext cx="1758391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Sumatera Selatan</a:t>
            </a:r>
            <a:endParaRPr lang="id-ID" sz="760"/>
          </a:p>
        </p:txBody>
      </p:sp>
      <p:sp>
        <p:nvSpPr>
          <p:cNvPr id="506" name="K"/>
          <p:cNvSpPr/>
          <p:nvPr/>
        </p:nvSpPr>
        <p:spPr>
          <a:xfrm>
            <a:off x="10470000" y="4570236"/>
            <a:ext cx="1070000" cy="97300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507" name="G"/>
          <p:cNvPicPr>
            <a:picLocks noChangeAspect="1"/>
          </p:cNvPicPr>
          <p:nvPr/>
        </p:nvPicPr>
        <p:blipFill>
          <a:blip r:embed="rIdM13"/>
          <a:stretch>
            <a:fillRect/>
          </a:stretch>
        </p:blipFill>
        <p:spPr>
          <a:xfrm>
            <a:off x="10520000" y="4585804"/>
            <a:ext cx="66164" cy="66164"/>
          </a:xfrm>
          <a:prstGeom prst="rect">
            <a:avLst/>
          </a:prstGeom>
        </p:spPr>
      </p:pic>
      <p:sp>
        <p:nvSpPr>
          <p:cNvPr id="508" name="T"/>
          <p:cNvSpPr txBox="1"/>
          <p:nvPr/>
        </p:nvSpPr>
        <p:spPr>
          <a:xfrm>
            <a:off x="10650000" y="4570236"/>
            <a:ext cx="26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sisa</a:t>
            </a:r>
            <a:endParaRPr lang="id-ID" sz="720"/>
          </a:p>
        </p:txBody>
      </p:sp>
      <p:sp>
        <p:nvSpPr>
          <p:cNvPr id="509" name="T"/>
          <p:cNvSpPr txBox="1"/>
          <p:nvPr/>
        </p:nvSpPr>
        <p:spPr>
          <a:xfrm>
            <a:off x="10800000" y="4570236"/>
            <a:ext cx="38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± 35</a:t>
            </a:r>
            <a:endParaRPr lang="id-ID" sz="720"/>
          </a:p>
        </p:txBody>
      </p:sp>
      <p:sp>
        <p:nvSpPr>
          <p:cNvPr id="510" name="T"/>
          <p:cNvSpPr txBox="1"/>
          <p:nvPr/>
        </p:nvSpPr>
        <p:spPr>
          <a:xfrm>
            <a:off x="11201600" y="4570236"/>
            <a:ext cx="2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ha</a:t>
            </a:r>
            <a:endParaRPr lang="id-ID" sz="720"/>
          </a:p>
        </p:txBody>
      </p:sp>
      <p:cxnSp>
        <p:nvCxnSpPr>
          <p:cNvPr id="511" name="L"/>
          <p:cNvCxnSpPr/>
          <p:nvPr/>
        </p:nvCxnSpPr>
        <p:spPr>
          <a:xfrm>
            <a:off x="8668512" y="4679699"/>
            <a:ext cx="2809951" cy="0"/>
          </a:xfrm>
          <a:prstGeom prst="line">
            <a:avLst/>
          </a:prstGeom>
          <a:ln w="9525">
            <a:solidFill>
              <a:srgbClr val="F1F2F4"/>
            </a:solidFill>
          </a:ln>
        </p:spPr>
      </p:cxnSp>
      <p:sp>
        <p:nvSpPr>
          <p:cNvPr id="512" name="K"/>
          <p:cNvSpPr/>
          <p:nvPr/>
        </p:nvSpPr>
        <p:spPr>
          <a:xfrm>
            <a:off x="8668512" y="4691862"/>
            <a:ext cx="97300" cy="97300"/>
          </a:xfrm>
          <a:prstGeom prst="ellipse">
            <a:avLst/>
          </a:prstGeom>
          <a:solidFill>
            <a:srgbClr val="B08A3E"/>
          </a:solidFill>
          <a:ln>
            <a:noFill/>
          </a:ln>
        </p:spPr>
      </p:sp>
      <p:pic>
        <p:nvPicPr>
          <p:cNvPr id="513" name="G"/>
          <p:cNvPicPr>
            <a:picLocks noChangeAspect="1"/>
          </p:cNvPicPr>
          <p:nvPr/>
        </p:nvPicPr>
        <p:blipFill>
          <a:blip r:embed="rIdM14"/>
          <a:stretch>
            <a:fillRect/>
          </a:stretch>
        </p:blipFill>
        <p:spPr>
          <a:xfrm>
            <a:off x="8686999" y="4710349"/>
            <a:ext cx="60326" cy="60326"/>
          </a:xfrm>
          <a:prstGeom prst="rect">
            <a:avLst/>
          </a:prstGeom>
        </p:spPr>
      </p:pic>
      <p:sp>
        <p:nvSpPr>
          <p:cNvPr id="514" name="T"/>
          <p:cNvSpPr txBox="1"/>
          <p:nvPr/>
        </p:nvSpPr>
        <p:spPr>
          <a:xfrm>
            <a:off x="8869680" y="4658216"/>
            <a:ext cx="1758391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Kekeringan</a:t>
            </a:r>
            <a:r>
              <a:rPr lang="id-ID" sz="76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, 7 kab/kota di 4 provinsi</a:t>
            </a:r>
            <a:endParaRPr lang="id-ID" sz="760"/>
          </a:p>
        </p:txBody>
      </p:sp>
      <p:sp>
        <p:nvSpPr>
          <p:cNvPr id="515" name="K"/>
          <p:cNvSpPr/>
          <p:nvPr/>
        </p:nvSpPr>
        <p:spPr>
          <a:xfrm>
            <a:off x="10470000" y="4691862"/>
            <a:ext cx="1070000" cy="97300"/>
          </a:xfrm>
          <a:prstGeom prst="roundRect">
            <a:avLst>
              <a:gd name="adj" fmla="val 50000"/>
            </a:avLst>
          </a:prstGeom>
          <a:solidFill>
            <a:srgbClr val="F4ECDC"/>
          </a:solidFill>
          <a:ln>
            <a:noFill/>
          </a:ln>
        </p:spPr>
      </p:sp>
      <p:pic>
        <p:nvPicPr>
          <p:cNvPr id="516" name="G"/>
          <p:cNvPicPr>
            <a:picLocks noChangeAspect="1"/>
          </p:cNvPicPr>
          <p:nvPr/>
        </p:nvPicPr>
        <p:blipFill>
          <a:blip r:embed="rIdM15"/>
          <a:stretch>
            <a:fillRect/>
          </a:stretch>
        </p:blipFill>
        <p:spPr>
          <a:xfrm>
            <a:off x="10520000" y="4707430"/>
            <a:ext cx="66164" cy="66164"/>
          </a:xfrm>
          <a:prstGeom prst="rect">
            <a:avLst/>
          </a:prstGeom>
        </p:spPr>
      </p:pic>
      <p:sp>
        <p:nvSpPr>
          <p:cNvPr id="517" name="T"/>
          <p:cNvSpPr txBox="1"/>
          <p:nvPr/>
        </p:nvSpPr>
        <p:spPr>
          <a:xfrm>
            <a:off x="10680000" y="4691862"/>
            <a:ext cx="5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8A6A2E"/>
                </a:solidFill>
                <a:latin typeface="Roboto"/>
                <a:ea typeface="Roboto"/>
                <a:cs typeface="Roboto"/>
              </a:rPr>
              <a:t>24.400</a:t>
            </a:r>
            <a:endParaRPr lang="id-ID" sz="720"/>
          </a:p>
        </p:txBody>
      </p:sp>
      <p:sp>
        <p:nvSpPr>
          <p:cNvPr id="518" name="T"/>
          <p:cNvSpPr txBox="1"/>
          <p:nvPr/>
        </p:nvSpPr>
        <p:spPr>
          <a:xfrm>
            <a:off x="11201600" y="4691862"/>
            <a:ext cx="3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8A6A2E"/>
                </a:solidFill>
                <a:latin typeface="Roboto"/>
                <a:ea typeface="Roboto"/>
                <a:cs typeface="Roboto"/>
              </a:rPr>
              <a:t>KK</a:t>
            </a:r>
            <a:endParaRPr lang="id-ID" sz="720"/>
          </a:p>
        </p:txBody>
      </p:sp>
      <p:cxnSp>
        <p:nvCxnSpPr>
          <p:cNvPr id="519" name="L"/>
          <p:cNvCxnSpPr/>
          <p:nvPr/>
        </p:nvCxnSpPr>
        <p:spPr>
          <a:xfrm>
            <a:off x="8668512" y="4801325"/>
            <a:ext cx="2809951" cy="0"/>
          </a:xfrm>
          <a:prstGeom prst="line">
            <a:avLst/>
          </a:prstGeom>
          <a:ln w="9525">
            <a:solidFill>
              <a:srgbClr val="F1F2F4"/>
            </a:solidFill>
          </a:ln>
        </p:spPr>
      </p:cxnSp>
      <p:sp>
        <p:nvSpPr>
          <p:cNvPr id="520" name="K"/>
          <p:cNvSpPr/>
          <p:nvPr/>
        </p:nvSpPr>
        <p:spPr>
          <a:xfrm>
            <a:off x="8668512" y="4813488"/>
            <a:ext cx="97300" cy="97300"/>
          </a:xfrm>
          <a:prstGeom prst="ellipse">
            <a:avLst/>
          </a:prstGeom>
          <a:solidFill>
            <a:srgbClr val="2F6FB5"/>
          </a:solidFill>
          <a:ln>
            <a:noFill/>
          </a:ln>
        </p:spPr>
      </p:sp>
      <p:pic>
        <p:nvPicPr>
          <p:cNvPr id="521" name="G"/>
          <p:cNvPicPr>
            <a:picLocks noChangeAspect="1"/>
          </p:cNvPicPr>
          <p:nvPr/>
        </p:nvPicPr>
        <p:blipFill>
          <a:blip r:embed="rIdM16"/>
          <a:stretch>
            <a:fillRect/>
          </a:stretch>
        </p:blipFill>
        <p:spPr>
          <a:xfrm>
            <a:off x="8686999" y="4831975"/>
            <a:ext cx="60326" cy="60326"/>
          </a:xfrm>
          <a:prstGeom prst="rect">
            <a:avLst/>
          </a:prstGeom>
        </p:spPr>
      </p:pic>
      <p:sp>
        <p:nvSpPr>
          <p:cNvPr id="522" name="K"/>
          <p:cNvSpPr/>
          <p:nvPr/>
        </p:nvSpPr>
        <p:spPr>
          <a:xfrm>
            <a:off x="8736622" y="4794028"/>
            <a:ext cx="53515" cy="53515"/>
          </a:xfrm>
          <a:prstGeom prst="ellipse">
            <a:avLst/>
          </a:prstGeom>
          <a:solidFill>
            <a:srgbClr val="C8102E"/>
          </a:solidFill>
          <a:ln w="6350">
            <a:solidFill>
              <a:srgbClr val="FFFFFF"/>
            </a:solidFill>
          </a:ln>
        </p:spPr>
      </p:sp>
      <p:sp>
        <p:nvSpPr>
          <p:cNvPr id="523" name="T"/>
          <p:cNvSpPr txBox="1"/>
          <p:nvPr/>
        </p:nvSpPr>
        <p:spPr>
          <a:xfrm>
            <a:off x="8736622" y="4794028"/>
            <a:ext cx="53515" cy="5351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!</a:t>
            </a:r>
            <a:endParaRPr lang="id-ID" sz="500"/>
          </a:p>
        </p:txBody>
      </p:sp>
      <p:sp>
        <p:nvSpPr>
          <p:cNvPr id="524" name="T"/>
          <p:cNvSpPr txBox="1"/>
          <p:nvPr/>
        </p:nvSpPr>
        <p:spPr>
          <a:xfrm>
            <a:off x="8869680" y="4779842"/>
            <a:ext cx="1758391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Banjir</a:t>
            </a:r>
            <a:r>
              <a:rPr lang="id-ID" sz="76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, 3 kab/kota di 2 provinsi</a:t>
            </a:r>
            <a:endParaRPr lang="id-ID" sz="760"/>
          </a:p>
        </p:txBody>
      </p:sp>
      <p:sp>
        <p:nvSpPr>
          <p:cNvPr id="525" name="K"/>
          <p:cNvSpPr/>
          <p:nvPr/>
        </p:nvSpPr>
        <p:spPr>
          <a:xfrm>
            <a:off x="10470000" y="4813488"/>
            <a:ext cx="1070000" cy="973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>
            <a:noFill/>
          </a:ln>
        </p:spPr>
      </p:sp>
      <p:pic>
        <p:nvPicPr>
          <p:cNvPr id="526" name="G"/>
          <p:cNvPicPr>
            <a:picLocks noChangeAspect="1"/>
          </p:cNvPicPr>
          <p:nvPr/>
        </p:nvPicPr>
        <p:blipFill>
          <a:blip r:embed="rIdM17"/>
          <a:stretch>
            <a:fillRect/>
          </a:stretch>
        </p:blipFill>
        <p:spPr>
          <a:xfrm>
            <a:off x="10520000" y="4829056"/>
            <a:ext cx="66164" cy="66164"/>
          </a:xfrm>
          <a:prstGeom prst="rect">
            <a:avLst/>
          </a:prstGeom>
        </p:spPr>
      </p:pic>
      <p:sp>
        <p:nvSpPr>
          <p:cNvPr id="527" name="T"/>
          <p:cNvSpPr txBox="1"/>
          <p:nvPr/>
        </p:nvSpPr>
        <p:spPr>
          <a:xfrm>
            <a:off x="10680000" y="4813488"/>
            <a:ext cx="5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2F6FB5"/>
                </a:solidFill>
                <a:latin typeface="Roboto"/>
                <a:ea typeface="Roboto"/>
                <a:cs typeface="Roboto"/>
              </a:rPr>
              <a:t>1.020</a:t>
            </a:r>
            <a:endParaRPr lang="id-ID" sz="720"/>
          </a:p>
        </p:txBody>
      </p:sp>
      <p:sp>
        <p:nvSpPr>
          <p:cNvPr id="528" name="T"/>
          <p:cNvSpPr txBox="1"/>
          <p:nvPr/>
        </p:nvSpPr>
        <p:spPr>
          <a:xfrm>
            <a:off x="11201600" y="4813488"/>
            <a:ext cx="3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2F6FB5"/>
                </a:solidFill>
                <a:latin typeface="Roboto"/>
                <a:ea typeface="Roboto"/>
                <a:cs typeface="Roboto"/>
              </a:rPr>
              <a:t>KK</a:t>
            </a:r>
            <a:endParaRPr lang="id-ID" sz="720"/>
          </a:p>
        </p:txBody>
      </p:sp>
      <p:cxnSp>
        <p:nvCxnSpPr>
          <p:cNvPr id="529" name="L"/>
          <p:cNvCxnSpPr/>
          <p:nvPr/>
        </p:nvCxnSpPr>
        <p:spPr>
          <a:xfrm>
            <a:off x="8668512" y="4922951"/>
            <a:ext cx="2809951" cy="0"/>
          </a:xfrm>
          <a:prstGeom prst="line">
            <a:avLst/>
          </a:prstGeom>
          <a:ln w="9525">
            <a:solidFill>
              <a:srgbClr val="F1F2F4"/>
            </a:solidFill>
          </a:ln>
        </p:spPr>
      </p:cxnSp>
      <p:sp>
        <p:nvSpPr>
          <p:cNvPr id="530" name="K"/>
          <p:cNvSpPr/>
          <p:nvPr/>
        </p:nvSpPr>
        <p:spPr>
          <a:xfrm>
            <a:off x="8668512" y="4935114"/>
            <a:ext cx="97300" cy="97300"/>
          </a:xfrm>
          <a:prstGeom prst="ellipse">
            <a:avLst/>
          </a:prstGeom>
          <a:solidFill>
            <a:srgbClr val="A23B2A"/>
          </a:solidFill>
          <a:ln>
            <a:noFill/>
          </a:ln>
        </p:spPr>
      </p:sp>
      <p:pic>
        <p:nvPicPr>
          <p:cNvPr id="531" name="G"/>
          <p:cNvPicPr>
            <a:picLocks noChangeAspect="1"/>
          </p:cNvPicPr>
          <p:nvPr/>
        </p:nvPicPr>
        <p:blipFill>
          <a:blip r:embed="rIdM18"/>
          <a:stretch>
            <a:fillRect/>
          </a:stretch>
        </p:blipFill>
        <p:spPr>
          <a:xfrm>
            <a:off x="8686999" y="4953601"/>
            <a:ext cx="60326" cy="60326"/>
          </a:xfrm>
          <a:prstGeom prst="rect">
            <a:avLst/>
          </a:prstGeom>
        </p:spPr>
      </p:pic>
      <p:sp>
        <p:nvSpPr>
          <p:cNvPr id="532" name="T"/>
          <p:cNvSpPr txBox="1"/>
          <p:nvPr/>
        </p:nvSpPr>
        <p:spPr>
          <a:xfrm>
            <a:off x="8869680" y="4901468"/>
            <a:ext cx="1758391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Jawa Timur</a:t>
            </a:r>
            <a:r>
              <a:rPr lang="id-ID" sz="76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, TPA Supit Urang</a:t>
            </a:r>
            <a:endParaRPr lang="id-ID" sz="760"/>
          </a:p>
        </p:txBody>
      </p:sp>
      <p:sp>
        <p:nvSpPr>
          <p:cNvPr id="533" name="K"/>
          <p:cNvSpPr/>
          <p:nvPr/>
        </p:nvSpPr>
        <p:spPr>
          <a:xfrm>
            <a:off x="10470000" y="4935114"/>
            <a:ext cx="1070000" cy="97300"/>
          </a:xfrm>
          <a:prstGeom prst="roundRect">
            <a:avLst>
              <a:gd name="adj" fmla="val 50000"/>
            </a:avLst>
          </a:prstGeom>
          <a:solidFill>
            <a:srgbClr val="F5E1DD"/>
          </a:solidFill>
          <a:ln>
            <a:noFill/>
          </a:ln>
        </p:spPr>
      </p:sp>
      <p:pic>
        <p:nvPicPr>
          <p:cNvPr id="534" name="G"/>
          <p:cNvPicPr>
            <a:picLocks noChangeAspect="1"/>
          </p:cNvPicPr>
          <p:nvPr/>
        </p:nvPicPr>
        <p:blipFill>
          <a:blip r:embed="rIdM19"/>
          <a:stretch>
            <a:fillRect/>
          </a:stretch>
        </p:blipFill>
        <p:spPr>
          <a:xfrm>
            <a:off x="10520000" y="4950682"/>
            <a:ext cx="66164" cy="66164"/>
          </a:xfrm>
          <a:prstGeom prst="rect">
            <a:avLst/>
          </a:prstGeom>
        </p:spPr>
      </p:pic>
      <p:sp>
        <p:nvSpPr>
          <p:cNvPr id="535" name="T"/>
          <p:cNvSpPr txBox="1"/>
          <p:nvPr/>
        </p:nvSpPr>
        <p:spPr>
          <a:xfrm>
            <a:off x="10680000" y="4935114"/>
            <a:ext cx="5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A23B2A"/>
                </a:solidFill>
                <a:latin typeface="Roboto"/>
                <a:ea typeface="Roboto"/>
                <a:cs typeface="Roboto"/>
              </a:rPr>
              <a:t>± 15,5</a:t>
            </a:r>
            <a:endParaRPr lang="id-ID" sz="720"/>
          </a:p>
        </p:txBody>
      </p:sp>
      <p:sp>
        <p:nvSpPr>
          <p:cNvPr id="536" name="T"/>
          <p:cNvSpPr txBox="1"/>
          <p:nvPr/>
        </p:nvSpPr>
        <p:spPr>
          <a:xfrm>
            <a:off x="11201600" y="4935114"/>
            <a:ext cx="3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A23B2A"/>
                </a:solidFill>
                <a:latin typeface="Roboto"/>
                <a:ea typeface="Roboto"/>
                <a:cs typeface="Roboto"/>
              </a:rPr>
              <a:t>ha</a:t>
            </a:r>
            <a:endParaRPr lang="id-ID" sz="720"/>
          </a:p>
        </p:txBody>
      </p:sp>
      <p:cxnSp>
        <p:nvCxnSpPr>
          <p:cNvPr id="537" name="L"/>
          <p:cNvCxnSpPr/>
          <p:nvPr/>
        </p:nvCxnSpPr>
        <p:spPr>
          <a:xfrm>
            <a:off x="8668512" y="5044577"/>
            <a:ext cx="2809951" cy="0"/>
          </a:xfrm>
          <a:prstGeom prst="line">
            <a:avLst/>
          </a:prstGeom>
          <a:ln w="9525">
            <a:solidFill>
              <a:srgbClr val="F1F2F4"/>
            </a:solidFill>
          </a:ln>
        </p:spPr>
      </p:cxnSp>
      <p:sp>
        <p:nvSpPr>
          <p:cNvPr id="538" name="K"/>
          <p:cNvSpPr/>
          <p:nvPr/>
        </p:nvSpPr>
        <p:spPr>
          <a:xfrm>
            <a:off x="8668512" y="5056740"/>
            <a:ext cx="97300" cy="97300"/>
          </a:xfrm>
          <a:prstGeom prst="ellipse">
            <a:avLst/>
          </a:prstGeom>
          <a:solidFill>
            <a:srgbClr val="5B7A99"/>
          </a:solidFill>
          <a:ln>
            <a:noFill/>
          </a:ln>
        </p:spPr>
      </p:sp>
      <p:pic>
        <p:nvPicPr>
          <p:cNvPr id="539" name="G"/>
          <p:cNvPicPr>
            <a:picLocks noChangeAspect="1"/>
          </p:cNvPicPr>
          <p:nvPr/>
        </p:nvPicPr>
        <p:blipFill>
          <a:blip r:embed="rIdM20"/>
          <a:stretch>
            <a:fillRect/>
          </a:stretch>
        </p:blipFill>
        <p:spPr>
          <a:xfrm>
            <a:off x="8686999" y="5075227"/>
            <a:ext cx="60326" cy="60326"/>
          </a:xfrm>
          <a:prstGeom prst="rect">
            <a:avLst/>
          </a:prstGeom>
        </p:spPr>
      </p:pic>
      <p:sp>
        <p:nvSpPr>
          <p:cNvPr id="540" name="T"/>
          <p:cNvSpPr txBox="1"/>
          <p:nvPr/>
        </p:nvSpPr>
        <p:spPr>
          <a:xfrm>
            <a:off x="8869680" y="5023094"/>
            <a:ext cx="1758391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Nusa Tenggara Timur</a:t>
            </a:r>
            <a:endParaRPr lang="id-ID" sz="760"/>
          </a:p>
        </p:txBody>
      </p:sp>
      <p:sp>
        <p:nvSpPr>
          <p:cNvPr id="541" name="K"/>
          <p:cNvSpPr/>
          <p:nvPr/>
        </p:nvSpPr>
        <p:spPr>
          <a:xfrm>
            <a:off x="10470000" y="5056740"/>
            <a:ext cx="1070000" cy="97300"/>
          </a:xfrm>
          <a:prstGeom prst="roundRect">
            <a:avLst>
              <a:gd name="adj" fmla="val 50000"/>
            </a:avLst>
          </a:prstGeom>
          <a:solidFill>
            <a:srgbClr val="E3EAF1"/>
          </a:solidFill>
          <a:ln>
            <a:noFill/>
          </a:ln>
        </p:spPr>
      </p:sp>
      <p:pic>
        <p:nvPicPr>
          <p:cNvPr id="542" name="G"/>
          <p:cNvPicPr>
            <a:picLocks noChangeAspect="1"/>
          </p:cNvPicPr>
          <p:nvPr/>
        </p:nvPicPr>
        <p:blipFill>
          <a:blip r:embed="rIdM17"/>
          <a:stretch>
            <a:fillRect/>
          </a:stretch>
        </p:blipFill>
        <p:spPr>
          <a:xfrm>
            <a:off x="10520000" y="5072308"/>
            <a:ext cx="66164" cy="66164"/>
          </a:xfrm>
          <a:prstGeom prst="rect">
            <a:avLst/>
          </a:prstGeom>
        </p:spPr>
      </p:pic>
      <p:sp>
        <p:nvSpPr>
          <p:cNvPr id="543" name="T"/>
          <p:cNvSpPr txBox="1"/>
          <p:nvPr/>
        </p:nvSpPr>
        <p:spPr>
          <a:xfrm>
            <a:off x="10680000" y="5056740"/>
            <a:ext cx="5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5B7A99"/>
                </a:solidFill>
                <a:latin typeface="Roboto"/>
                <a:ea typeface="Roboto"/>
                <a:cs typeface="Roboto"/>
              </a:rPr>
              <a:t>17.707</a:t>
            </a:r>
            <a:endParaRPr lang="id-ID" sz="720"/>
          </a:p>
        </p:txBody>
      </p:sp>
      <p:sp>
        <p:nvSpPr>
          <p:cNvPr id="544" name="T"/>
          <p:cNvSpPr txBox="1"/>
          <p:nvPr/>
        </p:nvSpPr>
        <p:spPr>
          <a:xfrm>
            <a:off x="11201600" y="5056740"/>
            <a:ext cx="3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5B7A99"/>
                </a:solidFill>
                <a:latin typeface="Roboto"/>
                <a:ea typeface="Roboto"/>
                <a:cs typeface="Roboto"/>
              </a:rPr>
              <a:t>KK</a:t>
            </a:r>
            <a:endParaRPr lang="id-ID" sz="720"/>
          </a:p>
        </p:txBody>
      </p:sp>
      <p:cxnSp>
        <p:nvCxnSpPr>
          <p:cNvPr id="545" name="L"/>
          <p:cNvCxnSpPr/>
          <p:nvPr/>
        </p:nvCxnSpPr>
        <p:spPr>
          <a:xfrm>
            <a:off x="8668512" y="5166203"/>
            <a:ext cx="2809951" cy="0"/>
          </a:xfrm>
          <a:prstGeom prst="line">
            <a:avLst/>
          </a:prstGeom>
          <a:ln w="9525">
            <a:solidFill>
              <a:srgbClr val="F1F2F4"/>
            </a:solidFill>
          </a:ln>
        </p:spPr>
      </p:cxnSp>
      <p:sp>
        <p:nvSpPr>
          <p:cNvPr id="546" name="K"/>
          <p:cNvSpPr/>
          <p:nvPr/>
        </p:nvSpPr>
        <p:spPr>
          <a:xfrm>
            <a:off x="8668512" y="5178366"/>
            <a:ext cx="97300" cy="97300"/>
          </a:xfrm>
          <a:prstGeom prst="ellipse">
            <a:avLst/>
          </a:prstGeom>
          <a:solidFill>
            <a:srgbClr val="0E7490"/>
          </a:solidFill>
          <a:ln>
            <a:noFill/>
          </a:ln>
        </p:spPr>
      </p:sp>
      <p:pic>
        <p:nvPicPr>
          <p:cNvPr id="547" name="G"/>
          <p:cNvPicPr>
            <a:picLocks noChangeAspect="1"/>
          </p:cNvPicPr>
          <p:nvPr/>
        </p:nvPicPr>
        <p:blipFill>
          <a:blip r:embed="rIdM21"/>
          <a:stretch>
            <a:fillRect/>
          </a:stretch>
        </p:blipFill>
        <p:spPr>
          <a:xfrm>
            <a:off x="8686999" y="5196853"/>
            <a:ext cx="60326" cy="60326"/>
          </a:xfrm>
          <a:prstGeom prst="rect">
            <a:avLst/>
          </a:prstGeom>
        </p:spPr>
      </p:pic>
      <p:sp>
        <p:nvSpPr>
          <p:cNvPr id="548" name="T"/>
          <p:cNvSpPr txBox="1"/>
          <p:nvPr/>
        </p:nvSpPr>
        <p:spPr>
          <a:xfrm>
            <a:off x="8869680" y="5144720"/>
            <a:ext cx="1758391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Kalimantan Selatan</a:t>
            </a:r>
            <a:r>
              <a:rPr lang="id-ID" sz="76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, Banjar</a:t>
            </a:r>
            <a:endParaRPr lang="id-ID" sz="760"/>
          </a:p>
        </p:txBody>
      </p:sp>
      <p:sp>
        <p:nvSpPr>
          <p:cNvPr id="549" name="K"/>
          <p:cNvSpPr/>
          <p:nvPr/>
        </p:nvSpPr>
        <p:spPr>
          <a:xfrm>
            <a:off x="10470000" y="5178366"/>
            <a:ext cx="1070000" cy="97300"/>
          </a:xfrm>
          <a:prstGeom prst="roundRect">
            <a:avLst>
              <a:gd name="adj" fmla="val 50000"/>
            </a:avLst>
          </a:prstGeom>
          <a:solidFill>
            <a:srgbClr val="D5EEF2"/>
          </a:solidFill>
          <a:ln>
            <a:noFill/>
          </a:ln>
        </p:spPr>
      </p:sp>
      <p:pic>
        <p:nvPicPr>
          <p:cNvPr id="550" name="G"/>
          <p:cNvPicPr>
            <a:picLocks noChangeAspect="1"/>
          </p:cNvPicPr>
          <p:nvPr/>
        </p:nvPicPr>
        <p:blipFill>
          <a:blip r:embed="rIdM17"/>
          <a:stretch>
            <a:fillRect/>
          </a:stretch>
        </p:blipFill>
        <p:spPr>
          <a:xfrm>
            <a:off x="10520000" y="5193934"/>
            <a:ext cx="66164" cy="66164"/>
          </a:xfrm>
          <a:prstGeom prst="rect">
            <a:avLst/>
          </a:prstGeom>
        </p:spPr>
      </p:pic>
      <p:sp>
        <p:nvSpPr>
          <p:cNvPr id="551" name="T"/>
          <p:cNvSpPr txBox="1"/>
          <p:nvPr/>
        </p:nvSpPr>
        <p:spPr>
          <a:xfrm>
            <a:off x="10680000" y="5178366"/>
            <a:ext cx="5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0E7490"/>
                </a:solidFill>
                <a:latin typeface="Roboto"/>
                <a:ea typeface="Roboto"/>
                <a:cs typeface="Roboto"/>
              </a:rPr>
              <a:t>35</a:t>
            </a:r>
            <a:endParaRPr lang="id-ID" sz="720"/>
          </a:p>
        </p:txBody>
      </p:sp>
      <p:sp>
        <p:nvSpPr>
          <p:cNvPr id="552" name="T"/>
          <p:cNvSpPr txBox="1"/>
          <p:nvPr/>
        </p:nvSpPr>
        <p:spPr>
          <a:xfrm>
            <a:off x="11201600" y="5178366"/>
            <a:ext cx="3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0E7490"/>
                </a:solidFill>
                <a:latin typeface="Roboto"/>
                <a:ea typeface="Roboto"/>
                <a:cs typeface="Roboto"/>
              </a:rPr>
              <a:t>KK</a:t>
            </a:r>
            <a:endParaRPr lang="id-ID" sz="720"/>
          </a:p>
        </p:txBody>
      </p:sp>
      <p:sp>
        <p:nvSpPr>
          <p:cNvPr id="553" name="K"/>
          <p:cNvSpPr/>
          <p:nvPr/>
        </p:nvSpPr>
        <p:spPr>
          <a:xfrm>
            <a:off x="548640" y="5468112"/>
            <a:ext cx="11094415" cy="822960"/>
          </a:xfrm>
          <a:prstGeom prst="roundRect">
            <a:avLst>
              <a:gd name="adj" fmla="val 8889"/>
            </a:avLst>
          </a:prstGeom>
          <a:solidFill>
            <a:srgbClr val="FDF4EC"/>
          </a:solidFill>
          <a:ln>
            <a:noFill/>
          </a:ln>
        </p:spPr>
      </p:sp>
      <p:sp>
        <p:nvSpPr>
          <p:cNvPr id="554" name="T"/>
          <p:cNvSpPr txBox="1"/>
          <p:nvPr/>
        </p:nvSpPr>
        <p:spPr>
          <a:xfrm>
            <a:off x="694944" y="5541264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50" b="1" spc="100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YANG AKAN DILAKUKAN BNPB</a:t>
            </a:r>
            <a:endParaRPr lang="id-ID" sz="750"/>
          </a:p>
        </p:txBody>
      </p:sp>
      <p:sp>
        <p:nvSpPr>
          <p:cNvPr id="555" name="K"/>
          <p:cNvSpPr/>
          <p:nvPr/>
        </p:nvSpPr>
        <p:spPr>
          <a:xfrm>
            <a:off x="694944" y="5806440"/>
            <a:ext cx="365760" cy="36576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556" name="G"/>
          <p:cNvPicPr>
            <a:picLocks noChangeAspect="1"/>
          </p:cNvPicPr>
          <p:nvPr/>
        </p:nvPicPr>
        <p:blipFill>
          <a:blip r:embed="rIdM22"/>
          <a:stretch>
            <a:fillRect/>
          </a:stretch>
        </p:blipFill>
        <p:spPr>
          <a:xfrm>
            <a:off x="777240" y="5888736"/>
            <a:ext cx="201168" cy="201168"/>
          </a:xfrm>
          <a:prstGeom prst="rect">
            <a:avLst/>
          </a:prstGeom>
        </p:spPr>
      </p:pic>
      <p:sp>
        <p:nvSpPr>
          <p:cNvPr id="557" name="T"/>
          <p:cNvSpPr txBox="1"/>
          <p:nvPr/>
        </p:nvSpPr>
        <p:spPr>
          <a:xfrm>
            <a:off x="1152144" y="5733288"/>
            <a:ext cx="3014472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9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Pemadaman prioritas</a:t>
            </a:r>
            <a:endParaRPr lang="id-ID" sz="950"/>
          </a:p>
        </p:txBody>
      </p:sp>
      <p:sp>
        <p:nvSpPr>
          <p:cNvPr id="558" name="T"/>
          <p:cNvSpPr txBox="1"/>
          <p:nvPr/>
        </p:nvSpPr>
        <p:spPr>
          <a:xfrm>
            <a:off x="1152144" y="5952744"/>
            <a:ext cx="3014472" cy="32004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buNone/>
            </a:pPr>
            <a:r>
              <a:rPr lang="id-ID" sz="82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•  Kalimantan Timur sisa ±461 ha belum padam</a:t>
            </a:r>
            <a:endParaRPr lang="id-ID" sz="820"/>
          </a:p>
          <a:p>
            <a:pPr algn="l">
              <a:buNone/>
            </a:pPr>
            <a:r>
              <a:rPr lang="id-ID" sz="82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•  Papua Selatan sisa ±373 ha belum padam</a:t>
            </a:r>
            <a:endParaRPr lang="id-ID" sz="820"/>
          </a:p>
        </p:txBody>
      </p:sp>
      <p:cxnSp>
        <p:nvCxnSpPr>
          <p:cNvPr id="559" name="L"/>
          <p:cNvCxnSpPr/>
          <p:nvPr/>
        </p:nvCxnSpPr>
        <p:spPr>
          <a:xfrm>
            <a:off x="4222394" y="5797296"/>
            <a:ext cx="0" cy="457200"/>
          </a:xfrm>
          <a:prstGeom prst="line">
            <a:avLst/>
          </a:prstGeom>
          <a:ln w="9525">
            <a:solidFill>
              <a:srgbClr val="F2D3BA"/>
            </a:solidFill>
          </a:ln>
        </p:spPr>
      </p:cxnSp>
      <p:sp>
        <p:nvSpPr>
          <p:cNvPr id="560" name="K"/>
          <p:cNvSpPr/>
          <p:nvPr/>
        </p:nvSpPr>
        <p:spPr>
          <a:xfrm>
            <a:off x="4295546" y="5806440"/>
            <a:ext cx="365760" cy="36576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561" name="G"/>
          <p:cNvPicPr>
            <a:picLocks noChangeAspect="1"/>
          </p:cNvPicPr>
          <p:nvPr/>
        </p:nvPicPr>
        <p:blipFill>
          <a:blip r:embed="rIdM23"/>
          <a:stretch>
            <a:fillRect/>
          </a:stretch>
        </p:blipFill>
        <p:spPr>
          <a:xfrm>
            <a:off x="4377842" y="5888736"/>
            <a:ext cx="201168" cy="201168"/>
          </a:xfrm>
          <a:prstGeom prst="rect">
            <a:avLst/>
          </a:prstGeom>
        </p:spPr>
      </p:pic>
      <p:sp>
        <p:nvSpPr>
          <p:cNvPr id="562" name="T"/>
          <p:cNvSpPr txBox="1"/>
          <p:nvPr/>
        </p:nvSpPr>
        <p:spPr>
          <a:xfrm>
            <a:off x="4752746" y="5733288"/>
            <a:ext cx="3014472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9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Keselamatan warga</a:t>
            </a:r>
            <a:endParaRPr lang="id-ID" sz="950"/>
          </a:p>
        </p:txBody>
      </p:sp>
      <p:sp>
        <p:nvSpPr>
          <p:cNvPr id="563" name="T"/>
          <p:cNvSpPr txBox="1"/>
          <p:nvPr/>
        </p:nvSpPr>
        <p:spPr>
          <a:xfrm>
            <a:off x="4752746" y="5952744"/>
            <a:ext cx="3014472" cy="32004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buNone/>
            </a:pPr>
            <a:r>
              <a:rPr lang="id-ID" sz="82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•  Masker dan layanan ISPA: Pekanbaru</a:t>
            </a:r>
            <a:endParaRPr lang="id-ID" sz="820"/>
          </a:p>
          <a:p>
            <a:pPr algn="l">
              <a:buNone/>
            </a:pPr>
            <a:r>
              <a:rPr lang="id-ID" sz="82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•  PM2.5 tingkat Berbahaya (BMKG)</a:t>
            </a:r>
            <a:endParaRPr lang="id-ID" sz="820"/>
          </a:p>
        </p:txBody>
      </p:sp>
      <p:cxnSp>
        <p:nvCxnSpPr>
          <p:cNvPr id="564" name="L"/>
          <p:cNvCxnSpPr/>
          <p:nvPr/>
        </p:nvCxnSpPr>
        <p:spPr>
          <a:xfrm>
            <a:off x="7822996" y="5797296"/>
            <a:ext cx="0" cy="457200"/>
          </a:xfrm>
          <a:prstGeom prst="line">
            <a:avLst/>
          </a:prstGeom>
          <a:ln w="9525">
            <a:solidFill>
              <a:srgbClr val="F2D3BA"/>
            </a:solidFill>
          </a:ln>
        </p:spPr>
      </p:cxnSp>
      <p:sp>
        <p:nvSpPr>
          <p:cNvPr id="565" name="K"/>
          <p:cNvSpPr/>
          <p:nvPr/>
        </p:nvSpPr>
        <p:spPr>
          <a:xfrm>
            <a:off x="7896148" y="5806440"/>
            <a:ext cx="365760" cy="36576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566" name="G"/>
          <p:cNvPicPr>
            <a:picLocks noChangeAspect="1"/>
          </p:cNvPicPr>
          <p:nvPr/>
        </p:nvPicPr>
        <p:blipFill>
          <a:blip r:embed="rIdM14"/>
          <a:stretch>
            <a:fillRect/>
          </a:stretch>
        </p:blipFill>
        <p:spPr>
          <a:xfrm>
            <a:off x="7978444" y="5888736"/>
            <a:ext cx="201168" cy="201168"/>
          </a:xfrm>
          <a:prstGeom prst="rect">
            <a:avLst/>
          </a:prstGeom>
        </p:spPr>
      </p:pic>
      <p:sp>
        <p:nvSpPr>
          <p:cNvPr id="567" name="T"/>
          <p:cNvSpPr txBox="1"/>
          <p:nvPr/>
        </p:nvSpPr>
        <p:spPr>
          <a:xfrm>
            <a:off x="8353348" y="5733288"/>
            <a:ext cx="3014472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9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Air bersih</a:t>
            </a:r>
            <a:endParaRPr lang="id-ID" sz="950"/>
          </a:p>
        </p:txBody>
      </p:sp>
      <p:sp>
        <p:nvSpPr>
          <p:cNvPr id="568" name="T"/>
          <p:cNvSpPr txBox="1"/>
          <p:nvPr/>
        </p:nvSpPr>
        <p:spPr>
          <a:xfrm>
            <a:off x="8353348" y="5952744"/>
            <a:ext cx="3014472" cy="32004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buNone/>
            </a:pPr>
            <a:r>
              <a:rPr lang="id-ID" sz="82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•  Air bersih untuk ±24.400 KK di 7 kab/kota, 4 provinsi</a:t>
            </a:r>
            <a:endParaRPr lang="id-ID" sz="820"/>
          </a:p>
          <a:p>
            <a:pPr algn="l">
              <a:buNone/>
            </a:pPr>
            <a:r>
              <a:rPr lang="id-ID" sz="82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•  Tersalur 407.700 liter, 52 tangki</a:t>
            </a:r>
            <a:endParaRPr lang="id-ID" sz="82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48640" y="1207008"/>
            <a:ext cx="11094415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5583" y="365760"/>
            <a:ext cx="34747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651052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Badan Nasional Penanggulangan Bencana  |  Copyright 2026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10728655" y="651052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</a:t>
            </a:r>
            <a:endParaRPr lang="en-US" sz="850" dirty="0"/>
          </a:p>
        </p:txBody>
      </p:sp>
      <p:sp>
        <p:nvSpPr>
          <p:cNvPr id="791" name="T"/>
          <p:cNvSpPr txBox="1"/>
          <p:nvPr/>
        </p:nvSpPr>
        <p:spPr>
          <a:xfrm>
            <a:off x="548640" y="292608"/>
            <a:ext cx="10454335" cy="8229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buNone/>
            </a:pPr>
            <a:r>
              <a:rPr lang="id-ID" sz="22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Rincian </a:t>
            </a:r>
            <a:r>
              <a:rPr lang="id-ID" sz="22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27</a:t>
            </a:r>
            <a:r>
              <a:rPr lang="id-ID" sz="22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 kejadian menonjol: </a:t>
            </a:r>
            <a:r>
              <a:rPr lang="id-ID" sz="22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13</a:t>
            </a:r>
            <a:r>
              <a:rPr lang="id-ID" sz="22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 karhutla, </a:t>
            </a:r>
            <a:r>
              <a:rPr lang="id-ID" sz="22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7</a:t>
            </a:r>
            <a:r>
              <a:rPr lang="id-ID" sz="22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 kekeringan di 4 provinsi, dan </a:t>
            </a:r>
            <a:r>
              <a:rPr lang="id-ID" sz="22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7</a:t>
            </a:r>
            <a:r>
              <a:rPr lang="id-ID" sz="22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 bencana lainnya</a:t>
            </a:r>
            <a:endParaRPr lang="id-ID" sz="2200"/>
          </a:p>
        </p:txBody>
      </p:sp>
      <p:sp>
        <p:nvSpPr>
          <p:cNvPr id="301" name="K"/>
          <p:cNvSpPr/>
          <p:nvPr/>
        </p:nvSpPr>
        <p:spPr>
          <a:xfrm>
            <a:off x="548640" y="1325880"/>
            <a:ext cx="6720840" cy="5029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</p:spPr>
      </p:sp>
      <p:sp>
        <p:nvSpPr>
          <p:cNvPr id="302" name="K"/>
          <p:cNvSpPr/>
          <p:nvPr/>
        </p:nvSpPr>
        <p:spPr>
          <a:xfrm>
            <a:off x="548640" y="1325880"/>
            <a:ext cx="6720840" cy="457200"/>
          </a:xfrm>
          <a:prstGeom prst="roundRect">
            <a:avLst>
              <a:gd name="adj" fmla="val 16000"/>
            </a:avLst>
          </a:prstGeom>
          <a:solidFill>
            <a:srgbClr val="FBE7D6"/>
          </a:solidFill>
          <a:ln>
            <a:noFill/>
          </a:ln>
        </p:spPr>
      </p:sp>
      <p:sp>
        <p:nvSpPr>
          <p:cNvPr id="303" name="K"/>
          <p:cNvSpPr/>
          <p:nvPr/>
        </p:nvSpPr>
        <p:spPr>
          <a:xfrm>
            <a:off x="548640" y="1600200"/>
            <a:ext cx="6720840" cy="182880"/>
          </a:xfrm>
          <a:prstGeom prst="rect">
            <a:avLst/>
          </a:prstGeom>
          <a:solidFill>
            <a:srgbClr val="FBE7D6"/>
          </a:solidFill>
          <a:ln>
            <a:noFill/>
          </a:ln>
        </p:spPr>
      </p:sp>
      <p:sp>
        <p:nvSpPr>
          <p:cNvPr id="304" name="K"/>
          <p:cNvSpPr/>
          <p:nvPr/>
        </p:nvSpPr>
        <p:spPr>
          <a:xfrm>
            <a:off x="676656" y="1408176"/>
            <a:ext cx="292608" cy="292608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305" name="G"/>
          <p:cNvPicPr>
            <a:picLocks noChangeAspect="1"/>
          </p:cNvPicPr>
          <p:nvPr/>
        </p:nvPicPr>
        <p:blipFill>
          <a:blip r:embed="rIdM1"/>
          <a:stretch>
            <a:fillRect/>
          </a:stretch>
        </p:blipFill>
        <p:spPr>
          <a:xfrm>
            <a:off x="731520" y="1463040"/>
            <a:ext cx="182880" cy="182880"/>
          </a:xfrm>
          <a:prstGeom prst="rect">
            <a:avLst/>
          </a:prstGeom>
        </p:spPr>
      </p:pic>
      <p:sp>
        <p:nvSpPr>
          <p:cNvPr id="306" name="T"/>
          <p:cNvSpPr txBox="1"/>
          <p:nvPr/>
        </p:nvSpPr>
        <p:spPr>
          <a:xfrm>
            <a:off x="1051560" y="1325880"/>
            <a:ext cx="56208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1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Karhutla</a:t>
            </a:r>
            <a:endParaRPr lang="id-ID" sz="1100"/>
          </a:p>
        </p:txBody>
      </p:sp>
      <p:sp>
        <p:nvSpPr>
          <p:cNvPr id="307" name="T"/>
          <p:cNvSpPr txBox="1"/>
          <p:nvPr/>
        </p:nvSpPr>
        <p:spPr>
          <a:xfrm>
            <a:off x="6629400" y="1325880"/>
            <a:ext cx="512064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id-ID" sz="18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13</a:t>
            </a:r>
            <a:endParaRPr lang="id-ID" sz="1800"/>
          </a:p>
        </p:txBody>
      </p:sp>
      <p:sp>
        <p:nvSpPr>
          <p:cNvPr id="308" name="T"/>
          <p:cNvSpPr txBox="1"/>
          <p:nvPr/>
        </p:nvSpPr>
        <p:spPr>
          <a:xfrm>
            <a:off x="676656" y="1856232"/>
            <a:ext cx="2194560" cy="1645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00" b="1" spc="60" dirty="0">
                <a:solidFill>
                  <a:srgbClr val="6B7280"/>
                </a:solidFill>
                <a:latin typeface="Roboto"/>
                <a:ea typeface="Roboto"/>
                <a:cs typeface="Roboto"/>
              </a:rPr>
              <a:t>LOKASI</a:t>
            </a:r>
            <a:endParaRPr lang="id-ID" sz="650"/>
          </a:p>
        </p:txBody>
      </p:sp>
      <p:sp>
        <p:nvSpPr>
          <p:cNvPr id="309" name="T"/>
          <p:cNvSpPr txBox="1"/>
          <p:nvPr/>
        </p:nvSpPr>
        <p:spPr>
          <a:xfrm>
            <a:off x="3291840" y="1856232"/>
            <a:ext cx="1280160" cy="1645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00" b="1" spc="60" dirty="0">
                <a:solidFill>
                  <a:srgbClr val="6B7280"/>
                </a:solidFill>
                <a:latin typeface="Roboto"/>
                <a:ea typeface="Roboto"/>
                <a:cs typeface="Roboto"/>
              </a:rPr>
              <a:t>TERBAKAR 1 JAN–27 OKT</a:t>
            </a:r>
            <a:endParaRPr lang="id-ID" sz="650"/>
          </a:p>
        </p:txBody>
      </p:sp>
      <p:sp>
        <p:nvSpPr>
          <p:cNvPr id="310" name="T"/>
          <p:cNvSpPr txBox="1"/>
          <p:nvPr/>
        </p:nvSpPr>
        <p:spPr>
          <a:xfrm>
            <a:off x="4617720" y="1856232"/>
            <a:ext cx="2523744" cy="1645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id-ID" sz="700" b="1" spc="60" dirty="0">
                <a:solidFill>
                  <a:srgbClr val="6B7280"/>
                </a:solidFill>
                <a:latin typeface="Roboto"/>
                <a:ea typeface="Roboto"/>
                <a:cs typeface="Roboto"/>
              </a:rPr>
              <a:t>FIRESPOT DAN SISA 27 OKT</a:t>
            </a:r>
            <a:endParaRPr lang="id-ID" sz="650"/>
          </a:p>
        </p:txBody>
      </p:sp>
      <p:cxnSp>
        <p:nvCxnSpPr>
          <p:cNvPr id="311" name="L"/>
          <p:cNvCxnSpPr/>
          <p:nvPr/>
        </p:nvCxnSpPr>
        <p:spPr>
          <a:xfrm>
            <a:off x="676656" y="2039112"/>
            <a:ext cx="6464808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sp>
        <p:nvSpPr>
          <p:cNvPr id="312" name="K"/>
          <p:cNvSpPr/>
          <p:nvPr/>
        </p:nvSpPr>
        <p:spPr>
          <a:xfrm>
            <a:off x="676656" y="2117437"/>
            <a:ext cx="180111" cy="180111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313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09075" y="2149856"/>
            <a:ext cx="115271" cy="115271"/>
          </a:xfrm>
          <a:prstGeom prst="rect">
            <a:avLst/>
          </a:prstGeom>
        </p:spPr>
      </p:pic>
      <p:sp>
        <p:nvSpPr>
          <p:cNvPr id="314" name="T"/>
          <p:cNvSpPr txBox="1"/>
          <p:nvPr/>
        </p:nvSpPr>
        <p:spPr>
          <a:xfrm>
            <a:off x="990000" y="2057400"/>
            <a:ext cx="207324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19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Kalimantan Timur</a:t>
            </a:r>
            <a:endParaRPr lang="id-ID" sz="919"/>
          </a:p>
        </p:txBody>
      </p:sp>
      <p:sp>
        <p:nvSpPr>
          <p:cNvPr id="315" name="T"/>
          <p:cNvSpPr txBox="1"/>
          <p:nvPr/>
        </p:nvSpPr>
        <p:spPr>
          <a:xfrm>
            <a:off x="3291840" y="2057400"/>
            <a:ext cx="82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 125.188</a:t>
            </a:r>
            <a:endParaRPr lang="id-ID" sz="900"/>
          </a:p>
        </p:txBody>
      </p:sp>
      <p:sp>
        <p:nvSpPr>
          <p:cNvPr id="316" name="T"/>
          <p:cNvSpPr txBox="1"/>
          <p:nvPr/>
        </p:nvSpPr>
        <p:spPr>
          <a:xfrm>
            <a:off x="4138840" y="2057400"/>
            <a:ext cx="90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ha</a:t>
            </a:r>
            <a:endParaRPr lang="id-ID" sz="900"/>
          </a:p>
        </p:txBody>
      </p:sp>
      <p:sp>
        <p:nvSpPr>
          <p:cNvPr id="317" name="K"/>
          <p:cNvSpPr/>
          <p:nvPr/>
        </p:nvSpPr>
        <p:spPr>
          <a:xfrm>
            <a:off x="4739006" y="2108431"/>
            <a:ext cx="1152584" cy="198122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</p:sp>
      <p:pic>
        <p:nvPicPr>
          <p:cNvPr id="318" name="G"/>
          <p:cNvPicPr>
            <a:picLocks noChangeAspect="1"/>
          </p:cNvPicPr>
          <p:nvPr/>
        </p:nvPicPr>
        <p:blipFill>
          <a:blip r:embed="rIdM3"/>
          <a:stretch>
            <a:fillRect/>
          </a:stretch>
        </p:blipFill>
        <p:spPr>
          <a:xfrm>
            <a:off x="4812158" y="2146075"/>
            <a:ext cx="122835" cy="122835"/>
          </a:xfrm>
          <a:prstGeom prst="rect">
            <a:avLst/>
          </a:prstGeom>
        </p:spPr>
      </p:pic>
      <p:sp>
        <p:nvSpPr>
          <p:cNvPr id="319" name="T"/>
          <p:cNvSpPr txBox="1"/>
          <p:nvPr/>
        </p:nvSpPr>
        <p:spPr>
          <a:xfrm>
            <a:off x="4995894" y="2108431"/>
            <a:ext cx="36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59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433</a:t>
            </a:r>
            <a:endParaRPr lang="id-ID" sz="759"/>
          </a:p>
        </p:txBody>
      </p:sp>
      <p:sp>
        <p:nvSpPr>
          <p:cNvPr id="320" name="T"/>
          <p:cNvSpPr txBox="1"/>
          <p:nvPr/>
        </p:nvSpPr>
        <p:spPr>
          <a:xfrm>
            <a:off x="5378664" y="2108431"/>
            <a:ext cx="48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firespot</a:t>
            </a:r>
            <a:endParaRPr lang="id-ID" sz="759"/>
          </a:p>
        </p:txBody>
      </p:sp>
      <p:sp>
        <p:nvSpPr>
          <p:cNvPr id="321" name="K"/>
          <p:cNvSpPr/>
          <p:nvPr/>
        </p:nvSpPr>
        <p:spPr>
          <a:xfrm>
            <a:off x="5964742" y="2108431"/>
            <a:ext cx="1155436" cy="198122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322" name="G"/>
          <p:cNvPicPr>
            <a:picLocks noChangeAspect="1"/>
          </p:cNvPicPr>
          <p:nvPr/>
        </p:nvPicPr>
        <p:blipFill>
          <a:blip r:embed="rIdM4"/>
          <a:stretch>
            <a:fillRect/>
          </a:stretch>
        </p:blipFill>
        <p:spPr>
          <a:xfrm>
            <a:off x="6037894" y="2146075"/>
            <a:ext cx="122835" cy="122835"/>
          </a:xfrm>
          <a:prstGeom prst="rect">
            <a:avLst/>
          </a:prstGeom>
        </p:spPr>
      </p:pic>
      <p:sp>
        <p:nvSpPr>
          <p:cNvPr id="323" name="T"/>
          <p:cNvSpPr txBox="1"/>
          <p:nvPr/>
        </p:nvSpPr>
        <p:spPr>
          <a:xfrm>
            <a:off x="6211630" y="2108431"/>
            <a:ext cx="26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sisa</a:t>
            </a:r>
            <a:endParaRPr lang="id-ID" sz="759"/>
          </a:p>
        </p:txBody>
      </p:sp>
      <p:sp>
        <p:nvSpPr>
          <p:cNvPr id="324" name="T"/>
          <p:cNvSpPr txBox="1"/>
          <p:nvPr/>
        </p:nvSpPr>
        <p:spPr>
          <a:xfrm>
            <a:off x="6481630" y="2108431"/>
            <a:ext cx="42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± 461</a:t>
            </a:r>
            <a:endParaRPr lang="id-ID" sz="759"/>
          </a:p>
        </p:txBody>
      </p:sp>
      <p:sp>
        <p:nvSpPr>
          <p:cNvPr id="325" name="T"/>
          <p:cNvSpPr txBox="1"/>
          <p:nvPr/>
        </p:nvSpPr>
        <p:spPr>
          <a:xfrm>
            <a:off x="6924400" y="2108431"/>
            <a:ext cx="18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ha</a:t>
            </a:r>
            <a:endParaRPr lang="id-ID" sz="759"/>
          </a:p>
        </p:txBody>
      </p:sp>
      <p:cxnSp>
        <p:nvCxnSpPr>
          <p:cNvPr id="326" name="L"/>
          <p:cNvCxnSpPr/>
          <p:nvPr/>
        </p:nvCxnSpPr>
        <p:spPr>
          <a:xfrm>
            <a:off x="676656" y="2357585"/>
            <a:ext cx="6464808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327" name="K"/>
          <p:cNvSpPr/>
          <p:nvPr/>
        </p:nvSpPr>
        <p:spPr>
          <a:xfrm>
            <a:off x="676656" y="2417622"/>
            <a:ext cx="180111" cy="180111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328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09075" y="2450041"/>
            <a:ext cx="115271" cy="115271"/>
          </a:xfrm>
          <a:prstGeom prst="rect">
            <a:avLst/>
          </a:prstGeom>
        </p:spPr>
      </p:pic>
      <p:sp>
        <p:nvSpPr>
          <p:cNvPr id="329" name="T"/>
          <p:cNvSpPr txBox="1"/>
          <p:nvPr/>
        </p:nvSpPr>
        <p:spPr>
          <a:xfrm>
            <a:off x="990000" y="2357585"/>
            <a:ext cx="207324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19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Papua Selatan</a:t>
            </a:r>
            <a:endParaRPr lang="id-ID" sz="919"/>
          </a:p>
        </p:txBody>
      </p:sp>
      <p:sp>
        <p:nvSpPr>
          <p:cNvPr id="330" name="T"/>
          <p:cNvSpPr txBox="1"/>
          <p:nvPr/>
        </p:nvSpPr>
        <p:spPr>
          <a:xfrm>
            <a:off x="3291840" y="2357585"/>
            <a:ext cx="82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 291.200</a:t>
            </a:r>
            <a:endParaRPr lang="id-ID" sz="900"/>
          </a:p>
        </p:txBody>
      </p:sp>
      <p:sp>
        <p:nvSpPr>
          <p:cNvPr id="331" name="T"/>
          <p:cNvSpPr txBox="1"/>
          <p:nvPr/>
        </p:nvSpPr>
        <p:spPr>
          <a:xfrm>
            <a:off x="4138840" y="2357585"/>
            <a:ext cx="90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ha</a:t>
            </a:r>
            <a:endParaRPr lang="id-ID" sz="900"/>
          </a:p>
        </p:txBody>
      </p:sp>
      <p:sp>
        <p:nvSpPr>
          <p:cNvPr id="332" name="K"/>
          <p:cNvSpPr/>
          <p:nvPr/>
        </p:nvSpPr>
        <p:spPr>
          <a:xfrm>
            <a:off x="4739006" y="2408616"/>
            <a:ext cx="1152584" cy="198122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</p:sp>
      <p:pic>
        <p:nvPicPr>
          <p:cNvPr id="333" name="G"/>
          <p:cNvPicPr>
            <a:picLocks noChangeAspect="1"/>
          </p:cNvPicPr>
          <p:nvPr/>
        </p:nvPicPr>
        <p:blipFill>
          <a:blip r:embed="rIdM3"/>
          <a:stretch>
            <a:fillRect/>
          </a:stretch>
        </p:blipFill>
        <p:spPr>
          <a:xfrm>
            <a:off x="4812158" y="2446260"/>
            <a:ext cx="122835" cy="122835"/>
          </a:xfrm>
          <a:prstGeom prst="rect">
            <a:avLst/>
          </a:prstGeom>
        </p:spPr>
      </p:pic>
      <p:sp>
        <p:nvSpPr>
          <p:cNvPr id="334" name="T"/>
          <p:cNvSpPr txBox="1"/>
          <p:nvPr/>
        </p:nvSpPr>
        <p:spPr>
          <a:xfrm>
            <a:off x="4995894" y="2408616"/>
            <a:ext cx="36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59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292</a:t>
            </a:r>
            <a:endParaRPr lang="id-ID" sz="759"/>
          </a:p>
        </p:txBody>
      </p:sp>
      <p:sp>
        <p:nvSpPr>
          <p:cNvPr id="335" name="T"/>
          <p:cNvSpPr txBox="1"/>
          <p:nvPr/>
        </p:nvSpPr>
        <p:spPr>
          <a:xfrm>
            <a:off x="5378664" y="2408616"/>
            <a:ext cx="48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firespot</a:t>
            </a:r>
            <a:endParaRPr lang="id-ID" sz="759"/>
          </a:p>
        </p:txBody>
      </p:sp>
      <p:sp>
        <p:nvSpPr>
          <p:cNvPr id="336" name="K"/>
          <p:cNvSpPr/>
          <p:nvPr/>
        </p:nvSpPr>
        <p:spPr>
          <a:xfrm>
            <a:off x="5964742" y="2408616"/>
            <a:ext cx="1155436" cy="198122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337" name="G"/>
          <p:cNvPicPr>
            <a:picLocks noChangeAspect="1"/>
          </p:cNvPicPr>
          <p:nvPr/>
        </p:nvPicPr>
        <p:blipFill>
          <a:blip r:embed="rIdM4"/>
          <a:stretch>
            <a:fillRect/>
          </a:stretch>
        </p:blipFill>
        <p:spPr>
          <a:xfrm>
            <a:off x="6037894" y="2446260"/>
            <a:ext cx="122835" cy="122835"/>
          </a:xfrm>
          <a:prstGeom prst="rect">
            <a:avLst/>
          </a:prstGeom>
        </p:spPr>
      </p:pic>
      <p:sp>
        <p:nvSpPr>
          <p:cNvPr id="338" name="T"/>
          <p:cNvSpPr txBox="1"/>
          <p:nvPr/>
        </p:nvSpPr>
        <p:spPr>
          <a:xfrm>
            <a:off x="6211630" y="2408616"/>
            <a:ext cx="26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sisa</a:t>
            </a:r>
            <a:endParaRPr lang="id-ID" sz="759"/>
          </a:p>
        </p:txBody>
      </p:sp>
      <p:sp>
        <p:nvSpPr>
          <p:cNvPr id="339" name="T"/>
          <p:cNvSpPr txBox="1"/>
          <p:nvPr/>
        </p:nvSpPr>
        <p:spPr>
          <a:xfrm>
            <a:off x="6481630" y="2408616"/>
            <a:ext cx="42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± 373</a:t>
            </a:r>
            <a:endParaRPr lang="id-ID" sz="759"/>
          </a:p>
        </p:txBody>
      </p:sp>
      <p:sp>
        <p:nvSpPr>
          <p:cNvPr id="340" name="T"/>
          <p:cNvSpPr txBox="1"/>
          <p:nvPr/>
        </p:nvSpPr>
        <p:spPr>
          <a:xfrm>
            <a:off x="6924400" y="2408616"/>
            <a:ext cx="18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ha</a:t>
            </a:r>
            <a:endParaRPr lang="id-ID" sz="759"/>
          </a:p>
        </p:txBody>
      </p:sp>
      <p:sp>
        <p:nvSpPr>
          <p:cNvPr id="341" name="K"/>
          <p:cNvSpPr/>
          <p:nvPr/>
        </p:nvSpPr>
        <p:spPr>
          <a:xfrm>
            <a:off x="676656" y="2675781"/>
            <a:ext cx="6464808" cy="264162"/>
          </a:xfrm>
          <a:prstGeom prst="rect">
            <a:avLst/>
          </a:prstGeom>
          <a:solidFill>
            <a:srgbClr val="F7F8FA"/>
          </a:solidFill>
          <a:ln>
            <a:noFill/>
          </a:ln>
        </p:spPr>
      </p:sp>
      <p:sp>
        <p:nvSpPr>
          <p:cNvPr id="342" name="T"/>
          <p:cNvSpPr txBox="1"/>
          <p:nvPr/>
        </p:nvSpPr>
        <p:spPr>
          <a:xfrm>
            <a:off x="749808" y="2657770"/>
            <a:ext cx="1645920" cy="30018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919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Sulawesi Selatan</a:t>
            </a:r>
            <a:endParaRPr lang="id-ID" sz="919"/>
          </a:p>
        </p:txBody>
      </p:sp>
      <p:sp>
        <p:nvSpPr>
          <p:cNvPr id="343" name="K"/>
          <p:cNvSpPr/>
          <p:nvPr/>
        </p:nvSpPr>
        <p:spPr>
          <a:xfrm>
            <a:off x="2315728" y="2714805"/>
            <a:ext cx="638251" cy="186114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344" name="G"/>
          <p:cNvPicPr>
            <a:picLocks noChangeAspect="1"/>
          </p:cNvPicPr>
          <p:nvPr/>
        </p:nvPicPr>
        <p:blipFill>
          <a:blip r:embed="rIdM4"/>
          <a:stretch>
            <a:fillRect/>
          </a:stretch>
        </p:blipFill>
        <p:spPr>
          <a:xfrm>
            <a:off x="2380867" y="2752028"/>
            <a:ext cx="111668" cy="111668"/>
          </a:xfrm>
          <a:prstGeom prst="rect">
            <a:avLst/>
          </a:prstGeom>
        </p:spPr>
      </p:pic>
      <p:sp>
        <p:nvSpPr>
          <p:cNvPr id="345" name="T"/>
          <p:cNvSpPr txBox="1"/>
          <p:nvPr/>
        </p:nvSpPr>
        <p:spPr>
          <a:xfrm>
            <a:off x="2464619" y="2714805"/>
            <a:ext cx="489359" cy="18611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2 kejadian</a:t>
            </a:r>
            <a:endParaRPr lang="id-ID" sz="683"/>
          </a:p>
        </p:txBody>
      </p:sp>
      <p:sp>
        <p:nvSpPr>
          <p:cNvPr id="346" name="K"/>
          <p:cNvSpPr/>
          <p:nvPr/>
        </p:nvSpPr>
        <p:spPr>
          <a:xfrm>
            <a:off x="3291840" y="2714805"/>
            <a:ext cx="1005840" cy="18611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C9A8"/>
            </a:solidFill>
          </a:ln>
        </p:spPr>
      </p:sp>
      <p:pic>
        <p:nvPicPr>
          <p:cNvPr id="347" name="G"/>
          <p:cNvPicPr>
            <a:picLocks noChangeAspect="1"/>
          </p:cNvPicPr>
          <p:nvPr/>
        </p:nvPicPr>
        <p:blipFill>
          <a:blip r:embed="rIdM4"/>
          <a:stretch>
            <a:fillRect/>
          </a:stretch>
        </p:blipFill>
        <p:spPr>
          <a:xfrm>
            <a:off x="3366285" y="2752028"/>
            <a:ext cx="111668" cy="111668"/>
          </a:xfrm>
          <a:prstGeom prst="rect">
            <a:avLst/>
          </a:prstGeom>
        </p:spPr>
      </p:pic>
      <p:sp>
        <p:nvSpPr>
          <p:cNvPr id="348" name="T"/>
          <p:cNvSpPr txBox="1"/>
          <p:nvPr/>
        </p:nvSpPr>
        <p:spPr>
          <a:xfrm>
            <a:off x="3440731" y="2714805"/>
            <a:ext cx="856948" cy="18611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21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total ± 33.140 ha</a:t>
            </a:r>
            <a:endParaRPr lang="id-ID" sz="721"/>
          </a:p>
        </p:txBody>
      </p:sp>
      <p:cxnSp>
        <p:nvCxnSpPr>
          <p:cNvPr id="349" name="L"/>
          <p:cNvCxnSpPr/>
          <p:nvPr/>
        </p:nvCxnSpPr>
        <p:spPr>
          <a:xfrm>
            <a:off x="676656" y="2957955"/>
            <a:ext cx="6464808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350" name="K"/>
          <p:cNvSpPr/>
          <p:nvPr/>
        </p:nvSpPr>
        <p:spPr>
          <a:xfrm>
            <a:off x="841248" y="3017992"/>
            <a:ext cx="180111" cy="180111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351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873667" y="3050411"/>
            <a:ext cx="115271" cy="115271"/>
          </a:xfrm>
          <a:prstGeom prst="rect">
            <a:avLst/>
          </a:prstGeom>
        </p:spPr>
      </p:pic>
      <p:sp>
        <p:nvSpPr>
          <p:cNvPr id="352" name="T"/>
          <p:cNvSpPr txBox="1"/>
          <p:nvPr/>
        </p:nvSpPr>
        <p:spPr>
          <a:xfrm>
            <a:off x="1154592" y="2957955"/>
            <a:ext cx="1908648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19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Tingkat provinsi</a:t>
            </a:r>
            <a:endParaRPr lang="id-ID" sz="919"/>
          </a:p>
        </p:txBody>
      </p:sp>
      <p:sp>
        <p:nvSpPr>
          <p:cNvPr id="353" name="T"/>
          <p:cNvSpPr txBox="1"/>
          <p:nvPr/>
        </p:nvSpPr>
        <p:spPr>
          <a:xfrm>
            <a:off x="3291840" y="2957955"/>
            <a:ext cx="82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 33.140</a:t>
            </a:r>
            <a:endParaRPr lang="id-ID" sz="900"/>
          </a:p>
        </p:txBody>
      </p:sp>
      <p:sp>
        <p:nvSpPr>
          <p:cNvPr id="354" name="T"/>
          <p:cNvSpPr txBox="1"/>
          <p:nvPr/>
        </p:nvSpPr>
        <p:spPr>
          <a:xfrm>
            <a:off x="4138840" y="2957955"/>
            <a:ext cx="90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ha</a:t>
            </a:r>
            <a:endParaRPr lang="id-ID" sz="900"/>
          </a:p>
        </p:txBody>
      </p:sp>
      <p:sp>
        <p:nvSpPr>
          <p:cNvPr id="355" name="K"/>
          <p:cNvSpPr/>
          <p:nvPr/>
        </p:nvSpPr>
        <p:spPr>
          <a:xfrm>
            <a:off x="4739006" y="3008986"/>
            <a:ext cx="1152584" cy="198122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</p:sp>
      <p:pic>
        <p:nvPicPr>
          <p:cNvPr id="356" name="G"/>
          <p:cNvPicPr>
            <a:picLocks noChangeAspect="1"/>
          </p:cNvPicPr>
          <p:nvPr/>
        </p:nvPicPr>
        <p:blipFill>
          <a:blip r:embed="rIdM3"/>
          <a:stretch>
            <a:fillRect/>
          </a:stretch>
        </p:blipFill>
        <p:spPr>
          <a:xfrm>
            <a:off x="4812158" y="3046630"/>
            <a:ext cx="122835" cy="122835"/>
          </a:xfrm>
          <a:prstGeom prst="rect">
            <a:avLst/>
          </a:prstGeom>
        </p:spPr>
      </p:pic>
      <p:sp>
        <p:nvSpPr>
          <p:cNvPr id="357" name="T"/>
          <p:cNvSpPr txBox="1"/>
          <p:nvPr/>
        </p:nvSpPr>
        <p:spPr>
          <a:xfrm>
            <a:off x="4995894" y="3008986"/>
            <a:ext cx="36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59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47</a:t>
            </a:r>
            <a:endParaRPr lang="id-ID" sz="759"/>
          </a:p>
        </p:txBody>
      </p:sp>
      <p:sp>
        <p:nvSpPr>
          <p:cNvPr id="358" name="T"/>
          <p:cNvSpPr txBox="1"/>
          <p:nvPr/>
        </p:nvSpPr>
        <p:spPr>
          <a:xfrm>
            <a:off x="5378664" y="3008986"/>
            <a:ext cx="48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firespot</a:t>
            </a:r>
            <a:endParaRPr lang="id-ID" sz="759"/>
          </a:p>
        </p:txBody>
      </p:sp>
      <p:sp>
        <p:nvSpPr>
          <p:cNvPr id="359" name="K"/>
          <p:cNvSpPr/>
          <p:nvPr/>
        </p:nvSpPr>
        <p:spPr>
          <a:xfrm>
            <a:off x="5964742" y="3008986"/>
            <a:ext cx="1155436" cy="198122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360" name="G"/>
          <p:cNvPicPr>
            <a:picLocks noChangeAspect="1"/>
          </p:cNvPicPr>
          <p:nvPr/>
        </p:nvPicPr>
        <p:blipFill>
          <a:blip r:embed="rIdM4"/>
          <a:stretch>
            <a:fillRect/>
          </a:stretch>
        </p:blipFill>
        <p:spPr>
          <a:xfrm>
            <a:off x="6037894" y="3046630"/>
            <a:ext cx="122835" cy="122835"/>
          </a:xfrm>
          <a:prstGeom prst="rect">
            <a:avLst/>
          </a:prstGeom>
        </p:spPr>
      </p:pic>
      <p:sp>
        <p:nvSpPr>
          <p:cNvPr id="361" name="T"/>
          <p:cNvSpPr txBox="1"/>
          <p:nvPr/>
        </p:nvSpPr>
        <p:spPr>
          <a:xfrm>
            <a:off x="6211630" y="3008986"/>
            <a:ext cx="26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sisa</a:t>
            </a:r>
            <a:endParaRPr lang="id-ID" sz="759"/>
          </a:p>
        </p:txBody>
      </p:sp>
      <p:sp>
        <p:nvSpPr>
          <p:cNvPr id="362" name="T"/>
          <p:cNvSpPr txBox="1"/>
          <p:nvPr/>
        </p:nvSpPr>
        <p:spPr>
          <a:xfrm>
            <a:off x="6481630" y="3008986"/>
            <a:ext cx="42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± 95</a:t>
            </a:r>
            <a:endParaRPr lang="id-ID" sz="759"/>
          </a:p>
        </p:txBody>
      </p:sp>
      <p:sp>
        <p:nvSpPr>
          <p:cNvPr id="363" name="T"/>
          <p:cNvSpPr txBox="1"/>
          <p:nvPr/>
        </p:nvSpPr>
        <p:spPr>
          <a:xfrm>
            <a:off x="6924400" y="3008986"/>
            <a:ext cx="18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ha</a:t>
            </a:r>
            <a:endParaRPr lang="id-ID" sz="759"/>
          </a:p>
        </p:txBody>
      </p:sp>
      <p:cxnSp>
        <p:nvCxnSpPr>
          <p:cNvPr id="364" name="L"/>
          <p:cNvCxnSpPr/>
          <p:nvPr/>
        </p:nvCxnSpPr>
        <p:spPr>
          <a:xfrm>
            <a:off x="676656" y="3258140"/>
            <a:ext cx="6464808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365" name="K"/>
          <p:cNvSpPr/>
          <p:nvPr/>
        </p:nvSpPr>
        <p:spPr>
          <a:xfrm>
            <a:off x="841248" y="3318177"/>
            <a:ext cx="180111" cy="180111"/>
          </a:xfrm>
          <a:prstGeom prst="ellipse">
            <a:avLst/>
          </a:prstGeom>
          <a:solidFill>
            <a:srgbClr val="051C2C"/>
          </a:solidFill>
          <a:ln>
            <a:noFill/>
          </a:ln>
        </p:spPr>
      </p:sp>
      <p:pic>
        <p:nvPicPr>
          <p:cNvPr id="366" name="G"/>
          <p:cNvPicPr>
            <a:picLocks noChangeAspect="1"/>
          </p:cNvPicPr>
          <p:nvPr/>
        </p:nvPicPr>
        <p:blipFill>
          <a:blip r:embed="rIdM5"/>
          <a:stretch>
            <a:fillRect/>
          </a:stretch>
        </p:blipFill>
        <p:spPr>
          <a:xfrm>
            <a:off x="873667" y="3350596"/>
            <a:ext cx="115271" cy="115271"/>
          </a:xfrm>
          <a:prstGeom prst="rect">
            <a:avLst/>
          </a:prstGeom>
        </p:spPr>
      </p:pic>
      <p:sp>
        <p:nvSpPr>
          <p:cNvPr id="367" name="T"/>
          <p:cNvSpPr txBox="1"/>
          <p:nvPr/>
        </p:nvSpPr>
        <p:spPr>
          <a:xfrm>
            <a:off x="1154592" y="3258140"/>
            <a:ext cx="1908648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19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Toraja Utara</a:t>
            </a:r>
            <a:endParaRPr lang="id-ID" sz="919"/>
          </a:p>
        </p:txBody>
      </p:sp>
      <p:sp>
        <p:nvSpPr>
          <p:cNvPr id="368" name="T"/>
          <p:cNvSpPr txBox="1"/>
          <p:nvPr/>
        </p:nvSpPr>
        <p:spPr>
          <a:xfrm>
            <a:off x="3291840" y="3258140"/>
            <a:ext cx="82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 644</a:t>
            </a:r>
            <a:endParaRPr lang="id-ID" sz="900"/>
          </a:p>
        </p:txBody>
      </p:sp>
      <p:sp>
        <p:nvSpPr>
          <p:cNvPr id="369" name="T"/>
          <p:cNvSpPr txBox="1"/>
          <p:nvPr/>
        </p:nvSpPr>
        <p:spPr>
          <a:xfrm>
            <a:off x="4138840" y="3258140"/>
            <a:ext cx="90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ha</a:t>
            </a:r>
            <a:endParaRPr lang="id-ID" sz="900"/>
          </a:p>
        </p:txBody>
      </p:sp>
      <p:cxnSp>
        <p:nvCxnSpPr>
          <p:cNvPr id="370" name="L"/>
          <p:cNvCxnSpPr/>
          <p:nvPr/>
        </p:nvCxnSpPr>
        <p:spPr>
          <a:xfrm>
            <a:off x="676656" y="3558325"/>
            <a:ext cx="6464808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371" name="K"/>
          <p:cNvSpPr/>
          <p:nvPr/>
        </p:nvSpPr>
        <p:spPr>
          <a:xfrm>
            <a:off x="676656" y="3618362"/>
            <a:ext cx="180111" cy="180111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372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09075" y="3650781"/>
            <a:ext cx="115271" cy="115271"/>
          </a:xfrm>
          <a:prstGeom prst="rect">
            <a:avLst/>
          </a:prstGeom>
        </p:spPr>
      </p:pic>
      <p:sp>
        <p:nvSpPr>
          <p:cNvPr id="373" name="T"/>
          <p:cNvSpPr txBox="1"/>
          <p:nvPr/>
        </p:nvSpPr>
        <p:spPr>
          <a:xfrm>
            <a:off x="990000" y="3558325"/>
            <a:ext cx="207324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19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Sulawesi Tenggara</a:t>
            </a:r>
            <a:endParaRPr lang="id-ID" sz="919"/>
          </a:p>
        </p:txBody>
      </p:sp>
      <p:sp>
        <p:nvSpPr>
          <p:cNvPr id="374" name="T"/>
          <p:cNvSpPr txBox="1"/>
          <p:nvPr/>
        </p:nvSpPr>
        <p:spPr>
          <a:xfrm>
            <a:off x="3291840" y="3558325"/>
            <a:ext cx="82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 27.667</a:t>
            </a:r>
            <a:endParaRPr lang="id-ID" sz="900"/>
          </a:p>
        </p:txBody>
      </p:sp>
      <p:sp>
        <p:nvSpPr>
          <p:cNvPr id="375" name="T"/>
          <p:cNvSpPr txBox="1"/>
          <p:nvPr/>
        </p:nvSpPr>
        <p:spPr>
          <a:xfrm>
            <a:off x="4138840" y="3558325"/>
            <a:ext cx="90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ha</a:t>
            </a:r>
            <a:endParaRPr lang="id-ID" sz="900"/>
          </a:p>
        </p:txBody>
      </p:sp>
      <p:sp>
        <p:nvSpPr>
          <p:cNvPr id="376" name="K"/>
          <p:cNvSpPr/>
          <p:nvPr/>
        </p:nvSpPr>
        <p:spPr>
          <a:xfrm>
            <a:off x="4739006" y="3609356"/>
            <a:ext cx="1152584" cy="198122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</p:sp>
      <p:pic>
        <p:nvPicPr>
          <p:cNvPr id="377" name="G"/>
          <p:cNvPicPr>
            <a:picLocks noChangeAspect="1"/>
          </p:cNvPicPr>
          <p:nvPr/>
        </p:nvPicPr>
        <p:blipFill>
          <a:blip r:embed="rIdM3"/>
          <a:stretch>
            <a:fillRect/>
          </a:stretch>
        </p:blipFill>
        <p:spPr>
          <a:xfrm>
            <a:off x="4812158" y="3647000"/>
            <a:ext cx="122835" cy="122835"/>
          </a:xfrm>
          <a:prstGeom prst="rect">
            <a:avLst/>
          </a:prstGeom>
        </p:spPr>
      </p:pic>
      <p:sp>
        <p:nvSpPr>
          <p:cNvPr id="378" name="T"/>
          <p:cNvSpPr txBox="1"/>
          <p:nvPr/>
        </p:nvSpPr>
        <p:spPr>
          <a:xfrm>
            <a:off x="4995894" y="3609356"/>
            <a:ext cx="36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59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93</a:t>
            </a:r>
            <a:endParaRPr lang="id-ID" sz="759"/>
          </a:p>
        </p:txBody>
      </p:sp>
      <p:sp>
        <p:nvSpPr>
          <p:cNvPr id="379" name="T"/>
          <p:cNvSpPr txBox="1"/>
          <p:nvPr/>
        </p:nvSpPr>
        <p:spPr>
          <a:xfrm>
            <a:off x="5378664" y="3609356"/>
            <a:ext cx="48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firespot</a:t>
            </a:r>
            <a:endParaRPr lang="id-ID" sz="759"/>
          </a:p>
        </p:txBody>
      </p:sp>
      <p:sp>
        <p:nvSpPr>
          <p:cNvPr id="380" name="K"/>
          <p:cNvSpPr/>
          <p:nvPr/>
        </p:nvSpPr>
        <p:spPr>
          <a:xfrm>
            <a:off x="5964742" y="3609356"/>
            <a:ext cx="1155436" cy="198122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381" name="G"/>
          <p:cNvPicPr>
            <a:picLocks noChangeAspect="1"/>
          </p:cNvPicPr>
          <p:nvPr/>
        </p:nvPicPr>
        <p:blipFill>
          <a:blip r:embed="rIdM4"/>
          <a:stretch>
            <a:fillRect/>
          </a:stretch>
        </p:blipFill>
        <p:spPr>
          <a:xfrm>
            <a:off x="6037894" y="3647000"/>
            <a:ext cx="122835" cy="122835"/>
          </a:xfrm>
          <a:prstGeom prst="rect">
            <a:avLst/>
          </a:prstGeom>
        </p:spPr>
      </p:pic>
      <p:sp>
        <p:nvSpPr>
          <p:cNvPr id="382" name="T"/>
          <p:cNvSpPr txBox="1"/>
          <p:nvPr/>
        </p:nvSpPr>
        <p:spPr>
          <a:xfrm>
            <a:off x="6211630" y="3609356"/>
            <a:ext cx="26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sisa</a:t>
            </a:r>
            <a:endParaRPr lang="id-ID" sz="759"/>
          </a:p>
        </p:txBody>
      </p:sp>
      <p:sp>
        <p:nvSpPr>
          <p:cNvPr id="383" name="T"/>
          <p:cNvSpPr txBox="1"/>
          <p:nvPr/>
        </p:nvSpPr>
        <p:spPr>
          <a:xfrm>
            <a:off x="6481630" y="3609356"/>
            <a:ext cx="42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± 79</a:t>
            </a:r>
            <a:endParaRPr lang="id-ID" sz="759"/>
          </a:p>
        </p:txBody>
      </p:sp>
      <p:sp>
        <p:nvSpPr>
          <p:cNvPr id="384" name="T"/>
          <p:cNvSpPr txBox="1"/>
          <p:nvPr/>
        </p:nvSpPr>
        <p:spPr>
          <a:xfrm>
            <a:off x="6924400" y="3609356"/>
            <a:ext cx="18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ha</a:t>
            </a:r>
            <a:endParaRPr lang="id-ID" sz="759"/>
          </a:p>
        </p:txBody>
      </p:sp>
      <p:cxnSp>
        <p:nvCxnSpPr>
          <p:cNvPr id="385" name="L"/>
          <p:cNvCxnSpPr/>
          <p:nvPr/>
        </p:nvCxnSpPr>
        <p:spPr>
          <a:xfrm>
            <a:off x="676656" y="3858510"/>
            <a:ext cx="6464808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386" name="K"/>
          <p:cNvSpPr/>
          <p:nvPr/>
        </p:nvSpPr>
        <p:spPr>
          <a:xfrm>
            <a:off x="676656" y="3918547"/>
            <a:ext cx="180111" cy="180111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387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09075" y="3950966"/>
            <a:ext cx="115271" cy="115271"/>
          </a:xfrm>
          <a:prstGeom prst="rect">
            <a:avLst/>
          </a:prstGeom>
        </p:spPr>
      </p:pic>
      <p:sp>
        <p:nvSpPr>
          <p:cNvPr id="388" name="T"/>
          <p:cNvSpPr txBox="1"/>
          <p:nvPr/>
        </p:nvSpPr>
        <p:spPr>
          <a:xfrm>
            <a:off x="990000" y="3858510"/>
            <a:ext cx="207324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19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Sulawesi Tengah</a:t>
            </a:r>
            <a:endParaRPr lang="id-ID" sz="919"/>
          </a:p>
        </p:txBody>
      </p:sp>
      <p:sp>
        <p:nvSpPr>
          <p:cNvPr id="389" name="T"/>
          <p:cNvSpPr txBox="1"/>
          <p:nvPr/>
        </p:nvSpPr>
        <p:spPr>
          <a:xfrm>
            <a:off x="3291840" y="3858510"/>
            <a:ext cx="82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 43.686</a:t>
            </a:r>
            <a:endParaRPr lang="id-ID" sz="900"/>
          </a:p>
        </p:txBody>
      </p:sp>
      <p:sp>
        <p:nvSpPr>
          <p:cNvPr id="390" name="T"/>
          <p:cNvSpPr txBox="1"/>
          <p:nvPr/>
        </p:nvSpPr>
        <p:spPr>
          <a:xfrm>
            <a:off x="4138840" y="3858510"/>
            <a:ext cx="90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ha</a:t>
            </a:r>
            <a:endParaRPr lang="id-ID" sz="900"/>
          </a:p>
        </p:txBody>
      </p:sp>
      <p:sp>
        <p:nvSpPr>
          <p:cNvPr id="391" name="K"/>
          <p:cNvSpPr/>
          <p:nvPr/>
        </p:nvSpPr>
        <p:spPr>
          <a:xfrm>
            <a:off x="4739006" y="3909541"/>
            <a:ext cx="1152584" cy="198122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</p:sp>
      <p:pic>
        <p:nvPicPr>
          <p:cNvPr id="392" name="G"/>
          <p:cNvPicPr>
            <a:picLocks noChangeAspect="1"/>
          </p:cNvPicPr>
          <p:nvPr/>
        </p:nvPicPr>
        <p:blipFill>
          <a:blip r:embed="rIdM3"/>
          <a:stretch>
            <a:fillRect/>
          </a:stretch>
        </p:blipFill>
        <p:spPr>
          <a:xfrm>
            <a:off x="4812158" y="3947185"/>
            <a:ext cx="122835" cy="122835"/>
          </a:xfrm>
          <a:prstGeom prst="rect">
            <a:avLst/>
          </a:prstGeom>
        </p:spPr>
      </p:pic>
      <p:sp>
        <p:nvSpPr>
          <p:cNvPr id="393" name="T"/>
          <p:cNvSpPr txBox="1"/>
          <p:nvPr/>
        </p:nvSpPr>
        <p:spPr>
          <a:xfrm>
            <a:off x="4995894" y="3909541"/>
            <a:ext cx="36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59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91</a:t>
            </a:r>
            <a:endParaRPr lang="id-ID" sz="759"/>
          </a:p>
        </p:txBody>
      </p:sp>
      <p:sp>
        <p:nvSpPr>
          <p:cNvPr id="394" name="T"/>
          <p:cNvSpPr txBox="1"/>
          <p:nvPr/>
        </p:nvSpPr>
        <p:spPr>
          <a:xfrm>
            <a:off x="5378664" y="3909541"/>
            <a:ext cx="48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firespot</a:t>
            </a:r>
            <a:endParaRPr lang="id-ID" sz="759"/>
          </a:p>
        </p:txBody>
      </p:sp>
      <p:sp>
        <p:nvSpPr>
          <p:cNvPr id="395" name="K"/>
          <p:cNvSpPr/>
          <p:nvPr/>
        </p:nvSpPr>
        <p:spPr>
          <a:xfrm>
            <a:off x="5964742" y="3909541"/>
            <a:ext cx="1155436" cy="198122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396" name="G"/>
          <p:cNvPicPr>
            <a:picLocks noChangeAspect="1"/>
          </p:cNvPicPr>
          <p:nvPr/>
        </p:nvPicPr>
        <p:blipFill>
          <a:blip r:embed="rIdM4"/>
          <a:stretch>
            <a:fillRect/>
          </a:stretch>
        </p:blipFill>
        <p:spPr>
          <a:xfrm>
            <a:off x="6037894" y="3947185"/>
            <a:ext cx="122835" cy="122835"/>
          </a:xfrm>
          <a:prstGeom prst="rect">
            <a:avLst/>
          </a:prstGeom>
        </p:spPr>
      </p:pic>
      <p:sp>
        <p:nvSpPr>
          <p:cNvPr id="397" name="T"/>
          <p:cNvSpPr txBox="1"/>
          <p:nvPr/>
        </p:nvSpPr>
        <p:spPr>
          <a:xfrm>
            <a:off x="6211630" y="3909541"/>
            <a:ext cx="26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sisa</a:t>
            </a:r>
            <a:endParaRPr lang="id-ID" sz="759"/>
          </a:p>
        </p:txBody>
      </p:sp>
      <p:sp>
        <p:nvSpPr>
          <p:cNvPr id="398" name="T"/>
          <p:cNvSpPr txBox="1"/>
          <p:nvPr/>
        </p:nvSpPr>
        <p:spPr>
          <a:xfrm>
            <a:off x="6481630" y="3909541"/>
            <a:ext cx="42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± 64</a:t>
            </a:r>
            <a:endParaRPr lang="id-ID" sz="759"/>
          </a:p>
        </p:txBody>
      </p:sp>
      <p:sp>
        <p:nvSpPr>
          <p:cNvPr id="399" name="T"/>
          <p:cNvSpPr txBox="1"/>
          <p:nvPr/>
        </p:nvSpPr>
        <p:spPr>
          <a:xfrm>
            <a:off x="6924400" y="3909541"/>
            <a:ext cx="18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ha</a:t>
            </a:r>
            <a:endParaRPr lang="id-ID" sz="759"/>
          </a:p>
        </p:txBody>
      </p:sp>
      <p:cxnSp>
        <p:nvCxnSpPr>
          <p:cNvPr id="400" name="L"/>
          <p:cNvCxnSpPr/>
          <p:nvPr/>
        </p:nvCxnSpPr>
        <p:spPr>
          <a:xfrm>
            <a:off x="676656" y="4158695"/>
            <a:ext cx="6464808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401" name="K"/>
          <p:cNvSpPr/>
          <p:nvPr/>
        </p:nvSpPr>
        <p:spPr>
          <a:xfrm>
            <a:off x="676656" y="4218732"/>
            <a:ext cx="180111" cy="180111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402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09075" y="4251151"/>
            <a:ext cx="115271" cy="115271"/>
          </a:xfrm>
          <a:prstGeom prst="rect">
            <a:avLst/>
          </a:prstGeom>
        </p:spPr>
      </p:pic>
      <p:sp>
        <p:nvSpPr>
          <p:cNvPr id="403" name="T"/>
          <p:cNvSpPr txBox="1"/>
          <p:nvPr/>
        </p:nvSpPr>
        <p:spPr>
          <a:xfrm>
            <a:off x="990000" y="4158695"/>
            <a:ext cx="207324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19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Kalimantan Selatan</a:t>
            </a:r>
            <a:endParaRPr lang="id-ID" sz="919"/>
          </a:p>
        </p:txBody>
      </p:sp>
      <p:sp>
        <p:nvSpPr>
          <p:cNvPr id="404" name="T"/>
          <p:cNvSpPr txBox="1"/>
          <p:nvPr/>
        </p:nvSpPr>
        <p:spPr>
          <a:xfrm>
            <a:off x="3291840" y="4158695"/>
            <a:ext cx="82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 105.022</a:t>
            </a:r>
            <a:endParaRPr lang="id-ID" sz="900"/>
          </a:p>
        </p:txBody>
      </p:sp>
      <p:sp>
        <p:nvSpPr>
          <p:cNvPr id="405" name="T"/>
          <p:cNvSpPr txBox="1"/>
          <p:nvPr/>
        </p:nvSpPr>
        <p:spPr>
          <a:xfrm>
            <a:off x="4138840" y="4158695"/>
            <a:ext cx="90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ha</a:t>
            </a:r>
            <a:endParaRPr lang="id-ID" sz="900"/>
          </a:p>
        </p:txBody>
      </p:sp>
      <p:sp>
        <p:nvSpPr>
          <p:cNvPr id="406" name="K"/>
          <p:cNvSpPr/>
          <p:nvPr/>
        </p:nvSpPr>
        <p:spPr>
          <a:xfrm>
            <a:off x="4739006" y="4209726"/>
            <a:ext cx="1152584" cy="198122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</p:sp>
      <p:pic>
        <p:nvPicPr>
          <p:cNvPr id="407" name="G"/>
          <p:cNvPicPr>
            <a:picLocks noChangeAspect="1"/>
          </p:cNvPicPr>
          <p:nvPr/>
        </p:nvPicPr>
        <p:blipFill>
          <a:blip r:embed="rIdM3"/>
          <a:stretch>
            <a:fillRect/>
          </a:stretch>
        </p:blipFill>
        <p:spPr>
          <a:xfrm>
            <a:off x="4812158" y="4247370"/>
            <a:ext cx="122835" cy="122835"/>
          </a:xfrm>
          <a:prstGeom prst="rect">
            <a:avLst/>
          </a:prstGeom>
        </p:spPr>
      </p:pic>
      <p:sp>
        <p:nvSpPr>
          <p:cNvPr id="408" name="T"/>
          <p:cNvSpPr txBox="1"/>
          <p:nvPr/>
        </p:nvSpPr>
        <p:spPr>
          <a:xfrm>
            <a:off x="4995894" y="4209726"/>
            <a:ext cx="36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59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28</a:t>
            </a:r>
            <a:endParaRPr lang="id-ID" sz="759"/>
          </a:p>
        </p:txBody>
      </p:sp>
      <p:sp>
        <p:nvSpPr>
          <p:cNvPr id="409" name="T"/>
          <p:cNvSpPr txBox="1"/>
          <p:nvPr/>
        </p:nvSpPr>
        <p:spPr>
          <a:xfrm>
            <a:off x="5378664" y="4209726"/>
            <a:ext cx="48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firespot</a:t>
            </a:r>
            <a:endParaRPr lang="id-ID" sz="759"/>
          </a:p>
        </p:txBody>
      </p:sp>
      <p:sp>
        <p:nvSpPr>
          <p:cNvPr id="410" name="K"/>
          <p:cNvSpPr/>
          <p:nvPr/>
        </p:nvSpPr>
        <p:spPr>
          <a:xfrm>
            <a:off x="5964742" y="4209726"/>
            <a:ext cx="1155436" cy="198122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411" name="G"/>
          <p:cNvPicPr>
            <a:picLocks noChangeAspect="1"/>
          </p:cNvPicPr>
          <p:nvPr/>
        </p:nvPicPr>
        <p:blipFill>
          <a:blip r:embed="rIdM4"/>
          <a:stretch>
            <a:fillRect/>
          </a:stretch>
        </p:blipFill>
        <p:spPr>
          <a:xfrm>
            <a:off x="6037894" y="4247370"/>
            <a:ext cx="122835" cy="122835"/>
          </a:xfrm>
          <a:prstGeom prst="rect">
            <a:avLst/>
          </a:prstGeom>
        </p:spPr>
      </p:pic>
      <p:sp>
        <p:nvSpPr>
          <p:cNvPr id="412" name="T"/>
          <p:cNvSpPr txBox="1"/>
          <p:nvPr/>
        </p:nvSpPr>
        <p:spPr>
          <a:xfrm>
            <a:off x="6211630" y="4209726"/>
            <a:ext cx="26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sisa</a:t>
            </a:r>
            <a:endParaRPr lang="id-ID" sz="759"/>
          </a:p>
        </p:txBody>
      </p:sp>
      <p:sp>
        <p:nvSpPr>
          <p:cNvPr id="413" name="T"/>
          <p:cNvSpPr txBox="1"/>
          <p:nvPr/>
        </p:nvSpPr>
        <p:spPr>
          <a:xfrm>
            <a:off x="6481630" y="4209726"/>
            <a:ext cx="42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± 62</a:t>
            </a:r>
            <a:endParaRPr lang="id-ID" sz="759"/>
          </a:p>
        </p:txBody>
      </p:sp>
      <p:sp>
        <p:nvSpPr>
          <p:cNvPr id="414" name="T"/>
          <p:cNvSpPr txBox="1"/>
          <p:nvPr/>
        </p:nvSpPr>
        <p:spPr>
          <a:xfrm>
            <a:off x="6924400" y="4209726"/>
            <a:ext cx="18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ha</a:t>
            </a:r>
            <a:endParaRPr lang="id-ID" sz="759"/>
          </a:p>
        </p:txBody>
      </p:sp>
      <p:cxnSp>
        <p:nvCxnSpPr>
          <p:cNvPr id="415" name="L"/>
          <p:cNvCxnSpPr/>
          <p:nvPr/>
        </p:nvCxnSpPr>
        <p:spPr>
          <a:xfrm>
            <a:off x="676656" y="4458880"/>
            <a:ext cx="6464808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416" name="K"/>
          <p:cNvSpPr/>
          <p:nvPr/>
        </p:nvSpPr>
        <p:spPr>
          <a:xfrm>
            <a:off x="676656" y="4518917"/>
            <a:ext cx="180111" cy="180111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417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09075" y="4551336"/>
            <a:ext cx="115271" cy="115271"/>
          </a:xfrm>
          <a:prstGeom prst="rect">
            <a:avLst/>
          </a:prstGeom>
        </p:spPr>
      </p:pic>
      <p:sp>
        <p:nvSpPr>
          <p:cNvPr id="418" name="T"/>
          <p:cNvSpPr txBox="1"/>
          <p:nvPr/>
        </p:nvSpPr>
        <p:spPr>
          <a:xfrm>
            <a:off x="990000" y="4458880"/>
            <a:ext cx="207324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19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Sumatera Selatan</a:t>
            </a:r>
            <a:endParaRPr lang="id-ID" sz="919"/>
          </a:p>
        </p:txBody>
      </p:sp>
      <p:sp>
        <p:nvSpPr>
          <p:cNvPr id="419" name="T"/>
          <p:cNvSpPr txBox="1"/>
          <p:nvPr/>
        </p:nvSpPr>
        <p:spPr>
          <a:xfrm>
            <a:off x="3291840" y="4458880"/>
            <a:ext cx="82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 212.726</a:t>
            </a:r>
            <a:endParaRPr lang="id-ID" sz="900"/>
          </a:p>
        </p:txBody>
      </p:sp>
      <p:sp>
        <p:nvSpPr>
          <p:cNvPr id="420" name="T"/>
          <p:cNvSpPr txBox="1"/>
          <p:nvPr/>
        </p:nvSpPr>
        <p:spPr>
          <a:xfrm>
            <a:off x="4138840" y="4458880"/>
            <a:ext cx="90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ha</a:t>
            </a:r>
            <a:endParaRPr lang="id-ID" sz="900"/>
          </a:p>
        </p:txBody>
      </p:sp>
      <p:sp>
        <p:nvSpPr>
          <p:cNvPr id="421" name="K"/>
          <p:cNvSpPr/>
          <p:nvPr/>
        </p:nvSpPr>
        <p:spPr>
          <a:xfrm>
            <a:off x="4739006" y="4509911"/>
            <a:ext cx="1152584" cy="198122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</p:sp>
      <p:pic>
        <p:nvPicPr>
          <p:cNvPr id="422" name="G"/>
          <p:cNvPicPr>
            <a:picLocks noChangeAspect="1"/>
          </p:cNvPicPr>
          <p:nvPr/>
        </p:nvPicPr>
        <p:blipFill>
          <a:blip r:embed="rIdM3"/>
          <a:stretch>
            <a:fillRect/>
          </a:stretch>
        </p:blipFill>
        <p:spPr>
          <a:xfrm>
            <a:off x="4812158" y="4547555"/>
            <a:ext cx="122835" cy="122835"/>
          </a:xfrm>
          <a:prstGeom prst="rect">
            <a:avLst/>
          </a:prstGeom>
        </p:spPr>
      </p:pic>
      <p:sp>
        <p:nvSpPr>
          <p:cNvPr id="423" name="T"/>
          <p:cNvSpPr txBox="1"/>
          <p:nvPr/>
        </p:nvSpPr>
        <p:spPr>
          <a:xfrm>
            <a:off x="4995894" y="4509911"/>
            <a:ext cx="36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59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70</a:t>
            </a:r>
            <a:endParaRPr lang="id-ID" sz="759"/>
          </a:p>
        </p:txBody>
      </p:sp>
      <p:sp>
        <p:nvSpPr>
          <p:cNvPr id="424" name="T"/>
          <p:cNvSpPr txBox="1"/>
          <p:nvPr/>
        </p:nvSpPr>
        <p:spPr>
          <a:xfrm>
            <a:off x="5378664" y="4509911"/>
            <a:ext cx="48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firespot</a:t>
            </a:r>
            <a:endParaRPr lang="id-ID" sz="759"/>
          </a:p>
        </p:txBody>
      </p:sp>
      <p:sp>
        <p:nvSpPr>
          <p:cNvPr id="425" name="K"/>
          <p:cNvSpPr/>
          <p:nvPr/>
        </p:nvSpPr>
        <p:spPr>
          <a:xfrm>
            <a:off x="5964742" y="4509911"/>
            <a:ext cx="1155436" cy="198122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426" name="G"/>
          <p:cNvPicPr>
            <a:picLocks noChangeAspect="1"/>
          </p:cNvPicPr>
          <p:nvPr/>
        </p:nvPicPr>
        <p:blipFill>
          <a:blip r:embed="rIdM4"/>
          <a:stretch>
            <a:fillRect/>
          </a:stretch>
        </p:blipFill>
        <p:spPr>
          <a:xfrm>
            <a:off x="6037894" y="4547555"/>
            <a:ext cx="122835" cy="122835"/>
          </a:xfrm>
          <a:prstGeom prst="rect">
            <a:avLst/>
          </a:prstGeom>
        </p:spPr>
      </p:pic>
      <p:sp>
        <p:nvSpPr>
          <p:cNvPr id="427" name="T"/>
          <p:cNvSpPr txBox="1"/>
          <p:nvPr/>
        </p:nvSpPr>
        <p:spPr>
          <a:xfrm>
            <a:off x="6211630" y="4509911"/>
            <a:ext cx="26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sisa</a:t>
            </a:r>
            <a:endParaRPr lang="id-ID" sz="759"/>
          </a:p>
        </p:txBody>
      </p:sp>
      <p:sp>
        <p:nvSpPr>
          <p:cNvPr id="428" name="T"/>
          <p:cNvSpPr txBox="1"/>
          <p:nvPr/>
        </p:nvSpPr>
        <p:spPr>
          <a:xfrm>
            <a:off x="6481630" y="4509911"/>
            <a:ext cx="42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± 35</a:t>
            </a:r>
            <a:endParaRPr lang="id-ID" sz="759"/>
          </a:p>
        </p:txBody>
      </p:sp>
      <p:sp>
        <p:nvSpPr>
          <p:cNvPr id="429" name="T"/>
          <p:cNvSpPr txBox="1"/>
          <p:nvPr/>
        </p:nvSpPr>
        <p:spPr>
          <a:xfrm>
            <a:off x="6924400" y="4509911"/>
            <a:ext cx="18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ha</a:t>
            </a:r>
            <a:endParaRPr lang="id-ID" sz="759"/>
          </a:p>
        </p:txBody>
      </p:sp>
      <p:cxnSp>
        <p:nvCxnSpPr>
          <p:cNvPr id="430" name="L"/>
          <p:cNvCxnSpPr/>
          <p:nvPr/>
        </p:nvCxnSpPr>
        <p:spPr>
          <a:xfrm>
            <a:off x="676656" y="4759065"/>
            <a:ext cx="6464808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431" name="K"/>
          <p:cNvSpPr/>
          <p:nvPr/>
        </p:nvSpPr>
        <p:spPr>
          <a:xfrm>
            <a:off x="676656" y="4819102"/>
            <a:ext cx="180111" cy="180111"/>
          </a:xfrm>
          <a:prstGeom prst="ellipse">
            <a:avLst/>
          </a:prstGeom>
          <a:solidFill>
            <a:srgbClr val="051C2C"/>
          </a:solidFill>
          <a:ln>
            <a:noFill/>
          </a:ln>
        </p:spPr>
      </p:sp>
      <p:pic>
        <p:nvPicPr>
          <p:cNvPr id="432" name="G"/>
          <p:cNvPicPr>
            <a:picLocks noChangeAspect="1"/>
          </p:cNvPicPr>
          <p:nvPr/>
        </p:nvPicPr>
        <p:blipFill>
          <a:blip r:embed="rIdM5"/>
          <a:stretch>
            <a:fillRect/>
          </a:stretch>
        </p:blipFill>
        <p:spPr>
          <a:xfrm>
            <a:off x="709075" y="4851521"/>
            <a:ext cx="115271" cy="115271"/>
          </a:xfrm>
          <a:prstGeom prst="rect">
            <a:avLst/>
          </a:prstGeom>
        </p:spPr>
      </p:pic>
      <p:sp>
        <p:nvSpPr>
          <p:cNvPr id="433" name="T"/>
          <p:cNvSpPr txBox="1"/>
          <p:nvPr/>
        </p:nvSpPr>
        <p:spPr>
          <a:xfrm>
            <a:off x="990000" y="4759065"/>
            <a:ext cx="207324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19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Riau</a:t>
            </a:r>
            <a:endParaRPr lang="id-ID" sz="919"/>
          </a:p>
        </p:txBody>
      </p:sp>
      <p:sp>
        <p:nvSpPr>
          <p:cNvPr id="434" name="T"/>
          <p:cNvSpPr txBox="1"/>
          <p:nvPr/>
        </p:nvSpPr>
        <p:spPr>
          <a:xfrm>
            <a:off x="3291840" y="4759065"/>
            <a:ext cx="82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 26.943</a:t>
            </a:r>
            <a:endParaRPr lang="id-ID" sz="900"/>
          </a:p>
        </p:txBody>
      </p:sp>
      <p:sp>
        <p:nvSpPr>
          <p:cNvPr id="435" name="T"/>
          <p:cNvSpPr txBox="1"/>
          <p:nvPr/>
        </p:nvSpPr>
        <p:spPr>
          <a:xfrm>
            <a:off x="4138840" y="4759065"/>
            <a:ext cx="90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ha</a:t>
            </a:r>
            <a:endParaRPr lang="id-ID" sz="900"/>
          </a:p>
        </p:txBody>
      </p:sp>
      <p:cxnSp>
        <p:nvCxnSpPr>
          <p:cNvPr id="436" name="L"/>
          <p:cNvCxnSpPr/>
          <p:nvPr/>
        </p:nvCxnSpPr>
        <p:spPr>
          <a:xfrm>
            <a:off x="676656" y="5059250"/>
            <a:ext cx="6464808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437" name="K"/>
          <p:cNvSpPr/>
          <p:nvPr/>
        </p:nvSpPr>
        <p:spPr>
          <a:xfrm>
            <a:off x="676656" y="5119287"/>
            <a:ext cx="180111" cy="180111"/>
          </a:xfrm>
          <a:prstGeom prst="ellipse">
            <a:avLst/>
          </a:prstGeom>
          <a:solidFill>
            <a:srgbClr val="051C2C"/>
          </a:solidFill>
          <a:ln>
            <a:noFill/>
          </a:ln>
        </p:spPr>
      </p:sp>
      <p:pic>
        <p:nvPicPr>
          <p:cNvPr id="438" name="G"/>
          <p:cNvPicPr>
            <a:picLocks noChangeAspect="1"/>
          </p:cNvPicPr>
          <p:nvPr/>
        </p:nvPicPr>
        <p:blipFill>
          <a:blip r:embed="rIdM5"/>
          <a:stretch>
            <a:fillRect/>
          </a:stretch>
        </p:blipFill>
        <p:spPr>
          <a:xfrm>
            <a:off x="709075" y="5151706"/>
            <a:ext cx="115271" cy="115271"/>
          </a:xfrm>
          <a:prstGeom prst="rect">
            <a:avLst/>
          </a:prstGeom>
        </p:spPr>
      </p:pic>
      <p:sp>
        <p:nvSpPr>
          <p:cNvPr id="439" name="T"/>
          <p:cNvSpPr txBox="1"/>
          <p:nvPr/>
        </p:nvSpPr>
        <p:spPr>
          <a:xfrm>
            <a:off x="990000" y="5059250"/>
            <a:ext cx="207324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19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Jambi</a:t>
            </a:r>
            <a:endParaRPr lang="id-ID" sz="919"/>
          </a:p>
        </p:txBody>
      </p:sp>
      <p:sp>
        <p:nvSpPr>
          <p:cNvPr id="440" name="T"/>
          <p:cNvSpPr txBox="1"/>
          <p:nvPr/>
        </p:nvSpPr>
        <p:spPr>
          <a:xfrm>
            <a:off x="3291840" y="5059250"/>
            <a:ext cx="82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 35.248</a:t>
            </a:r>
            <a:endParaRPr lang="id-ID" sz="900"/>
          </a:p>
        </p:txBody>
      </p:sp>
      <p:sp>
        <p:nvSpPr>
          <p:cNvPr id="441" name="T"/>
          <p:cNvSpPr txBox="1"/>
          <p:nvPr/>
        </p:nvSpPr>
        <p:spPr>
          <a:xfrm>
            <a:off x="4138840" y="5059250"/>
            <a:ext cx="90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ha</a:t>
            </a:r>
            <a:endParaRPr lang="id-ID" sz="900"/>
          </a:p>
        </p:txBody>
      </p:sp>
      <p:cxnSp>
        <p:nvCxnSpPr>
          <p:cNvPr id="442" name="L"/>
          <p:cNvCxnSpPr/>
          <p:nvPr/>
        </p:nvCxnSpPr>
        <p:spPr>
          <a:xfrm>
            <a:off x="676656" y="5359435"/>
            <a:ext cx="6464808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443" name="K"/>
          <p:cNvSpPr/>
          <p:nvPr/>
        </p:nvSpPr>
        <p:spPr>
          <a:xfrm>
            <a:off x="676656" y="5419472"/>
            <a:ext cx="180111" cy="180111"/>
          </a:xfrm>
          <a:prstGeom prst="ellipse">
            <a:avLst/>
          </a:prstGeom>
          <a:solidFill>
            <a:srgbClr val="051C2C"/>
          </a:solidFill>
          <a:ln>
            <a:noFill/>
          </a:ln>
        </p:spPr>
      </p:sp>
      <p:pic>
        <p:nvPicPr>
          <p:cNvPr id="444" name="G"/>
          <p:cNvPicPr>
            <a:picLocks noChangeAspect="1"/>
          </p:cNvPicPr>
          <p:nvPr/>
        </p:nvPicPr>
        <p:blipFill>
          <a:blip r:embed="rIdM5"/>
          <a:stretch>
            <a:fillRect/>
          </a:stretch>
        </p:blipFill>
        <p:spPr>
          <a:xfrm>
            <a:off x="709075" y="5451891"/>
            <a:ext cx="115271" cy="115271"/>
          </a:xfrm>
          <a:prstGeom prst="rect">
            <a:avLst/>
          </a:prstGeom>
        </p:spPr>
      </p:pic>
      <p:sp>
        <p:nvSpPr>
          <p:cNvPr id="445" name="T"/>
          <p:cNvSpPr txBox="1"/>
          <p:nvPr/>
        </p:nvSpPr>
        <p:spPr>
          <a:xfrm>
            <a:off x="990000" y="5359435"/>
            <a:ext cx="207324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19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Kep. Bangka Belitung</a:t>
            </a:r>
            <a:r>
              <a:rPr lang="id-ID" sz="919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, Bangka Selatan</a:t>
            </a:r>
            <a:endParaRPr lang="id-ID" sz="919"/>
          </a:p>
        </p:txBody>
      </p:sp>
      <p:sp>
        <p:nvSpPr>
          <p:cNvPr id="446" name="T"/>
          <p:cNvSpPr txBox="1"/>
          <p:nvPr/>
        </p:nvSpPr>
        <p:spPr>
          <a:xfrm>
            <a:off x="3291840" y="5359435"/>
            <a:ext cx="82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 12.805</a:t>
            </a:r>
            <a:endParaRPr lang="id-ID" sz="900"/>
          </a:p>
        </p:txBody>
      </p:sp>
      <p:sp>
        <p:nvSpPr>
          <p:cNvPr id="447" name="T"/>
          <p:cNvSpPr txBox="1"/>
          <p:nvPr/>
        </p:nvSpPr>
        <p:spPr>
          <a:xfrm>
            <a:off x="4138840" y="5359435"/>
            <a:ext cx="90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ha</a:t>
            </a:r>
            <a:endParaRPr lang="id-ID" sz="900"/>
          </a:p>
        </p:txBody>
      </p:sp>
      <p:cxnSp>
        <p:nvCxnSpPr>
          <p:cNvPr id="448" name="L"/>
          <p:cNvCxnSpPr/>
          <p:nvPr/>
        </p:nvCxnSpPr>
        <p:spPr>
          <a:xfrm>
            <a:off x="676656" y="5659620"/>
            <a:ext cx="6464808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449" name="K"/>
          <p:cNvSpPr/>
          <p:nvPr/>
        </p:nvSpPr>
        <p:spPr>
          <a:xfrm>
            <a:off x="676656" y="5719657"/>
            <a:ext cx="180111" cy="180111"/>
          </a:xfrm>
          <a:prstGeom prst="ellipse">
            <a:avLst/>
          </a:prstGeom>
          <a:solidFill>
            <a:srgbClr val="051C2C"/>
          </a:solidFill>
          <a:ln>
            <a:noFill/>
          </a:ln>
        </p:spPr>
      </p:sp>
      <p:pic>
        <p:nvPicPr>
          <p:cNvPr id="450" name="G"/>
          <p:cNvPicPr>
            <a:picLocks noChangeAspect="1"/>
          </p:cNvPicPr>
          <p:nvPr/>
        </p:nvPicPr>
        <p:blipFill>
          <a:blip r:embed="rIdM5"/>
          <a:stretch>
            <a:fillRect/>
          </a:stretch>
        </p:blipFill>
        <p:spPr>
          <a:xfrm>
            <a:off x="709075" y="5752076"/>
            <a:ext cx="115271" cy="115271"/>
          </a:xfrm>
          <a:prstGeom prst="rect">
            <a:avLst/>
          </a:prstGeom>
        </p:spPr>
      </p:pic>
      <p:sp>
        <p:nvSpPr>
          <p:cNvPr id="451" name="T"/>
          <p:cNvSpPr txBox="1"/>
          <p:nvPr/>
        </p:nvSpPr>
        <p:spPr>
          <a:xfrm>
            <a:off x="990000" y="5659620"/>
            <a:ext cx="207324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19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Lampung</a:t>
            </a:r>
            <a:r>
              <a:rPr lang="id-ID" sz="919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, Lampung Selatan</a:t>
            </a:r>
            <a:endParaRPr lang="id-ID" sz="919"/>
          </a:p>
        </p:txBody>
      </p:sp>
      <p:sp>
        <p:nvSpPr>
          <p:cNvPr id="452" name="T"/>
          <p:cNvSpPr txBox="1"/>
          <p:nvPr/>
        </p:nvSpPr>
        <p:spPr>
          <a:xfrm>
            <a:off x="3291840" y="5659620"/>
            <a:ext cx="82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 1.339</a:t>
            </a:r>
            <a:endParaRPr lang="id-ID" sz="900"/>
          </a:p>
        </p:txBody>
      </p:sp>
      <p:sp>
        <p:nvSpPr>
          <p:cNvPr id="453" name="T"/>
          <p:cNvSpPr txBox="1"/>
          <p:nvPr/>
        </p:nvSpPr>
        <p:spPr>
          <a:xfrm>
            <a:off x="4138840" y="5659620"/>
            <a:ext cx="90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ha</a:t>
            </a:r>
            <a:endParaRPr lang="id-ID" sz="900"/>
          </a:p>
        </p:txBody>
      </p:sp>
      <p:cxnSp>
        <p:nvCxnSpPr>
          <p:cNvPr id="454" name="L"/>
          <p:cNvCxnSpPr/>
          <p:nvPr/>
        </p:nvCxnSpPr>
        <p:spPr>
          <a:xfrm>
            <a:off x="676656" y="5959805"/>
            <a:ext cx="6464808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455" name="K"/>
          <p:cNvSpPr/>
          <p:nvPr/>
        </p:nvSpPr>
        <p:spPr>
          <a:xfrm>
            <a:off x="676656" y="6019842"/>
            <a:ext cx="180111" cy="180111"/>
          </a:xfrm>
          <a:prstGeom prst="ellipse">
            <a:avLst/>
          </a:prstGeom>
          <a:solidFill>
            <a:srgbClr val="051C2C"/>
          </a:solidFill>
          <a:ln>
            <a:noFill/>
          </a:ln>
        </p:spPr>
      </p:sp>
      <p:pic>
        <p:nvPicPr>
          <p:cNvPr id="456" name="G"/>
          <p:cNvPicPr>
            <a:picLocks noChangeAspect="1"/>
          </p:cNvPicPr>
          <p:nvPr/>
        </p:nvPicPr>
        <p:blipFill>
          <a:blip r:embed="rIdM5"/>
          <a:stretch>
            <a:fillRect/>
          </a:stretch>
        </p:blipFill>
        <p:spPr>
          <a:xfrm>
            <a:off x="709075" y="6052261"/>
            <a:ext cx="115271" cy="115271"/>
          </a:xfrm>
          <a:prstGeom prst="rect">
            <a:avLst/>
          </a:prstGeom>
        </p:spPr>
      </p:pic>
      <p:sp>
        <p:nvSpPr>
          <p:cNvPr id="457" name="T"/>
          <p:cNvSpPr txBox="1"/>
          <p:nvPr/>
        </p:nvSpPr>
        <p:spPr>
          <a:xfrm>
            <a:off x="990000" y="5959805"/>
            <a:ext cx="207324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19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Jawa Barat</a:t>
            </a:r>
            <a:r>
              <a:rPr lang="id-ID" sz="919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, Kuningan</a:t>
            </a:r>
            <a:endParaRPr lang="id-ID" sz="919"/>
          </a:p>
        </p:txBody>
      </p:sp>
      <p:sp>
        <p:nvSpPr>
          <p:cNvPr id="458" name="T"/>
          <p:cNvSpPr txBox="1"/>
          <p:nvPr/>
        </p:nvSpPr>
        <p:spPr>
          <a:xfrm>
            <a:off x="3291840" y="5959805"/>
            <a:ext cx="82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 251</a:t>
            </a:r>
            <a:endParaRPr lang="id-ID" sz="900"/>
          </a:p>
        </p:txBody>
      </p:sp>
      <p:sp>
        <p:nvSpPr>
          <p:cNvPr id="459" name="T"/>
          <p:cNvSpPr txBox="1"/>
          <p:nvPr/>
        </p:nvSpPr>
        <p:spPr>
          <a:xfrm>
            <a:off x="4138840" y="5959805"/>
            <a:ext cx="90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ha</a:t>
            </a:r>
            <a:endParaRPr lang="id-ID" sz="900"/>
          </a:p>
        </p:txBody>
      </p:sp>
      <p:sp>
        <p:nvSpPr>
          <p:cNvPr id="656" name="K"/>
          <p:cNvSpPr/>
          <p:nvPr/>
        </p:nvSpPr>
        <p:spPr>
          <a:xfrm>
            <a:off x="7406640" y="1325880"/>
            <a:ext cx="4236415" cy="24505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</p:spPr>
      </p:sp>
      <p:sp>
        <p:nvSpPr>
          <p:cNvPr id="657" name="K"/>
          <p:cNvSpPr/>
          <p:nvPr/>
        </p:nvSpPr>
        <p:spPr>
          <a:xfrm>
            <a:off x="7406640" y="1325880"/>
            <a:ext cx="4236415" cy="457200"/>
          </a:xfrm>
          <a:prstGeom prst="roundRect">
            <a:avLst>
              <a:gd name="adj" fmla="val 16000"/>
            </a:avLst>
          </a:prstGeom>
          <a:solidFill>
            <a:srgbClr val="F4ECDC"/>
          </a:solidFill>
          <a:ln>
            <a:noFill/>
          </a:ln>
        </p:spPr>
      </p:sp>
      <p:sp>
        <p:nvSpPr>
          <p:cNvPr id="658" name="K"/>
          <p:cNvSpPr/>
          <p:nvPr/>
        </p:nvSpPr>
        <p:spPr>
          <a:xfrm>
            <a:off x="7406640" y="1600200"/>
            <a:ext cx="4236415" cy="182880"/>
          </a:xfrm>
          <a:prstGeom prst="rect">
            <a:avLst/>
          </a:prstGeom>
          <a:solidFill>
            <a:srgbClr val="F4ECDC"/>
          </a:solidFill>
          <a:ln>
            <a:noFill/>
          </a:ln>
        </p:spPr>
      </p:sp>
      <p:sp>
        <p:nvSpPr>
          <p:cNvPr id="659" name="K"/>
          <p:cNvSpPr/>
          <p:nvPr/>
        </p:nvSpPr>
        <p:spPr>
          <a:xfrm>
            <a:off x="7534656" y="1408176"/>
            <a:ext cx="292608" cy="292608"/>
          </a:xfrm>
          <a:prstGeom prst="ellipse">
            <a:avLst/>
          </a:prstGeom>
          <a:solidFill>
            <a:srgbClr val="B08A3E"/>
          </a:solidFill>
          <a:ln>
            <a:noFill/>
          </a:ln>
        </p:spPr>
      </p:sp>
      <p:pic>
        <p:nvPicPr>
          <p:cNvPr id="660" name="G"/>
          <p:cNvPicPr>
            <a:picLocks noChangeAspect="1"/>
          </p:cNvPicPr>
          <p:nvPr/>
        </p:nvPicPr>
        <p:blipFill>
          <a:blip r:embed="rIdM22"/>
          <a:stretch>
            <a:fillRect/>
          </a:stretch>
        </p:blipFill>
        <p:spPr>
          <a:xfrm>
            <a:off x="7589520" y="1463040"/>
            <a:ext cx="182880" cy="182880"/>
          </a:xfrm>
          <a:prstGeom prst="rect">
            <a:avLst/>
          </a:prstGeom>
        </p:spPr>
      </p:pic>
      <p:sp>
        <p:nvSpPr>
          <p:cNvPr id="661" name="T"/>
          <p:cNvSpPr txBox="1"/>
          <p:nvPr/>
        </p:nvSpPr>
        <p:spPr>
          <a:xfrm>
            <a:off x="7909560" y="1325880"/>
            <a:ext cx="313641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1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Kekeringan</a:t>
            </a:r>
            <a:endParaRPr lang="id-ID" sz="1100"/>
          </a:p>
        </p:txBody>
      </p:sp>
      <p:sp>
        <p:nvSpPr>
          <p:cNvPr id="662" name="T"/>
          <p:cNvSpPr txBox="1"/>
          <p:nvPr/>
        </p:nvSpPr>
        <p:spPr>
          <a:xfrm>
            <a:off x="11002975" y="1325880"/>
            <a:ext cx="512064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id-ID" sz="1800" b="1" dirty="0">
                <a:solidFill>
                  <a:srgbClr val="B08A3E"/>
                </a:solidFill>
                <a:latin typeface="Roboto"/>
                <a:ea typeface="Roboto"/>
                <a:cs typeface="Roboto"/>
              </a:rPr>
              <a:t>7</a:t>
            </a:r>
            <a:endParaRPr lang="id-ID" sz="1800"/>
          </a:p>
        </p:txBody>
      </p:sp>
      <p:sp>
        <p:nvSpPr>
          <p:cNvPr id="663" name="T"/>
          <p:cNvSpPr txBox="1"/>
          <p:nvPr/>
        </p:nvSpPr>
        <p:spPr>
          <a:xfrm>
            <a:off x="7571232" y="1856232"/>
            <a:ext cx="1200000" cy="1463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00" b="1" spc="60" dirty="0">
                <a:solidFill>
                  <a:srgbClr val="6B7280"/>
                </a:solidFill>
                <a:latin typeface="Roboto"/>
                <a:ea typeface="Roboto"/>
                <a:cs typeface="Roboto"/>
              </a:rPr>
              <a:t>LOKASI</a:t>
            </a:r>
            <a:endParaRPr lang="id-ID" sz="620"/>
          </a:p>
        </p:txBody>
      </p:sp>
      <p:sp>
        <p:nvSpPr>
          <p:cNvPr id="664" name="T"/>
          <p:cNvSpPr txBox="1"/>
          <p:nvPr/>
        </p:nvSpPr>
        <p:spPr>
          <a:xfrm>
            <a:off x="8650000" y="1856232"/>
            <a:ext cx="1200000" cy="1463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00" b="1" spc="60" dirty="0">
                <a:solidFill>
                  <a:srgbClr val="6B7280"/>
                </a:solidFill>
                <a:latin typeface="Roboto"/>
                <a:ea typeface="Roboto"/>
                <a:cs typeface="Roboto"/>
              </a:rPr>
              <a:t>TERDAMPAK</a:t>
            </a:r>
            <a:endParaRPr lang="id-ID" sz="620"/>
          </a:p>
        </p:txBody>
      </p:sp>
      <p:sp>
        <p:nvSpPr>
          <p:cNvPr id="665" name="T"/>
          <p:cNvSpPr txBox="1"/>
          <p:nvPr/>
        </p:nvSpPr>
        <p:spPr>
          <a:xfrm>
            <a:off x="9930000" y="1856232"/>
            <a:ext cx="1200000" cy="1463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00" b="1" spc="60" dirty="0">
                <a:solidFill>
                  <a:srgbClr val="6B7280"/>
                </a:solidFill>
                <a:latin typeface="Roboto"/>
                <a:ea typeface="Roboto"/>
                <a:cs typeface="Roboto"/>
              </a:rPr>
              <a:t>BANTUAN AIR</a:t>
            </a:r>
            <a:endParaRPr lang="id-ID" sz="620"/>
          </a:p>
        </p:txBody>
      </p:sp>
      <p:cxnSp>
        <p:nvCxnSpPr>
          <p:cNvPr id="666" name="L"/>
          <p:cNvCxnSpPr/>
          <p:nvPr/>
        </p:nvCxnSpPr>
        <p:spPr>
          <a:xfrm>
            <a:off x="7571232" y="2020824"/>
            <a:ext cx="3907231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sp>
        <p:nvSpPr>
          <p:cNvPr id="667" name="K"/>
          <p:cNvSpPr/>
          <p:nvPr/>
        </p:nvSpPr>
        <p:spPr>
          <a:xfrm>
            <a:off x="7571232" y="2055571"/>
            <a:ext cx="3907231" cy="172821"/>
          </a:xfrm>
          <a:prstGeom prst="roundRect">
            <a:avLst>
              <a:gd name="adj" fmla="val 12000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668" name="T"/>
          <p:cNvSpPr txBox="1"/>
          <p:nvPr/>
        </p:nvSpPr>
        <p:spPr>
          <a:xfrm>
            <a:off x="7662672" y="2039112"/>
            <a:ext cx="1000000" cy="2057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00" b="1" spc="60" dirty="0">
                <a:solidFill>
                  <a:srgbClr val="6B7280"/>
                </a:solidFill>
                <a:latin typeface="Roboto"/>
                <a:ea typeface="Roboto"/>
                <a:cs typeface="Roboto"/>
              </a:rPr>
              <a:t>TOTAL</a:t>
            </a:r>
            <a:endParaRPr lang="id-ID" sz="700"/>
          </a:p>
        </p:txBody>
      </p:sp>
      <p:sp>
        <p:nvSpPr>
          <p:cNvPr id="669" name="T"/>
          <p:cNvSpPr txBox="1"/>
          <p:nvPr/>
        </p:nvSpPr>
        <p:spPr>
          <a:xfrm>
            <a:off x="8620000" y="2039112"/>
            <a:ext cx="38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24.400</a:t>
            </a:r>
            <a:endParaRPr lang="id-ID" sz="800"/>
          </a:p>
        </p:txBody>
      </p:sp>
      <p:sp>
        <p:nvSpPr>
          <p:cNvPr id="670" name="T"/>
          <p:cNvSpPr txBox="1"/>
          <p:nvPr/>
        </p:nvSpPr>
        <p:spPr>
          <a:xfrm>
            <a:off x="9024000" y="2039112"/>
            <a:ext cx="20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KK</a:t>
            </a:r>
            <a:endParaRPr lang="id-ID" sz="800"/>
          </a:p>
        </p:txBody>
      </p:sp>
      <p:sp>
        <p:nvSpPr>
          <p:cNvPr id="671" name="T"/>
          <p:cNvSpPr txBox="1"/>
          <p:nvPr/>
        </p:nvSpPr>
        <p:spPr>
          <a:xfrm>
            <a:off x="9240000" y="2039112"/>
            <a:ext cx="40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99.952</a:t>
            </a:r>
            <a:endParaRPr lang="id-ID" sz="800"/>
          </a:p>
        </p:txBody>
      </p:sp>
      <p:sp>
        <p:nvSpPr>
          <p:cNvPr id="672" name="T"/>
          <p:cNvSpPr txBox="1"/>
          <p:nvPr/>
        </p:nvSpPr>
        <p:spPr>
          <a:xfrm>
            <a:off x="9664000" y="2039112"/>
            <a:ext cx="26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jiwa</a:t>
            </a:r>
            <a:endParaRPr lang="id-ID" sz="800"/>
          </a:p>
        </p:txBody>
      </p:sp>
      <p:sp>
        <p:nvSpPr>
          <p:cNvPr id="673" name="K"/>
          <p:cNvSpPr/>
          <p:nvPr/>
        </p:nvSpPr>
        <p:spPr>
          <a:xfrm>
            <a:off x="9930000" y="2059686"/>
            <a:ext cx="880000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08A3E"/>
            </a:solidFill>
          </a:ln>
        </p:spPr>
      </p:sp>
      <p:pic>
        <p:nvPicPr>
          <p:cNvPr id="674" name="G"/>
          <p:cNvPicPr>
            <a:picLocks noChangeAspect="1"/>
          </p:cNvPicPr>
          <p:nvPr/>
        </p:nvPicPr>
        <p:blipFill>
          <a:blip r:embed="rIdM23"/>
          <a:stretch>
            <a:fillRect/>
          </a:stretch>
        </p:blipFill>
        <p:spPr>
          <a:xfrm>
            <a:off x="9985000" y="2091686"/>
            <a:ext cx="100584" cy="100584"/>
          </a:xfrm>
          <a:prstGeom prst="rect">
            <a:avLst/>
          </a:prstGeom>
        </p:spPr>
      </p:pic>
      <p:sp>
        <p:nvSpPr>
          <p:cNvPr id="675" name="T"/>
          <p:cNvSpPr txBox="1"/>
          <p:nvPr/>
        </p:nvSpPr>
        <p:spPr>
          <a:xfrm>
            <a:off x="10120000" y="2059686"/>
            <a:ext cx="43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8A6A2E"/>
                </a:solidFill>
                <a:latin typeface="Roboto"/>
                <a:ea typeface="Roboto"/>
                <a:cs typeface="Roboto"/>
              </a:rPr>
              <a:t>407.700</a:t>
            </a:r>
            <a:endParaRPr lang="id-ID" sz="720"/>
          </a:p>
        </p:txBody>
      </p:sp>
      <p:sp>
        <p:nvSpPr>
          <p:cNvPr id="676" name="T"/>
          <p:cNvSpPr txBox="1"/>
          <p:nvPr/>
        </p:nvSpPr>
        <p:spPr>
          <a:xfrm>
            <a:off x="10571600" y="2059686"/>
            <a:ext cx="20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8A6A2E"/>
                </a:solidFill>
                <a:latin typeface="Roboto"/>
                <a:ea typeface="Roboto"/>
                <a:cs typeface="Roboto"/>
              </a:rPr>
              <a:t>liter</a:t>
            </a:r>
            <a:endParaRPr lang="id-ID" sz="720"/>
          </a:p>
        </p:txBody>
      </p:sp>
      <p:sp>
        <p:nvSpPr>
          <p:cNvPr id="677" name="K"/>
          <p:cNvSpPr/>
          <p:nvPr/>
        </p:nvSpPr>
        <p:spPr>
          <a:xfrm>
            <a:off x="10870000" y="2059686"/>
            <a:ext cx="608463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08A3E"/>
            </a:solidFill>
          </a:ln>
        </p:spPr>
      </p:sp>
      <p:pic>
        <p:nvPicPr>
          <p:cNvPr id="678" name="G"/>
          <p:cNvPicPr>
            <a:picLocks noChangeAspect="1"/>
          </p:cNvPicPr>
          <p:nvPr/>
        </p:nvPicPr>
        <p:blipFill>
          <a:blip r:embed="rIdM24"/>
          <a:stretch>
            <a:fillRect/>
          </a:stretch>
        </p:blipFill>
        <p:spPr>
          <a:xfrm>
            <a:off x="10910000" y="2087118"/>
            <a:ext cx="109728" cy="109728"/>
          </a:xfrm>
          <a:prstGeom prst="rect">
            <a:avLst/>
          </a:prstGeom>
        </p:spPr>
      </p:pic>
      <p:sp>
        <p:nvSpPr>
          <p:cNvPr id="679" name="T"/>
          <p:cNvSpPr txBox="1"/>
          <p:nvPr/>
        </p:nvSpPr>
        <p:spPr>
          <a:xfrm>
            <a:off x="11050000" y="2059686"/>
            <a:ext cx="12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8A6A2E"/>
                </a:solidFill>
                <a:latin typeface="Roboto"/>
                <a:ea typeface="Roboto"/>
                <a:cs typeface="Roboto"/>
              </a:rPr>
              <a:t>52</a:t>
            </a:r>
            <a:endParaRPr lang="id-ID" sz="720"/>
          </a:p>
        </p:txBody>
      </p:sp>
      <p:sp>
        <p:nvSpPr>
          <p:cNvPr id="680" name="T"/>
          <p:cNvSpPr txBox="1"/>
          <p:nvPr/>
        </p:nvSpPr>
        <p:spPr>
          <a:xfrm>
            <a:off x="11191600" y="2059686"/>
            <a:ext cx="30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8A6A2E"/>
                </a:solidFill>
                <a:latin typeface="Roboto"/>
                <a:ea typeface="Roboto"/>
                <a:cs typeface="Roboto"/>
              </a:rPr>
              <a:t>tangki</a:t>
            </a:r>
            <a:endParaRPr lang="id-ID" sz="720"/>
          </a:p>
        </p:txBody>
      </p:sp>
      <p:sp>
        <p:nvSpPr>
          <p:cNvPr id="681" name="K"/>
          <p:cNvSpPr/>
          <p:nvPr/>
        </p:nvSpPr>
        <p:spPr>
          <a:xfrm>
            <a:off x="7571232" y="2265426"/>
            <a:ext cx="164592" cy="164592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682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600858" y="2295052"/>
            <a:ext cx="105338" cy="105338"/>
          </a:xfrm>
          <a:prstGeom prst="rect">
            <a:avLst/>
          </a:prstGeom>
        </p:spPr>
      </p:pic>
      <p:sp>
        <p:nvSpPr>
          <p:cNvPr id="683" name="T"/>
          <p:cNvSpPr txBox="1"/>
          <p:nvPr/>
        </p:nvSpPr>
        <p:spPr>
          <a:xfrm>
            <a:off x="7799832" y="2244852"/>
            <a:ext cx="1100000" cy="2057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8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Sragen</a:t>
            </a:r>
            <a:endParaRPr lang="id-ID" sz="850"/>
          </a:p>
        </p:txBody>
      </p:sp>
      <p:sp>
        <p:nvSpPr>
          <p:cNvPr id="684" name="T"/>
          <p:cNvSpPr txBox="1"/>
          <p:nvPr/>
        </p:nvSpPr>
        <p:spPr>
          <a:xfrm>
            <a:off x="8620000" y="2244852"/>
            <a:ext cx="38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5.500</a:t>
            </a:r>
            <a:endParaRPr lang="id-ID" sz="800"/>
          </a:p>
        </p:txBody>
      </p:sp>
      <p:sp>
        <p:nvSpPr>
          <p:cNvPr id="685" name="T"/>
          <p:cNvSpPr txBox="1"/>
          <p:nvPr/>
        </p:nvSpPr>
        <p:spPr>
          <a:xfrm>
            <a:off x="9024000" y="2244852"/>
            <a:ext cx="20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KK</a:t>
            </a:r>
            <a:endParaRPr lang="id-ID" sz="800"/>
          </a:p>
        </p:txBody>
      </p:sp>
      <p:sp>
        <p:nvSpPr>
          <p:cNvPr id="686" name="T"/>
          <p:cNvSpPr txBox="1"/>
          <p:nvPr/>
        </p:nvSpPr>
        <p:spPr>
          <a:xfrm>
            <a:off x="9240000" y="2244852"/>
            <a:ext cx="40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18.495</a:t>
            </a:r>
            <a:endParaRPr lang="id-ID" sz="800"/>
          </a:p>
        </p:txBody>
      </p:sp>
      <p:sp>
        <p:nvSpPr>
          <p:cNvPr id="687" name="T"/>
          <p:cNvSpPr txBox="1"/>
          <p:nvPr/>
        </p:nvSpPr>
        <p:spPr>
          <a:xfrm>
            <a:off x="9664000" y="2244852"/>
            <a:ext cx="26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jiwa</a:t>
            </a:r>
            <a:endParaRPr lang="id-ID" sz="800"/>
          </a:p>
        </p:txBody>
      </p:sp>
      <p:sp>
        <p:nvSpPr>
          <p:cNvPr id="688" name="K"/>
          <p:cNvSpPr/>
          <p:nvPr/>
        </p:nvSpPr>
        <p:spPr>
          <a:xfrm>
            <a:off x="9930000" y="2265426"/>
            <a:ext cx="880000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D3B5"/>
            </a:solidFill>
          </a:ln>
        </p:spPr>
      </p:sp>
      <p:pic>
        <p:nvPicPr>
          <p:cNvPr id="689" name="G"/>
          <p:cNvPicPr>
            <a:picLocks noChangeAspect="1"/>
          </p:cNvPicPr>
          <p:nvPr/>
        </p:nvPicPr>
        <p:blipFill>
          <a:blip r:embed="rIdM23"/>
          <a:stretch>
            <a:fillRect/>
          </a:stretch>
        </p:blipFill>
        <p:spPr>
          <a:xfrm>
            <a:off x="9985000" y="2297426"/>
            <a:ext cx="100584" cy="100584"/>
          </a:xfrm>
          <a:prstGeom prst="rect">
            <a:avLst/>
          </a:prstGeom>
        </p:spPr>
      </p:pic>
      <p:sp>
        <p:nvSpPr>
          <p:cNvPr id="690" name="T"/>
          <p:cNvSpPr txBox="1"/>
          <p:nvPr/>
        </p:nvSpPr>
        <p:spPr>
          <a:xfrm>
            <a:off x="10120000" y="2265426"/>
            <a:ext cx="43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56.000</a:t>
            </a:r>
            <a:endParaRPr lang="id-ID" sz="720"/>
          </a:p>
        </p:txBody>
      </p:sp>
      <p:sp>
        <p:nvSpPr>
          <p:cNvPr id="691" name="T"/>
          <p:cNvSpPr txBox="1"/>
          <p:nvPr/>
        </p:nvSpPr>
        <p:spPr>
          <a:xfrm>
            <a:off x="10571600" y="2265426"/>
            <a:ext cx="20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liter</a:t>
            </a:r>
            <a:endParaRPr lang="id-ID" sz="720"/>
          </a:p>
        </p:txBody>
      </p:sp>
      <p:sp>
        <p:nvSpPr>
          <p:cNvPr id="692" name="K"/>
          <p:cNvSpPr/>
          <p:nvPr/>
        </p:nvSpPr>
        <p:spPr>
          <a:xfrm>
            <a:off x="10870000" y="2265426"/>
            <a:ext cx="608463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D3B5"/>
            </a:solidFill>
          </a:ln>
        </p:spPr>
      </p:sp>
      <p:pic>
        <p:nvPicPr>
          <p:cNvPr id="693" name="G"/>
          <p:cNvPicPr>
            <a:picLocks noChangeAspect="1"/>
          </p:cNvPicPr>
          <p:nvPr/>
        </p:nvPicPr>
        <p:blipFill>
          <a:blip r:embed="rIdM24"/>
          <a:stretch>
            <a:fillRect/>
          </a:stretch>
        </p:blipFill>
        <p:spPr>
          <a:xfrm>
            <a:off x="10910000" y="2292858"/>
            <a:ext cx="109728" cy="109728"/>
          </a:xfrm>
          <a:prstGeom prst="rect">
            <a:avLst/>
          </a:prstGeom>
        </p:spPr>
      </p:pic>
      <p:sp>
        <p:nvSpPr>
          <p:cNvPr id="694" name="T"/>
          <p:cNvSpPr txBox="1"/>
          <p:nvPr/>
        </p:nvSpPr>
        <p:spPr>
          <a:xfrm>
            <a:off x="11050000" y="2265426"/>
            <a:ext cx="12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12</a:t>
            </a:r>
            <a:endParaRPr lang="id-ID" sz="720"/>
          </a:p>
        </p:txBody>
      </p:sp>
      <p:sp>
        <p:nvSpPr>
          <p:cNvPr id="695" name="T"/>
          <p:cNvSpPr txBox="1"/>
          <p:nvPr/>
        </p:nvSpPr>
        <p:spPr>
          <a:xfrm>
            <a:off x="11191600" y="2265426"/>
            <a:ext cx="30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tangki</a:t>
            </a:r>
            <a:endParaRPr lang="id-ID" sz="720"/>
          </a:p>
        </p:txBody>
      </p:sp>
      <p:cxnSp>
        <p:nvCxnSpPr>
          <p:cNvPr id="696" name="L"/>
          <p:cNvCxnSpPr/>
          <p:nvPr/>
        </p:nvCxnSpPr>
        <p:spPr>
          <a:xfrm>
            <a:off x="7571232" y="2450592"/>
            <a:ext cx="3907231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697" name="K"/>
          <p:cNvSpPr/>
          <p:nvPr/>
        </p:nvSpPr>
        <p:spPr>
          <a:xfrm>
            <a:off x="7571232" y="2471166"/>
            <a:ext cx="164592" cy="164592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698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600858" y="2500792"/>
            <a:ext cx="105338" cy="105338"/>
          </a:xfrm>
          <a:prstGeom prst="rect">
            <a:avLst/>
          </a:prstGeom>
        </p:spPr>
      </p:pic>
      <p:sp>
        <p:nvSpPr>
          <p:cNvPr id="699" name="T"/>
          <p:cNvSpPr txBox="1"/>
          <p:nvPr/>
        </p:nvSpPr>
        <p:spPr>
          <a:xfrm>
            <a:off x="7799832" y="2450592"/>
            <a:ext cx="1100000" cy="2057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8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Boyolali</a:t>
            </a:r>
            <a:endParaRPr lang="id-ID" sz="850"/>
          </a:p>
        </p:txBody>
      </p:sp>
      <p:sp>
        <p:nvSpPr>
          <p:cNvPr id="700" name="T"/>
          <p:cNvSpPr txBox="1"/>
          <p:nvPr/>
        </p:nvSpPr>
        <p:spPr>
          <a:xfrm>
            <a:off x="8620000" y="2450592"/>
            <a:ext cx="38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12.022</a:t>
            </a:r>
            <a:endParaRPr lang="id-ID" sz="800"/>
          </a:p>
        </p:txBody>
      </p:sp>
      <p:sp>
        <p:nvSpPr>
          <p:cNvPr id="701" name="T"/>
          <p:cNvSpPr txBox="1"/>
          <p:nvPr/>
        </p:nvSpPr>
        <p:spPr>
          <a:xfrm>
            <a:off x="9024000" y="2450592"/>
            <a:ext cx="20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KK</a:t>
            </a:r>
            <a:endParaRPr lang="id-ID" sz="800"/>
          </a:p>
        </p:txBody>
      </p:sp>
      <p:sp>
        <p:nvSpPr>
          <p:cNvPr id="702" name="T"/>
          <p:cNvSpPr txBox="1"/>
          <p:nvPr/>
        </p:nvSpPr>
        <p:spPr>
          <a:xfrm>
            <a:off x="9240000" y="2450592"/>
            <a:ext cx="40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57.311</a:t>
            </a:r>
            <a:endParaRPr lang="id-ID" sz="800"/>
          </a:p>
        </p:txBody>
      </p:sp>
      <p:sp>
        <p:nvSpPr>
          <p:cNvPr id="703" name="T"/>
          <p:cNvSpPr txBox="1"/>
          <p:nvPr/>
        </p:nvSpPr>
        <p:spPr>
          <a:xfrm>
            <a:off x="9664000" y="2450592"/>
            <a:ext cx="26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jiwa</a:t>
            </a:r>
            <a:endParaRPr lang="id-ID" sz="800"/>
          </a:p>
        </p:txBody>
      </p:sp>
      <p:sp>
        <p:nvSpPr>
          <p:cNvPr id="704" name="K"/>
          <p:cNvSpPr/>
          <p:nvPr/>
        </p:nvSpPr>
        <p:spPr>
          <a:xfrm>
            <a:off x="9930000" y="2471166"/>
            <a:ext cx="880000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D3B5"/>
            </a:solidFill>
          </a:ln>
        </p:spPr>
      </p:sp>
      <p:pic>
        <p:nvPicPr>
          <p:cNvPr id="705" name="G"/>
          <p:cNvPicPr>
            <a:picLocks noChangeAspect="1"/>
          </p:cNvPicPr>
          <p:nvPr/>
        </p:nvPicPr>
        <p:blipFill>
          <a:blip r:embed="rIdM23"/>
          <a:stretch>
            <a:fillRect/>
          </a:stretch>
        </p:blipFill>
        <p:spPr>
          <a:xfrm>
            <a:off x="9985000" y="2503166"/>
            <a:ext cx="100584" cy="100584"/>
          </a:xfrm>
          <a:prstGeom prst="rect">
            <a:avLst/>
          </a:prstGeom>
        </p:spPr>
      </p:pic>
      <p:sp>
        <p:nvSpPr>
          <p:cNvPr id="706" name="T"/>
          <p:cNvSpPr txBox="1"/>
          <p:nvPr/>
        </p:nvSpPr>
        <p:spPr>
          <a:xfrm>
            <a:off x="10120000" y="2471166"/>
            <a:ext cx="43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122.000</a:t>
            </a:r>
            <a:endParaRPr lang="id-ID" sz="720"/>
          </a:p>
        </p:txBody>
      </p:sp>
      <p:sp>
        <p:nvSpPr>
          <p:cNvPr id="707" name="T"/>
          <p:cNvSpPr txBox="1"/>
          <p:nvPr/>
        </p:nvSpPr>
        <p:spPr>
          <a:xfrm>
            <a:off x="10571600" y="2471166"/>
            <a:ext cx="20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liter</a:t>
            </a:r>
            <a:endParaRPr lang="id-ID" sz="720"/>
          </a:p>
        </p:txBody>
      </p:sp>
      <p:sp>
        <p:nvSpPr>
          <p:cNvPr id="708" name="K"/>
          <p:cNvSpPr/>
          <p:nvPr/>
        </p:nvSpPr>
        <p:spPr>
          <a:xfrm>
            <a:off x="10870000" y="2471166"/>
            <a:ext cx="608463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D3B5"/>
            </a:solidFill>
          </a:ln>
        </p:spPr>
      </p:sp>
      <p:pic>
        <p:nvPicPr>
          <p:cNvPr id="709" name="G"/>
          <p:cNvPicPr>
            <a:picLocks noChangeAspect="1"/>
          </p:cNvPicPr>
          <p:nvPr/>
        </p:nvPicPr>
        <p:blipFill>
          <a:blip r:embed="rIdM24"/>
          <a:stretch>
            <a:fillRect/>
          </a:stretch>
        </p:blipFill>
        <p:spPr>
          <a:xfrm>
            <a:off x="10910000" y="2498598"/>
            <a:ext cx="109728" cy="109728"/>
          </a:xfrm>
          <a:prstGeom prst="rect">
            <a:avLst/>
          </a:prstGeom>
        </p:spPr>
      </p:pic>
      <p:sp>
        <p:nvSpPr>
          <p:cNvPr id="710" name="T"/>
          <p:cNvSpPr txBox="1"/>
          <p:nvPr/>
        </p:nvSpPr>
        <p:spPr>
          <a:xfrm>
            <a:off x="11050000" y="2471166"/>
            <a:ext cx="12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22</a:t>
            </a:r>
            <a:endParaRPr lang="id-ID" sz="720"/>
          </a:p>
        </p:txBody>
      </p:sp>
      <p:sp>
        <p:nvSpPr>
          <p:cNvPr id="711" name="T"/>
          <p:cNvSpPr txBox="1"/>
          <p:nvPr/>
        </p:nvSpPr>
        <p:spPr>
          <a:xfrm>
            <a:off x="11191600" y="2471166"/>
            <a:ext cx="30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tangki</a:t>
            </a:r>
            <a:endParaRPr lang="id-ID" sz="720"/>
          </a:p>
        </p:txBody>
      </p:sp>
      <p:cxnSp>
        <p:nvCxnSpPr>
          <p:cNvPr id="712" name="L"/>
          <p:cNvCxnSpPr/>
          <p:nvPr/>
        </p:nvCxnSpPr>
        <p:spPr>
          <a:xfrm>
            <a:off x="7571232" y="2656332"/>
            <a:ext cx="3907231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713" name="K"/>
          <p:cNvSpPr/>
          <p:nvPr/>
        </p:nvSpPr>
        <p:spPr>
          <a:xfrm>
            <a:off x="7571232" y="2676906"/>
            <a:ext cx="164592" cy="164592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714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600858" y="2706532"/>
            <a:ext cx="105338" cy="105338"/>
          </a:xfrm>
          <a:prstGeom prst="rect">
            <a:avLst/>
          </a:prstGeom>
        </p:spPr>
      </p:pic>
      <p:sp>
        <p:nvSpPr>
          <p:cNvPr id="715" name="T"/>
          <p:cNvSpPr txBox="1"/>
          <p:nvPr/>
        </p:nvSpPr>
        <p:spPr>
          <a:xfrm>
            <a:off x="7799832" y="2656332"/>
            <a:ext cx="1100000" cy="2057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8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Klaten</a:t>
            </a:r>
            <a:endParaRPr lang="id-ID" sz="850"/>
          </a:p>
        </p:txBody>
      </p:sp>
      <p:sp>
        <p:nvSpPr>
          <p:cNvPr id="716" name="T"/>
          <p:cNvSpPr txBox="1"/>
          <p:nvPr/>
        </p:nvSpPr>
        <p:spPr>
          <a:xfrm>
            <a:off x="8620000" y="2656332"/>
            <a:ext cx="38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5.136</a:t>
            </a:r>
            <a:endParaRPr lang="id-ID" sz="800"/>
          </a:p>
        </p:txBody>
      </p:sp>
      <p:sp>
        <p:nvSpPr>
          <p:cNvPr id="717" name="T"/>
          <p:cNvSpPr txBox="1"/>
          <p:nvPr/>
        </p:nvSpPr>
        <p:spPr>
          <a:xfrm>
            <a:off x="9024000" y="2656332"/>
            <a:ext cx="20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KK</a:t>
            </a:r>
            <a:endParaRPr lang="id-ID" sz="800"/>
          </a:p>
        </p:txBody>
      </p:sp>
      <p:sp>
        <p:nvSpPr>
          <p:cNvPr id="718" name="T"/>
          <p:cNvSpPr txBox="1"/>
          <p:nvPr/>
        </p:nvSpPr>
        <p:spPr>
          <a:xfrm>
            <a:off x="9240000" y="2656332"/>
            <a:ext cx="40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17.127</a:t>
            </a:r>
            <a:endParaRPr lang="id-ID" sz="800"/>
          </a:p>
        </p:txBody>
      </p:sp>
      <p:sp>
        <p:nvSpPr>
          <p:cNvPr id="719" name="T"/>
          <p:cNvSpPr txBox="1"/>
          <p:nvPr/>
        </p:nvSpPr>
        <p:spPr>
          <a:xfrm>
            <a:off x="9664000" y="2656332"/>
            <a:ext cx="26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jiwa</a:t>
            </a:r>
            <a:endParaRPr lang="id-ID" sz="800"/>
          </a:p>
        </p:txBody>
      </p:sp>
      <p:sp>
        <p:nvSpPr>
          <p:cNvPr id="720" name="K"/>
          <p:cNvSpPr/>
          <p:nvPr/>
        </p:nvSpPr>
        <p:spPr>
          <a:xfrm>
            <a:off x="9930000" y="2676906"/>
            <a:ext cx="880000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D3B5"/>
            </a:solidFill>
          </a:ln>
        </p:spPr>
      </p:sp>
      <p:pic>
        <p:nvPicPr>
          <p:cNvPr id="721" name="G"/>
          <p:cNvPicPr>
            <a:picLocks noChangeAspect="1"/>
          </p:cNvPicPr>
          <p:nvPr/>
        </p:nvPicPr>
        <p:blipFill>
          <a:blip r:embed="rIdM23"/>
          <a:stretch>
            <a:fillRect/>
          </a:stretch>
        </p:blipFill>
        <p:spPr>
          <a:xfrm>
            <a:off x="9985000" y="2708906"/>
            <a:ext cx="100584" cy="100584"/>
          </a:xfrm>
          <a:prstGeom prst="rect">
            <a:avLst/>
          </a:prstGeom>
        </p:spPr>
      </p:pic>
      <p:sp>
        <p:nvSpPr>
          <p:cNvPr id="722" name="T"/>
          <p:cNvSpPr txBox="1"/>
          <p:nvPr/>
        </p:nvSpPr>
        <p:spPr>
          <a:xfrm>
            <a:off x="10120000" y="2676906"/>
            <a:ext cx="43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90.000</a:t>
            </a:r>
            <a:endParaRPr lang="id-ID" sz="720"/>
          </a:p>
        </p:txBody>
      </p:sp>
      <p:sp>
        <p:nvSpPr>
          <p:cNvPr id="723" name="T"/>
          <p:cNvSpPr txBox="1"/>
          <p:nvPr/>
        </p:nvSpPr>
        <p:spPr>
          <a:xfrm>
            <a:off x="10571600" y="2676906"/>
            <a:ext cx="20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liter</a:t>
            </a:r>
            <a:endParaRPr lang="id-ID" sz="720"/>
          </a:p>
        </p:txBody>
      </p:sp>
      <p:sp>
        <p:nvSpPr>
          <p:cNvPr id="724" name="K"/>
          <p:cNvSpPr/>
          <p:nvPr/>
        </p:nvSpPr>
        <p:spPr>
          <a:xfrm>
            <a:off x="10870000" y="2676906"/>
            <a:ext cx="608463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D3B5"/>
            </a:solidFill>
          </a:ln>
        </p:spPr>
      </p:sp>
      <p:pic>
        <p:nvPicPr>
          <p:cNvPr id="725" name="G"/>
          <p:cNvPicPr>
            <a:picLocks noChangeAspect="1"/>
          </p:cNvPicPr>
          <p:nvPr/>
        </p:nvPicPr>
        <p:blipFill>
          <a:blip r:embed="rIdM24"/>
          <a:stretch>
            <a:fillRect/>
          </a:stretch>
        </p:blipFill>
        <p:spPr>
          <a:xfrm>
            <a:off x="10910000" y="2704338"/>
            <a:ext cx="109728" cy="109728"/>
          </a:xfrm>
          <a:prstGeom prst="rect">
            <a:avLst/>
          </a:prstGeom>
        </p:spPr>
      </p:pic>
      <p:sp>
        <p:nvSpPr>
          <p:cNvPr id="726" name="T"/>
          <p:cNvSpPr txBox="1"/>
          <p:nvPr/>
        </p:nvSpPr>
        <p:spPr>
          <a:xfrm>
            <a:off x="11050000" y="2676906"/>
            <a:ext cx="12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18</a:t>
            </a:r>
            <a:endParaRPr lang="id-ID" sz="720"/>
          </a:p>
        </p:txBody>
      </p:sp>
      <p:sp>
        <p:nvSpPr>
          <p:cNvPr id="727" name="T"/>
          <p:cNvSpPr txBox="1"/>
          <p:nvPr/>
        </p:nvSpPr>
        <p:spPr>
          <a:xfrm>
            <a:off x="11191600" y="2676906"/>
            <a:ext cx="30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tangki</a:t>
            </a:r>
            <a:endParaRPr lang="id-ID" sz="720"/>
          </a:p>
        </p:txBody>
      </p:sp>
      <p:cxnSp>
        <p:nvCxnSpPr>
          <p:cNvPr id="728" name="L"/>
          <p:cNvCxnSpPr/>
          <p:nvPr/>
        </p:nvCxnSpPr>
        <p:spPr>
          <a:xfrm>
            <a:off x="7571232" y="2862072"/>
            <a:ext cx="3907231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729" name="K"/>
          <p:cNvSpPr/>
          <p:nvPr/>
        </p:nvSpPr>
        <p:spPr>
          <a:xfrm>
            <a:off x="7571232" y="2882646"/>
            <a:ext cx="164592" cy="164592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730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600858" y="2912272"/>
            <a:ext cx="105338" cy="105338"/>
          </a:xfrm>
          <a:prstGeom prst="rect">
            <a:avLst/>
          </a:prstGeom>
        </p:spPr>
      </p:pic>
      <p:sp>
        <p:nvSpPr>
          <p:cNvPr id="731" name="T"/>
          <p:cNvSpPr txBox="1"/>
          <p:nvPr/>
        </p:nvSpPr>
        <p:spPr>
          <a:xfrm>
            <a:off x="7799832" y="2862072"/>
            <a:ext cx="1100000" cy="2057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8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Nganjuk</a:t>
            </a:r>
            <a:endParaRPr lang="id-ID" sz="850"/>
          </a:p>
        </p:txBody>
      </p:sp>
      <p:sp>
        <p:nvSpPr>
          <p:cNvPr id="732" name="T"/>
          <p:cNvSpPr txBox="1"/>
          <p:nvPr/>
        </p:nvSpPr>
        <p:spPr>
          <a:xfrm>
            <a:off x="8620000" y="2862072"/>
            <a:ext cx="38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397</a:t>
            </a:r>
            <a:endParaRPr lang="id-ID" sz="800"/>
          </a:p>
        </p:txBody>
      </p:sp>
      <p:sp>
        <p:nvSpPr>
          <p:cNvPr id="733" name="T"/>
          <p:cNvSpPr txBox="1"/>
          <p:nvPr/>
        </p:nvSpPr>
        <p:spPr>
          <a:xfrm>
            <a:off x="9024000" y="2862072"/>
            <a:ext cx="20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KK</a:t>
            </a:r>
            <a:endParaRPr lang="id-ID" sz="800"/>
          </a:p>
        </p:txBody>
      </p:sp>
      <p:sp>
        <p:nvSpPr>
          <p:cNvPr id="734" name="T"/>
          <p:cNvSpPr txBox="1"/>
          <p:nvPr/>
        </p:nvSpPr>
        <p:spPr>
          <a:xfrm>
            <a:off x="9240000" y="2862072"/>
            <a:ext cx="40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1.269</a:t>
            </a:r>
            <a:endParaRPr lang="id-ID" sz="800"/>
          </a:p>
        </p:txBody>
      </p:sp>
      <p:sp>
        <p:nvSpPr>
          <p:cNvPr id="735" name="T"/>
          <p:cNvSpPr txBox="1"/>
          <p:nvPr/>
        </p:nvSpPr>
        <p:spPr>
          <a:xfrm>
            <a:off x="9664000" y="2862072"/>
            <a:ext cx="26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jiwa</a:t>
            </a:r>
            <a:endParaRPr lang="id-ID" sz="800"/>
          </a:p>
        </p:txBody>
      </p:sp>
      <p:sp>
        <p:nvSpPr>
          <p:cNvPr id="736" name="K"/>
          <p:cNvSpPr/>
          <p:nvPr/>
        </p:nvSpPr>
        <p:spPr>
          <a:xfrm>
            <a:off x="9930000" y="2882646"/>
            <a:ext cx="880000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D3B5"/>
            </a:solidFill>
          </a:ln>
        </p:spPr>
      </p:sp>
      <p:pic>
        <p:nvPicPr>
          <p:cNvPr id="737" name="G"/>
          <p:cNvPicPr>
            <a:picLocks noChangeAspect="1"/>
          </p:cNvPicPr>
          <p:nvPr/>
        </p:nvPicPr>
        <p:blipFill>
          <a:blip r:embed="rIdM23"/>
          <a:stretch>
            <a:fillRect/>
          </a:stretch>
        </p:blipFill>
        <p:spPr>
          <a:xfrm>
            <a:off x="9985000" y="2914646"/>
            <a:ext cx="100584" cy="100584"/>
          </a:xfrm>
          <a:prstGeom prst="rect">
            <a:avLst/>
          </a:prstGeom>
        </p:spPr>
      </p:pic>
      <p:sp>
        <p:nvSpPr>
          <p:cNvPr id="738" name="T"/>
          <p:cNvSpPr txBox="1"/>
          <p:nvPr/>
        </p:nvSpPr>
        <p:spPr>
          <a:xfrm>
            <a:off x="10120000" y="2882646"/>
            <a:ext cx="43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8.000</a:t>
            </a:r>
            <a:endParaRPr lang="id-ID" sz="720"/>
          </a:p>
        </p:txBody>
      </p:sp>
      <p:sp>
        <p:nvSpPr>
          <p:cNvPr id="739" name="T"/>
          <p:cNvSpPr txBox="1"/>
          <p:nvPr/>
        </p:nvSpPr>
        <p:spPr>
          <a:xfrm>
            <a:off x="10571600" y="2882646"/>
            <a:ext cx="20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liter</a:t>
            </a:r>
            <a:endParaRPr lang="id-ID" sz="720"/>
          </a:p>
        </p:txBody>
      </p:sp>
      <p:cxnSp>
        <p:nvCxnSpPr>
          <p:cNvPr id="740" name="L"/>
          <p:cNvCxnSpPr/>
          <p:nvPr/>
        </p:nvCxnSpPr>
        <p:spPr>
          <a:xfrm>
            <a:off x="7571232" y="3067812"/>
            <a:ext cx="3907231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741" name="K"/>
          <p:cNvSpPr/>
          <p:nvPr/>
        </p:nvSpPr>
        <p:spPr>
          <a:xfrm>
            <a:off x="7571232" y="3088386"/>
            <a:ext cx="164592" cy="164592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742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600858" y="3118012"/>
            <a:ext cx="105338" cy="105338"/>
          </a:xfrm>
          <a:prstGeom prst="rect">
            <a:avLst/>
          </a:prstGeom>
        </p:spPr>
      </p:pic>
      <p:sp>
        <p:nvSpPr>
          <p:cNvPr id="743" name="T"/>
          <p:cNvSpPr txBox="1"/>
          <p:nvPr/>
        </p:nvSpPr>
        <p:spPr>
          <a:xfrm>
            <a:off x="7799832" y="3067812"/>
            <a:ext cx="1100000" cy="2057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8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Bulukumba</a:t>
            </a:r>
            <a:endParaRPr lang="id-ID" sz="850"/>
          </a:p>
        </p:txBody>
      </p:sp>
      <p:sp>
        <p:nvSpPr>
          <p:cNvPr id="744" name="T"/>
          <p:cNvSpPr txBox="1"/>
          <p:nvPr/>
        </p:nvSpPr>
        <p:spPr>
          <a:xfrm>
            <a:off x="8620000" y="3067812"/>
            <a:ext cx="38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445</a:t>
            </a:r>
            <a:endParaRPr lang="id-ID" sz="800"/>
          </a:p>
        </p:txBody>
      </p:sp>
      <p:sp>
        <p:nvSpPr>
          <p:cNvPr id="745" name="T"/>
          <p:cNvSpPr txBox="1"/>
          <p:nvPr/>
        </p:nvSpPr>
        <p:spPr>
          <a:xfrm>
            <a:off x="9024000" y="3067812"/>
            <a:ext cx="20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KK</a:t>
            </a:r>
            <a:endParaRPr lang="id-ID" sz="800"/>
          </a:p>
        </p:txBody>
      </p:sp>
      <p:sp>
        <p:nvSpPr>
          <p:cNvPr id="746" name="T"/>
          <p:cNvSpPr txBox="1"/>
          <p:nvPr/>
        </p:nvSpPr>
        <p:spPr>
          <a:xfrm>
            <a:off x="9240000" y="3067812"/>
            <a:ext cx="40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1.730</a:t>
            </a:r>
            <a:endParaRPr lang="id-ID" sz="800"/>
          </a:p>
        </p:txBody>
      </p:sp>
      <p:sp>
        <p:nvSpPr>
          <p:cNvPr id="747" name="T"/>
          <p:cNvSpPr txBox="1"/>
          <p:nvPr/>
        </p:nvSpPr>
        <p:spPr>
          <a:xfrm>
            <a:off x="9664000" y="3067812"/>
            <a:ext cx="26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jiwa</a:t>
            </a:r>
            <a:endParaRPr lang="id-ID" sz="800"/>
          </a:p>
        </p:txBody>
      </p:sp>
      <p:sp>
        <p:nvSpPr>
          <p:cNvPr id="748" name="K"/>
          <p:cNvSpPr/>
          <p:nvPr/>
        </p:nvSpPr>
        <p:spPr>
          <a:xfrm>
            <a:off x="9930000" y="3088386"/>
            <a:ext cx="880000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D3B5"/>
            </a:solidFill>
          </a:ln>
        </p:spPr>
      </p:sp>
      <p:pic>
        <p:nvPicPr>
          <p:cNvPr id="749" name="G"/>
          <p:cNvPicPr>
            <a:picLocks noChangeAspect="1"/>
          </p:cNvPicPr>
          <p:nvPr/>
        </p:nvPicPr>
        <p:blipFill>
          <a:blip r:embed="rIdM23"/>
          <a:stretch>
            <a:fillRect/>
          </a:stretch>
        </p:blipFill>
        <p:spPr>
          <a:xfrm>
            <a:off x="9985000" y="3120386"/>
            <a:ext cx="100584" cy="100584"/>
          </a:xfrm>
          <a:prstGeom prst="rect">
            <a:avLst/>
          </a:prstGeom>
        </p:spPr>
      </p:pic>
      <p:sp>
        <p:nvSpPr>
          <p:cNvPr id="750" name="T"/>
          <p:cNvSpPr txBox="1"/>
          <p:nvPr/>
        </p:nvSpPr>
        <p:spPr>
          <a:xfrm>
            <a:off x="10120000" y="3088386"/>
            <a:ext cx="43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46.600</a:t>
            </a:r>
            <a:endParaRPr lang="id-ID" sz="720"/>
          </a:p>
        </p:txBody>
      </p:sp>
      <p:sp>
        <p:nvSpPr>
          <p:cNvPr id="751" name="T"/>
          <p:cNvSpPr txBox="1"/>
          <p:nvPr/>
        </p:nvSpPr>
        <p:spPr>
          <a:xfrm>
            <a:off x="10571600" y="3088386"/>
            <a:ext cx="20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liter</a:t>
            </a:r>
            <a:endParaRPr lang="id-ID" sz="720"/>
          </a:p>
        </p:txBody>
      </p:sp>
      <p:cxnSp>
        <p:nvCxnSpPr>
          <p:cNvPr id="752" name="L"/>
          <p:cNvCxnSpPr/>
          <p:nvPr/>
        </p:nvCxnSpPr>
        <p:spPr>
          <a:xfrm>
            <a:off x="7571232" y="3273552"/>
            <a:ext cx="3907231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753" name="K"/>
          <p:cNvSpPr/>
          <p:nvPr/>
        </p:nvSpPr>
        <p:spPr>
          <a:xfrm>
            <a:off x="7571232" y="3294126"/>
            <a:ext cx="164592" cy="164592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754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600858" y="3323752"/>
            <a:ext cx="105338" cy="105338"/>
          </a:xfrm>
          <a:prstGeom prst="rect">
            <a:avLst/>
          </a:prstGeom>
        </p:spPr>
      </p:pic>
      <p:sp>
        <p:nvSpPr>
          <p:cNvPr id="755" name="T"/>
          <p:cNvSpPr txBox="1"/>
          <p:nvPr/>
        </p:nvSpPr>
        <p:spPr>
          <a:xfrm>
            <a:off x="7799832" y="3273552"/>
            <a:ext cx="1100000" cy="2057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8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Bone</a:t>
            </a:r>
            <a:endParaRPr lang="id-ID" sz="850"/>
          </a:p>
        </p:txBody>
      </p:sp>
      <p:sp>
        <p:nvSpPr>
          <p:cNvPr id="756" name="T"/>
          <p:cNvSpPr txBox="1"/>
          <p:nvPr/>
        </p:nvSpPr>
        <p:spPr>
          <a:xfrm>
            <a:off x="8620000" y="3273552"/>
            <a:ext cx="38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805</a:t>
            </a:r>
            <a:endParaRPr lang="id-ID" sz="800"/>
          </a:p>
        </p:txBody>
      </p:sp>
      <p:sp>
        <p:nvSpPr>
          <p:cNvPr id="757" name="T"/>
          <p:cNvSpPr txBox="1"/>
          <p:nvPr/>
        </p:nvSpPr>
        <p:spPr>
          <a:xfrm>
            <a:off x="9024000" y="3273552"/>
            <a:ext cx="20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KK</a:t>
            </a:r>
            <a:endParaRPr lang="id-ID" sz="800"/>
          </a:p>
        </p:txBody>
      </p:sp>
      <p:sp>
        <p:nvSpPr>
          <p:cNvPr id="758" name="T"/>
          <p:cNvSpPr txBox="1"/>
          <p:nvPr/>
        </p:nvSpPr>
        <p:spPr>
          <a:xfrm>
            <a:off x="9240000" y="3273552"/>
            <a:ext cx="40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3.723</a:t>
            </a:r>
            <a:endParaRPr lang="id-ID" sz="800"/>
          </a:p>
        </p:txBody>
      </p:sp>
      <p:sp>
        <p:nvSpPr>
          <p:cNvPr id="759" name="T"/>
          <p:cNvSpPr txBox="1"/>
          <p:nvPr/>
        </p:nvSpPr>
        <p:spPr>
          <a:xfrm>
            <a:off x="9664000" y="3273552"/>
            <a:ext cx="26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jiwa</a:t>
            </a:r>
            <a:endParaRPr lang="id-ID" sz="800"/>
          </a:p>
        </p:txBody>
      </p:sp>
      <p:sp>
        <p:nvSpPr>
          <p:cNvPr id="760" name="K"/>
          <p:cNvSpPr/>
          <p:nvPr/>
        </p:nvSpPr>
        <p:spPr>
          <a:xfrm>
            <a:off x="9930000" y="3294126"/>
            <a:ext cx="880000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D3B5"/>
            </a:solidFill>
          </a:ln>
        </p:spPr>
      </p:sp>
      <p:pic>
        <p:nvPicPr>
          <p:cNvPr id="761" name="G"/>
          <p:cNvPicPr>
            <a:picLocks noChangeAspect="1"/>
          </p:cNvPicPr>
          <p:nvPr/>
        </p:nvPicPr>
        <p:blipFill>
          <a:blip r:embed="rIdM23"/>
          <a:stretch>
            <a:fillRect/>
          </a:stretch>
        </p:blipFill>
        <p:spPr>
          <a:xfrm>
            <a:off x="9985000" y="3326126"/>
            <a:ext cx="100584" cy="100584"/>
          </a:xfrm>
          <a:prstGeom prst="rect">
            <a:avLst/>
          </a:prstGeom>
        </p:spPr>
      </p:pic>
      <p:sp>
        <p:nvSpPr>
          <p:cNvPr id="762" name="T"/>
          <p:cNvSpPr txBox="1"/>
          <p:nvPr/>
        </p:nvSpPr>
        <p:spPr>
          <a:xfrm>
            <a:off x="10120000" y="3294126"/>
            <a:ext cx="43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85.100</a:t>
            </a:r>
            <a:endParaRPr lang="id-ID" sz="720"/>
          </a:p>
        </p:txBody>
      </p:sp>
      <p:sp>
        <p:nvSpPr>
          <p:cNvPr id="763" name="T"/>
          <p:cNvSpPr txBox="1"/>
          <p:nvPr/>
        </p:nvSpPr>
        <p:spPr>
          <a:xfrm>
            <a:off x="10571600" y="3294126"/>
            <a:ext cx="20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liter</a:t>
            </a:r>
            <a:endParaRPr lang="id-ID" sz="720"/>
          </a:p>
        </p:txBody>
      </p:sp>
      <p:cxnSp>
        <p:nvCxnSpPr>
          <p:cNvPr id="764" name="L"/>
          <p:cNvCxnSpPr/>
          <p:nvPr/>
        </p:nvCxnSpPr>
        <p:spPr>
          <a:xfrm>
            <a:off x="7571232" y="3479292"/>
            <a:ext cx="3907231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765" name="K"/>
          <p:cNvSpPr/>
          <p:nvPr/>
        </p:nvSpPr>
        <p:spPr>
          <a:xfrm>
            <a:off x="7571232" y="3499866"/>
            <a:ext cx="164592" cy="164592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766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600858" y="3529492"/>
            <a:ext cx="105338" cy="105338"/>
          </a:xfrm>
          <a:prstGeom prst="rect">
            <a:avLst/>
          </a:prstGeom>
        </p:spPr>
      </p:pic>
      <p:sp>
        <p:nvSpPr>
          <p:cNvPr id="767" name="T"/>
          <p:cNvSpPr txBox="1"/>
          <p:nvPr/>
        </p:nvSpPr>
        <p:spPr>
          <a:xfrm>
            <a:off x="7799832" y="3479292"/>
            <a:ext cx="1100000" cy="2057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Seram Bagian Barat</a:t>
            </a:r>
            <a:endParaRPr lang="id-ID" sz="750"/>
          </a:p>
        </p:txBody>
      </p:sp>
      <p:sp>
        <p:nvSpPr>
          <p:cNvPr id="768" name="T"/>
          <p:cNvSpPr txBox="1"/>
          <p:nvPr/>
        </p:nvSpPr>
        <p:spPr>
          <a:xfrm>
            <a:off x="8620000" y="3479292"/>
            <a:ext cx="38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95</a:t>
            </a:r>
            <a:endParaRPr lang="id-ID" sz="800"/>
          </a:p>
        </p:txBody>
      </p:sp>
      <p:sp>
        <p:nvSpPr>
          <p:cNvPr id="769" name="T"/>
          <p:cNvSpPr txBox="1"/>
          <p:nvPr/>
        </p:nvSpPr>
        <p:spPr>
          <a:xfrm>
            <a:off x="9024000" y="3479292"/>
            <a:ext cx="20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KK</a:t>
            </a:r>
            <a:endParaRPr lang="id-ID" sz="800"/>
          </a:p>
        </p:txBody>
      </p:sp>
      <p:sp>
        <p:nvSpPr>
          <p:cNvPr id="770" name="T"/>
          <p:cNvSpPr txBox="1"/>
          <p:nvPr/>
        </p:nvSpPr>
        <p:spPr>
          <a:xfrm>
            <a:off x="9240000" y="3479292"/>
            <a:ext cx="40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297</a:t>
            </a:r>
            <a:endParaRPr lang="id-ID" sz="800"/>
          </a:p>
        </p:txBody>
      </p:sp>
      <p:sp>
        <p:nvSpPr>
          <p:cNvPr id="771" name="T"/>
          <p:cNvSpPr txBox="1"/>
          <p:nvPr/>
        </p:nvSpPr>
        <p:spPr>
          <a:xfrm>
            <a:off x="9664000" y="3479292"/>
            <a:ext cx="26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jiwa</a:t>
            </a:r>
            <a:endParaRPr lang="id-ID" sz="800"/>
          </a:p>
        </p:txBody>
      </p:sp>
      <p:sp>
        <p:nvSpPr>
          <p:cNvPr id="772" name="K"/>
          <p:cNvSpPr/>
          <p:nvPr/>
        </p:nvSpPr>
        <p:spPr>
          <a:xfrm>
            <a:off x="9930000" y="3499866"/>
            <a:ext cx="880000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D3B5"/>
            </a:solidFill>
          </a:ln>
        </p:spPr>
      </p:sp>
      <p:pic>
        <p:nvPicPr>
          <p:cNvPr id="773" name="G"/>
          <p:cNvPicPr>
            <a:picLocks noChangeAspect="1"/>
          </p:cNvPicPr>
          <p:nvPr/>
        </p:nvPicPr>
        <p:blipFill>
          <a:blip r:embed="rIdM23"/>
          <a:stretch>
            <a:fillRect/>
          </a:stretch>
        </p:blipFill>
        <p:spPr>
          <a:xfrm>
            <a:off x="9985000" y="3531866"/>
            <a:ext cx="100584" cy="100584"/>
          </a:xfrm>
          <a:prstGeom prst="rect">
            <a:avLst/>
          </a:prstGeom>
        </p:spPr>
      </p:pic>
      <p:sp>
        <p:nvSpPr>
          <p:cNvPr id="774" name="T"/>
          <p:cNvSpPr txBox="1"/>
          <p:nvPr/>
        </p:nvSpPr>
        <p:spPr>
          <a:xfrm>
            <a:off x="10120000" y="3499866"/>
            <a:ext cx="43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6B7280"/>
                </a:solidFill>
                <a:latin typeface="Roboto"/>
                <a:ea typeface="Roboto"/>
                <a:cs typeface="Roboto"/>
              </a:rPr>
              <a:t>–</a:t>
            </a:r>
            <a:endParaRPr lang="id-ID" sz="720"/>
          </a:p>
        </p:txBody>
      </p:sp>
      <p:sp>
        <p:nvSpPr>
          <p:cNvPr id="775" name="T"/>
          <p:cNvSpPr txBox="1"/>
          <p:nvPr/>
        </p:nvSpPr>
        <p:spPr>
          <a:xfrm>
            <a:off x="10571600" y="3499866"/>
            <a:ext cx="20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6B7280"/>
                </a:solidFill>
                <a:latin typeface="Roboto"/>
                <a:ea typeface="Roboto"/>
                <a:cs typeface="Roboto"/>
              </a:rPr>
              <a:t>liter</a:t>
            </a:r>
            <a:endParaRPr lang="id-ID" sz="720"/>
          </a:p>
        </p:txBody>
      </p:sp>
      <p:sp>
        <p:nvSpPr>
          <p:cNvPr id="776" name="K"/>
          <p:cNvSpPr/>
          <p:nvPr/>
        </p:nvSpPr>
        <p:spPr>
          <a:xfrm>
            <a:off x="7406640" y="3867912"/>
            <a:ext cx="4236415" cy="213969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</p:spPr>
      </p:sp>
      <p:sp>
        <p:nvSpPr>
          <p:cNvPr id="777" name="K"/>
          <p:cNvSpPr/>
          <p:nvPr/>
        </p:nvSpPr>
        <p:spPr>
          <a:xfrm>
            <a:off x="7406640" y="3867912"/>
            <a:ext cx="4236415" cy="365760"/>
          </a:xfrm>
          <a:prstGeom prst="roundRect">
            <a:avLst>
              <a:gd name="adj" fmla="val 16000"/>
            </a:avLst>
          </a:prstGeom>
          <a:solidFill>
            <a:srgbClr val="E3EAF1"/>
          </a:solidFill>
          <a:ln>
            <a:noFill/>
          </a:ln>
        </p:spPr>
      </p:sp>
      <p:sp>
        <p:nvSpPr>
          <p:cNvPr id="778" name="K"/>
          <p:cNvSpPr/>
          <p:nvPr/>
        </p:nvSpPr>
        <p:spPr>
          <a:xfrm>
            <a:off x="7406640" y="4087368"/>
            <a:ext cx="4236415" cy="146304"/>
          </a:xfrm>
          <a:prstGeom prst="rect">
            <a:avLst/>
          </a:prstGeom>
          <a:solidFill>
            <a:srgbClr val="E3EAF1"/>
          </a:solidFill>
          <a:ln>
            <a:noFill/>
          </a:ln>
        </p:spPr>
      </p:sp>
      <p:sp>
        <p:nvSpPr>
          <p:cNvPr id="779" name="K"/>
          <p:cNvSpPr/>
          <p:nvPr/>
        </p:nvSpPr>
        <p:spPr>
          <a:xfrm>
            <a:off x="7534656" y="3904488"/>
            <a:ext cx="292608" cy="292608"/>
          </a:xfrm>
          <a:prstGeom prst="ellipse">
            <a:avLst/>
          </a:prstGeom>
          <a:solidFill>
            <a:srgbClr val="5B7A99"/>
          </a:solidFill>
          <a:ln>
            <a:noFill/>
          </a:ln>
        </p:spPr>
      </p:sp>
      <p:pic>
        <p:nvPicPr>
          <p:cNvPr id="780" name="G"/>
          <p:cNvPicPr>
            <a:picLocks noChangeAspect="1"/>
          </p:cNvPicPr>
          <p:nvPr/>
        </p:nvPicPr>
        <p:blipFill>
          <a:blip r:embed="rIdM25"/>
          <a:stretch>
            <a:fillRect/>
          </a:stretch>
        </p:blipFill>
        <p:spPr>
          <a:xfrm>
            <a:off x="7589520" y="3959352"/>
            <a:ext cx="182880" cy="182880"/>
          </a:xfrm>
          <a:prstGeom prst="rect">
            <a:avLst/>
          </a:prstGeom>
        </p:spPr>
      </p:pic>
      <p:sp>
        <p:nvSpPr>
          <p:cNvPr id="781" name="T"/>
          <p:cNvSpPr txBox="1"/>
          <p:nvPr/>
        </p:nvSpPr>
        <p:spPr>
          <a:xfrm>
            <a:off x="7909560" y="3867912"/>
            <a:ext cx="3136415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1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Bencana lainnya</a:t>
            </a:r>
            <a:endParaRPr lang="id-ID" sz="1100"/>
          </a:p>
        </p:txBody>
      </p:sp>
      <p:sp>
        <p:nvSpPr>
          <p:cNvPr id="782" name="T"/>
          <p:cNvSpPr txBox="1"/>
          <p:nvPr/>
        </p:nvSpPr>
        <p:spPr>
          <a:xfrm>
            <a:off x="11002975" y="3867912"/>
            <a:ext cx="512064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id-ID" sz="1800" b="1" dirty="0">
                <a:solidFill>
                  <a:srgbClr val="5B7A99"/>
                </a:solidFill>
                <a:latin typeface="Roboto"/>
                <a:ea typeface="Roboto"/>
                <a:cs typeface="Roboto"/>
              </a:rPr>
              <a:t>7</a:t>
            </a:r>
            <a:endParaRPr lang="id-ID" sz="1800"/>
          </a:p>
        </p:txBody>
      </p:sp>
      <p:sp>
        <p:nvSpPr>
          <p:cNvPr id="564" name="K"/>
          <p:cNvSpPr/>
          <p:nvPr/>
        </p:nvSpPr>
        <p:spPr>
          <a:xfrm>
            <a:off x="7589520" y="4297680"/>
            <a:ext cx="146304" cy="146304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565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615854" y="4324014"/>
            <a:ext cx="93634" cy="93634"/>
          </a:xfrm>
          <a:prstGeom prst="rect">
            <a:avLst/>
          </a:prstGeom>
        </p:spPr>
      </p:pic>
      <p:sp>
        <p:nvSpPr>
          <p:cNvPr id="566" name="K"/>
          <p:cNvSpPr/>
          <p:nvPr/>
        </p:nvSpPr>
        <p:spPr>
          <a:xfrm>
            <a:off x="7772400" y="4297680"/>
            <a:ext cx="146304" cy="146304"/>
          </a:xfrm>
          <a:prstGeom prst="ellipse">
            <a:avLst/>
          </a:prstGeom>
          <a:solidFill>
            <a:srgbClr val="5B7A99"/>
          </a:solidFill>
          <a:ln>
            <a:noFill/>
          </a:ln>
        </p:spPr>
      </p:sp>
      <p:pic>
        <p:nvPicPr>
          <p:cNvPr id="567" name="G"/>
          <p:cNvPicPr>
            <a:picLocks noChangeAspect="1"/>
          </p:cNvPicPr>
          <p:nvPr/>
        </p:nvPicPr>
        <p:blipFill>
          <a:blip r:embed="rIdM6"/>
          <a:stretch>
            <a:fillRect/>
          </a:stretch>
        </p:blipFill>
        <p:spPr>
          <a:xfrm>
            <a:off x="7799832" y="4325112"/>
            <a:ext cx="91440" cy="91440"/>
          </a:xfrm>
          <a:prstGeom prst="rect">
            <a:avLst/>
          </a:prstGeom>
        </p:spPr>
      </p:pic>
      <p:sp>
        <p:nvSpPr>
          <p:cNvPr id="568" name="T"/>
          <p:cNvSpPr txBox="1"/>
          <p:nvPr/>
        </p:nvSpPr>
        <p:spPr>
          <a:xfrm>
            <a:off x="7971232" y="4279392"/>
            <a:ext cx="2286000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Nusa Tenggara Timur</a:t>
            </a:r>
            <a:endParaRPr lang="id-ID" sz="760"/>
          </a:p>
        </p:txBody>
      </p:sp>
      <p:sp>
        <p:nvSpPr>
          <p:cNvPr id="581" name="K"/>
          <p:cNvSpPr/>
          <p:nvPr/>
        </p:nvSpPr>
        <p:spPr>
          <a:xfrm>
            <a:off x="10324042" y="4288536"/>
            <a:ext cx="1136132" cy="164592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582" name="G"/>
          <p:cNvPicPr>
            <a:picLocks noChangeAspect="1"/>
          </p:cNvPicPr>
          <p:nvPr/>
        </p:nvPicPr>
        <p:blipFill>
          <a:blip r:embed="rIdM8"/>
          <a:stretch>
            <a:fillRect/>
          </a:stretch>
        </p:blipFill>
        <p:spPr>
          <a:xfrm>
            <a:off x="10381649" y="4321454"/>
            <a:ext cx="98755" cy="98755"/>
          </a:xfrm>
          <a:prstGeom prst="rect">
            <a:avLst/>
          </a:prstGeom>
        </p:spPr>
      </p:pic>
      <p:sp>
        <p:nvSpPr>
          <p:cNvPr id="583" name="T"/>
          <p:cNvSpPr txBox="1"/>
          <p:nvPr/>
        </p:nvSpPr>
        <p:spPr>
          <a:xfrm>
            <a:off x="10480404" y="4288536"/>
            <a:ext cx="9797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Transisi s.d. 27 Des</a:t>
            </a:r>
            <a:endParaRPr lang="id-ID" sz="700"/>
          </a:p>
        </p:txBody>
      </p:sp>
      <p:sp>
        <p:nvSpPr>
          <p:cNvPr id="584" name="K"/>
          <p:cNvSpPr/>
          <p:nvPr/>
        </p:nvSpPr>
        <p:spPr>
          <a:xfrm>
            <a:off x="10758042" y="4480560"/>
            <a:ext cx="702132" cy="164592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</p:spPr>
      </p:sp>
      <p:pic>
        <p:nvPicPr>
          <p:cNvPr id="585" name="G"/>
          <p:cNvPicPr>
            <a:picLocks noChangeAspect="1"/>
          </p:cNvPicPr>
          <p:nvPr/>
        </p:nvPicPr>
        <p:blipFill>
          <a:blip r:embed="rIdM11"/>
          <a:stretch>
            <a:fillRect/>
          </a:stretch>
        </p:blipFill>
        <p:spPr>
          <a:xfrm>
            <a:off x="10815649" y="4513478"/>
            <a:ext cx="98755" cy="98755"/>
          </a:xfrm>
          <a:prstGeom prst="rect">
            <a:avLst/>
          </a:prstGeom>
        </p:spPr>
      </p:pic>
      <p:sp>
        <p:nvSpPr>
          <p:cNvPr id="586" name="T"/>
          <p:cNvSpPr txBox="1"/>
          <p:nvPr/>
        </p:nvSpPr>
        <p:spPr>
          <a:xfrm>
            <a:off x="10914404" y="4480560"/>
            <a:ext cx="5457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5B7A99"/>
                </a:solidFill>
                <a:latin typeface="Roboto"/>
                <a:ea typeface="Roboto"/>
                <a:cs typeface="Roboto"/>
              </a:rPr>
              <a:t>±17.707 KK</a:t>
            </a:r>
            <a:endParaRPr lang="id-ID" sz="700"/>
          </a:p>
        </p:txBody>
      </p:sp>
      <p:sp>
        <p:nvSpPr>
          <p:cNvPr id="587" name="K"/>
          <p:cNvSpPr/>
          <p:nvPr/>
        </p:nvSpPr>
        <p:spPr>
          <a:xfrm>
            <a:off x="9870845" y="4480560"/>
            <a:ext cx="832332" cy="164592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</p:spPr>
      </p:sp>
      <p:pic>
        <p:nvPicPr>
          <p:cNvPr id="588" name="G"/>
          <p:cNvPicPr>
            <a:picLocks noChangeAspect="1"/>
          </p:cNvPicPr>
          <p:nvPr/>
        </p:nvPicPr>
        <p:blipFill>
          <a:blip r:embed="rIdM10"/>
          <a:stretch>
            <a:fillRect/>
          </a:stretch>
        </p:blipFill>
        <p:spPr>
          <a:xfrm>
            <a:off x="9928452" y="4513478"/>
            <a:ext cx="98755" cy="98755"/>
          </a:xfrm>
          <a:prstGeom prst="rect">
            <a:avLst/>
          </a:prstGeom>
        </p:spPr>
      </p:pic>
      <p:sp>
        <p:nvSpPr>
          <p:cNvPr id="589" name="T"/>
          <p:cNvSpPr txBox="1"/>
          <p:nvPr/>
        </p:nvSpPr>
        <p:spPr>
          <a:xfrm>
            <a:off x="10027207" y="4480560"/>
            <a:ext cx="6759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C8102E"/>
                </a:solidFill>
                <a:latin typeface="Roboto"/>
                <a:ea typeface="Roboto"/>
                <a:cs typeface="Roboto"/>
              </a:rPr>
              <a:t>156 meninggal</a:t>
            </a:r>
            <a:endParaRPr lang="id-ID" sz="700"/>
          </a:p>
        </p:txBody>
      </p:sp>
      <p:sp>
        <p:nvSpPr>
          <p:cNvPr id="590" name="K"/>
          <p:cNvSpPr/>
          <p:nvPr/>
        </p:nvSpPr>
        <p:spPr>
          <a:xfrm>
            <a:off x="8810048" y="4480560"/>
            <a:ext cx="1005932" cy="164592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</p:spPr>
      </p:sp>
      <p:pic>
        <p:nvPicPr>
          <p:cNvPr id="591" name="G"/>
          <p:cNvPicPr>
            <a:picLocks noChangeAspect="1"/>
          </p:cNvPicPr>
          <p:nvPr/>
        </p:nvPicPr>
        <p:blipFill>
          <a:blip r:embed="rIdM9"/>
          <a:stretch>
            <a:fillRect/>
          </a:stretch>
        </p:blipFill>
        <p:spPr>
          <a:xfrm>
            <a:off x="8867655" y="4513478"/>
            <a:ext cx="98755" cy="98755"/>
          </a:xfrm>
          <a:prstGeom prst="rect">
            <a:avLst/>
          </a:prstGeom>
        </p:spPr>
      </p:pic>
      <p:sp>
        <p:nvSpPr>
          <p:cNvPr id="592" name="T"/>
          <p:cNvSpPr txBox="1"/>
          <p:nvPr/>
        </p:nvSpPr>
        <p:spPr>
          <a:xfrm>
            <a:off x="8966410" y="4480560"/>
            <a:ext cx="8495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5B7A99"/>
                </a:solidFill>
                <a:latin typeface="Roboto"/>
                <a:ea typeface="Roboto"/>
                <a:cs typeface="Roboto"/>
              </a:rPr>
              <a:t>±27.345 mengungsi</a:t>
            </a:r>
            <a:endParaRPr lang="id-ID" sz="700"/>
          </a:p>
        </p:txBody>
      </p:sp>
      <p:sp>
        <p:nvSpPr>
          <p:cNvPr id="593" name="K"/>
          <p:cNvSpPr/>
          <p:nvPr/>
        </p:nvSpPr>
        <p:spPr>
          <a:xfrm>
            <a:off x="7589520" y="4700016"/>
            <a:ext cx="146304" cy="146304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594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615854" y="4726350"/>
            <a:ext cx="93634" cy="93634"/>
          </a:xfrm>
          <a:prstGeom prst="rect">
            <a:avLst/>
          </a:prstGeom>
        </p:spPr>
      </p:pic>
      <p:sp>
        <p:nvSpPr>
          <p:cNvPr id="595" name="K"/>
          <p:cNvSpPr/>
          <p:nvPr/>
        </p:nvSpPr>
        <p:spPr>
          <a:xfrm>
            <a:off x="7772400" y="4700016"/>
            <a:ext cx="146304" cy="146304"/>
          </a:xfrm>
          <a:prstGeom prst="ellipse">
            <a:avLst/>
          </a:prstGeom>
          <a:solidFill>
            <a:srgbClr val="A23B2A"/>
          </a:solidFill>
          <a:ln>
            <a:noFill/>
          </a:ln>
        </p:spPr>
      </p:sp>
      <p:pic>
        <p:nvPicPr>
          <p:cNvPr id="596" name="G"/>
          <p:cNvPicPr>
            <a:picLocks noChangeAspect="1"/>
          </p:cNvPicPr>
          <p:nvPr/>
        </p:nvPicPr>
        <p:blipFill>
          <a:blip r:embed="rIdM12"/>
          <a:stretch>
            <a:fillRect/>
          </a:stretch>
        </p:blipFill>
        <p:spPr>
          <a:xfrm>
            <a:off x="7799832" y="4727448"/>
            <a:ext cx="91440" cy="91440"/>
          </a:xfrm>
          <a:prstGeom prst="rect">
            <a:avLst/>
          </a:prstGeom>
        </p:spPr>
      </p:pic>
      <p:sp>
        <p:nvSpPr>
          <p:cNvPr id="597" name="T"/>
          <p:cNvSpPr txBox="1"/>
          <p:nvPr/>
        </p:nvSpPr>
        <p:spPr>
          <a:xfrm>
            <a:off x="7971232" y="4681728"/>
            <a:ext cx="2286000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Jawa Timur</a:t>
            </a:r>
            <a:r>
              <a:rPr lang="id-ID" sz="76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, TPA Supit Urang</a:t>
            </a:r>
            <a:endParaRPr lang="id-ID" sz="760"/>
          </a:p>
        </p:txBody>
      </p:sp>
      <p:sp>
        <p:nvSpPr>
          <p:cNvPr id="598" name="K"/>
          <p:cNvSpPr/>
          <p:nvPr/>
        </p:nvSpPr>
        <p:spPr>
          <a:xfrm>
            <a:off x="10758042" y="4690872"/>
            <a:ext cx="702132" cy="164592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599" name="G"/>
          <p:cNvPicPr>
            <a:picLocks noChangeAspect="1"/>
          </p:cNvPicPr>
          <p:nvPr/>
        </p:nvPicPr>
        <p:blipFill>
          <a:blip r:embed="rIdM14"/>
          <a:stretch>
            <a:fillRect/>
          </a:stretch>
        </p:blipFill>
        <p:spPr>
          <a:xfrm>
            <a:off x="10815649" y="4723790"/>
            <a:ext cx="98755" cy="98755"/>
          </a:xfrm>
          <a:prstGeom prst="rect">
            <a:avLst/>
          </a:prstGeom>
        </p:spPr>
      </p:pic>
      <p:sp>
        <p:nvSpPr>
          <p:cNvPr id="600" name="T"/>
          <p:cNvSpPr txBox="1"/>
          <p:nvPr/>
        </p:nvSpPr>
        <p:spPr>
          <a:xfrm>
            <a:off x="10914404" y="4690872"/>
            <a:ext cx="5457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penanganan</a:t>
            </a:r>
            <a:endParaRPr lang="id-ID" sz="700"/>
          </a:p>
        </p:txBody>
      </p:sp>
      <p:sp>
        <p:nvSpPr>
          <p:cNvPr id="601" name="K"/>
          <p:cNvSpPr/>
          <p:nvPr/>
        </p:nvSpPr>
        <p:spPr>
          <a:xfrm>
            <a:off x="9653845" y="4690872"/>
            <a:ext cx="1049332" cy="164592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</p:spPr>
      </p:sp>
      <p:pic>
        <p:nvPicPr>
          <p:cNvPr id="602" name="G"/>
          <p:cNvPicPr>
            <a:picLocks noChangeAspect="1"/>
          </p:cNvPicPr>
          <p:nvPr/>
        </p:nvPicPr>
        <p:blipFill>
          <a:blip r:embed="rIdM15"/>
          <a:stretch>
            <a:fillRect/>
          </a:stretch>
        </p:blipFill>
        <p:spPr>
          <a:xfrm>
            <a:off x="9711452" y="4723790"/>
            <a:ext cx="98755" cy="98755"/>
          </a:xfrm>
          <a:prstGeom prst="rect">
            <a:avLst/>
          </a:prstGeom>
        </p:spPr>
      </p:pic>
      <p:sp>
        <p:nvSpPr>
          <p:cNvPr id="603" name="T"/>
          <p:cNvSpPr txBox="1"/>
          <p:nvPr/>
        </p:nvSpPr>
        <p:spPr>
          <a:xfrm>
            <a:off x="9810207" y="4690872"/>
            <a:ext cx="8929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 15,5 ha terbakar</a:t>
            </a:r>
            <a:endParaRPr lang="id-ID" sz="700"/>
          </a:p>
        </p:txBody>
      </p:sp>
      <p:sp>
        <p:nvSpPr>
          <p:cNvPr id="604" name="K"/>
          <p:cNvSpPr/>
          <p:nvPr/>
        </p:nvSpPr>
        <p:spPr>
          <a:xfrm>
            <a:off x="7589520" y="4910328"/>
            <a:ext cx="146304" cy="146304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605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615854" y="4936662"/>
            <a:ext cx="93634" cy="93634"/>
          </a:xfrm>
          <a:prstGeom prst="rect">
            <a:avLst/>
          </a:prstGeom>
        </p:spPr>
      </p:pic>
      <p:sp>
        <p:nvSpPr>
          <p:cNvPr id="606" name="K"/>
          <p:cNvSpPr/>
          <p:nvPr/>
        </p:nvSpPr>
        <p:spPr>
          <a:xfrm>
            <a:off x="7772400" y="4910328"/>
            <a:ext cx="146304" cy="146304"/>
          </a:xfrm>
          <a:prstGeom prst="ellipse">
            <a:avLst/>
          </a:prstGeom>
          <a:solidFill>
            <a:srgbClr val="2F6FB5"/>
          </a:solidFill>
          <a:ln>
            <a:noFill/>
          </a:ln>
        </p:spPr>
      </p:sp>
      <p:pic>
        <p:nvPicPr>
          <p:cNvPr id="607" name="G"/>
          <p:cNvPicPr>
            <a:picLocks noChangeAspect="1"/>
          </p:cNvPicPr>
          <p:nvPr/>
        </p:nvPicPr>
        <p:blipFill>
          <a:blip r:embed="rIdM16"/>
          <a:stretch>
            <a:fillRect/>
          </a:stretch>
        </p:blipFill>
        <p:spPr>
          <a:xfrm>
            <a:off x="7799832" y="4937760"/>
            <a:ext cx="91440" cy="91440"/>
          </a:xfrm>
          <a:prstGeom prst="rect">
            <a:avLst/>
          </a:prstGeom>
        </p:spPr>
      </p:pic>
      <p:sp>
        <p:nvSpPr>
          <p:cNvPr id="608" name="T"/>
          <p:cNvSpPr txBox="1"/>
          <p:nvPr/>
        </p:nvSpPr>
        <p:spPr>
          <a:xfrm>
            <a:off x="7971232" y="4892040"/>
            <a:ext cx="2286000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Aceh</a:t>
            </a:r>
            <a:r>
              <a:rPr lang="id-ID" sz="76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, Subulussalam</a:t>
            </a:r>
            <a:endParaRPr lang="id-ID" sz="760"/>
          </a:p>
        </p:txBody>
      </p:sp>
      <p:sp>
        <p:nvSpPr>
          <p:cNvPr id="609" name="K"/>
          <p:cNvSpPr/>
          <p:nvPr/>
        </p:nvSpPr>
        <p:spPr>
          <a:xfrm>
            <a:off x="10888242" y="4901184"/>
            <a:ext cx="571932" cy="164592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</p:spPr>
      </p:sp>
      <p:pic>
        <p:nvPicPr>
          <p:cNvPr id="610" name="G"/>
          <p:cNvPicPr>
            <a:picLocks noChangeAspect="1"/>
          </p:cNvPicPr>
          <p:nvPr/>
        </p:nvPicPr>
        <p:blipFill>
          <a:blip r:embed="rIdM11"/>
          <a:stretch>
            <a:fillRect/>
          </a:stretch>
        </p:blipFill>
        <p:spPr>
          <a:xfrm>
            <a:off x="10945849" y="4934102"/>
            <a:ext cx="98755" cy="98755"/>
          </a:xfrm>
          <a:prstGeom prst="rect">
            <a:avLst/>
          </a:prstGeom>
        </p:spPr>
      </p:pic>
      <p:sp>
        <p:nvSpPr>
          <p:cNvPr id="611" name="T"/>
          <p:cNvSpPr txBox="1"/>
          <p:nvPr/>
        </p:nvSpPr>
        <p:spPr>
          <a:xfrm>
            <a:off x="11044604" y="4901184"/>
            <a:ext cx="4155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5B7A99"/>
                </a:solidFill>
                <a:latin typeface="Roboto"/>
                <a:ea typeface="Roboto"/>
                <a:cs typeface="Roboto"/>
              </a:rPr>
              <a:t>±469 KK</a:t>
            </a:r>
            <a:endParaRPr lang="id-ID" sz="700"/>
          </a:p>
        </p:txBody>
      </p:sp>
      <p:sp>
        <p:nvSpPr>
          <p:cNvPr id="612" name="K"/>
          <p:cNvSpPr/>
          <p:nvPr/>
        </p:nvSpPr>
        <p:spPr>
          <a:xfrm>
            <a:off x="10131245" y="4901184"/>
            <a:ext cx="702132" cy="164592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</p:spPr>
      </p:sp>
      <p:pic>
        <p:nvPicPr>
          <p:cNvPr id="613" name="G"/>
          <p:cNvPicPr>
            <a:picLocks noChangeAspect="1"/>
          </p:cNvPicPr>
          <p:nvPr/>
        </p:nvPicPr>
        <p:blipFill>
          <a:blip r:embed="rIdM18"/>
          <a:stretch>
            <a:fillRect/>
          </a:stretch>
        </p:blipFill>
        <p:spPr>
          <a:xfrm>
            <a:off x="10188852" y="4934102"/>
            <a:ext cx="98755" cy="98755"/>
          </a:xfrm>
          <a:prstGeom prst="rect">
            <a:avLst/>
          </a:prstGeom>
        </p:spPr>
      </p:pic>
      <p:sp>
        <p:nvSpPr>
          <p:cNvPr id="614" name="T"/>
          <p:cNvSpPr txBox="1"/>
          <p:nvPr/>
        </p:nvSpPr>
        <p:spPr>
          <a:xfrm>
            <a:off x="10287607" y="4901184"/>
            <a:ext cx="5457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5B7A99"/>
                </a:solidFill>
                <a:latin typeface="Roboto"/>
                <a:ea typeface="Roboto"/>
                <a:cs typeface="Roboto"/>
              </a:rPr>
              <a:t>±177 rumah</a:t>
            </a:r>
            <a:endParaRPr lang="id-ID" sz="700"/>
          </a:p>
        </p:txBody>
      </p:sp>
      <p:sp>
        <p:nvSpPr>
          <p:cNvPr id="615" name="K"/>
          <p:cNvSpPr/>
          <p:nvPr/>
        </p:nvSpPr>
        <p:spPr>
          <a:xfrm>
            <a:off x="7589520" y="5120640"/>
            <a:ext cx="146304" cy="146304"/>
          </a:xfrm>
          <a:prstGeom prst="ellipse">
            <a:avLst/>
          </a:prstGeom>
          <a:solidFill>
            <a:srgbClr val="051C2C"/>
          </a:solidFill>
          <a:ln>
            <a:noFill/>
          </a:ln>
        </p:spPr>
      </p:sp>
      <p:pic>
        <p:nvPicPr>
          <p:cNvPr id="616" name="G"/>
          <p:cNvPicPr>
            <a:picLocks noChangeAspect="1"/>
          </p:cNvPicPr>
          <p:nvPr/>
        </p:nvPicPr>
        <p:blipFill>
          <a:blip r:embed="rIdM5"/>
          <a:stretch>
            <a:fillRect/>
          </a:stretch>
        </p:blipFill>
        <p:spPr>
          <a:xfrm>
            <a:off x="7615854" y="5146974"/>
            <a:ext cx="93634" cy="93634"/>
          </a:xfrm>
          <a:prstGeom prst="rect">
            <a:avLst/>
          </a:prstGeom>
        </p:spPr>
      </p:pic>
      <p:sp>
        <p:nvSpPr>
          <p:cNvPr id="617" name="K"/>
          <p:cNvSpPr/>
          <p:nvPr/>
        </p:nvSpPr>
        <p:spPr>
          <a:xfrm>
            <a:off x="7772400" y="5120640"/>
            <a:ext cx="146304" cy="146304"/>
          </a:xfrm>
          <a:prstGeom prst="ellipse">
            <a:avLst/>
          </a:prstGeom>
          <a:solidFill>
            <a:srgbClr val="2F6FB5"/>
          </a:solidFill>
          <a:ln>
            <a:noFill/>
          </a:ln>
        </p:spPr>
      </p:sp>
      <p:pic>
        <p:nvPicPr>
          <p:cNvPr id="618" name="G"/>
          <p:cNvPicPr>
            <a:picLocks noChangeAspect="1"/>
          </p:cNvPicPr>
          <p:nvPr/>
        </p:nvPicPr>
        <p:blipFill>
          <a:blip r:embed="rIdM16"/>
          <a:stretch>
            <a:fillRect/>
          </a:stretch>
        </p:blipFill>
        <p:spPr>
          <a:xfrm>
            <a:off x="7799832" y="5148072"/>
            <a:ext cx="91440" cy="91440"/>
          </a:xfrm>
          <a:prstGeom prst="rect">
            <a:avLst/>
          </a:prstGeom>
        </p:spPr>
      </p:pic>
      <p:sp>
        <p:nvSpPr>
          <p:cNvPr id="619" name="T"/>
          <p:cNvSpPr txBox="1"/>
          <p:nvPr/>
        </p:nvSpPr>
        <p:spPr>
          <a:xfrm>
            <a:off x="7971232" y="5102352"/>
            <a:ext cx="2286000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Sumatera Utara</a:t>
            </a:r>
            <a:r>
              <a:rPr lang="id-ID" sz="76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, Labuhanbatu</a:t>
            </a:r>
            <a:endParaRPr lang="id-ID" sz="760"/>
          </a:p>
        </p:txBody>
      </p:sp>
      <p:sp>
        <p:nvSpPr>
          <p:cNvPr id="620" name="K"/>
          <p:cNvSpPr/>
          <p:nvPr/>
        </p:nvSpPr>
        <p:spPr>
          <a:xfrm>
            <a:off x="10888242" y="5111496"/>
            <a:ext cx="571932" cy="164592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</p:spPr>
      </p:sp>
      <p:pic>
        <p:nvPicPr>
          <p:cNvPr id="621" name="G"/>
          <p:cNvPicPr>
            <a:picLocks noChangeAspect="1"/>
          </p:cNvPicPr>
          <p:nvPr/>
        </p:nvPicPr>
        <p:blipFill>
          <a:blip r:embed="rIdM11"/>
          <a:stretch>
            <a:fillRect/>
          </a:stretch>
        </p:blipFill>
        <p:spPr>
          <a:xfrm>
            <a:off x="10945849" y="5144414"/>
            <a:ext cx="98755" cy="98755"/>
          </a:xfrm>
          <a:prstGeom prst="rect">
            <a:avLst/>
          </a:prstGeom>
        </p:spPr>
      </p:pic>
      <p:sp>
        <p:nvSpPr>
          <p:cNvPr id="622" name="T"/>
          <p:cNvSpPr txBox="1"/>
          <p:nvPr/>
        </p:nvSpPr>
        <p:spPr>
          <a:xfrm>
            <a:off x="11044604" y="5111496"/>
            <a:ext cx="4155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5B7A99"/>
                </a:solidFill>
                <a:latin typeface="Roboto"/>
                <a:ea typeface="Roboto"/>
                <a:cs typeface="Roboto"/>
              </a:rPr>
              <a:t>±520 KK</a:t>
            </a:r>
            <a:endParaRPr lang="id-ID" sz="700"/>
          </a:p>
        </p:txBody>
      </p:sp>
      <p:sp>
        <p:nvSpPr>
          <p:cNvPr id="623" name="K"/>
          <p:cNvSpPr/>
          <p:nvPr/>
        </p:nvSpPr>
        <p:spPr>
          <a:xfrm>
            <a:off x="10131245" y="5111496"/>
            <a:ext cx="702132" cy="164592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</p:spPr>
      </p:sp>
      <p:pic>
        <p:nvPicPr>
          <p:cNvPr id="624" name="G"/>
          <p:cNvPicPr>
            <a:picLocks noChangeAspect="1"/>
          </p:cNvPicPr>
          <p:nvPr/>
        </p:nvPicPr>
        <p:blipFill>
          <a:blip r:embed="rIdM18"/>
          <a:stretch>
            <a:fillRect/>
          </a:stretch>
        </p:blipFill>
        <p:spPr>
          <a:xfrm>
            <a:off x="10188852" y="5144414"/>
            <a:ext cx="98755" cy="98755"/>
          </a:xfrm>
          <a:prstGeom prst="rect">
            <a:avLst/>
          </a:prstGeom>
        </p:spPr>
      </p:pic>
      <p:sp>
        <p:nvSpPr>
          <p:cNvPr id="625" name="T"/>
          <p:cNvSpPr txBox="1"/>
          <p:nvPr/>
        </p:nvSpPr>
        <p:spPr>
          <a:xfrm>
            <a:off x="10287607" y="5111496"/>
            <a:ext cx="5457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5B7A99"/>
                </a:solidFill>
                <a:latin typeface="Roboto"/>
                <a:ea typeface="Roboto"/>
                <a:cs typeface="Roboto"/>
              </a:rPr>
              <a:t>±520 rumah</a:t>
            </a:r>
            <a:endParaRPr lang="id-ID" sz="700"/>
          </a:p>
        </p:txBody>
      </p:sp>
      <p:sp>
        <p:nvSpPr>
          <p:cNvPr id="626" name="K"/>
          <p:cNvSpPr/>
          <p:nvPr/>
        </p:nvSpPr>
        <p:spPr>
          <a:xfrm>
            <a:off x="7589520" y="5330952"/>
            <a:ext cx="146304" cy="146304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627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615854" y="5357286"/>
            <a:ext cx="93634" cy="93634"/>
          </a:xfrm>
          <a:prstGeom prst="rect">
            <a:avLst/>
          </a:prstGeom>
        </p:spPr>
      </p:pic>
      <p:sp>
        <p:nvSpPr>
          <p:cNvPr id="628" name="K"/>
          <p:cNvSpPr/>
          <p:nvPr/>
        </p:nvSpPr>
        <p:spPr>
          <a:xfrm>
            <a:off x="7772400" y="5330952"/>
            <a:ext cx="146304" cy="146304"/>
          </a:xfrm>
          <a:prstGeom prst="ellipse">
            <a:avLst/>
          </a:prstGeom>
          <a:solidFill>
            <a:srgbClr val="2F6FB5"/>
          </a:solidFill>
          <a:ln>
            <a:noFill/>
          </a:ln>
        </p:spPr>
      </p:sp>
      <p:pic>
        <p:nvPicPr>
          <p:cNvPr id="629" name="G"/>
          <p:cNvPicPr>
            <a:picLocks noChangeAspect="1"/>
          </p:cNvPicPr>
          <p:nvPr/>
        </p:nvPicPr>
        <p:blipFill>
          <a:blip r:embed="rIdM16"/>
          <a:stretch>
            <a:fillRect/>
          </a:stretch>
        </p:blipFill>
        <p:spPr>
          <a:xfrm>
            <a:off x="7799832" y="5358384"/>
            <a:ext cx="91440" cy="91440"/>
          </a:xfrm>
          <a:prstGeom prst="rect">
            <a:avLst/>
          </a:prstGeom>
        </p:spPr>
      </p:pic>
      <p:sp>
        <p:nvSpPr>
          <p:cNvPr id="630" name="T"/>
          <p:cNvSpPr txBox="1"/>
          <p:nvPr/>
        </p:nvSpPr>
        <p:spPr>
          <a:xfrm>
            <a:off x="7971232" y="5312664"/>
            <a:ext cx="2286000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Sumatera Utara</a:t>
            </a:r>
            <a:r>
              <a:rPr lang="id-ID" sz="76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, Asahan</a:t>
            </a:r>
            <a:endParaRPr lang="id-ID" sz="760"/>
          </a:p>
        </p:txBody>
      </p:sp>
      <p:sp>
        <p:nvSpPr>
          <p:cNvPr id="631" name="K"/>
          <p:cNvSpPr/>
          <p:nvPr/>
        </p:nvSpPr>
        <p:spPr>
          <a:xfrm>
            <a:off x="10888242" y="5321808"/>
            <a:ext cx="571932" cy="164592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</p:spPr>
      </p:sp>
      <p:pic>
        <p:nvPicPr>
          <p:cNvPr id="632" name="G"/>
          <p:cNvPicPr>
            <a:picLocks noChangeAspect="1"/>
          </p:cNvPicPr>
          <p:nvPr/>
        </p:nvPicPr>
        <p:blipFill>
          <a:blip r:embed="rIdM11"/>
          <a:stretch>
            <a:fillRect/>
          </a:stretch>
        </p:blipFill>
        <p:spPr>
          <a:xfrm>
            <a:off x="10945849" y="5354726"/>
            <a:ext cx="98755" cy="98755"/>
          </a:xfrm>
          <a:prstGeom prst="rect">
            <a:avLst/>
          </a:prstGeom>
        </p:spPr>
      </p:pic>
      <p:sp>
        <p:nvSpPr>
          <p:cNvPr id="633" name="T"/>
          <p:cNvSpPr txBox="1"/>
          <p:nvPr/>
        </p:nvSpPr>
        <p:spPr>
          <a:xfrm>
            <a:off x="11044604" y="5321808"/>
            <a:ext cx="4155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5B7A99"/>
                </a:solidFill>
                <a:latin typeface="Roboto"/>
                <a:ea typeface="Roboto"/>
                <a:cs typeface="Roboto"/>
              </a:rPr>
              <a:t>±405 KK</a:t>
            </a:r>
            <a:endParaRPr lang="id-ID" sz="700"/>
          </a:p>
        </p:txBody>
      </p:sp>
      <p:sp>
        <p:nvSpPr>
          <p:cNvPr id="634" name="K"/>
          <p:cNvSpPr/>
          <p:nvPr/>
        </p:nvSpPr>
        <p:spPr>
          <a:xfrm>
            <a:off x="10131245" y="5321808"/>
            <a:ext cx="702132" cy="164592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</p:spPr>
      </p:sp>
      <p:pic>
        <p:nvPicPr>
          <p:cNvPr id="635" name="G"/>
          <p:cNvPicPr>
            <a:picLocks noChangeAspect="1"/>
          </p:cNvPicPr>
          <p:nvPr/>
        </p:nvPicPr>
        <p:blipFill>
          <a:blip r:embed="rIdM18"/>
          <a:stretch>
            <a:fillRect/>
          </a:stretch>
        </p:blipFill>
        <p:spPr>
          <a:xfrm>
            <a:off x="10188852" y="5354726"/>
            <a:ext cx="98755" cy="98755"/>
          </a:xfrm>
          <a:prstGeom prst="rect">
            <a:avLst/>
          </a:prstGeom>
        </p:spPr>
      </p:pic>
      <p:sp>
        <p:nvSpPr>
          <p:cNvPr id="636" name="T"/>
          <p:cNvSpPr txBox="1"/>
          <p:nvPr/>
        </p:nvSpPr>
        <p:spPr>
          <a:xfrm>
            <a:off x="10287607" y="5321808"/>
            <a:ext cx="5457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5B7A99"/>
                </a:solidFill>
                <a:latin typeface="Roboto"/>
                <a:ea typeface="Roboto"/>
                <a:cs typeface="Roboto"/>
              </a:rPr>
              <a:t>±405 rumah</a:t>
            </a:r>
            <a:endParaRPr lang="id-ID" sz="700"/>
          </a:p>
        </p:txBody>
      </p:sp>
      <p:sp>
        <p:nvSpPr>
          <p:cNvPr id="637" name="K"/>
          <p:cNvSpPr/>
          <p:nvPr/>
        </p:nvSpPr>
        <p:spPr>
          <a:xfrm>
            <a:off x="7589520" y="5541264"/>
            <a:ext cx="146304" cy="146304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638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615854" y="5567598"/>
            <a:ext cx="93634" cy="93634"/>
          </a:xfrm>
          <a:prstGeom prst="rect">
            <a:avLst/>
          </a:prstGeom>
        </p:spPr>
      </p:pic>
      <p:sp>
        <p:nvSpPr>
          <p:cNvPr id="639" name="K"/>
          <p:cNvSpPr/>
          <p:nvPr/>
        </p:nvSpPr>
        <p:spPr>
          <a:xfrm>
            <a:off x="7772400" y="5541264"/>
            <a:ext cx="146304" cy="146304"/>
          </a:xfrm>
          <a:prstGeom prst="ellipse">
            <a:avLst/>
          </a:prstGeom>
          <a:solidFill>
            <a:srgbClr val="2F6FB5"/>
          </a:solidFill>
          <a:ln>
            <a:noFill/>
          </a:ln>
        </p:spPr>
      </p:sp>
      <p:pic>
        <p:nvPicPr>
          <p:cNvPr id="640" name="G"/>
          <p:cNvPicPr>
            <a:picLocks noChangeAspect="1"/>
          </p:cNvPicPr>
          <p:nvPr/>
        </p:nvPicPr>
        <p:blipFill>
          <a:blip r:embed="rIdM16"/>
          <a:stretch>
            <a:fillRect/>
          </a:stretch>
        </p:blipFill>
        <p:spPr>
          <a:xfrm>
            <a:off x="7799832" y="5568696"/>
            <a:ext cx="91440" cy="91440"/>
          </a:xfrm>
          <a:prstGeom prst="rect">
            <a:avLst/>
          </a:prstGeom>
        </p:spPr>
      </p:pic>
      <p:sp>
        <p:nvSpPr>
          <p:cNvPr id="641" name="T"/>
          <p:cNvSpPr txBox="1"/>
          <p:nvPr/>
        </p:nvSpPr>
        <p:spPr>
          <a:xfrm>
            <a:off x="7971232" y="5522976"/>
            <a:ext cx="2286000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Sumatera Utara</a:t>
            </a:r>
            <a:r>
              <a:rPr lang="id-ID" sz="76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, Deli Serdang</a:t>
            </a:r>
            <a:endParaRPr lang="id-ID" sz="760"/>
          </a:p>
        </p:txBody>
      </p:sp>
      <p:sp>
        <p:nvSpPr>
          <p:cNvPr id="642" name="K"/>
          <p:cNvSpPr/>
          <p:nvPr/>
        </p:nvSpPr>
        <p:spPr>
          <a:xfrm>
            <a:off x="10888242" y="5532120"/>
            <a:ext cx="571932" cy="164592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</p:spPr>
      </p:sp>
      <p:pic>
        <p:nvPicPr>
          <p:cNvPr id="643" name="G"/>
          <p:cNvPicPr>
            <a:picLocks noChangeAspect="1"/>
          </p:cNvPicPr>
          <p:nvPr/>
        </p:nvPicPr>
        <p:blipFill>
          <a:blip r:embed="rIdM11"/>
          <a:stretch>
            <a:fillRect/>
          </a:stretch>
        </p:blipFill>
        <p:spPr>
          <a:xfrm>
            <a:off x="10945849" y="5565038"/>
            <a:ext cx="98755" cy="98755"/>
          </a:xfrm>
          <a:prstGeom prst="rect">
            <a:avLst/>
          </a:prstGeom>
        </p:spPr>
      </p:pic>
      <p:sp>
        <p:nvSpPr>
          <p:cNvPr id="644" name="T"/>
          <p:cNvSpPr txBox="1"/>
          <p:nvPr/>
        </p:nvSpPr>
        <p:spPr>
          <a:xfrm>
            <a:off x="11044604" y="5532120"/>
            <a:ext cx="4155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5B7A99"/>
                </a:solidFill>
                <a:latin typeface="Roboto"/>
                <a:ea typeface="Roboto"/>
                <a:cs typeface="Roboto"/>
              </a:rPr>
              <a:t>±146 KK</a:t>
            </a:r>
            <a:endParaRPr lang="id-ID" sz="700"/>
          </a:p>
        </p:txBody>
      </p:sp>
      <p:sp>
        <p:nvSpPr>
          <p:cNvPr id="645" name="K"/>
          <p:cNvSpPr/>
          <p:nvPr/>
        </p:nvSpPr>
        <p:spPr>
          <a:xfrm>
            <a:off x="7589520" y="5751576"/>
            <a:ext cx="146304" cy="146304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646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615854" y="5777910"/>
            <a:ext cx="93634" cy="93634"/>
          </a:xfrm>
          <a:prstGeom prst="rect">
            <a:avLst/>
          </a:prstGeom>
        </p:spPr>
      </p:pic>
      <p:sp>
        <p:nvSpPr>
          <p:cNvPr id="647" name="K"/>
          <p:cNvSpPr/>
          <p:nvPr/>
        </p:nvSpPr>
        <p:spPr>
          <a:xfrm>
            <a:off x="7772400" y="5751576"/>
            <a:ext cx="146304" cy="146304"/>
          </a:xfrm>
          <a:prstGeom prst="ellipse">
            <a:avLst/>
          </a:prstGeom>
          <a:solidFill>
            <a:srgbClr val="0E7490"/>
          </a:solidFill>
          <a:ln>
            <a:noFill/>
          </a:ln>
        </p:spPr>
      </p:sp>
      <p:pic>
        <p:nvPicPr>
          <p:cNvPr id="648" name="G"/>
          <p:cNvPicPr>
            <a:picLocks noChangeAspect="1"/>
          </p:cNvPicPr>
          <p:nvPr/>
        </p:nvPicPr>
        <p:blipFill>
          <a:blip r:embed="rIdM19"/>
          <a:stretch>
            <a:fillRect/>
          </a:stretch>
        </p:blipFill>
        <p:spPr>
          <a:xfrm>
            <a:off x="7799832" y="5779008"/>
            <a:ext cx="91440" cy="91440"/>
          </a:xfrm>
          <a:prstGeom prst="rect">
            <a:avLst/>
          </a:prstGeom>
        </p:spPr>
      </p:pic>
      <p:sp>
        <p:nvSpPr>
          <p:cNvPr id="649" name="T"/>
          <p:cNvSpPr txBox="1"/>
          <p:nvPr/>
        </p:nvSpPr>
        <p:spPr>
          <a:xfrm>
            <a:off x="7971232" y="5733288"/>
            <a:ext cx="2286000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Kalimantan Selatan</a:t>
            </a:r>
            <a:r>
              <a:rPr lang="id-ID" sz="76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, Banjar</a:t>
            </a:r>
            <a:endParaRPr lang="id-ID" sz="760"/>
          </a:p>
        </p:txBody>
      </p:sp>
      <p:sp>
        <p:nvSpPr>
          <p:cNvPr id="650" name="K"/>
          <p:cNvSpPr/>
          <p:nvPr/>
        </p:nvSpPr>
        <p:spPr>
          <a:xfrm>
            <a:off x="10758042" y="5742432"/>
            <a:ext cx="702132" cy="164592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651" name="G"/>
          <p:cNvPicPr>
            <a:picLocks noChangeAspect="1"/>
          </p:cNvPicPr>
          <p:nvPr/>
        </p:nvPicPr>
        <p:blipFill>
          <a:blip r:embed="rIdM21"/>
          <a:stretch>
            <a:fillRect/>
          </a:stretch>
        </p:blipFill>
        <p:spPr>
          <a:xfrm>
            <a:off x="10815649" y="5775350"/>
            <a:ext cx="98755" cy="98755"/>
          </a:xfrm>
          <a:prstGeom prst="rect">
            <a:avLst/>
          </a:prstGeom>
        </p:spPr>
      </p:pic>
      <p:sp>
        <p:nvSpPr>
          <p:cNvPr id="652" name="T"/>
          <p:cNvSpPr txBox="1"/>
          <p:nvPr/>
        </p:nvSpPr>
        <p:spPr>
          <a:xfrm>
            <a:off x="10914404" y="5742432"/>
            <a:ext cx="5457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penanganan</a:t>
            </a:r>
            <a:endParaRPr lang="id-ID" sz="700"/>
          </a:p>
        </p:txBody>
      </p:sp>
      <p:sp>
        <p:nvSpPr>
          <p:cNvPr id="653" name="K"/>
          <p:cNvSpPr/>
          <p:nvPr/>
        </p:nvSpPr>
        <p:spPr>
          <a:xfrm>
            <a:off x="10174645" y="5742432"/>
            <a:ext cx="528532" cy="164592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</p:spPr>
      </p:sp>
      <p:pic>
        <p:nvPicPr>
          <p:cNvPr id="654" name="G"/>
          <p:cNvPicPr>
            <a:picLocks noChangeAspect="1"/>
          </p:cNvPicPr>
          <p:nvPr/>
        </p:nvPicPr>
        <p:blipFill>
          <a:blip r:embed="rIdM11"/>
          <a:stretch>
            <a:fillRect/>
          </a:stretch>
        </p:blipFill>
        <p:spPr>
          <a:xfrm>
            <a:off x="10232252" y="5775350"/>
            <a:ext cx="98755" cy="98755"/>
          </a:xfrm>
          <a:prstGeom prst="rect">
            <a:avLst/>
          </a:prstGeom>
        </p:spPr>
      </p:pic>
      <p:sp>
        <p:nvSpPr>
          <p:cNvPr id="655" name="T"/>
          <p:cNvSpPr txBox="1"/>
          <p:nvPr/>
        </p:nvSpPr>
        <p:spPr>
          <a:xfrm>
            <a:off x="10331007" y="5742432"/>
            <a:ext cx="3721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±35 KK</a:t>
            </a:r>
            <a:endParaRPr lang="id-ID" sz="700"/>
          </a:p>
        </p:txBody>
      </p:sp>
      <p:sp>
        <p:nvSpPr>
          <p:cNvPr id="783" name="K"/>
          <p:cNvSpPr/>
          <p:nvPr/>
        </p:nvSpPr>
        <p:spPr>
          <a:xfrm>
            <a:off x="7406640" y="6080760"/>
            <a:ext cx="4236415" cy="274320"/>
          </a:xfrm>
          <a:prstGeom prst="roundRect">
            <a:avLst>
              <a:gd name="adj" fmla="val 30000"/>
            </a:avLst>
          </a:prstGeom>
          <a:solidFill>
            <a:srgbClr val="F7F8FA"/>
          </a:solidFill>
          <a:ln>
            <a:noFill/>
          </a:ln>
        </p:spPr>
      </p:sp>
      <p:sp>
        <p:nvSpPr>
          <p:cNvPr id="784" name="T"/>
          <p:cNvSpPr txBox="1"/>
          <p:nvPr/>
        </p:nvSpPr>
        <p:spPr>
          <a:xfrm>
            <a:off x="7974025" y="6080760"/>
            <a:ext cx="8686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00" b="1" spc="10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KETERANGAN</a:t>
            </a:r>
            <a:endParaRPr lang="id-ID" sz="680"/>
          </a:p>
        </p:txBody>
      </p:sp>
      <p:sp>
        <p:nvSpPr>
          <p:cNvPr id="785" name="K"/>
          <p:cNvSpPr/>
          <p:nvPr/>
        </p:nvSpPr>
        <p:spPr>
          <a:xfrm>
            <a:off x="9117025" y="6140196"/>
            <a:ext cx="155448" cy="155448"/>
          </a:xfrm>
          <a:prstGeom prst="ellipse">
            <a:avLst/>
          </a:prstGeom>
          <a:solidFill>
            <a:srgbClr val="051C2C"/>
          </a:solidFill>
          <a:ln>
            <a:noFill/>
          </a:ln>
        </p:spPr>
      </p:sp>
      <p:pic>
        <p:nvPicPr>
          <p:cNvPr id="786" name="G"/>
          <p:cNvPicPr>
            <a:picLocks noChangeAspect="1"/>
          </p:cNvPicPr>
          <p:nvPr/>
        </p:nvPicPr>
        <p:blipFill>
          <a:blip r:embed="rIdM5"/>
          <a:stretch>
            <a:fillRect/>
          </a:stretch>
        </p:blipFill>
        <p:spPr>
          <a:xfrm>
            <a:off x="9149029" y="6172200"/>
            <a:ext cx="91440" cy="91440"/>
          </a:xfrm>
          <a:prstGeom prst="rect">
            <a:avLst/>
          </a:prstGeom>
        </p:spPr>
      </p:pic>
      <p:sp>
        <p:nvSpPr>
          <p:cNvPr id="787" name="T"/>
          <p:cNvSpPr txBox="1"/>
          <p:nvPr/>
        </p:nvSpPr>
        <p:spPr>
          <a:xfrm>
            <a:off x="9327337" y="6080760"/>
            <a:ext cx="106436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selesai</a:t>
            </a:r>
            <a:endParaRPr lang="id-ID" sz="750"/>
          </a:p>
        </p:txBody>
      </p:sp>
      <p:sp>
        <p:nvSpPr>
          <p:cNvPr id="788" name="K"/>
          <p:cNvSpPr/>
          <p:nvPr/>
        </p:nvSpPr>
        <p:spPr>
          <a:xfrm>
            <a:off x="10011308" y="6140196"/>
            <a:ext cx="155448" cy="155448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789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10043312" y="6172200"/>
            <a:ext cx="91440" cy="91440"/>
          </a:xfrm>
          <a:prstGeom prst="rect">
            <a:avLst/>
          </a:prstGeom>
        </p:spPr>
      </p:pic>
      <p:sp>
        <p:nvSpPr>
          <p:cNvPr id="790" name="T"/>
          <p:cNvSpPr txBox="1"/>
          <p:nvPr/>
        </p:nvSpPr>
        <p:spPr>
          <a:xfrm>
            <a:off x="10221620" y="6080760"/>
            <a:ext cx="106436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dalam penanganan</a:t>
            </a:r>
            <a:endParaRPr lang="id-ID" sz="75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502920"/>
            <a:ext cx="1005840" cy="1005840"/>
          </a:xfrm>
          <a:prstGeom prst="ellipse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143" y="663854"/>
            <a:ext cx="542834" cy="683971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246888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Terima kasih</a:t>
            </a:r>
            <a:endParaRPr lang="en-US" sz="5400" dirty="0"/>
          </a:p>
        </p:txBody>
      </p:sp>
      <p:sp>
        <p:nvSpPr>
          <p:cNvPr id="6" name="Shape 2"/>
          <p:cNvSpPr/>
          <p:nvPr/>
        </p:nvSpPr>
        <p:spPr>
          <a:xfrm>
            <a:off x="548640" y="3657600"/>
            <a:ext cx="4754880" cy="0"/>
          </a:xfrm>
          <a:prstGeom prst="line">
            <a:avLst/>
          </a:prstGeom>
          <a:noFill/>
          <a:ln w="25400">
            <a:solidFill>
              <a:srgbClr val="F28C28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548640" y="3840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Badan Nasional Penanggulangan Bencana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2519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D1E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Laporan Kejadian Bencana Harian, 27–28 Oktober 2026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7985455" y="6565392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C9D1E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Foto: DenY Krisbiyantoro, CC BY-SA 4.0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Robot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Robot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Badan Nasional Penanggulangan Bencana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Paparan Kepala BNPB kepada Presiden: Karhutla 6 Provinsi Prioritas</dc:title>
  <dc:subject>PptxGenJS Presentation</dc:subject>
  <dc:creator>BNPB</dc:creator>
  <cp:lastModifiedBy>BNPB</cp:lastModifiedBy>
  <cp:revision>1</cp:revision>
  <dcterms:created xsi:type="dcterms:W3CDTF">2026-10-22T07:37:45Z</dcterms:created>
  <dcterms:modified xsi:type="dcterms:W3CDTF">2026-10-22T07:37:45Z</dcterms:modified>
</cp:coreProperties>
</file>