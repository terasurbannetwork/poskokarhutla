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17.png"/><Relationship Id="rId14" Type="http://schemas.openxmlformats.org/officeDocument/2006/relationships/image" Target="../media/image28.png"/><Relationship Id="rId15" Type="http://schemas.openxmlformats.org/officeDocument/2006/relationships/image" Target="../media/image29.png"/><Relationship Id="rId16" Type="http://schemas.openxmlformats.org/officeDocument/2006/relationships/image" Target="../media/image30.png"/><Relationship Id="rId17" Type="http://schemas.openxmlformats.org/officeDocument/2006/relationships/image" Target="../media/image31.png"/><Relationship Id="rId18" Type="http://schemas.openxmlformats.org/officeDocument/2006/relationships/image" Target="../media/image32.png"/><Relationship Id="rId19" Type="http://schemas.openxmlformats.org/officeDocument/2006/relationships/image" Target="../media/image33.png"/><Relationship Id="rId20" Type="http://schemas.openxmlformats.org/officeDocument/2006/relationships/image" Target="../media/image34.png"/><Relationship Id="rId21" Type="http://schemas.openxmlformats.org/officeDocument/2006/relationships/image" Target="../media/image35.png"/><Relationship Id="rId22" Type="http://schemas.openxmlformats.org/officeDocument/2006/relationships/image" Target="../media/image13.png"/><Relationship Id="rId23" Type="http://schemas.openxmlformats.org/officeDocument/2006/relationships/image" Target="../media/image36.png"/><Relationship Id="rId24" Type="http://schemas.openxmlformats.org/officeDocument/2006/relationships/image" Target="../media/image3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38.png"/><Relationship Id="rId11" Type="http://schemas.openxmlformats.org/officeDocument/2006/relationships/image" Target="../media/image39.png"/><Relationship Id="rId12" Type="http://schemas.openxmlformats.org/officeDocument/2006/relationships/image" Target="../media/image15.png"/><Relationship Id="rId13" Type="http://schemas.openxmlformats.org/officeDocument/2006/relationships/image" Target="../media/image17.png"/><Relationship Id="rId14" Type="http://schemas.openxmlformats.org/officeDocument/2006/relationships/image" Target="../media/image40.png"/><Relationship Id="rId15" Type="http://schemas.openxmlformats.org/officeDocument/2006/relationships/image" Target="../media/image41.png"/><Relationship Id="rId16" Type="http://schemas.openxmlformats.org/officeDocument/2006/relationships/image" Target="../media/image14.png"/><Relationship Id="rId17" Type="http://schemas.openxmlformats.org/officeDocument/2006/relationships/image" Target="../media/image42.png"/><Relationship Id="rId18" Type="http://schemas.openxmlformats.org/officeDocument/2006/relationships/image" Target="../media/image21.png"/><Relationship Id="rId19" Type="http://schemas.openxmlformats.org/officeDocument/2006/relationships/image" Target="../media/image43.png"/><Relationship Id="rId20" Type="http://schemas.openxmlformats.org/officeDocument/2006/relationships/image" Target="../media/image20.png"/><Relationship Id="rId21" Type="http://schemas.openxmlformats.org/officeDocument/2006/relationships/image" Target="../media/image4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1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32.png"/><Relationship Id="rId7" Type="http://schemas.openxmlformats.org/officeDocument/2006/relationships/image" Target="../media/image36.png"/><Relationship Id="rId8" Type="http://schemas.openxmlformats.org/officeDocument/2006/relationships/image" Target="../media/image7.png"/><Relationship Id="rId9" Type="http://schemas.openxmlformats.org/officeDocument/2006/relationships/image" Target="../media/image47.png"/><Relationship Id="rId10" Type="http://schemas.openxmlformats.org/officeDocument/2006/relationships/image" Target="../media/image48.png"/><Relationship Id="rId11" Type="http://schemas.openxmlformats.org/officeDocument/2006/relationships/image" Target="../media/image49.png"/><Relationship Id="rId12" Type="http://schemas.openxmlformats.org/officeDocument/2006/relationships/image" Target="../media/image50.png"/><Relationship Id="rId13" Type="http://schemas.openxmlformats.org/officeDocument/2006/relationships/image" Target="../media/image30.png"/><Relationship Id="rId14" Type="http://schemas.openxmlformats.org/officeDocument/2006/relationships/image" Target="../media/image23.png"/><Relationship Id="rId15" Type="http://schemas.openxmlformats.org/officeDocument/2006/relationships/image" Target="../media/image51.png"/><Relationship Id="rId16" Type="http://schemas.openxmlformats.org/officeDocument/2006/relationships/image" Target="../media/image52.png"/><Relationship Id="rId17" Type="http://schemas.openxmlformats.org/officeDocument/2006/relationships/image" Target="../media/image20.png"/><Relationship Id="rId18" Type="http://schemas.openxmlformats.org/officeDocument/2006/relationships/image" Target="../media/image53.png"/><Relationship Id="rId19" Type="http://schemas.openxmlformats.org/officeDocument/2006/relationships/image" Target="../media/image54.png"/><Relationship Id="rId20" Type="http://schemas.openxmlformats.org/officeDocument/2006/relationships/image" Target="../media/image55.png"/><Relationship Id="rId21" Type="http://schemas.openxmlformats.org/officeDocument/2006/relationships/image" Target="../media/image56.png"/><Relationship Id="rId22" Type="http://schemas.openxmlformats.org/officeDocument/2006/relationships/image" Target="../media/image57.png"/><Relationship Id="rId23" Type="http://schemas.openxmlformats.org/officeDocument/2006/relationships/image" Target="../media/image58.png"/><Relationship Id="rId24" Type="http://schemas.openxmlformats.org/officeDocument/2006/relationships/image" Target="../media/image18.png"/><Relationship Id="rId25" Type="http://schemas.openxmlformats.org/officeDocument/2006/relationships/image" Target="../media/image31.png"/><Relationship Id="rId26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6100" y="304800"/>
            <a:ext cx="8255000" cy="50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51C2C"/>
                </a:solidFill>
                <a:latin typeface="Roboto"/>
              </a:rPr>
              <a:t>Sebaran Titik Panas dan Kebakaran di </a:t>
            </a:r>
            <a:r>
              <a:rPr sz="2200" b="1">
                <a:solidFill>
                  <a:srgbClr val="D9600B"/>
                </a:solidFill>
                <a:latin typeface="Roboto"/>
              </a:rPr>
              <a:t>Jambi</a:t>
            </a:r>
            <a:r>
              <a:rPr sz="2200" b="1">
                <a:solidFill>
                  <a:srgbClr val="051C2C"/>
                </a:solidFill>
                <a:latin typeface="Roboto"/>
              </a:rPr>
              <a:t> per 25 Oktober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406400"/>
            <a:ext cx="2362200" cy="2159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kalender-puti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0800" y="450850"/>
            <a:ext cx="127000" cy="12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31300" y="406400"/>
            <a:ext cx="889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80" b="1" spc="120">
                <a:solidFill>
                  <a:srgbClr val="C9D1E3"/>
                </a:solidFill>
                <a:latin typeface="Roboto"/>
              </a:rPr>
              <a:t>CUT OFF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0" y="406400"/>
            <a:ext cx="12192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60" b="1">
                <a:solidFill>
                  <a:srgbClr val="FFFFFF"/>
                </a:solidFill>
                <a:latin typeface="Roboto"/>
              </a:rPr>
              <a:t>25 Okt 2026, 06.00 WIB</a:t>
            </a:r>
          </a:p>
        </p:txBody>
      </p:sp>
      <p:pic>
        <p:nvPicPr>
          <p:cNvPr id="7" name="Picture 6" descr="logo_bnp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546100" y="901700"/>
            <a:ext cx="11099800" cy="0"/>
          </a:xfrm>
          <a:prstGeom prst="line">
            <a:avLst/>
          </a:prstGeom>
          <a:ln w="1143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6100" y="6451600"/>
            <a:ext cx="11099800" cy="0"/>
          </a:xfrm>
          <a:prstGeom prst="line">
            <a:avLst/>
          </a:prstGeom>
          <a:ln w="1143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6100" y="6502400"/>
            <a:ext cx="5486400" cy="200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F2937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720" y="6502400"/>
            <a:ext cx="548640" cy="200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19" b="1">
                <a:solidFill>
                  <a:srgbClr val="1F2937"/>
                </a:solidFill>
                <a:latin typeface="Roboto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6100" y="1028700"/>
            <a:ext cx="7175500" cy="990600"/>
          </a:xfrm>
          <a:prstGeom prst="roundRect">
            <a:avLst>
              <a:gd name="adj" fmla="val 10256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60400" y="1104900"/>
            <a:ext cx="1127760" cy="1778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api-puti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" y="1143000"/>
            <a:ext cx="101600" cy="101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01700" y="1104900"/>
            <a:ext cx="87376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20" b="1" spc="120">
                <a:solidFill>
                  <a:srgbClr val="FFFFFF"/>
                </a:solidFill>
                <a:latin typeface="Roboto"/>
              </a:rPr>
              <a:t>DATA SATELIT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0400" y="1358900"/>
            <a:ext cx="2247900" cy="54610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774700" y="1479550"/>
            <a:ext cx="304800" cy="304800"/>
          </a:xfrm>
          <a:prstGeom prst="ellipse">
            <a:avLst/>
          </a:prstGeom>
          <a:solidFill>
            <a:srgbClr val="FB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api-orany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543050"/>
            <a:ext cx="177800" cy="177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81100" y="1384300"/>
            <a:ext cx="1663700" cy="2730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700" b="1">
                <a:solidFill>
                  <a:srgbClr val="D9600B"/>
                </a:solidFill>
                <a:latin typeface="Roboto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1100" y="1648333"/>
            <a:ext cx="1663700" cy="2457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40" b="0">
                <a:solidFill>
                  <a:srgbClr val="374151"/>
                </a:solidFill>
                <a:latin typeface="Roboto"/>
              </a:rPr>
              <a:t>titik panas 25 Okt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09900" y="1358900"/>
            <a:ext cx="2247900" cy="54610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3124200" y="1479550"/>
            <a:ext cx="304800" cy="304800"/>
          </a:xfrm>
          <a:prstGeom prst="ellipse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grid-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7700" y="1543050"/>
            <a:ext cx="177800" cy="177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530600" y="1384300"/>
            <a:ext cx="1663700" cy="2730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700" b="1">
                <a:solidFill>
                  <a:srgbClr val="051C2C"/>
                </a:solidFill>
                <a:latin typeface="Roboto"/>
              </a:rPr>
              <a:t>124 ha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30600" y="1648333"/>
            <a:ext cx="1663700" cy="2457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40" b="0">
                <a:solidFill>
                  <a:srgbClr val="374151"/>
                </a:solidFill>
                <a:latin typeface="Roboto"/>
              </a:rPr>
              <a:t>luas terbakar 25 Okt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59400" y="1358900"/>
            <a:ext cx="2260600" cy="54610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5473700" y="1479550"/>
            <a:ext cx="304800" cy="304800"/>
          </a:xfrm>
          <a:prstGeom prst="ellipse">
            <a:avLst/>
          </a:prstGeom>
          <a:solidFill>
            <a:srgbClr val="F8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awas-mera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7200" y="1543050"/>
            <a:ext cx="177800" cy="1778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880100" y="1384300"/>
            <a:ext cx="1676400" cy="2730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700" b="1">
                <a:solidFill>
                  <a:srgbClr val="C8102E"/>
                </a:solidFill>
                <a:latin typeface="Roboto"/>
              </a:rPr>
              <a:t>99 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80100" y="1648333"/>
            <a:ext cx="1676400" cy="2457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40" b="0">
                <a:solidFill>
                  <a:srgbClr val="374151"/>
                </a:solidFill>
                <a:latin typeface="Roboto"/>
              </a:rPr>
              <a:t>belum padam 25 Okt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01000" y="1028700"/>
            <a:ext cx="3644900" cy="990600"/>
          </a:xfrm>
          <a:prstGeom prst="roundRect">
            <a:avLst>
              <a:gd name="adj" fmla="val 10256"/>
            </a:avLst>
          </a:prstGeom>
          <a:solidFill>
            <a:srgbClr val="FB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8115300" y="1104900"/>
            <a:ext cx="1314450" cy="17780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3" name="Picture 32" descr="awas-puti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4200" y="1143000"/>
            <a:ext cx="101600" cy="1016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356600" y="1104900"/>
            <a:ext cx="106045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20" b="1" spc="120">
                <a:solidFill>
                  <a:srgbClr val="FFFFFF"/>
                </a:solidFill>
                <a:latin typeface="Roboto"/>
              </a:rPr>
              <a:t>PERLU PERHATIAN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358900"/>
            <a:ext cx="1676400" cy="54610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8216900" y="1479550"/>
            <a:ext cx="304800" cy="304800"/>
          </a:xfrm>
          <a:prstGeom prst="ellipse">
            <a:avLst/>
          </a:prstGeom>
          <a:solidFill>
            <a:srgbClr val="F8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7" name="Picture 36" descr="api-mera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0400" y="1543050"/>
            <a:ext cx="177800" cy="177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623300" y="1384300"/>
            <a:ext cx="1092200" cy="2730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700" b="1">
                <a:solidFill>
                  <a:srgbClr val="C8102E"/>
                </a:solidFill>
                <a:latin typeface="Roboto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23300" y="1648333"/>
            <a:ext cx="1092200" cy="2457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40" b="0">
                <a:solidFill>
                  <a:srgbClr val="374151"/>
                </a:solidFill>
                <a:latin typeface="Roboto"/>
              </a:rPr>
              <a:t>kompleks api siaga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67900" y="1358900"/>
            <a:ext cx="1676400" cy="54610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9982200" y="1479550"/>
            <a:ext cx="304800" cy="304800"/>
          </a:xfrm>
          <a:prstGeom prst="ellipse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2" name="Picture 41" descr="asap-sla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45700" y="1543050"/>
            <a:ext cx="177800" cy="1778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388600" y="1384300"/>
            <a:ext cx="1092200" cy="2730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1">
                <a:solidFill>
                  <a:srgbClr val="051C2C"/>
                </a:solidFill>
                <a:latin typeface="Roboto"/>
              </a:rPr>
              <a:t>PM2.5 166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88600" y="1648333"/>
            <a:ext cx="1092200" cy="2457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20" b="0">
                <a:solidFill>
                  <a:srgbClr val="374151"/>
                </a:solidFill>
                <a:latin typeface="Roboto"/>
              </a:rPr>
              <a:t>sangat tidak sehat, Tanjab Timur, prakiraan 25 Okt</a:t>
            </a:r>
          </a:p>
        </p:txBody>
      </p:sp>
      <p:pic>
        <p:nvPicPr>
          <p:cNvPr id="45" name="Picture 44" descr="peta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6100" y="2184400"/>
            <a:ext cx="4318000" cy="2589588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571500" y="4824788"/>
            <a:ext cx="1480820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8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596900" y="4843838"/>
            <a:ext cx="114300" cy="114300"/>
          </a:xfrm>
          <a:prstGeom prst="ellipse">
            <a:avLst/>
          </a:prstGeom>
          <a:solidFill>
            <a:srgbClr val="C05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596900" y="4843838"/>
            <a:ext cx="114300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6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300" y="4824788"/>
            <a:ext cx="127762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051C2C"/>
                </a:solidFill>
                <a:latin typeface="Roboto"/>
              </a:rPr>
              <a:t>Sadu, Tanjab Timur  </a:t>
            </a:r>
            <a:r>
              <a:rPr sz="600" b="1">
                <a:solidFill>
                  <a:srgbClr val="D9600B"/>
                </a:solidFill>
                <a:latin typeface="Roboto"/>
              </a:rPr>
              <a:t>43 titik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115820" y="4824788"/>
            <a:ext cx="1524635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8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2141220" y="4843838"/>
            <a:ext cx="114300" cy="114300"/>
          </a:xfrm>
          <a:prstGeom prst="ellipse">
            <a:avLst/>
          </a:prstGeom>
          <a:solidFill>
            <a:srgbClr val="C05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2141220" y="4843838"/>
            <a:ext cx="114300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6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93620" y="4824788"/>
            <a:ext cx="132143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051C2C"/>
                </a:solidFill>
                <a:latin typeface="Roboto"/>
              </a:rPr>
              <a:t>Kumpeh, Muaro Jambi  </a:t>
            </a:r>
            <a:r>
              <a:rPr sz="600" b="1">
                <a:solidFill>
                  <a:srgbClr val="D9600B"/>
                </a:solidFill>
                <a:latin typeface="Roboto"/>
              </a:rPr>
              <a:t>14 titik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703954" y="4824788"/>
            <a:ext cx="1527810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8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3729354" y="4843838"/>
            <a:ext cx="114300" cy="114300"/>
          </a:xfrm>
          <a:prstGeom prst="ellipse">
            <a:avLst/>
          </a:prstGeom>
          <a:solidFill>
            <a:srgbClr val="C05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3729354" y="4843838"/>
            <a:ext cx="114300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6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81754" y="4824788"/>
            <a:ext cx="132461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051C2C"/>
                </a:solidFill>
                <a:latin typeface="Roboto"/>
              </a:rPr>
              <a:t>Berbak, Tanjab Timur  </a:t>
            </a:r>
            <a:r>
              <a:rPr sz="600" b="1">
                <a:solidFill>
                  <a:srgbClr val="D9600B"/>
                </a:solidFill>
                <a:latin typeface="Roboto"/>
              </a:rPr>
              <a:t>5 titik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4200" y="2159000"/>
            <a:ext cx="2540000" cy="12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>
                <a:solidFill>
                  <a:srgbClr val="6B7280"/>
                </a:solidFill>
                <a:latin typeface="Roboto"/>
              </a:rPr>
              <a:t>Titik panas 24 jam s.d. cut off; angka = 3 kecamatan teratas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4200" y="49911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80" b="1">
                <a:solidFill>
                  <a:srgbClr val="374151"/>
                </a:solidFill>
                <a:latin typeface="Roboto"/>
              </a:rPr>
              <a:t>193 CLUSTER 19–25 OKT</a:t>
            </a:r>
          </a:p>
        </p:txBody>
      </p:sp>
      <p:sp>
        <p:nvSpPr>
          <p:cNvPr id="60" name="Oval 59"/>
          <p:cNvSpPr/>
          <p:nvPr/>
        </p:nvSpPr>
        <p:spPr>
          <a:xfrm>
            <a:off x="2032000" y="5022850"/>
            <a:ext cx="88900" cy="889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2159000" y="4991100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80" b="1">
                <a:solidFill>
                  <a:srgbClr val="C8102E"/>
                </a:solidFill>
                <a:latin typeface="Roboto"/>
              </a:rPr>
              <a:t>Prioritas 0</a:t>
            </a:r>
          </a:p>
        </p:txBody>
      </p:sp>
      <p:sp>
        <p:nvSpPr>
          <p:cNvPr id="62" name="Oval 61"/>
          <p:cNvSpPr/>
          <p:nvPr/>
        </p:nvSpPr>
        <p:spPr>
          <a:xfrm>
            <a:off x="2828290" y="5022850"/>
            <a:ext cx="88900" cy="88900"/>
          </a:xfrm>
          <a:prstGeom prst="ellipse">
            <a:avLst/>
          </a:prstGeom>
          <a:solidFill>
            <a:srgbClr val="E58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2955290" y="4991100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80" b="0">
                <a:solidFill>
                  <a:srgbClr val="374151"/>
                </a:solidFill>
                <a:latin typeface="Roboto"/>
              </a:rPr>
              <a:t>Siaga 4</a:t>
            </a:r>
          </a:p>
        </p:txBody>
      </p:sp>
      <p:sp>
        <p:nvSpPr>
          <p:cNvPr id="64" name="Oval 63"/>
          <p:cNvSpPr/>
          <p:nvPr/>
        </p:nvSpPr>
        <p:spPr>
          <a:xfrm>
            <a:off x="3436620" y="5022850"/>
            <a:ext cx="88900" cy="88900"/>
          </a:xfrm>
          <a:prstGeom prst="ellipse">
            <a:avLst/>
          </a:prstGeom>
          <a:solidFill>
            <a:srgbClr val="F4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563620" y="4991100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80" b="0">
                <a:solidFill>
                  <a:srgbClr val="374151"/>
                </a:solidFill>
                <a:latin typeface="Roboto"/>
              </a:rPr>
              <a:t>Patroli 66</a:t>
            </a:r>
          </a:p>
        </p:txBody>
      </p:sp>
      <p:sp>
        <p:nvSpPr>
          <p:cNvPr id="66" name="Oval 65"/>
          <p:cNvSpPr/>
          <p:nvPr/>
        </p:nvSpPr>
        <p:spPr>
          <a:xfrm>
            <a:off x="4185920" y="5022850"/>
            <a:ext cx="88900" cy="88900"/>
          </a:xfrm>
          <a:prstGeom prst="ellipse">
            <a:avLst/>
          </a:prstGeom>
          <a:solidFill>
            <a:srgbClr val="A9B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4312920" y="4991100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80" b="0">
                <a:solidFill>
                  <a:srgbClr val="374151"/>
                </a:solidFill>
                <a:latin typeface="Roboto"/>
              </a:rPr>
              <a:t>Rutin 123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80000" y="2120900"/>
            <a:ext cx="1016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40" b="1" spc="120">
                <a:solidFill>
                  <a:srgbClr val="6B7280"/>
                </a:solidFill>
                <a:latin typeface="Roboto"/>
              </a:rPr>
              <a:t>KAB/KOTA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070600" y="2120900"/>
            <a:ext cx="558800" cy="203200"/>
          </a:xfrm>
          <a:prstGeom prst="roundRect">
            <a:avLst>
              <a:gd name="adj" fmla="val 25000"/>
            </a:avLst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0" name="Picture 69" descr="api-puti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050" y="2171700"/>
            <a:ext cx="95250" cy="9525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6229350" y="2120900"/>
            <a:ext cx="3937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1" spc="40">
                <a:solidFill>
                  <a:srgbClr val="FFFFFF"/>
                </a:solidFill>
                <a:latin typeface="Roboto"/>
              </a:rPr>
              <a:t>TITIK*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654800" y="2120900"/>
            <a:ext cx="660400" cy="203200"/>
          </a:xfrm>
          <a:prstGeom prst="roundRect">
            <a:avLst>
              <a:gd name="adj" fmla="val 25000"/>
            </a:avLst>
          </a:prstGeom>
          <a:solidFill>
            <a:srgbClr val="3F5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3" name="Picture 72" descr="grid-putih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99250" y="2171700"/>
            <a:ext cx="95250" cy="9525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6813550" y="2120900"/>
            <a:ext cx="4953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1" spc="40">
                <a:solidFill>
                  <a:srgbClr val="FFFFFF"/>
                </a:solidFill>
                <a:latin typeface="Roboto"/>
              </a:rPr>
              <a:t>LUAS (HA)*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340600" y="2120900"/>
            <a:ext cx="660400" cy="203200"/>
          </a:xfrm>
          <a:prstGeom prst="roundRect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6" name="Picture 75" descr="awas-puti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5050" y="2171700"/>
            <a:ext cx="95250" cy="9525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7499350" y="2120900"/>
            <a:ext cx="4953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1" spc="40">
                <a:solidFill>
                  <a:srgbClr val="FFFFFF"/>
                </a:solidFill>
                <a:latin typeface="Roboto"/>
              </a:rPr>
              <a:t>BELUM PADAM*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026400" y="2120900"/>
            <a:ext cx="698500" cy="203200"/>
          </a:xfrm>
          <a:prstGeom prst="roundRect">
            <a:avLst>
              <a:gd name="adj" fmla="val 25000"/>
            </a:avLst>
          </a:prstGeom>
          <a:solidFill>
            <a:srgbClr val="C05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9" name="Picture 78" descr="pin-putih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70850" y="2171700"/>
            <a:ext cx="95250" cy="95250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8185150" y="2120900"/>
            <a:ext cx="5334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1">
                <a:solidFill>
                  <a:srgbClr val="FFFFFF"/>
                </a:solidFill>
                <a:latin typeface="Roboto"/>
              </a:rPr>
              <a:t>CLUSTER 7 HARI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978400" y="2362200"/>
            <a:ext cx="3746500" cy="233679"/>
          </a:xfrm>
          <a:prstGeom prst="rect">
            <a:avLst/>
          </a:prstGeom>
          <a:solidFill>
            <a:srgbClr val="FB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5016500" y="2425700"/>
            <a:ext cx="139700" cy="139700"/>
          </a:xfrm>
          <a:prstGeom prst="ellipse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5016500" y="2425700"/>
            <a:ext cx="1397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8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219700" y="2387600"/>
            <a:ext cx="889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1">
                <a:solidFill>
                  <a:srgbClr val="111827"/>
                </a:solidFill>
                <a:latin typeface="Roboto"/>
              </a:rPr>
              <a:t>Tanjab Timur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032500" y="2387600"/>
            <a:ext cx="635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111827"/>
                </a:solidFill>
                <a:latin typeface="Roboto"/>
              </a:rPr>
              <a:t>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67500" y="2387600"/>
            <a:ext cx="635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11827"/>
                </a:solidFill>
                <a:latin typeface="Roboto"/>
              </a:rPr>
              <a:t>124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53300" y="2387600"/>
            <a:ext cx="635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11827"/>
                </a:solidFill>
                <a:latin typeface="Roboto"/>
              </a:rPr>
              <a:t>99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064500" y="2387600"/>
            <a:ext cx="635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11827"/>
                </a:solidFill>
                <a:latin typeface="Roboto"/>
              </a:rPr>
              <a:t>63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4978400" y="2593340"/>
            <a:ext cx="3746500" cy="0"/>
          </a:xfrm>
          <a:prstGeom prst="line">
            <a:avLst/>
          </a:prstGeom>
          <a:ln w="6350">
            <a:solidFill>
              <a:srgbClr val="EE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Oval 89"/>
          <p:cNvSpPr/>
          <p:nvPr/>
        </p:nvSpPr>
        <p:spPr>
          <a:xfrm>
            <a:off x="5016500" y="2659380"/>
            <a:ext cx="139700" cy="139700"/>
          </a:xfrm>
          <a:prstGeom prst="ellipse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5016500" y="2659380"/>
            <a:ext cx="1397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8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219700" y="2621280"/>
            <a:ext cx="889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1">
                <a:solidFill>
                  <a:srgbClr val="111827"/>
                </a:solidFill>
                <a:latin typeface="Roboto"/>
              </a:rPr>
              <a:t>Tebo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032500" y="2621280"/>
            <a:ext cx="635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111827"/>
                </a:solidFill>
                <a:latin typeface="Roboto"/>
              </a:rP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667500" y="2621280"/>
            <a:ext cx="635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11827"/>
                </a:solidFill>
                <a:latin typeface="Roboto"/>
              </a:rP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353300" y="2621280"/>
            <a:ext cx="635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11827"/>
                </a:solidFill>
                <a:latin typeface="Roboto"/>
              </a:rP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064500" y="2621280"/>
            <a:ext cx="635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11827"/>
                </a:solidFill>
                <a:latin typeface="Roboto"/>
              </a:rPr>
              <a:t>21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4978400" y="2827020"/>
            <a:ext cx="3746500" cy="0"/>
          </a:xfrm>
          <a:prstGeom prst="line">
            <a:avLst/>
          </a:prstGeom>
          <a:ln w="6350">
            <a:solidFill>
              <a:srgbClr val="EE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Oval 97"/>
          <p:cNvSpPr/>
          <p:nvPr/>
        </p:nvSpPr>
        <p:spPr>
          <a:xfrm>
            <a:off x="5016500" y="2893060"/>
            <a:ext cx="139700" cy="139700"/>
          </a:xfrm>
          <a:prstGeom prst="ellipse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5016500" y="2893060"/>
            <a:ext cx="1397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8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219700" y="2854960"/>
            <a:ext cx="889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1">
                <a:solidFill>
                  <a:srgbClr val="111827"/>
                </a:solidFill>
                <a:latin typeface="Roboto"/>
              </a:rPr>
              <a:t>Sarolangun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032500" y="2854960"/>
            <a:ext cx="635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111827"/>
                </a:solidFill>
                <a:latin typeface="Roboto"/>
              </a:rP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667500" y="2854960"/>
            <a:ext cx="635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11827"/>
                </a:solidFill>
                <a:latin typeface="Roboto"/>
              </a:rP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353300" y="2854960"/>
            <a:ext cx="635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11827"/>
                </a:solidFill>
                <a:latin typeface="Roboto"/>
              </a:rPr>
              <a:t>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064500" y="2854960"/>
            <a:ext cx="635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11827"/>
                </a:solidFill>
                <a:latin typeface="Roboto"/>
              </a:rPr>
              <a:t>28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4978400" y="3060700"/>
            <a:ext cx="3746500" cy="0"/>
          </a:xfrm>
          <a:prstGeom prst="line">
            <a:avLst/>
          </a:prstGeom>
          <a:ln w="6350">
            <a:solidFill>
              <a:srgbClr val="EE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Oval 105"/>
          <p:cNvSpPr/>
          <p:nvPr/>
        </p:nvSpPr>
        <p:spPr>
          <a:xfrm>
            <a:off x="5016500" y="3126740"/>
            <a:ext cx="139700" cy="139700"/>
          </a:xfrm>
          <a:prstGeom prst="ellipse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5016500" y="3126740"/>
            <a:ext cx="1397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8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219700" y="3088640"/>
            <a:ext cx="889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1">
                <a:solidFill>
                  <a:srgbClr val="111827"/>
                </a:solidFill>
                <a:latin typeface="Roboto"/>
              </a:rPr>
              <a:t>Muaro Jambi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032500" y="3088640"/>
            <a:ext cx="635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111827"/>
                </a:solidFill>
                <a:latin typeface="Roboto"/>
              </a:rP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667500" y="3088640"/>
            <a:ext cx="635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11827"/>
                </a:solidFill>
                <a:latin typeface="Roboto"/>
              </a:rPr>
              <a:t>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353300" y="3088640"/>
            <a:ext cx="635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11827"/>
                </a:solidFill>
                <a:latin typeface="Roboto"/>
              </a:rPr>
              <a:t>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064500" y="3088640"/>
            <a:ext cx="635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11827"/>
                </a:solidFill>
                <a:latin typeface="Roboto"/>
              </a:rPr>
              <a:t>26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4978400" y="3294379"/>
            <a:ext cx="3746500" cy="0"/>
          </a:xfrm>
          <a:prstGeom prst="line">
            <a:avLst/>
          </a:prstGeom>
          <a:ln w="6350">
            <a:solidFill>
              <a:srgbClr val="EE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5016500" y="3360420"/>
            <a:ext cx="139700" cy="139700"/>
          </a:xfrm>
          <a:prstGeom prst="ellipse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TextBox 114"/>
          <p:cNvSpPr txBox="1"/>
          <p:nvPr/>
        </p:nvSpPr>
        <p:spPr>
          <a:xfrm>
            <a:off x="5016500" y="3360420"/>
            <a:ext cx="1397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8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219700" y="3322320"/>
            <a:ext cx="889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1">
                <a:solidFill>
                  <a:srgbClr val="111827"/>
                </a:solidFill>
                <a:latin typeface="Roboto"/>
              </a:rPr>
              <a:t>Batanghari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032500" y="3322320"/>
            <a:ext cx="635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111827"/>
                </a:solidFill>
                <a:latin typeface="Roboto"/>
              </a:rPr>
              <a:t>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667500" y="3322320"/>
            <a:ext cx="635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11827"/>
                </a:solidFill>
                <a:latin typeface="Roboto"/>
              </a:rPr>
              <a:t>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353300" y="3322320"/>
            <a:ext cx="635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11827"/>
                </a:solidFill>
                <a:latin typeface="Roboto"/>
              </a:rPr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064500" y="3322320"/>
            <a:ext cx="635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11827"/>
                </a:solidFill>
                <a:latin typeface="Roboto"/>
              </a:rPr>
              <a:t>19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4978400" y="3528060"/>
            <a:ext cx="3746500" cy="0"/>
          </a:xfrm>
          <a:prstGeom prst="line">
            <a:avLst/>
          </a:prstGeom>
          <a:ln w="6350">
            <a:solidFill>
              <a:srgbClr val="EE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5016500" y="3594100"/>
            <a:ext cx="139700" cy="139700"/>
          </a:xfrm>
          <a:prstGeom prst="ellipse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TextBox 122"/>
          <p:cNvSpPr txBox="1"/>
          <p:nvPr/>
        </p:nvSpPr>
        <p:spPr>
          <a:xfrm>
            <a:off x="5016500" y="3594100"/>
            <a:ext cx="1397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80" b="1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219700" y="3556000"/>
            <a:ext cx="889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1">
                <a:solidFill>
                  <a:srgbClr val="111827"/>
                </a:solidFill>
                <a:latin typeface="Roboto"/>
              </a:rPr>
              <a:t>Merangin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032500" y="3556000"/>
            <a:ext cx="635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111827"/>
                </a:solidFill>
                <a:latin typeface="Roboto"/>
              </a:rPr>
              <a:t>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667500" y="3556000"/>
            <a:ext cx="635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11827"/>
                </a:solidFill>
                <a:latin typeface="Roboto"/>
              </a:rPr>
              <a:t>0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353300" y="3556000"/>
            <a:ext cx="635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11827"/>
                </a:solidFill>
                <a:latin typeface="Roboto"/>
              </a:rPr>
              <a:t>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064500" y="3556000"/>
            <a:ext cx="635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11827"/>
                </a:solidFill>
                <a:latin typeface="Roboto"/>
              </a:rPr>
              <a:t>13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4978400" y="3761740"/>
            <a:ext cx="3746500" cy="0"/>
          </a:xfrm>
          <a:prstGeom prst="line">
            <a:avLst/>
          </a:prstGeom>
          <a:ln w="6350">
            <a:solidFill>
              <a:srgbClr val="EE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Oval 129"/>
          <p:cNvSpPr/>
          <p:nvPr/>
        </p:nvSpPr>
        <p:spPr>
          <a:xfrm>
            <a:off x="5016500" y="3827779"/>
            <a:ext cx="139700" cy="139700"/>
          </a:xfrm>
          <a:prstGeom prst="ellipse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TextBox 130"/>
          <p:cNvSpPr txBox="1"/>
          <p:nvPr/>
        </p:nvSpPr>
        <p:spPr>
          <a:xfrm>
            <a:off x="5016500" y="3827779"/>
            <a:ext cx="1397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80" b="1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219700" y="3789679"/>
            <a:ext cx="889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1">
                <a:solidFill>
                  <a:srgbClr val="111827"/>
                </a:solidFill>
                <a:latin typeface="Roboto"/>
              </a:rPr>
              <a:t>Tanjab Barat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032500" y="3789679"/>
            <a:ext cx="635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111827"/>
                </a:solidFill>
                <a:latin typeface="Roboto"/>
              </a:rPr>
              <a:t>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667500" y="3789679"/>
            <a:ext cx="635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11827"/>
                </a:solidFill>
                <a:latin typeface="Roboto"/>
              </a:rP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353300" y="3789679"/>
            <a:ext cx="635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11827"/>
                </a:solidFill>
                <a:latin typeface="Roboto"/>
              </a:rP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064500" y="3789679"/>
            <a:ext cx="635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11827"/>
                </a:solidFill>
                <a:latin typeface="Roboto"/>
              </a:rPr>
              <a:t>11</a:t>
            </a:r>
          </a:p>
        </p:txBody>
      </p:sp>
      <p:cxnSp>
        <p:nvCxnSpPr>
          <p:cNvPr id="137" name="Connector 136"/>
          <p:cNvCxnSpPr/>
          <p:nvPr/>
        </p:nvCxnSpPr>
        <p:spPr>
          <a:xfrm>
            <a:off x="4978400" y="3995419"/>
            <a:ext cx="3746500" cy="0"/>
          </a:xfrm>
          <a:prstGeom prst="line">
            <a:avLst/>
          </a:prstGeom>
          <a:ln w="6350">
            <a:solidFill>
              <a:srgbClr val="EE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Oval 137"/>
          <p:cNvSpPr/>
          <p:nvPr/>
        </p:nvSpPr>
        <p:spPr>
          <a:xfrm>
            <a:off x="5016500" y="4061459"/>
            <a:ext cx="139700" cy="139700"/>
          </a:xfrm>
          <a:prstGeom prst="ellipse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TextBox 138"/>
          <p:cNvSpPr txBox="1"/>
          <p:nvPr/>
        </p:nvSpPr>
        <p:spPr>
          <a:xfrm>
            <a:off x="5016500" y="4061459"/>
            <a:ext cx="1397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80" b="1">
                <a:solidFill>
                  <a:srgbClr val="FFFFFF"/>
                </a:solidFill>
                <a:latin typeface="Roboto"/>
              </a:rPr>
              <a:t>8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219700" y="4023359"/>
            <a:ext cx="889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1">
                <a:solidFill>
                  <a:srgbClr val="111827"/>
                </a:solidFill>
                <a:latin typeface="Roboto"/>
              </a:rPr>
              <a:t>Kota Jambi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032500" y="4023359"/>
            <a:ext cx="635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111827"/>
                </a:solidFill>
                <a:latin typeface="Roboto"/>
              </a:rP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667500" y="4023359"/>
            <a:ext cx="635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11827"/>
                </a:solidFill>
                <a:latin typeface="Roboto"/>
              </a:rP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353300" y="4023359"/>
            <a:ext cx="635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11827"/>
                </a:solidFill>
                <a:latin typeface="Roboto"/>
              </a:rP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064500" y="4023359"/>
            <a:ext cx="635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11827"/>
                </a:solidFill>
                <a:latin typeface="Roboto"/>
              </a:rPr>
              <a:t>5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4978400" y="4229099"/>
            <a:ext cx="3746500" cy="0"/>
          </a:xfrm>
          <a:prstGeom prst="line">
            <a:avLst/>
          </a:prstGeom>
          <a:ln w="6350">
            <a:solidFill>
              <a:srgbClr val="EE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Oval 145"/>
          <p:cNvSpPr/>
          <p:nvPr/>
        </p:nvSpPr>
        <p:spPr>
          <a:xfrm>
            <a:off x="5016500" y="4295140"/>
            <a:ext cx="139700" cy="139700"/>
          </a:xfrm>
          <a:prstGeom prst="ellipse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TextBox 146"/>
          <p:cNvSpPr txBox="1"/>
          <p:nvPr/>
        </p:nvSpPr>
        <p:spPr>
          <a:xfrm>
            <a:off x="5016500" y="4295140"/>
            <a:ext cx="1397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80" b="1">
                <a:solidFill>
                  <a:srgbClr val="FFFFFF"/>
                </a:solidFill>
                <a:latin typeface="Roboto"/>
              </a:rPr>
              <a:t>9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219700" y="4257040"/>
            <a:ext cx="889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1">
                <a:solidFill>
                  <a:srgbClr val="111827"/>
                </a:solidFill>
                <a:latin typeface="Roboto"/>
              </a:rPr>
              <a:t>Bungo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032500" y="4257040"/>
            <a:ext cx="635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111827"/>
                </a:solidFill>
                <a:latin typeface="Roboto"/>
              </a:rPr>
              <a:t>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667500" y="4257040"/>
            <a:ext cx="635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11827"/>
                </a:solidFill>
                <a:latin typeface="Roboto"/>
              </a:rPr>
              <a:t>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353300" y="4257040"/>
            <a:ext cx="635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11827"/>
                </a:solidFill>
                <a:latin typeface="Roboto"/>
              </a:rPr>
              <a:t>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064500" y="4257040"/>
            <a:ext cx="635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11827"/>
                </a:solidFill>
                <a:latin typeface="Roboto"/>
              </a:rPr>
              <a:t>4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4978400" y="4462780"/>
            <a:ext cx="3746500" cy="0"/>
          </a:xfrm>
          <a:prstGeom prst="line">
            <a:avLst/>
          </a:prstGeom>
          <a:ln w="6350">
            <a:solidFill>
              <a:srgbClr val="EE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Oval 153"/>
          <p:cNvSpPr/>
          <p:nvPr/>
        </p:nvSpPr>
        <p:spPr>
          <a:xfrm>
            <a:off x="5016500" y="4528820"/>
            <a:ext cx="139700" cy="139700"/>
          </a:xfrm>
          <a:prstGeom prst="ellipse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TextBox 154"/>
          <p:cNvSpPr txBox="1"/>
          <p:nvPr/>
        </p:nvSpPr>
        <p:spPr>
          <a:xfrm>
            <a:off x="5016500" y="4528820"/>
            <a:ext cx="1397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80" b="1">
                <a:solidFill>
                  <a:srgbClr val="FFFFFF"/>
                </a:solidFill>
                <a:latin typeface="Roboto"/>
              </a:rPr>
              <a:t>10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219700" y="4490720"/>
            <a:ext cx="889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1">
                <a:solidFill>
                  <a:srgbClr val="111827"/>
                </a:solidFill>
                <a:latin typeface="Roboto"/>
              </a:rPr>
              <a:t>Kerinci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032500" y="4490720"/>
            <a:ext cx="635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1">
                <a:solidFill>
                  <a:srgbClr val="111827"/>
                </a:solidFill>
                <a:latin typeface="Roboto"/>
              </a:rPr>
              <a:t>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667500" y="4490720"/>
            <a:ext cx="635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11827"/>
                </a:solidFill>
                <a:latin typeface="Roboto"/>
              </a:rPr>
              <a:t>0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353300" y="4490720"/>
            <a:ext cx="635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11827"/>
                </a:solidFill>
                <a:latin typeface="Roboto"/>
              </a:rPr>
              <a:t>0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064500" y="4490720"/>
            <a:ext cx="635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40" b="0">
                <a:solidFill>
                  <a:srgbClr val="111827"/>
                </a:solidFill>
                <a:latin typeface="Roboto"/>
              </a:rPr>
              <a:t>3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4978400" y="4749800"/>
            <a:ext cx="3746500" cy="279400"/>
          </a:xfrm>
          <a:prstGeom prst="roundRect">
            <a:avLst>
              <a:gd name="adj" fmla="val 18181"/>
            </a:avLst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2" name="TextBox 161"/>
          <p:cNvSpPr txBox="1"/>
          <p:nvPr/>
        </p:nvSpPr>
        <p:spPr>
          <a:xfrm>
            <a:off x="5080000" y="47498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Roboto"/>
              </a:rPr>
              <a:t>Jambi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032500" y="4749800"/>
            <a:ext cx="63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Roboto"/>
              </a:rPr>
              <a:t>9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667500" y="4749800"/>
            <a:ext cx="63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Roboto"/>
              </a:rPr>
              <a:t>124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7353300" y="4749800"/>
            <a:ext cx="63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Roboto"/>
              </a:rPr>
              <a:t>99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064500" y="4749800"/>
            <a:ext cx="63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Roboto"/>
              </a:rPr>
              <a:t>193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991100" y="5054600"/>
            <a:ext cx="3683000" cy="12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>
                <a:solidFill>
                  <a:srgbClr val="6B7280"/>
                </a:solidFill>
                <a:latin typeface="Roboto"/>
              </a:rPr>
              <a:t>*25 Okt 2026, s.d. 06.00 WIB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8839200" y="2095500"/>
            <a:ext cx="2806700" cy="3098800"/>
          </a:xfrm>
          <a:prstGeom prst="roundRect">
            <a:avLst>
              <a:gd name="adj" fmla="val 2714"/>
            </a:avLst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9" name="Rounded Rectangle 168"/>
          <p:cNvSpPr/>
          <p:nvPr/>
        </p:nvSpPr>
        <p:spPr>
          <a:xfrm>
            <a:off x="8845550" y="2101850"/>
            <a:ext cx="2794000" cy="482600"/>
          </a:xfrm>
          <a:prstGeom prst="roundRect">
            <a:avLst>
              <a:gd name="adj" fmla="val 15789"/>
            </a:avLst>
          </a:prstGeom>
          <a:solidFill>
            <a:srgbClr val="F8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Rectangle 169"/>
          <p:cNvSpPr/>
          <p:nvPr/>
        </p:nvSpPr>
        <p:spPr>
          <a:xfrm>
            <a:off x="8845550" y="2476500"/>
            <a:ext cx="2794000" cy="107950"/>
          </a:xfrm>
          <a:prstGeom prst="rect">
            <a:avLst/>
          </a:prstGeom>
          <a:solidFill>
            <a:srgbClr val="F8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71" name="Connector 170"/>
          <p:cNvCxnSpPr/>
          <p:nvPr/>
        </p:nvCxnSpPr>
        <p:spPr>
          <a:xfrm>
            <a:off x="8839200" y="2578100"/>
            <a:ext cx="2806700" cy="0"/>
          </a:xfrm>
          <a:prstGeom prst="line">
            <a:avLst/>
          </a:prstGeom>
          <a:ln w="9525">
            <a:solidFill>
              <a:srgbClr val="D5D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Oval 171"/>
          <p:cNvSpPr/>
          <p:nvPr/>
        </p:nvSpPr>
        <p:spPr>
          <a:xfrm>
            <a:off x="8966200" y="2190750"/>
            <a:ext cx="292100" cy="2921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3" name="Picture 172" descr="awas-puti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9700" y="2254250"/>
            <a:ext cx="165100" cy="165100"/>
          </a:xfrm>
          <a:prstGeom prst="rect">
            <a:avLst/>
          </a:prstGeom>
        </p:spPr>
      </p:pic>
      <p:sp>
        <p:nvSpPr>
          <p:cNvPr id="174" name="TextBox 173"/>
          <p:cNvSpPr txBox="1"/>
          <p:nvPr/>
        </p:nvSpPr>
        <p:spPr>
          <a:xfrm>
            <a:off x="9347200" y="2095500"/>
            <a:ext cx="16637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51C2C"/>
                </a:solidFill>
                <a:latin typeface="Roboto"/>
              </a:rPr>
              <a:t>Kejadian dan status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883900" y="2095500"/>
            <a:ext cx="635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C8102E"/>
                </a:solidFill>
                <a:latin typeface="Roboto"/>
              </a:rPr>
              <a:t>7</a:t>
            </a:r>
          </a:p>
        </p:txBody>
      </p:sp>
      <p:sp>
        <p:nvSpPr>
          <p:cNvPr id="176" name="Oval 175"/>
          <p:cNvSpPr/>
          <p:nvPr/>
        </p:nvSpPr>
        <p:spPr>
          <a:xfrm>
            <a:off x="8915400" y="2679700"/>
            <a:ext cx="203200" cy="203200"/>
          </a:xfrm>
          <a:prstGeom prst="ellipse">
            <a:avLst/>
          </a:prstGeom>
          <a:solidFill>
            <a:srgbClr val="D96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7" name="Picture 176" descr="api-puti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2730500"/>
            <a:ext cx="101600" cy="101600"/>
          </a:xfrm>
          <a:prstGeom prst="rect">
            <a:avLst/>
          </a:prstGeom>
        </p:spPr>
      </p:pic>
      <p:sp>
        <p:nvSpPr>
          <p:cNvPr id="178" name="TextBox 177"/>
          <p:cNvSpPr txBox="1"/>
          <p:nvPr/>
        </p:nvSpPr>
        <p:spPr>
          <a:xfrm>
            <a:off x="9182100" y="2654300"/>
            <a:ext cx="15240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>
                <a:solidFill>
                  <a:srgbClr val="111827"/>
                </a:solidFill>
                <a:latin typeface="Roboto"/>
              </a:rPr>
              <a:t>TN Berbak, Tanjab Timur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10836275" y="2654300"/>
            <a:ext cx="709295" cy="139700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0" name="Picture 179" descr="api-mera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87075" y="2682875"/>
            <a:ext cx="82550" cy="82550"/>
          </a:xfrm>
          <a:prstGeom prst="rect">
            <a:avLst/>
          </a:prstGeom>
        </p:spPr>
      </p:pic>
      <p:sp>
        <p:nvSpPr>
          <p:cNvPr id="181" name="TextBox 180"/>
          <p:cNvSpPr txBox="1"/>
          <p:nvPr/>
        </p:nvSpPr>
        <p:spPr>
          <a:xfrm>
            <a:off x="10988675" y="2654300"/>
            <a:ext cx="531495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90" b="1">
                <a:solidFill>
                  <a:srgbClr val="C8102E"/>
                </a:solidFill>
                <a:latin typeface="Roboto"/>
              </a:rPr>
              <a:t>belum padam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9182100" y="2819400"/>
            <a:ext cx="1121410" cy="1397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3" name="Picture 182" descr="grid-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2900" y="2847975"/>
            <a:ext cx="82550" cy="82550"/>
          </a:xfrm>
          <a:prstGeom prst="rect">
            <a:avLst/>
          </a:prstGeom>
        </p:spPr>
      </p:pic>
      <p:sp>
        <p:nvSpPr>
          <p:cNvPr id="184" name="TextBox 183"/>
          <p:cNvSpPr txBox="1"/>
          <p:nvPr/>
        </p:nvSpPr>
        <p:spPr>
          <a:xfrm>
            <a:off x="9334500" y="2819400"/>
            <a:ext cx="94361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051C2C"/>
                </a:solidFill>
                <a:latin typeface="Roboto"/>
              </a:rPr>
              <a:t>119 ha terbakar 25 Okt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10354310" y="2819400"/>
            <a:ext cx="921385" cy="139700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6" name="Picture 185" descr="awas-mera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5110" y="2847975"/>
            <a:ext cx="82550" cy="82550"/>
          </a:xfrm>
          <a:prstGeom prst="rect">
            <a:avLst/>
          </a:prstGeom>
        </p:spPr>
      </p:pic>
      <p:sp>
        <p:nvSpPr>
          <p:cNvPr id="187" name="TextBox 186"/>
          <p:cNvSpPr txBox="1"/>
          <p:nvPr/>
        </p:nvSpPr>
        <p:spPr>
          <a:xfrm>
            <a:off x="10506710" y="2819400"/>
            <a:ext cx="743585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C8102E"/>
                </a:solidFill>
                <a:latin typeface="Roboto"/>
              </a:rPr>
              <a:t>belum padam 96 ha</a:t>
            </a:r>
          </a:p>
        </p:txBody>
      </p:sp>
      <p:cxnSp>
        <p:nvCxnSpPr>
          <p:cNvPr id="188" name="Connector 187"/>
          <p:cNvCxnSpPr/>
          <p:nvPr/>
        </p:nvCxnSpPr>
        <p:spPr>
          <a:xfrm>
            <a:off x="8915400" y="2990850"/>
            <a:ext cx="2616200" cy="0"/>
          </a:xfrm>
          <a:prstGeom prst="line">
            <a:avLst/>
          </a:prstGeom>
          <a:ln w="6350">
            <a:solidFill>
              <a:srgbClr val="EE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Oval 188"/>
          <p:cNvSpPr/>
          <p:nvPr/>
        </p:nvSpPr>
        <p:spPr>
          <a:xfrm>
            <a:off x="8915400" y="3040380"/>
            <a:ext cx="203200" cy="203200"/>
          </a:xfrm>
          <a:prstGeom prst="ellipse">
            <a:avLst/>
          </a:prstGeom>
          <a:solidFill>
            <a:srgbClr val="D96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0" name="Picture 189" descr="api-puti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3091180"/>
            <a:ext cx="101600" cy="101600"/>
          </a:xfrm>
          <a:prstGeom prst="rect">
            <a:avLst/>
          </a:prstGeom>
        </p:spPr>
      </p:pic>
      <p:sp>
        <p:nvSpPr>
          <p:cNvPr id="191" name="TextBox 190"/>
          <p:cNvSpPr txBox="1"/>
          <p:nvPr/>
        </p:nvSpPr>
        <p:spPr>
          <a:xfrm>
            <a:off x="9182100" y="3014980"/>
            <a:ext cx="15240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>
                <a:solidFill>
                  <a:srgbClr val="111827"/>
                </a:solidFill>
                <a:latin typeface="Roboto"/>
              </a:rPr>
              <a:t>Tahura OKH, Muaro Jambi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11042650" y="3014980"/>
            <a:ext cx="496570" cy="1397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3" name="Picture 192" descr="mata-navy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093450" y="3043555"/>
            <a:ext cx="82550" cy="82550"/>
          </a:xfrm>
          <a:prstGeom prst="rect">
            <a:avLst/>
          </a:prstGeom>
        </p:spPr>
      </p:pic>
      <p:sp>
        <p:nvSpPr>
          <p:cNvPr id="194" name="TextBox 193"/>
          <p:cNvSpPr txBox="1"/>
          <p:nvPr/>
        </p:nvSpPr>
        <p:spPr>
          <a:xfrm>
            <a:off x="11195050" y="3014980"/>
            <a:ext cx="31877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90" b="1">
                <a:solidFill>
                  <a:srgbClr val="051C2C"/>
                </a:solidFill>
                <a:latin typeface="Roboto"/>
              </a:rPr>
              <a:t>pantau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9182100" y="3180080"/>
            <a:ext cx="1041400" cy="1397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6" name="Picture 195" descr="grid-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2900" y="3208655"/>
            <a:ext cx="82550" cy="82550"/>
          </a:xfrm>
          <a:prstGeom prst="rect">
            <a:avLst/>
          </a:prstGeom>
        </p:spPr>
      </p:pic>
      <p:sp>
        <p:nvSpPr>
          <p:cNvPr id="197" name="TextBox 196"/>
          <p:cNvSpPr txBox="1"/>
          <p:nvPr/>
        </p:nvSpPr>
        <p:spPr>
          <a:xfrm>
            <a:off x="9334500" y="3180080"/>
            <a:ext cx="8636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051C2C"/>
                </a:solidFill>
                <a:latin typeface="Roboto"/>
              </a:rPr>
              <a:t>0 ha terbakar 25 Okt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10274300" y="3180080"/>
            <a:ext cx="881380" cy="139700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9" name="Picture 198" descr="awas-mera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25100" y="3208655"/>
            <a:ext cx="82550" cy="82550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10426700" y="3180080"/>
            <a:ext cx="70358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C8102E"/>
                </a:solidFill>
                <a:latin typeface="Roboto"/>
              </a:rPr>
              <a:t>belum padam 0 ha</a:t>
            </a:r>
          </a:p>
        </p:txBody>
      </p:sp>
      <p:cxnSp>
        <p:nvCxnSpPr>
          <p:cNvPr id="201" name="Connector 200"/>
          <p:cNvCxnSpPr/>
          <p:nvPr/>
        </p:nvCxnSpPr>
        <p:spPr>
          <a:xfrm>
            <a:off x="8915400" y="3351529"/>
            <a:ext cx="2616200" cy="0"/>
          </a:xfrm>
          <a:prstGeom prst="line">
            <a:avLst/>
          </a:prstGeom>
          <a:ln w="6350">
            <a:solidFill>
              <a:srgbClr val="EE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Oval 201"/>
          <p:cNvSpPr/>
          <p:nvPr/>
        </p:nvSpPr>
        <p:spPr>
          <a:xfrm>
            <a:off x="8915400" y="3401060"/>
            <a:ext cx="203200" cy="2032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3" name="Picture 202" descr="api-puti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3451860"/>
            <a:ext cx="101600" cy="101600"/>
          </a:xfrm>
          <a:prstGeom prst="rect">
            <a:avLst/>
          </a:prstGeom>
        </p:spPr>
      </p:pic>
      <p:sp>
        <p:nvSpPr>
          <p:cNvPr id="204" name="TextBox 203"/>
          <p:cNvSpPr txBox="1"/>
          <p:nvPr/>
        </p:nvSpPr>
        <p:spPr>
          <a:xfrm>
            <a:off x="9182100" y="3375660"/>
            <a:ext cx="15240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>
                <a:solidFill>
                  <a:srgbClr val="111827"/>
                </a:solidFill>
                <a:latin typeface="Roboto"/>
              </a:rPr>
              <a:t>Kompleks K0037, Berbak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11083925" y="3375660"/>
            <a:ext cx="454025" cy="13970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6" name="Picture 205" descr="api-orany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34725" y="3404235"/>
            <a:ext cx="82550" cy="82550"/>
          </a:xfrm>
          <a:prstGeom prst="rect">
            <a:avLst/>
          </a:prstGeom>
        </p:spPr>
      </p:pic>
      <p:sp>
        <p:nvSpPr>
          <p:cNvPr id="207" name="TextBox 206"/>
          <p:cNvSpPr txBox="1"/>
          <p:nvPr/>
        </p:nvSpPr>
        <p:spPr>
          <a:xfrm>
            <a:off x="11236325" y="3375660"/>
            <a:ext cx="276225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90" b="1">
                <a:solidFill>
                  <a:srgbClr val="D9600B"/>
                </a:solidFill>
                <a:latin typeface="Roboto"/>
              </a:rPr>
              <a:t>siaga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9182100" y="3540760"/>
            <a:ext cx="921385" cy="13970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9" name="Picture 208" descr="grid-orany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32900" y="3569335"/>
            <a:ext cx="82550" cy="82550"/>
          </a:xfrm>
          <a:prstGeom prst="rect">
            <a:avLst/>
          </a:prstGeom>
        </p:spPr>
      </p:pic>
      <p:sp>
        <p:nvSpPr>
          <p:cNvPr id="210" name="TextBox 209"/>
          <p:cNvSpPr txBox="1"/>
          <p:nvPr/>
        </p:nvSpPr>
        <p:spPr>
          <a:xfrm>
            <a:off x="9334500" y="3540760"/>
            <a:ext cx="743585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D9600B"/>
                </a:solidFill>
                <a:latin typeface="Roboto"/>
              </a:rPr>
              <a:t>1.309 ha kompleks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10154285" y="3540760"/>
            <a:ext cx="841375" cy="1397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2" name="Picture 211" descr="api-navy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205085" y="3569335"/>
            <a:ext cx="82550" cy="82550"/>
          </a:xfrm>
          <a:prstGeom prst="rect">
            <a:avLst/>
          </a:prstGeom>
        </p:spPr>
      </p:pic>
      <p:sp>
        <p:nvSpPr>
          <p:cNvPr id="213" name="TextBox 212"/>
          <p:cNvSpPr txBox="1"/>
          <p:nvPr/>
        </p:nvSpPr>
        <p:spPr>
          <a:xfrm>
            <a:off x="10306685" y="3540760"/>
            <a:ext cx="663575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051C2C"/>
                </a:solidFill>
                <a:latin typeface="Roboto"/>
              </a:rPr>
              <a:t>51 titik 24 jam</a:t>
            </a:r>
          </a:p>
        </p:txBody>
      </p:sp>
      <p:cxnSp>
        <p:nvCxnSpPr>
          <p:cNvPr id="214" name="Connector 213"/>
          <p:cNvCxnSpPr/>
          <p:nvPr/>
        </p:nvCxnSpPr>
        <p:spPr>
          <a:xfrm>
            <a:off x="8915400" y="3712210"/>
            <a:ext cx="2616200" cy="0"/>
          </a:xfrm>
          <a:prstGeom prst="line">
            <a:avLst/>
          </a:prstGeom>
          <a:ln w="6350">
            <a:solidFill>
              <a:srgbClr val="EE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Oval 214"/>
          <p:cNvSpPr/>
          <p:nvPr/>
        </p:nvSpPr>
        <p:spPr>
          <a:xfrm>
            <a:off x="8915400" y="3761740"/>
            <a:ext cx="203200" cy="203200"/>
          </a:xfrm>
          <a:prstGeom prst="ellipse">
            <a:avLst/>
          </a:prstGeom>
          <a:solidFill>
            <a:srgbClr val="3F5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6" name="Picture 215" descr="mata-putih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66200" y="3812540"/>
            <a:ext cx="101600" cy="101600"/>
          </a:xfrm>
          <a:prstGeom prst="rect">
            <a:avLst/>
          </a:prstGeom>
        </p:spPr>
      </p:pic>
      <p:sp>
        <p:nvSpPr>
          <p:cNvPr id="217" name="TextBox 216"/>
          <p:cNvSpPr txBox="1"/>
          <p:nvPr/>
        </p:nvSpPr>
        <p:spPr>
          <a:xfrm>
            <a:off x="9182100" y="3736340"/>
            <a:ext cx="15240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>
                <a:solidFill>
                  <a:srgbClr val="111827"/>
                </a:solidFill>
                <a:latin typeface="Roboto"/>
              </a:rPr>
              <a:t>Tanjung Jabung Timur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11042650" y="3736340"/>
            <a:ext cx="496570" cy="1397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9" name="Picture 218" descr="mata-navy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093450" y="3764915"/>
            <a:ext cx="82550" cy="82550"/>
          </a:xfrm>
          <a:prstGeom prst="rect">
            <a:avLst/>
          </a:prstGeom>
        </p:spPr>
      </p:pic>
      <p:sp>
        <p:nvSpPr>
          <p:cNvPr id="220" name="TextBox 219"/>
          <p:cNvSpPr txBox="1"/>
          <p:nvPr/>
        </p:nvSpPr>
        <p:spPr>
          <a:xfrm>
            <a:off x="11195050" y="3736340"/>
            <a:ext cx="31877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90" b="1">
                <a:solidFill>
                  <a:srgbClr val="051C2C"/>
                </a:solidFill>
                <a:latin typeface="Roboto"/>
              </a:rPr>
              <a:t>pantau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9182100" y="3901440"/>
            <a:ext cx="801370" cy="13970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2" name="Picture 221" descr="api-orany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2900" y="3930015"/>
            <a:ext cx="82550" cy="82550"/>
          </a:xfrm>
          <a:prstGeom prst="rect">
            <a:avLst/>
          </a:prstGeom>
        </p:spPr>
      </p:pic>
      <p:sp>
        <p:nvSpPr>
          <p:cNvPr id="223" name="TextBox 222"/>
          <p:cNvSpPr txBox="1"/>
          <p:nvPr/>
        </p:nvSpPr>
        <p:spPr>
          <a:xfrm>
            <a:off x="9334500" y="3901440"/>
            <a:ext cx="62357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D9600B"/>
                </a:solidFill>
                <a:latin typeface="Roboto"/>
              </a:rPr>
              <a:t>8 titik 25 Okt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10034270" y="3901440"/>
            <a:ext cx="641350" cy="1397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5" name="Picture 224" descr="pin-navy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085070" y="3930015"/>
            <a:ext cx="82550" cy="82550"/>
          </a:xfrm>
          <a:prstGeom prst="rect">
            <a:avLst/>
          </a:prstGeom>
        </p:spPr>
      </p:pic>
      <p:sp>
        <p:nvSpPr>
          <p:cNvPr id="226" name="TextBox 225"/>
          <p:cNvSpPr txBox="1"/>
          <p:nvPr/>
        </p:nvSpPr>
        <p:spPr>
          <a:xfrm>
            <a:off x="10186670" y="3901440"/>
            <a:ext cx="46355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051C2C"/>
                </a:solidFill>
                <a:latin typeface="Roboto"/>
              </a:rPr>
              <a:t>63 cluster</a:t>
            </a:r>
          </a:p>
        </p:txBody>
      </p:sp>
      <p:cxnSp>
        <p:nvCxnSpPr>
          <p:cNvPr id="227" name="Connector 226"/>
          <p:cNvCxnSpPr/>
          <p:nvPr/>
        </p:nvCxnSpPr>
        <p:spPr>
          <a:xfrm>
            <a:off x="8915400" y="4072890"/>
            <a:ext cx="2616200" cy="0"/>
          </a:xfrm>
          <a:prstGeom prst="line">
            <a:avLst/>
          </a:prstGeom>
          <a:ln w="6350">
            <a:solidFill>
              <a:srgbClr val="EE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Oval 227"/>
          <p:cNvSpPr/>
          <p:nvPr/>
        </p:nvSpPr>
        <p:spPr>
          <a:xfrm>
            <a:off x="8915400" y="4122420"/>
            <a:ext cx="203200" cy="203200"/>
          </a:xfrm>
          <a:prstGeom prst="ellipse">
            <a:avLst/>
          </a:prstGeom>
          <a:solidFill>
            <a:srgbClr val="3F5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9" name="Picture 228" descr="mata-putih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66200" y="4173220"/>
            <a:ext cx="101600" cy="101600"/>
          </a:xfrm>
          <a:prstGeom prst="rect">
            <a:avLst/>
          </a:prstGeom>
        </p:spPr>
      </p:pic>
      <p:sp>
        <p:nvSpPr>
          <p:cNvPr id="230" name="TextBox 229"/>
          <p:cNvSpPr txBox="1"/>
          <p:nvPr/>
        </p:nvSpPr>
        <p:spPr>
          <a:xfrm>
            <a:off x="9182100" y="4097020"/>
            <a:ext cx="15240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>
                <a:solidFill>
                  <a:srgbClr val="111827"/>
                </a:solidFill>
                <a:latin typeface="Roboto"/>
              </a:rPr>
              <a:t>Tebo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11042650" y="4097020"/>
            <a:ext cx="496570" cy="1397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2" name="Picture 231" descr="mata-navy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093450" y="4125595"/>
            <a:ext cx="82550" cy="82550"/>
          </a:xfrm>
          <a:prstGeom prst="rect">
            <a:avLst/>
          </a:prstGeom>
        </p:spPr>
      </p:pic>
      <p:sp>
        <p:nvSpPr>
          <p:cNvPr id="233" name="TextBox 232"/>
          <p:cNvSpPr txBox="1"/>
          <p:nvPr/>
        </p:nvSpPr>
        <p:spPr>
          <a:xfrm>
            <a:off x="11195050" y="4097020"/>
            <a:ext cx="31877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90" b="1">
                <a:solidFill>
                  <a:srgbClr val="051C2C"/>
                </a:solidFill>
                <a:latin typeface="Roboto"/>
              </a:rPr>
              <a:t>pantau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9182100" y="4262120"/>
            <a:ext cx="801370" cy="13970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5" name="Picture 234" descr="api-orany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2900" y="4290695"/>
            <a:ext cx="82550" cy="82550"/>
          </a:xfrm>
          <a:prstGeom prst="rect">
            <a:avLst/>
          </a:prstGeom>
        </p:spPr>
      </p:pic>
      <p:sp>
        <p:nvSpPr>
          <p:cNvPr id="236" name="TextBox 235"/>
          <p:cNvSpPr txBox="1"/>
          <p:nvPr/>
        </p:nvSpPr>
        <p:spPr>
          <a:xfrm>
            <a:off x="9334500" y="4262120"/>
            <a:ext cx="62357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D9600B"/>
                </a:solidFill>
                <a:latin typeface="Roboto"/>
              </a:rPr>
              <a:t>1 titik 25 Okt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10034270" y="4262120"/>
            <a:ext cx="641350" cy="1397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8" name="Picture 237" descr="pin-navy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085070" y="4290695"/>
            <a:ext cx="82550" cy="82550"/>
          </a:xfrm>
          <a:prstGeom prst="rect">
            <a:avLst/>
          </a:prstGeom>
        </p:spPr>
      </p:pic>
      <p:sp>
        <p:nvSpPr>
          <p:cNvPr id="239" name="TextBox 238"/>
          <p:cNvSpPr txBox="1"/>
          <p:nvPr/>
        </p:nvSpPr>
        <p:spPr>
          <a:xfrm>
            <a:off x="10186670" y="4262120"/>
            <a:ext cx="46355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051C2C"/>
                </a:solidFill>
                <a:latin typeface="Roboto"/>
              </a:rPr>
              <a:t>21 cluster</a:t>
            </a:r>
          </a:p>
        </p:txBody>
      </p:sp>
      <p:cxnSp>
        <p:nvCxnSpPr>
          <p:cNvPr id="240" name="Connector 239"/>
          <p:cNvCxnSpPr/>
          <p:nvPr/>
        </p:nvCxnSpPr>
        <p:spPr>
          <a:xfrm>
            <a:off x="8915400" y="4433570"/>
            <a:ext cx="2616200" cy="0"/>
          </a:xfrm>
          <a:prstGeom prst="line">
            <a:avLst/>
          </a:prstGeom>
          <a:ln w="6350">
            <a:solidFill>
              <a:srgbClr val="EE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Oval 240"/>
          <p:cNvSpPr/>
          <p:nvPr/>
        </p:nvSpPr>
        <p:spPr>
          <a:xfrm>
            <a:off x="8915400" y="4483100"/>
            <a:ext cx="203200" cy="203200"/>
          </a:xfrm>
          <a:prstGeom prst="ellipse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2" name="Picture 241" descr="orang-putih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66200" y="4533900"/>
            <a:ext cx="101600" cy="101600"/>
          </a:xfrm>
          <a:prstGeom prst="rect">
            <a:avLst/>
          </a:prstGeom>
        </p:spPr>
      </p:pic>
      <p:sp>
        <p:nvSpPr>
          <p:cNvPr id="243" name="TextBox 242"/>
          <p:cNvSpPr txBox="1"/>
          <p:nvPr/>
        </p:nvSpPr>
        <p:spPr>
          <a:xfrm>
            <a:off x="9182100" y="4457700"/>
            <a:ext cx="15240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>
                <a:solidFill>
                  <a:srgbClr val="111827"/>
                </a:solidFill>
                <a:latin typeface="Roboto"/>
              </a:rPr>
              <a:t>Personel lapangan Jambi</a:t>
            </a:r>
          </a:p>
        </p:txBody>
      </p:sp>
      <p:sp>
        <p:nvSpPr>
          <p:cNvPr id="244" name="Rounded Rectangle 243"/>
          <p:cNvSpPr/>
          <p:nvPr/>
        </p:nvSpPr>
        <p:spPr>
          <a:xfrm>
            <a:off x="10960100" y="4457700"/>
            <a:ext cx="581660" cy="13970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5" name="Picture 244" descr="putar-orany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10900" y="4486275"/>
            <a:ext cx="82550" cy="82550"/>
          </a:xfrm>
          <a:prstGeom prst="rect">
            <a:avLst/>
          </a:prstGeom>
        </p:spPr>
      </p:pic>
      <p:sp>
        <p:nvSpPr>
          <p:cNvPr id="246" name="TextBox 245"/>
          <p:cNvSpPr txBox="1"/>
          <p:nvPr/>
        </p:nvSpPr>
        <p:spPr>
          <a:xfrm>
            <a:off x="11112500" y="4457700"/>
            <a:ext cx="403859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90" b="1">
                <a:solidFill>
                  <a:srgbClr val="D9600B"/>
                </a:solidFill>
                <a:latin typeface="Roboto"/>
              </a:rPr>
              <a:t>berjalan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9182100" y="4622800"/>
            <a:ext cx="801370" cy="1397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8" name="Picture 247" descr="orang-navy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32900" y="4651375"/>
            <a:ext cx="82550" cy="82550"/>
          </a:xfrm>
          <a:prstGeom prst="rect">
            <a:avLst/>
          </a:prstGeom>
        </p:spPr>
      </p:pic>
      <p:sp>
        <p:nvSpPr>
          <p:cNvPr id="249" name="TextBox 248"/>
          <p:cNvSpPr txBox="1"/>
          <p:nvPr/>
        </p:nvSpPr>
        <p:spPr>
          <a:xfrm>
            <a:off x="9334500" y="4622800"/>
            <a:ext cx="62357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051C2C"/>
                </a:solidFill>
                <a:latin typeface="Roboto"/>
              </a:rPr>
              <a:t>5.984 personel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10034270" y="4622800"/>
            <a:ext cx="881380" cy="1397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1" name="Picture 250" descr="perisai-navy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085070" y="4651375"/>
            <a:ext cx="82550" cy="82550"/>
          </a:xfrm>
          <a:prstGeom prst="rect">
            <a:avLst/>
          </a:prstGeom>
        </p:spPr>
      </p:pic>
      <p:sp>
        <p:nvSpPr>
          <p:cNvPr id="252" name="TextBox 251"/>
          <p:cNvSpPr txBox="1"/>
          <p:nvPr/>
        </p:nvSpPr>
        <p:spPr>
          <a:xfrm>
            <a:off x="10186670" y="4622800"/>
            <a:ext cx="70358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051C2C"/>
                </a:solidFill>
                <a:latin typeface="Roboto"/>
              </a:rPr>
              <a:t>4 Daops, 12 regu</a:t>
            </a:r>
          </a:p>
        </p:txBody>
      </p:sp>
      <p:cxnSp>
        <p:nvCxnSpPr>
          <p:cNvPr id="253" name="Connector 252"/>
          <p:cNvCxnSpPr/>
          <p:nvPr/>
        </p:nvCxnSpPr>
        <p:spPr>
          <a:xfrm>
            <a:off x="8915400" y="4794250"/>
            <a:ext cx="2616200" cy="0"/>
          </a:xfrm>
          <a:prstGeom prst="line">
            <a:avLst/>
          </a:prstGeom>
          <a:ln w="6350">
            <a:solidFill>
              <a:srgbClr val="EE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4" name="Oval 253"/>
          <p:cNvSpPr/>
          <p:nvPr/>
        </p:nvSpPr>
        <p:spPr>
          <a:xfrm>
            <a:off x="8915400" y="4843780"/>
            <a:ext cx="203200" cy="203200"/>
          </a:xfrm>
          <a:prstGeom prst="ellipse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5" name="Picture 254" descr="lapis-putih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966200" y="4894580"/>
            <a:ext cx="101600" cy="101600"/>
          </a:xfrm>
          <a:prstGeom prst="rect">
            <a:avLst/>
          </a:prstGeom>
        </p:spPr>
      </p:pic>
      <p:sp>
        <p:nvSpPr>
          <p:cNvPr id="256" name="TextBox 255"/>
          <p:cNvSpPr txBox="1"/>
          <p:nvPr/>
        </p:nvSpPr>
        <p:spPr>
          <a:xfrm>
            <a:off x="9182100" y="4818380"/>
            <a:ext cx="15240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>
                <a:solidFill>
                  <a:srgbClr val="111827"/>
                </a:solidFill>
                <a:latin typeface="Roboto"/>
              </a:rPr>
              <a:t>Karhutla 2026</a:t>
            </a:r>
          </a:p>
        </p:txBody>
      </p:sp>
      <p:sp>
        <p:nvSpPr>
          <p:cNvPr id="257" name="Rounded Rectangle 256"/>
          <p:cNvSpPr/>
          <p:nvPr/>
        </p:nvSpPr>
        <p:spPr>
          <a:xfrm>
            <a:off x="10918825" y="4818380"/>
            <a:ext cx="624205" cy="1397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8" name="Picture 257" descr="lapis-navy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969625" y="4846955"/>
            <a:ext cx="82550" cy="82550"/>
          </a:xfrm>
          <a:prstGeom prst="rect">
            <a:avLst/>
          </a:prstGeom>
        </p:spPr>
      </p:pic>
      <p:sp>
        <p:nvSpPr>
          <p:cNvPr id="259" name="TextBox 258"/>
          <p:cNvSpPr txBox="1"/>
          <p:nvPr/>
        </p:nvSpPr>
        <p:spPr>
          <a:xfrm>
            <a:off x="11071225" y="4818380"/>
            <a:ext cx="446405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90" b="1">
                <a:solidFill>
                  <a:srgbClr val="051C2C"/>
                </a:solidFill>
                <a:latin typeface="Roboto"/>
              </a:rPr>
              <a:t>kumulatif</a:t>
            </a:r>
          </a:p>
        </p:txBody>
      </p:sp>
      <p:sp>
        <p:nvSpPr>
          <p:cNvPr id="260" name="Rounded Rectangle 259"/>
          <p:cNvSpPr/>
          <p:nvPr/>
        </p:nvSpPr>
        <p:spPr>
          <a:xfrm>
            <a:off x="9182100" y="4983480"/>
            <a:ext cx="961389" cy="13970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1" name="Picture 260" descr="grid-orany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32900" y="5012055"/>
            <a:ext cx="82550" cy="82550"/>
          </a:xfrm>
          <a:prstGeom prst="rect">
            <a:avLst/>
          </a:prstGeom>
        </p:spPr>
      </p:pic>
      <p:sp>
        <p:nvSpPr>
          <p:cNvPr id="262" name="TextBox 261"/>
          <p:cNvSpPr txBox="1"/>
          <p:nvPr/>
        </p:nvSpPr>
        <p:spPr>
          <a:xfrm>
            <a:off x="9334500" y="4983480"/>
            <a:ext cx="783589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D9600B"/>
                </a:solidFill>
                <a:latin typeface="Roboto"/>
              </a:rPr>
              <a:t>38.764 ha terbakar</a:t>
            </a:r>
          </a:p>
        </p:txBody>
      </p:sp>
      <p:sp>
        <p:nvSpPr>
          <p:cNvPr id="263" name="Rounded Rectangle 262"/>
          <p:cNvSpPr/>
          <p:nvPr/>
        </p:nvSpPr>
        <p:spPr>
          <a:xfrm>
            <a:off x="10194290" y="4983480"/>
            <a:ext cx="721360" cy="1397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4" name="Picture 263" descr="kalender-navy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245090" y="5012055"/>
            <a:ext cx="82550" cy="82550"/>
          </a:xfrm>
          <a:prstGeom prst="rect">
            <a:avLst/>
          </a:prstGeom>
        </p:spPr>
      </p:pic>
      <p:sp>
        <p:nvSpPr>
          <p:cNvPr id="265" name="TextBox 264"/>
          <p:cNvSpPr txBox="1"/>
          <p:nvPr/>
        </p:nvSpPr>
        <p:spPr>
          <a:xfrm>
            <a:off x="10346690" y="4983480"/>
            <a:ext cx="54356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051C2C"/>
                </a:solidFill>
                <a:latin typeface="Roboto"/>
              </a:rPr>
              <a:t>1 Jan–24 Okt</a:t>
            </a:r>
          </a:p>
        </p:txBody>
      </p:sp>
      <p:sp>
        <p:nvSpPr>
          <p:cNvPr id="266" name="Rounded Rectangle 265"/>
          <p:cNvSpPr/>
          <p:nvPr/>
        </p:nvSpPr>
        <p:spPr>
          <a:xfrm>
            <a:off x="546100" y="5295900"/>
            <a:ext cx="11099800" cy="863600"/>
          </a:xfrm>
          <a:prstGeom prst="roundRect">
            <a:avLst>
              <a:gd name="adj" fmla="val 11764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7" name="Rounded Rectangle 266"/>
          <p:cNvSpPr/>
          <p:nvPr/>
        </p:nvSpPr>
        <p:spPr>
          <a:xfrm>
            <a:off x="660400" y="5346700"/>
            <a:ext cx="1376680" cy="1778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8" name="Picture 267" descr="api-puti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" y="5384800"/>
            <a:ext cx="101600" cy="101600"/>
          </a:xfrm>
          <a:prstGeom prst="rect">
            <a:avLst/>
          </a:prstGeom>
        </p:spPr>
      </p:pic>
      <p:sp>
        <p:nvSpPr>
          <p:cNvPr id="269" name="TextBox 268"/>
          <p:cNvSpPr txBox="1"/>
          <p:nvPr/>
        </p:nvSpPr>
        <p:spPr>
          <a:xfrm>
            <a:off x="901700" y="5346700"/>
            <a:ext cx="112268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20" b="1" spc="120">
                <a:solidFill>
                  <a:srgbClr val="FFFFFF"/>
                </a:solidFill>
                <a:latin typeface="Roboto"/>
              </a:rPr>
              <a:t>TREN TITIK PANAS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7112000" y="53467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80" b="1">
                <a:solidFill>
                  <a:srgbClr val="2F86D1"/>
                </a:solidFill>
                <a:latin typeface="Roboto"/>
              </a:rPr>
              <a:t>▼95%  </a:t>
            </a:r>
            <a:r>
              <a:rPr sz="680" b="0">
                <a:solidFill>
                  <a:srgbClr val="4B5563"/>
                </a:solidFill>
                <a:latin typeface="Roboto"/>
              </a:rPr>
              <a:t>25 Okt s.d. 06.00 dibanding 24 Okt</a:t>
            </a:r>
          </a:p>
        </p:txBody>
      </p:sp>
      <p:sp>
        <p:nvSpPr>
          <p:cNvPr id="271" name="Rounded Rectangle 270"/>
          <p:cNvSpPr/>
          <p:nvPr/>
        </p:nvSpPr>
        <p:spPr>
          <a:xfrm>
            <a:off x="946150" y="5742659"/>
            <a:ext cx="787400" cy="124740"/>
          </a:xfrm>
          <a:prstGeom prst="roundRect">
            <a:avLst>
              <a:gd name="adj" fmla="val 25452"/>
            </a:avLst>
          </a:prstGeom>
          <a:solidFill>
            <a:srgbClr val="DC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2" name="TextBox 271"/>
          <p:cNvSpPr txBox="1"/>
          <p:nvPr/>
        </p:nvSpPr>
        <p:spPr>
          <a:xfrm>
            <a:off x="1022350" y="5577559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760" b="1">
                <a:solidFill>
                  <a:srgbClr val="051C2C"/>
                </a:solidFill>
                <a:latin typeface="Roboto"/>
              </a:rPr>
              <a:t>345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933450" y="58928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80" b="0">
                <a:solidFill>
                  <a:srgbClr val="6B7280"/>
                </a:solidFill>
                <a:latin typeface="Roboto"/>
              </a:rPr>
              <a:t>18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2305050" y="5837751"/>
            <a:ext cx="787400" cy="29648"/>
          </a:xfrm>
          <a:prstGeom prst="rect">
            <a:avLst/>
          </a:prstGeom>
          <a:solidFill>
            <a:srgbClr val="B7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5" name="TextBox 274"/>
          <p:cNvSpPr txBox="1"/>
          <p:nvPr/>
        </p:nvSpPr>
        <p:spPr>
          <a:xfrm>
            <a:off x="2381250" y="5672651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760" b="1">
                <a:solidFill>
                  <a:srgbClr val="051C2C"/>
                </a:solidFill>
                <a:latin typeface="Roboto"/>
              </a:rPr>
              <a:t>82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2292350" y="58928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80" b="0">
                <a:solidFill>
                  <a:srgbClr val="6B7280"/>
                </a:solidFill>
                <a:latin typeface="Roboto"/>
              </a:rPr>
              <a:t>19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2381250" y="5988050"/>
            <a:ext cx="635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80" b="1">
                <a:solidFill>
                  <a:srgbClr val="2F86D1"/>
                </a:solidFill>
                <a:latin typeface="Roboto"/>
              </a:rPr>
              <a:t>▼76%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3663950" y="5835943"/>
            <a:ext cx="787400" cy="31456"/>
          </a:xfrm>
          <a:prstGeom prst="rect">
            <a:avLst/>
          </a:prstGeom>
          <a:solidFill>
            <a:srgbClr val="F4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9" name="TextBox 278"/>
          <p:cNvSpPr txBox="1"/>
          <p:nvPr/>
        </p:nvSpPr>
        <p:spPr>
          <a:xfrm>
            <a:off x="3740150" y="5670843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760" b="1">
                <a:solidFill>
                  <a:srgbClr val="051C2C"/>
                </a:solidFill>
                <a:latin typeface="Roboto"/>
              </a:rPr>
              <a:t>87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3651250" y="58928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80" b="0">
                <a:solidFill>
                  <a:srgbClr val="6B7280"/>
                </a:solidFill>
                <a:latin typeface="Roboto"/>
              </a:rPr>
              <a:t>20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3740150" y="5988050"/>
            <a:ext cx="635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80" b="1">
                <a:solidFill>
                  <a:srgbClr val="D9600B"/>
                </a:solidFill>
                <a:latin typeface="Roboto"/>
              </a:rPr>
              <a:t>▲6%</a:t>
            </a:r>
          </a:p>
        </p:txBody>
      </p:sp>
      <p:sp>
        <p:nvSpPr>
          <p:cNvPr id="282" name="Rounded Rectangle 281"/>
          <p:cNvSpPr/>
          <p:nvPr/>
        </p:nvSpPr>
        <p:spPr>
          <a:xfrm>
            <a:off x="5022850" y="5562600"/>
            <a:ext cx="787400" cy="304800"/>
          </a:xfrm>
          <a:prstGeom prst="roundRect">
            <a:avLst>
              <a:gd name="adj" fmla="val 10416"/>
            </a:avLst>
          </a:prstGeom>
          <a:solidFill>
            <a:srgbClr val="F4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3" name="TextBox 282"/>
          <p:cNvSpPr txBox="1"/>
          <p:nvPr/>
        </p:nvSpPr>
        <p:spPr>
          <a:xfrm>
            <a:off x="5099050" y="5397500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760" b="1">
                <a:solidFill>
                  <a:srgbClr val="051C2C"/>
                </a:solidFill>
                <a:latin typeface="Roboto"/>
              </a:rPr>
              <a:t>843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5010150" y="58928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80" b="0">
                <a:solidFill>
                  <a:srgbClr val="6B7280"/>
                </a:solidFill>
                <a:latin typeface="Roboto"/>
              </a:rPr>
              <a:t>21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5099050" y="5988050"/>
            <a:ext cx="635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80" b="1">
                <a:solidFill>
                  <a:srgbClr val="D9600B"/>
                </a:solidFill>
                <a:latin typeface="Roboto"/>
              </a:rPr>
              <a:t>▲869%</a:t>
            </a:r>
          </a:p>
        </p:txBody>
      </p:sp>
      <p:sp>
        <p:nvSpPr>
          <p:cNvPr id="286" name="Rounded Rectangle 285"/>
          <p:cNvSpPr/>
          <p:nvPr/>
        </p:nvSpPr>
        <p:spPr>
          <a:xfrm>
            <a:off x="6381750" y="5728920"/>
            <a:ext cx="787400" cy="138479"/>
          </a:xfrm>
          <a:prstGeom prst="roundRect">
            <a:avLst>
              <a:gd name="adj" fmla="val 22927"/>
            </a:avLst>
          </a:prstGeom>
          <a:solidFill>
            <a:srgbClr val="B7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7" name="TextBox 286"/>
          <p:cNvSpPr txBox="1"/>
          <p:nvPr/>
        </p:nvSpPr>
        <p:spPr>
          <a:xfrm>
            <a:off x="6457950" y="5563820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760" b="1">
                <a:solidFill>
                  <a:srgbClr val="051C2C"/>
                </a:solidFill>
                <a:latin typeface="Roboto"/>
              </a:rPr>
              <a:t>383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6369050" y="58928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80" b="0">
                <a:solidFill>
                  <a:srgbClr val="6B7280"/>
                </a:solidFill>
                <a:latin typeface="Roboto"/>
              </a:rPr>
              <a:t>22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6457950" y="5988050"/>
            <a:ext cx="635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80" b="1">
                <a:solidFill>
                  <a:srgbClr val="2F86D1"/>
                </a:solidFill>
                <a:latin typeface="Roboto"/>
              </a:rPr>
              <a:t>▼55%</a:t>
            </a:r>
          </a:p>
        </p:txBody>
      </p:sp>
      <p:sp>
        <p:nvSpPr>
          <p:cNvPr id="290" name="Rounded Rectangle 289"/>
          <p:cNvSpPr/>
          <p:nvPr/>
        </p:nvSpPr>
        <p:spPr>
          <a:xfrm>
            <a:off x="7740650" y="5655160"/>
            <a:ext cx="787400" cy="212239"/>
          </a:xfrm>
          <a:prstGeom prst="roundRect">
            <a:avLst>
              <a:gd name="adj" fmla="val 14959"/>
            </a:avLst>
          </a:prstGeom>
          <a:solidFill>
            <a:srgbClr val="D96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1" name="TextBox 290"/>
          <p:cNvSpPr txBox="1"/>
          <p:nvPr/>
        </p:nvSpPr>
        <p:spPr>
          <a:xfrm>
            <a:off x="7816850" y="5490060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760" b="1">
                <a:solidFill>
                  <a:srgbClr val="051C2C"/>
                </a:solidFill>
                <a:latin typeface="Roboto"/>
              </a:rPr>
              <a:t>587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7727950" y="58928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80" b="0">
                <a:solidFill>
                  <a:srgbClr val="6B7280"/>
                </a:solidFill>
                <a:latin typeface="Roboto"/>
              </a:rPr>
              <a:t>23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7816850" y="5988050"/>
            <a:ext cx="635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80" b="1">
                <a:solidFill>
                  <a:srgbClr val="D9600B"/>
                </a:solidFill>
                <a:latin typeface="Roboto"/>
              </a:rPr>
              <a:t>▲53%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9099550" y="5795448"/>
            <a:ext cx="787400" cy="71951"/>
          </a:xfrm>
          <a:prstGeom prst="rect">
            <a:avLst/>
          </a:prstGeom>
          <a:solidFill>
            <a:srgbClr val="2F8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5" name="TextBox 294"/>
          <p:cNvSpPr txBox="1"/>
          <p:nvPr/>
        </p:nvSpPr>
        <p:spPr>
          <a:xfrm>
            <a:off x="9175750" y="5630348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760" b="1">
                <a:solidFill>
                  <a:srgbClr val="051C2C"/>
                </a:solidFill>
                <a:latin typeface="Roboto"/>
              </a:rPr>
              <a:t>199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9086850" y="58928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80" b="0">
                <a:solidFill>
                  <a:srgbClr val="6B7280"/>
                </a:solidFill>
                <a:latin typeface="Roboto"/>
              </a:rPr>
              <a:t>24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9175750" y="5988050"/>
            <a:ext cx="635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80" b="1">
                <a:solidFill>
                  <a:srgbClr val="2F86D1"/>
                </a:solidFill>
                <a:latin typeface="Roboto"/>
              </a:rPr>
              <a:t>▼66%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10458450" y="5847080"/>
            <a:ext cx="787400" cy="20320"/>
          </a:xfrm>
          <a:prstGeom prst="rect">
            <a:avLst/>
          </a:prstGeom>
          <a:solidFill>
            <a:srgbClr val="DCEBF8"/>
          </a:solidFill>
          <a:ln w="11430">
            <a:solidFill>
              <a:srgbClr val="6FA8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9" name="TextBox 298"/>
          <p:cNvSpPr txBox="1"/>
          <p:nvPr/>
        </p:nvSpPr>
        <p:spPr>
          <a:xfrm>
            <a:off x="10534650" y="5681980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760" b="1">
                <a:solidFill>
                  <a:srgbClr val="051C2C"/>
                </a:solidFill>
                <a:latin typeface="Roboto"/>
              </a:rPr>
              <a:t>9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10445750" y="58928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80" b="0">
                <a:solidFill>
                  <a:srgbClr val="6B7280"/>
                </a:solidFill>
                <a:latin typeface="Roboto"/>
              </a:rPr>
              <a:t>25 Okt, sementara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10534650" y="5988050"/>
            <a:ext cx="635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80" b="1">
                <a:solidFill>
                  <a:srgbClr val="2F86D1"/>
                </a:solidFill>
                <a:latin typeface="Roboto"/>
              </a:rPr>
              <a:t>▼95%</a:t>
            </a:r>
          </a:p>
        </p:txBody>
      </p:sp>
      <p:cxnSp>
        <p:nvCxnSpPr>
          <p:cNvPr id="302" name="Connector 301"/>
          <p:cNvCxnSpPr/>
          <p:nvPr/>
        </p:nvCxnSpPr>
        <p:spPr>
          <a:xfrm>
            <a:off x="660400" y="5867400"/>
            <a:ext cx="10871200" cy="0"/>
          </a:xfrm>
          <a:prstGeom prst="line">
            <a:avLst/>
          </a:prstGeom>
          <a:ln w="7620">
            <a:solidFill>
              <a:srgbClr val="C9D1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3" name="Rectangle 302"/>
          <p:cNvSpPr/>
          <p:nvPr/>
        </p:nvSpPr>
        <p:spPr>
          <a:xfrm>
            <a:off x="546100" y="6223000"/>
            <a:ext cx="33020" cy="152400"/>
          </a:xfrm>
          <a:prstGeom prst="rect">
            <a:avLst/>
          </a:prstGeom>
          <a:solidFill>
            <a:srgbClr val="2F8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4" name="TextBox 303"/>
          <p:cNvSpPr txBox="1"/>
          <p:nvPr/>
        </p:nvSpPr>
        <p:spPr>
          <a:xfrm>
            <a:off x="635000" y="6210300"/>
            <a:ext cx="10922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60" b="0">
                <a:solidFill>
                  <a:srgbClr val="1F2937"/>
                </a:solidFill>
                <a:latin typeface="Roboto"/>
              </a:rPr>
              <a:t>*Data berdasarkan Geographic Information System (GIS) dengan satelit NASA (FIRMS: VIIRS dan MODIS). Angka 25 Okt sementara, data s.d. 06.00 WIB. Personel: rekap BNPB harian 24 Okt; PM2.5: CAMS (perkiraan, belum divalidasi).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6100" y="304800"/>
            <a:ext cx="8255000" cy="50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29" b="1">
                <a:solidFill>
                  <a:srgbClr val="051C2C"/>
                </a:solidFill>
                <a:latin typeface="Roboto"/>
              </a:rPr>
              <a:t>Sebaran Titik Panas dan Kebakaran di </a:t>
            </a:r>
            <a:r>
              <a:rPr sz="1729" b="1">
                <a:solidFill>
                  <a:srgbClr val="D9600B"/>
                </a:solidFill>
                <a:latin typeface="Roboto"/>
              </a:rPr>
              <a:t>Kab. Tanjung Jabung Timur</a:t>
            </a:r>
            <a:r>
              <a:rPr sz="1729" b="1">
                <a:solidFill>
                  <a:srgbClr val="051C2C"/>
                </a:solidFill>
                <a:latin typeface="Roboto"/>
              </a:rPr>
              <a:t> per 25 Oktober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406400"/>
            <a:ext cx="2362200" cy="2159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kalender-puti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0800" y="450850"/>
            <a:ext cx="127000" cy="12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31300" y="406400"/>
            <a:ext cx="889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80" b="1" spc="120">
                <a:solidFill>
                  <a:srgbClr val="C9D1E3"/>
                </a:solidFill>
                <a:latin typeface="Roboto"/>
              </a:rPr>
              <a:t>CUT OFF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0" y="406400"/>
            <a:ext cx="12192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60" b="1">
                <a:solidFill>
                  <a:srgbClr val="FFFFFF"/>
                </a:solidFill>
                <a:latin typeface="Roboto"/>
              </a:rPr>
              <a:t>25 Okt 2026, 06.00 WIB</a:t>
            </a:r>
          </a:p>
        </p:txBody>
      </p:sp>
      <p:pic>
        <p:nvPicPr>
          <p:cNvPr id="7" name="Picture 6" descr="logo_bnp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546100" y="901700"/>
            <a:ext cx="11099800" cy="0"/>
          </a:xfrm>
          <a:prstGeom prst="line">
            <a:avLst/>
          </a:prstGeom>
          <a:ln w="1143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6100" y="6451600"/>
            <a:ext cx="11099800" cy="0"/>
          </a:xfrm>
          <a:prstGeom prst="line">
            <a:avLst/>
          </a:prstGeom>
          <a:ln w="1143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6100" y="6502400"/>
            <a:ext cx="5486400" cy="200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F2937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720" y="6502400"/>
            <a:ext cx="548640" cy="200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19" b="1">
                <a:solidFill>
                  <a:srgbClr val="1F2937"/>
                </a:solidFill>
                <a:latin typeface="Roboto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6100" y="1028700"/>
            <a:ext cx="7175500" cy="990600"/>
          </a:xfrm>
          <a:prstGeom prst="roundRect">
            <a:avLst>
              <a:gd name="adj" fmla="val 10256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60400" y="1104900"/>
            <a:ext cx="1127760" cy="1778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api-puti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" y="1143000"/>
            <a:ext cx="101600" cy="101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01700" y="1104900"/>
            <a:ext cx="87376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20" b="1" spc="120">
                <a:solidFill>
                  <a:srgbClr val="FFFFFF"/>
                </a:solidFill>
                <a:latin typeface="Roboto"/>
              </a:rPr>
              <a:t>DATA SATELIT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0400" y="1358900"/>
            <a:ext cx="2247900" cy="54610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774700" y="1479550"/>
            <a:ext cx="304800" cy="304800"/>
          </a:xfrm>
          <a:prstGeom prst="ellipse">
            <a:avLst/>
          </a:prstGeom>
          <a:solidFill>
            <a:srgbClr val="FB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api-orany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543050"/>
            <a:ext cx="177800" cy="177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81100" y="1384300"/>
            <a:ext cx="1663700" cy="2730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700" b="1">
                <a:solidFill>
                  <a:srgbClr val="D9600B"/>
                </a:solidFill>
                <a:latin typeface="Roboto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1100" y="1648333"/>
            <a:ext cx="1663700" cy="2457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40" b="0">
                <a:solidFill>
                  <a:srgbClr val="374151"/>
                </a:solidFill>
                <a:latin typeface="Roboto"/>
              </a:rPr>
              <a:t>titik panas 25 Okt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09900" y="1358900"/>
            <a:ext cx="2247900" cy="54610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3124200" y="1479550"/>
            <a:ext cx="304800" cy="304800"/>
          </a:xfrm>
          <a:prstGeom prst="ellipse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grid-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7700" y="1543050"/>
            <a:ext cx="177800" cy="177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530600" y="1384300"/>
            <a:ext cx="1663700" cy="2730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700" b="1">
                <a:solidFill>
                  <a:srgbClr val="051C2C"/>
                </a:solidFill>
                <a:latin typeface="Roboto"/>
              </a:rPr>
              <a:t>124 ha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30600" y="1648333"/>
            <a:ext cx="1663700" cy="2457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40" b="0">
                <a:solidFill>
                  <a:srgbClr val="374151"/>
                </a:solidFill>
                <a:latin typeface="Roboto"/>
              </a:rPr>
              <a:t>luas terbakar 25 Okt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59400" y="1358900"/>
            <a:ext cx="2260600" cy="54610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5473700" y="1479550"/>
            <a:ext cx="304800" cy="304800"/>
          </a:xfrm>
          <a:prstGeom prst="ellipse">
            <a:avLst/>
          </a:prstGeom>
          <a:solidFill>
            <a:srgbClr val="F8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awas-mera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7200" y="1543050"/>
            <a:ext cx="177800" cy="1778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880100" y="1384300"/>
            <a:ext cx="1676400" cy="2730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700" b="1">
                <a:solidFill>
                  <a:srgbClr val="C8102E"/>
                </a:solidFill>
                <a:latin typeface="Roboto"/>
              </a:rPr>
              <a:t>99 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80100" y="1648333"/>
            <a:ext cx="1676400" cy="2457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40" b="0">
                <a:solidFill>
                  <a:srgbClr val="374151"/>
                </a:solidFill>
                <a:latin typeface="Roboto"/>
              </a:rPr>
              <a:t>belum padam 25 Okt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01000" y="1028700"/>
            <a:ext cx="3644900" cy="990600"/>
          </a:xfrm>
          <a:prstGeom prst="roundRect">
            <a:avLst>
              <a:gd name="adj" fmla="val 10256"/>
            </a:avLst>
          </a:prstGeom>
          <a:solidFill>
            <a:srgbClr val="FB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8115300" y="1104900"/>
            <a:ext cx="1314450" cy="17780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3" name="Picture 32" descr="awas-puti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4200" y="1143000"/>
            <a:ext cx="101600" cy="1016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356600" y="1104900"/>
            <a:ext cx="106045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20" b="1" spc="120">
                <a:solidFill>
                  <a:srgbClr val="FFFFFF"/>
                </a:solidFill>
                <a:latin typeface="Roboto"/>
              </a:rPr>
              <a:t>PERLU PERHATIAN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358900"/>
            <a:ext cx="1676400" cy="54610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8216900" y="1479550"/>
            <a:ext cx="304800" cy="304800"/>
          </a:xfrm>
          <a:prstGeom prst="ellipse">
            <a:avLst/>
          </a:prstGeom>
          <a:solidFill>
            <a:srgbClr val="F8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7" name="Picture 36" descr="api-mera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0400" y="1543050"/>
            <a:ext cx="177800" cy="177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623300" y="1384300"/>
            <a:ext cx="1092200" cy="2730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500" b="1">
                <a:solidFill>
                  <a:srgbClr val="C8102E"/>
                </a:solidFill>
                <a:latin typeface="Roboto"/>
              </a:rPr>
              <a:t>96 ha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23300" y="1648333"/>
            <a:ext cx="1092200" cy="2457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20" b="0">
                <a:solidFill>
                  <a:srgbClr val="374151"/>
                </a:solidFill>
                <a:latin typeface="Roboto"/>
              </a:rPr>
              <a:t>belum padam di kawasan konservasi, 25 Okt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67900" y="1358900"/>
            <a:ext cx="1676400" cy="54610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9982200" y="1479550"/>
            <a:ext cx="304800" cy="304800"/>
          </a:xfrm>
          <a:prstGeom prst="ellipse">
            <a:avLst/>
          </a:prstGeom>
          <a:solidFill>
            <a:srgbClr val="FB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2" name="Picture 41" descr="pohon-orany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45700" y="1543050"/>
            <a:ext cx="177800" cy="1778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388600" y="1384300"/>
            <a:ext cx="1092200" cy="2730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500" b="1">
                <a:solidFill>
                  <a:srgbClr val="D9600B"/>
                </a:solidFill>
                <a:latin typeface="Roboto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88600" y="1648333"/>
            <a:ext cx="1092200" cy="2457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20" b="0">
                <a:solidFill>
                  <a:srgbClr val="374151"/>
                </a:solidFill>
                <a:latin typeface="Roboto"/>
              </a:rPr>
              <a:t>titik di kawasan konservasi, 25 Okt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6100" y="2095500"/>
            <a:ext cx="5410200" cy="406400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552450" y="2101850"/>
            <a:ext cx="5397500" cy="482600"/>
          </a:xfrm>
          <a:prstGeom prst="roundRect">
            <a:avLst>
              <a:gd name="adj" fmla="val 15789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552450" y="2476500"/>
            <a:ext cx="5397500" cy="10795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Connector 47"/>
          <p:cNvCxnSpPr/>
          <p:nvPr/>
        </p:nvCxnSpPr>
        <p:spPr>
          <a:xfrm>
            <a:off x="546100" y="2578100"/>
            <a:ext cx="5410200" cy="0"/>
          </a:xfrm>
          <a:prstGeom prst="line">
            <a:avLst/>
          </a:prstGeom>
          <a:ln w="9525">
            <a:solidFill>
              <a:srgbClr val="D5D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673100" y="21907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0" name="Picture 49" descr="kalender-puti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2254250"/>
            <a:ext cx="165100" cy="1651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054100" y="2095500"/>
            <a:ext cx="42672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51C2C"/>
                </a:solidFill>
                <a:latin typeface="Roboto"/>
              </a:rPr>
              <a:t>Tren Harian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266700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40" b="1">
                <a:solidFill>
                  <a:srgbClr val="051C2C"/>
                </a:solidFill>
                <a:latin typeface="Roboto"/>
              </a:rPr>
              <a:t>Titik panas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0418" y="3239848"/>
            <a:ext cx="393700" cy="138351"/>
          </a:xfrm>
          <a:prstGeom prst="roundRect">
            <a:avLst>
              <a:gd name="adj" fmla="val 22948"/>
            </a:avLst>
          </a:prstGeom>
          <a:solidFill>
            <a:srgbClr val="DC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89768" y="3074748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720" b="1">
                <a:solidFill>
                  <a:srgbClr val="051C2C"/>
                </a:solidFill>
                <a:latin typeface="Roboto"/>
              </a:rPr>
              <a:t>150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0868" y="34036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0">
                <a:solidFill>
                  <a:srgbClr val="6B7280"/>
                </a:solidFill>
                <a:latin typeface="Roboto"/>
              </a:rPr>
              <a:t>18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453356" y="3352374"/>
            <a:ext cx="393700" cy="25825"/>
          </a:xfrm>
          <a:prstGeom prst="rect">
            <a:avLst/>
          </a:prstGeom>
          <a:solidFill>
            <a:srgbClr val="B7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1332706" y="3187274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720" b="1">
                <a:solidFill>
                  <a:srgbClr val="051C2C"/>
                </a:solidFill>
                <a:latin typeface="Roboto"/>
              </a:rPr>
              <a:t>28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43806" y="34036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0">
                <a:solidFill>
                  <a:srgbClr val="6B7280"/>
                </a:solidFill>
                <a:latin typeface="Roboto"/>
              </a:rPr>
              <a:t>19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32706" y="3498850"/>
            <a:ext cx="635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1">
                <a:solidFill>
                  <a:srgbClr val="2F86D1"/>
                </a:solidFill>
                <a:latin typeface="Roboto"/>
              </a:rPr>
              <a:t>▼81%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96293" y="3328393"/>
            <a:ext cx="393700" cy="49806"/>
          </a:xfrm>
          <a:prstGeom prst="rect">
            <a:avLst/>
          </a:prstGeom>
          <a:solidFill>
            <a:srgbClr val="F4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1975643" y="3163293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720" b="1">
                <a:solidFill>
                  <a:srgbClr val="051C2C"/>
                </a:solidFill>
                <a:latin typeface="Roboto"/>
              </a:rPr>
              <a:t>54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86743" y="34036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0">
                <a:solidFill>
                  <a:srgbClr val="6B7280"/>
                </a:solidFill>
                <a:latin typeface="Roboto"/>
              </a:rPr>
              <a:t>20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75643" y="3498850"/>
            <a:ext cx="635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1">
                <a:solidFill>
                  <a:srgbClr val="D9600B"/>
                </a:solidFill>
                <a:latin typeface="Roboto"/>
              </a:rPr>
              <a:t>▲93%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739231" y="3048000"/>
            <a:ext cx="393700" cy="330200"/>
          </a:xfrm>
          <a:prstGeom prst="roundRect">
            <a:avLst>
              <a:gd name="adj" fmla="val 9615"/>
            </a:avLst>
          </a:prstGeom>
          <a:solidFill>
            <a:srgbClr val="F4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2618581" y="2882900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720" b="1">
                <a:solidFill>
                  <a:srgbClr val="051C2C"/>
                </a:solidFill>
                <a:latin typeface="Roboto"/>
              </a:rPr>
              <a:t>358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9681" y="34036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0">
                <a:solidFill>
                  <a:srgbClr val="6B7280"/>
                </a:solidFill>
                <a:latin typeface="Roboto"/>
              </a:rPr>
              <a:t>21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18581" y="3498850"/>
            <a:ext cx="635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1">
                <a:solidFill>
                  <a:srgbClr val="D9600B"/>
                </a:solidFill>
                <a:latin typeface="Roboto"/>
              </a:rPr>
              <a:t>▲563%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382168" y="3223245"/>
            <a:ext cx="393700" cy="154954"/>
          </a:xfrm>
          <a:prstGeom prst="roundRect">
            <a:avLst>
              <a:gd name="adj" fmla="val 20489"/>
            </a:avLst>
          </a:prstGeom>
          <a:solidFill>
            <a:srgbClr val="B7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3261518" y="3058145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720" b="1">
                <a:solidFill>
                  <a:srgbClr val="051C2C"/>
                </a:solidFill>
                <a:latin typeface="Roboto"/>
              </a:rPr>
              <a:t>168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72618" y="34036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0">
                <a:solidFill>
                  <a:srgbClr val="6B7280"/>
                </a:solidFill>
                <a:latin typeface="Roboto"/>
              </a:rPr>
              <a:t>22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61518" y="3498850"/>
            <a:ext cx="635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1">
                <a:solidFill>
                  <a:srgbClr val="2F86D1"/>
                </a:solidFill>
                <a:latin typeface="Roboto"/>
              </a:rPr>
              <a:t>▼53%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025106" y="3210332"/>
            <a:ext cx="393700" cy="167867"/>
          </a:xfrm>
          <a:prstGeom prst="roundRect">
            <a:avLst>
              <a:gd name="adj" fmla="val 18913"/>
            </a:avLst>
          </a:prstGeom>
          <a:solidFill>
            <a:srgbClr val="D96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3904456" y="3045232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720" b="1">
                <a:solidFill>
                  <a:srgbClr val="051C2C"/>
                </a:solidFill>
                <a:latin typeface="Roboto"/>
              </a:rPr>
              <a:t>182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15556" y="34036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0">
                <a:solidFill>
                  <a:srgbClr val="6B7280"/>
                </a:solidFill>
                <a:latin typeface="Roboto"/>
              </a:rPr>
              <a:t>23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904456" y="3498850"/>
            <a:ext cx="635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1">
                <a:solidFill>
                  <a:srgbClr val="D9600B"/>
                </a:solidFill>
                <a:latin typeface="Roboto"/>
              </a:rPr>
              <a:t>▲8%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68043" y="3303489"/>
            <a:ext cx="393700" cy="74710"/>
          </a:xfrm>
          <a:prstGeom prst="rect">
            <a:avLst/>
          </a:prstGeom>
          <a:solidFill>
            <a:srgbClr val="2F8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4547393" y="3138389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720" b="1">
                <a:solidFill>
                  <a:srgbClr val="051C2C"/>
                </a:solidFill>
                <a:latin typeface="Roboto"/>
              </a:rPr>
              <a:t>81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458493" y="34036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0">
                <a:solidFill>
                  <a:srgbClr val="6B7280"/>
                </a:solidFill>
                <a:latin typeface="Roboto"/>
              </a:rPr>
              <a:t>24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47393" y="3498850"/>
            <a:ext cx="635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1">
                <a:solidFill>
                  <a:srgbClr val="2F86D1"/>
                </a:solidFill>
                <a:latin typeface="Roboto"/>
              </a:rPr>
              <a:t>▼55%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310981" y="3357879"/>
            <a:ext cx="393700" cy="20320"/>
          </a:xfrm>
          <a:prstGeom prst="rect">
            <a:avLst/>
          </a:prstGeom>
          <a:solidFill>
            <a:srgbClr val="DCEBF8"/>
          </a:solidFill>
          <a:ln w="11430">
            <a:solidFill>
              <a:srgbClr val="6FA8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5190331" y="3192779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720" b="1">
                <a:solidFill>
                  <a:srgbClr val="051C2C"/>
                </a:solidFill>
                <a:latin typeface="Roboto"/>
              </a:rPr>
              <a:t>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101431" y="34036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0">
                <a:solidFill>
                  <a:srgbClr val="6B7280"/>
                </a:solidFill>
                <a:latin typeface="Roboto"/>
              </a:rPr>
              <a:t>25 Okt, sementara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90331" y="3498850"/>
            <a:ext cx="635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1">
                <a:solidFill>
                  <a:srgbClr val="2F86D1"/>
                </a:solidFill>
                <a:latin typeface="Roboto"/>
              </a:rPr>
              <a:t>▼90%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685800" y="3378200"/>
            <a:ext cx="5143500" cy="0"/>
          </a:xfrm>
          <a:prstGeom prst="line">
            <a:avLst/>
          </a:prstGeom>
          <a:ln w="7620">
            <a:solidFill>
              <a:srgbClr val="C9D1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685800" y="383540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40" b="1">
                <a:solidFill>
                  <a:srgbClr val="051C2C"/>
                </a:solidFill>
                <a:latin typeface="Roboto"/>
              </a:rPr>
              <a:t>Luas terbakar (ha)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10418" y="4306975"/>
            <a:ext cx="393700" cy="239624"/>
          </a:xfrm>
          <a:prstGeom prst="roundRect">
            <a:avLst>
              <a:gd name="adj" fmla="val 13249"/>
            </a:avLst>
          </a:prstGeom>
          <a:solidFill>
            <a:srgbClr val="DC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689768" y="4141875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720" b="1">
                <a:solidFill>
                  <a:srgbClr val="051C2C"/>
                </a:solidFill>
                <a:latin typeface="Roboto"/>
              </a:rPr>
              <a:t>418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00868" y="45720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0">
                <a:solidFill>
                  <a:srgbClr val="6B7280"/>
                </a:solidFill>
                <a:latin typeface="Roboto"/>
              </a:rPr>
              <a:t>18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453356" y="4513923"/>
            <a:ext cx="393700" cy="32676"/>
          </a:xfrm>
          <a:prstGeom prst="rect">
            <a:avLst/>
          </a:prstGeom>
          <a:solidFill>
            <a:srgbClr val="B7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1332706" y="4348823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720" b="1">
                <a:solidFill>
                  <a:srgbClr val="051C2C"/>
                </a:solidFill>
                <a:latin typeface="Roboto"/>
              </a:rPr>
              <a:t>57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43806" y="45720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0">
                <a:solidFill>
                  <a:srgbClr val="6B7280"/>
                </a:solidFill>
                <a:latin typeface="Roboto"/>
              </a:rPr>
              <a:t>19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332706" y="4667250"/>
            <a:ext cx="635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1">
                <a:solidFill>
                  <a:srgbClr val="2F86D1"/>
                </a:solidFill>
                <a:latin typeface="Roboto"/>
              </a:rPr>
              <a:t>▼86%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096293" y="4475515"/>
            <a:ext cx="393700" cy="71084"/>
          </a:xfrm>
          <a:prstGeom prst="rect">
            <a:avLst/>
          </a:prstGeom>
          <a:solidFill>
            <a:srgbClr val="F4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1975643" y="4310415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720" b="1">
                <a:solidFill>
                  <a:srgbClr val="051C2C"/>
                </a:solidFill>
                <a:latin typeface="Roboto"/>
              </a:rPr>
              <a:t>124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886743" y="45720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0">
                <a:solidFill>
                  <a:srgbClr val="6B7280"/>
                </a:solidFill>
                <a:latin typeface="Roboto"/>
              </a:rPr>
              <a:t>20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975643" y="4667250"/>
            <a:ext cx="635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1">
                <a:solidFill>
                  <a:srgbClr val="D9600B"/>
                </a:solidFill>
                <a:latin typeface="Roboto"/>
              </a:rPr>
              <a:t>▲118%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739231" y="4216400"/>
            <a:ext cx="393700" cy="330200"/>
          </a:xfrm>
          <a:prstGeom prst="roundRect">
            <a:avLst>
              <a:gd name="adj" fmla="val 9615"/>
            </a:avLst>
          </a:prstGeom>
          <a:solidFill>
            <a:srgbClr val="F4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2618581" y="4051300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720" b="1">
                <a:solidFill>
                  <a:srgbClr val="051C2C"/>
                </a:solidFill>
                <a:latin typeface="Roboto"/>
              </a:rPr>
              <a:t>576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529681" y="45720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0">
                <a:solidFill>
                  <a:srgbClr val="6B7280"/>
                </a:solidFill>
                <a:latin typeface="Roboto"/>
              </a:rPr>
              <a:t>21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618581" y="4667250"/>
            <a:ext cx="635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1">
                <a:solidFill>
                  <a:srgbClr val="D9600B"/>
                </a:solidFill>
                <a:latin typeface="Roboto"/>
              </a:rPr>
              <a:t>▲365%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3382168" y="4431947"/>
            <a:ext cx="393700" cy="114652"/>
          </a:xfrm>
          <a:prstGeom prst="roundRect">
            <a:avLst>
              <a:gd name="adj" fmla="val 27692"/>
            </a:avLst>
          </a:prstGeom>
          <a:solidFill>
            <a:srgbClr val="B7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3261518" y="4266847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720" b="1">
                <a:solidFill>
                  <a:srgbClr val="051C2C"/>
                </a:solidFill>
                <a:latin typeface="Roboto"/>
              </a:rPr>
              <a:t>200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172618" y="45720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0">
                <a:solidFill>
                  <a:srgbClr val="6B7280"/>
                </a:solidFill>
                <a:latin typeface="Roboto"/>
              </a:rPr>
              <a:t>22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261518" y="4667250"/>
            <a:ext cx="635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1">
                <a:solidFill>
                  <a:srgbClr val="2F86D1"/>
                </a:solidFill>
                <a:latin typeface="Roboto"/>
              </a:rPr>
              <a:t>▼65%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4025106" y="4262261"/>
            <a:ext cx="393700" cy="284338"/>
          </a:xfrm>
          <a:prstGeom prst="roundRect">
            <a:avLst>
              <a:gd name="adj" fmla="val 11166"/>
            </a:avLst>
          </a:prstGeom>
          <a:solidFill>
            <a:srgbClr val="D96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3904456" y="4097161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720" b="1">
                <a:solidFill>
                  <a:srgbClr val="051C2C"/>
                </a:solidFill>
                <a:latin typeface="Roboto"/>
              </a:rPr>
              <a:t>496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815556" y="45720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0">
                <a:solidFill>
                  <a:srgbClr val="6B7280"/>
                </a:solidFill>
                <a:latin typeface="Roboto"/>
              </a:rPr>
              <a:t>23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904456" y="4667250"/>
            <a:ext cx="635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1">
                <a:solidFill>
                  <a:srgbClr val="D9600B"/>
                </a:solidFill>
                <a:latin typeface="Roboto"/>
              </a:rPr>
              <a:t>▲148%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668043" y="4470355"/>
            <a:ext cx="393700" cy="76244"/>
          </a:xfrm>
          <a:prstGeom prst="roundRect">
            <a:avLst>
              <a:gd name="adj" fmla="val 41642"/>
            </a:avLst>
          </a:prstGeom>
          <a:solidFill>
            <a:srgbClr val="2F8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4547393" y="4305255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720" b="1">
                <a:solidFill>
                  <a:srgbClr val="051C2C"/>
                </a:solidFill>
                <a:latin typeface="Roboto"/>
              </a:rPr>
              <a:t>133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458493" y="45720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0">
                <a:solidFill>
                  <a:srgbClr val="6B7280"/>
                </a:solidFill>
                <a:latin typeface="Roboto"/>
              </a:rPr>
              <a:t>24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547393" y="4667250"/>
            <a:ext cx="635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1">
                <a:solidFill>
                  <a:srgbClr val="2F86D1"/>
                </a:solidFill>
                <a:latin typeface="Roboto"/>
              </a:rPr>
              <a:t>▼73%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310981" y="4475545"/>
            <a:ext cx="393700" cy="71054"/>
          </a:xfrm>
          <a:prstGeom prst="rect">
            <a:avLst/>
          </a:prstGeom>
          <a:solidFill>
            <a:srgbClr val="DCEBF8"/>
          </a:solidFill>
          <a:ln w="11430">
            <a:solidFill>
              <a:srgbClr val="6FA8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5190331" y="4310445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720" b="1">
                <a:solidFill>
                  <a:srgbClr val="051C2C"/>
                </a:solidFill>
                <a:latin typeface="Roboto"/>
              </a:rPr>
              <a:t>124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101431" y="45720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0">
                <a:solidFill>
                  <a:srgbClr val="6B7280"/>
                </a:solidFill>
                <a:latin typeface="Roboto"/>
              </a:rPr>
              <a:t>25 Okt, sementara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190331" y="4667250"/>
            <a:ext cx="635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1">
                <a:solidFill>
                  <a:srgbClr val="2F86D1"/>
                </a:solidFill>
                <a:latin typeface="Roboto"/>
              </a:rPr>
              <a:t>▼7%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685800" y="4546600"/>
            <a:ext cx="5143500" cy="0"/>
          </a:xfrm>
          <a:prstGeom prst="line">
            <a:avLst/>
          </a:prstGeom>
          <a:ln w="7620">
            <a:solidFill>
              <a:srgbClr val="C9D1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685800" y="500380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40" b="1">
                <a:solidFill>
                  <a:srgbClr val="051C2C"/>
                </a:solidFill>
                <a:latin typeface="Roboto"/>
              </a:rPr>
              <a:t>Belum padam (ha)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10418" y="5665841"/>
            <a:ext cx="393700" cy="49158"/>
          </a:xfrm>
          <a:prstGeom prst="rect">
            <a:avLst/>
          </a:prstGeom>
          <a:solidFill>
            <a:srgbClr val="DC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689768" y="5500741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720" b="1">
                <a:solidFill>
                  <a:srgbClr val="051C2C"/>
                </a:solidFill>
                <a:latin typeface="Roboto"/>
              </a:rPr>
              <a:t>53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00868" y="57404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0">
                <a:solidFill>
                  <a:srgbClr val="6B7280"/>
                </a:solidFill>
                <a:latin typeface="Roboto"/>
              </a:rPr>
              <a:t>18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453356" y="5691811"/>
            <a:ext cx="393700" cy="23188"/>
          </a:xfrm>
          <a:prstGeom prst="rect">
            <a:avLst/>
          </a:prstGeom>
          <a:solidFill>
            <a:srgbClr val="B7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TextBox 122"/>
          <p:cNvSpPr txBox="1"/>
          <p:nvPr/>
        </p:nvSpPr>
        <p:spPr>
          <a:xfrm>
            <a:off x="1332706" y="5526711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720" b="1">
                <a:solidFill>
                  <a:srgbClr val="051C2C"/>
                </a:solidFill>
                <a:latin typeface="Roboto"/>
              </a:rPr>
              <a:t>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243806" y="57404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0">
                <a:solidFill>
                  <a:srgbClr val="6B7280"/>
                </a:solidFill>
                <a:latin typeface="Roboto"/>
              </a:rPr>
              <a:t>19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332706" y="5835650"/>
            <a:ext cx="635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1">
                <a:solidFill>
                  <a:srgbClr val="2F86D1"/>
                </a:solidFill>
                <a:latin typeface="Roboto"/>
              </a:rPr>
              <a:t>▼53%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096293" y="5683464"/>
            <a:ext cx="393700" cy="31535"/>
          </a:xfrm>
          <a:prstGeom prst="rect">
            <a:avLst/>
          </a:prstGeom>
          <a:solidFill>
            <a:srgbClr val="F4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TextBox 126"/>
          <p:cNvSpPr txBox="1"/>
          <p:nvPr/>
        </p:nvSpPr>
        <p:spPr>
          <a:xfrm>
            <a:off x="1975643" y="5518364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720" b="1">
                <a:solidFill>
                  <a:srgbClr val="051C2C"/>
                </a:solidFill>
                <a:latin typeface="Roboto"/>
              </a:rPr>
              <a:t>34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886743" y="57404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0">
                <a:solidFill>
                  <a:srgbClr val="6B7280"/>
                </a:solidFill>
                <a:latin typeface="Roboto"/>
              </a:rPr>
              <a:t>20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975643" y="5835650"/>
            <a:ext cx="635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1">
                <a:solidFill>
                  <a:srgbClr val="D9600B"/>
                </a:solidFill>
                <a:latin typeface="Roboto"/>
              </a:rPr>
              <a:t>▲36%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2739231" y="5455292"/>
            <a:ext cx="393700" cy="259707"/>
          </a:xfrm>
          <a:prstGeom prst="roundRect">
            <a:avLst>
              <a:gd name="adj" fmla="val 12225"/>
            </a:avLst>
          </a:prstGeom>
          <a:solidFill>
            <a:srgbClr val="F4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TextBox 130"/>
          <p:cNvSpPr txBox="1"/>
          <p:nvPr/>
        </p:nvSpPr>
        <p:spPr>
          <a:xfrm>
            <a:off x="2618581" y="5290192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720" b="1">
                <a:solidFill>
                  <a:srgbClr val="051C2C"/>
                </a:solidFill>
                <a:latin typeface="Roboto"/>
              </a:rPr>
              <a:t>280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529681" y="57404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0">
                <a:solidFill>
                  <a:srgbClr val="6B7280"/>
                </a:solidFill>
                <a:latin typeface="Roboto"/>
              </a:rPr>
              <a:t>21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618581" y="5835650"/>
            <a:ext cx="635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1">
                <a:solidFill>
                  <a:srgbClr val="D9600B"/>
                </a:solidFill>
                <a:latin typeface="Roboto"/>
              </a:rPr>
              <a:t>▲724%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3382168" y="5550827"/>
            <a:ext cx="393700" cy="164172"/>
          </a:xfrm>
          <a:prstGeom prst="roundRect">
            <a:avLst>
              <a:gd name="adj" fmla="val 19339"/>
            </a:avLst>
          </a:prstGeom>
          <a:solidFill>
            <a:srgbClr val="B7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TextBox 134"/>
          <p:cNvSpPr txBox="1"/>
          <p:nvPr/>
        </p:nvSpPr>
        <p:spPr>
          <a:xfrm>
            <a:off x="3261518" y="5385727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720" b="1">
                <a:solidFill>
                  <a:srgbClr val="051C2C"/>
                </a:solidFill>
                <a:latin typeface="Roboto"/>
              </a:rPr>
              <a:t>177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172618" y="57404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0">
                <a:solidFill>
                  <a:srgbClr val="6B7280"/>
                </a:solidFill>
                <a:latin typeface="Roboto"/>
              </a:rPr>
              <a:t>22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261518" y="5835650"/>
            <a:ext cx="635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1">
                <a:solidFill>
                  <a:srgbClr val="2F86D1"/>
                </a:solidFill>
                <a:latin typeface="Roboto"/>
              </a:rPr>
              <a:t>▼37%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4025106" y="5384800"/>
            <a:ext cx="393700" cy="330200"/>
          </a:xfrm>
          <a:prstGeom prst="roundRect">
            <a:avLst>
              <a:gd name="adj" fmla="val 9615"/>
            </a:avLst>
          </a:prstGeom>
          <a:solidFill>
            <a:srgbClr val="D96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TextBox 138"/>
          <p:cNvSpPr txBox="1"/>
          <p:nvPr/>
        </p:nvSpPr>
        <p:spPr>
          <a:xfrm>
            <a:off x="3904456" y="5219700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720" b="1">
                <a:solidFill>
                  <a:srgbClr val="051C2C"/>
                </a:solidFill>
                <a:latin typeface="Roboto"/>
              </a:rPr>
              <a:t>356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815556" y="57404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0">
                <a:solidFill>
                  <a:srgbClr val="6B7280"/>
                </a:solidFill>
                <a:latin typeface="Roboto"/>
              </a:rPr>
              <a:t>23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904456" y="5835650"/>
            <a:ext cx="635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1">
                <a:solidFill>
                  <a:srgbClr val="D9600B"/>
                </a:solidFill>
                <a:latin typeface="Roboto"/>
              </a:rPr>
              <a:t>▲101%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4668043" y="5595348"/>
            <a:ext cx="393700" cy="119651"/>
          </a:xfrm>
          <a:prstGeom prst="roundRect">
            <a:avLst>
              <a:gd name="adj" fmla="val 26535"/>
            </a:avLst>
          </a:prstGeom>
          <a:solidFill>
            <a:srgbClr val="2F8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TextBox 142"/>
          <p:cNvSpPr txBox="1"/>
          <p:nvPr/>
        </p:nvSpPr>
        <p:spPr>
          <a:xfrm>
            <a:off x="4547393" y="5430248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720" b="1">
                <a:solidFill>
                  <a:srgbClr val="051C2C"/>
                </a:solidFill>
                <a:latin typeface="Roboto"/>
              </a:rPr>
              <a:t>129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458493" y="57404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0">
                <a:solidFill>
                  <a:srgbClr val="6B7280"/>
                </a:solidFill>
                <a:latin typeface="Roboto"/>
              </a:rPr>
              <a:t>24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547393" y="5835650"/>
            <a:ext cx="635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1">
                <a:solidFill>
                  <a:srgbClr val="2F86D1"/>
                </a:solidFill>
                <a:latin typeface="Roboto"/>
              </a:rPr>
              <a:t>▼64%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5310981" y="5623454"/>
            <a:ext cx="393700" cy="91545"/>
          </a:xfrm>
          <a:prstGeom prst="roundRect">
            <a:avLst>
              <a:gd name="adj" fmla="val 34682"/>
            </a:avLst>
          </a:prstGeom>
          <a:solidFill>
            <a:srgbClr val="DCEBF8"/>
          </a:solidFill>
          <a:ln w="11430">
            <a:solidFill>
              <a:srgbClr val="6FA8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TextBox 146"/>
          <p:cNvSpPr txBox="1"/>
          <p:nvPr/>
        </p:nvSpPr>
        <p:spPr>
          <a:xfrm>
            <a:off x="5190331" y="5458354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720" b="1">
                <a:solidFill>
                  <a:srgbClr val="051C2C"/>
                </a:solidFill>
                <a:latin typeface="Roboto"/>
              </a:rPr>
              <a:t>99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101431" y="57404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0">
                <a:solidFill>
                  <a:srgbClr val="6B7280"/>
                </a:solidFill>
                <a:latin typeface="Roboto"/>
              </a:rPr>
              <a:t>25 Okt, sementara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190331" y="5835650"/>
            <a:ext cx="635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1">
                <a:solidFill>
                  <a:srgbClr val="2F86D1"/>
                </a:solidFill>
                <a:latin typeface="Roboto"/>
              </a:rPr>
              <a:t>▼23%</a:t>
            </a:r>
          </a:p>
        </p:txBody>
      </p:sp>
      <p:cxnSp>
        <p:nvCxnSpPr>
          <p:cNvPr id="150" name="Connector 149"/>
          <p:cNvCxnSpPr/>
          <p:nvPr/>
        </p:nvCxnSpPr>
        <p:spPr>
          <a:xfrm>
            <a:off x="685800" y="5715000"/>
            <a:ext cx="5143500" cy="0"/>
          </a:xfrm>
          <a:prstGeom prst="line">
            <a:avLst/>
          </a:prstGeom>
          <a:ln w="7620">
            <a:solidFill>
              <a:srgbClr val="C9D1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Rounded Rectangle 150"/>
          <p:cNvSpPr/>
          <p:nvPr/>
        </p:nvSpPr>
        <p:spPr>
          <a:xfrm>
            <a:off x="6096000" y="2095500"/>
            <a:ext cx="5549900" cy="2311400"/>
          </a:xfrm>
          <a:prstGeom prst="roundRect">
            <a:avLst>
              <a:gd name="adj" fmla="val 3296"/>
            </a:avLst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Rounded Rectangle 151"/>
          <p:cNvSpPr/>
          <p:nvPr/>
        </p:nvSpPr>
        <p:spPr>
          <a:xfrm>
            <a:off x="6102350" y="2101850"/>
            <a:ext cx="5537200" cy="482600"/>
          </a:xfrm>
          <a:prstGeom prst="roundRect">
            <a:avLst>
              <a:gd name="adj" fmla="val 15789"/>
            </a:avLst>
          </a:prstGeom>
          <a:solidFill>
            <a:srgbClr val="FB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Rectangle 152"/>
          <p:cNvSpPr/>
          <p:nvPr/>
        </p:nvSpPr>
        <p:spPr>
          <a:xfrm>
            <a:off x="6102350" y="2476500"/>
            <a:ext cx="5537200" cy="107950"/>
          </a:xfrm>
          <a:prstGeom prst="rect">
            <a:avLst/>
          </a:prstGeom>
          <a:solidFill>
            <a:srgbClr val="FB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4" name="Connector 153"/>
          <p:cNvCxnSpPr/>
          <p:nvPr/>
        </p:nvCxnSpPr>
        <p:spPr>
          <a:xfrm>
            <a:off x="6096000" y="2578100"/>
            <a:ext cx="5549900" cy="0"/>
          </a:xfrm>
          <a:prstGeom prst="line">
            <a:avLst/>
          </a:prstGeom>
          <a:ln w="9525">
            <a:solidFill>
              <a:srgbClr val="D5D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Oval 154"/>
          <p:cNvSpPr/>
          <p:nvPr/>
        </p:nvSpPr>
        <p:spPr>
          <a:xfrm>
            <a:off x="6223000" y="2190750"/>
            <a:ext cx="292100" cy="292100"/>
          </a:xfrm>
          <a:prstGeom prst="ellipse">
            <a:avLst/>
          </a:prstGeom>
          <a:solidFill>
            <a:srgbClr val="D96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6" name="Picture 155" descr="gunung-puti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86500" y="2254250"/>
            <a:ext cx="165100" cy="165100"/>
          </a:xfrm>
          <a:prstGeom prst="rect">
            <a:avLst/>
          </a:prstGeom>
        </p:spPr>
      </p:pic>
      <p:sp>
        <p:nvSpPr>
          <p:cNvPr id="157" name="TextBox 156"/>
          <p:cNvSpPr txBox="1"/>
          <p:nvPr/>
        </p:nvSpPr>
        <p:spPr>
          <a:xfrm>
            <a:off x="6604000" y="2095500"/>
            <a:ext cx="44069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51C2C"/>
                </a:solidFill>
                <a:latin typeface="Roboto"/>
              </a:rPr>
              <a:t>Titik Panas per Kecamatan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0883900" y="2095500"/>
            <a:ext cx="635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D9600B"/>
                </a:solidFill>
                <a:latin typeface="Roboto"/>
              </a:rPr>
              <a:t>1.029</a:t>
            </a:r>
          </a:p>
        </p:txBody>
      </p:sp>
      <p:sp>
        <p:nvSpPr>
          <p:cNvPr id="159" name="Oval 158"/>
          <p:cNvSpPr/>
          <p:nvPr/>
        </p:nvSpPr>
        <p:spPr>
          <a:xfrm>
            <a:off x="6210300" y="2711450"/>
            <a:ext cx="127000" cy="127000"/>
          </a:xfrm>
          <a:prstGeom prst="ellipse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0" name="TextBox 159"/>
          <p:cNvSpPr txBox="1"/>
          <p:nvPr/>
        </p:nvSpPr>
        <p:spPr>
          <a:xfrm>
            <a:off x="6210300" y="2711450"/>
            <a:ext cx="127000" cy="12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6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400800" y="2692400"/>
            <a:ext cx="1143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1">
                <a:solidFill>
                  <a:srgbClr val="111827"/>
                </a:solidFill>
                <a:latin typeface="Roboto"/>
              </a:rPr>
              <a:t>Sadu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7531100" y="2705100"/>
            <a:ext cx="539115" cy="13970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3" name="Picture 162" descr="pohon-orany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81900" y="2733675"/>
            <a:ext cx="82550" cy="82550"/>
          </a:xfrm>
          <a:prstGeom prst="rect">
            <a:avLst/>
          </a:prstGeom>
        </p:spPr>
      </p:pic>
      <p:sp>
        <p:nvSpPr>
          <p:cNvPr id="164" name="TextBox 163"/>
          <p:cNvSpPr txBox="1"/>
          <p:nvPr/>
        </p:nvSpPr>
        <p:spPr>
          <a:xfrm>
            <a:off x="7683500" y="2705100"/>
            <a:ext cx="361315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D9600B"/>
                </a:solidFill>
                <a:latin typeface="Roboto"/>
              </a:rPr>
              <a:t>kawasan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8648700" y="2724150"/>
            <a:ext cx="2286000" cy="107950"/>
          </a:xfrm>
          <a:prstGeom prst="roundRect">
            <a:avLst>
              <a:gd name="adj" fmla="val 23529"/>
            </a:avLst>
          </a:prstGeom>
          <a:solidFill>
            <a:srgbClr val="D96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6" name="TextBox 165"/>
          <p:cNvSpPr txBox="1"/>
          <p:nvPr/>
        </p:nvSpPr>
        <p:spPr>
          <a:xfrm>
            <a:off x="10985500" y="2692400"/>
            <a:ext cx="508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1">
                <a:solidFill>
                  <a:srgbClr val="111827"/>
                </a:solidFill>
                <a:latin typeface="Roboto"/>
              </a:rPr>
              <a:t>966</a:t>
            </a:r>
          </a:p>
        </p:txBody>
      </p:sp>
      <p:sp>
        <p:nvSpPr>
          <p:cNvPr id="167" name="Oval 166"/>
          <p:cNvSpPr/>
          <p:nvPr/>
        </p:nvSpPr>
        <p:spPr>
          <a:xfrm>
            <a:off x="6210300" y="2924810"/>
            <a:ext cx="127000" cy="127000"/>
          </a:xfrm>
          <a:prstGeom prst="ellipse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TextBox 167"/>
          <p:cNvSpPr txBox="1"/>
          <p:nvPr/>
        </p:nvSpPr>
        <p:spPr>
          <a:xfrm>
            <a:off x="6210300" y="2924810"/>
            <a:ext cx="127000" cy="12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6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2905760"/>
            <a:ext cx="1143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1">
                <a:solidFill>
                  <a:srgbClr val="111827"/>
                </a:solidFill>
                <a:latin typeface="Roboto"/>
              </a:rPr>
              <a:t>Berbak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7531100" y="2918460"/>
            <a:ext cx="539115" cy="13970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1" name="Picture 170" descr="pohon-orany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81900" y="2947035"/>
            <a:ext cx="82550" cy="82550"/>
          </a:xfrm>
          <a:prstGeom prst="rect">
            <a:avLst/>
          </a:prstGeom>
        </p:spPr>
      </p:pic>
      <p:sp>
        <p:nvSpPr>
          <p:cNvPr id="172" name="TextBox 171"/>
          <p:cNvSpPr txBox="1"/>
          <p:nvPr/>
        </p:nvSpPr>
        <p:spPr>
          <a:xfrm>
            <a:off x="7683500" y="2918460"/>
            <a:ext cx="361315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D9600B"/>
                </a:solidFill>
                <a:latin typeface="Roboto"/>
              </a:rPr>
              <a:t>kawasan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8648700" y="2937510"/>
            <a:ext cx="141987" cy="107950"/>
          </a:xfrm>
          <a:prstGeom prst="roundRect">
            <a:avLst>
              <a:gd name="adj" fmla="val 23529"/>
            </a:avLst>
          </a:prstGeom>
          <a:solidFill>
            <a:srgbClr val="D96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" name="TextBox 173"/>
          <p:cNvSpPr txBox="1"/>
          <p:nvPr/>
        </p:nvSpPr>
        <p:spPr>
          <a:xfrm>
            <a:off x="8841487" y="2905760"/>
            <a:ext cx="508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1">
                <a:solidFill>
                  <a:srgbClr val="111827"/>
                </a:solidFill>
                <a:latin typeface="Roboto"/>
              </a:rPr>
              <a:t>60</a:t>
            </a:r>
          </a:p>
        </p:txBody>
      </p:sp>
      <p:sp>
        <p:nvSpPr>
          <p:cNvPr id="175" name="Oval 174"/>
          <p:cNvSpPr/>
          <p:nvPr/>
        </p:nvSpPr>
        <p:spPr>
          <a:xfrm>
            <a:off x="6210300" y="3138170"/>
            <a:ext cx="127000" cy="127000"/>
          </a:xfrm>
          <a:prstGeom prst="ellipse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6" name="TextBox 175"/>
          <p:cNvSpPr txBox="1"/>
          <p:nvPr/>
        </p:nvSpPr>
        <p:spPr>
          <a:xfrm>
            <a:off x="6210300" y="3138170"/>
            <a:ext cx="127000" cy="12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6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400800" y="3119120"/>
            <a:ext cx="1143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1">
                <a:solidFill>
                  <a:srgbClr val="111827"/>
                </a:solidFill>
                <a:latin typeface="Roboto"/>
              </a:rPr>
              <a:t>Nipah Panjang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8648700" y="3150870"/>
            <a:ext cx="38100" cy="107950"/>
          </a:xfrm>
          <a:prstGeom prst="roundRect">
            <a:avLst>
              <a:gd name="adj" fmla="val 50000"/>
            </a:avLst>
          </a:prstGeom>
          <a:solidFill>
            <a:srgbClr val="A9B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9" name="TextBox 178"/>
          <p:cNvSpPr txBox="1"/>
          <p:nvPr/>
        </p:nvSpPr>
        <p:spPr>
          <a:xfrm>
            <a:off x="8737600" y="3119120"/>
            <a:ext cx="508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1">
                <a:solidFill>
                  <a:srgbClr val="111827"/>
                </a:solidFill>
                <a:latin typeface="Roboto"/>
              </a:rPr>
              <a:t>3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6210300" y="3987800"/>
            <a:ext cx="3810000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374151"/>
                </a:solidFill>
                <a:latin typeface="Roboto"/>
              </a:rPr>
              <a:t>SEBARAN TITIK 18–25 OKT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6210300" y="4114800"/>
            <a:ext cx="3810000" cy="190500"/>
          </a:xfrm>
          <a:prstGeom prst="roundRect">
            <a:avLst>
              <a:gd name="adj" fmla="val 50000"/>
            </a:avLst>
          </a:prstGeom>
          <a:solidFill>
            <a:srgbClr val="D96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2" name="Picture 181" descr="pohon-putih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86500" y="4159250"/>
            <a:ext cx="101600" cy="101600"/>
          </a:xfrm>
          <a:prstGeom prst="rect">
            <a:avLst/>
          </a:prstGeom>
        </p:spPr>
      </p:pic>
      <p:sp>
        <p:nvSpPr>
          <p:cNvPr id="183" name="TextBox 182"/>
          <p:cNvSpPr txBox="1"/>
          <p:nvPr/>
        </p:nvSpPr>
        <p:spPr>
          <a:xfrm>
            <a:off x="6426200" y="4114800"/>
            <a:ext cx="36830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40" b="1">
                <a:solidFill>
                  <a:srgbClr val="FFFFFF"/>
                </a:solidFill>
                <a:latin typeface="Roboto"/>
              </a:rPr>
              <a:t>971 titik (94%)</a:t>
            </a:r>
            <a:r>
              <a:rPr sz="640" b="0">
                <a:solidFill>
                  <a:srgbClr val="FFFFFF"/>
                </a:solidFill>
                <a:latin typeface="Roboto"/>
              </a:rPr>
              <a:t>  di kawasan konservasi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10045700" y="4114800"/>
            <a:ext cx="1498600" cy="1905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5" name="Picture 184" descr="pin-navy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21900" y="4159250"/>
            <a:ext cx="101600" cy="101600"/>
          </a:xfrm>
          <a:prstGeom prst="rect">
            <a:avLst/>
          </a:prstGeom>
        </p:spPr>
      </p:pic>
      <p:sp>
        <p:nvSpPr>
          <p:cNvPr id="186" name="TextBox 185"/>
          <p:cNvSpPr txBox="1"/>
          <p:nvPr/>
        </p:nvSpPr>
        <p:spPr>
          <a:xfrm>
            <a:off x="10261600" y="41148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40" b="1">
                <a:solidFill>
                  <a:srgbClr val="051C2C"/>
                </a:solidFill>
                <a:latin typeface="Roboto"/>
              </a:rPr>
              <a:t>58 titik (6%)</a:t>
            </a:r>
            <a:r>
              <a:rPr sz="640" b="0">
                <a:solidFill>
                  <a:srgbClr val="051C2C"/>
                </a:solidFill>
                <a:latin typeface="Roboto"/>
              </a:rPr>
              <a:t>  di luar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6096000" y="4521200"/>
            <a:ext cx="5549900" cy="16383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8" name="Rounded Rectangle 187"/>
          <p:cNvSpPr/>
          <p:nvPr/>
        </p:nvSpPr>
        <p:spPr>
          <a:xfrm>
            <a:off x="6102350" y="4527550"/>
            <a:ext cx="5537200" cy="482600"/>
          </a:xfrm>
          <a:prstGeom prst="roundRect">
            <a:avLst>
              <a:gd name="adj" fmla="val 15789"/>
            </a:avLst>
          </a:prstGeom>
          <a:solidFill>
            <a:srgbClr val="F8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9" name="Rectangle 188"/>
          <p:cNvSpPr/>
          <p:nvPr/>
        </p:nvSpPr>
        <p:spPr>
          <a:xfrm>
            <a:off x="6102350" y="4902200"/>
            <a:ext cx="5537200" cy="107950"/>
          </a:xfrm>
          <a:prstGeom prst="rect">
            <a:avLst/>
          </a:prstGeom>
          <a:solidFill>
            <a:srgbClr val="F8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90" name="Connector 189"/>
          <p:cNvCxnSpPr/>
          <p:nvPr/>
        </p:nvCxnSpPr>
        <p:spPr>
          <a:xfrm>
            <a:off x="6096000" y="5003800"/>
            <a:ext cx="5549900" cy="0"/>
          </a:xfrm>
          <a:prstGeom prst="line">
            <a:avLst/>
          </a:prstGeom>
          <a:ln w="9525">
            <a:solidFill>
              <a:srgbClr val="D5D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Oval 190"/>
          <p:cNvSpPr/>
          <p:nvPr/>
        </p:nvSpPr>
        <p:spPr>
          <a:xfrm>
            <a:off x="6223000" y="4616450"/>
            <a:ext cx="292100" cy="2921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2" name="Picture 191" descr="awas-puti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0" y="4679950"/>
            <a:ext cx="165100" cy="165100"/>
          </a:xfrm>
          <a:prstGeom prst="rect">
            <a:avLst/>
          </a:prstGeom>
        </p:spPr>
      </p:pic>
      <p:sp>
        <p:nvSpPr>
          <p:cNvPr id="193" name="TextBox 192"/>
          <p:cNvSpPr txBox="1"/>
          <p:nvPr/>
        </p:nvSpPr>
        <p:spPr>
          <a:xfrm>
            <a:off x="6604000" y="4521200"/>
            <a:ext cx="44069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51C2C"/>
                </a:solidFill>
                <a:latin typeface="Roboto"/>
              </a:rPr>
              <a:t>Situasi lapangan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0883900" y="4521200"/>
            <a:ext cx="635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C8102E"/>
                </a:solidFill>
                <a:latin typeface="Roboto"/>
              </a:rPr>
              <a:t>3</a:t>
            </a:r>
          </a:p>
        </p:txBody>
      </p:sp>
      <p:sp>
        <p:nvSpPr>
          <p:cNvPr id="195" name="Oval 194"/>
          <p:cNvSpPr/>
          <p:nvPr/>
        </p:nvSpPr>
        <p:spPr>
          <a:xfrm>
            <a:off x="6210300" y="5130800"/>
            <a:ext cx="203200" cy="203200"/>
          </a:xfrm>
          <a:prstGeom prst="ellipse">
            <a:avLst/>
          </a:prstGeom>
          <a:solidFill>
            <a:srgbClr val="D96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6" name="Picture 195" descr="api-puti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1100" y="5181600"/>
            <a:ext cx="101600" cy="101600"/>
          </a:xfrm>
          <a:prstGeom prst="rect">
            <a:avLst/>
          </a:prstGeom>
        </p:spPr>
      </p:pic>
      <p:sp>
        <p:nvSpPr>
          <p:cNvPr id="197" name="TextBox 196"/>
          <p:cNvSpPr txBox="1"/>
          <p:nvPr/>
        </p:nvSpPr>
        <p:spPr>
          <a:xfrm>
            <a:off x="6489700" y="5105400"/>
            <a:ext cx="33020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60" b="1">
                <a:solidFill>
                  <a:srgbClr val="111827"/>
                </a:solidFill>
                <a:latin typeface="Roboto"/>
              </a:rPr>
              <a:t>Kompleks K0037 Taman Nasional, Kec. Berbak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11083925" y="5105400"/>
            <a:ext cx="454025" cy="139700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9" name="Picture 198" descr="api-mera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34725" y="5133975"/>
            <a:ext cx="82550" cy="82550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11236325" y="5105400"/>
            <a:ext cx="276225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90" b="1">
                <a:solidFill>
                  <a:srgbClr val="C8102E"/>
                </a:solidFill>
                <a:latin typeface="Roboto"/>
              </a:rPr>
              <a:t>siaga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6489700" y="5270500"/>
            <a:ext cx="921385" cy="139700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2" name="Picture 201" descr="grid-merah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40500" y="5299075"/>
            <a:ext cx="82550" cy="82550"/>
          </a:xfrm>
          <a:prstGeom prst="rect">
            <a:avLst/>
          </a:prstGeom>
        </p:spPr>
      </p:pic>
      <p:sp>
        <p:nvSpPr>
          <p:cNvPr id="203" name="TextBox 202"/>
          <p:cNvSpPr txBox="1"/>
          <p:nvPr/>
        </p:nvSpPr>
        <p:spPr>
          <a:xfrm>
            <a:off x="6642100" y="5270500"/>
            <a:ext cx="743585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C8102E"/>
                </a:solidFill>
                <a:latin typeface="Roboto"/>
              </a:rPr>
              <a:t>1.309 ha kompleks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7461884" y="5270500"/>
            <a:ext cx="481330" cy="1397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5" name="Picture 204" descr="gunung-navy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12684" y="5299075"/>
            <a:ext cx="82550" cy="82550"/>
          </a:xfrm>
          <a:prstGeom prst="rect">
            <a:avLst/>
          </a:prstGeom>
        </p:spPr>
      </p:pic>
      <p:sp>
        <p:nvSpPr>
          <p:cNvPr id="206" name="TextBox 205"/>
          <p:cNvSpPr txBox="1"/>
          <p:nvPr/>
        </p:nvSpPr>
        <p:spPr>
          <a:xfrm>
            <a:off x="7614284" y="5270500"/>
            <a:ext cx="30353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051C2C"/>
                </a:solidFill>
                <a:latin typeface="Roboto"/>
              </a:rPr>
              <a:t>gambut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7994014" y="5270500"/>
            <a:ext cx="761365" cy="1397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8" name="Picture 207" descr="air-navy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4814" y="5299075"/>
            <a:ext cx="82550" cy="82550"/>
          </a:xfrm>
          <a:prstGeom prst="rect">
            <a:avLst/>
          </a:prstGeom>
        </p:spPr>
      </p:pic>
      <p:sp>
        <p:nvSpPr>
          <p:cNvPr id="209" name="TextBox 208"/>
          <p:cNvSpPr txBox="1"/>
          <p:nvPr/>
        </p:nvSpPr>
        <p:spPr>
          <a:xfrm>
            <a:off x="8146414" y="5270500"/>
            <a:ext cx="583565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051C2C"/>
                </a:solidFill>
                <a:latin typeface="Roboto"/>
              </a:rPr>
              <a:t>kanal ±2,9 km</a:t>
            </a:r>
          </a:p>
        </p:txBody>
      </p:sp>
      <p:cxnSp>
        <p:nvCxnSpPr>
          <p:cNvPr id="210" name="Connector 209"/>
          <p:cNvCxnSpPr/>
          <p:nvPr/>
        </p:nvCxnSpPr>
        <p:spPr>
          <a:xfrm>
            <a:off x="6210300" y="5429250"/>
            <a:ext cx="5321300" cy="0"/>
          </a:xfrm>
          <a:prstGeom prst="line">
            <a:avLst/>
          </a:prstGeom>
          <a:ln w="6350">
            <a:solidFill>
              <a:srgbClr val="EE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Oval 210"/>
          <p:cNvSpPr/>
          <p:nvPr/>
        </p:nvSpPr>
        <p:spPr>
          <a:xfrm>
            <a:off x="6210300" y="5480050"/>
            <a:ext cx="203200" cy="203200"/>
          </a:xfrm>
          <a:prstGeom prst="ellipse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2" name="Picture 211" descr="rute-putih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61100" y="5530850"/>
            <a:ext cx="101600" cy="101600"/>
          </a:xfrm>
          <a:prstGeom prst="rect">
            <a:avLst/>
          </a:prstGeom>
        </p:spPr>
      </p:pic>
      <p:sp>
        <p:nvSpPr>
          <p:cNvPr id="213" name="TextBox 212"/>
          <p:cNvSpPr txBox="1"/>
          <p:nvPr/>
        </p:nvSpPr>
        <p:spPr>
          <a:xfrm>
            <a:off x="6489700" y="5454650"/>
            <a:ext cx="33020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60" b="1">
                <a:solidFill>
                  <a:srgbClr val="111827"/>
                </a:solidFill>
                <a:latin typeface="Roboto"/>
              </a:rPr>
              <a:t>Akses darat ke titik api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11001375" y="5454650"/>
            <a:ext cx="539115" cy="13970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5" name="Picture 214" descr="awas-orany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052175" y="5483225"/>
            <a:ext cx="82550" cy="82550"/>
          </a:xfrm>
          <a:prstGeom prst="rect">
            <a:avLst/>
          </a:prstGeom>
        </p:spPr>
      </p:pic>
      <p:sp>
        <p:nvSpPr>
          <p:cNvPr id="216" name="TextBox 215"/>
          <p:cNvSpPr txBox="1"/>
          <p:nvPr/>
        </p:nvSpPr>
        <p:spPr>
          <a:xfrm>
            <a:off x="11153775" y="5454650"/>
            <a:ext cx="361315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90" b="1">
                <a:solidFill>
                  <a:srgbClr val="D9600B"/>
                </a:solidFill>
                <a:latin typeface="Roboto"/>
              </a:rPr>
              <a:t>kendala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6489700" y="5619750"/>
            <a:ext cx="921385" cy="1397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8" name="Picture 217" descr="rute-navy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40500" y="5648325"/>
            <a:ext cx="82550" cy="82550"/>
          </a:xfrm>
          <a:prstGeom prst="rect">
            <a:avLst/>
          </a:prstGeom>
        </p:spPr>
      </p:pic>
      <p:sp>
        <p:nvSpPr>
          <p:cNvPr id="219" name="TextBox 218"/>
          <p:cNvSpPr txBox="1"/>
          <p:nvPr/>
        </p:nvSpPr>
        <p:spPr>
          <a:xfrm>
            <a:off x="6642100" y="5619750"/>
            <a:ext cx="743585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051C2C"/>
                </a:solidFill>
                <a:latin typeface="Roboto"/>
              </a:rPr>
              <a:t>jalan utama ±5 km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7461884" y="5619750"/>
            <a:ext cx="2201545" cy="1397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1" name="Picture 220" descr="jam-navy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512684" y="5648325"/>
            <a:ext cx="82550" cy="82550"/>
          </a:xfrm>
          <a:prstGeom prst="rect">
            <a:avLst/>
          </a:prstGeom>
        </p:spPr>
      </p:pic>
      <p:sp>
        <p:nvSpPr>
          <p:cNvPr id="222" name="TextBox 221"/>
          <p:cNvSpPr txBox="1"/>
          <p:nvPr/>
        </p:nvSpPr>
        <p:spPr>
          <a:xfrm>
            <a:off x="7614284" y="5619750"/>
            <a:ext cx="2023745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051C2C"/>
                </a:solidFill>
                <a:latin typeface="Roboto"/>
              </a:rPr>
              <a:t>tiba ±5,3 jam dari Suato Lama, Kec. Salam Babaris</a:t>
            </a:r>
          </a:p>
        </p:txBody>
      </p:sp>
      <p:cxnSp>
        <p:nvCxnSpPr>
          <p:cNvPr id="223" name="Connector 222"/>
          <p:cNvCxnSpPr/>
          <p:nvPr/>
        </p:nvCxnSpPr>
        <p:spPr>
          <a:xfrm>
            <a:off x="6210300" y="5778500"/>
            <a:ext cx="5321300" cy="0"/>
          </a:xfrm>
          <a:prstGeom prst="line">
            <a:avLst/>
          </a:prstGeom>
          <a:ln w="6350">
            <a:solidFill>
              <a:srgbClr val="EE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4" name="Oval 223"/>
          <p:cNvSpPr/>
          <p:nvPr/>
        </p:nvSpPr>
        <p:spPr>
          <a:xfrm>
            <a:off x="6210300" y="5829300"/>
            <a:ext cx="203200" cy="203200"/>
          </a:xfrm>
          <a:prstGeom prst="ellipse">
            <a:avLst/>
          </a:prstGeom>
          <a:solidFill>
            <a:srgbClr val="3F5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5" name="Picture 224" descr="asap-putih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61100" y="5880100"/>
            <a:ext cx="101600" cy="101600"/>
          </a:xfrm>
          <a:prstGeom prst="rect">
            <a:avLst/>
          </a:prstGeom>
        </p:spPr>
      </p:pic>
      <p:sp>
        <p:nvSpPr>
          <p:cNvPr id="226" name="TextBox 225"/>
          <p:cNvSpPr txBox="1"/>
          <p:nvPr/>
        </p:nvSpPr>
        <p:spPr>
          <a:xfrm>
            <a:off x="6489700" y="5803900"/>
            <a:ext cx="33020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60" b="1">
                <a:solidFill>
                  <a:srgbClr val="111827"/>
                </a:solidFill>
                <a:latin typeface="Roboto"/>
              </a:rPr>
              <a:t>Udara Tanjung Jabung Timur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11042650" y="5803900"/>
            <a:ext cx="496570" cy="1397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8" name="Picture 227" descr="mata-navy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093450" y="5832475"/>
            <a:ext cx="82550" cy="82550"/>
          </a:xfrm>
          <a:prstGeom prst="rect">
            <a:avLst/>
          </a:prstGeom>
        </p:spPr>
      </p:pic>
      <p:sp>
        <p:nvSpPr>
          <p:cNvPr id="229" name="TextBox 228"/>
          <p:cNvSpPr txBox="1"/>
          <p:nvPr/>
        </p:nvSpPr>
        <p:spPr>
          <a:xfrm>
            <a:off x="11195050" y="5803900"/>
            <a:ext cx="31877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90" b="1">
                <a:solidFill>
                  <a:srgbClr val="051C2C"/>
                </a:solidFill>
                <a:latin typeface="Roboto"/>
              </a:rPr>
              <a:t>pantau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6489700" y="5969000"/>
            <a:ext cx="841375" cy="1397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1" name="Picture 230" descr="asap-navy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40500" y="5997575"/>
            <a:ext cx="82550" cy="82550"/>
          </a:xfrm>
          <a:prstGeom prst="rect">
            <a:avLst/>
          </a:prstGeom>
        </p:spPr>
      </p:pic>
      <p:sp>
        <p:nvSpPr>
          <p:cNvPr id="232" name="TextBox 231"/>
          <p:cNvSpPr txBox="1"/>
          <p:nvPr/>
        </p:nvSpPr>
        <p:spPr>
          <a:xfrm>
            <a:off x="6642100" y="5969000"/>
            <a:ext cx="663575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051C2C"/>
                </a:solidFill>
                <a:latin typeface="Roboto"/>
              </a:rPr>
              <a:t>PM2.5 166 µg/m³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7381875" y="5969000"/>
            <a:ext cx="961389" cy="139700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4" name="Picture 233" descr="awas-mera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2675" y="5997575"/>
            <a:ext cx="82550" cy="82550"/>
          </a:xfrm>
          <a:prstGeom prst="rect">
            <a:avLst/>
          </a:prstGeom>
        </p:spPr>
      </p:pic>
      <p:sp>
        <p:nvSpPr>
          <p:cNvPr id="235" name="TextBox 234"/>
          <p:cNvSpPr txBox="1"/>
          <p:nvPr/>
        </p:nvSpPr>
        <p:spPr>
          <a:xfrm>
            <a:off x="7534275" y="5969000"/>
            <a:ext cx="783589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C8102E"/>
                </a:solidFill>
                <a:latin typeface="Roboto"/>
              </a:rPr>
              <a:t>sangat tidak sehat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8394065" y="5969000"/>
            <a:ext cx="1081405" cy="1397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7" name="Picture 236" descr="mata-abu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444865" y="5997575"/>
            <a:ext cx="82550" cy="82550"/>
          </a:xfrm>
          <a:prstGeom prst="rect">
            <a:avLst/>
          </a:prstGeom>
        </p:spPr>
      </p:pic>
      <p:sp>
        <p:nvSpPr>
          <p:cNvPr id="238" name="TextBox 237"/>
          <p:cNvSpPr txBox="1"/>
          <p:nvPr/>
        </p:nvSpPr>
        <p:spPr>
          <a:xfrm>
            <a:off x="8546465" y="5969000"/>
            <a:ext cx="903604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6B7280"/>
                </a:solidFill>
                <a:latin typeface="Roboto"/>
              </a:rPr>
              <a:t>prakiraan CAMS 25 Okt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546100" y="6223000"/>
            <a:ext cx="33020" cy="152400"/>
          </a:xfrm>
          <a:prstGeom prst="rect">
            <a:avLst/>
          </a:prstGeom>
          <a:solidFill>
            <a:srgbClr val="2F8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0" name="TextBox 239"/>
          <p:cNvSpPr txBox="1"/>
          <p:nvPr/>
        </p:nvSpPr>
        <p:spPr>
          <a:xfrm>
            <a:off x="635000" y="6210300"/>
            <a:ext cx="10922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60" b="0">
                <a:solidFill>
                  <a:srgbClr val="1F2937"/>
                </a:solidFill>
                <a:latin typeface="Roboto"/>
              </a:rPr>
              <a:t>*Data berdasarkan Geographic Information System (GIS) dengan satelit NASA (FIRMS: VIIRS dan MODIS). Angka 25 Okt sementara, data s.d. 06.00 WIB. Kawasan konservasi = TN Berbak dan Tahura Orang Kayo Hitam; akses dan jarak air: lapisan jalan dan kanal aplikasi.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6100" y="304800"/>
            <a:ext cx="8255000" cy="50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18" b="1">
                <a:solidFill>
                  <a:srgbClr val="051C2C"/>
                </a:solidFill>
                <a:latin typeface="Roboto"/>
              </a:rPr>
              <a:t>Sebaran Titik Panas dan Kebakaran di </a:t>
            </a:r>
            <a:r>
              <a:rPr sz="2018" b="1">
                <a:solidFill>
                  <a:srgbClr val="D9600B"/>
                </a:solidFill>
                <a:latin typeface="Roboto"/>
              </a:rPr>
              <a:t>Kawasan Berbak</a:t>
            </a:r>
            <a:r>
              <a:rPr sz="2018" b="1">
                <a:solidFill>
                  <a:srgbClr val="051C2C"/>
                </a:solidFill>
                <a:latin typeface="Roboto"/>
              </a:rPr>
              <a:t> per 25 Oktober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406400"/>
            <a:ext cx="2362200" cy="2159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kalender-puti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0800" y="450850"/>
            <a:ext cx="127000" cy="12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31300" y="406400"/>
            <a:ext cx="889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80" b="1" spc="120">
                <a:solidFill>
                  <a:srgbClr val="C9D1E3"/>
                </a:solidFill>
                <a:latin typeface="Roboto"/>
              </a:rPr>
              <a:t>CUT OFF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0" y="406400"/>
            <a:ext cx="12192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60" b="1">
                <a:solidFill>
                  <a:srgbClr val="FFFFFF"/>
                </a:solidFill>
                <a:latin typeface="Roboto"/>
              </a:rPr>
              <a:t>25 Okt 2026, 06.00 WIB</a:t>
            </a:r>
          </a:p>
        </p:txBody>
      </p:sp>
      <p:pic>
        <p:nvPicPr>
          <p:cNvPr id="7" name="Picture 6" descr="logo_bnp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546100" y="901700"/>
            <a:ext cx="11099800" cy="0"/>
          </a:xfrm>
          <a:prstGeom prst="line">
            <a:avLst/>
          </a:prstGeom>
          <a:ln w="1143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6100" y="6451600"/>
            <a:ext cx="11099800" cy="0"/>
          </a:xfrm>
          <a:prstGeom prst="line">
            <a:avLst/>
          </a:prstGeom>
          <a:ln w="1143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6100" y="6502400"/>
            <a:ext cx="5486400" cy="200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F2937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720" y="6502400"/>
            <a:ext cx="548640" cy="200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19" b="1">
                <a:solidFill>
                  <a:srgbClr val="1F2937"/>
                </a:solidFill>
                <a:latin typeface="Roboto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6100" y="1028700"/>
            <a:ext cx="7175500" cy="990600"/>
          </a:xfrm>
          <a:prstGeom prst="roundRect">
            <a:avLst>
              <a:gd name="adj" fmla="val 10256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60400" y="1104900"/>
            <a:ext cx="1127760" cy="1778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api-puti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" y="1143000"/>
            <a:ext cx="101600" cy="101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01700" y="1104900"/>
            <a:ext cx="87376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20" b="1" spc="120">
                <a:solidFill>
                  <a:srgbClr val="FFFFFF"/>
                </a:solidFill>
                <a:latin typeface="Roboto"/>
              </a:rPr>
              <a:t>DATA SATELIT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0400" y="1358900"/>
            <a:ext cx="2247900" cy="54610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774700" y="1479550"/>
            <a:ext cx="304800" cy="304800"/>
          </a:xfrm>
          <a:prstGeom prst="ellipse">
            <a:avLst/>
          </a:prstGeom>
          <a:solidFill>
            <a:srgbClr val="FB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api-orany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543050"/>
            <a:ext cx="177800" cy="177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81100" y="1384300"/>
            <a:ext cx="1663700" cy="2730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700" b="1">
                <a:solidFill>
                  <a:srgbClr val="D9600B"/>
                </a:solidFill>
                <a:latin typeface="Roboto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1100" y="1648333"/>
            <a:ext cx="1663700" cy="2457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40" b="0">
                <a:solidFill>
                  <a:srgbClr val="374151"/>
                </a:solidFill>
                <a:latin typeface="Roboto"/>
              </a:rPr>
              <a:t>titik panas 25 Okt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09900" y="1358900"/>
            <a:ext cx="2247900" cy="54610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3124200" y="1479550"/>
            <a:ext cx="304800" cy="304800"/>
          </a:xfrm>
          <a:prstGeom prst="ellipse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grid-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7700" y="1543050"/>
            <a:ext cx="177800" cy="177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530600" y="1384300"/>
            <a:ext cx="1663700" cy="2730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700" b="1">
                <a:solidFill>
                  <a:srgbClr val="051C2C"/>
                </a:solidFill>
                <a:latin typeface="Roboto"/>
              </a:rPr>
              <a:t>119 ha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30600" y="1648333"/>
            <a:ext cx="1663700" cy="2457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40" b="0">
                <a:solidFill>
                  <a:srgbClr val="374151"/>
                </a:solidFill>
                <a:latin typeface="Roboto"/>
              </a:rPr>
              <a:t>luas terbakar 25 Okt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59400" y="1358900"/>
            <a:ext cx="2260600" cy="54610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5473700" y="1479550"/>
            <a:ext cx="304800" cy="304800"/>
          </a:xfrm>
          <a:prstGeom prst="ellipse">
            <a:avLst/>
          </a:prstGeom>
          <a:solidFill>
            <a:srgbClr val="F8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awas-mera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7200" y="1543050"/>
            <a:ext cx="177800" cy="1778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880100" y="1384300"/>
            <a:ext cx="1676400" cy="2730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700" b="1">
                <a:solidFill>
                  <a:srgbClr val="C8102E"/>
                </a:solidFill>
                <a:latin typeface="Roboto"/>
              </a:rPr>
              <a:t>96 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80100" y="1648333"/>
            <a:ext cx="1676400" cy="2457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40" b="0">
                <a:solidFill>
                  <a:srgbClr val="374151"/>
                </a:solidFill>
                <a:latin typeface="Roboto"/>
              </a:rPr>
              <a:t>belum padam 25 Okt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01000" y="1028700"/>
            <a:ext cx="3644900" cy="990600"/>
          </a:xfrm>
          <a:prstGeom prst="roundRect">
            <a:avLst>
              <a:gd name="adj" fmla="val 10256"/>
            </a:avLst>
          </a:prstGeom>
          <a:solidFill>
            <a:srgbClr val="FB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8115300" y="1104900"/>
            <a:ext cx="1314450" cy="17780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3" name="Picture 32" descr="awas-puti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4200" y="1143000"/>
            <a:ext cx="101600" cy="1016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356600" y="1104900"/>
            <a:ext cx="106045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20" b="1" spc="120">
                <a:solidFill>
                  <a:srgbClr val="FFFFFF"/>
                </a:solidFill>
                <a:latin typeface="Roboto"/>
              </a:rPr>
              <a:t>PERLU PERHATIAN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358900"/>
            <a:ext cx="3441700" cy="54610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8216900" y="1479550"/>
            <a:ext cx="304800" cy="304800"/>
          </a:xfrm>
          <a:prstGeom prst="ellipse">
            <a:avLst/>
          </a:prstGeom>
          <a:solidFill>
            <a:srgbClr val="F8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7" name="Picture 36" descr="api-mera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0400" y="1543050"/>
            <a:ext cx="177800" cy="177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623300" y="1384300"/>
            <a:ext cx="2857500" cy="254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500" b="1">
                <a:solidFill>
                  <a:srgbClr val="C8102E"/>
                </a:solidFill>
                <a:latin typeface="Roboto"/>
              </a:rPr>
              <a:t>Sadu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23300" y="1644650"/>
            <a:ext cx="28575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" b="0">
                <a:solidFill>
                  <a:srgbClr val="374151"/>
                </a:solidFill>
                <a:latin typeface="Roboto"/>
              </a:rPr>
              <a:t>8 titik 25 Okt s.d. 06.00; belum padam kawasan 96 ha; 4 kompleks siaga/prioritas di kawasan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6100" y="2095500"/>
            <a:ext cx="3848100" cy="406400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552450" y="2101850"/>
            <a:ext cx="3835400" cy="482600"/>
          </a:xfrm>
          <a:prstGeom prst="roundRect">
            <a:avLst>
              <a:gd name="adj" fmla="val 15789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552450" y="2476500"/>
            <a:ext cx="3835400" cy="10795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3" name="Connector 42"/>
          <p:cNvCxnSpPr/>
          <p:nvPr/>
        </p:nvCxnSpPr>
        <p:spPr>
          <a:xfrm>
            <a:off x="546100" y="2578100"/>
            <a:ext cx="3848100" cy="0"/>
          </a:xfrm>
          <a:prstGeom prst="line">
            <a:avLst/>
          </a:prstGeom>
          <a:ln w="9525">
            <a:solidFill>
              <a:srgbClr val="D5D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673100" y="21907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5" name="Picture 44" descr="peta-putih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6600" y="2254250"/>
            <a:ext cx="165100" cy="1651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54100" y="2095500"/>
            <a:ext cx="27051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51C2C"/>
                </a:solidFill>
                <a:latin typeface="Roboto"/>
              </a:rPr>
              <a:t>Sebaran Titik Panas</a:t>
            </a:r>
          </a:p>
        </p:txBody>
      </p:sp>
      <p:pic>
        <p:nvPicPr>
          <p:cNvPr id="47" name="Picture 46" descr="peta3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850" y="2667000"/>
            <a:ext cx="3530600" cy="3077630"/>
          </a:xfrm>
          <a:prstGeom prst="rect">
            <a:avLst/>
          </a:prstGeom>
        </p:spPr>
      </p:pic>
      <p:sp>
        <p:nvSpPr>
          <p:cNvPr id="48" name="Oval 47"/>
          <p:cNvSpPr/>
          <p:nvPr/>
        </p:nvSpPr>
        <p:spPr>
          <a:xfrm>
            <a:off x="736600" y="5956300"/>
            <a:ext cx="88900" cy="88900"/>
          </a:xfrm>
          <a:prstGeom prst="ellipse">
            <a:avLst/>
          </a:prstGeom>
          <a:solidFill>
            <a:srgbClr val="A9B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63600" y="5905500"/>
            <a:ext cx="1016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60" b="0">
                <a:solidFill>
                  <a:srgbClr val="374151"/>
                </a:solidFill>
                <a:latin typeface="Roboto"/>
              </a:rPr>
              <a:t>18–20 Okt</a:t>
            </a:r>
          </a:p>
        </p:txBody>
      </p:sp>
      <p:sp>
        <p:nvSpPr>
          <p:cNvPr id="50" name="Oval 49"/>
          <p:cNvSpPr/>
          <p:nvPr/>
        </p:nvSpPr>
        <p:spPr>
          <a:xfrm>
            <a:off x="1452880" y="5956300"/>
            <a:ext cx="88900" cy="88900"/>
          </a:xfrm>
          <a:prstGeom prst="ellipse">
            <a:avLst/>
          </a:prstGeom>
          <a:solidFill>
            <a:srgbClr val="F0A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1579880" y="5905500"/>
            <a:ext cx="1016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60" b="0">
                <a:solidFill>
                  <a:srgbClr val="374151"/>
                </a:solidFill>
                <a:latin typeface="Roboto"/>
              </a:rPr>
              <a:t>21–23 Okt</a:t>
            </a:r>
          </a:p>
        </p:txBody>
      </p:sp>
      <p:sp>
        <p:nvSpPr>
          <p:cNvPr id="52" name="Oval 51"/>
          <p:cNvSpPr/>
          <p:nvPr/>
        </p:nvSpPr>
        <p:spPr>
          <a:xfrm>
            <a:off x="2169160" y="5956300"/>
            <a:ext cx="88900" cy="889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2296160" y="5905500"/>
            <a:ext cx="1016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60" b="1">
                <a:solidFill>
                  <a:srgbClr val="C8102E"/>
                </a:solidFill>
                <a:latin typeface="Roboto"/>
              </a:rPr>
              <a:t>24–25 Okt, terbaru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33900" y="2095500"/>
            <a:ext cx="4064000" cy="406400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ounded Rectangle 54"/>
          <p:cNvSpPr/>
          <p:nvPr/>
        </p:nvSpPr>
        <p:spPr>
          <a:xfrm>
            <a:off x="4540250" y="2101850"/>
            <a:ext cx="4051300" cy="482600"/>
          </a:xfrm>
          <a:prstGeom prst="roundRect">
            <a:avLst>
              <a:gd name="adj" fmla="val 15789"/>
            </a:avLst>
          </a:prstGeom>
          <a:solidFill>
            <a:srgbClr val="FB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4540250" y="2476500"/>
            <a:ext cx="4051300" cy="107950"/>
          </a:xfrm>
          <a:prstGeom prst="rect">
            <a:avLst/>
          </a:prstGeom>
          <a:solidFill>
            <a:srgbClr val="FB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7" name="Connector 56"/>
          <p:cNvCxnSpPr/>
          <p:nvPr/>
        </p:nvCxnSpPr>
        <p:spPr>
          <a:xfrm>
            <a:off x="4533900" y="2578100"/>
            <a:ext cx="4064000" cy="0"/>
          </a:xfrm>
          <a:prstGeom prst="line">
            <a:avLst/>
          </a:prstGeom>
          <a:ln w="9525">
            <a:solidFill>
              <a:srgbClr val="D5D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4660900" y="2190750"/>
            <a:ext cx="292100" cy="292100"/>
          </a:xfrm>
          <a:prstGeom prst="ellipse">
            <a:avLst/>
          </a:prstGeom>
          <a:solidFill>
            <a:srgbClr val="D96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9" name="Picture 58" descr="api-puti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2254250"/>
            <a:ext cx="165100" cy="1651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5041900" y="2095500"/>
            <a:ext cx="2921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51C2C"/>
                </a:solidFill>
                <a:latin typeface="Roboto"/>
              </a:rPr>
              <a:t>Titik panas harian per kecamatan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48200" y="2692400"/>
            <a:ext cx="1778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40" b="1">
                <a:solidFill>
                  <a:srgbClr val="051C2C"/>
                </a:solidFill>
                <a:latin typeface="Roboto"/>
              </a:rPr>
              <a:t>Kumpeh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48200" y="2832100"/>
            <a:ext cx="1778000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80" b="0">
                <a:solidFill>
                  <a:srgbClr val="6B7280"/>
                </a:solidFill>
                <a:latin typeface="Roboto"/>
              </a:rPr>
              <a:t>titik di dalam kawasan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690268" y="3562078"/>
            <a:ext cx="146050" cy="171721"/>
          </a:xfrm>
          <a:prstGeom prst="roundRect">
            <a:avLst>
              <a:gd name="adj" fmla="val 21739"/>
            </a:avLst>
          </a:prstGeom>
          <a:solidFill>
            <a:srgbClr val="DC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4445793" y="3396978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620" b="1">
                <a:solidFill>
                  <a:srgbClr val="051C2C"/>
                </a:solidFill>
                <a:latin typeface="Roboto"/>
              </a:rPr>
              <a:t>122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56893" y="37592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0">
                <a:solidFill>
                  <a:srgbClr val="6B7280"/>
                </a:solidFill>
                <a:latin typeface="Roboto"/>
              </a:rPr>
              <a:t>18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920456" y="3708463"/>
            <a:ext cx="146050" cy="25336"/>
          </a:xfrm>
          <a:prstGeom prst="rect">
            <a:avLst/>
          </a:prstGeom>
          <a:solidFill>
            <a:srgbClr val="B7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4675981" y="3543363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620" b="1">
                <a:solidFill>
                  <a:srgbClr val="051C2C"/>
                </a:solidFill>
                <a:latin typeface="Roboto"/>
              </a:rPr>
              <a:t>18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87081" y="37592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0">
                <a:solidFill>
                  <a:srgbClr val="6B7280"/>
                </a:solidFill>
                <a:latin typeface="Roboto"/>
              </a:rPr>
              <a:t>19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150643" y="3694388"/>
            <a:ext cx="146050" cy="39411"/>
          </a:xfrm>
          <a:prstGeom prst="rect">
            <a:avLst/>
          </a:prstGeom>
          <a:solidFill>
            <a:srgbClr val="F4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4906168" y="3529288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620" b="1">
                <a:solidFill>
                  <a:srgbClr val="051C2C"/>
                </a:solidFill>
                <a:latin typeface="Roboto"/>
              </a:rPr>
              <a:t>28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817268" y="37592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0">
                <a:solidFill>
                  <a:srgbClr val="6B7280"/>
                </a:solidFill>
                <a:latin typeface="Roboto"/>
              </a:rPr>
              <a:t>20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380831" y="3175000"/>
            <a:ext cx="146050" cy="558800"/>
          </a:xfrm>
          <a:prstGeom prst="roundRect">
            <a:avLst>
              <a:gd name="adj" fmla="val 21739"/>
            </a:avLst>
          </a:prstGeom>
          <a:solidFill>
            <a:srgbClr val="F4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5136356" y="3009900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620" b="1">
                <a:solidFill>
                  <a:srgbClr val="051C2C"/>
                </a:solidFill>
                <a:latin typeface="Roboto"/>
              </a:rPr>
              <a:t>397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47456" y="37592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0">
                <a:solidFill>
                  <a:srgbClr val="6B7280"/>
                </a:solidFill>
                <a:latin typeface="Roboto"/>
              </a:rPr>
              <a:t>21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611018" y="3524074"/>
            <a:ext cx="146050" cy="209725"/>
          </a:xfrm>
          <a:prstGeom prst="roundRect">
            <a:avLst>
              <a:gd name="adj" fmla="val 21739"/>
            </a:avLst>
          </a:prstGeom>
          <a:solidFill>
            <a:srgbClr val="B7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5366543" y="3358974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620" b="1">
                <a:solidFill>
                  <a:srgbClr val="051C2C"/>
                </a:solidFill>
                <a:latin typeface="Roboto"/>
              </a:rPr>
              <a:t>149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277643" y="37592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0">
                <a:solidFill>
                  <a:srgbClr val="6B7280"/>
                </a:solidFill>
                <a:latin typeface="Roboto"/>
              </a:rPr>
              <a:t>22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841206" y="3301680"/>
            <a:ext cx="146050" cy="432119"/>
          </a:xfrm>
          <a:prstGeom prst="roundRect">
            <a:avLst>
              <a:gd name="adj" fmla="val 21739"/>
            </a:avLst>
          </a:prstGeom>
          <a:solidFill>
            <a:srgbClr val="D96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5596731" y="3136580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620" b="1">
                <a:solidFill>
                  <a:srgbClr val="051C2C"/>
                </a:solidFill>
                <a:latin typeface="Roboto"/>
              </a:rPr>
              <a:t>307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07831" y="37592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0">
                <a:solidFill>
                  <a:srgbClr val="6B7280"/>
                </a:solidFill>
                <a:latin typeface="Roboto"/>
              </a:rPr>
              <a:t>23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071393" y="3595859"/>
            <a:ext cx="146050" cy="137940"/>
          </a:xfrm>
          <a:prstGeom prst="roundRect">
            <a:avLst>
              <a:gd name="adj" fmla="val 23017"/>
            </a:avLst>
          </a:prstGeom>
          <a:solidFill>
            <a:srgbClr val="2F8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5826918" y="3430759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620" b="1">
                <a:solidFill>
                  <a:srgbClr val="051C2C"/>
                </a:solidFill>
                <a:latin typeface="Roboto"/>
              </a:rPr>
              <a:t>98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738018" y="37592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0">
                <a:solidFill>
                  <a:srgbClr val="6B7280"/>
                </a:solidFill>
                <a:latin typeface="Roboto"/>
              </a:rPr>
              <a:t>24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301581" y="3713479"/>
            <a:ext cx="146050" cy="20320"/>
          </a:xfrm>
          <a:prstGeom prst="rect">
            <a:avLst/>
          </a:prstGeom>
          <a:solidFill>
            <a:srgbClr val="DCEBF8"/>
          </a:solidFill>
          <a:ln w="11430">
            <a:solidFill>
              <a:srgbClr val="6FA8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6057106" y="3548379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620" b="1">
                <a:solidFill>
                  <a:srgbClr val="051C2C"/>
                </a:solidFill>
                <a:latin typeface="Roboto"/>
              </a:rP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68206" y="37592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0">
                <a:solidFill>
                  <a:srgbClr val="6B7280"/>
                </a:solidFill>
                <a:latin typeface="Roboto"/>
              </a:rPr>
              <a:t>25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4648200" y="3733800"/>
            <a:ext cx="1841500" cy="0"/>
          </a:xfrm>
          <a:prstGeom prst="line">
            <a:avLst/>
          </a:prstGeom>
          <a:ln w="7620">
            <a:solidFill>
              <a:srgbClr val="C9D1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6578600" y="2692400"/>
            <a:ext cx="1778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40" b="1">
                <a:solidFill>
                  <a:srgbClr val="051C2C"/>
                </a:solidFill>
                <a:latin typeface="Roboto"/>
              </a:rPr>
              <a:t>Sadu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578600" y="2832100"/>
            <a:ext cx="1778000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80" b="0">
                <a:solidFill>
                  <a:srgbClr val="6B7280"/>
                </a:solidFill>
                <a:latin typeface="Roboto"/>
              </a:rPr>
              <a:t>titik di dalam kawasan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620668" y="3518093"/>
            <a:ext cx="146050" cy="215706"/>
          </a:xfrm>
          <a:prstGeom prst="roundRect">
            <a:avLst>
              <a:gd name="adj" fmla="val 21739"/>
            </a:avLst>
          </a:prstGeom>
          <a:solidFill>
            <a:srgbClr val="DC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6376193" y="3352993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620" b="1">
                <a:solidFill>
                  <a:srgbClr val="051C2C"/>
                </a:solidFill>
                <a:latin typeface="Roboto"/>
              </a:rPr>
              <a:t>127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87293" y="37592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0">
                <a:solidFill>
                  <a:srgbClr val="6B7280"/>
                </a:solidFill>
                <a:latin typeface="Roboto"/>
              </a:rPr>
              <a:t>18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850856" y="3698131"/>
            <a:ext cx="146050" cy="35668"/>
          </a:xfrm>
          <a:prstGeom prst="rect">
            <a:avLst/>
          </a:prstGeom>
          <a:solidFill>
            <a:srgbClr val="B7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6606381" y="3533031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620" b="1">
                <a:solidFill>
                  <a:srgbClr val="051C2C"/>
                </a:solidFill>
                <a:latin typeface="Roboto"/>
              </a:rPr>
              <a:t>21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517481" y="37592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0">
                <a:solidFill>
                  <a:srgbClr val="6B7280"/>
                </a:solidFill>
                <a:latin typeface="Roboto"/>
              </a:rPr>
              <a:t>19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081043" y="3670956"/>
            <a:ext cx="146050" cy="62843"/>
          </a:xfrm>
          <a:prstGeom prst="rect">
            <a:avLst/>
          </a:prstGeom>
          <a:solidFill>
            <a:srgbClr val="F4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6836568" y="3505856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620" b="1">
                <a:solidFill>
                  <a:srgbClr val="051C2C"/>
                </a:solidFill>
                <a:latin typeface="Roboto"/>
              </a:rPr>
              <a:t>37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747668" y="37592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0">
                <a:solidFill>
                  <a:srgbClr val="6B7280"/>
                </a:solidFill>
                <a:latin typeface="Roboto"/>
              </a:rPr>
              <a:t>20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311231" y="3175000"/>
            <a:ext cx="146050" cy="558800"/>
          </a:xfrm>
          <a:prstGeom prst="roundRect">
            <a:avLst>
              <a:gd name="adj" fmla="val 21739"/>
            </a:avLst>
          </a:prstGeom>
          <a:solidFill>
            <a:srgbClr val="F4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7066756" y="3009900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620" b="1">
                <a:solidFill>
                  <a:srgbClr val="051C2C"/>
                </a:solidFill>
                <a:latin typeface="Roboto"/>
              </a:rPr>
              <a:t>329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977856" y="37592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0">
                <a:solidFill>
                  <a:srgbClr val="6B7280"/>
                </a:solidFill>
                <a:latin typeface="Roboto"/>
              </a:rPr>
              <a:t>21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7541418" y="3484123"/>
            <a:ext cx="146050" cy="249676"/>
          </a:xfrm>
          <a:prstGeom prst="roundRect">
            <a:avLst>
              <a:gd name="adj" fmla="val 21739"/>
            </a:avLst>
          </a:prstGeom>
          <a:solidFill>
            <a:srgbClr val="B7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7296943" y="3319023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620" b="1">
                <a:solidFill>
                  <a:srgbClr val="051C2C"/>
                </a:solidFill>
                <a:latin typeface="Roboto"/>
              </a:rPr>
              <a:t>147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208043" y="37592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0">
                <a:solidFill>
                  <a:srgbClr val="6B7280"/>
                </a:solidFill>
                <a:latin typeface="Roboto"/>
              </a:rPr>
              <a:t>22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7771606" y="3448455"/>
            <a:ext cx="146050" cy="285344"/>
          </a:xfrm>
          <a:prstGeom prst="roundRect">
            <a:avLst>
              <a:gd name="adj" fmla="val 21739"/>
            </a:avLst>
          </a:prstGeom>
          <a:solidFill>
            <a:srgbClr val="D96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7527131" y="3283355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620" b="1">
                <a:solidFill>
                  <a:srgbClr val="051C2C"/>
                </a:solidFill>
                <a:latin typeface="Roboto"/>
              </a:rPr>
              <a:t>168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438231" y="37592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0">
                <a:solidFill>
                  <a:srgbClr val="6B7280"/>
                </a:solidFill>
                <a:latin typeface="Roboto"/>
              </a:rPr>
              <a:t>23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8001793" y="3606413"/>
            <a:ext cx="146050" cy="127386"/>
          </a:xfrm>
          <a:prstGeom prst="roundRect">
            <a:avLst>
              <a:gd name="adj" fmla="val 24924"/>
            </a:avLst>
          </a:prstGeom>
          <a:solidFill>
            <a:srgbClr val="2F8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TextBox 108"/>
          <p:cNvSpPr txBox="1"/>
          <p:nvPr/>
        </p:nvSpPr>
        <p:spPr>
          <a:xfrm>
            <a:off x="7757318" y="3441313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620" b="1">
                <a:solidFill>
                  <a:srgbClr val="051C2C"/>
                </a:solidFill>
                <a:latin typeface="Roboto"/>
              </a:rPr>
              <a:t>75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668418" y="37592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0">
                <a:solidFill>
                  <a:srgbClr val="6B7280"/>
                </a:solidFill>
                <a:latin typeface="Roboto"/>
              </a:rPr>
              <a:t>24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231981" y="3713479"/>
            <a:ext cx="146050" cy="20320"/>
          </a:xfrm>
          <a:prstGeom prst="rect">
            <a:avLst/>
          </a:prstGeom>
          <a:solidFill>
            <a:srgbClr val="DCEBF8"/>
          </a:solidFill>
          <a:ln w="11430">
            <a:solidFill>
              <a:srgbClr val="6FA8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7987506" y="3548379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620" b="1">
                <a:solidFill>
                  <a:srgbClr val="051C2C"/>
                </a:solidFill>
                <a:latin typeface="Roboto"/>
              </a:rPr>
              <a:t>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898606" y="37592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0">
                <a:solidFill>
                  <a:srgbClr val="6B7280"/>
                </a:solidFill>
                <a:latin typeface="Roboto"/>
              </a:rPr>
              <a:t>25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6578600" y="3733800"/>
            <a:ext cx="1841500" cy="0"/>
          </a:xfrm>
          <a:prstGeom prst="line">
            <a:avLst/>
          </a:prstGeom>
          <a:ln w="7620">
            <a:solidFill>
              <a:srgbClr val="C9D1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4648200" y="4089400"/>
            <a:ext cx="1778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40" b="1">
                <a:solidFill>
                  <a:srgbClr val="051C2C"/>
                </a:solidFill>
                <a:latin typeface="Roboto"/>
              </a:rPr>
              <a:t>Berbak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48200" y="4229100"/>
            <a:ext cx="1778000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80" b="0">
                <a:solidFill>
                  <a:srgbClr val="6B7280"/>
                </a:solidFill>
                <a:latin typeface="Roboto"/>
              </a:rPr>
              <a:t>titik di dalam kawasan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4690268" y="4572000"/>
            <a:ext cx="146050" cy="558800"/>
          </a:xfrm>
          <a:prstGeom prst="roundRect">
            <a:avLst>
              <a:gd name="adj" fmla="val 21739"/>
            </a:avLst>
          </a:prstGeom>
          <a:solidFill>
            <a:srgbClr val="DC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4445793" y="4406900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620" b="1">
                <a:solidFill>
                  <a:srgbClr val="051C2C"/>
                </a:solidFill>
                <a:latin typeface="Roboto"/>
              </a:rPr>
              <a:t>18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356893" y="51562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0">
                <a:solidFill>
                  <a:srgbClr val="6B7280"/>
                </a:solidFill>
                <a:latin typeface="Roboto"/>
              </a:rPr>
              <a:t>18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920456" y="5110480"/>
            <a:ext cx="146050" cy="20320"/>
          </a:xfrm>
          <a:prstGeom prst="rect">
            <a:avLst/>
          </a:prstGeom>
          <a:solidFill>
            <a:srgbClr val="B7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TextBox 120"/>
          <p:cNvSpPr txBox="1"/>
          <p:nvPr/>
        </p:nvSpPr>
        <p:spPr>
          <a:xfrm>
            <a:off x="4675981" y="4945380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620" b="1">
                <a:solidFill>
                  <a:srgbClr val="051C2C"/>
                </a:solidFill>
                <a:latin typeface="Roboto"/>
              </a:rPr>
              <a:t>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587081" y="51562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0">
                <a:solidFill>
                  <a:srgbClr val="6B7280"/>
                </a:solidFill>
                <a:latin typeface="Roboto"/>
              </a:rPr>
              <a:t>19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5150643" y="5037666"/>
            <a:ext cx="146050" cy="93133"/>
          </a:xfrm>
          <a:prstGeom prst="roundRect">
            <a:avLst>
              <a:gd name="adj" fmla="val 34090"/>
            </a:avLst>
          </a:prstGeom>
          <a:solidFill>
            <a:srgbClr val="F4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4906168" y="4872566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620" b="1">
                <a:solidFill>
                  <a:srgbClr val="051C2C"/>
                </a:solidFill>
                <a:latin typeface="Roboto"/>
              </a:rPr>
              <a:t>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817268" y="51562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0">
                <a:solidFill>
                  <a:srgbClr val="6B7280"/>
                </a:solidFill>
                <a:latin typeface="Roboto"/>
              </a:rPr>
              <a:t>20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5380831" y="4820355"/>
            <a:ext cx="146050" cy="310444"/>
          </a:xfrm>
          <a:prstGeom prst="roundRect">
            <a:avLst>
              <a:gd name="adj" fmla="val 21739"/>
            </a:avLst>
          </a:prstGeom>
          <a:solidFill>
            <a:srgbClr val="F4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TextBox 126"/>
          <p:cNvSpPr txBox="1"/>
          <p:nvPr/>
        </p:nvSpPr>
        <p:spPr>
          <a:xfrm>
            <a:off x="5136356" y="4655255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620" b="1">
                <a:solidFill>
                  <a:srgbClr val="051C2C"/>
                </a:solidFill>
                <a:latin typeface="Roboto"/>
              </a:rPr>
              <a:t>10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047456" y="51562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0">
                <a:solidFill>
                  <a:srgbClr val="6B7280"/>
                </a:solidFill>
                <a:latin typeface="Roboto"/>
              </a:rPr>
              <a:t>21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5611018" y="4634088"/>
            <a:ext cx="146050" cy="496711"/>
          </a:xfrm>
          <a:prstGeom prst="roundRect">
            <a:avLst>
              <a:gd name="adj" fmla="val 21739"/>
            </a:avLst>
          </a:prstGeom>
          <a:solidFill>
            <a:srgbClr val="F4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TextBox 129"/>
          <p:cNvSpPr txBox="1"/>
          <p:nvPr/>
        </p:nvSpPr>
        <p:spPr>
          <a:xfrm>
            <a:off x="5366543" y="4468988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620" b="1">
                <a:solidFill>
                  <a:srgbClr val="051C2C"/>
                </a:solidFill>
                <a:latin typeface="Roboto"/>
              </a:rPr>
              <a:t>16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277643" y="51562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0">
                <a:solidFill>
                  <a:srgbClr val="6B7280"/>
                </a:solidFill>
                <a:latin typeface="Roboto"/>
              </a:rPr>
              <a:t>22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5841206" y="4913488"/>
            <a:ext cx="146050" cy="217311"/>
          </a:xfrm>
          <a:prstGeom prst="roundRect">
            <a:avLst>
              <a:gd name="adj" fmla="val 21739"/>
            </a:avLst>
          </a:prstGeom>
          <a:solidFill>
            <a:srgbClr val="2F8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TextBox 132"/>
          <p:cNvSpPr txBox="1"/>
          <p:nvPr/>
        </p:nvSpPr>
        <p:spPr>
          <a:xfrm>
            <a:off x="5596731" y="4748388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620" b="1">
                <a:solidFill>
                  <a:srgbClr val="051C2C"/>
                </a:solidFill>
                <a:latin typeface="Roboto"/>
              </a:rPr>
              <a:t>7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507831" y="51562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0">
                <a:solidFill>
                  <a:srgbClr val="6B7280"/>
                </a:solidFill>
                <a:latin typeface="Roboto"/>
              </a:rPr>
              <a:t>23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071393" y="4975577"/>
            <a:ext cx="146050" cy="155222"/>
          </a:xfrm>
          <a:prstGeom prst="roundRect">
            <a:avLst>
              <a:gd name="adj" fmla="val 21739"/>
            </a:avLst>
          </a:prstGeom>
          <a:solidFill>
            <a:srgbClr val="2F8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5826918" y="4810477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620" b="1">
                <a:solidFill>
                  <a:srgbClr val="051C2C"/>
                </a:solidFill>
                <a:latin typeface="Roboto"/>
              </a:rPr>
              <a:t>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738018" y="51562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0">
                <a:solidFill>
                  <a:srgbClr val="6B7280"/>
                </a:solidFill>
                <a:latin typeface="Roboto"/>
              </a:rPr>
              <a:t>24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301581" y="5110480"/>
            <a:ext cx="146050" cy="20320"/>
          </a:xfrm>
          <a:prstGeom prst="rect">
            <a:avLst/>
          </a:prstGeom>
          <a:solidFill>
            <a:srgbClr val="DCEBF8"/>
          </a:solidFill>
          <a:ln w="11430">
            <a:solidFill>
              <a:srgbClr val="6FA8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TextBox 138"/>
          <p:cNvSpPr txBox="1"/>
          <p:nvPr/>
        </p:nvSpPr>
        <p:spPr>
          <a:xfrm>
            <a:off x="6057106" y="4945380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620" b="1">
                <a:solidFill>
                  <a:srgbClr val="051C2C"/>
                </a:solidFill>
                <a:latin typeface="Roboto"/>
              </a:rP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968206" y="51562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0">
                <a:solidFill>
                  <a:srgbClr val="6B7280"/>
                </a:solidFill>
                <a:latin typeface="Roboto"/>
              </a:rPr>
              <a:t>25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4648200" y="5130800"/>
            <a:ext cx="1841500" cy="0"/>
          </a:xfrm>
          <a:prstGeom prst="line">
            <a:avLst/>
          </a:prstGeom>
          <a:ln w="7620">
            <a:solidFill>
              <a:srgbClr val="C9D1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extBox 141"/>
          <p:cNvSpPr txBox="1"/>
          <p:nvPr/>
        </p:nvSpPr>
        <p:spPr>
          <a:xfrm>
            <a:off x="6578600" y="4089400"/>
            <a:ext cx="1778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40" b="1">
                <a:solidFill>
                  <a:srgbClr val="051C2C"/>
                </a:solidFill>
                <a:latin typeface="Roboto"/>
              </a:rPr>
              <a:t>Seluruh kawasan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578600" y="4229100"/>
            <a:ext cx="1778000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80" b="0">
                <a:solidFill>
                  <a:srgbClr val="6B7280"/>
                </a:solidFill>
                <a:latin typeface="Roboto"/>
              </a:rPr>
              <a:t>belum padam (ha)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620668" y="5065724"/>
            <a:ext cx="146050" cy="65075"/>
          </a:xfrm>
          <a:prstGeom prst="rect">
            <a:avLst/>
          </a:prstGeom>
          <a:solidFill>
            <a:srgbClr val="DC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TextBox 144"/>
          <p:cNvSpPr txBox="1"/>
          <p:nvPr/>
        </p:nvSpPr>
        <p:spPr>
          <a:xfrm>
            <a:off x="6376193" y="4900624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620" b="1">
                <a:solidFill>
                  <a:srgbClr val="051C2C"/>
                </a:solidFill>
                <a:latin typeface="Roboto"/>
              </a:rPr>
              <a:t>106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287293" y="51562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0">
                <a:solidFill>
                  <a:srgbClr val="6B7280"/>
                </a:solidFill>
                <a:latin typeface="Roboto"/>
              </a:rPr>
              <a:t>18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6850856" y="5051577"/>
            <a:ext cx="146050" cy="79222"/>
          </a:xfrm>
          <a:prstGeom prst="roundRect">
            <a:avLst>
              <a:gd name="adj" fmla="val 40077"/>
            </a:avLst>
          </a:prstGeom>
          <a:solidFill>
            <a:srgbClr val="F4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TextBox 147"/>
          <p:cNvSpPr txBox="1"/>
          <p:nvPr/>
        </p:nvSpPr>
        <p:spPr>
          <a:xfrm>
            <a:off x="6606381" y="4886477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620" b="1">
                <a:solidFill>
                  <a:srgbClr val="051C2C"/>
                </a:solidFill>
                <a:latin typeface="Roboto"/>
              </a:rPr>
              <a:t>129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517481" y="51562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0">
                <a:solidFill>
                  <a:srgbClr val="6B7280"/>
                </a:solidFill>
                <a:latin typeface="Roboto"/>
              </a:rPr>
              <a:t>19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7081043" y="5062895"/>
            <a:ext cx="146050" cy="67904"/>
          </a:xfrm>
          <a:prstGeom prst="rect">
            <a:avLst/>
          </a:prstGeom>
          <a:solidFill>
            <a:srgbClr val="B7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TextBox 150"/>
          <p:cNvSpPr txBox="1"/>
          <p:nvPr/>
        </p:nvSpPr>
        <p:spPr>
          <a:xfrm>
            <a:off x="6836568" y="4897795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620" b="1">
                <a:solidFill>
                  <a:srgbClr val="051C2C"/>
                </a:solidFill>
                <a:latin typeface="Roboto"/>
              </a:rPr>
              <a:t>110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747668" y="51562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0">
                <a:solidFill>
                  <a:srgbClr val="6B7280"/>
                </a:solidFill>
                <a:latin typeface="Roboto"/>
              </a:rPr>
              <a:t>20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7311231" y="4843619"/>
            <a:ext cx="146050" cy="287180"/>
          </a:xfrm>
          <a:prstGeom prst="roundRect">
            <a:avLst>
              <a:gd name="adj" fmla="val 21739"/>
            </a:avLst>
          </a:prstGeom>
          <a:solidFill>
            <a:srgbClr val="F4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TextBox 153"/>
          <p:cNvSpPr txBox="1"/>
          <p:nvPr/>
        </p:nvSpPr>
        <p:spPr>
          <a:xfrm>
            <a:off x="7066756" y="4678519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620" b="1">
                <a:solidFill>
                  <a:srgbClr val="051C2C"/>
                </a:solidFill>
                <a:latin typeface="Roboto"/>
              </a:rPr>
              <a:t>466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77856" y="51562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0">
                <a:solidFill>
                  <a:srgbClr val="6B7280"/>
                </a:solidFill>
                <a:latin typeface="Roboto"/>
              </a:rPr>
              <a:t>21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7541418" y="4924256"/>
            <a:ext cx="146050" cy="206543"/>
          </a:xfrm>
          <a:prstGeom prst="roundRect">
            <a:avLst>
              <a:gd name="adj" fmla="val 21739"/>
            </a:avLst>
          </a:prstGeom>
          <a:solidFill>
            <a:srgbClr val="B7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TextBox 156"/>
          <p:cNvSpPr txBox="1"/>
          <p:nvPr/>
        </p:nvSpPr>
        <p:spPr>
          <a:xfrm>
            <a:off x="7296943" y="4759156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620" b="1">
                <a:solidFill>
                  <a:srgbClr val="051C2C"/>
                </a:solidFill>
                <a:latin typeface="Roboto"/>
              </a:rPr>
              <a:t>335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208043" y="51562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0">
                <a:solidFill>
                  <a:srgbClr val="6B7280"/>
                </a:solidFill>
                <a:latin typeface="Roboto"/>
              </a:rPr>
              <a:t>22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7771606" y="4572000"/>
            <a:ext cx="146050" cy="558799"/>
          </a:xfrm>
          <a:prstGeom prst="roundRect">
            <a:avLst>
              <a:gd name="adj" fmla="val 21739"/>
            </a:avLst>
          </a:prstGeom>
          <a:solidFill>
            <a:srgbClr val="D96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0" name="TextBox 159"/>
          <p:cNvSpPr txBox="1"/>
          <p:nvPr/>
        </p:nvSpPr>
        <p:spPr>
          <a:xfrm>
            <a:off x="7527131" y="4406900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620" b="1">
                <a:solidFill>
                  <a:srgbClr val="051C2C"/>
                </a:solidFill>
                <a:latin typeface="Roboto"/>
              </a:rPr>
              <a:t>907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438231" y="51562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0">
                <a:solidFill>
                  <a:srgbClr val="6B7280"/>
                </a:solidFill>
                <a:latin typeface="Roboto"/>
              </a:rPr>
              <a:t>23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8001793" y="4870498"/>
            <a:ext cx="146050" cy="260301"/>
          </a:xfrm>
          <a:prstGeom prst="roundRect">
            <a:avLst>
              <a:gd name="adj" fmla="val 21739"/>
            </a:avLst>
          </a:prstGeom>
          <a:solidFill>
            <a:srgbClr val="2F8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3" name="TextBox 162"/>
          <p:cNvSpPr txBox="1"/>
          <p:nvPr/>
        </p:nvSpPr>
        <p:spPr>
          <a:xfrm>
            <a:off x="7757318" y="4705398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620" b="1">
                <a:solidFill>
                  <a:srgbClr val="051C2C"/>
                </a:solidFill>
                <a:latin typeface="Roboto"/>
              </a:rPr>
              <a:t>422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668418" y="51562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0">
                <a:solidFill>
                  <a:srgbClr val="6B7280"/>
                </a:solidFill>
                <a:latin typeface="Roboto"/>
              </a:rPr>
              <a:t>24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8231981" y="5071383"/>
            <a:ext cx="146050" cy="59416"/>
          </a:xfrm>
          <a:prstGeom prst="rect">
            <a:avLst/>
          </a:prstGeom>
          <a:solidFill>
            <a:srgbClr val="DCEBF8"/>
          </a:solidFill>
          <a:ln w="11430">
            <a:solidFill>
              <a:srgbClr val="6FA8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6" name="TextBox 165"/>
          <p:cNvSpPr txBox="1"/>
          <p:nvPr/>
        </p:nvSpPr>
        <p:spPr>
          <a:xfrm>
            <a:off x="7987506" y="4906283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620" b="1">
                <a:solidFill>
                  <a:srgbClr val="051C2C"/>
                </a:solidFill>
                <a:latin typeface="Roboto"/>
              </a:rPr>
              <a:t>96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898606" y="5156200"/>
            <a:ext cx="8128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" b="0">
                <a:solidFill>
                  <a:srgbClr val="6B7280"/>
                </a:solidFill>
                <a:latin typeface="Roboto"/>
              </a:rPr>
              <a:t>25</a:t>
            </a:r>
          </a:p>
        </p:txBody>
      </p:sp>
      <p:cxnSp>
        <p:nvCxnSpPr>
          <p:cNvPr id="168" name="Connector 167"/>
          <p:cNvCxnSpPr/>
          <p:nvPr/>
        </p:nvCxnSpPr>
        <p:spPr>
          <a:xfrm>
            <a:off x="6578600" y="5130800"/>
            <a:ext cx="1841500" cy="0"/>
          </a:xfrm>
          <a:prstGeom prst="line">
            <a:avLst/>
          </a:prstGeom>
          <a:ln w="7620">
            <a:solidFill>
              <a:srgbClr val="C9D1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TextBox 168"/>
          <p:cNvSpPr txBox="1"/>
          <p:nvPr/>
        </p:nvSpPr>
        <p:spPr>
          <a:xfrm>
            <a:off x="4648200" y="5486400"/>
            <a:ext cx="1270000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spc="120">
                <a:solidFill>
                  <a:srgbClr val="6B7280"/>
                </a:solidFill>
                <a:latin typeface="Roboto"/>
              </a:rPr>
              <a:t>ALUR API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4648200" y="5638800"/>
            <a:ext cx="624205" cy="1524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1" name="Picture 170" descr="api-nav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99000" y="5673725"/>
            <a:ext cx="82550" cy="82550"/>
          </a:xfrm>
          <a:prstGeom prst="rect">
            <a:avLst/>
          </a:prstGeom>
        </p:spPr>
      </p:pic>
      <p:sp>
        <p:nvSpPr>
          <p:cNvPr id="172" name="TextBox 171"/>
          <p:cNvSpPr txBox="1"/>
          <p:nvPr/>
        </p:nvSpPr>
        <p:spPr>
          <a:xfrm>
            <a:off x="4800600" y="5638800"/>
            <a:ext cx="44640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80" b="1">
                <a:solidFill>
                  <a:srgbClr val="051C2C"/>
                </a:solidFill>
                <a:latin typeface="Roboto"/>
              </a:rPr>
              <a:t>Berbak 18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5335905" y="5638800"/>
            <a:ext cx="751840" cy="15240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" name="Picture 173" descr="api-orany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6705" y="5673725"/>
            <a:ext cx="82550" cy="82550"/>
          </a:xfrm>
          <a:prstGeom prst="rect">
            <a:avLst/>
          </a:prstGeom>
        </p:spPr>
      </p:pic>
      <p:sp>
        <p:nvSpPr>
          <p:cNvPr id="175" name="TextBox 174"/>
          <p:cNvSpPr txBox="1"/>
          <p:nvPr/>
        </p:nvSpPr>
        <p:spPr>
          <a:xfrm>
            <a:off x="5488305" y="5638800"/>
            <a:ext cx="57404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80" b="1">
                <a:solidFill>
                  <a:srgbClr val="D9600B"/>
                </a:solidFill>
                <a:latin typeface="Roboto"/>
              </a:rPr>
              <a:t>Kumpeh 21–23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6151245" y="5638800"/>
            <a:ext cx="666750" cy="15240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7" name="Picture 176" descr="api-orany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2045" y="5673725"/>
            <a:ext cx="82550" cy="82550"/>
          </a:xfrm>
          <a:prstGeom prst="rect">
            <a:avLst/>
          </a:prstGeom>
        </p:spPr>
      </p:pic>
      <p:sp>
        <p:nvSpPr>
          <p:cNvPr id="178" name="TextBox 177"/>
          <p:cNvSpPr txBox="1"/>
          <p:nvPr/>
        </p:nvSpPr>
        <p:spPr>
          <a:xfrm>
            <a:off x="6303645" y="5638800"/>
            <a:ext cx="4889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80" b="1">
                <a:solidFill>
                  <a:srgbClr val="D9600B"/>
                </a:solidFill>
                <a:latin typeface="Roboto"/>
              </a:rPr>
              <a:t>Sadu 21–23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8737600" y="2095500"/>
            <a:ext cx="2908300" cy="4064000"/>
          </a:xfrm>
          <a:prstGeom prst="roundRect">
            <a:avLst>
              <a:gd name="adj" fmla="val 2620"/>
            </a:avLst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0" name="Rounded Rectangle 179"/>
          <p:cNvSpPr/>
          <p:nvPr/>
        </p:nvSpPr>
        <p:spPr>
          <a:xfrm>
            <a:off x="8743950" y="2101850"/>
            <a:ext cx="2895600" cy="482600"/>
          </a:xfrm>
          <a:prstGeom prst="roundRect">
            <a:avLst>
              <a:gd name="adj" fmla="val 15789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1" name="Rectangle 180"/>
          <p:cNvSpPr/>
          <p:nvPr/>
        </p:nvSpPr>
        <p:spPr>
          <a:xfrm>
            <a:off x="8743950" y="2476500"/>
            <a:ext cx="2895600" cy="10795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82" name="Connector 181"/>
          <p:cNvCxnSpPr/>
          <p:nvPr/>
        </p:nvCxnSpPr>
        <p:spPr>
          <a:xfrm>
            <a:off x="8737600" y="2578100"/>
            <a:ext cx="2908300" cy="0"/>
          </a:xfrm>
          <a:prstGeom prst="line">
            <a:avLst/>
          </a:prstGeom>
          <a:ln w="9525">
            <a:solidFill>
              <a:srgbClr val="D5D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Oval 182"/>
          <p:cNvSpPr/>
          <p:nvPr/>
        </p:nvSpPr>
        <p:spPr>
          <a:xfrm>
            <a:off x="8864600" y="21907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4" name="Picture 183" descr="kalender-puti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8100" y="2254250"/>
            <a:ext cx="165100" cy="165100"/>
          </a:xfrm>
          <a:prstGeom prst="rect">
            <a:avLst/>
          </a:prstGeom>
        </p:spPr>
      </p:pic>
      <p:sp>
        <p:nvSpPr>
          <p:cNvPr id="185" name="TextBox 184"/>
          <p:cNvSpPr txBox="1"/>
          <p:nvPr/>
        </p:nvSpPr>
        <p:spPr>
          <a:xfrm>
            <a:off x="9245600" y="2095500"/>
            <a:ext cx="17653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51C2C"/>
                </a:solidFill>
                <a:latin typeface="Roboto"/>
              </a:rPr>
              <a:t>Kronologi dan unsur</a:t>
            </a:r>
          </a:p>
        </p:txBody>
      </p:sp>
      <p:sp>
        <p:nvSpPr>
          <p:cNvPr id="186" name="Oval 185"/>
          <p:cNvSpPr/>
          <p:nvPr/>
        </p:nvSpPr>
        <p:spPr>
          <a:xfrm>
            <a:off x="8851900" y="2705100"/>
            <a:ext cx="190500" cy="190500"/>
          </a:xfrm>
          <a:prstGeom prst="ellipse">
            <a:avLst/>
          </a:prstGeom>
          <a:solidFill>
            <a:srgbClr val="D9600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7" name="Picture 186" descr="api-puti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6350" y="2749550"/>
            <a:ext cx="101600" cy="101600"/>
          </a:xfrm>
          <a:prstGeom prst="rect">
            <a:avLst/>
          </a:prstGeom>
        </p:spPr>
      </p:pic>
      <p:sp>
        <p:nvSpPr>
          <p:cNvPr id="188" name="TextBox 187"/>
          <p:cNvSpPr txBox="1"/>
          <p:nvPr/>
        </p:nvSpPr>
        <p:spPr>
          <a:xfrm>
            <a:off x="9105900" y="2692400"/>
            <a:ext cx="19050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60" b="1">
                <a:solidFill>
                  <a:srgbClr val="111827"/>
                </a:solidFill>
                <a:latin typeface="Roboto"/>
              </a:rPr>
              <a:t>18 Okt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9105900" y="2844800"/>
            <a:ext cx="721360" cy="1397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0" name="Picture 189" descr="api-nav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56700" y="2873375"/>
            <a:ext cx="82550" cy="82550"/>
          </a:xfrm>
          <a:prstGeom prst="rect">
            <a:avLst/>
          </a:prstGeom>
        </p:spPr>
      </p:pic>
      <p:sp>
        <p:nvSpPr>
          <p:cNvPr id="191" name="TextBox 190"/>
          <p:cNvSpPr txBox="1"/>
          <p:nvPr/>
        </p:nvSpPr>
        <p:spPr>
          <a:xfrm>
            <a:off x="9258300" y="2844800"/>
            <a:ext cx="54356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051C2C"/>
                </a:solidFill>
                <a:latin typeface="Roboto"/>
              </a:rPr>
              <a:t>api teramati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9878060" y="2844800"/>
            <a:ext cx="761365" cy="1397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3" name="Picture 192" descr="pin-navy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28860" y="2873375"/>
            <a:ext cx="82550" cy="82550"/>
          </a:xfrm>
          <a:prstGeom prst="rect">
            <a:avLst/>
          </a:prstGeom>
        </p:spPr>
      </p:pic>
      <p:sp>
        <p:nvSpPr>
          <p:cNvPr id="194" name="TextBox 193"/>
          <p:cNvSpPr txBox="1"/>
          <p:nvPr/>
        </p:nvSpPr>
        <p:spPr>
          <a:xfrm>
            <a:off x="10030460" y="2844800"/>
            <a:ext cx="583565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051C2C"/>
                </a:solidFill>
                <a:latin typeface="Roboto"/>
              </a:rPr>
              <a:t>Berbak, K0037</a:t>
            </a:r>
          </a:p>
        </p:txBody>
      </p:sp>
      <p:sp>
        <p:nvSpPr>
          <p:cNvPr id="195" name="Oval 194"/>
          <p:cNvSpPr/>
          <p:nvPr/>
        </p:nvSpPr>
        <p:spPr>
          <a:xfrm>
            <a:off x="8851900" y="3149600"/>
            <a:ext cx="190500" cy="190500"/>
          </a:xfrm>
          <a:prstGeom prst="ellipse">
            <a:avLst/>
          </a:prstGeom>
          <a:solidFill>
            <a:srgbClr val="D9600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6" name="Picture 195" descr="aktivitas-putih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96350" y="3194050"/>
            <a:ext cx="101600" cy="101600"/>
          </a:xfrm>
          <a:prstGeom prst="rect">
            <a:avLst/>
          </a:prstGeom>
        </p:spPr>
      </p:pic>
      <p:sp>
        <p:nvSpPr>
          <p:cNvPr id="197" name="TextBox 196"/>
          <p:cNvSpPr txBox="1"/>
          <p:nvPr/>
        </p:nvSpPr>
        <p:spPr>
          <a:xfrm>
            <a:off x="9105900" y="3136900"/>
            <a:ext cx="19050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60" b="1">
                <a:solidFill>
                  <a:srgbClr val="111827"/>
                </a:solidFill>
                <a:latin typeface="Roboto"/>
              </a:rPr>
              <a:t>21 Okt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9105900" y="3289300"/>
            <a:ext cx="881380" cy="13970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9" name="Picture 198" descr="api-orany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6700" y="3317875"/>
            <a:ext cx="82550" cy="82550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9258300" y="3289300"/>
            <a:ext cx="70358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D9600B"/>
                </a:solidFill>
                <a:latin typeface="Roboto"/>
              </a:rPr>
              <a:t>puncak 736 titik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10038080" y="3289300"/>
            <a:ext cx="481330" cy="1397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2" name="Picture 201" descr="pin-navy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88880" y="3317875"/>
            <a:ext cx="82550" cy="82550"/>
          </a:xfrm>
          <a:prstGeom prst="rect">
            <a:avLst/>
          </a:prstGeom>
        </p:spPr>
      </p:pic>
      <p:sp>
        <p:nvSpPr>
          <p:cNvPr id="203" name="TextBox 202"/>
          <p:cNvSpPr txBox="1"/>
          <p:nvPr/>
        </p:nvSpPr>
        <p:spPr>
          <a:xfrm>
            <a:off x="10190480" y="3289300"/>
            <a:ext cx="30353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051C2C"/>
                </a:solidFill>
                <a:latin typeface="Roboto"/>
              </a:rPr>
              <a:t>Kumpeh</a:t>
            </a:r>
          </a:p>
        </p:txBody>
      </p:sp>
      <p:sp>
        <p:nvSpPr>
          <p:cNvPr id="204" name="Oval 203"/>
          <p:cNvSpPr/>
          <p:nvPr/>
        </p:nvSpPr>
        <p:spPr>
          <a:xfrm>
            <a:off x="8851900" y="3594100"/>
            <a:ext cx="190500" cy="190500"/>
          </a:xfrm>
          <a:prstGeom prst="ellipse">
            <a:avLst/>
          </a:prstGeom>
          <a:solidFill>
            <a:srgbClr val="051C2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5" name="Picture 204" descr="air-putih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96350" y="3638550"/>
            <a:ext cx="101600" cy="101600"/>
          </a:xfrm>
          <a:prstGeom prst="rect">
            <a:avLst/>
          </a:prstGeom>
        </p:spPr>
      </p:pic>
      <p:sp>
        <p:nvSpPr>
          <p:cNvPr id="206" name="TextBox 205"/>
          <p:cNvSpPr txBox="1"/>
          <p:nvPr/>
        </p:nvSpPr>
        <p:spPr>
          <a:xfrm>
            <a:off x="9105900" y="3581400"/>
            <a:ext cx="19050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60" b="1">
                <a:solidFill>
                  <a:srgbClr val="111827"/>
                </a:solidFill>
                <a:latin typeface="Roboto"/>
              </a:rPr>
              <a:t>24 Okt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9105900" y="3733800"/>
            <a:ext cx="841375" cy="13970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8" name="Picture 207" descr="grid-orany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56700" y="3762375"/>
            <a:ext cx="82550" cy="82550"/>
          </a:xfrm>
          <a:prstGeom prst="rect">
            <a:avLst/>
          </a:prstGeom>
        </p:spPr>
      </p:pic>
      <p:sp>
        <p:nvSpPr>
          <p:cNvPr id="209" name="TextBox 208"/>
          <p:cNvSpPr txBox="1"/>
          <p:nvPr/>
        </p:nvSpPr>
        <p:spPr>
          <a:xfrm>
            <a:off x="9258300" y="3733800"/>
            <a:ext cx="663575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D9600B"/>
                </a:solidFill>
                <a:latin typeface="Roboto"/>
              </a:rPr>
              <a:t>510 ha terbakar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9998075" y="3733800"/>
            <a:ext cx="961389" cy="139700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1" name="Picture 210" descr="awas-mera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48875" y="3762375"/>
            <a:ext cx="82550" cy="82550"/>
          </a:xfrm>
          <a:prstGeom prst="rect">
            <a:avLst/>
          </a:prstGeom>
        </p:spPr>
      </p:pic>
      <p:sp>
        <p:nvSpPr>
          <p:cNvPr id="212" name="TextBox 211"/>
          <p:cNvSpPr txBox="1"/>
          <p:nvPr/>
        </p:nvSpPr>
        <p:spPr>
          <a:xfrm>
            <a:off x="10150475" y="3733800"/>
            <a:ext cx="783589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C8102E"/>
                </a:solidFill>
                <a:latin typeface="Roboto"/>
              </a:rPr>
              <a:t>belum padam 422 ha</a:t>
            </a:r>
          </a:p>
        </p:txBody>
      </p:sp>
      <p:sp>
        <p:nvSpPr>
          <p:cNvPr id="213" name="Oval 212"/>
          <p:cNvSpPr/>
          <p:nvPr/>
        </p:nvSpPr>
        <p:spPr>
          <a:xfrm>
            <a:off x="8851900" y="4038600"/>
            <a:ext cx="190500" cy="1905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4" name="Picture 213" descr="awas-puti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6350" y="4083050"/>
            <a:ext cx="101600" cy="101600"/>
          </a:xfrm>
          <a:prstGeom prst="rect">
            <a:avLst/>
          </a:prstGeom>
        </p:spPr>
      </p:pic>
      <p:sp>
        <p:nvSpPr>
          <p:cNvPr id="215" name="TextBox 214"/>
          <p:cNvSpPr txBox="1"/>
          <p:nvPr/>
        </p:nvSpPr>
        <p:spPr>
          <a:xfrm>
            <a:off x="9105900" y="4025900"/>
            <a:ext cx="19050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60" b="1">
                <a:solidFill>
                  <a:srgbClr val="111827"/>
                </a:solidFill>
                <a:latin typeface="Roboto"/>
              </a:rPr>
              <a:t>25 Okt s.d. 06.00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9105900" y="4178300"/>
            <a:ext cx="521334" cy="139700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7" name="Picture 216" descr="api-mera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56700" y="4206875"/>
            <a:ext cx="82550" cy="82550"/>
          </a:xfrm>
          <a:prstGeom prst="rect">
            <a:avLst/>
          </a:prstGeom>
        </p:spPr>
      </p:pic>
      <p:sp>
        <p:nvSpPr>
          <p:cNvPr id="218" name="TextBox 217"/>
          <p:cNvSpPr txBox="1"/>
          <p:nvPr/>
        </p:nvSpPr>
        <p:spPr>
          <a:xfrm>
            <a:off x="9258300" y="4178300"/>
            <a:ext cx="343534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C8102E"/>
                </a:solidFill>
                <a:latin typeface="Roboto"/>
              </a:rPr>
              <a:t>8 titik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9678035" y="4178300"/>
            <a:ext cx="921385" cy="139700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0" name="Picture 219" descr="awas-mera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8835" y="4206875"/>
            <a:ext cx="82550" cy="82550"/>
          </a:xfrm>
          <a:prstGeom prst="rect">
            <a:avLst/>
          </a:prstGeom>
        </p:spPr>
      </p:pic>
      <p:sp>
        <p:nvSpPr>
          <p:cNvPr id="221" name="TextBox 220"/>
          <p:cNvSpPr txBox="1"/>
          <p:nvPr/>
        </p:nvSpPr>
        <p:spPr>
          <a:xfrm>
            <a:off x="9830435" y="4178300"/>
            <a:ext cx="743585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C8102E"/>
                </a:solidFill>
                <a:latin typeface="Roboto"/>
              </a:rPr>
              <a:t>belum padam 96 ha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8851900" y="4533900"/>
            <a:ext cx="2540000" cy="12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60" b="1">
                <a:solidFill>
                  <a:srgbClr val="374151"/>
                </a:solidFill>
                <a:latin typeface="Roboto"/>
              </a:rPr>
              <a:t>UNSUR TERKAIT (8)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8851900" y="4699000"/>
            <a:ext cx="1295400" cy="203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4" name="Picture 223" descr="pohon-navy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15400" y="4749800"/>
            <a:ext cx="101600" cy="101600"/>
          </a:xfrm>
          <a:prstGeom prst="rect">
            <a:avLst/>
          </a:prstGeom>
        </p:spPr>
      </p:pic>
      <p:sp>
        <p:nvSpPr>
          <p:cNvPr id="225" name="TextBox 224"/>
          <p:cNvSpPr txBox="1"/>
          <p:nvPr/>
        </p:nvSpPr>
        <p:spPr>
          <a:xfrm>
            <a:off x="9067800" y="4699000"/>
            <a:ext cx="10668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90" b="1">
                <a:solidFill>
                  <a:srgbClr val="051C2C"/>
                </a:solidFill>
                <a:latin typeface="Roboto"/>
              </a:rPr>
              <a:t>Balai TN Berbak dan Sembilang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10210800" y="4699000"/>
            <a:ext cx="1295400" cy="203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7" name="Picture 226" descr="perisai-navy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274300" y="4749800"/>
            <a:ext cx="101600" cy="101600"/>
          </a:xfrm>
          <a:prstGeom prst="rect">
            <a:avLst/>
          </a:prstGeom>
        </p:spPr>
      </p:pic>
      <p:sp>
        <p:nvSpPr>
          <p:cNvPr id="228" name="TextBox 227"/>
          <p:cNvSpPr txBox="1"/>
          <p:nvPr/>
        </p:nvSpPr>
        <p:spPr>
          <a:xfrm>
            <a:off x="10426700" y="4699000"/>
            <a:ext cx="10668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30" b="1">
                <a:solidFill>
                  <a:srgbClr val="051C2C"/>
                </a:solidFill>
                <a:latin typeface="Roboto"/>
              </a:rPr>
              <a:t>Daops Muara Bulian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8851900" y="4972050"/>
            <a:ext cx="1295400" cy="203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0" name="Picture 229" descr="truk-navy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15400" y="5022850"/>
            <a:ext cx="101600" cy="101600"/>
          </a:xfrm>
          <a:prstGeom prst="rect">
            <a:avLst/>
          </a:prstGeom>
        </p:spPr>
      </p:pic>
      <p:sp>
        <p:nvSpPr>
          <p:cNvPr id="231" name="TextBox 230"/>
          <p:cNvSpPr txBox="1"/>
          <p:nvPr/>
        </p:nvSpPr>
        <p:spPr>
          <a:xfrm>
            <a:off x="9067800" y="4972050"/>
            <a:ext cx="10668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30" b="1">
                <a:solidFill>
                  <a:srgbClr val="051C2C"/>
                </a:solidFill>
                <a:latin typeface="Roboto"/>
              </a:rPr>
              <a:t>Perusahaan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10210800" y="4972050"/>
            <a:ext cx="1295400" cy="203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3" name="Picture 232" descr="orang-navy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274300" y="5022850"/>
            <a:ext cx="101600" cy="101600"/>
          </a:xfrm>
          <a:prstGeom prst="rect">
            <a:avLst/>
          </a:prstGeom>
        </p:spPr>
      </p:pic>
      <p:sp>
        <p:nvSpPr>
          <p:cNvPr id="234" name="TextBox 233"/>
          <p:cNvSpPr txBox="1"/>
          <p:nvPr/>
        </p:nvSpPr>
        <p:spPr>
          <a:xfrm>
            <a:off x="10426700" y="4972050"/>
            <a:ext cx="10668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30" b="1">
                <a:solidFill>
                  <a:srgbClr val="051C2C"/>
                </a:solidFill>
                <a:latin typeface="Roboto"/>
              </a:rPr>
              <a:t>MPA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8851900" y="5245100"/>
            <a:ext cx="1295400" cy="203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6" name="Picture 235" descr="bendera-navy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915400" y="5295900"/>
            <a:ext cx="101600" cy="101600"/>
          </a:xfrm>
          <a:prstGeom prst="rect">
            <a:avLst/>
          </a:prstGeom>
        </p:spPr>
      </p:pic>
      <p:sp>
        <p:nvSpPr>
          <p:cNvPr id="237" name="TextBox 236"/>
          <p:cNvSpPr txBox="1"/>
          <p:nvPr/>
        </p:nvSpPr>
        <p:spPr>
          <a:xfrm>
            <a:off x="9067800" y="5245100"/>
            <a:ext cx="10668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30" b="1">
                <a:solidFill>
                  <a:srgbClr val="051C2C"/>
                </a:solidFill>
                <a:latin typeface="Roboto"/>
              </a:rPr>
              <a:t>TNI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10210800" y="5245100"/>
            <a:ext cx="1295400" cy="203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9" name="Picture 238" descr="perisai-navy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274300" y="5295900"/>
            <a:ext cx="101600" cy="101600"/>
          </a:xfrm>
          <a:prstGeom prst="rect">
            <a:avLst/>
          </a:prstGeom>
        </p:spPr>
      </p:pic>
      <p:sp>
        <p:nvSpPr>
          <p:cNvPr id="240" name="TextBox 239"/>
          <p:cNvSpPr txBox="1"/>
          <p:nvPr/>
        </p:nvSpPr>
        <p:spPr>
          <a:xfrm>
            <a:off x="10426700" y="5245100"/>
            <a:ext cx="10668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30" b="1">
                <a:solidFill>
                  <a:srgbClr val="051C2C"/>
                </a:solidFill>
                <a:latin typeface="Roboto"/>
              </a:rPr>
              <a:t>BPBD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8851900" y="5518150"/>
            <a:ext cx="1295400" cy="203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2" name="Picture 241" descr="perisai-navy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15400" y="5568950"/>
            <a:ext cx="101600" cy="101600"/>
          </a:xfrm>
          <a:prstGeom prst="rect">
            <a:avLst/>
          </a:prstGeom>
        </p:spPr>
      </p:pic>
      <p:sp>
        <p:nvSpPr>
          <p:cNvPr id="243" name="TextBox 242"/>
          <p:cNvSpPr txBox="1"/>
          <p:nvPr/>
        </p:nvSpPr>
        <p:spPr>
          <a:xfrm>
            <a:off x="9067800" y="5518150"/>
            <a:ext cx="10668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30" b="1">
                <a:solidFill>
                  <a:srgbClr val="051C2C"/>
                </a:solidFill>
                <a:latin typeface="Roboto"/>
              </a:rPr>
              <a:t>Polri</a:t>
            </a:r>
          </a:p>
        </p:txBody>
      </p:sp>
      <p:sp>
        <p:nvSpPr>
          <p:cNvPr id="244" name="Rounded Rectangle 243"/>
          <p:cNvSpPr/>
          <p:nvPr/>
        </p:nvSpPr>
        <p:spPr>
          <a:xfrm>
            <a:off x="10210800" y="5518150"/>
            <a:ext cx="1295400" cy="203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5" name="Picture 244" descr="api-nav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74300" y="5568950"/>
            <a:ext cx="101600" cy="101600"/>
          </a:xfrm>
          <a:prstGeom prst="rect">
            <a:avLst/>
          </a:prstGeom>
        </p:spPr>
      </p:pic>
      <p:sp>
        <p:nvSpPr>
          <p:cNvPr id="246" name="TextBox 245"/>
          <p:cNvSpPr txBox="1"/>
          <p:nvPr/>
        </p:nvSpPr>
        <p:spPr>
          <a:xfrm>
            <a:off x="10426700" y="5518150"/>
            <a:ext cx="10668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30" b="1">
                <a:solidFill>
                  <a:srgbClr val="051C2C"/>
                </a:solidFill>
                <a:latin typeface="Roboto"/>
              </a:rPr>
              <a:t>Manggala Agni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546100" y="6223000"/>
            <a:ext cx="33020" cy="152400"/>
          </a:xfrm>
          <a:prstGeom prst="rect">
            <a:avLst/>
          </a:prstGeom>
          <a:solidFill>
            <a:srgbClr val="2F8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8" name="TextBox 247"/>
          <p:cNvSpPr txBox="1"/>
          <p:nvPr/>
        </p:nvSpPr>
        <p:spPr>
          <a:xfrm>
            <a:off x="635000" y="6210300"/>
            <a:ext cx="10922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60" b="0">
                <a:solidFill>
                  <a:srgbClr val="1F2937"/>
                </a:solidFill>
                <a:latin typeface="Roboto"/>
              </a:rPr>
              <a:t>*Data berdasarkan Geographic Information System (GIS) dengan satelit NASA (FIRMS: VIIRS dan MODIS). Kawasan Berbak = TN Berbak dan Tahura Orang Kayo Hitam; unsur: pengelola kawasan dan rekap BNPB harian Jambi.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6100" y="279400"/>
            <a:ext cx="10414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51C2C"/>
                </a:solidFill>
                <a:latin typeface="Roboto"/>
              </a:rPr>
              <a:t>Kebutuhan pemadaman Kawasan Berbak: </a:t>
            </a:r>
            <a:r>
              <a:rPr sz="2100" b="1">
                <a:solidFill>
                  <a:srgbClr val="D9600B"/>
                </a:solidFill>
                <a:latin typeface="Roboto"/>
              </a:rPr>
              <a:t>96 ha</a:t>
            </a:r>
            <a:r>
              <a:rPr sz="2100" b="1">
                <a:solidFill>
                  <a:srgbClr val="051C2C"/>
                </a:solidFill>
                <a:latin typeface="Roboto"/>
              </a:rPr>
              <a:t> belum padam 25 Okt, kanal terdekat ±2,9 km dari kompleks terbesar</a:t>
            </a:r>
          </a:p>
        </p:txBody>
      </p:sp>
      <p:pic>
        <p:nvPicPr>
          <p:cNvPr id="3" name="Picture 2" descr="logo_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546100" y="1066800"/>
            <a:ext cx="11099800" cy="0"/>
          </a:xfrm>
          <a:prstGeom prst="line">
            <a:avLst/>
          </a:prstGeom>
          <a:ln w="1143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46100" y="6451600"/>
            <a:ext cx="11099800" cy="0"/>
          </a:xfrm>
          <a:prstGeom prst="line">
            <a:avLst/>
          </a:prstGeom>
          <a:ln w="1143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6100" y="6502400"/>
            <a:ext cx="5486400" cy="200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F2937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720" y="6502400"/>
            <a:ext cx="548640" cy="200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19" b="1">
                <a:solidFill>
                  <a:srgbClr val="1F2937"/>
                </a:solidFill>
                <a:latin typeface="Roboto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6100" y="1193800"/>
            <a:ext cx="7175500" cy="939800"/>
          </a:xfrm>
          <a:prstGeom prst="roundRect">
            <a:avLst>
              <a:gd name="adj" fmla="val 1081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660400" y="1257300"/>
            <a:ext cx="1376680" cy="177800"/>
          </a:xfrm>
          <a:prstGeom prst="roundRect">
            <a:avLst>
              <a:gd name="adj" fmla="val 50000"/>
            </a:avLst>
          </a:prstGeom>
          <a:solidFill>
            <a:srgbClr val="3F5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air-puti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" y="1295400"/>
            <a:ext cx="101600" cy="101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1700" y="1257300"/>
            <a:ext cx="112268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20" b="1" spc="120">
                <a:solidFill>
                  <a:srgbClr val="FFFFFF"/>
                </a:solidFill>
                <a:latin typeface="Roboto"/>
              </a:rPr>
              <a:t>KONDISI LAPANGAN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" y="1511300"/>
            <a:ext cx="1663700" cy="52070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49300" y="1619250"/>
            <a:ext cx="304800" cy="304800"/>
          </a:xfrm>
          <a:prstGeom prst="ellipse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air-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" y="16827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30300" y="1524000"/>
            <a:ext cx="1168400" cy="2667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500" b="1">
                <a:solidFill>
                  <a:srgbClr val="5B7A99"/>
                </a:solidFill>
                <a:latin typeface="Roboto"/>
              </a:rPr>
              <a:t>Kering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0300" y="1803400"/>
            <a:ext cx="11684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" b="0">
                <a:solidFill>
                  <a:srgbClr val="374151"/>
                </a:solidFill>
                <a:latin typeface="Roboto"/>
              </a:rPr>
              <a:t>DC 519, gambut sangat kering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5700" y="1511300"/>
            <a:ext cx="1663700" cy="52070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2514600" y="1619250"/>
            <a:ext cx="304800" cy="304800"/>
          </a:xfrm>
          <a:prstGeom prst="ellipse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angin-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8100" y="16827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895600" y="1524000"/>
            <a:ext cx="1168400" cy="2667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500" b="1">
                <a:solidFill>
                  <a:srgbClr val="051C2C"/>
                </a:solidFill>
                <a:latin typeface="Roboto"/>
              </a:rPr>
              <a:t>Angin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95600" y="1803400"/>
            <a:ext cx="11684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" b="0">
                <a:solidFill>
                  <a:srgbClr val="374151"/>
                </a:solidFill>
                <a:latin typeface="Roboto"/>
              </a:rPr>
              <a:t>6,4 km/jam, Berbak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91000" y="1511300"/>
            <a:ext cx="1663700" cy="52070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279900" y="1619250"/>
            <a:ext cx="304800" cy="304800"/>
          </a:xfrm>
          <a:prstGeom prst="ellipse">
            <a:avLst/>
          </a:prstGeom>
          <a:solidFill>
            <a:srgbClr val="FB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awas-orany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1682750"/>
            <a:ext cx="177800" cy="177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660900" y="1524000"/>
            <a:ext cx="1168400" cy="2667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500" b="1">
                <a:solidFill>
                  <a:srgbClr val="D9600B"/>
                </a:solidFill>
                <a:latin typeface="Roboto"/>
              </a:rPr>
              <a:t>Gambut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0900" y="1803400"/>
            <a:ext cx="11684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" b="0">
                <a:solidFill>
                  <a:srgbClr val="374151"/>
                </a:solidFill>
                <a:latin typeface="Roboto"/>
              </a:rPr>
              <a:t>89% titik 25 Okt di gambut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56300" y="1511300"/>
            <a:ext cx="1663700" cy="52070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6045200" y="1619250"/>
            <a:ext cx="304800" cy="304800"/>
          </a:xfrm>
          <a:prstGeom prst="ellipse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asap-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8700" y="1682750"/>
            <a:ext cx="177800" cy="177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26200" y="1524000"/>
            <a:ext cx="1168400" cy="2667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500" b="1">
                <a:solidFill>
                  <a:srgbClr val="051C2C"/>
                </a:solidFill>
                <a:latin typeface="Roboto"/>
              </a:rPr>
              <a:t>PM2.5 166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6200" y="1803400"/>
            <a:ext cx="11684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" b="0">
                <a:solidFill>
                  <a:srgbClr val="374151"/>
                </a:solidFill>
                <a:latin typeface="Roboto"/>
              </a:rPr>
              <a:t>sangat tidak sehat, Tanjab Timur, prakiraan 25 Okt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01000" y="1193800"/>
            <a:ext cx="3644900" cy="939800"/>
          </a:xfrm>
          <a:prstGeom prst="roundRect">
            <a:avLst>
              <a:gd name="adj" fmla="val 10810"/>
            </a:avLst>
          </a:prstGeom>
          <a:solidFill>
            <a:srgbClr val="FB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115300" y="1257300"/>
            <a:ext cx="816610" cy="17780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4" name="Picture 33" descr="awas-puti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4200" y="1295400"/>
            <a:ext cx="101600" cy="1016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356600" y="1257300"/>
            <a:ext cx="56261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20" b="1" spc="120">
                <a:solidFill>
                  <a:srgbClr val="FFFFFF"/>
                </a:solidFill>
                <a:latin typeface="Roboto"/>
              </a:rPr>
              <a:t>KENDALA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02600" y="1511300"/>
            <a:ext cx="3441700" cy="52070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8191500" y="1619250"/>
            <a:ext cx="304800" cy="304800"/>
          </a:xfrm>
          <a:prstGeom prst="ellipse">
            <a:avLst/>
          </a:prstGeom>
          <a:solidFill>
            <a:srgbClr val="F8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8" name="Picture 37" descr="air-mera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55000" y="1682750"/>
            <a:ext cx="177800" cy="1778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572500" y="1524000"/>
            <a:ext cx="2921000" cy="228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50" b="1">
                <a:solidFill>
                  <a:srgbClr val="C8102E"/>
                </a:solidFill>
                <a:latin typeface="Roboto"/>
              </a:rPr>
              <a:t>Jalan utama jauh dari titik api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72500" y="1816100"/>
            <a:ext cx="921385" cy="139700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1" name="Picture 40" descr="pin-merah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23300" y="1844675"/>
            <a:ext cx="82550" cy="8255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724900" y="1816100"/>
            <a:ext cx="743585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C8102E"/>
                </a:solidFill>
                <a:latin typeface="Roboto"/>
              </a:rPr>
              <a:t>4 dari 5 kompleks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57385" y="1816100"/>
            <a:ext cx="1041400" cy="139700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4" name="Picture 43" descr="rute-mera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08185" y="1844675"/>
            <a:ext cx="82550" cy="8255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709785" y="1816100"/>
            <a:ext cx="8636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C8102E"/>
                </a:solidFill>
                <a:latin typeface="Roboto"/>
              </a:rPr>
              <a:t>jalan ±5 km di K0037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6100" y="2222500"/>
            <a:ext cx="7327900" cy="2908300"/>
          </a:xfrm>
          <a:prstGeom prst="roundRect">
            <a:avLst>
              <a:gd name="adj" fmla="val 2620"/>
            </a:avLst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552450" y="2228850"/>
            <a:ext cx="7315200" cy="482600"/>
          </a:xfrm>
          <a:prstGeom prst="roundRect">
            <a:avLst>
              <a:gd name="adj" fmla="val 15789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52450" y="2603500"/>
            <a:ext cx="7315200" cy="10795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9" name="Connector 48"/>
          <p:cNvCxnSpPr/>
          <p:nvPr/>
        </p:nvCxnSpPr>
        <p:spPr>
          <a:xfrm>
            <a:off x="546100" y="2705100"/>
            <a:ext cx="7327900" cy="0"/>
          </a:xfrm>
          <a:prstGeom prst="line">
            <a:avLst/>
          </a:prstGeom>
          <a:ln w="9525">
            <a:solidFill>
              <a:srgbClr val="D5D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673100" y="23177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1" name="Picture 50" descr="truk-putih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6600" y="2381250"/>
            <a:ext cx="165100" cy="1651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054100" y="2222500"/>
            <a:ext cx="61849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51C2C"/>
                </a:solidFill>
                <a:latin typeface="Roboto"/>
              </a:rPr>
              <a:t>Kebutuhan sarpras pemadaman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12000" y="2222500"/>
            <a:ext cx="635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051C2C"/>
                </a:solidFill>
                <a:latin typeface="Roboto"/>
              </a:rP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3100" y="2781300"/>
            <a:ext cx="1524000" cy="12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20" b="1" spc="120">
                <a:solidFill>
                  <a:srgbClr val="6B7280"/>
                </a:solidFill>
                <a:latin typeface="Roboto"/>
              </a:rPr>
              <a:t>KEBUTUHAN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40000" y="2781300"/>
            <a:ext cx="1905000" cy="12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20" b="1" spc="120">
                <a:solidFill>
                  <a:srgbClr val="6B7280"/>
                </a:solidFill>
                <a:latin typeface="Roboto"/>
              </a:rPr>
              <a:t>PERKIRAAN (TENGAH)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13500" y="2781300"/>
            <a:ext cx="1270000" cy="12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20" b="1" spc="120">
                <a:solidFill>
                  <a:srgbClr val="6B7280"/>
                </a:solidFill>
                <a:latin typeface="Roboto"/>
              </a:rPr>
              <a:t>RENTANG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60400" y="2971800"/>
            <a:ext cx="7112000" cy="152400"/>
          </a:xfrm>
          <a:prstGeom prst="roundRect">
            <a:avLst>
              <a:gd name="adj" fmla="val 25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8" name="Picture 57" descr="air-navy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1200" y="3003550"/>
            <a:ext cx="88900" cy="8890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850900" y="29718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30" b="1" spc="120">
                <a:solidFill>
                  <a:srgbClr val="051C2C"/>
                </a:solidFill>
                <a:latin typeface="Roboto"/>
              </a:rPr>
              <a:t>POMPA DAN AIR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737360" y="2990850"/>
            <a:ext cx="499109" cy="114300"/>
          </a:xfrm>
          <a:prstGeom prst="roundRect">
            <a:avLst>
              <a:gd name="adj" fmla="val 50000"/>
            </a:avLst>
          </a:prstGeom>
          <a:solidFill>
            <a:srgbClr val="E1E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1" name="Picture 60" descr="lapis-navy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88160" y="3006725"/>
            <a:ext cx="82550" cy="8255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889760" y="2990850"/>
            <a:ext cx="321309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51C2C"/>
                </a:solidFill>
                <a:latin typeface="Roboto"/>
              </a:rPr>
              <a:t>3 butir</a:t>
            </a:r>
          </a:p>
        </p:txBody>
      </p:sp>
      <p:sp>
        <p:nvSpPr>
          <p:cNvPr id="63" name="Oval 62"/>
          <p:cNvSpPr/>
          <p:nvPr/>
        </p:nvSpPr>
        <p:spPr>
          <a:xfrm>
            <a:off x="711200" y="3187700"/>
            <a:ext cx="114300" cy="114300"/>
          </a:xfrm>
          <a:prstGeom prst="ellipse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711200" y="3187700"/>
            <a:ext cx="114300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2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89000" y="3168650"/>
            <a:ext cx="15875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20" b="1">
                <a:solidFill>
                  <a:srgbClr val="111827"/>
                </a:solidFill>
                <a:latin typeface="Roboto"/>
              </a:rPr>
              <a:t>Pompa pemadam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40000" y="316865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20" b="1">
                <a:solidFill>
                  <a:srgbClr val="111827"/>
                </a:solidFill>
                <a:latin typeface="Roboto"/>
              </a:rPr>
              <a:t>72 unit, 2 per regu gambut ditambah cadangan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13500" y="3175000"/>
            <a:ext cx="477520" cy="1397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8" name="Picture 67" descr="aktivitas-slat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64300" y="3203575"/>
            <a:ext cx="82550" cy="8255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6565900" y="3175000"/>
            <a:ext cx="29972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3F5F80"/>
                </a:solidFill>
                <a:latin typeface="Roboto"/>
              </a:rPr>
              <a:t>23–244</a:t>
            </a:r>
          </a:p>
        </p:txBody>
      </p:sp>
      <p:sp>
        <p:nvSpPr>
          <p:cNvPr id="70" name="Oval 69"/>
          <p:cNvSpPr/>
          <p:nvPr/>
        </p:nvSpPr>
        <p:spPr>
          <a:xfrm>
            <a:off x="711200" y="3380740"/>
            <a:ext cx="114300" cy="114300"/>
          </a:xfrm>
          <a:prstGeom prst="ellipse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711200" y="3380740"/>
            <a:ext cx="114300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2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89000" y="3361690"/>
            <a:ext cx="15875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20" b="1">
                <a:solidFill>
                  <a:srgbClr val="111827"/>
                </a:solidFill>
                <a:latin typeface="Roboto"/>
              </a:rPr>
              <a:t>Titik sumur bor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540000" y="336169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20" b="1">
                <a:solidFill>
                  <a:srgbClr val="111827"/>
                </a:solidFill>
                <a:latin typeface="Roboto"/>
              </a:rPr>
              <a:t>32 titik, 1 titik per 4 ha bara gambut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413500" y="3368040"/>
            <a:ext cx="398780" cy="1397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5" name="Picture 74" descr="aktivitas-slat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64300" y="3396615"/>
            <a:ext cx="82550" cy="8255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6565900" y="3368040"/>
            <a:ext cx="220979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3F5F80"/>
                </a:solidFill>
                <a:latin typeface="Roboto"/>
              </a:rPr>
              <a:t>7–82</a:t>
            </a:r>
          </a:p>
        </p:txBody>
      </p:sp>
      <p:sp>
        <p:nvSpPr>
          <p:cNvPr id="77" name="Oval 76"/>
          <p:cNvSpPr/>
          <p:nvPr/>
        </p:nvSpPr>
        <p:spPr>
          <a:xfrm>
            <a:off x="711200" y="3573779"/>
            <a:ext cx="114300" cy="114300"/>
          </a:xfrm>
          <a:prstGeom prst="ellipse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711200" y="3573779"/>
            <a:ext cx="114300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2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89000" y="3554729"/>
            <a:ext cx="15875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20" b="1">
                <a:solidFill>
                  <a:srgbClr val="111827"/>
                </a:solidFill>
                <a:latin typeface="Roboto"/>
              </a:rPr>
              <a:t>Air pembasahan bara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540000" y="3554729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20" b="1">
                <a:solidFill>
                  <a:srgbClr val="111827"/>
                </a:solidFill>
                <a:latin typeface="Roboto"/>
              </a:rPr>
              <a:t>24 juta L untuk 120 ha bara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413500" y="3561079"/>
            <a:ext cx="1068070" cy="1397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2" name="Picture 81" descr="aktivitas-slat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64300" y="3589654"/>
            <a:ext cx="82550" cy="82550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6565900" y="3561079"/>
            <a:ext cx="89027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3F5F80"/>
                </a:solidFill>
                <a:latin typeface="Roboto"/>
              </a:rPr>
              <a:t>4,3 juta L–120 juta L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60400" y="3747769"/>
            <a:ext cx="7112000" cy="152400"/>
          </a:xfrm>
          <a:prstGeom prst="roundRect">
            <a:avLst>
              <a:gd name="adj" fmla="val 25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5" name="Picture 84" descr="selang-navy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1200" y="3779519"/>
            <a:ext cx="88900" cy="8890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850900" y="3747769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30" b="1" spc="120">
                <a:solidFill>
                  <a:srgbClr val="051C2C"/>
                </a:solidFill>
                <a:latin typeface="Roboto"/>
              </a:rPr>
              <a:t>SELANG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328420" y="3766819"/>
            <a:ext cx="499109" cy="114300"/>
          </a:xfrm>
          <a:prstGeom prst="roundRect">
            <a:avLst>
              <a:gd name="adj" fmla="val 50000"/>
            </a:avLst>
          </a:prstGeom>
          <a:solidFill>
            <a:srgbClr val="E1E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8" name="Picture 87" descr="lapis-navy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79220" y="3782694"/>
            <a:ext cx="82550" cy="82550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1480820" y="3766819"/>
            <a:ext cx="321309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51C2C"/>
                </a:solidFill>
                <a:latin typeface="Roboto"/>
              </a:rPr>
              <a:t>1 butir</a:t>
            </a:r>
          </a:p>
        </p:txBody>
      </p:sp>
      <p:sp>
        <p:nvSpPr>
          <p:cNvPr id="90" name="Oval 89"/>
          <p:cNvSpPr/>
          <p:nvPr/>
        </p:nvSpPr>
        <p:spPr>
          <a:xfrm>
            <a:off x="711200" y="3963669"/>
            <a:ext cx="114300" cy="114300"/>
          </a:xfrm>
          <a:prstGeom prst="ellipse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711200" y="3963669"/>
            <a:ext cx="114300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2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89000" y="3944619"/>
            <a:ext cx="15875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20" b="1">
                <a:solidFill>
                  <a:srgbClr val="111827"/>
                </a:solidFill>
                <a:latin typeface="Roboto"/>
              </a:rPr>
              <a:t>Selang penyalur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540000" y="3944619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20" b="1">
                <a:solidFill>
                  <a:srgbClr val="111827"/>
                </a:solidFill>
                <a:latin typeface="Roboto"/>
              </a:rPr>
              <a:t>21,6 km, 300 m per pompa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413500" y="3950969"/>
            <a:ext cx="635000" cy="1397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5" name="Picture 94" descr="aktivitas-slat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64300" y="3979544"/>
            <a:ext cx="82550" cy="82550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6565900" y="3950969"/>
            <a:ext cx="4572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3F5F80"/>
                </a:solidFill>
                <a:latin typeface="Roboto"/>
              </a:rPr>
              <a:t>4,6–122 km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60400" y="4137659"/>
            <a:ext cx="7112000" cy="152400"/>
          </a:xfrm>
          <a:prstGeom prst="roundRect">
            <a:avLst>
              <a:gd name="adj" fmla="val 25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8" name="Picture 97" descr="orang-navy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1200" y="4169409"/>
            <a:ext cx="88900" cy="88900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850900" y="4137659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30" b="1" spc="120">
                <a:solidFill>
                  <a:srgbClr val="051C2C"/>
                </a:solidFill>
                <a:latin typeface="Roboto"/>
              </a:rPr>
              <a:t>PERSONEL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445260" y="4156709"/>
            <a:ext cx="499109" cy="114300"/>
          </a:xfrm>
          <a:prstGeom prst="roundRect">
            <a:avLst>
              <a:gd name="adj" fmla="val 50000"/>
            </a:avLst>
          </a:prstGeom>
          <a:solidFill>
            <a:srgbClr val="E1E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1" name="Picture 100" descr="lapis-navy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96060" y="4172584"/>
            <a:ext cx="82550" cy="82550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1597660" y="4156709"/>
            <a:ext cx="321309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51C2C"/>
                </a:solidFill>
                <a:latin typeface="Roboto"/>
              </a:rPr>
              <a:t>3 butir</a:t>
            </a:r>
          </a:p>
        </p:txBody>
      </p:sp>
      <p:sp>
        <p:nvSpPr>
          <p:cNvPr id="103" name="Oval 102"/>
          <p:cNvSpPr/>
          <p:nvPr/>
        </p:nvSpPr>
        <p:spPr>
          <a:xfrm>
            <a:off x="711200" y="4353559"/>
            <a:ext cx="114300" cy="114300"/>
          </a:xfrm>
          <a:prstGeom prst="ellipse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711200" y="4353559"/>
            <a:ext cx="114300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2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89000" y="4334509"/>
            <a:ext cx="15875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20" b="1">
                <a:solidFill>
                  <a:srgbClr val="111827"/>
                </a:solidFill>
                <a:latin typeface="Roboto"/>
              </a:rPr>
              <a:t>Regu garis api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540000" y="4334509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20" b="1">
                <a:solidFill>
                  <a:srgbClr val="111827"/>
                </a:solidFill>
                <a:latin typeface="Roboto"/>
              </a:rPr>
              <a:t>13 regu kerja untuk mengurung front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6413500" y="4340859"/>
            <a:ext cx="398780" cy="1397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8" name="Picture 107" descr="aktivitas-slat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64300" y="4369434"/>
            <a:ext cx="82550" cy="82550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6565900" y="4340859"/>
            <a:ext cx="220979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3F5F80"/>
                </a:solidFill>
                <a:latin typeface="Roboto"/>
              </a:rPr>
              <a:t>8–25</a:t>
            </a:r>
          </a:p>
        </p:txBody>
      </p:sp>
      <p:sp>
        <p:nvSpPr>
          <p:cNvPr id="110" name="Oval 109"/>
          <p:cNvSpPr/>
          <p:nvPr/>
        </p:nvSpPr>
        <p:spPr>
          <a:xfrm>
            <a:off x="711200" y="4546599"/>
            <a:ext cx="114300" cy="114300"/>
          </a:xfrm>
          <a:prstGeom prst="ellipse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TextBox 110"/>
          <p:cNvSpPr txBox="1"/>
          <p:nvPr/>
        </p:nvSpPr>
        <p:spPr>
          <a:xfrm>
            <a:off x="711200" y="4546599"/>
            <a:ext cx="114300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20" b="1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89000" y="4527549"/>
            <a:ext cx="15875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20" b="1">
                <a:solidFill>
                  <a:srgbClr val="111827"/>
                </a:solidFill>
                <a:latin typeface="Roboto"/>
              </a:rPr>
              <a:t>Regu mop-up bara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540000" y="4527549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20" b="1">
                <a:solidFill>
                  <a:srgbClr val="111827"/>
                </a:solidFill>
                <a:latin typeface="Roboto"/>
              </a:rPr>
              <a:t>18 regu kerja, padam tuntas gambut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413500" y="4533899"/>
            <a:ext cx="398780" cy="1397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5" name="Picture 114" descr="aktivitas-slat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64300" y="4562474"/>
            <a:ext cx="82550" cy="82550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6565900" y="4533899"/>
            <a:ext cx="220979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3F5F80"/>
                </a:solidFill>
                <a:latin typeface="Roboto"/>
              </a:rPr>
              <a:t>4–69</a:t>
            </a:r>
          </a:p>
        </p:txBody>
      </p:sp>
      <p:sp>
        <p:nvSpPr>
          <p:cNvPr id="117" name="Oval 116"/>
          <p:cNvSpPr/>
          <p:nvPr/>
        </p:nvSpPr>
        <p:spPr>
          <a:xfrm>
            <a:off x="711200" y="4739639"/>
            <a:ext cx="114300" cy="114300"/>
          </a:xfrm>
          <a:prstGeom prst="ellipse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711200" y="4739639"/>
            <a:ext cx="114300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20" b="1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89000" y="4720589"/>
            <a:ext cx="15875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20" b="1">
                <a:solidFill>
                  <a:srgbClr val="111827"/>
                </a:solidFill>
                <a:latin typeface="Roboto"/>
              </a:rPr>
              <a:t>Total personel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540000" y="4720589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20" b="1">
                <a:solidFill>
                  <a:srgbClr val="111827"/>
                </a:solidFill>
                <a:latin typeface="Roboto"/>
              </a:rPr>
              <a:t>743 orang (45 regu dengan rotasi dan dukungan)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413500" y="4726939"/>
            <a:ext cx="595630" cy="1397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2" name="Picture 121" descr="aktivitas-slat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64300" y="4755514"/>
            <a:ext cx="82550" cy="82550"/>
          </a:xfrm>
          <a:prstGeom prst="rect">
            <a:avLst/>
          </a:prstGeom>
        </p:spPr>
      </p:pic>
      <p:sp>
        <p:nvSpPr>
          <p:cNvPr id="123" name="TextBox 122"/>
          <p:cNvSpPr txBox="1"/>
          <p:nvPr/>
        </p:nvSpPr>
        <p:spPr>
          <a:xfrm>
            <a:off x="6565900" y="4726939"/>
            <a:ext cx="41783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3F5F80"/>
                </a:solidFill>
                <a:latin typeface="Roboto"/>
              </a:rPr>
              <a:t>221–3.243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73100" y="4940300"/>
            <a:ext cx="7112000" cy="12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spc="120">
                <a:solidFill>
                  <a:srgbClr val="6B7280"/>
                </a:solidFill>
                <a:latin typeface="Roboto"/>
              </a:rPr>
              <a:t>DASAR:  </a:t>
            </a:r>
            <a:r>
              <a:rPr sz="600" b="0">
                <a:solidFill>
                  <a:srgbClr val="4B5563"/>
                </a:solidFill>
                <a:latin typeface="Roboto"/>
              </a:rPr>
              <a:t>model operasi aplikasi untuk 5 kompleks api di kawasan, target api terkurung 3 hari; rentang = skenario optimis–pesimis.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8001000" y="2222500"/>
            <a:ext cx="3644900" cy="2908300"/>
          </a:xfrm>
          <a:prstGeom prst="roundRect">
            <a:avLst>
              <a:gd name="adj" fmla="val 2620"/>
            </a:avLst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Rounded Rectangle 125"/>
          <p:cNvSpPr/>
          <p:nvPr/>
        </p:nvSpPr>
        <p:spPr>
          <a:xfrm>
            <a:off x="8007350" y="2228850"/>
            <a:ext cx="3632200" cy="482600"/>
          </a:xfrm>
          <a:prstGeom prst="roundRect">
            <a:avLst>
              <a:gd name="adj" fmla="val 15789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Rectangle 126"/>
          <p:cNvSpPr/>
          <p:nvPr/>
        </p:nvSpPr>
        <p:spPr>
          <a:xfrm>
            <a:off x="8007350" y="2603500"/>
            <a:ext cx="3632200" cy="10795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28" name="Connector 127"/>
          <p:cNvCxnSpPr/>
          <p:nvPr/>
        </p:nvCxnSpPr>
        <p:spPr>
          <a:xfrm>
            <a:off x="8001000" y="2705100"/>
            <a:ext cx="3644900" cy="0"/>
          </a:xfrm>
          <a:prstGeom prst="line">
            <a:avLst/>
          </a:prstGeom>
          <a:ln w="9525">
            <a:solidFill>
              <a:srgbClr val="D5D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Oval 128"/>
          <p:cNvSpPr/>
          <p:nvPr/>
        </p:nvSpPr>
        <p:spPr>
          <a:xfrm>
            <a:off x="8128000" y="23177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0" name="Picture 129" descr="truk-putih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91500" y="2381250"/>
            <a:ext cx="165100" cy="165100"/>
          </a:xfrm>
          <a:prstGeom prst="rect">
            <a:avLst/>
          </a:prstGeom>
        </p:spPr>
      </p:pic>
      <p:sp>
        <p:nvSpPr>
          <p:cNvPr id="131" name="TextBox 130"/>
          <p:cNvSpPr txBox="1"/>
          <p:nvPr/>
        </p:nvSpPr>
        <p:spPr>
          <a:xfrm>
            <a:off x="8509000" y="2222500"/>
            <a:ext cx="25019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51C2C"/>
                </a:solidFill>
                <a:latin typeface="Roboto"/>
              </a:rPr>
              <a:t>Sarana dan personel Jambi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8115300" y="2819400"/>
            <a:ext cx="1663700" cy="63500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Oval 132"/>
          <p:cNvSpPr/>
          <p:nvPr/>
        </p:nvSpPr>
        <p:spPr>
          <a:xfrm>
            <a:off x="8216900" y="2984500"/>
            <a:ext cx="304800" cy="304800"/>
          </a:xfrm>
          <a:prstGeom prst="ellipse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4" name="Picture 133" descr="orang-slat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80400" y="3048000"/>
            <a:ext cx="177800" cy="177800"/>
          </a:xfrm>
          <a:prstGeom prst="rect">
            <a:avLst/>
          </a:prstGeom>
        </p:spPr>
      </p:pic>
      <p:sp>
        <p:nvSpPr>
          <p:cNvPr id="135" name="TextBox 134"/>
          <p:cNvSpPr txBox="1"/>
          <p:nvPr/>
        </p:nvSpPr>
        <p:spPr>
          <a:xfrm>
            <a:off x="8623300" y="2908300"/>
            <a:ext cx="1117600" cy="254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500" b="1">
                <a:solidFill>
                  <a:srgbClr val="051C2C"/>
                </a:solidFill>
                <a:latin typeface="Roboto"/>
              </a:rPr>
              <a:t>5.984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623300" y="3175000"/>
            <a:ext cx="111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" b="0">
                <a:solidFill>
                  <a:srgbClr val="374151"/>
                </a:solidFill>
                <a:latin typeface="Roboto"/>
              </a:rPr>
              <a:t>personel, rekap BNPB 24 Okt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9855200" y="2819400"/>
            <a:ext cx="1663700" cy="63500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Oval 137"/>
          <p:cNvSpPr/>
          <p:nvPr/>
        </p:nvSpPr>
        <p:spPr>
          <a:xfrm>
            <a:off x="9956800" y="2984500"/>
            <a:ext cx="304800" cy="304800"/>
          </a:xfrm>
          <a:prstGeom prst="ellipse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9" name="Picture 138" descr="perisai-slat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020300" y="3048000"/>
            <a:ext cx="177800" cy="177800"/>
          </a:xfrm>
          <a:prstGeom prst="rect">
            <a:avLst/>
          </a:prstGeom>
        </p:spPr>
      </p:pic>
      <p:sp>
        <p:nvSpPr>
          <p:cNvPr id="140" name="TextBox 139"/>
          <p:cNvSpPr txBox="1"/>
          <p:nvPr/>
        </p:nvSpPr>
        <p:spPr>
          <a:xfrm>
            <a:off x="10363200" y="2908300"/>
            <a:ext cx="1117600" cy="254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500" b="1">
                <a:solidFill>
                  <a:srgbClr val="051C2C"/>
                </a:solidFill>
                <a:latin typeface="Roboto"/>
              </a:rPr>
              <a:t>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363200" y="3175000"/>
            <a:ext cx="111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" b="0">
                <a:solidFill>
                  <a:srgbClr val="374151"/>
                </a:solidFill>
                <a:latin typeface="Roboto"/>
              </a:rPr>
              <a:t>Daops Manggala Agni, 12 regu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8115300" y="3556000"/>
            <a:ext cx="1663700" cy="63500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Oval 142"/>
          <p:cNvSpPr/>
          <p:nvPr/>
        </p:nvSpPr>
        <p:spPr>
          <a:xfrm>
            <a:off x="8216900" y="3721100"/>
            <a:ext cx="304800" cy="304800"/>
          </a:xfrm>
          <a:prstGeom prst="ellipse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4" name="Picture 143" descr="orang-slat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80400" y="3784600"/>
            <a:ext cx="177800" cy="177800"/>
          </a:xfrm>
          <a:prstGeom prst="rect">
            <a:avLst/>
          </a:prstGeom>
        </p:spPr>
      </p:pic>
      <p:sp>
        <p:nvSpPr>
          <p:cNvPr id="145" name="TextBox 144"/>
          <p:cNvSpPr txBox="1"/>
          <p:nvPr/>
        </p:nvSpPr>
        <p:spPr>
          <a:xfrm>
            <a:off x="8623300" y="3644900"/>
            <a:ext cx="1117600" cy="254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500" b="1">
                <a:solidFill>
                  <a:srgbClr val="051C2C"/>
                </a:solidFill>
                <a:latin typeface="Roboto"/>
              </a:rPr>
              <a:t>690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623300" y="3911600"/>
            <a:ext cx="111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" b="0">
                <a:solidFill>
                  <a:srgbClr val="374151"/>
                </a:solidFill>
                <a:latin typeface="Roboto"/>
              </a:rPr>
              <a:t>Masyarakat Peduli Api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9855200" y="3556000"/>
            <a:ext cx="1663700" cy="63500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Oval 147"/>
          <p:cNvSpPr/>
          <p:nvPr/>
        </p:nvSpPr>
        <p:spPr>
          <a:xfrm>
            <a:off x="9956800" y="3721100"/>
            <a:ext cx="304800" cy="304800"/>
          </a:xfrm>
          <a:prstGeom prst="ellipse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9" name="Picture 148" descr="truk-slat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020300" y="3784600"/>
            <a:ext cx="177800" cy="177800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10363200" y="3644900"/>
            <a:ext cx="1117600" cy="254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500" b="1">
                <a:solidFill>
                  <a:srgbClr val="051C2C"/>
                </a:solidFill>
                <a:latin typeface="Roboto"/>
              </a:rPr>
              <a:t>2.327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363200" y="3911600"/>
            <a:ext cx="111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" b="0">
                <a:solidFill>
                  <a:srgbClr val="374151"/>
                </a:solidFill>
                <a:latin typeface="Roboto"/>
              </a:rPr>
              <a:t>personel perusahaan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8115300" y="4292600"/>
            <a:ext cx="1663700" cy="63500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Oval 152"/>
          <p:cNvSpPr/>
          <p:nvPr/>
        </p:nvSpPr>
        <p:spPr>
          <a:xfrm>
            <a:off x="8216900" y="4457700"/>
            <a:ext cx="304800" cy="304800"/>
          </a:xfrm>
          <a:prstGeom prst="ellipse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" name="Picture 153" descr="bendera-slat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80400" y="4521200"/>
            <a:ext cx="177800" cy="177800"/>
          </a:xfrm>
          <a:prstGeom prst="rect">
            <a:avLst/>
          </a:prstGeom>
        </p:spPr>
      </p:pic>
      <p:sp>
        <p:nvSpPr>
          <p:cNvPr id="155" name="TextBox 154"/>
          <p:cNvSpPr txBox="1"/>
          <p:nvPr/>
        </p:nvSpPr>
        <p:spPr>
          <a:xfrm>
            <a:off x="8623300" y="4381500"/>
            <a:ext cx="1117600" cy="254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500" b="1">
                <a:solidFill>
                  <a:srgbClr val="051C2C"/>
                </a:solidFill>
                <a:latin typeface="Roboto"/>
              </a:rPr>
              <a:t>705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623300" y="4648200"/>
            <a:ext cx="111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" b="0">
                <a:solidFill>
                  <a:srgbClr val="374151"/>
                </a:solidFill>
                <a:latin typeface="Roboto"/>
              </a:rPr>
              <a:t>TNI dan Polri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9855200" y="4292600"/>
            <a:ext cx="1663700" cy="63500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8" name="Oval 157"/>
          <p:cNvSpPr/>
          <p:nvPr/>
        </p:nvSpPr>
        <p:spPr>
          <a:xfrm>
            <a:off x="9956800" y="4457700"/>
            <a:ext cx="304800" cy="304800"/>
          </a:xfrm>
          <a:prstGeom prst="ellipse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9" name="Picture 158" descr="pesawat-slat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020300" y="4521200"/>
            <a:ext cx="177800" cy="177800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10363200" y="4381500"/>
            <a:ext cx="1117600" cy="254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500" b="1">
                <a:solidFill>
                  <a:srgbClr val="051C2C"/>
                </a:solidFill>
                <a:latin typeface="Roboto"/>
              </a:rPr>
              <a:t>0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0363200" y="4648200"/>
            <a:ext cx="111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" b="0">
                <a:solidFill>
                  <a:srgbClr val="374151"/>
                </a:solidFill>
                <a:latin typeface="Roboto"/>
              </a:rPr>
              <a:t>heli water bombing, rekap 24 Okt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546100" y="5245100"/>
            <a:ext cx="11099800" cy="914400"/>
          </a:xfrm>
          <a:prstGeom prst="roundRect">
            <a:avLst>
              <a:gd name="adj" fmla="val 11111"/>
            </a:avLst>
          </a:prstGeom>
          <a:solidFill>
            <a:srgbClr val="FB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3" name="TextBox 162"/>
          <p:cNvSpPr txBox="1"/>
          <p:nvPr/>
        </p:nvSpPr>
        <p:spPr>
          <a:xfrm>
            <a:off x="698500" y="5308600"/>
            <a:ext cx="25400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spc="120">
                <a:solidFill>
                  <a:srgbClr val="C05A0B"/>
                </a:solidFill>
                <a:latin typeface="Roboto"/>
              </a:rPr>
              <a:t>RENCANA TINDAK LANJUT (USULAN)</a:t>
            </a:r>
          </a:p>
        </p:txBody>
      </p:sp>
      <p:sp>
        <p:nvSpPr>
          <p:cNvPr id="164" name="Oval 163"/>
          <p:cNvSpPr/>
          <p:nvPr/>
        </p:nvSpPr>
        <p:spPr>
          <a:xfrm>
            <a:off x="698500" y="5562600"/>
            <a:ext cx="330200" cy="330200"/>
          </a:xfrm>
          <a:prstGeom prst="ellipse">
            <a:avLst/>
          </a:prstGeom>
          <a:solidFill>
            <a:srgbClr val="D96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5" name="Picture 164" descr="bor-putih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74700" y="5638800"/>
            <a:ext cx="177800" cy="177800"/>
          </a:xfrm>
          <a:prstGeom prst="rect">
            <a:avLst/>
          </a:prstGeom>
        </p:spPr>
      </p:pic>
      <p:sp>
        <p:nvSpPr>
          <p:cNvPr id="166" name="TextBox 165"/>
          <p:cNvSpPr txBox="1"/>
          <p:nvPr/>
        </p:nvSpPr>
        <p:spPr>
          <a:xfrm>
            <a:off x="1117600" y="5486400"/>
            <a:ext cx="22225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1">
                <a:solidFill>
                  <a:srgbClr val="051C2C"/>
                </a:solidFill>
                <a:latin typeface="Roboto"/>
              </a:rPr>
              <a:t>Sumur bor di Berbak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117600" y="5651500"/>
            <a:ext cx="21844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" b="0">
                <a:solidFill>
                  <a:srgbClr val="4B5563"/>
                </a:solidFill>
                <a:latin typeface="Roboto"/>
              </a:rPr>
              <a:t>Buat 18 titik bor di kompleks K0037 (Taman Nasional); kanal terdekat ±2,9 km</a:t>
            </a:r>
          </a:p>
        </p:txBody>
      </p:sp>
      <p:sp>
        <p:nvSpPr>
          <p:cNvPr id="168" name="Oval 167"/>
          <p:cNvSpPr/>
          <p:nvPr/>
        </p:nvSpPr>
        <p:spPr>
          <a:xfrm>
            <a:off x="3441700" y="5562600"/>
            <a:ext cx="330200" cy="330200"/>
          </a:xfrm>
          <a:prstGeom prst="ellipse">
            <a:avLst/>
          </a:prstGeom>
          <a:solidFill>
            <a:srgbClr val="D96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9" name="Picture 168" descr="orang-putih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517900" y="5638800"/>
            <a:ext cx="177800" cy="177800"/>
          </a:xfrm>
          <a:prstGeom prst="rect">
            <a:avLst/>
          </a:prstGeom>
        </p:spPr>
      </p:pic>
      <p:sp>
        <p:nvSpPr>
          <p:cNvPr id="170" name="TextBox 169"/>
          <p:cNvSpPr txBox="1"/>
          <p:nvPr/>
        </p:nvSpPr>
        <p:spPr>
          <a:xfrm>
            <a:off x="3860800" y="5486400"/>
            <a:ext cx="22225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1">
                <a:solidFill>
                  <a:srgbClr val="051C2C"/>
                </a:solidFill>
                <a:latin typeface="Roboto"/>
              </a:rPr>
              <a:t>Regu mop-up gambut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860800" y="5651500"/>
            <a:ext cx="21844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" b="0">
                <a:solidFill>
                  <a:srgbClr val="4B5563"/>
                </a:solidFill>
                <a:latin typeface="Roboto"/>
              </a:rPr>
              <a:t>Siapkan 18 regu bara untuk 120 ha bara gambut di kawasan, target 3 hari</a:t>
            </a:r>
          </a:p>
        </p:txBody>
      </p:sp>
      <p:cxnSp>
        <p:nvCxnSpPr>
          <p:cNvPr id="172" name="Connector 171"/>
          <p:cNvCxnSpPr/>
          <p:nvPr/>
        </p:nvCxnSpPr>
        <p:spPr>
          <a:xfrm>
            <a:off x="3327400" y="5499100"/>
            <a:ext cx="0" cy="571500"/>
          </a:xfrm>
          <a:prstGeom prst="line">
            <a:avLst/>
          </a:prstGeom>
          <a:ln w="7620">
            <a:solidFill>
              <a:srgbClr val="E5C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Oval 172"/>
          <p:cNvSpPr/>
          <p:nvPr/>
        </p:nvSpPr>
        <p:spPr>
          <a:xfrm>
            <a:off x="6184900" y="5562600"/>
            <a:ext cx="330200" cy="330200"/>
          </a:xfrm>
          <a:prstGeom prst="ellipse">
            <a:avLst/>
          </a:prstGeom>
          <a:solidFill>
            <a:srgbClr val="D96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" name="Picture 173" descr="rute-putih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261100" y="5638800"/>
            <a:ext cx="177800" cy="177800"/>
          </a:xfrm>
          <a:prstGeom prst="rect">
            <a:avLst/>
          </a:prstGeom>
        </p:spPr>
      </p:pic>
      <p:sp>
        <p:nvSpPr>
          <p:cNvPr id="175" name="TextBox 174"/>
          <p:cNvSpPr txBox="1"/>
          <p:nvPr/>
        </p:nvSpPr>
        <p:spPr>
          <a:xfrm>
            <a:off x="6604000" y="5486400"/>
            <a:ext cx="22225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1">
                <a:solidFill>
                  <a:srgbClr val="051C2C"/>
                </a:solidFill>
                <a:latin typeface="Roboto"/>
              </a:rPr>
              <a:t>Akses ke titik api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6604000" y="5651500"/>
            <a:ext cx="21844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" b="0">
                <a:solidFill>
                  <a:srgbClr val="4B5563"/>
                </a:solidFill>
                <a:latin typeface="Roboto"/>
              </a:rPr>
              <a:t>Jalur darat dari Suato Lama, Kec. Salam Babaris, tiba ±5,3 jam; jalan utama ±5 km</a:t>
            </a:r>
          </a:p>
        </p:txBody>
      </p:sp>
      <p:cxnSp>
        <p:nvCxnSpPr>
          <p:cNvPr id="177" name="Connector 176"/>
          <p:cNvCxnSpPr/>
          <p:nvPr/>
        </p:nvCxnSpPr>
        <p:spPr>
          <a:xfrm>
            <a:off x="6070600" y="5499100"/>
            <a:ext cx="0" cy="571500"/>
          </a:xfrm>
          <a:prstGeom prst="line">
            <a:avLst/>
          </a:prstGeom>
          <a:ln w="7620">
            <a:solidFill>
              <a:srgbClr val="E5C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Oval 177"/>
          <p:cNvSpPr/>
          <p:nvPr/>
        </p:nvSpPr>
        <p:spPr>
          <a:xfrm>
            <a:off x="8928100" y="5562600"/>
            <a:ext cx="330200" cy="330200"/>
          </a:xfrm>
          <a:prstGeom prst="ellipse">
            <a:avLst/>
          </a:prstGeom>
          <a:solidFill>
            <a:srgbClr val="D96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9" name="Picture 178" descr="asap-putih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004300" y="5638800"/>
            <a:ext cx="177800" cy="177800"/>
          </a:xfrm>
          <a:prstGeom prst="rect">
            <a:avLst/>
          </a:prstGeom>
        </p:spPr>
      </p:pic>
      <p:sp>
        <p:nvSpPr>
          <p:cNvPr id="180" name="TextBox 179"/>
          <p:cNvSpPr txBox="1"/>
          <p:nvPr/>
        </p:nvSpPr>
        <p:spPr>
          <a:xfrm>
            <a:off x="9347200" y="5486400"/>
            <a:ext cx="22225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1">
                <a:solidFill>
                  <a:srgbClr val="051C2C"/>
                </a:solidFill>
                <a:latin typeface="Roboto"/>
              </a:rPr>
              <a:t>Lindungi warga dari asap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347200" y="5651500"/>
            <a:ext cx="21844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" b="0">
                <a:solidFill>
                  <a:srgbClr val="4B5563"/>
                </a:solidFill>
                <a:latin typeface="Roboto"/>
              </a:rPr>
              <a:t>Prakiraan PM2.5 Tanjab Timur 25 Okt 166 µg/m³ (sangat tidak sehat); siapkan masker dan posko kesehatan</a:t>
            </a:r>
          </a:p>
        </p:txBody>
      </p:sp>
      <p:cxnSp>
        <p:nvCxnSpPr>
          <p:cNvPr id="182" name="Connector 181"/>
          <p:cNvCxnSpPr/>
          <p:nvPr/>
        </p:nvCxnSpPr>
        <p:spPr>
          <a:xfrm>
            <a:off x="8813800" y="5499100"/>
            <a:ext cx="0" cy="571500"/>
          </a:xfrm>
          <a:prstGeom prst="line">
            <a:avLst/>
          </a:prstGeom>
          <a:ln w="7620">
            <a:solidFill>
              <a:srgbClr val="E5C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Rectangle 182"/>
          <p:cNvSpPr/>
          <p:nvPr/>
        </p:nvSpPr>
        <p:spPr>
          <a:xfrm>
            <a:off x="546100" y="6223000"/>
            <a:ext cx="33020" cy="152400"/>
          </a:xfrm>
          <a:prstGeom prst="rect">
            <a:avLst/>
          </a:prstGeom>
          <a:solidFill>
            <a:srgbClr val="2F8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4" name="TextBox 183"/>
          <p:cNvSpPr txBox="1"/>
          <p:nvPr/>
        </p:nvSpPr>
        <p:spPr>
          <a:xfrm>
            <a:off x="635000" y="6210300"/>
            <a:ext cx="10922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60" b="0">
                <a:solidFill>
                  <a:srgbClr val="1F2937"/>
                </a:solidFill>
                <a:latin typeface="Roboto"/>
              </a:rPr>
              <a:t>*Data berdasarkan Geographic Information System (GIS) dengan satelit NASA (FIRMS: VIIRS dan MODIS). Kebutuhan dan RTL: perkiraan model operasi aplikasi (koefisien terbuka), bukan perintah operasi; personel: rekap BNPB harian 24 Okt.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Paparan Karhutla Provinsi Jambi 251026</dc:title>
  <dc:subject/>
  <dc:creator>BNPB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