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E6EEF7"/>
          </a:solidFill>
          <a:ln/>
        </p:spPr>
      </p:sp>
      <p:pic>
        <p:nvPicPr>
          <p:cNvPr id="3" name="Image 0" descr="/Users/priyankaalfatehan28/.claude/skills/ppt-konsultan/mesin/merek/bnpb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177" y="201168"/>
            <a:ext cx="399143" cy="502920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84632" y="201168"/>
            <a:ext cx="99669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262626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499D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L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84632" y="2377440"/>
            <a:ext cx="67665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IR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46120" y="0"/>
            <a:ext cx="8945575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84632" y="411480"/>
            <a:ext cx="2487168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EF8200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84632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62626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GIA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E6EE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F8200"/>
          </a:solidFill>
          <a:ln/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2926080"/>
            <a:ext cx="2240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499D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1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JIA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iyankaalfatehan28/.claude/skills/ppt-konsultan/mesin/merek/bnpb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380" y="365760"/>
            <a:ext cx="347980" cy="43845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1206500"/>
            <a:ext cx="11091672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65100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548640" y="274320"/>
            <a:ext cx="8174736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020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1A1A1A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1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499D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Roboto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Roboto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Roboto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Roboto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6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3.png"/><Relationship Id="rId4" Type="http://schemas.openxmlformats.org/officeDocument/2006/relationships/image" Target="../media/image-2-1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548640" y="274320"/>
            <a:ext cx="8174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OMC karhutla 16–27 Oktober 2026 melaksanakan </a:t>
            </a:r>
            <a:r>
              <a:rPr lang="en-US" sz="2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148 sortie</a:t>
            </a:r>
            <a:r>
              <a:rPr lang="en-US" sz="2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dengan 102,0 ton NaCl dan 53,6 ton dry ice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842248" y="886968"/>
            <a:ext cx="2359152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4" name="Text 2"/>
          <p:cNvSpPr/>
          <p:nvPr/>
        </p:nvSpPr>
        <p:spPr>
          <a:xfrm>
            <a:off x="8897112" y="886968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842248" y="886968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AFC3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 OFF DATA</a:t>
            </a: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 Okt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6181344"/>
            <a:ext cx="36576" cy="164592"/>
          </a:xfrm>
          <a:prstGeom prst="rect">
            <a:avLst/>
          </a:prstGeom>
          <a:solidFill>
            <a:srgbClr val="4A9BE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163056"/>
            <a:ext cx="11000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Sumber: Laporan Penanganan Karhutla BNPB 17–27 Okt 2026; Resume Posko Terpadu OMC 27 Okt 2026; BPBD Jatim. Sortie (ton NaCl + ton dry ice). Lampung 22 Okt 1 sortie, bahan tidak tertulis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11091672" cy="927100"/>
          </a:xfrm>
          <a:prstGeom prst="roundRect">
            <a:avLst>
              <a:gd name="adj" fmla="val 7890"/>
            </a:avLst>
          </a:prstGeom>
          <a:solidFill>
            <a:srgbClr val="F3F5F8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35024"/>
            <a:ext cx="2610429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pic>
        <p:nvPicPr>
          <p:cNvPr id="10" name="Image 0" descr="/Users/priyankaalfatehan28/.claude/skills/ppt-konsultan/mesin/cache-ikon/airplane-regular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67942"/>
            <a:ext cx="117043" cy="11704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96112" y="1335024"/>
            <a:ext cx="23178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REKAP OMC 16–27 OKTOBER 2026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58368" y="1591056"/>
            <a:ext cx="2649474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8096" y="1682496"/>
            <a:ext cx="329184" cy="329184"/>
          </a:xfrm>
          <a:prstGeom prst="ellipse">
            <a:avLst/>
          </a:prstGeom>
          <a:solidFill>
            <a:srgbClr val="E6EAF0"/>
          </a:solidFill>
          <a:ln/>
        </p:spPr>
      </p:sp>
      <p:pic>
        <p:nvPicPr>
          <p:cNvPr id="14" name="Image 1" descr="/Users/priyankaalfatehan28/.claude/skills/ppt-konsultan/mesin/cache-ikon/airplane-regular-051C2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755648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70432" y="1618488"/>
            <a:ext cx="20825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148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170432" y="1892808"/>
            <a:ext cx="20825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sortie penerbangan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3399282" y="1591056"/>
            <a:ext cx="2649474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509010" y="1682496"/>
            <a:ext cx="329184" cy="329184"/>
          </a:xfrm>
          <a:prstGeom prst="ellipse">
            <a:avLst/>
          </a:prstGeom>
          <a:solidFill>
            <a:srgbClr val="E6EAF0"/>
          </a:solidFill>
          <a:ln/>
        </p:spPr>
      </p:sp>
      <p:pic>
        <p:nvPicPr>
          <p:cNvPr id="19" name="Image 2" descr="/Users/priyankaalfatehan28/.claude/skills/ppt-konsultan/mesin/cache-ikon/cloud-regular-051C2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2162" y="1755648"/>
            <a:ext cx="182880" cy="1828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911346" y="1618488"/>
            <a:ext cx="20825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102,0 ton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3911346" y="1892808"/>
            <a:ext cx="20825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NaCl disemai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6140196" y="1591056"/>
            <a:ext cx="2649474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249924" y="1682496"/>
            <a:ext cx="329184" cy="329184"/>
          </a:xfrm>
          <a:prstGeom prst="ellipse">
            <a:avLst/>
          </a:prstGeom>
          <a:solidFill>
            <a:srgbClr val="E6EAF0"/>
          </a:solidFill>
          <a:ln/>
        </p:spPr>
      </p:sp>
      <p:pic>
        <p:nvPicPr>
          <p:cNvPr id="24" name="Image 3" descr="/Users/priyankaalfatehan28/.claude/skills/ppt-konsultan/mesin/cache-ikon/snowflake-regular-051C2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076" y="1755648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652260" y="1618488"/>
            <a:ext cx="20825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53,6 ton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6652260" y="1892808"/>
            <a:ext cx="20825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dry ice disemai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8881110" y="1591056"/>
            <a:ext cx="2649474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8990838" y="1682496"/>
            <a:ext cx="329184" cy="329184"/>
          </a:xfrm>
          <a:prstGeom prst="ellipse">
            <a:avLst/>
          </a:prstGeom>
          <a:solidFill>
            <a:srgbClr val="E6EAF0"/>
          </a:solidFill>
          <a:ln/>
        </p:spPr>
      </p:sp>
      <p:pic>
        <p:nvPicPr>
          <p:cNvPr id="29" name="Image 4" descr="/Users/priyankaalfatehan28/.claude/skills/ppt-konsultan/mesin/cache-ikon/map-pin-regular-051C2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3990" y="1755648"/>
            <a:ext cx="182880" cy="1828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393174" y="1618488"/>
            <a:ext cx="20825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9393174" y="1892808"/>
            <a:ext cx="20825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provinsi utama</a:t>
            </a:r>
            <a:endParaRPr lang="en-US" sz="800" dirty="0"/>
          </a:p>
        </p:txBody>
      </p:sp>
      <p:sp>
        <p:nvSpPr>
          <p:cNvPr id="32" name="Shape 25"/>
          <p:cNvSpPr/>
          <p:nvPr/>
        </p:nvSpPr>
        <p:spPr>
          <a:xfrm>
            <a:off x="548640" y="2335276"/>
            <a:ext cx="6890741" cy="3754628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548640" y="2335276"/>
            <a:ext cx="6890741" cy="457200"/>
          </a:xfrm>
          <a:prstGeom prst="roundRect">
            <a:avLst>
              <a:gd name="adj" fmla="val 12000"/>
            </a:avLst>
          </a:prstGeom>
          <a:solidFill>
            <a:srgbClr val="E6EAF0"/>
          </a:solidFill>
          <a:ln/>
        </p:spPr>
      </p:sp>
      <p:sp>
        <p:nvSpPr>
          <p:cNvPr id="34" name="Shape 27"/>
          <p:cNvSpPr/>
          <p:nvPr/>
        </p:nvSpPr>
        <p:spPr>
          <a:xfrm>
            <a:off x="548640" y="2563876"/>
            <a:ext cx="6890741" cy="228600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35" name="Shape 28"/>
          <p:cNvSpPr/>
          <p:nvPr/>
        </p:nvSpPr>
        <p:spPr>
          <a:xfrm>
            <a:off x="676656" y="2417572"/>
            <a:ext cx="292608" cy="29260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36" name="Image 5" descr="/Users/priyankaalfatehan28/.claude/skills/ppt-konsultan/mesin/cache-ikon/calendar-regular-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2481580"/>
            <a:ext cx="164592" cy="16459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60704" y="2335276"/>
            <a:ext cx="62415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Sortie per tanggal dan provinsi, 16–27 Okt 2026 (ton NaCl + ton dry ice)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676656" y="2883916"/>
            <a:ext cx="60860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TANGGAL</a:t>
            </a:r>
            <a:endParaRPr lang="en-US" sz="800" dirty="0"/>
          </a:p>
        </p:txBody>
      </p:sp>
      <p:sp>
        <p:nvSpPr>
          <p:cNvPr id="39" name="Text 31"/>
          <p:cNvSpPr/>
          <p:nvPr/>
        </p:nvSpPr>
        <p:spPr>
          <a:xfrm>
            <a:off x="1340127" y="2883916"/>
            <a:ext cx="8739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KALBAR</a:t>
            </a:r>
            <a:endParaRPr lang="en-US" sz="800" dirty="0"/>
          </a:p>
        </p:txBody>
      </p:sp>
      <p:sp>
        <p:nvSpPr>
          <p:cNvPr id="40" name="Text 32"/>
          <p:cNvSpPr/>
          <p:nvPr/>
        </p:nvSpPr>
        <p:spPr>
          <a:xfrm>
            <a:off x="2268986" y="2883916"/>
            <a:ext cx="10066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KALTENG</a:t>
            </a:r>
            <a:endParaRPr lang="en-US" sz="800" dirty="0"/>
          </a:p>
        </p:txBody>
      </p:sp>
      <p:sp>
        <p:nvSpPr>
          <p:cNvPr id="41" name="Text 33"/>
          <p:cNvSpPr/>
          <p:nvPr/>
        </p:nvSpPr>
        <p:spPr>
          <a:xfrm>
            <a:off x="3330540" y="2883916"/>
            <a:ext cx="8739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KALSEL</a:t>
            </a:r>
            <a:endParaRPr lang="en-US" sz="800" dirty="0"/>
          </a:p>
        </p:txBody>
      </p:sp>
      <p:sp>
        <p:nvSpPr>
          <p:cNvPr id="42" name="Text 34"/>
          <p:cNvSpPr/>
          <p:nvPr/>
        </p:nvSpPr>
        <p:spPr>
          <a:xfrm>
            <a:off x="4259399" y="2883916"/>
            <a:ext cx="10066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SUMSEL</a:t>
            </a:r>
            <a:endParaRPr lang="en-US" sz="800" dirty="0"/>
          </a:p>
        </p:txBody>
      </p:sp>
      <p:sp>
        <p:nvSpPr>
          <p:cNvPr id="43" name="Text 35"/>
          <p:cNvSpPr/>
          <p:nvPr/>
        </p:nvSpPr>
        <p:spPr>
          <a:xfrm>
            <a:off x="5320953" y="2883916"/>
            <a:ext cx="8739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LAINNYA</a:t>
            </a:r>
            <a:endParaRPr lang="en-US" sz="800" dirty="0"/>
          </a:p>
        </p:txBody>
      </p:sp>
      <p:sp>
        <p:nvSpPr>
          <p:cNvPr id="44" name="Text 36"/>
          <p:cNvSpPr/>
          <p:nvPr/>
        </p:nvSpPr>
        <p:spPr>
          <a:xfrm>
            <a:off x="6249812" y="2883916"/>
            <a:ext cx="10066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</a:t>
            </a:r>
            <a:endParaRPr lang="en-US" sz="800" dirty="0"/>
          </a:p>
        </p:txBody>
      </p:sp>
      <p:sp>
        <p:nvSpPr>
          <p:cNvPr id="45" name="Shape 37"/>
          <p:cNvSpPr/>
          <p:nvPr/>
        </p:nvSpPr>
        <p:spPr>
          <a:xfrm>
            <a:off x="676656" y="3112516"/>
            <a:ext cx="6634709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676656" y="3112516"/>
            <a:ext cx="608607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 Okt</a:t>
            </a:r>
            <a:endParaRPr lang="en-US" sz="800" dirty="0"/>
          </a:p>
        </p:txBody>
      </p:sp>
      <p:sp>
        <p:nvSpPr>
          <p:cNvPr id="47" name="Text 39"/>
          <p:cNvSpPr/>
          <p:nvPr/>
        </p:nvSpPr>
        <p:spPr>
          <a:xfrm>
            <a:off x="1340127" y="3112516"/>
            <a:ext cx="87399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(1,8+0)</a:t>
            </a:r>
            <a:endParaRPr lang="en-US" sz="800" dirty="0"/>
          </a:p>
        </p:txBody>
      </p:sp>
      <p:sp>
        <p:nvSpPr>
          <p:cNvPr id="48" name="Text 40"/>
          <p:cNvSpPr/>
          <p:nvPr/>
        </p:nvSpPr>
        <p:spPr>
          <a:xfrm>
            <a:off x="2268986" y="3112516"/>
            <a:ext cx="100669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(4,0+0)</a:t>
            </a:r>
            <a:endParaRPr lang="en-US" sz="800" dirty="0"/>
          </a:p>
        </p:txBody>
      </p:sp>
      <p:sp>
        <p:nvSpPr>
          <p:cNvPr id="49" name="Text 41"/>
          <p:cNvSpPr/>
          <p:nvPr/>
        </p:nvSpPr>
        <p:spPr>
          <a:xfrm>
            <a:off x="3330540" y="3112516"/>
            <a:ext cx="87399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(1,0+0)</a:t>
            </a:r>
            <a:endParaRPr lang="en-US" sz="800" dirty="0"/>
          </a:p>
        </p:txBody>
      </p:sp>
      <p:sp>
        <p:nvSpPr>
          <p:cNvPr id="50" name="Text 42"/>
          <p:cNvSpPr/>
          <p:nvPr/>
        </p:nvSpPr>
        <p:spPr>
          <a:xfrm>
            <a:off x="4259399" y="3112516"/>
            <a:ext cx="100669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(0+1,6)</a:t>
            </a:r>
            <a:endParaRPr lang="en-US" sz="800" dirty="0"/>
          </a:p>
        </p:txBody>
      </p:sp>
      <p:sp>
        <p:nvSpPr>
          <p:cNvPr id="51" name="Text 43"/>
          <p:cNvSpPr/>
          <p:nvPr/>
        </p:nvSpPr>
        <p:spPr>
          <a:xfrm>
            <a:off x="5320953" y="3112516"/>
            <a:ext cx="87399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800" dirty="0"/>
          </a:p>
        </p:txBody>
      </p:sp>
      <p:sp>
        <p:nvSpPr>
          <p:cNvPr id="52" name="Text 44"/>
          <p:cNvSpPr/>
          <p:nvPr/>
        </p:nvSpPr>
        <p:spPr>
          <a:xfrm>
            <a:off x="6249812" y="3112516"/>
            <a:ext cx="100669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 (6,8+1,6)</a:t>
            </a:r>
            <a:endParaRPr lang="en-US" sz="800" dirty="0"/>
          </a:p>
        </p:txBody>
      </p:sp>
      <p:sp>
        <p:nvSpPr>
          <p:cNvPr id="53" name="Shape 45"/>
          <p:cNvSpPr/>
          <p:nvPr/>
        </p:nvSpPr>
        <p:spPr>
          <a:xfrm>
            <a:off x="676656" y="3309112"/>
            <a:ext cx="6634709" cy="0"/>
          </a:xfrm>
          <a:prstGeom prst="line">
            <a:avLst/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54" name="Text 46"/>
          <p:cNvSpPr/>
          <p:nvPr/>
        </p:nvSpPr>
        <p:spPr>
          <a:xfrm>
            <a:off x="676656" y="3309112"/>
            <a:ext cx="608607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 Okt</a:t>
            </a:r>
            <a:endParaRPr lang="en-US" sz="800" dirty="0"/>
          </a:p>
        </p:txBody>
      </p:sp>
      <p:sp>
        <p:nvSpPr>
          <p:cNvPr id="55" name="Text 47"/>
          <p:cNvSpPr/>
          <p:nvPr/>
        </p:nvSpPr>
        <p:spPr>
          <a:xfrm>
            <a:off x="1340127" y="3309112"/>
            <a:ext cx="87399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(1,0+0)</a:t>
            </a:r>
            <a:endParaRPr lang="en-US" sz="800" dirty="0"/>
          </a:p>
        </p:txBody>
      </p:sp>
      <p:sp>
        <p:nvSpPr>
          <p:cNvPr id="56" name="Text 48"/>
          <p:cNvSpPr/>
          <p:nvPr/>
        </p:nvSpPr>
        <p:spPr>
          <a:xfrm>
            <a:off x="2268986" y="3309112"/>
            <a:ext cx="100669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(2,0+0)</a:t>
            </a:r>
            <a:endParaRPr lang="en-US" sz="800" dirty="0"/>
          </a:p>
        </p:txBody>
      </p:sp>
      <p:sp>
        <p:nvSpPr>
          <p:cNvPr id="57" name="Text 49"/>
          <p:cNvSpPr/>
          <p:nvPr/>
        </p:nvSpPr>
        <p:spPr>
          <a:xfrm>
            <a:off x="3330540" y="3309112"/>
            <a:ext cx="87399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(1,0+0)</a:t>
            </a:r>
            <a:endParaRPr lang="en-US" sz="800" dirty="0"/>
          </a:p>
        </p:txBody>
      </p:sp>
      <p:sp>
        <p:nvSpPr>
          <p:cNvPr id="58" name="Text 50"/>
          <p:cNvSpPr/>
          <p:nvPr/>
        </p:nvSpPr>
        <p:spPr>
          <a:xfrm>
            <a:off x="4259399" y="3309112"/>
            <a:ext cx="100669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(0,8+1,6)</a:t>
            </a:r>
            <a:endParaRPr lang="en-US" sz="800" dirty="0"/>
          </a:p>
        </p:txBody>
      </p:sp>
      <p:sp>
        <p:nvSpPr>
          <p:cNvPr id="59" name="Text 51"/>
          <p:cNvSpPr/>
          <p:nvPr/>
        </p:nvSpPr>
        <p:spPr>
          <a:xfrm>
            <a:off x="5320953" y="3309112"/>
            <a:ext cx="87399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800" dirty="0"/>
          </a:p>
        </p:txBody>
      </p:sp>
      <p:sp>
        <p:nvSpPr>
          <p:cNvPr id="60" name="Text 52"/>
          <p:cNvSpPr/>
          <p:nvPr/>
        </p:nvSpPr>
        <p:spPr>
          <a:xfrm>
            <a:off x="6249812" y="3309112"/>
            <a:ext cx="100669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 (4,8+1,6)</a:t>
            </a:r>
            <a:endParaRPr lang="en-US" sz="800" dirty="0"/>
          </a:p>
        </p:txBody>
      </p:sp>
      <p:sp>
        <p:nvSpPr>
          <p:cNvPr id="61" name="Shape 53"/>
          <p:cNvSpPr/>
          <p:nvPr/>
        </p:nvSpPr>
        <p:spPr>
          <a:xfrm>
            <a:off x="676656" y="3505708"/>
            <a:ext cx="6634709" cy="0"/>
          </a:xfrm>
          <a:prstGeom prst="line">
            <a:avLst/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62" name="Text 54"/>
          <p:cNvSpPr/>
          <p:nvPr/>
        </p:nvSpPr>
        <p:spPr>
          <a:xfrm>
            <a:off x="676656" y="3505708"/>
            <a:ext cx="608607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 Okt</a:t>
            </a:r>
            <a:endParaRPr lang="en-US" sz="800" dirty="0"/>
          </a:p>
        </p:txBody>
      </p:sp>
      <p:sp>
        <p:nvSpPr>
          <p:cNvPr id="63" name="Text 55"/>
          <p:cNvSpPr/>
          <p:nvPr/>
        </p:nvSpPr>
        <p:spPr>
          <a:xfrm>
            <a:off x="1340127" y="3505708"/>
            <a:ext cx="87399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(1,0+0)</a:t>
            </a:r>
            <a:endParaRPr lang="en-US" sz="800" dirty="0"/>
          </a:p>
        </p:txBody>
      </p:sp>
      <p:sp>
        <p:nvSpPr>
          <p:cNvPr id="64" name="Text 56"/>
          <p:cNvSpPr/>
          <p:nvPr/>
        </p:nvSpPr>
        <p:spPr>
          <a:xfrm>
            <a:off x="2268986" y="3505708"/>
            <a:ext cx="100669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(2,0+0)</a:t>
            </a:r>
            <a:endParaRPr lang="en-US" sz="800" dirty="0"/>
          </a:p>
        </p:txBody>
      </p:sp>
      <p:sp>
        <p:nvSpPr>
          <p:cNvPr id="65" name="Text 57"/>
          <p:cNvSpPr/>
          <p:nvPr/>
        </p:nvSpPr>
        <p:spPr>
          <a:xfrm>
            <a:off x="3330540" y="3505708"/>
            <a:ext cx="87399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(2,0+0)</a:t>
            </a:r>
            <a:endParaRPr lang="en-US" sz="800" dirty="0"/>
          </a:p>
        </p:txBody>
      </p:sp>
      <p:sp>
        <p:nvSpPr>
          <p:cNvPr id="66" name="Text 58"/>
          <p:cNvSpPr/>
          <p:nvPr/>
        </p:nvSpPr>
        <p:spPr>
          <a:xfrm>
            <a:off x="4259399" y="3505708"/>
            <a:ext cx="100669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(0,8+2,4)</a:t>
            </a:r>
            <a:endParaRPr lang="en-US" sz="800" dirty="0"/>
          </a:p>
        </p:txBody>
      </p:sp>
      <p:sp>
        <p:nvSpPr>
          <p:cNvPr id="67" name="Text 59"/>
          <p:cNvSpPr/>
          <p:nvPr/>
        </p:nvSpPr>
        <p:spPr>
          <a:xfrm>
            <a:off x="5320953" y="3505708"/>
            <a:ext cx="87399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800" dirty="0"/>
          </a:p>
        </p:txBody>
      </p:sp>
      <p:sp>
        <p:nvSpPr>
          <p:cNvPr id="68" name="Text 60"/>
          <p:cNvSpPr/>
          <p:nvPr/>
        </p:nvSpPr>
        <p:spPr>
          <a:xfrm>
            <a:off x="6249812" y="3505708"/>
            <a:ext cx="100669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 (5,8+2,4)</a:t>
            </a:r>
            <a:endParaRPr lang="en-US" sz="800" dirty="0"/>
          </a:p>
        </p:txBody>
      </p:sp>
      <p:sp>
        <p:nvSpPr>
          <p:cNvPr id="69" name="Shape 61"/>
          <p:cNvSpPr/>
          <p:nvPr/>
        </p:nvSpPr>
        <p:spPr>
          <a:xfrm>
            <a:off x="676656" y="3702304"/>
            <a:ext cx="6634709" cy="0"/>
          </a:xfrm>
          <a:prstGeom prst="line">
            <a:avLst/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70" name="Text 62"/>
          <p:cNvSpPr/>
          <p:nvPr/>
        </p:nvSpPr>
        <p:spPr>
          <a:xfrm>
            <a:off x="676656" y="3702304"/>
            <a:ext cx="608607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 Okt</a:t>
            </a:r>
            <a:endParaRPr lang="en-US" sz="800" dirty="0"/>
          </a:p>
        </p:txBody>
      </p:sp>
      <p:sp>
        <p:nvSpPr>
          <p:cNvPr id="71" name="Text 63"/>
          <p:cNvSpPr/>
          <p:nvPr/>
        </p:nvSpPr>
        <p:spPr>
          <a:xfrm>
            <a:off x="1340127" y="3702304"/>
            <a:ext cx="87399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(1,8+0)</a:t>
            </a:r>
            <a:endParaRPr lang="en-US" sz="800" dirty="0"/>
          </a:p>
        </p:txBody>
      </p:sp>
      <p:sp>
        <p:nvSpPr>
          <p:cNvPr id="72" name="Text 64"/>
          <p:cNvSpPr/>
          <p:nvPr/>
        </p:nvSpPr>
        <p:spPr>
          <a:xfrm>
            <a:off x="2268986" y="3702304"/>
            <a:ext cx="100669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(3,8+0,8)</a:t>
            </a:r>
            <a:endParaRPr lang="en-US" sz="800" dirty="0"/>
          </a:p>
        </p:txBody>
      </p:sp>
      <p:sp>
        <p:nvSpPr>
          <p:cNvPr id="73" name="Text 65"/>
          <p:cNvSpPr/>
          <p:nvPr/>
        </p:nvSpPr>
        <p:spPr>
          <a:xfrm>
            <a:off x="3330540" y="3702304"/>
            <a:ext cx="87399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(1,0+0)</a:t>
            </a:r>
            <a:endParaRPr lang="en-US" sz="800" dirty="0"/>
          </a:p>
        </p:txBody>
      </p:sp>
      <p:sp>
        <p:nvSpPr>
          <p:cNvPr id="74" name="Text 66"/>
          <p:cNvSpPr/>
          <p:nvPr/>
        </p:nvSpPr>
        <p:spPr>
          <a:xfrm>
            <a:off x="4259399" y="3702304"/>
            <a:ext cx="100669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(0,8+1,6)</a:t>
            </a:r>
            <a:endParaRPr lang="en-US" sz="800" dirty="0"/>
          </a:p>
        </p:txBody>
      </p:sp>
      <p:sp>
        <p:nvSpPr>
          <p:cNvPr id="75" name="Text 67"/>
          <p:cNvSpPr/>
          <p:nvPr/>
        </p:nvSpPr>
        <p:spPr>
          <a:xfrm>
            <a:off x="5320953" y="3702304"/>
            <a:ext cx="87399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800" dirty="0"/>
          </a:p>
        </p:txBody>
      </p:sp>
      <p:sp>
        <p:nvSpPr>
          <p:cNvPr id="76" name="Text 68"/>
          <p:cNvSpPr/>
          <p:nvPr/>
        </p:nvSpPr>
        <p:spPr>
          <a:xfrm>
            <a:off x="6249812" y="3702304"/>
            <a:ext cx="100669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 (7,4+2,4)</a:t>
            </a:r>
            <a:endParaRPr lang="en-US" sz="800" dirty="0"/>
          </a:p>
        </p:txBody>
      </p:sp>
      <p:sp>
        <p:nvSpPr>
          <p:cNvPr id="77" name="Shape 69"/>
          <p:cNvSpPr/>
          <p:nvPr/>
        </p:nvSpPr>
        <p:spPr>
          <a:xfrm>
            <a:off x="676656" y="3898900"/>
            <a:ext cx="6634709" cy="0"/>
          </a:xfrm>
          <a:prstGeom prst="line">
            <a:avLst/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78" name="Text 70"/>
          <p:cNvSpPr/>
          <p:nvPr/>
        </p:nvSpPr>
        <p:spPr>
          <a:xfrm>
            <a:off x="676656" y="3898900"/>
            <a:ext cx="608607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 Okt</a:t>
            </a:r>
            <a:endParaRPr lang="en-US" sz="800" dirty="0"/>
          </a:p>
        </p:txBody>
      </p:sp>
      <p:sp>
        <p:nvSpPr>
          <p:cNvPr id="79" name="Text 71"/>
          <p:cNvSpPr/>
          <p:nvPr/>
        </p:nvSpPr>
        <p:spPr>
          <a:xfrm>
            <a:off x="1340127" y="3898900"/>
            <a:ext cx="87399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(1,0+0)</a:t>
            </a:r>
            <a:endParaRPr lang="en-US" sz="800" dirty="0"/>
          </a:p>
        </p:txBody>
      </p:sp>
      <p:sp>
        <p:nvSpPr>
          <p:cNvPr id="80" name="Text 72"/>
          <p:cNvSpPr/>
          <p:nvPr/>
        </p:nvSpPr>
        <p:spPr>
          <a:xfrm>
            <a:off x="2268986" y="3898900"/>
            <a:ext cx="100669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(0,8+3,9)</a:t>
            </a:r>
            <a:endParaRPr lang="en-US" sz="800" dirty="0"/>
          </a:p>
        </p:txBody>
      </p:sp>
      <p:sp>
        <p:nvSpPr>
          <p:cNvPr id="81" name="Text 73"/>
          <p:cNvSpPr/>
          <p:nvPr/>
        </p:nvSpPr>
        <p:spPr>
          <a:xfrm>
            <a:off x="3330540" y="3898900"/>
            <a:ext cx="87399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800" dirty="0"/>
          </a:p>
        </p:txBody>
      </p:sp>
      <p:sp>
        <p:nvSpPr>
          <p:cNvPr id="82" name="Text 74"/>
          <p:cNvSpPr/>
          <p:nvPr/>
        </p:nvSpPr>
        <p:spPr>
          <a:xfrm>
            <a:off x="4259399" y="3898900"/>
            <a:ext cx="100669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(0+0,8)</a:t>
            </a:r>
            <a:endParaRPr lang="en-US" sz="800" dirty="0"/>
          </a:p>
        </p:txBody>
      </p:sp>
      <p:sp>
        <p:nvSpPr>
          <p:cNvPr id="83" name="Text 75"/>
          <p:cNvSpPr/>
          <p:nvPr/>
        </p:nvSpPr>
        <p:spPr>
          <a:xfrm>
            <a:off x="5320953" y="3898900"/>
            <a:ext cx="87399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800" dirty="0"/>
          </a:p>
        </p:txBody>
      </p:sp>
      <p:sp>
        <p:nvSpPr>
          <p:cNvPr id="84" name="Text 76"/>
          <p:cNvSpPr/>
          <p:nvPr/>
        </p:nvSpPr>
        <p:spPr>
          <a:xfrm>
            <a:off x="6249812" y="3898900"/>
            <a:ext cx="100669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(1,8+4,7)</a:t>
            </a:r>
            <a:endParaRPr lang="en-US" sz="800" dirty="0"/>
          </a:p>
        </p:txBody>
      </p:sp>
      <p:sp>
        <p:nvSpPr>
          <p:cNvPr id="85" name="Shape 77"/>
          <p:cNvSpPr/>
          <p:nvPr/>
        </p:nvSpPr>
        <p:spPr>
          <a:xfrm>
            <a:off x="676656" y="4095496"/>
            <a:ext cx="6634709" cy="0"/>
          </a:xfrm>
          <a:prstGeom prst="line">
            <a:avLst/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86" name="Text 78"/>
          <p:cNvSpPr/>
          <p:nvPr/>
        </p:nvSpPr>
        <p:spPr>
          <a:xfrm>
            <a:off x="676656" y="4095496"/>
            <a:ext cx="608607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 Okt</a:t>
            </a:r>
            <a:endParaRPr lang="en-US" sz="800" dirty="0"/>
          </a:p>
        </p:txBody>
      </p:sp>
      <p:sp>
        <p:nvSpPr>
          <p:cNvPr id="87" name="Text 79"/>
          <p:cNvSpPr/>
          <p:nvPr/>
        </p:nvSpPr>
        <p:spPr>
          <a:xfrm>
            <a:off x="1340127" y="4095496"/>
            <a:ext cx="87399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(1,8+0)</a:t>
            </a:r>
            <a:endParaRPr lang="en-US" sz="800" dirty="0"/>
          </a:p>
        </p:txBody>
      </p:sp>
      <p:sp>
        <p:nvSpPr>
          <p:cNvPr id="88" name="Text 80"/>
          <p:cNvSpPr/>
          <p:nvPr/>
        </p:nvSpPr>
        <p:spPr>
          <a:xfrm>
            <a:off x="2268986" y="4095496"/>
            <a:ext cx="100669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 (3,8+4,4)</a:t>
            </a:r>
            <a:endParaRPr lang="en-US" sz="800" dirty="0"/>
          </a:p>
        </p:txBody>
      </p:sp>
      <p:sp>
        <p:nvSpPr>
          <p:cNvPr id="89" name="Text 81"/>
          <p:cNvSpPr/>
          <p:nvPr/>
        </p:nvSpPr>
        <p:spPr>
          <a:xfrm>
            <a:off x="3330540" y="4095496"/>
            <a:ext cx="87399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(1,0+0)</a:t>
            </a:r>
            <a:endParaRPr lang="en-US" sz="800" dirty="0"/>
          </a:p>
        </p:txBody>
      </p:sp>
      <p:sp>
        <p:nvSpPr>
          <p:cNvPr id="90" name="Text 82"/>
          <p:cNvSpPr/>
          <p:nvPr/>
        </p:nvSpPr>
        <p:spPr>
          <a:xfrm>
            <a:off x="4259399" y="4095496"/>
            <a:ext cx="100669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(0,8+4,0)</a:t>
            </a:r>
            <a:endParaRPr lang="en-US" sz="800" dirty="0"/>
          </a:p>
        </p:txBody>
      </p:sp>
      <p:sp>
        <p:nvSpPr>
          <p:cNvPr id="91" name="Text 83"/>
          <p:cNvSpPr/>
          <p:nvPr/>
        </p:nvSpPr>
        <p:spPr>
          <a:xfrm>
            <a:off x="5320953" y="4095496"/>
            <a:ext cx="87399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800" dirty="0"/>
          </a:p>
        </p:txBody>
      </p:sp>
      <p:sp>
        <p:nvSpPr>
          <p:cNvPr id="92" name="Text 84"/>
          <p:cNvSpPr/>
          <p:nvPr/>
        </p:nvSpPr>
        <p:spPr>
          <a:xfrm>
            <a:off x="6249812" y="4095496"/>
            <a:ext cx="100669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 (7,4+8,4)</a:t>
            </a:r>
            <a:endParaRPr lang="en-US" sz="800" dirty="0"/>
          </a:p>
        </p:txBody>
      </p:sp>
      <p:sp>
        <p:nvSpPr>
          <p:cNvPr id="93" name="Shape 85"/>
          <p:cNvSpPr/>
          <p:nvPr/>
        </p:nvSpPr>
        <p:spPr>
          <a:xfrm>
            <a:off x="676656" y="4292092"/>
            <a:ext cx="6634709" cy="0"/>
          </a:xfrm>
          <a:prstGeom prst="line">
            <a:avLst/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94" name="Text 86"/>
          <p:cNvSpPr/>
          <p:nvPr/>
        </p:nvSpPr>
        <p:spPr>
          <a:xfrm>
            <a:off x="676656" y="4292092"/>
            <a:ext cx="608607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 Okt</a:t>
            </a:r>
            <a:endParaRPr lang="en-US" sz="800" dirty="0"/>
          </a:p>
        </p:txBody>
      </p:sp>
      <p:sp>
        <p:nvSpPr>
          <p:cNvPr id="95" name="Text 87"/>
          <p:cNvSpPr/>
          <p:nvPr/>
        </p:nvSpPr>
        <p:spPr>
          <a:xfrm>
            <a:off x="1340127" y="4292092"/>
            <a:ext cx="87399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800" dirty="0"/>
          </a:p>
        </p:txBody>
      </p:sp>
      <p:sp>
        <p:nvSpPr>
          <p:cNvPr id="96" name="Text 88"/>
          <p:cNvSpPr/>
          <p:nvPr/>
        </p:nvSpPr>
        <p:spPr>
          <a:xfrm>
            <a:off x="2268986" y="4292092"/>
            <a:ext cx="100669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 (1,0+5,0)</a:t>
            </a:r>
            <a:endParaRPr lang="en-US" sz="800" dirty="0"/>
          </a:p>
        </p:txBody>
      </p:sp>
      <p:sp>
        <p:nvSpPr>
          <p:cNvPr id="97" name="Text 89"/>
          <p:cNvSpPr/>
          <p:nvPr/>
        </p:nvSpPr>
        <p:spPr>
          <a:xfrm>
            <a:off x="3330540" y="4292092"/>
            <a:ext cx="87399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800" dirty="0"/>
          </a:p>
        </p:txBody>
      </p:sp>
      <p:sp>
        <p:nvSpPr>
          <p:cNvPr id="98" name="Text 90"/>
          <p:cNvSpPr/>
          <p:nvPr/>
        </p:nvSpPr>
        <p:spPr>
          <a:xfrm>
            <a:off x="4259399" y="4292092"/>
            <a:ext cx="100669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 (1,8+5,8)</a:t>
            </a:r>
            <a:endParaRPr lang="en-US" sz="800" dirty="0"/>
          </a:p>
        </p:txBody>
      </p:sp>
      <p:sp>
        <p:nvSpPr>
          <p:cNvPr id="99" name="Text 91"/>
          <p:cNvSpPr/>
          <p:nvPr/>
        </p:nvSpPr>
        <p:spPr>
          <a:xfrm>
            <a:off x="5320953" y="4292092"/>
            <a:ext cx="87399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Lampung 1</a:t>
            </a:r>
            <a:endParaRPr lang="en-US" sz="800" dirty="0"/>
          </a:p>
        </p:txBody>
      </p:sp>
      <p:sp>
        <p:nvSpPr>
          <p:cNvPr id="100" name="Text 92"/>
          <p:cNvSpPr/>
          <p:nvPr/>
        </p:nvSpPr>
        <p:spPr>
          <a:xfrm>
            <a:off x="6249812" y="4292092"/>
            <a:ext cx="100669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 (2,8+10,8)</a:t>
            </a:r>
            <a:endParaRPr lang="en-US" sz="800" dirty="0"/>
          </a:p>
        </p:txBody>
      </p:sp>
      <p:sp>
        <p:nvSpPr>
          <p:cNvPr id="101" name="Shape 93"/>
          <p:cNvSpPr/>
          <p:nvPr/>
        </p:nvSpPr>
        <p:spPr>
          <a:xfrm>
            <a:off x="676656" y="4488688"/>
            <a:ext cx="6634709" cy="0"/>
          </a:xfrm>
          <a:prstGeom prst="line">
            <a:avLst/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102" name="Text 94"/>
          <p:cNvSpPr/>
          <p:nvPr/>
        </p:nvSpPr>
        <p:spPr>
          <a:xfrm>
            <a:off x="676656" y="4488688"/>
            <a:ext cx="608607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 Okt</a:t>
            </a:r>
            <a:endParaRPr lang="en-US" sz="800" dirty="0"/>
          </a:p>
        </p:txBody>
      </p:sp>
      <p:sp>
        <p:nvSpPr>
          <p:cNvPr id="103" name="Text 95"/>
          <p:cNvSpPr/>
          <p:nvPr/>
        </p:nvSpPr>
        <p:spPr>
          <a:xfrm>
            <a:off x="1340127" y="4488688"/>
            <a:ext cx="87399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(1,0+0)</a:t>
            </a:r>
            <a:endParaRPr lang="en-US" sz="800" dirty="0"/>
          </a:p>
        </p:txBody>
      </p:sp>
      <p:sp>
        <p:nvSpPr>
          <p:cNvPr id="104" name="Text 96"/>
          <p:cNvSpPr/>
          <p:nvPr/>
        </p:nvSpPr>
        <p:spPr>
          <a:xfrm>
            <a:off x="2268986" y="4488688"/>
            <a:ext cx="100669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(2,0+5,2)</a:t>
            </a:r>
            <a:endParaRPr lang="en-US" sz="800" dirty="0"/>
          </a:p>
        </p:txBody>
      </p:sp>
      <p:sp>
        <p:nvSpPr>
          <p:cNvPr id="105" name="Text 97"/>
          <p:cNvSpPr/>
          <p:nvPr/>
        </p:nvSpPr>
        <p:spPr>
          <a:xfrm>
            <a:off x="3330540" y="4488688"/>
            <a:ext cx="87399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(1,0+0)</a:t>
            </a:r>
            <a:endParaRPr lang="en-US" sz="800" dirty="0"/>
          </a:p>
        </p:txBody>
      </p:sp>
      <p:sp>
        <p:nvSpPr>
          <p:cNvPr id="106" name="Text 98"/>
          <p:cNvSpPr/>
          <p:nvPr/>
        </p:nvSpPr>
        <p:spPr>
          <a:xfrm>
            <a:off x="4259399" y="4488688"/>
            <a:ext cx="100669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 (2,2+4,9)</a:t>
            </a:r>
            <a:endParaRPr lang="en-US" sz="800" dirty="0"/>
          </a:p>
        </p:txBody>
      </p:sp>
      <p:sp>
        <p:nvSpPr>
          <p:cNvPr id="107" name="Text 99"/>
          <p:cNvSpPr/>
          <p:nvPr/>
        </p:nvSpPr>
        <p:spPr>
          <a:xfrm>
            <a:off x="5320953" y="4488688"/>
            <a:ext cx="87399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800" dirty="0"/>
          </a:p>
        </p:txBody>
      </p:sp>
      <p:sp>
        <p:nvSpPr>
          <p:cNvPr id="108" name="Text 100"/>
          <p:cNvSpPr/>
          <p:nvPr/>
        </p:nvSpPr>
        <p:spPr>
          <a:xfrm>
            <a:off x="6249812" y="4488688"/>
            <a:ext cx="100669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 (6,2+10,1)</a:t>
            </a:r>
            <a:endParaRPr lang="en-US" sz="800" dirty="0"/>
          </a:p>
        </p:txBody>
      </p:sp>
      <p:sp>
        <p:nvSpPr>
          <p:cNvPr id="109" name="Shape 101"/>
          <p:cNvSpPr/>
          <p:nvPr/>
        </p:nvSpPr>
        <p:spPr>
          <a:xfrm>
            <a:off x="676656" y="4685284"/>
            <a:ext cx="6634709" cy="0"/>
          </a:xfrm>
          <a:prstGeom prst="line">
            <a:avLst/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110" name="Text 102"/>
          <p:cNvSpPr/>
          <p:nvPr/>
        </p:nvSpPr>
        <p:spPr>
          <a:xfrm>
            <a:off x="676656" y="4685284"/>
            <a:ext cx="608607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Okt</a:t>
            </a:r>
            <a:endParaRPr lang="en-US" sz="800" dirty="0"/>
          </a:p>
        </p:txBody>
      </p:sp>
      <p:sp>
        <p:nvSpPr>
          <p:cNvPr id="111" name="Text 103"/>
          <p:cNvSpPr/>
          <p:nvPr/>
        </p:nvSpPr>
        <p:spPr>
          <a:xfrm>
            <a:off x="1340127" y="4685284"/>
            <a:ext cx="87399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800" dirty="0"/>
          </a:p>
        </p:txBody>
      </p:sp>
      <p:sp>
        <p:nvSpPr>
          <p:cNvPr id="112" name="Text 104"/>
          <p:cNvSpPr/>
          <p:nvPr/>
        </p:nvSpPr>
        <p:spPr>
          <a:xfrm>
            <a:off x="2268986" y="4685284"/>
            <a:ext cx="100669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(3,0+4,5)</a:t>
            </a:r>
            <a:endParaRPr lang="en-US" sz="800" dirty="0"/>
          </a:p>
        </p:txBody>
      </p:sp>
      <p:sp>
        <p:nvSpPr>
          <p:cNvPr id="113" name="Text 105"/>
          <p:cNvSpPr/>
          <p:nvPr/>
        </p:nvSpPr>
        <p:spPr>
          <a:xfrm>
            <a:off x="3330540" y="4685284"/>
            <a:ext cx="87399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(2,0+0)</a:t>
            </a:r>
            <a:endParaRPr lang="en-US" sz="800" dirty="0"/>
          </a:p>
        </p:txBody>
      </p:sp>
      <p:sp>
        <p:nvSpPr>
          <p:cNvPr id="114" name="Text 106"/>
          <p:cNvSpPr/>
          <p:nvPr/>
        </p:nvSpPr>
        <p:spPr>
          <a:xfrm>
            <a:off x="4259399" y="4685284"/>
            <a:ext cx="100669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(8,8+3,3)</a:t>
            </a:r>
            <a:endParaRPr lang="en-US" sz="800" dirty="0"/>
          </a:p>
        </p:txBody>
      </p:sp>
      <p:sp>
        <p:nvSpPr>
          <p:cNvPr id="115" name="Text 107"/>
          <p:cNvSpPr/>
          <p:nvPr/>
        </p:nvSpPr>
        <p:spPr>
          <a:xfrm>
            <a:off x="5320953" y="4685284"/>
            <a:ext cx="87399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800" dirty="0"/>
          </a:p>
        </p:txBody>
      </p:sp>
      <p:sp>
        <p:nvSpPr>
          <p:cNvPr id="116" name="Text 108"/>
          <p:cNvSpPr/>
          <p:nvPr/>
        </p:nvSpPr>
        <p:spPr>
          <a:xfrm>
            <a:off x="6249812" y="4685284"/>
            <a:ext cx="100669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 (13,8+7,8)</a:t>
            </a:r>
            <a:endParaRPr lang="en-US" sz="800" dirty="0"/>
          </a:p>
        </p:txBody>
      </p:sp>
      <p:sp>
        <p:nvSpPr>
          <p:cNvPr id="117" name="Shape 109"/>
          <p:cNvSpPr/>
          <p:nvPr/>
        </p:nvSpPr>
        <p:spPr>
          <a:xfrm>
            <a:off x="676656" y="4881880"/>
            <a:ext cx="6634709" cy="0"/>
          </a:xfrm>
          <a:prstGeom prst="line">
            <a:avLst/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118" name="Text 110"/>
          <p:cNvSpPr/>
          <p:nvPr/>
        </p:nvSpPr>
        <p:spPr>
          <a:xfrm>
            <a:off x="676656" y="4881880"/>
            <a:ext cx="608607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 Okt</a:t>
            </a:r>
            <a:endParaRPr lang="en-US" sz="800" dirty="0"/>
          </a:p>
        </p:txBody>
      </p:sp>
      <p:sp>
        <p:nvSpPr>
          <p:cNvPr id="119" name="Text 111"/>
          <p:cNvSpPr/>
          <p:nvPr/>
        </p:nvSpPr>
        <p:spPr>
          <a:xfrm>
            <a:off x="1340127" y="4881880"/>
            <a:ext cx="87399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–</a:t>
            </a:r>
            <a:endParaRPr lang="en-US" sz="800" dirty="0"/>
          </a:p>
        </p:txBody>
      </p:sp>
      <p:sp>
        <p:nvSpPr>
          <p:cNvPr id="120" name="Text 112"/>
          <p:cNvSpPr/>
          <p:nvPr/>
        </p:nvSpPr>
        <p:spPr>
          <a:xfrm>
            <a:off x="2268986" y="4881880"/>
            <a:ext cx="100669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–</a:t>
            </a:r>
            <a:endParaRPr lang="en-US" sz="800" dirty="0"/>
          </a:p>
        </p:txBody>
      </p:sp>
      <p:sp>
        <p:nvSpPr>
          <p:cNvPr id="121" name="Text 113"/>
          <p:cNvSpPr/>
          <p:nvPr/>
        </p:nvSpPr>
        <p:spPr>
          <a:xfrm>
            <a:off x="3330540" y="4881880"/>
            <a:ext cx="87399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–</a:t>
            </a:r>
            <a:endParaRPr lang="en-US" sz="800" dirty="0"/>
          </a:p>
        </p:txBody>
      </p:sp>
      <p:sp>
        <p:nvSpPr>
          <p:cNvPr id="122" name="Text 114"/>
          <p:cNvSpPr/>
          <p:nvPr/>
        </p:nvSpPr>
        <p:spPr>
          <a:xfrm>
            <a:off x="4259399" y="4881880"/>
            <a:ext cx="100669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–</a:t>
            </a:r>
            <a:endParaRPr lang="en-US" sz="800" dirty="0"/>
          </a:p>
        </p:txBody>
      </p:sp>
      <p:sp>
        <p:nvSpPr>
          <p:cNvPr id="123" name="Text 115"/>
          <p:cNvSpPr/>
          <p:nvPr/>
        </p:nvSpPr>
        <p:spPr>
          <a:xfrm>
            <a:off x="5320953" y="4881880"/>
            <a:ext cx="87399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–</a:t>
            </a:r>
            <a:endParaRPr lang="en-US" sz="800" dirty="0"/>
          </a:p>
        </p:txBody>
      </p:sp>
      <p:sp>
        <p:nvSpPr>
          <p:cNvPr id="124" name="Text 116"/>
          <p:cNvSpPr/>
          <p:nvPr/>
        </p:nvSpPr>
        <p:spPr>
          <a:xfrm>
            <a:off x="6249812" y="4881880"/>
            <a:ext cx="100669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tidak ada data</a:t>
            </a:r>
            <a:endParaRPr lang="en-US" sz="800" dirty="0"/>
          </a:p>
        </p:txBody>
      </p:sp>
      <p:sp>
        <p:nvSpPr>
          <p:cNvPr id="125" name="Shape 117"/>
          <p:cNvSpPr/>
          <p:nvPr/>
        </p:nvSpPr>
        <p:spPr>
          <a:xfrm>
            <a:off x="676656" y="5078476"/>
            <a:ext cx="6634709" cy="0"/>
          </a:xfrm>
          <a:prstGeom prst="line">
            <a:avLst/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126" name="Text 118"/>
          <p:cNvSpPr/>
          <p:nvPr/>
        </p:nvSpPr>
        <p:spPr>
          <a:xfrm>
            <a:off x="676656" y="5078476"/>
            <a:ext cx="608607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 Okt</a:t>
            </a:r>
            <a:endParaRPr lang="en-US" sz="800" dirty="0"/>
          </a:p>
        </p:txBody>
      </p:sp>
      <p:sp>
        <p:nvSpPr>
          <p:cNvPr id="127" name="Text 119"/>
          <p:cNvSpPr/>
          <p:nvPr/>
        </p:nvSpPr>
        <p:spPr>
          <a:xfrm>
            <a:off x="1340127" y="5078476"/>
            <a:ext cx="87399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800" dirty="0"/>
          </a:p>
        </p:txBody>
      </p:sp>
      <p:sp>
        <p:nvSpPr>
          <p:cNvPr id="128" name="Text 120"/>
          <p:cNvSpPr/>
          <p:nvPr/>
        </p:nvSpPr>
        <p:spPr>
          <a:xfrm>
            <a:off x="2268986" y="5078476"/>
            <a:ext cx="100669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 (14,4+0)</a:t>
            </a:r>
            <a:endParaRPr lang="en-US" sz="800" dirty="0"/>
          </a:p>
        </p:txBody>
      </p:sp>
      <p:sp>
        <p:nvSpPr>
          <p:cNvPr id="129" name="Text 121"/>
          <p:cNvSpPr/>
          <p:nvPr/>
        </p:nvSpPr>
        <p:spPr>
          <a:xfrm>
            <a:off x="3330540" y="5078476"/>
            <a:ext cx="87399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800" dirty="0"/>
          </a:p>
        </p:txBody>
      </p:sp>
      <p:sp>
        <p:nvSpPr>
          <p:cNvPr id="130" name="Text 122"/>
          <p:cNvSpPr/>
          <p:nvPr/>
        </p:nvSpPr>
        <p:spPr>
          <a:xfrm>
            <a:off x="4259399" y="5078476"/>
            <a:ext cx="100669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(8,4+0)</a:t>
            </a:r>
            <a:endParaRPr lang="en-US" sz="800" dirty="0"/>
          </a:p>
        </p:txBody>
      </p:sp>
      <p:sp>
        <p:nvSpPr>
          <p:cNvPr id="131" name="Text 123"/>
          <p:cNvSpPr/>
          <p:nvPr/>
        </p:nvSpPr>
        <p:spPr>
          <a:xfrm>
            <a:off x="5320953" y="5078476"/>
            <a:ext cx="87399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Jatim 1 (1,0+0)</a:t>
            </a:r>
            <a:endParaRPr lang="en-US" sz="800" dirty="0"/>
          </a:p>
        </p:txBody>
      </p:sp>
      <p:sp>
        <p:nvSpPr>
          <p:cNvPr id="132" name="Text 124"/>
          <p:cNvSpPr/>
          <p:nvPr/>
        </p:nvSpPr>
        <p:spPr>
          <a:xfrm>
            <a:off x="6249812" y="5078476"/>
            <a:ext cx="100669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 (23,8+0)</a:t>
            </a:r>
            <a:endParaRPr lang="en-US" sz="800" dirty="0"/>
          </a:p>
        </p:txBody>
      </p:sp>
      <p:sp>
        <p:nvSpPr>
          <p:cNvPr id="133" name="Shape 125"/>
          <p:cNvSpPr/>
          <p:nvPr/>
        </p:nvSpPr>
        <p:spPr>
          <a:xfrm>
            <a:off x="676656" y="5275072"/>
            <a:ext cx="6634709" cy="0"/>
          </a:xfrm>
          <a:prstGeom prst="line">
            <a:avLst/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134" name="Text 126"/>
          <p:cNvSpPr/>
          <p:nvPr/>
        </p:nvSpPr>
        <p:spPr>
          <a:xfrm>
            <a:off x="676656" y="5275072"/>
            <a:ext cx="608607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 Okt</a:t>
            </a:r>
            <a:endParaRPr lang="en-US" sz="800" dirty="0"/>
          </a:p>
        </p:txBody>
      </p:sp>
      <p:sp>
        <p:nvSpPr>
          <p:cNvPr id="135" name="Text 127"/>
          <p:cNvSpPr/>
          <p:nvPr/>
        </p:nvSpPr>
        <p:spPr>
          <a:xfrm>
            <a:off x="1340127" y="5275072"/>
            <a:ext cx="87399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800" dirty="0"/>
          </a:p>
        </p:txBody>
      </p:sp>
      <p:sp>
        <p:nvSpPr>
          <p:cNvPr id="136" name="Text 128"/>
          <p:cNvSpPr/>
          <p:nvPr/>
        </p:nvSpPr>
        <p:spPr>
          <a:xfrm>
            <a:off x="2268986" y="5275072"/>
            <a:ext cx="100669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(10,2+0)</a:t>
            </a:r>
            <a:endParaRPr lang="en-US" sz="800" dirty="0"/>
          </a:p>
        </p:txBody>
      </p:sp>
      <p:sp>
        <p:nvSpPr>
          <p:cNvPr id="137" name="Text 129"/>
          <p:cNvSpPr/>
          <p:nvPr/>
        </p:nvSpPr>
        <p:spPr>
          <a:xfrm>
            <a:off x="3330540" y="5275072"/>
            <a:ext cx="87399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(1,0+2,1)</a:t>
            </a:r>
            <a:endParaRPr lang="en-US" sz="800" dirty="0"/>
          </a:p>
        </p:txBody>
      </p:sp>
      <p:sp>
        <p:nvSpPr>
          <p:cNvPr id="138" name="Text 130"/>
          <p:cNvSpPr/>
          <p:nvPr/>
        </p:nvSpPr>
        <p:spPr>
          <a:xfrm>
            <a:off x="4259399" y="5275072"/>
            <a:ext cx="100669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 (8,2+1,7)</a:t>
            </a:r>
            <a:endParaRPr lang="en-US" sz="800" dirty="0"/>
          </a:p>
        </p:txBody>
      </p:sp>
      <p:sp>
        <p:nvSpPr>
          <p:cNvPr id="139" name="Text 131"/>
          <p:cNvSpPr/>
          <p:nvPr/>
        </p:nvSpPr>
        <p:spPr>
          <a:xfrm>
            <a:off x="5320953" y="5275072"/>
            <a:ext cx="87399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Papsel 2 (2,0+0)</a:t>
            </a:r>
            <a:endParaRPr lang="en-US" sz="800" dirty="0"/>
          </a:p>
        </p:txBody>
      </p:sp>
      <p:sp>
        <p:nvSpPr>
          <p:cNvPr id="140" name="Text 132"/>
          <p:cNvSpPr/>
          <p:nvPr/>
        </p:nvSpPr>
        <p:spPr>
          <a:xfrm>
            <a:off x="6249812" y="5275072"/>
            <a:ext cx="100669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 (21,4+3,8)</a:t>
            </a:r>
            <a:endParaRPr lang="en-US" sz="800" dirty="0"/>
          </a:p>
        </p:txBody>
      </p:sp>
      <p:sp>
        <p:nvSpPr>
          <p:cNvPr id="141" name="Shape 133"/>
          <p:cNvSpPr/>
          <p:nvPr/>
        </p:nvSpPr>
        <p:spPr>
          <a:xfrm>
            <a:off x="676656" y="5471668"/>
            <a:ext cx="6634709" cy="0"/>
          </a:xfrm>
          <a:prstGeom prst="line">
            <a:avLst/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142" name="Shape 134"/>
          <p:cNvSpPr/>
          <p:nvPr/>
        </p:nvSpPr>
        <p:spPr>
          <a:xfrm>
            <a:off x="676656" y="5499100"/>
            <a:ext cx="6634709" cy="160020"/>
          </a:xfrm>
          <a:prstGeom prst="roundRect">
            <a:avLst>
              <a:gd name="adj" fmla="val 22857"/>
            </a:avLst>
          </a:prstGeom>
          <a:solidFill>
            <a:srgbClr val="051C2C"/>
          </a:solidFill>
          <a:ln/>
        </p:spPr>
      </p:sp>
      <p:sp>
        <p:nvSpPr>
          <p:cNvPr id="143" name="Text 135"/>
          <p:cNvSpPr/>
          <p:nvPr/>
        </p:nvSpPr>
        <p:spPr>
          <a:xfrm>
            <a:off x="676656" y="5471668"/>
            <a:ext cx="608607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Jumlah</a:t>
            </a:r>
            <a:endParaRPr lang="en-US" sz="800" dirty="0"/>
          </a:p>
        </p:txBody>
      </p:sp>
      <p:sp>
        <p:nvSpPr>
          <p:cNvPr id="144" name="Text 136"/>
          <p:cNvSpPr/>
          <p:nvPr/>
        </p:nvSpPr>
        <p:spPr>
          <a:xfrm>
            <a:off x="1340127" y="5471668"/>
            <a:ext cx="87399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 (9,4+0)</a:t>
            </a:r>
            <a:endParaRPr lang="en-US" sz="800" dirty="0"/>
          </a:p>
        </p:txBody>
      </p:sp>
      <p:sp>
        <p:nvSpPr>
          <p:cNvPr id="145" name="Text 137"/>
          <p:cNvSpPr/>
          <p:nvPr/>
        </p:nvSpPr>
        <p:spPr>
          <a:xfrm>
            <a:off x="2268986" y="5471668"/>
            <a:ext cx="100669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66 (47,0+23,8)</a:t>
            </a:r>
            <a:endParaRPr lang="en-US" sz="800" dirty="0"/>
          </a:p>
        </p:txBody>
      </p:sp>
      <p:sp>
        <p:nvSpPr>
          <p:cNvPr id="146" name="Text 138"/>
          <p:cNvSpPr/>
          <p:nvPr/>
        </p:nvSpPr>
        <p:spPr>
          <a:xfrm>
            <a:off x="3330540" y="5471668"/>
            <a:ext cx="87399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 (10,0+2,1)</a:t>
            </a:r>
            <a:endParaRPr lang="en-US" sz="800" dirty="0"/>
          </a:p>
        </p:txBody>
      </p:sp>
      <p:sp>
        <p:nvSpPr>
          <p:cNvPr id="147" name="Text 139"/>
          <p:cNvSpPr/>
          <p:nvPr/>
        </p:nvSpPr>
        <p:spPr>
          <a:xfrm>
            <a:off x="4259399" y="5471668"/>
            <a:ext cx="100669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55 (32,6+27,7)</a:t>
            </a:r>
            <a:endParaRPr lang="en-US" sz="800" dirty="0"/>
          </a:p>
        </p:txBody>
      </p:sp>
      <p:sp>
        <p:nvSpPr>
          <p:cNvPr id="148" name="Text 140"/>
          <p:cNvSpPr/>
          <p:nvPr/>
        </p:nvSpPr>
        <p:spPr>
          <a:xfrm>
            <a:off x="5320953" y="5471668"/>
            <a:ext cx="87399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(3,0+0)</a:t>
            </a:r>
            <a:endParaRPr lang="en-US" sz="800" dirty="0"/>
          </a:p>
        </p:txBody>
      </p:sp>
      <p:sp>
        <p:nvSpPr>
          <p:cNvPr id="149" name="Text 141"/>
          <p:cNvSpPr/>
          <p:nvPr/>
        </p:nvSpPr>
        <p:spPr>
          <a:xfrm>
            <a:off x="6249812" y="5471668"/>
            <a:ext cx="100669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148 (102,0+53,6)</a:t>
            </a:r>
            <a:endParaRPr lang="en-US" sz="800" dirty="0"/>
          </a:p>
        </p:txBody>
      </p:sp>
      <p:sp>
        <p:nvSpPr>
          <p:cNvPr id="150" name="Shape 142"/>
          <p:cNvSpPr/>
          <p:nvPr/>
        </p:nvSpPr>
        <p:spPr>
          <a:xfrm>
            <a:off x="7576541" y="2335276"/>
            <a:ext cx="4063771" cy="3754628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1" name="Shape 143"/>
          <p:cNvSpPr/>
          <p:nvPr/>
        </p:nvSpPr>
        <p:spPr>
          <a:xfrm>
            <a:off x="7576541" y="2335276"/>
            <a:ext cx="4063771" cy="457200"/>
          </a:xfrm>
          <a:prstGeom prst="roundRect">
            <a:avLst>
              <a:gd name="adj" fmla="val 12000"/>
            </a:avLst>
          </a:prstGeom>
          <a:solidFill>
            <a:srgbClr val="E6EAF0"/>
          </a:solidFill>
          <a:ln/>
        </p:spPr>
      </p:sp>
      <p:sp>
        <p:nvSpPr>
          <p:cNvPr id="152" name="Shape 144"/>
          <p:cNvSpPr/>
          <p:nvPr/>
        </p:nvSpPr>
        <p:spPr>
          <a:xfrm>
            <a:off x="7576541" y="2563876"/>
            <a:ext cx="4063771" cy="228600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153" name="Shape 145"/>
          <p:cNvSpPr/>
          <p:nvPr/>
        </p:nvSpPr>
        <p:spPr>
          <a:xfrm>
            <a:off x="7704557" y="2417572"/>
            <a:ext cx="292608" cy="29260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54" name="Image 6" descr="/Users/priyankaalfatehan28/.claude/skills/ppt-konsultan/mesin/cache-ikon/map-pin-regular-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8565" y="2481580"/>
            <a:ext cx="164592" cy="164592"/>
          </a:xfrm>
          <a:prstGeom prst="rect">
            <a:avLst/>
          </a:prstGeom>
        </p:spPr>
      </p:pic>
      <p:sp>
        <p:nvSpPr>
          <p:cNvPr id="155" name="Text 146"/>
          <p:cNvSpPr/>
          <p:nvPr/>
        </p:nvSpPr>
        <p:spPr>
          <a:xfrm>
            <a:off x="8088605" y="2335276"/>
            <a:ext cx="34145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dan sasaran utama per provinsi</a:t>
            </a:r>
            <a:endParaRPr lang="en-US" sz="1000" dirty="0"/>
          </a:p>
        </p:txBody>
      </p:sp>
      <p:sp>
        <p:nvSpPr>
          <p:cNvPr id="156" name="Text 147"/>
          <p:cNvSpPr/>
          <p:nvPr/>
        </p:nvSpPr>
        <p:spPr>
          <a:xfrm>
            <a:off x="7704557" y="2883916"/>
            <a:ext cx="12397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PROVINSI</a:t>
            </a:r>
            <a:endParaRPr lang="en-US" sz="800" dirty="0"/>
          </a:p>
        </p:txBody>
      </p:sp>
      <p:sp>
        <p:nvSpPr>
          <p:cNvPr id="157" name="Text 148"/>
          <p:cNvSpPr/>
          <p:nvPr/>
        </p:nvSpPr>
        <p:spPr>
          <a:xfrm>
            <a:off x="8999189" y="2883916"/>
            <a:ext cx="63052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SORTIE</a:t>
            </a:r>
            <a:endParaRPr lang="en-US" sz="800" dirty="0"/>
          </a:p>
        </p:txBody>
      </p:sp>
      <p:sp>
        <p:nvSpPr>
          <p:cNvPr id="158" name="Text 149"/>
          <p:cNvSpPr/>
          <p:nvPr/>
        </p:nvSpPr>
        <p:spPr>
          <a:xfrm>
            <a:off x="9684581" y="2883916"/>
            <a:ext cx="85899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NACL, TON</a:t>
            </a:r>
            <a:endParaRPr lang="en-US" sz="800" dirty="0"/>
          </a:p>
        </p:txBody>
      </p:sp>
      <p:sp>
        <p:nvSpPr>
          <p:cNvPr id="159" name="Text 150"/>
          <p:cNvSpPr/>
          <p:nvPr/>
        </p:nvSpPr>
        <p:spPr>
          <a:xfrm>
            <a:off x="10598439" y="2883916"/>
            <a:ext cx="85899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DRY ICE, TON</a:t>
            </a:r>
            <a:endParaRPr lang="en-US" sz="800" dirty="0"/>
          </a:p>
        </p:txBody>
      </p:sp>
      <p:sp>
        <p:nvSpPr>
          <p:cNvPr id="160" name="Shape 151"/>
          <p:cNvSpPr/>
          <p:nvPr/>
        </p:nvSpPr>
        <p:spPr>
          <a:xfrm>
            <a:off x="7704557" y="3112516"/>
            <a:ext cx="3807739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61" name="Text 152"/>
          <p:cNvSpPr/>
          <p:nvPr/>
        </p:nvSpPr>
        <p:spPr>
          <a:xfrm>
            <a:off x="7704557" y="3112516"/>
            <a:ext cx="1239767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800" dirty="0"/>
          </a:p>
        </p:txBody>
      </p:sp>
      <p:sp>
        <p:nvSpPr>
          <p:cNvPr id="162" name="Text 153"/>
          <p:cNvSpPr/>
          <p:nvPr/>
        </p:nvSpPr>
        <p:spPr>
          <a:xfrm>
            <a:off x="8999189" y="3112516"/>
            <a:ext cx="630529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66</a:t>
            </a:r>
            <a:endParaRPr lang="en-US" sz="800" dirty="0"/>
          </a:p>
        </p:txBody>
      </p:sp>
      <p:sp>
        <p:nvSpPr>
          <p:cNvPr id="163" name="Text 154"/>
          <p:cNvSpPr/>
          <p:nvPr/>
        </p:nvSpPr>
        <p:spPr>
          <a:xfrm>
            <a:off x="9684581" y="3112516"/>
            <a:ext cx="858993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47,0</a:t>
            </a:r>
            <a:endParaRPr lang="en-US" sz="800" dirty="0"/>
          </a:p>
        </p:txBody>
      </p:sp>
      <p:sp>
        <p:nvSpPr>
          <p:cNvPr id="164" name="Text 155"/>
          <p:cNvSpPr/>
          <p:nvPr/>
        </p:nvSpPr>
        <p:spPr>
          <a:xfrm>
            <a:off x="10598439" y="3112516"/>
            <a:ext cx="858993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23,8</a:t>
            </a:r>
            <a:endParaRPr lang="en-US" sz="800" dirty="0"/>
          </a:p>
        </p:txBody>
      </p:sp>
      <p:sp>
        <p:nvSpPr>
          <p:cNvPr id="165" name="Shape 156"/>
          <p:cNvSpPr/>
          <p:nvPr/>
        </p:nvSpPr>
        <p:spPr>
          <a:xfrm>
            <a:off x="7704557" y="3309112"/>
            <a:ext cx="3807739" cy="0"/>
          </a:xfrm>
          <a:prstGeom prst="line">
            <a:avLst/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166" name="Text 157"/>
          <p:cNvSpPr/>
          <p:nvPr/>
        </p:nvSpPr>
        <p:spPr>
          <a:xfrm>
            <a:off x="7704557" y="3309112"/>
            <a:ext cx="1239767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800" dirty="0"/>
          </a:p>
        </p:txBody>
      </p:sp>
      <p:sp>
        <p:nvSpPr>
          <p:cNvPr id="167" name="Text 158"/>
          <p:cNvSpPr/>
          <p:nvPr/>
        </p:nvSpPr>
        <p:spPr>
          <a:xfrm>
            <a:off x="8999189" y="3309112"/>
            <a:ext cx="630529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55</a:t>
            </a:r>
            <a:endParaRPr lang="en-US" sz="800" dirty="0"/>
          </a:p>
        </p:txBody>
      </p:sp>
      <p:sp>
        <p:nvSpPr>
          <p:cNvPr id="168" name="Text 159"/>
          <p:cNvSpPr/>
          <p:nvPr/>
        </p:nvSpPr>
        <p:spPr>
          <a:xfrm>
            <a:off x="9684581" y="3309112"/>
            <a:ext cx="858993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32,6</a:t>
            </a:r>
            <a:endParaRPr lang="en-US" sz="800" dirty="0"/>
          </a:p>
        </p:txBody>
      </p:sp>
      <p:sp>
        <p:nvSpPr>
          <p:cNvPr id="169" name="Text 160"/>
          <p:cNvSpPr/>
          <p:nvPr/>
        </p:nvSpPr>
        <p:spPr>
          <a:xfrm>
            <a:off x="10598439" y="3309112"/>
            <a:ext cx="858993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27,7</a:t>
            </a:r>
            <a:endParaRPr lang="en-US" sz="800" dirty="0"/>
          </a:p>
        </p:txBody>
      </p:sp>
      <p:sp>
        <p:nvSpPr>
          <p:cNvPr id="170" name="Shape 161"/>
          <p:cNvSpPr/>
          <p:nvPr/>
        </p:nvSpPr>
        <p:spPr>
          <a:xfrm>
            <a:off x="7704557" y="3505708"/>
            <a:ext cx="3807739" cy="0"/>
          </a:xfrm>
          <a:prstGeom prst="line">
            <a:avLst/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171" name="Text 162"/>
          <p:cNvSpPr/>
          <p:nvPr/>
        </p:nvSpPr>
        <p:spPr>
          <a:xfrm>
            <a:off x="7704557" y="3505708"/>
            <a:ext cx="1239767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800" dirty="0"/>
          </a:p>
        </p:txBody>
      </p:sp>
      <p:sp>
        <p:nvSpPr>
          <p:cNvPr id="172" name="Text 163"/>
          <p:cNvSpPr/>
          <p:nvPr/>
        </p:nvSpPr>
        <p:spPr>
          <a:xfrm>
            <a:off x="8999189" y="3505708"/>
            <a:ext cx="630529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</a:t>
            </a:r>
            <a:endParaRPr lang="en-US" sz="800" dirty="0"/>
          </a:p>
        </p:txBody>
      </p:sp>
      <p:sp>
        <p:nvSpPr>
          <p:cNvPr id="173" name="Text 164"/>
          <p:cNvSpPr/>
          <p:nvPr/>
        </p:nvSpPr>
        <p:spPr>
          <a:xfrm>
            <a:off x="9684581" y="3505708"/>
            <a:ext cx="858993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10,0</a:t>
            </a:r>
            <a:endParaRPr lang="en-US" sz="800" dirty="0"/>
          </a:p>
        </p:txBody>
      </p:sp>
      <p:sp>
        <p:nvSpPr>
          <p:cNvPr id="174" name="Text 165"/>
          <p:cNvSpPr/>
          <p:nvPr/>
        </p:nvSpPr>
        <p:spPr>
          <a:xfrm>
            <a:off x="10598439" y="3505708"/>
            <a:ext cx="858993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2,1</a:t>
            </a:r>
            <a:endParaRPr lang="en-US" sz="800" dirty="0"/>
          </a:p>
        </p:txBody>
      </p:sp>
      <p:sp>
        <p:nvSpPr>
          <p:cNvPr id="175" name="Shape 166"/>
          <p:cNvSpPr/>
          <p:nvPr/>
        </p:nvSpPr>
        <p:spPr>
          <a:xfrm>
            <a:off x="7704557" y="3702304"/>
            <a:ext cx="3807739" cy="0"/>
          </a:xfrm>
          <a:prstGeom prst="line">
            <a:avLst/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176" name="Text 167"/>
          <p:cNvSpPr/>
          <p:nvPr/>
        </p:nvSpPr>
        <p:spPr>
          <a:xfrm>
            <a:off x="7704557" y="3702304"/>
            <a:ext cx="1239767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Barat</a:t>
            </a:r>
            <a:endParaRPr lang="en-US" sz="800" dirty="0"/>
          </a:p>
        </p:txBody>
      </p:sp>
      <p:sp>
        <p:nvSpPr>
          <p:cNvPr id="177" name="Text 168"/>
          <p:cNvSpPr/>
          <p:nvPr/>
        </p:nvSpPr>
        <p:spPr>
          <a:xfrm>
            <a:off x="8999189" y="3702304"/>
            <a:ext cx="630529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endParaRPr lang="en-US" sz="800" dirty="0"/>
          </a:p>
        </p:txBody>
      </p:sp>
      <p:sp>
        <p:nvSpPr>
          <p:cNvPr id="178" name="Text 169"/>
          <p:cNvSpPr/>
          <p:nvPr/>
        </p:nvSpPr>
        <p:spPr>
          <a:xfrm>
            <a:off x="9684581" y="3702304"/>
            <a:ext cx="858993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9,4</a:t>
            </a:r>
            <a:endParaRPr lang="en-US" sz="800" dirty="0"/>
          </a:p>
        </p:txBody>
      </p:sp>
      <p:sp>
        <p:nvSpPr>
          <p:cNvPr id="179" name="Text 170"/>
          <p:cNvSpPr/>
          <p:nvPr/>
        </p:nvSpPr>
        <p:spPr>
          <a:xfrm>
            <a:off x="10598439" y="3702304"/>
            <a:ext cx="858993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800" dirty="0"/>
          </a:p>
        </p:txBody>
      </p:sp>
      <p:sp>
        <p:nvSpPr>
          <p:cNvPr id="180" name="Shape 171"/>
          <p:cNvSpPr/>
          <p:nvPr/>
        </p:nvSpPr>
        <p:spPr>
          <a:xfrm>
            <a:off x="7704557" y="3898900"/>
            <a:ext cx="3807739" cy="0"/>
          </a:xfrm>
          <a:prstGeom prst="line">
            <a:avLst/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181" name="Text 172"/>
          <p:cNvSpPr/>
          <p:nvPr/>
        </p:nvSpPr>
        <p:spPr>
          <a:xfrm>
            <a:off x="7704557" y="3898900"/>
            <a:ext cx="1239767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Lainnya (3 provinsi)</a:t>
            </a:r>
            <a:endParaRPr lang="en-US" sz="800" dirty="0"/>
          </a:p>
        </p:txBody>
      </p:sp>
      <p:sp>
        <p:nvSpPr>
          <p:cNvPr id="182" name="Text 173"/>
          <p:cNvSpPr/>
          <p:nvPr/>
        </p:nvSpPr>
        <p:spPr>
          <a:xfrm>
            <a:off x="8999189" y="3898900"/>
            <a:ext cx="630529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800" dirty="0"/>
          </a:p>
        </p:txBody>
      </p:sp>
      <p:sp>
        <p:nvSpPr>
          <p:cNvPr id="183" name="Text 174"/>
          <p:cNvSpPr/>
          <p:nvPr/>
        </p:nvSpPr>
        <p:spPr>
          <a:xfrm>
            <a:off x="9684581" y="3898900"/>
            <a:ext cx="858993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3,0</a:t>
            </a:r>
            <a:endParaRPr lang="en-US" sz="800" dirty="0"/>
          </a:p>
        </p:txBody>
      </p:sp>
      <p:sp>
        <p:nvSpPr>
          <p:cNvPr id="184" name="Text 175"/>
          <p:cNvSpPr/>
          <p:nvPr/>
        </p:nvSpPr>
        <p:spPr>
          <a:xfrm>
            <a:off x="10598439" y="3898900"/>
            <a:ext cx="858993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800" dirty="0"/>
          </a:p>
        </p:txBody>
      </p:sp>
      <p:sp>
        <p:nvSpPr>
          <p:cNvPr id="185" name="Text 176"/>
          <p:cNvSpPr/>
          <p:nvPr/>
        </p:nvSpPr>
        <p:spPr>
          <a:xfrm>
            <a:off x="7704557" y="4269232"/>
            <a:ext cx="3807739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buSzPct val="100000"/>
              <a:buChar char="•"/>
            </a:pPr>
            <a:r>
              <a:rPr lang="en-US" sz="8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Tengah:</a:t>
            </a: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dry ice di Palangka Raya; NaCl di Katingan, Pulang Pisau, Palangka Raya, Kotawaringin Timur, Kotawaringin Barat, Kapuas, Barito Selatan, Seruyan.</a:t>
            </a:r>
            <a:endParaRPr lang="en-US" sz="800" dirty="0"/>
          </a:p>
          <a:p>
            <a:pPr marL="114300" indent="-114300">
              <a:spcBef>
                <a:spcPts val="400"/>
              </a:spcBef>
              <a:buSzPct val="100000"/>
              <a:buChar char="•"/>
            </a:pPr>
            <a:r>
              <a:rPr lang="en-US" sz="8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Selatan:</a:t>
            </a: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dry ice di Palembang dan sekitarnya; NaCl di OKI, Banyuasin, Ogan Ilir, Musi Banyuasin.</a:t>
            </a:r>
            <a:endParaRPr lang="en-US" sz="800" dirty="0"/>
          </a:p>
          <a:p>
            <a:pPr marL="114300" indent="-114300">
              <a:spcBef>
                <a:spcPts val="400"/>
              </a:spcBef>
              <a:buSzPct val="100000"/>
              <a:buChar char="•"/>
            </a:pPr>
            <a:r>
              <a:rPr lang="en-US" sz="8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Selatan:</a:t>
            </a: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dry ice di Banjarbaru dan Banjarmasin (27 Okt); NaCl di Kotabaru, Barito Kuala, Banjar, Tanah Bumbu.</a:t>
            </a:r>
            <a:endParaRPr lang="en-US" sz="800" dirty="0"/>
          </a:p>
          <a:p>
            <a:pPr marL="114300" indent="-114300">
              <a:spcBef>
                <a:spcPts val="400"/>
              </a:spcBef>
              <a:buSzPct val="100000"/>
              <a:buChar char="•"/>
            </a:pPr>
            <a:r>
              <a:rPr lang="en-US" sz="8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Barat:</a:t>
            </a: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NaCl di Ketapang dan Kayong Utara. </a:t>
            </a:r>
            <a:r>
              <a:rPr lang="en-US" sz="8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Lainnya:</a:t>
            </a: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Jatim (Malang, Pasuruan, Jember) dan Papua Selatan (Merauke, Mappi).</a:t>
            </a:r>
            <a:endParaRPr lang="en-US" sz="800" dirty="0"/>
          </a:p>
          <a:p>
            <a:pPr marL="114300" indent="-114300">
              <a:spcBef>
                <a:spcPts val="400"/>
              </a:spcBef>
              <a:buSzPct val="100000"/>
              <a:buChar char="•"/>
            </a:pPr>
            <a:r>
              <a:rPr lang="en-US" sz="8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luar tabel:</a:t>
            </a: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Jatim 24–25 Okt 2 sortie 2,0 ton; Jabar PK-ALA 1 sortie 1,0 ton (tanpa tanggal); Kaltim 30 sortie 28,8 ton (rekap posko, tanpa periode).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020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1A1A1A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548640" y="274320"/>
            <a:ext cx="8174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dilaporkan di wilayah sasaran pada hari operasi, misalnya Ketapang </a:t>
            </a:r>
            <a:r>
              <a:rPr lang="en-US" sz="20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 dari 7 hari</a:t>
            </a:r>
            <a:r>
              <a:rPr lang="en-US" sz="20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tetapi sebab-akibat belum terbukti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842248" y="886968"/>
            <a:ext cx="2359152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4" name="Text 2"/>
          <p:cNvSpPr/>
          <p:nvPr/>
        </p:nvSpPr>
        <p:spPr>
          <a:xfrm>
            <a:off x="8897112" y="886968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842248" y="886968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AFC3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 OFF DATA</a:t>
            </a: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 Okt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6181344"/>
            <a:ext cx="36576" cy="164592"/>
          </a:xfrm>
          <a:prstGeom prst="rect">
            <a:avLst/>
          </a:prstGeom>
          <a:solidFill>
            <a:srgbClr val="4A9BE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163056"/>
            <a:ext cx="11000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Sumber: Laporan Penanganan Karhutla BNPB 17–27 Okt 2026; Resume Posko Terpadu OMC 27 Okt 2026; BPBD Jatim; radar BMKG. Hujan di wilayah sasaran pada hari yang sama menurut laporan harian dan radar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5251704"/>
            <a:ext cx="11091672" cy="838200"/>
          </a:xfrm>
          <a:prstGeom prst="roundRect">
            <a:avLst>
              <a:gd name="adj" fmla="val 6545"/>
            </a:avLst>
          </a:prstGeom>
          <a:solidFill>
            <a:srgbClr val="EEF5F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5306568"/>
            <a:ext cx="10817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KLAIM POSKO 27 OKT 2026 (BELUM DIEVALUASI)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85800" y="5544312"/>
            <a:ext cx="329184" cy="329184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1" name="Image 0" descr="/Users/priyankaalfatehan28/.claude/skills/ppt-konsultan/mesin/cache-ikon/cloud-regular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5617464"/>
            <a:ext cx="164592" cy="16459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06424" y="5507736"/>
            <a:ext cx="3075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PM2,5 Banjarbaru turun 14,55%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6424" y="5699760"/>
            <a:ext cx="3075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88 ke 75,2 µg/m³ saat dry ice, 11.00 ke 12.00 WITA; klaim posko.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218432" y="5526024"/>
            <a:ext cx="0" cy="472440"/>
          </a:xfrm>
          <a:prstGeom prst="line">
            <a:avLst/>
          </a:prstGeom>
          <a:noFill/>
          <a:ln w="9525">
            <a:solidFill>
              <a:srgbClr val="F2D3B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1584" y="5544312"/>
            <a:ext cx="329184" cy="329184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6" name="Image 1" descr="/Users/priyankaalfatehan28/.claude/skills/ppt-konsultan/mesin/cache-ikon/cloud-regular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4736" y="5617464"/>
            <a:ext cx="164592" cy="16459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712208" y="5507736"/>
            <a:ext cx="3075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PM2,5 Palembang 115 ke 68,8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712208" y="5699760"/>
            <a:ext cx="3075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µg/m³, 06.00 sampai 15.00 WIB; jarak pandang 1 km ke 7 km; klaim posko.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7824216" y="5526024"/>
            <a:ext cx="0" cy="472440"/>
          </a:xfrm>
          <a:prstGeom prst="line">
            <a:avLst/>
          </a:prstGeom>
          <a:noFill/>
          <a:ln w="9525">
            <a:solidFill>
              <a:srgbClr val="F2D3B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97368" y="5544312"/>
            <a:ext cx="329184" cy="329184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21" name="Image 2" descr="/Users/priyankaalfatehan28/.claude/skills/ppt-konsultan/mesin/cache-ikon/info-regular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0520" y="5617464"/>
            <a:ext cx="164592" cy="16459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17992" y="5507736"/>
            <a:ext cx="3075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Berlabel klaim posko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317992" y="5699760"/>
            <a:ext cx="3075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Posko belum menghitung keberhasilan OMC; angka ini konteks.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548640" y="1280160"/>
            <a:ext cx="7177094" cy="3861816"/>
          </a:xfrm>
          <a:prstGeom prst="roundRect">
            <a:avLst>
              <a:gd name="adj" fmla="val 1421"/>
            </a:avLst>
          </a:prstGeom>
          <a:solidFill>
            <a:srgbClr val="FFFFFF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48640" y="1280160"/>
            <a:ext cx="7177094" cy="457200"/>
          </a:xfrm>
          <a:prstGeom prst="roundRect">
            <a:avLst>
              <a:gd name="adj" fmla="val 12000"/>
            </a:avLst>
          </a:prstGeom>
          <a:solidFill>
            <a:srgbClr val="E6EAF0"/>
          </a:solidFill>
          <a:ln/>
        </p:spPr>
      </p:sp>
      <p:sp>
        <p:nvSpPr>
          <p:cNvPr id="26" name="Shape 21"/>
          <p:cNvSpPr/>
          <p:nvPr/>
        </p:nvSpPr>
        <p:spPr>
          <a:xfrm>
            <a:off x="548640" y="1508760"/>
            <a:ext cx="7177094" cy="228600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27" name="Shape 22"/>
          <p:cNvSpPr/>
          <p:nvPr/>
        </p:nvSpPr>
        <p:spPr>
          <a:xfrm>
            <a:off x="676656" y="1362456"/>
            <a:ext cx="292608" cy="29260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28" name="Image 3" descr="/Users/priyankaalfatehan28/.claude/skills/ppt-konsultan/mesin/cache-ikon/cloud-regular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1426464"/>
            <a:ext cx="164592" cy="16459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60704" y="1280160"/>
            <a:ext cx="65278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di wilayah sasaran pada hari yang sama, per provinsi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676656" y="1828800"/>
            <a:ext cx="844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PROVINSI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1576394" y="1828800"/>
            <a:ext cx="112171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SASARAN UTAMA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2752975" y="1828800"/>
            <a:ext cx="29904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DILAPORKAN DI WILAYAH SASARAN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5798242" y="1828800"/>
            <a:ext cx="17446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KETERANGAN</a:t>
            </a:r>
            <a:endParaRPr lang="en-US" sz="800" dirty="0"/>
          </a:p>
        </p:txBody>
      </p:sp>
      <p:sp>
        <p:nvSpPr>
          <p:cNvPr id="34" name="Shape 28"/>
          <p:cNvSpPr/>
          <p:nvPr/>
        </p:nvSpPr>
        <p:spPr>
          <a:xfrm>
            <a:off x="676656" y="2057400"/>
            <a:ext cx="6921062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76656" y="2057400"/>
            <a:ext cx="8448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Barat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1576394" y="2057400"/>
            <a:ext cx="112171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Ketapang dan Kayong Utara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2752975" y="2057400"/>
            <a:ext cx="29904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Ketapang hujan pada 7 dari 7 hari operasi (16–21 dan 23 Okt); Kayong Utara hujan 16 dan 19 Okt.</a:t>
            </a:r>
            <a:endParaRPr lang="en-US" sz="800" dirty="0"/>
          </a:p>
        </p:txBody>
      </p:sp>
      <p:sp>
        <p:nvSpPr>
          <p:cNvPr id="38" name="Text 32"/>
          <p:cNvSpPr/>
          <p:nvPr/>
        </p:nvSpPr>
        <p:spPr>
          <a:xfrm>
            <a:off x="5798242" y="2057400"/>
            <a:ext cx="17446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Intensitas ringan sampai lebat, menurut laporan harian.</a:t>
            </a:r>
            <a:endParaRPr lang="en-US" sz="800" dirty="0"/>
          </a:p>
        </p:txBody>
      </p:sp>
      <p:sp>
        <p:nvSpPr>
          <p:cNvPr id="39" name="Shape 33"/>
          <p:cNvSpPr/>
          <p:nvPr/>
        </p:nvSpPr>
        <p:spPr>
          <a:xfrm>
            <a:off x="676656" y="2624328"/>
            <a:ext cx="6921062" cy="0"/>
          </a:xfrm>
          <a:prstGeom prst="line">
            <a:avLst/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676656" y="2624328"/>
            <a:ext cx="8448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1576394" y="2624328"/>
            <a:ext cx="112171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Katingan, Pulang Pisau, Palangka Raya, Kotawaringin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2752975" y="2624328"/>
            <a:ext cx="29904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Kotawaringin Barat hujan 16, 17, 19, 20, 21, dan 26 Okt; Seruyan deras 24 Okt; radar 27 Okt: Katingan, Palangka Raya, Pulang Pisau, Kotim, Kapuas.</a:t>
            </a:r>
            <a:endParaRPr lang="en-US" sz="800" dirty="0"/>
          </a:p>
        </p:txBody>
      </p:sp>
      <p:sp>
        <p:nvSpPr>
          <p:cNvPr id="43" name="Text 37"/>
          <p:cNvSpPr/>
          <p:nvPr/>
        </p:nvSpPr>
        <p:spPr>
          <a:xfrm>
            <a:off x="5798242" y="2624328"/>
            <a:ext cx="17446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Radar 27 Okt ringan sampai lebat.</a:t>
            </a:r>
            <a:endParaRPr lang="en-US" sz="800" dirty="0"/>
          </a:p>
        </p:txBody>
      </p:sp>
      <p:sp>
        <p:nvSpPr>
          <p:cNvPr id="44" name="Shape 38"/>
          <p:cNvSpPr/>
          <p:nvPr/>
        </p:nvSpPr>
        <p:spPr>
          <a:xfrm>
            <a:off x="676656" y="3191256"/>
            <a:ext cx="6921062" cy="0"/>
          </a:xfrm>
          <a:prstGeom prst="line">
            <a:avLst/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676656" y="3191256"/>
            <a:ext cx="8448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800" dirty="0"/>
          </a:p>
        </p:txBody>
      </p:sp>
      <p:sp>
        <p:nvSpPr>
          <p:cNvPr id="46" name="Text 40"/>
          <p:cNvSpPr/>
          <p:nvPr/>
        </p:nvSpPr>
        <p:spPr>
          <a:xfrm>
            <a:off x="1576394" y="3191256"/>
            <a:ext cx="112171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Kotabaru, Tanah Bumbu, Tapin, Barito Kuala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2752975" y="3191256"/>
            <a:ext cx="29904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Kotabaru hujan 23 dan 24 Okt, Tapin 24 Okt; 27 Okt Kotabaru dan Tanah Bumbu sedang. 19 Okt radar 24 jam tanpa hujan.</a:t>
            </a:r>
            <a:endParaRPr lang="en-US" sz="800" dirty="0"/>
          </a:p>
        </p:txBody>
      </p:sp>
      <p:sp>
        <p:nvSpPr>
          <p:cNvPr id="48" name="Text 42"/>
          <p:cNvSpPr/>
          <p:nvPr/>
        </p:nvSpPr>
        <p:spPr>
          <a:xfrm>
            <a:off x="5798242" y="3191256"/>
            <a:ext cx="17446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 Okt hujan di 10 kab/kota tanpa sortie sendiri.</a:t>
            </a:r>
            <a:endParaRPr lang="en-US" sz="800" dirty="0"/>
          </a:p>
        </p:txBody>
      </p:sp>
      <p:sp>
        <p:nvSpPr>
          <p:cNvPr id="49" name="Shape 43"/>
          <p:cNvSpPr/>
          <p:nvPr/>
        </p:nvSpPr>
        <p:spPr>
          <a:xfrm>
            <a:off x="676656" y="3758184"/>
            <a:ext cx="6921062" cy="0"/>
          </a:xfrm>
          <a:prstGeom prst="line">
            <a:avLst/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676656" y="3758184"/>
            <a:ext cx="8448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800" dirty="0"/>
          </a:p>
        </p:txBody>
      </p:sp>
      <p:sp>
        <p:nvSpPr>
          <p:cNvPr id="51" name="Text 45"/>
          <p:cNvSpPr/>
          <p:nvPr/>
        </p:nvSpPr>
        <p:spPr>
          <a:xfrm>
            <a:off x="1576394" y="3758184"/>
            <a:ext cx="112171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Palembang dan sekitarnya, OKI, Banyuasin</a:t>
            </a:r>
            <a:endParaRPr lang="en-US" sz="800" dirty="0"/>
          </a:p>
        </p:txBody>
      </p:sp>
      <p:sp>
        <p:nvSpPr>
          <p:cNvPr id="52" name="Text 46"/>
          <p:cNvSpPr/>
          <p:nvPr/>
        </p:nvSpPr>
        <p:spPr>
          <a:xfrm>
            <a:off x="2752975" y="3758184"/>
            <a:ext cx="29904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16–21 Okt hanya sangat ringan atau tidak ada; 24 Okt hujan di Muba, Banyuasin, OKI, Palembang; 26 Okt deras di Pangkalan Lampam (OKI) dan Banyuasin.</a:t>
            </a:r>
            <a:endParaRPr lang="en-US" sz="800" dirty="0"/>
          </a:p>
        </p:txBody>
      </p:sp>
      <p:sp>
        <p:nvSpPr>
          <p:cNvPr id="53" name="Text 47"/>
          <p:cNvSpPr/>
          <p:nvPr/>
        </p:nvSpPr>
        <p:spPr>
          <a:xfrm>
            <a:off x="5798242" y="3758184"/>
            <a:ext cx="17446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 Okt OKI dan OKU Timur sedang sampai lebat.</a:t>
            </a:r>
            <a:endParaRPr lang="en-US" sz="800" dirty="0"/>
          </a:p>
        </p:txBody>
      </p:sp>
      <p:sp>
        <p:nvSpPr>
          <p:cNvPr id="54" name="Shape 48"/>
          <p:cNvSpPr/>
          <p:nvPr/>
        </p:nvSpPr>
        <p:spPr>
          <a:xfrm>
            <a:off x="676656" y="4325112"/>
            <a:ext cx="6921062" cy="0"/>
          </a:xfrm>
          <a:prstGeom prst="line">
            <a:avLst/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676656" y="4325112"/>
            <a:ext cx="8448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Jawa Timur</a:t>
            </a:r>
            <a:endParaRPr lang="en-US" sz="800" dirty="0"/>
          </a:p>
        </p:txBody>
      </p:sp>
      <p:sp>
        <p:nvSpPr>
          <p:cNvPr id="56" name="Text 50"/>
          <p:cNvSpPr/>
          <p:nvPr/>
        </p:nvSpPr>
        <p:spPr>
          <a:xfrm>
            <a:off x="1576394" y="4325112"/>
            <a:ext cx="112171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Malang, Pasuruan, Probolinggo, Jember, Bondowoso</a:t>
            </a:r>
            <a:endParaRPr lang="en-US" sz="800" dirty="0"/>
          </a:p>
        </p:txBody>
      </p:sp>
      <p:sp>
        <p:nvSpPr>
          <p:cNvPr id="57" name="Text 51"/>
          <p:cNvSpPr/>
          <p:nvPr/>
        </p:nvSpPr>
        <p:spPr>
          <a:xfrm>
            <a:off x="2752975" y="4325112"/>
            <a:ext cx="29904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 Okt hujan di Kota Malang, Kabupaten Malang, Bondowoso, Jember.</a:t>
            </a:r>
            <a:endParaRPr lang="en-US" sz="800" dirty="0"/>
          </a:p>
        </p:txBody>
      </p:sp>
      <p:sp>
        <p:nvSpPr>
          <p:cNvPr id="58" name="Text 52"/>
          <p:cNvSpPr/>
          <p:nvPr/>
        </p:nvSpPr>
        <p:spPr>
          <a:xfrm>
            <a:off x="5798242" y="4325112"/>
            <a:ext cx="17446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sortie, 26 Okt, 1,0 ton NaCl.</a:t>
            </a:r>
            <a:endParaRPr lang="en-US" sz="800" dirty="0"/>
          </a:p>
        </p:txBody>
      </p:sp>
      <p:sp>
        <p:nvSpPr>
          <p:cNvPr id="59" name="Shape 53"/>
          <p:cNvSpPr/>
          <p:nvPr/>
        </p:nvSpPr>
        <p:spPr>
          <a:xfrm>
            <a:off x="7862894" y="1280160"/>
            <a:ext cx="3777418" cy="3861816"/>
          </a:xfrm>
          <a:prstGeom prst="roundRect">
            <a:avLst>
              <a:gd name="adj" fmla="val 1452"/>
            </a:avLst>
          </a:prstGeom>
          <a:solidFill>
            <a:srgbClr val="FFFFFF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60" name="Shape 54"/>
          <p:cNvSpPr/>
          <p:nvPr/>
        </p:nvSpPr>
        <p:spPr>
          <a:xfrm>
            <a:off x="7862894" y="1280160"/>
            <a:ext cx="3777418" cy="457200"/>
          </a:xfrm>
          <a:prstGeom prst="roundRect">
            <a:avLst>
              <a:gd name="adj" fmla="val 12000"/>
            </a:avLst>
          </a:prstGeom>
          <a:solidFill>
            <a:srgbClr val="E6EAF0"/>
          </a:solidFill>
          <a:ln/>
        </p:spPr>
      </p:sp>
      <p:sp>
        <p:nvSpPr>
          <p:cNvPr id="61" name="Shape 55"/>
          <p:cNvSpPr/>
          <p:nvPr/>
        </p:nvSpPr>
        <p:spPr>
          <a:xfrm>
            <a:off x="7862894" y="1508760"/>
            <a:ext cx="3777418" cy="228600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62" name="Shape 56"/>
          <p:cNvSpPr/>
          <p:nvPr/>
        </p:nvSpPr>
        <p:spPr>
          <a:xfrm>
            <a:off x="7990910" y="1362456"/>
            <a:ext cx="292608" cy="29260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63" name="Image 4" descr="/Users/priyankaalfatehan28/.claude/skills/ppt-konsultan/mesin/cache-ikon/warning-regular-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4918" y="1426464"/>
            <a:ext cx="164592" cy="164592"/>
          </a:xfrm>
          <a:prstGeom prst="rect">
            <a:avLst/>
          </a:prstGeom>
        </p:spPr>
      </p:pic>
      <p:sp>
        <p:nvSpPr>
          <p:cNvPr id="64" name="Text 57"/>
          <p:cNvSpPr/>
          <p:nvPr/>
        </p:nvSpPr>
        <p:spPr>
          <a:xfrm>
            <a:off x="8374958" y="1280160"/>
            <a:ext cx="3128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Catatan jujur tentang pembacaan hujan</a:t>
            </a:r>
            <a:endParaRPr lang="en-US" sz="1000" dirty="0"/>
          </a:p>
        </p:txBody>
      </p:sp>
      <p:sp>
        <p:nvSpPr>
          <p:cNvPr id="65" name="Text 58"/>
          <p:cNvSpPr/>
          <p:nvPr/>
        </p:nvSpPr>
        <p:spPr>
          <a:xfrm>
            <a:off x="7990910" y="1828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 dari 7</a:t>
            </a:r>
            <a:endParaRPr lang="en-US" sz="1400" dirty="0"/>
          </a:p>
        </p:txBody>
      </p:sp>
      <p:sp>
        <p:nvSpPr>
          <p:cNvPr id="66" name="Text 59"/>
          <p:cNvSpPr/>
          <p:nvPr/>
        </p:nvSpPr>
        <p:spPr>
          <a:xfrm>
            <a:off x="9225350" y="1828800"/>
            <a:ext cx="22869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hari operasi Kalbar dengan hujan di Ketapang</a:t>
            </a:r>
            <a:endParaRPr lang="en-US" sz="800" dirty="0"/>
          </a:p>
        </p:txBody>
      </p:sp>
      <p:sp>
        <p:nvSpPr>
          <p:cNvPr id="67" name="Shape 60"/>
          <p:cNvSpPr/>
          <p:nvPr/>
        </p:nvSpPr>
        <p:spPr>
          <a:xfrm>
            <a:off x="7990910" y="2221992"/>
            <a:ext cx="3521386" cy="0"/>
          </a:xfrm>
          <a:prstGeom prst="line">
            <a:avLst/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68" name="Text 61"/>
          <p:cNvSpPr/>
          <p:nvPr/>
        </p:nvSpPr>
        <p:spPr>
          <a:xfrm>
            <a:off x="7990910" y="224942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dari 11</a:t>
            </a:r>
            <a:endParaRPr lang="en-US" sz="1400" dirty="0"/>
          </a:p>
        </p:txBody>
      </p:sp>
      <p:sp>
        <p:nvSpPr>
          <p:cNvPr id="69" name="Text 62"/>
          <p:cNvSpPr/>
          <p:nvPr/>
        </p:nvSpPr>
        <p:spPr>
          <a:xfrm>
            <a:off x="9225350" y="2249424"/>
            <a:ext cx="22869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hari operasi Kalteng dengan hujan di Kotawaringin Barat</a:t>
            </a:r>
            <a:endParaRPr lang="en-US" sz="800" dirty="0"/>
          </a:p>
        </p:txBody>
      </p:sp>
      <p:sp>
        <p:nvSpPr>
          <p:cNvPr id="70" name="Shape 63"/>
          <p:cNvSpPr/>
          <p:nvPr/>
        </p:nvSpPr>
        <p:spPr>
          <a:xfrm>
            <a:off x="7990910" y="2642616"/>
            <a:ext cx="3521386" cy="0"/>
          </a:xfrm>
          <a:prstGeom prst="line">
            <a:avLst/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71" name="Text 64"/>
          <p:cNvSpPr/>
          <p:nvPr/>
        </p:nvSpPr>
        <p:spPr>
          <a:xfrm>
            <a:off x="7990910" y="2670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dari 11</a:t>
            </a:r>
            <a:endParaRPr lang="en-US" sz="1400" dirty="0"/>
          </a:p>
        </p:txBody>
      </p:sp>
      <p:sp>
        <p:nvSpPr>
          <p:cNvPr id="72" name="Text 65"/>
          <p:cNvSpPr/>
          <p:nvPr/>
        </p:nvSpPr>
        <p:spPr>
          <a:xfrm>
            <a:off x="9225350" y="2670048"/>
            <a:ext cx="22869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hari operasi Sumsel (16–21 Okt) hanya hujan sangat ringan atau tanpa laporan hujan</a:t>
            </a:r>
            <a:endParaRPr lang="en-US" sz="800" dirty="0"/>
          </a:p>
        </p:txBody>
      </p:sp>
      <p:sp>
        <p:nvSpPr>
          <p:cNvPr id="73" name="Text 66"/>
          <p:cNvSpPr/>
          <p:nvPr/>
        </p:nvSpPr>
        <p:spPr>
          <a:xfrm>
            <a:off x="7990910" y="3218688"/>
            <a:ext cx="3521386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buSzPct val="100000"/>
              <a:buChar char="•"/>
            </a:pPr>
            <a:r>
              <a:rPr lang="en-US" sz="8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juga turun tanpa OMC.</a:t>
            </a: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Kalbar 22 Okt (tanpa sortie) dan 26 Okt (tanpa OMC sejak pesawat pindah), serta Jambi 26 Okt (ringan sampai sedang di Tanjung Jabung Timur).</a:t>
            </a:r>
            <a:endParaRPr lang="en-US" sz="800" dirty="0"/>
          </a:p>
          <a:p>
            <a:pPr marL="114300" indent="-114300">
              <a:spcBef>
                <a:spcPts val="400"/>
              </a:spcBef>
              <a:buSzPct val="100000"/>
              <a:buChar char="•"/>
            </a:pPr>
            <a:r>
              <a:rPr lang="en-US" sz="8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Lokasi sama belum berarti sebab.</a:t>
            </a: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Kesesuaian lokasi atau waktu dengan sasaran belum membuktikan sebab-akibat.</a:t>
            </a:r>
            <a:endParaRPr lang="en-US" sz="800" dirty="0"/>
          </a:p>
          <a:p>
            <a:pPr marL="114300" indent="-114300">
              <a:spcBef>
                <a:spcPts val="400"/>
              </a:spcBef>
              <a:buSzPct val="100000"/>
              <a:buChar char="•"/>
            </a:pPr>
            <a:r>
              <a:rPr lang="en-US" sz="8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Evaluasi terukur belum bisa.</a:t>
            </a: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Pembanding dengan wilayah kontrol (difference-in-differences) membutuhkan jam sortie, yang jarang tercatat.</a:t>
            </a:r>
            <a:endParaRPr lang="en-US" sz="800" dirty="0"/>
          </a:p>
          <a:p>
            <a:pPr marL="114300" indent="-114300">
              <a:spcBef>
                <a:spcPts val="400"/>
              </a:spcBef>
              <a:buSzPct val="100000"/>
              <a:buChar char="•"/>
            </a:pPr>
            <a:r>
              <a:rPr lang="en-US" sz="8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Arsip PM2,5 BMKG terhenti 23 Okt</a:t>
            </a: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sehingga 27 Okt tidak punya pembanding sebelum dan sesudah sortie.</a:t>
            </a:r>
            <a:endParaRPr lang="en-US" sz="800" dirty="0"/>
          </a:p>
          <a:p>
            <a:pPr marL="114300" indent="-114300">
              <a:spcBef>
                <a:spcPts val="400"/>
              </a:spcBef>
              <a:buSzPct val="100000"/>
              <a:buChar char="•"/>
            </a:pPr>
            <a:r>
              <a:rPr lang="en-US" sz="8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Sumber hujan adalah radar dan laporan harian</a:t>
            </a:r>
            <a:r>
              <a:rPr lang="en-US" sz="80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; tidak ada alat ukur di titik sasaran, dan intensitas mengikuti sumber.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020"/>
            <a:ext cx="54864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1A1A1A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Roboto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Roboto"/>
        <a:font script="Hebr" typeface="Roboto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Roboto"/>
        <a:font script="Uigh" typeface="Microsoft Uighur"/>
        <a:font script="Geor" typeface="Sylfaen"/>
        <a:font script="Armn" typeface="Roboto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OMC Karhutla 16–27 Oktober 2026</dc:title>
  <dc:subject>gaya:kajian</dc:subject>
  <dc:creator>PptxGenJS</dc:creator>
  <cp:lastModifiedBy>PptxGenJS</cp:lastModifiedBy>
  <cp:revision>1</cp:revision>
  <dcterms:created xsi:type="dcterms:W3CDTF">2026-10-28T03:09:48Z</dcterms:created>
  <dcterms:modified xsi:type="dcterms:W3CDTF">2026-10-28T03:09:48Z</dcterms:modified>
</cp:coreProperties>
</file>