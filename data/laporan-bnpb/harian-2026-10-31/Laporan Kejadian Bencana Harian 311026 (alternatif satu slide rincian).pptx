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Teks lengkap PVMBG, Sabtu, 31 Oktober 2026 pukul 07.00 WIB.</a:t>
            </a:r>
          </a:p>
          <a:p>
            <a:r>
              <a:rPr lang="id-ID" dirty="0"/>
              <a:t>Awas 0, Siaga 3, Waspada 24, Normal 42.</a:t>
            </a:r>
          </a:p>
          <a:p>
            <a:endParaRPr lang="id-ID"/>
          </a:p>
          <a:p>
            <a:r>
              <a:rPr lang="id-ID" dirty="0"/>
              <a:t>Gn. Anak Krakatau (Siaga)</a:t>
            </a:r>
          </a:p>
          <a:p>
            <a:r>
              <a:rPr lang="id-ID" dirty="0"/>
              <a:t>Visual:</a:t>
            </a:r>
          </a:p>
          <a:p>
            <a:r>
              <a:rPr lang="id-ID" dirty="0"/>
              <a:t>- Gunung api terlihat jelas hingga tertutup Kabut 0-III. Teramati asap kawah utama berwarna putih dan kelabu dengan intensitas tipis, sedang hingga tebal tinggi sekitar 50-500 meter dari puncak.</a:t>
            </a:r>
          </a:p>
          <a:p>
            <a:r>
              <a:rPr lang="id-ID" dirty="0"/>
              <a:t>- Cuaca berawan hingga mendung, angin lemah hingga sedang ke arah utara, timur laut dan barat laut. Suhu udara sekitar 25.5-32.2°C. Kelembaban 71-87</a:t>
            </a:r>
          </a:p>
          <a:p>
            <a:r>
              <a:rPr lang="id-ID" dirty="0"/>
              <a:t>Kegempaan:</a:t>
            </a:r>
          </a:p>
          <a:p>
            <a:r>
              <a:rPr lang="id-ID" dirty="0"/>
              <a:t>- 1 kali gempa Letusan/Erupsi dengan amplitudo 50 mm, dan lama gempa 19 detik .</a:t>
            </a:r>
          </a:p>
          <a:p>
            <a:r>
              <a:rPr lang="id-ID" dirty="0"/>
              <a:t>- 33 kali gempa Hembusan dengan amplitudo 8-45 mm, dan lama gempa 18-57 detik .</a:t>
            </a:r>
          </a:p>
          <a:p>
            <a:r>
              <a:rPr lang="id-ID" dirty="0"/>
              <a:t>- 28 kali gempa Low Frequency dengan amplitudo 8-51 mm, dan lama gempa 6-21 detik</a:t>
            </a:r>
          </a:p>
          <a:p>
            <a:r>
              <a:rPr lang="id-ID" dirty="0"/>
              <a:t>- 78 kali gempa Hybrid/Fase Banyak dengan amplitudo 8-56 mm, S-P 1.4-3.1 detik dan lama gempa 3-23 detik</a:t>
            </a:r>
          </a:p>
          <a:p>
            <a:r>
              <a:rPr lang="id-ID" dirty="0"/>
              <a:t>- 8 kali gempa Vulkanik Dangkal dengan amplitudo 8-52 mm, dan lama gempa 3-20 detik</a:t>
            </a:r>
          </a:p>
          <a:p>
            <a:r>
              <a:rPr lang="id-ID" dirty="0"/>
              <a:t>- 2 kali gempa Vulkanik Dalam dengan amplitudo 50-51 mm, S-P 1.5-1.6 detik dan lama gempa 9-13 detik</a:t>
            </a:r>
          </a:p>
          <a:p>
            <a:r>
              <a:rPr lang="id-ID" dirty="0"/>
              <a:t>- 4 kali gempa Tremor Menerus dengan amplitudo 1-25 mm, dominan 5 mm</a:t>
            </a:r>
          </a:p>
          <a:p>
            <a:r>
              <a:rPr lang="id-ID" dirty="0"/>
              <a:t>Rekomendasi:</a:t>
            </a:r>
          </a:p>
          <a:p>
            <a:r>
              <a:rPr lang="id-ID" dirty="0"/>
              <a:t>- Masyarakat di sekitar Gunung Api Anak Krakatau dan pengunjung/wisatawan/pendaki tidak diperbolehkan memasuki dan melakukan kegiatan di dalam wilayah radius 5 km dari pusat erupsi Anak Krakatau.</a:t>
            </a:r>
          </a:p>
          <a:p>
            <a:r>
              <a:rPr lang="id-ID" dirty="0"/>
              <a:t>- Masyarakat di sekitar Gunung Api Anak Krakatau dan pengunjung/wisatawan tidak diperbolehkan memasuki dan melakukan kegiatan di dalam wilayah radius 1 km dari pulau baru di sektor barat laut dan tenggara Gunung Api Anak Krakatau.</a:t>
            </a:r>
          </a:p>
          <a:p>
            <a:r>
              <a:rPr lang="id-ID" dirty="0"/>
              <a:t>- Meningkatkan kewaspadaan terhadap ancaman bahaya lontaran batu pijar, hujan abu lebat, aliran lava, dan potensi erupsi sekunder yang ditimbulkan oleh kontak panas lava, baik dengan air laut maupun air hujan dalam radius 5 km dari pusat erupsi Anak Krakatau.</a:t>
            </a:r>
          </a:p>
          <a:p>
            <a:r>
              <a:rPr lang="id-ID" dirty="0"/>
              <a:t>- Masyarakat di wilayah pantai Provinsi Banten dan Lampung harap tenang dan jangan mempercayai isu-isu tentang erupsi Gunungapi Anak Krakatau yang akan menyebabkan tsunami, serta dapat melakukan kegiatan seperti biasa dengan senantiasa mengikuti arahan BPBD setempat.</a:t>
            </a:r>
          </a:p>
          <a:p>
            <a:r>
              <a:rPr lang="id-ID" dirty="0"/>
              <a:t>- Untuk mengetahui informasi dapat menghubungi Pusat Vulkanologi dan Mitigasi Bencana Geologi, Badan Geologi (022) 7272606 di Bandung (Provinsi Jawa Barat) atau Pos Pengamatan Gunungapi Krakatau (0254) 651449 atau 085846324506 di Pasauran (Provinsi Banten).</a:t>
            </a:r>
          </a:p>
          <a:p>
            <a:endParaRPr lang="id-ID"/>
          </a:p>
          <a:p>
            <a:r>
              <a:rPr lang="id-ID" dirty="0"/>
              <a:t>Gn. Merapi (Siaga)</a:t>
            </a:r>
          </a:p>
          <a:p>
            <a:r>
              <a:rPr lang="id-ID" dirty="0"/>
              <a:t>Visual:</a:t>
            </a:r>
          </a:p>
          <a:p>
            <a:r>
              <a:rPr lang="id-ID" dirty="0"/>
              <a:t>- Gunung api tertutup Kabut 0-II hingga tertutup Kabut 0-III. Asap kawah nihil. Cuaca berawan hingga mendung, angin tenang ke arah barat</a:t>
            </a:r>
          </a:p>
          <a:p>
            <a:r>
              <a:rPr lang="id-ID" dirty="0"/>
              <a:t>- Teramati 1 kali guguran lava ke arah Kali Krasak dengan jarak luncur maksimum 2000 meter</a:t>
            </a:r>
          </a:p>
          <a:p>
            <a:r>
              <a:rPr lang="id-ID" dirty="0"/>
              <a:t>- Suhu udara sekitar 18-26°C. Kelembaban 79-100%. Tekanan udara 876.3-921 mmHg. Intensitas curah hujan 6 mm per hari</a:t>
            </a:r>
          </a:p>
          <a:p>
            <a:r>
              <a:rPr lang="id-ID" dirty="0"/>
              <a:t>Kegempaan:</a:t>
            </a:r>
          </a:p>
          <a:p>
            <a:r>
              <a:rPr lang="id-ID" dirty="0"/>
              <a:t>- 84 kali gempa Guguran dengan amplitudo 42 mm dan lama gempa 30.2-204.36 detik .</a:t>
            </a:r>
          </a:p>
          <a:p>
            <a:r>
              <a:rPr lang="id-ID" dirty="0"/>
              <a:t>- 2 kali Tremor Non-Harmonik dengan amplitudo 32-41 mm, dan lama gempa 45.74-53.04 detik.</a:t>
            </a:r>
          </a:p>
          <a:p>
            <a:r>
              <a:rPr lang="id-ID" dirty="0"/>
              <a:t>- 56 kali gempa Hybrid/Fase Banyak dengan amplitudo 2-41 mm, S-P 0.5-0.7 detik dan lama gempa 12.89-55.83 detik</a:t>
            </a:r>
          </a:p>
          <a:p>
            <a:r>
              <a:rPr lang="id-ID" dirty="0"/>
              <a:t>- 3 kali gempa Vulkanik Dangkal dengan amplitudo 3-33 mm, dan lama gempa 14.64-24.39 detik</a:t>
            </a:r>
          </a:p>
          <a:p>
            <a:r>
              <a:rPr lang="id-ID" dirty="0"/>
              <a:t>- 1 kali gempa Tektonik Jauh dengan amplitudo 16 mm, S-P tidak teramati dan lama gempa 75.68 detik</a:t>
            </a:r>
          </a:p>
          <a:p>
            <a:r>
              <a:rPr lang="id-ID" dirty="0"/>
              <a:t>Rekomendasi:</a:t>
            </a:r>
          </a:p>
          <a:p>
            <a:r>
              <a:rPr lang="id-ID" dirty="0"/>
              <a:t>- Potensi bahaya saat ini berupa guguran lava dan awanpanas pada sektor selatan-barat daya meliputi Sungai Boyong sejauh maksimal 5 km, Sungai Bedog, Krasak, Bebeng sejauh maksimal 7 km. Pada sektor tenggara meliputi Sungai Woro sejauh maksimal 3 km dan Sungai Gendol 5 km. Sedangkan lontaran material vulkanik bila terjadi letusan eksplosif dapat menjangkau radius 3 km dari puncak.</a:t>
            </a:r>
          </a:p>
          <a:p>
            <a:endParaRPr lang="id-ID"/>
          </a:p>
          <a:p>
            <a:r>
              <a:rPr lang="id-ID" dirty="0"/>
              <a:t>Gn. Semeru (Siaga)</a:t>
            </a:r>
          </a:p>
          <a:p>
            <a:r>
              <a:rPr lang="id-ID" dirty="0"/>
              <a:t>Visual:</a:t>
            </a:r>
          </a:p>
          <a:p>
            <a:r>
              <a:rPr lang="id-ID" dirty="0"/>
              <a:t>- Gunung api tertutup Kabut 0-II hingga tertutup Kabut 0-III. Asap kawah tidak teramati. Cuaca cerah hingga hujan, angin lemah ke arah utara, barat daya dan barat</a:t>
            </a:r>
          </a:p>
          <a:p>
            <a:r>
              <a:rPr lang="id-ID" dirty="0"/>
              <a:t>- Suhu udara sekitar 20-26°C. Intensitas curah hujan 32 mm per hari</a:t>
            </a:r>
          </a:p>
          <a:p>
            <a:r>
              <a:rPr lang="id-ID" dirty="0"/>
              <a:t>Kegempaan:</a:t>
            </a:r>
          </a:p>
          <a:p>
            <a:r>
              <a:rPr lang="id-ID" dirty="0"/>
              <a:t>- 88 kali gempa Letusan/Erupsi dengan amplitudo 10-25 mm, dan lama gempa 59-172 detik .</a:t>
            </a:r>
          </a:p>
          <a:p>
            <a:r>
              <a:rPr lang="id-ID" dirty="0"/>
              <a:t>- 8 kali gempa Guguran dengan amplitudo 2-6 mm dan lama gempa 38-65 detik .</a:t>
            </a:r>
          </a:p>
          <a:p>
            <a:r>
              <a:rPr lang="id-ID" dirty="0"/>
              <a:t>- 10 kali gempa Hembusan dengan amplitudo 2-8 mm, dan lama gempa 30-66 detik .</a:t>
            </a:r>
          </a:p>
          <a:p>
            <a:r>
              <a:rPr lang="id-ID" dirty="0"/>
              <a:t>- 2 kali Harmonik dengan amplitudo 9-26 mm, dan lama gempa 257-317 detik</a:t>
            </a:r>
          </a:p>
          <a:p>
            <a:r>
              <a:rPr lang="id-ID" dirty="0"/>
              <a:t>- 4 kali gempa Tektonik Jauh dengan amplitudo 7-25 mm, S-P 16-57 detik dan lama gempa 58-96 detik</a:t>
            </a:r>
          </a:p>
          <a:p>
            <a:r>
              <a:rPr lang="id-ID" dirty="0"/>
              <a:t>- 1 kali gempa Getaran Banjir dengan amplitudo 50 mm, dan lama gempa 13524 detik</a:t>
            </a:r>
          </a:p>
          <a:p>
            <a:r>
              <a:rPr lang="id-ID" dirty="0"/>
              <a:t>Rekomendasi:</a:t>
            </a:r>
          </a:p>
          <a:p>
            <a:r>
              <a:rPr lang="id-ID" dirty="0"/>
              <a:t>- Tidak melakukan aktivitas apapun di sektor tenggara di sepanjang Besuk Kobokan, sejauh 13 km dari puncak (pusat erupsi). Di luar jarak tersebut, masyarakat tidak melakukan aktivitas pada jarak 500 meter dari tepi sungai (sempadan sungai) di sepanjang Besuk Kobokan karena berpotensi terlanda perluasan awan panas dan aliran lahar hingga jarak 17 km dari puncak.</a:t>
            </a:r>
          </a:p>
          <a:p>
            <a:r>
              <a:rPr lang="id-ID" dirty="0"/>
              <a:t>- Tidak beraktivitas dalam radius 5 Km dari kawah/puncak Gunung Api Semeru karena rawan terhadap bahaya lontaran batu (pijar).</a:t>
            </a:r>
          </a:p>
          <a:p>
            <a:r>
              <a:rPr lang="id-ID" dirty="0"/>
              <a:t>- Mewaspadai potensi awan panas, guguran lava, dan lahar di sepanjang aliran sungai/lembah yang berhulu di puncak Gunung Api Semeru, terutama sepanjang Besuk Kobokan, Besuk Bang, Besuk Kembar, dan Besuk Sat serta potensi lahar pada sungai-sungai kecil yang merupakan anak sungai dari Besuk Kobokan.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TIH">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LAP">
    <p:bg>
      <p:bgPr>
        <a:solidFill>
          <a:srgbClr val="051C2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image" Target="../media/image-2-1.png"/><Relationship Id="rId33" Type="http://schemas.openxmlformats.org/officeDocument/2006/relationships/slideLayout" Target="../slideLayouts/slideLayout2.xml"/><Relationship Id="rId34" Type="http://schemas.openxmlformats.org/officeDocument/2006/relationships/notesSlide" Target="../notesSlides/notesSlide2.xml"/><Relationship Id="rIdM1" Type="http://schemas.openxmlformats.org/officeDocument/2006/relationships/image" Target="../media/h-tpl\ppt\media\image-2-2.png"/><Relationship Id="rIdM2" Type="http://schemas.openxmlformats.org/officeDocument/2006/relationships/image" Target="../media/h-tpl\ppt\media\image-2-3.png"/><Relationship Id="rIdM3" Type="http://schemas.openxmlformats.org/officeDocument/2006/relationships/image" Target="../media/h-tpl\ppt\media\image-2-4.png"/><Relationship Id="rIdM4" Type="http://schemas.openxmlformats.org/officeDocument/2006/relationships/image" Target="../media/h-tpl\ppt\media\image-2-5.png"/><Relationship Id="rIdM5" Type="http://schemas.openxmlformats.org/officeDocument/2006/relationships/image" Target="../media/h-tpl\ppt\media\image-2-6.png"/><Relationship Id="rIdM6" Type="http://schemas.openxmlformats.org/officeDocument/2006/relationships/image" Target="../media/h-tpl\ppt\media\image-2-7.png"/><Relationship Id="rIdM7" Type="http://schemas.openxmlformats.org/officeDocument/2006/relationships/image" Target="../media/h-ik\awas-slate.png"/><Relationship Id="rIdM8" Type="http://schemas.openxmlformats.org/officeDocument/2006/relationships/image" Target="../media/h-ik\awas-merah.png"/><Relationship Id="rIdM9" Type="http://schemas.openxmlformats.org/officeDocument/2006/relationships/image" Target="../media/h-peta.png"/><Relationship Id="rIdM10" Type="http://schemas.openxmlformats.org/officeDocument/2006/relationships/image" Target="../media/h-tpl\ppt\media\image-2-10.png"/><Relationship Id="rIdM11" Type="http://schemas.openxmlformats.org/officeDocument/2006/relationships/image" Target="../media/h-tpl\ppt\media\image-2-11.png"/><Relationship Id="rIdM12" Type="http://schemas.openxmlformats.org/officeDocument/2006/relationships/image" Target="../media/h-tpl\ppt\media\image-2-12.png"/><Relationship Id="rIdM13" Type="http://schemas.openxmlformats.org/officeDocument/2006/relationships/image" Target="../media/h-tpl\ppt\media\image-2-13.png"/><Relationship Id="rIdM14" Type="http://schemas.openxmlformats.org/officeDocument/2006/relationships/image" Target="../media/h-ik\banjir-putih.png"/><Relationship Id="rIdM15" Type="http://schemas.openxmlformats.org/officeDocument/2006/relationships/image" Target="../media/h-ik\orang-slate.png"/><Relationship Id="rIdM16" Type="http://schemas.openxmlformats.org/officeDocument/2006/relationships/image" Target="../media/h-ik\angin-putih.png"/><Relationship Id="rIdM17" Type="http://schemas.openxmlformats.org/officeDocument/2006/relationships/image" Target="../media/h-ik\gempa-putih.png"/><Relationship Id="rIdM18" Type="http://schemas.openxmlformats.org/officeDocument/2006/relationships/image" Target="../media/h-tpl\ppt\media\image-2-30.png"/><Relationship Id="rIdM19" Type="http://schemas.openxmlformats.org/officeDocument/2006/relationships/image" Target="../media/h-tpl\ppt\media\image-2-31.png"/></Relationships>
</file>

<file path=ppt/slides/_rels/slide3.xml.rels><?xml version="1.0" encoding="UTF-8" standalone="yes"?><Relationships xmlns="http://schemas.openxmlformats.org/package/2006/relationships"><Relationship Id="rId1" Type="http://schemas.openxmlformats.org/officeDocument/2006/relationships/image" Target="../media/image-3-1.png"/><Relationship Id="rId45" Type="http://schemas.openxmlformats.org/officeDocument/2006/relationships/slideLayout" Target="../slideLayouts/slideLayout2.xml"/><Relationship Id="rId46" Type="http://schemas.openxmlformats.org/officeDocument/2006/relationships/notesSlide" Target="../notesSlides/notesSlide3.xml"/><Relationship Id="rIdM1" Type="http://schemas.openxmlformats.org/officeDocument/2006/relationships/image" Target="../media/h-tpl\ppt\media\image-2-12.png"/><Relationship Id="rIdM2" Type="http://schemas.openxmlformats.org/officeDocument/2006/relationships/image" Target="../media/h-tpl\ppt\media\image-2-11.png"/><Relationship Id="rIdM3" Type="http://schemas.openxmlformats.org/officeDocument/2006/relationships/image" Target="../media/h-tpl\ppt\media\image-3-4.png"/><Relationship Id="rIdM4" Type="http://schemas.openxmlformats.org/officeDocument/2006/relationships/image" Target="../media/h-tpl\ppt\media\image-2-13.png"/><Relationship Id="rIdM5" Type="http://schemas.openxmlformats.org/officeDocument/2006/relationships/image" Target="../media/h-tpl\ppt\media\image-2-10.png"/><Relationship Id="rIdM6" Type="http://schemas.openxmlformats.org/officeDocument/2006/relationships/image" Target="../media/h-ik\gempa-putih.png"/><Relationship Id="rIdM7" Type="http://schemas.openxmlformats.org/officeDocument/2006/relationships/image" Target="../media/h-ik\gempa-slate.png"/><Relationship Id="rIdM8" Type="http://schemas.openxmlformats.org/officeDocument/2006/relationships/image" Target="../media/h-ik\awas-oranye.png"/><Relationship Id="rIdM9" Type="http://schemas.openxmlformats.org/officeDocument/2006/relationships/image" Target="../media/h-ik\tenda-slate.png"/><Relationship Id="rIdM10" Type="http://schemas.openxmlformats.org/officeDocument/2006/relationships/image" Target="../media/h-ik\orang-slate.png"/><Relationship Id="rIdM11" Type="http://schemas.openxmlformats.org/officeDocument/2006/relationships/image" Target="../media/h-ik\banjir-putih.png"/><Relationship Id="rIdM12" Type="http://schemas.openxmlformats.org/officeDocument/2006/relationships/image" Target="../media/h-ik\banjir-navy.png"/><Relationship Id="rIdM13" Type="http://schemas.openxmlformats.org/officeDocument/2006/relationships/image" Target="../media/h-ik\rumah-slate.png"/><Relationship Id="rIdM14" Type="http://schemas.openxmlformats.org/officeDocument/2006/relationships/image" Target="../media/h-ik\kalender-navy.png"/><Relationship Id="rIdM15" Type="http://schemas.openxmlformats.org/officeDocument/2006/relationships/image" Target="../media/h-ik\angin-putih.png"/><Relationship Id="rIdM16" Type="http://schemas.openxmlformats.org/officeDocument/2006/relationships/image" Target="../media/h-ik\angin-slate.png"/><Relationship Id="rIdM17" Type="http://schemas.openxmlformats.org/officeDocument/2006/relationships/image" Target="../media/h-ik\awas-putih.png"/><Relationship Id="rIdM18" Type="http://schemas.openxmlformats.org/officeDocument/2006/relationships/image" Target="../media/h-ik\gunung-putih.png"/><Relationship Id="rIdM19" Type="http://schemas.openxmlformats.org/officeDocument/2006/relationships/image" Target="../media/h-ik\awas-merah.png"/><Relationship Id="rIdM20" Type="http://schemas.openxmlformats.org/officeDocument/2006/relationships/image" Target="../media/h-ik\gunung-oranye.png"/><Relationship Id="rIdM21" Type="http://schemas.openxmlformats.org/officeDocument/2006/relationships/image" Target="../media/h-ik\mata-kering.png"/><Relationship Id="rIdM22" Type="http://schemas.openxmlformats.org/officeDocument/2006/relationships/image" Target="../media/h-ik\cek-slate.png"/><Relationship Id="rIdM23" Type="http://schemas.openxmlformats.org/officeDocument/2006/relationships/image" Target="../media/h-ik\radius-oranye.png"/><Relationship Id="rIdM24" Type="http://schemas.openxmlformats.org/officeDocument/2006/relationships/image" Target="../media/h-ik\arah-oranye.png"/></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309360" y="0"/>
            <a:ext cx="5882335" cy="6858000"/>
          </a:xfrm>
          <a:prstGeom prst="rect">
            <a:avLst/>
          </a:prstGeom>
        </p:spPr>
      </p:pic>
      <p:sp>
        <p:nvSpPr>
          <p:cNvPr id="3" name="Shape 0"/>
          <p:cNvSpPr/>
          <p:nvPr/>
        </p:nvSpPr>
        <p:spPr>
          <a:xfrm>
            <a:off x="548640" y="457200"/>
            <a:ext cx="1005840" cy="1005840"/>
          </a:xfrm>
          <a:prstGeom prst="ellipse">
            <a:avLst/>
          </a:prstGeom>
          <a:solidFill>
            <a:srgbClr val="FFFFFF"/>
          </a:solidFill>
          <a:ln/>
          <a:effectLst>
            <a:outerShdw sx="100000" sy="100000" kx="0" ky="0" algn="bl" rotWithShape="0" blurRad="101600" dist="25400" dir="5400000">
              <a:srgbClr val="000000">
                <a:alpha val="25000"/>
              </a:srgbClr>
            </a:outerShdw>
          </a:effectLst>
        </p:spPr>
      </p:sp>
      <p:pic>
        <p:nvPicPr>
          <p:cNvPr id="4" name="Image 1" descr="preencoded.png">    </p:cNvPr>
          <p:cNvPicPr>
            <a:picLocks noChangeAspect="1"/>
          </p:cNvPicPr>
          <p:nvPr/>
        </p:nvPicPr>
        <p:blipFill>
          <a:blip r:embed="rId2"/>
          <a:stretch>
            <a:fillRect/>
          </a:stretch>
        </p:blipFill>
        <p:spPr>
          <a:xfrm>
            <a:off x="780143" y="618134"/>
            <a:ext cx="542834" cy="683971"/>
          </a:xfrm>
          <a:prstGeom prst="rect">
            <a:avLst/>
          </a:prstGeom>
        </p:spPr>
      </p:pic>
      <p:sp>
        <p:nvSpPr>
          <p:cNvPr id="5" name="Shape 1"/>
          <p:cNvSpPr/>
          <p:nvPr/>
        </p:nvSpPr>
        <p:spPr>
          <a:xfrm>
            <a:off x="9128455" y="457200"/>
            <a:ext cx="2514600" cy="868680"/>
          </a:xfrm>
          <a:prstGeom prst="roundRect">
            <a:avLst>
              <a:gd name="adj" fmla="val 12632"/>
            </a:avLst>
          </a:prstGeom>
          <a:solidFill>
            <a:srgbClr val="FFFFFF"/>
          </a:solidFill>
          <a:ln/>
          <a:effectLst>
            <a:outerShdw sx="100000" sy="100000" kx="0" ky="0" algn="bl" rotWithShape="0" blurRad="76200" dist="12700" dir="5400000">
              <a:srgbClr val="000000">
                <a:alpha val="20000"/>
              </a:srgbClr>
            </a:outerShdw>
          </a:effectLst>
        </p:spPr>
      </p:sp>
      <p:pic>
        <p:nvPicPr>
          <p:cNvPr id="6" name="Image 2" descr="img/berakhlak.png">    </p:cNvPr>
          <p:cNvPicPr>
            <a:picLocks noChangeAspect="1"/>
          </p:cNvPicPr>
          <p:nvPr/>
        </p:nvPicPr>
        <p:blipFill>
          <a:blip r:embed="rId3"/>
          <a:stretch>
            <a:fillRect/>
          </a:stretch>
        </p:blipFill>
        <p:spPr>
          <a:xfrm>
            <a:off x="9265615" y="530352"/>
            <a:ext cx="2240280" cy="852561"/>
          </a:xfrm>
          <a:prstGeom prst="rect">
            <a:avLst/>
          </a:prstGeom>
        </p:spPr>
      </p:pic>
      <p:sp>
        <p:nvSpPr>
          <p:cNvPr id="7" name="Text 2"/>
          <p:cNvSpPr txBox="1"/>
          <p:nvPr/>
        </p:nvSpPr>
        <p:spPr>
          <a:xfrm>
            <a:off x="548640" y="1783080"/>
            <a:ext cx="5669280" cy="1188720"/>
          </a:xfrm>
          <a:prstGeom prst="rect">
            <a:avLst/>
          </a:prstGeom>
          <a:noFill/>
          <a:ln/>
        </p:spPr>
        <p:txBody>
          <a:bodyPr wrap="square" lIns="0" tIns="0" rIns="0" bIns="0" rtlCol="0" anchor="t"/>
          <a:lstStyle/>
          <a:p>
            <a:pPr indent="0" marL="0">
              <a:lnSpc>
                <a:spcPct val="95000"/>
              </a:lnSpc>
              <a:buNone/>
            </a:pPr>
            <a:r>
              <a:rPr lang="en-US" sz="3400" b="1" dirty="0">
                <a:solidFill>
                  <a:srgbClr val="1A1A1A"/>
                </a:solidFill>
                <a:latin typeface="Roboto" pitchFamily="34" charset="0"/>
                <a:ea typeface="Roboto" pitchFamily="34" charset="-122"/>
                <a:cs typeface="Roboto" pitchFamily="34" charset="-120"/>
              </a:rPr>
              <a:t>Laporan Kejadian Bencana Harian</a:t>
            </a:r>
            <a:endParaRPr lang="en-US" sz="3400" dirty="0"/>
          </a:p>
        </p:txBody>
      </p:sp>
      <p:sp>
        <p:nvSpPr>
          <p:cNvPr id="8" name="Text 3"/>
          <p:cNvSpPr txBox="1"/>
          <p:nvPr/>
        </p:nvSpPr>
        <p:spPr>
          <a:xfrm>
            <a:off x="548640" y="3017520"/>
            <a:ext cx="5669280" cy="329184"/>
          </a:xfrm>
          <a:prstGeom prst="rect">
            <a:avLst/>
          </a:prstGeom>
          <a:noFill/>
          <a:ln/>
        </p:spPr>
        <p:txBody>
          <a:bodyPr wrap="square" lIns="0" tIns="0" rIns="0" bIns="0" rtlCol="0" anchor="t"/>
          <a:lstStyle/>
          <a:p>
            <a:pPr indent="0" marL="0">
              <a:buNone/>
            </a:pPr>
            <a:r>
              <a:rPr lang="en-US" sz="1600" b="1" dirty="0">
                <a:solidFill>
                  <a:srgbClr val="00499D"/>
                </a:solidFill>
                <a:latin typeface="Roboto" pitchFamily="34" charset="0"/>
                <a:ea typeface="Roboto" pitchFamily="34" charset="-122"/>
                <a:cs typeface="Roboto" pitchFamily="34" charset="-120"/>
              </a:rPr>
              <a:t>Badan Nasional Penanggulangan Bencana</a:t>
            </a:r>
            <a:endParaRPr lang="en-US" sz="1600" dirty="0"/>
          </a:p>
        </p:txBody>
      </p:sp>
      <p:sp>
        <p:nvSpPr>
          <p:cNvPr id="9" name="Shape 4"/>
          <p:cNvSpPr/>
          <p:nvPr/>
        </p:nvSpPr>
        <p:spPr>
          <a:xfrm>
            <a:off x="548640" y="3493008"/>
            <a:ext cx="4206240" cy="384048"/>
          </a:xfrm>
          <a:prstGeom prst="roundRect">
            <a:avLst>
              <a:gd name="adj" fmla="val 50000"/>
            </a:avLst>
          </a:prstGeom>
          <a:solidFill>
            <a:srgbClr val="FBE7D6"/>
          </a:solidFill>
          <a:ln/>
        </p:spPr>
      </p:sp>
      <p:sp>
        <p:nvSpPr>
          <p:cNvPr id="10" name="Shape 5"/>
          <p:cNvSpPr/>
          <p:nvPr/>
        </p:nvSpPr>
        <p:spPr>
          <a:xfrm>
            <a:off x="612648" y="3547872"/>
            <a:ext cx="274320" cy="274320"/>
          </a:xfrm>
          <a:prstGeom prst="ellipse">
            <a:avLst/>
          </a:prstGeom>
          <a:solidFill>
            <a:srgbClr val="D9600B"/>
          </a:solidFill>
          <a:ln/>
        </p:spPr>
      </p:sp>
      <p:pic>
        <p:nvPicPr>
          <p:cNvPr id="11" name="Image 3" descr="preencoded.png">    </p:cNvPr>
          <p:cNvPicPr>
            <a:picLocks noChangeAspect="1"/>
          </p:cNvPicPr>
          <p:nvPr/>
        </p:nvPicPr>
        <p:blipFill>
          <a:blip r:embed="rId4"/>
          <a:stretch>
            <a:fillRect/>
          </a:stretch>
        </p:blipFill>
        <p:spPr>
          <a:xfrm>
            <a:off x="672084" y="3607308"/>
            <a:ext cx="155448" cy="155448"/>
          </a:xfrm>
          <a:prstGeom prst="rect">
            <a:avLst/>
          </a:prstGeom>
        </p:spPr>
      </p:pic>
      <p:sp>
        <p:nvSpPr>
          <p:cNvPr id="12" name="Text 6"/>
          <p:cNvSpPr txBox="1"/>
          <p:nvPr/>
        </p:nvSpPr>
        <p:spPr>
          <a:xfrm>
            <a:off x="960120" y="3493008"/>
            <a:ext cx="3749040" cy="384048"/>
          </a:xfrm>
          <a:prstGeom prst="rect">
            <a:avLst/>
          </a:prstGeom>
          <a:noFill/>
          <a:ln/>
        </p:spPr>
        <p:txBody>
          <a:bodyPr wrap="square" lIns="0" tIns="0" rIns="0" bIns="0" rtlCol="0" anchor="ctr"/>
          <a:lstStyle/>
          <a:p>
            <a:pPr indent="0" marL="0">
              <a:buNone/>
            </a:pPr>
            <a:r>
              <a:rPr lang="en-US" sz="850" b="1" spc="100" kern="0" dirty="0">
                <a:solidFill>
                  <a:srgbClr val="D9600B"/>
                </a:solidFill>
                <a:latin typeface="Roboto" pitchFamily="34" charset="0"/>
                <a:ea typeface="Roboto" pitchFamily="34" charset="-122"/>
                <a:cs typeface="Roboto" pitchFamily="34" charset="-120"/>
              </a:rPr>
              <a:t>PERIODE   </a:t>
            </a:r>
            <a:pPr indent="0" marL="0">
              <a:buNone/>
            </a:pPr>
            <a:r>
              <a:rPr lang="en-US" sz="1050" b="1" dirty="0">
                <a:solidFill>
                  <a:srgbClr val="1A1A1A"/>
                </a:solidFill>
                <a:latin typeface="Roboto" pitchFamily="34" charset="0"/>
                <a:ea typeface="Roboto" pitchFamily="34" charset="-122"/>
                <a:cs typeface="Roboto" pitchFamily="34" charset="-120"/>
              </a:rPr>
              <a:t>30 Okt 2026, 07.00  –  31 Okt 2026, 07.00 WIB</a:t>
            </a:r>
            <a:endParaRPr lang="en-US" sz="1200" dirty="0"/>
          </a:p>
        </p:txBody>
      </p:sp>
      <p:sp>
        <p:nvSpPr>
          <p:cNvPr id="13" name="Shape 7"/>
          <p:cNvSpPr/>
          <p:nvPr/>
        </p:nvSpPr>
        <p:spPr>
          <a:xfrm>
            <a:off x="548640" y="4206240"/>
            <a:ext cx="5120640" cy="0"/>
          </a:xfrm>
          <a:prstGeom prst="line">
            <a:avLst/>
          </a:prstGeom>
          <a:noFill/>
          <a:ln w="9525">
            <a:solidFill>
              <a:srgbClr val="1A1A1A"/>
            </a:solidFill>
            <a:prstDash val="solid"/>
          </a:ln>
        </p:spPr>
      </p:sp>
      <p:sp>
        <p:nvSpPr>
          <p:cNvPr id="14" name="Text 8"/>
          <p:cNvSpPr txBox="1"/>
          <p:nvPr/>
        </p:nvSpPr>
        <p:spPr>
          <a:xfrm>
            <a:off x="548640" y="4315968"/>
            <a:ext cx="5486400" cy="201168"/>
          </a:xfrm>
          <a:prstGeom prst="rect">
            <a:avLst/>
          </a:prstGeom>
          <a:noFill/>
          <a:ln/>
        </p:spPr>
        <p:txBody>
          <a:bodyPr wrap="square" lIns="0" tIns="0" rIns="0" bIns="0" rtlCol="0" anchor="t"/>
          <a:lstStyle/>
          <a:p>
            <a:pPr indent="0" marL="0">
              <a:buNone/>
            </a:pPr>
            <a:r>
              <a:rPr lang="en-US" sz="900" b="1" spc="100" kern="0" dirty="0">
                <a:solidFill>
                  <a:srgbClr val="D9600B"/>
                </a:solidFill>
                <a:latin typeface="Roboto" pitchFamily="34" charset="0"/>
                <a:ea typeface="Roboto" pitchFamily="34" charset="-122"/>
                <a:cs typeface="Roboto" pitchFamily="34" charset="-120"/>
              </a:rPr>
              <a:t>DISAMPAIKAN OLEH</a:t>
            </a:r>
            <a:endParaRPr lang="en-US" sz="900" dirty="0"/>
          </a:p>
        </p:txBody>
      </p:sp>
      <p:sp>
        <p:nvSpPr>
          <p:cNvPr id="15" name="Text 9"/>
          <p:cNvSpPr txBox="1"/>
          <p:nvPr/>
        </p:nvSpPr>
        <p:spPr>
          <a:xfrm>
            <a:off x="548640" y="4526280"/>
            <a:ext cx="5669280" cy="320040"/>
          </a:xfrm>
          <a:prstGeom prst="rect">
            <a:avLst/>
          </a:prstGeom>
          <a:noFill/>
          <a:ln/>
        </p:spPr>
        <p:txBody>
          <a:bodyPr wrap="square" lIns="0" tIns="0" rIns="0" bIns="0" rtlCol="0" anchor="t"/>
          <a:lstStyle/>
          <a:p>
            <a:pPr indent="0" marL="0">
              <a:buNone/>
            </a:pPr>
            <a:r>
              <a:rPr lang="en-US" sz="1400" b="1" dirty="0">
                <a:solidFill>
                  <a:srgbClr val="1A1A1A"/>
                </a:solidFill>
                <a:latin typeface="Roboto" pitchFamily="34" charset="0"/>
                <a:ea typeface="Roboto" pitchFamily="34" charset="-122"/>
                <a:cs typeface="Roboto" pitchFamily="34" charset="-120"/>
              </a:rPr>
              <a:t>Letnan Jenderal TNI Kristomei Sianturi, S.Sos., M.Si., M.Si. (Han)</a:t>
            </a:r>
            <a:endParaRPr lang="en-US" sz="1400" dirty="0"/>
          </a:p>
        </p:txBody>
      </p:sp>
      <p:sp>
        <p:nvSpPr>
          <p:cNvPr id="16" name="Text 10"/>
          <p:cNvSpPr txBox="1"/>
          <p:nvPr/>
        </p:nvSpPr>
        <p:spPr>
          <a:xfrm>
            <a:off x="548640" y="4828032"/>
            <a:ext cx="5669280" cy="274320"/>
          </a:xfrm>
          <a:prstGeom prst="rect">
            <a:avLst/>
          </a:prstGeom>
          <a:noFill/>
          <a:ln/>
        </p:spPr>
        <p:txBody>
          <a:bodyPr wrap="square" lIns="0" tIns="0" rIns="0" bIns="0" rtlCol="0" anchor="t"/>
          <a:lstStyle/>
          <a:p>
            <a:pPr indent="0" marL="0">
              <a:buNone/>
            </a:pPr>
            <a:r>
              <a:rPr lang="en-US" sz="1200" dirty="0">
                <a:solidFill>
                  <a:srgbClr val="6B7280"/>
                </a:solidFill>
                <a:latin typeface="Roboto" pitchFamily="34" charset="0"/>
                <a:ea typeface="Roboto" pitchFamily="34" charset="-122"/>
                <a:cs typeface="Roboto" pitchFamily="34" charset="-120"/>
              </a:rPr>
              <a:t>Kepala Badan Nasional Penanggulangan Bencana</a:t>
            </a:r>
            <a:endParaRPr lang="en-US" sz="1200" dirty="0"/>
          </a:p>
        </p:txBody>
      </p:sp>
      <p:sp>
        <p:nvSpPr>
          <p:cNvPr id="17" name="Shape 11"/>
          <p:cNvSpPr/>
          <p:nvPr/>
        </p:nvSpPr>
        <p:spPr>
          <a:xfrm>
            <a:off x="548640" y="5303520"/>
            <a:ext cx="2926080" cy="384048"/>
          </a:xfrm>
          <a:prstGeom prst="roundRect">
            <a:avLst>
              <a:gd name="adj" fmla="val 50000"/>
            </a:avLst>
          </a:prstGeom>
          <a:solidFill>
            <a:srgbClr val="051C2C"/>
          </a:solidFill>
          <a:ln/>
        </p:spPr>
      </p:sp>
      <p:sp>
        <p:nvSpPr>
          <p:cNvPr id="18" name="Text 12"/>
          <p:cNvSpPr txBox="1"/>
          <p:nvPr/>
        </p:nvSpPr>
        <p:spPr>
          <a:xfrm>
            <a:off x="548640" y="5303520"/>
            <a:ext cx="29260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Roboto" pitchFamily="34" charset="0"/>
                <a:ea typeface="Roboto" pitchFamily="34" charset="-122"/>
                <a:cs typeface="Roboto" pitchFamily="34" charset="-120"/>
              </a:rPr>
              <a:t>Sabtu, 31 Oktober 2026</a:t>
            </a:r>
            <a:endParaRPr lang="en-US" sz="1100" dirty="0"/>
          </a:p>
        </p:txBody>
      </p:sp>
      <p:sp>
        <p:nvSpPr>
          <p:cNvPr id="19" name="Text 13"/>
          <p:cNvSpPr txBox="1"/>
          <p:nvPr/>
        </p:nvSpPr>
        <p:spPr>
          <a:xfrm>
            <a:off x="7985455" y="6565392"/>
            <a:ext cx="3931920" cy="182880"/>
          </a:xfrm>
          <a:prstGeom prst="rect">
            <a:avLst/>
          </a:prstGeom>
          <a:noFill/>
          <a:ln/>
        </p:spPr>
        <p:txBody>
          <a:bodyPr wrap="square" lIns="0" tIns="0" rIns="0" bIns="0" rtlCol="0" anchor="t"/>
          <a:lstStyle/>
          <a:p>
            <a:pPr algn="r" indent="0" marL="0">
              <a:buNone/>
            </a:pPr>
            <a:r>
              <a:rPr lang="en-US" sz="700" dirty="0">
                <a:solidFill>
                  <a:srgbClr val="FFFFFF"/>
                </a:solidFill>
                <a:latin typeface="Roboto" pitchFamily="34" charset="0"/>
                <a:ea typeface="Roboto" pitchFamily="34" charset="-122"/>
                <a:cs typeface="Roboto" pitchFamily="34" charset="-120"/>
              </a:rPr>
              <a:t>Foto: DenY Krisbiyantoro, CC BY-SA 4.0</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Shape 1"/>
          <p:cNvSpPr/>
          <p:nvPr/>
        </p:nvSpPr>
        <p:spPr>
          <a:xfrm>
            <a:off x="548640" y="1207008"/>
            <a:ext cx="11094415" cy="0"/>
          </a:xfrm>
          <a:prstGeom prst="line">
            <a:avLst/>
          </a:prstGeom>
          <a:noFill/>
          <a:ln w="9525">
            <a:solidFill>
              <a:srgbClr val="1A1A1A"/>
            </a:solidFill>
            <a:prstDash val="solid"/>
          </a:ln>
        </p:spPr>
      </p:sp>
      <p:sp>
        <p:nvSpPr>
          <p:cNvPr id="4" name="Shape 2"/>
          <p:cNvSpPr/>
          <p:nvPr/>
        </p:nvSpPr>
        <p:spPr>
          <a:xfrm>
            <a:off x="548640" y="6446520"/>
            <a:ext cx="11094415" cy="0"/>
          </a:xfrm>
          <a:prstGeom prst="line">
            <a:avLst/>
          </a:prstGeom>
          <a:noFill/>
          <a:ln w="9525">
            <a:solidFill>
              <a:srgbClr val="1A1A1A"/>
            </a:solidFill>
            <a:prstDash val="solid"/>
          </a:ln>
        </p:spPr>
      </p:sp>
      <p:pic>
        <p:nvPicPr>
          <p:cNvPr id="5" name="Image 0" descr="preencoded.png">    </p:cNvPr>
          <p:cNvPicPr>
            <a:picLocks noChangeAspect="1"/>
          </p:cNvPicPr>
          <p:nvPr/>
        </p:nvPicPr>
        <p:blipFill>
          <a:blip r:embed="rId1"/>
          <a:stretch>
            <a:fillRect/>
          </a:stretch>
        </p:blipFill>
        <p:spPr>
          <a:xfrm>
            <a:off x="11295583" y="365760"/>
            <a:ext cx="347472" cy="438912"/>
          </a:xfrm>
          <a:prstGeom prst="rect">
            <a:avLst/>
          </a:prstGeom>
        </p:spPr>
      </p:pic>
      <p:sp>
        <p:nvSpPr>
          <p:cNvPr id="6" name="Text 3"/>
          <p:cNvSpPr txBox="1"/>
          <p:nvPr/>
        </p:nvSpPr>
        <p:spPr>
          <a:xfrm>
            <a:off x="548640" y="6510528"/>
            <a:ext cx="5486400" cy="201168"/>
          </a:xfrm>
          <a:prstGeom prst="rect">
            <a:avLst/>
          </a:prstGeom>
          <a:noFill/>
          <a:ln/>
        </p:spPr>
        <p:txBody>
          <a:bodyPr wrap="square" lIns="0" tIns="0" rIns="0" bIns="0" rtlCol="0" anchor="t"/>
          <a:lstStyle/>
          <a:p>
            <a:pPr indent="0" marL="0">
              <a:buNone/>
            </a:pPr>
            <a:r>
              <a:rPr lang="en-US" sz="850" dirty="0">
                <a:solidFill>
                  <a:srgbClr val="1A1A1A"/>
                </a:solidFill>
                <a:latin typeface="Roboto" pitchFamily="34" charset="0"/>
                <a:ea typeface="Roboto" pitchFamily="34" charset="-122"/>
                <a:cs typeface="Roboto" pitchFamily="34" charset="-120"/>
              </a:rPr>
              <a:t>Badan Nasional Penanggulangan Bencana  |  Copyright 2026</a:t>
            </a:r>
            <a:endParaRPr lang="en-US" sz="850" dirty="0"/>
          </a:p>
        </p:txBody>
      </p:sp>
      <p:sp>
        <p:nvSpPr>
          <p:cNvPr id="7" name="Text 4"/>
          <p:cNvSpPr txBox="1"/>
          <p:nvPr/>
        </p:nvSpPr>
        <p:spPr>
          <a:xfrm>
            <a:off x="10728655" y="6510528"/>
            <a:ext cx="914400" cy="201168"/>
          </a:xfrm>
          <a:prstGeom prst="rect">
            <a:avLst/>
          </a:prstGeom>
          <a:noFill/>
          <a:ln/>
        </p:spPr>
        <p:txBody>
          <a:bodyPr wrap="square" lIns="0" tIns="0" rIns="0" bIns="0" rtlCol="0" anchor="t"/>
          <a:lstStyle/>
          <a:p>
            <a:pPr algn="r" indent="0" marL="0">
              <a:buNone/>
            </a:pPr>
            <a:r>
              <a:rPr lang="en-US" sz="850" b="1" dirty="0">
                <a:solidFill>
                  <a:srgbClr val="1A1A1A"/>
                </a:solidFill>
                <a:latin typeface="Roboto" pitchFamily="34" charset="0"/>
                <a:ea typeface="Roboto" pitchFamily="34" charset="-122"/>
                <a:cs typeface="Roboto" pitchFamily="34" charset="-120"/>
              </a:rPr>
              <a:t>2</a:t>
            </a:r>
            <a:endParaRPr lang="en-US" sz="850" dirty="0"/>
          </a:p>
        </p:txBody>
      </p:sp>
      <p:sp>
        <p:nvSpPr>
          <p:cNvPr id="579" name="T"/>
          <p:cNvSpPr txBox="1"/>
          <p:nvPr/>
        </p:nvSpPr>
        <p:spPr>
          <a:xfrm>
            <a:off x="548640" y="292608"/>
            <a:ext cx="10454335" cy="822960"/>
          </a:xfrm>
          <a:prstGeom prst="rect">
            <a:avLst/>
          </a:prstGeom>
          <a:noFill/>
        </p:spPr>
        <p:txBody>
          <a:bodyPr wrap="square" lIns="0" tIns="0" rIns="0" bIns="0" anchor="b"/>
          <a:lstStyle/>
          <a:p>
            <a:pPr algn="l">
              <a:buNone/>
            </a:pPr>
            <a:r>
              <a:rPr lang="id-ID" sz="2000" b="1" dirty="0">
                <a:solidFill>
                  <a:srgbClr val="1A1A1A"/>
                </a:solidFill>
                <a:latin typeface="Roboto"/>
                <a:ea typeface="Roboto"/>
                <a:cs typeface="Roboto"/>
              </a:rPr>
              <a:t>Laporan 30–31 Oktober 2026: </a:t>
            </a:r>
            <a:r>
              <a:rPr lang="id-ID" sz="2000" b="1" dirty="0">
                <a:solidFill>
                  <a:srgbClr val="D9600B"/>
                </a:solidFill>
                <a:latin typeface="Roboto"/>
                <a:ea typeface="Roboto"/>
                <a:cs typeface="Roboto"/>
              </a:rPr>
              <a:t>25</a:t>
            </a:r>
            <a:r>
              <a:rPr lang="id-ID" sz="2000" b="1" dirty="0">
                <a:solidFill>
                  <a:srgbClr val="1A1A1A"/>
                </a:solidFill>
                <a:latin typeface="Roboto"/>
                <a:ea typeface="Roboto"/>
                <a:cs typeface="Roboto"/>
              </a:rPr>
              <a:t> kejadian menonjol di </a:t>
            </a:r>
            <a:r>
              <a:rPr lang="id-ID" sz="2000" b="1" dirty="0">
                <a:solidFill>
                  <a:srgbClr val="D9600B"/>
                </a:solidFill>
                <a:latin typeface="Roboto"/>
                <a:ea typeface="Roboto"/>
                <a:cs typeface="Roboto"/>
              </a:rPr>
              <a:t>19 provinsi</a:t>
            </a:r>
            <a:r>
              <a:rPr lang="id-ID" sz="2000" b="1" dirty="0">
                <a:solidFill>
                  <a:srgbClr val="1A1A1A"/>
                </a:solidFill>
                <a:latin typeface="Roboto"/>
                <a:ea typeface="Roboto"/>
                <a:cs typeface="Roboto"/>
              </a:rPr>
              <a:t>, terdiri atas </a:t>
            </a:r>
            <a:r>
              <a:rPr lang="id-ID" sz="2000" b="1" dirty="0">
                <a:solidFill>
                  <a:srgbClr val="D9600B"/>
                </a:solidFill>
                <a:latin typeface="Roboto"/>
                <a:ea typeface="Roboto"/>
                <a:cs typeface="Roboto"/>
              </a:rPr>
              <a:t>17</a:t>
            </a:r>
            <a:r>
              <a:rPr lang="id-ID" sz="2000" b="1" dirty="0">
                <a:solidFill>
                  <a:srgbClr val="1A1A1A"/>
                </a:solidFill>
                <a:latin typeface="Roboto"/>
                <a:ea typeface="Roboto"/>
                <a:cs typeface="Roboto"/>
              </a:rPr>
              <a:t> karhutla</a:t>
            </a:r>
            <a:r>
              <a:rPr lang="id-ID" sz="2000" b="1" dirty="0">
                <a:solidFill>
                  <a:srgbClr val="1A1A1A"/>
                </a:solidFill>
                <a:latin typeface="Roboto"/>
                <a:ea typeface="Roboto"/>
                <a:cs typeface="Roboto"/>
              </a:rPr>
              <a:t> dan </a:t>
            </a:r>
            <a:r>
              <a:rPr lang="id-ID" sz="2000" b="1" dirty="0">
                <a:solidFill>
                  <a:srgbClr val="D9600B"/>
                </a:solidFill>
                <a:latin typeface="Roboto"/>
                <a:ea typeface="Roboto"/>
                <a:cs typeface="Roboto"/>
              </a:rPr>
              <a:t>8</a:t>
            </a:r>
            <a:r>
              <a:rPr lang="id-ID" sz="2000" b="1" dirty="0">
                <a:solidFill>
                  <a:srgbClr val="1A1A1A"/>
                </a:solidFill>
                <a:latin typeface="Roboto"/>
                <a:ea typeface="Roboto"/>
                <a:cs typeface="Roboto"/>
              </a:rPr>
              <a:t> bencana lainnya</a:t>
            </a:r>
            <a:endParaRPr lang="id-ID" sz="2000"/>
          </a:p>
        </p:txBody>
      </p:sp>
      <p:sp>
        <p:nvSpPr>
          <p:cNvPr id="301" name="K"/>
          <p:cNvSpPr/>
          <p:nvPr/>
        </p:nvSpPr>
        <p:spPr>
          <a:xfrm>
            <a:off x="548640" y="1280160"/>
            <a:ext cx="8579267" cy="932688"/>
          </a:xfrm>
          <a:prstGeom prst="roundRect">
            <a:avLst>
              <a:gd name="adj" fmla="val 7843"/>
            </a:avLst>
          </a:prstGeom>
          <a:solidFill>
            <a:srgbClr val="F3F5F8"/>
          </a:solidFill>
          <a:ln>
            <a:noFill/>
          </a:ln>
        </p:spPr>
      </p:sp>
      <p:sp>
        <p:nvSpPr>
          <p:cNvPr id="302" name="K"/>
          <p:cNvSpPr/>
          <p:nvPr/>
        </p:nvSpPr>
        <p:spPr>
          <a:xfrm>
            <a:off x="658368" y="1335024"/>
            <a:ext cx="1525219" cy="182880"/>
          </a:xfrm>
          <a:prstGeom prst="roundRect">
            <a:avLst>
              <a:gd name="adj" fmla="val 50000"/>
            </a:avLst>
          </a:prstGeom>
          <a:solidFill>
            <a:srgbClr val="051C2C"/>
          </a:solidFill>
          <a:ln>
            <a:noFill/>
          </a:ln>
        </p:spPr>
      </p:sp>
      <p:pic>
        <p:nvPicPr>
          <p:cNvPr id="303" name="G"/>
          <p:cNvPicPr>
            <a:picLocks noChangeAspect="1"/>
          </p:cNvPicPr>
          <p:nvPr/>
        </p:nvPicPr>
        <p:blipFill>
          <a:blip r:embed="rIdM1"/>
          <a:stretch>
            <a:fillRect/>
          </a:stretch>
        </p:blipFill>
        <p:spPr>
          <a:xfrm>
            <a:off x="731520" y="1371600"/>
            <a:ext cx="109728" cy="109728"/>
          </a:xfrm>
          <a:prstGeom prst="rect">
            <a:avLst/>
          </a:prstGeom>
        </p:spPr>
      </p:pic>
      <p:sp>
        <p:nvSpPr>
          <p:cNvPr id="304" name="T"/>
          <p:cNvSpPr txBox="1"/>
          <p:nvPr/>
        </p:nvSpPr>
        <p:spPr>
          <a:xfrm>
            <a:off x="896112" y="1335024"/>
            <a:ext cx="1265219" cy="182880"/>
          </a:xfrm>
          <a:prstGeom prst="rect">
            <a:avLst/>
          </a:prstGeom>
          <a:noFill/>
        </p:spPr>
        <p:txBody>
          <a:bodyPr wrap="none" lIns="0" tIns="0" rIns="0" bIns="0" anchor="ctr"/>
          <a:lstStyle/>
          <a:p>
            <a:pPr algn="l">
              <a:buNone/>
            </a:pPr>
            <a:r>
              <a:rPr lang="id-ID" sz="700" b="1" spc="100" dirty="0">
                <a:solidFill>
                  <a:srgbClr val="FFFFFF"/>
                </a:solidFill>
                <a:latin typeface="Roboto"/>
                <a:ea typeface="Roboto"/>
                <a:cs typeface="Roboto"/>
              </a:rPr>
              <a:t>KEJADIAN BENCANA</a:t>
            </a:r>
            <a:endParaRPr lang="id-ID" sz="660"/>
          </a:p>
        </p:txBody>
      </p:sp>
      <p:sp>
        <p:nvSpPr>
          <p:cNvPr id="305" name="K"/>
          <p:cNvSpPr/>
          <p:nvPr/>
        </p:nvSpPr>
        <p:spPr>
          <a:xfrm>
            <a:off x="9402227" y="1280160"/>
            <a:ext cx="2240829" cy="932688"/>
          </a:xfrm>
          <a:prstGeom prst="roundRect">
            <a:avLst>
              <a:gd name="adj" fmla="val 7843"/>
            </a:avLst>
          </a:prstGeom>
          <a:solidFill>
            <a:srgbClr val="FCF1F2"/>
          </a:solidFill>
          <a:ln>
            <a:noFill/>
          </a:ln>
        </p:spPr>
      </p:sp>
      <p:sp>
        <p:nvSpPr>
          <p:cNvPr id="306" name="K"/>
          <p:cNvSpPr/>
          <p:nvPr/>
        </p:nvSpPr>
        <p:spPr>
          <a:xfrm>
            <a:off x="9511955" y="1335024"/>
            <a:ext cx="1453896" cy="182880"/>
          </a:xfrm>
          <a:prstGeom prst="roundRect">
            <a:avLst>
              <a:gd name="adj" fmla="val 50000"/>
            </a:avLst>
          </a:prstGeom>
          <a:solidFill>
            <a:srgbClr val="C8102E"/>
          </a:solidFill>
          <a:ln>
            <a:noFill/>
          </a:ln>
        </p:spPr>
      </p:sp>
      <p:pic>
        <p:nvPicPr>
          <p:cNvPr id="307" name="G"/>
          <p:cNvPicPr>
            <a:picLocks noChangeAspect="1"/>
          </p:cNvPicPr>
          <p:nvPr/>
        </p:nvPicPr>
        <p:blipFill>
          <a:blip r:embed="rIdM2"/>
          <a:stretch>
            <a:fillRect/>
          </a:stretch>
        </p:blipFill>
        <p:spPr>
          <a:xfrm>
            <a:off x="9585107" y="1371600"/>
            <a:ext cx="109728" cy="109728"/>
          </a:xfrm>
          <a:prstGeom prst="rect">
            <a:avLst/>
          </a:prstGeom>
        </p:spPr>
      </p:pic>
      <p:sp>
        <p:nvSpPr>
          <p:cNvPr id="308" name="T"/>
          <p:cNvSpPr txBox="1"/>
          <p:nvPr/>
        </p:nvSpPr>
        <p:spPr>
          <a:xfrm>
            <a:off x="9749699" y="1335024"/>
            <a:ext cx="1193896" cy="182880"/>
          </a:xfrm>
          <a:prstGeom prst="rect">
            <a:avLst/>
          </a:prstGeom>
          <a:noFill/>
        </p:spPr>
        <p:txBody>
          <a:bodyPr wrap="none" lIns="0" tIns="0" rIns="0" bIns="0" anchor="ctr"/>
          <a:lstStyle/>
          <a:p>
            <a:pPr algn="l">
              <a:buNone/>
            </a:pPr>
            <a:r>
              <a:rPr lang="id-ID" sz="700" b="1" spc="100" dirty="0">
                <a:solidFill>
                  <a:srgbClr val="FFFFFF"/>
                </a:solidFill>
                <a:latin typeface="Roboto"/>
                <a:ea typeface="Roboto"/>
                <a:cs typeface="Roboto"/>
              </a:rPr>
              <a:t>PERLU PERHATIAN</a:t>
            </a:r>
            <a:endParaRPr lang="id-ID" sz="660"/>
          </a:p>
        </p:txBody>
      </p:sp>
      <p:sp>
        <p:nvSpPr>
          <p:cNvPr id="309" name="K"/>
          <p:cNvSpPr/>
          <p:nvPr/>
        </p:nvSpPr>
        <p:spPr>
          <a:xfrm>
            <a:off x="658368" y="1591056"/>
            <a:ext cx="1598810" cy="512064"/>
          </a:xfrm>
          <a:prstGeom prst="roundRect">
            <a:avLst>
              <a:gd name="adj" fmla="val 14286"/>
            </a:avLst>
          </a:prstGeom>
          <a:solidFill>
            <a:srgbClr val="FFFFFF"/>
          </a:solidFill>
          <a:ln w="9525">
            <a:solidFill>
              <a:srgbClr val="BFC5CC"/>
            </a:solidFill>
          </a:ln>
        </p:spPr>
      </p:sp>
      <p:sp>
        <p:nvSpPr>
          <p:cNvPr id="310" name="K"/>
          <p:cNvSpPr/>
          <p:nvPr/>
        </p:nvSpPr>
        <p:spPr>
          <a:xfrm>
            <a:off x="768096" y="1682496"/>
            <a:ext cx="329184" cy="329184"/>
          </a:xfrm>
          <a:prstGeom prst="ellipse">
            <a:avLst/>
          </a:prstGeom>
          <a:solidFill>
            <a:srgbClr val="E6EAF0"/>
          </a:solidFill>
          <a:ln>
            <a:noFill/>
          </a:ln>
        </p:spPr>
      </p:sp>
      <p:pic>
        <p:nvPicPr>
          <p:cNvPr id="311" name="G"/>
          <p:cNvPicPr>
            <a:picLocks noChangeAspect="1"/>
          </p:cNvPicPr>
          <p:nvPr/>
        </p:nvPicPr>
        <p:blipFill>
          <a:blip r:embed="rIdM3"/>
          <a:stretch>
            <a:fillRect/>
          </a:stretch>
        </p:blipFill>
        <p:spPr>
          <a:xfrm>
            <a:off x="841248" y="1755648"/>
            <a:ext cx="182880" cy="182880"/>
          </a:xfrm>
          <a:prstGeom prst="rect">
            <a:avLst/>
          </a:prstGeom>
        </p:spPr>
      </p:pic>
      <p:sp>
        <p:nvSpPr>
          <p:cNvPr id="312" name="T"/>
          <p:cNvSpPr txBox="1"/>
          <p:nvPr/>
        </p:nvSpPr>
        <p:spPr>
          <a:xfrm>
            <a:off x="1170432" y="1627632"/>
            <a:ext cx="1050170" cy="274320"/>
          </a:xfrm>
          <a:prstGeom prst="rect">
            <a:avLst/>
          </a:prstGeom>
          <a:noFill/>
        </p:spPr>
        <p:txBody>
          <a:bodyPr wrap="square" lIns="0" tIns="0" rIns="0" bIns="0" anchor="ctr"/>
          <a:lstStyle/>
          <a:p>
            <a:pPr algn="l">
              <a:buNone/>
            </a:pPr>
            <a:r>
              <a:rPr lang="id-ID" sz="1700" b="1" dirty="0">
                <a:solidFill>
                  <a:srgbClr val="051C2C"/>
                </a:solidFill>
                <a:latin typeface="Roboto"/>
                <a:ea typeface="Roboto"/>
                <a:cs typeface="Roboto"/>
              </a:rPr>
              <a:t>35</a:t>
            </a:r>
            <a:endParaRPr lang="id-ID" sz="1700"/>
          </a:p>
        </p:txBody>
      </p:sp>
      <p:sp>
        <p:nvSpPr>
          <p:cNvPr id="313" name="T"/>
          <p:cNvSpPr txBox="1"/>
          <p:nvPr/>
        </p:nvSpPr>
        <p:spPr>
          <a:xfrm>
            <a:off x="1170432" y="1892808"/>
            <a:ext cx="1050170" cy="155448"/>
          </a:xfrm>
          <a:prstGeom prst="rect">
            <a:avLst/>
          </a:prstGeom>
          <a:noFill/>
        </p:spPr>
        <p:txBody>
          <a:bodyPr wrap="square" lIns="0" tIns="0" rIns="0" bIns="0" anchor="t"/>
          <a:lstStyle/>
          <a:p>
            <a:pPr algn="l">
              <a:buNone/>
            </a:pPr>
            <a:r>
              <a:rPr lang="id-ID" sz="750" dirty="0">
                <a:solidFill>
                  <a:srgbClr val="2E3440"/>
                </a:solidFill>
                <a:latin typeface="Roboto"/>
                <a:ea typeface="Roboto"/>
                <a:cs typeface="Roboto"/>
              </a:rPr>
              <a:t>laporan kejadian</a:t>
            </a:r>
            <a:endParaRPr lang="id-ID" sz="750"/>
          </a:p>
        </p:txBody>
      </p:sp>
      <p:sp>
        <p:nvSpPr>
          <p:cNvPr id="314" name="K"/>
          <p:cNvSpPr/>
          <p:nvPr/>
        </p:nvSpPr>
        <p:spPr>
          <a:xfrm>
            <a:off x="2348618" y="1591056"/>
            <a:ext cx="1598810" cy="512064"/>
          </a:xfrm>
          <a:prstGeom prst="roundRect">
            <a:avLst>
              <a:gd name="adj" fmla="val 14286"/>
            </a:avLst>
          </a:prstGeom>
          <a:solidFill>
            <a:srgbClr val="FFFFFF"/>
          </a:solidFill>
          <a:ln w="9525">
            <a:solidFill>
              <a:srgbClr val="BFC5CC"/>
            </a:solidFill>
          </a:ln>
        </p:spPr>
      </p:sp>
      <p:sp>
        <p:nvSpPr>
          <p:cNvPr id="315" name="K"/>
          <p:cNvSpPr/>
          <p:nvPr/>
        </p:nvSpPr>
        <p:spPr>
          <a:xfrm>
            <a:off x="2458346" y="1682496"/>
            <a:ext cx="329184" cy="329184"/>
          </a:xfrm>
          <a:prstGeom prst="ellipse">
            <a:avLst/>
          </a:prstGeom>
          <a:solidFill>
            <a:srgbClr val="E6EAF0"/>
          </a:solidFill>
          <a:ln>
            <a:noFill/>
          </a:ln>
        </p:spPr>
      </p:sp>
      <p:pic>
        <p:nvPicPr>
          <p:cNvPr id="316" name="G"/>
          <p:cNvPicPr>
            <a:picLocks noChangeAspect="1"/>
          </p:cNvPicPr>
          <p:nvPr/>
        </p:nvPicPr>
        <p:blipFill>
          <a:blip r:embed="rIdM4"/>
          <a:stretch>
            <a:fillRect/>
          </a:stretch>
        </p:blipFill>
        <p:spPr>
          <a:xfrm>
            <a:off x="2531498" y="1755648"/>
            <a:ext cx="182880" cy="182880"/>
          </a:xfrm>
          <a:prstGeom prst="rect">
            <a:avLst/>
          </a:prstGeom>
        </p:spPr>
      </p:pic>
      <p:sp>
        <p:nvSpPr>
          <p:cNvPr id="317" name="T"/>
          <p:cNvSpPr txBox="1"/>
          <p:nvPr/>
        </p:nvSpPr>
        <p:spPr>
          <a:xfrm>
            <a:off x="2860682" y="1627632"/>
            <a:ext cx="1050170" cy="274320"/>
          </a:xfrm>
          <a:prstGeom prst="rect">
            <a:avLst/>
          </a:prstGeom>
          <a:noFill/>
        </p:spPr>
        <p:txBody>
          <a:bodyPr wrap="square" lIns="0" tIns="0" rIns="0" bIns="0" anchor="ctr"/>
          <a:lstStyle/>
          <a:p>
            <a:pPr algn="l">
              <a:buNone/>
            </a:pPr>
            <a:r>
              <a:rPr lang="id-ID" sz="1700" b="1" dirty="0">
                <a:solidFill>
                  <a:srgbClr val="051C2C"/>
                </a:solidFill>
                <a:latin typeface="Roboto"/>
                <a:ea typeface="Roboto"/>
                <a:cs typeface="Roboto"/>
              </a:rPr>
              <a:t>25</a:t>
            </a:r>
            <a:endParaRPr lang="id-ID" sz="1700"/>
          </a:p>
        </p:txBody>
      </p:sp>
      <p:sp>
        <p:nvSpPr>
          <p:cNvPr id="318" name="T"/>
          <p:cNvSpPr txBox="1"/>
          <p:nvPr/>
        </p:nvSpPr>
        <p:spPr>
          <a:xfrm>
            <a:off x="2860682" y="1892808"/>
            <a:ext cx="1050170" cy="155448"/>
          </a:xfrm>
          <a:prstGeom prst="rect">
            <a:avLst/>
          </a:prstGeom>
          <a:noFill/>
        </p:spPr>
        <p:txBody>
          <a:bodyPr wrap="square" lIns="0" tIns="0" rIns="0" bIns="0" anchor="t"/>
          <a:lstStyle/>
          <a:p>
            <a:pPr algn="l">
              <a:buNone/>
            </a:pPr>
            <a:r>
              <a:rPr lang="id-ID" sz="750" dirty="0">
                <a:solidFill>
                  <a:srgbClr val="2E3440"/>
                </a:solidFill>
                <a:latin typeface="Roboto"/>
                <a:ea typeface="Roboto"/>
                <a:cs typeface="Roboto"/>
              </a:rPr>
              <a:t>kejadian menonjol</a:t>
            </a:r>
            <a:endParaRPr lang="id-ID" sz="750"/>
          </a:p>
        </p:txBody>
      </p:sp>
      <p:sp>
        <p:nvSpPr>
          <p:cNvPr id="319" name="K"/>
          <p:cNvSpPr/>
          <p:nvPr/>
        </p:nvSpPr>
        <p:spPr>
          <a:xfrm>
            <a:off x="4038868" y="1591056"/>
            <a:ext cx="1598810" cy="512064"/>
          </a:xfrm>
          <a:prstGeom prst="roundRect">
            <a:avLst>
              <a:gd name="adj" fmla="val 14286"/>
            </a:avLst>
          </a:prstGeom>
          <a:solidFill>
            <a:srgbClr val="FFFFFF"/>
          </a:solidFill>
          <a:ln w="9525">
            <a:solidFill>
              <a:srgbClr val="BFC5CC"/>
            </a:solidFill>
          </a:ln>
        </p:spPr>
      </p:sp>
      <p:sp>
        <p:nvSpPr>
          <p:cNvPr id="320" name="K"/>
          <p:cNvSpPr/>
          <p:nvPr/>
        </p:nvSpPr>
        <p:spPr>
          <a:xfrm>
            <a:off x="4148596" y="1682496"/>
            <a:ext cx="329184" cy="329184"/>
          </a:xfrm>
          <a:prstGeom prst="ellipse">
            <a:avLst/>
          </a:prstGeom>
          <a:solidFill>
            <a:srgbClr val="FBE7D6"/>
          </a:solidFill>
          <a:ln>
            <a:noFill/>
          </a:ln>
        </p:spPr>
      </p:sp>
      <p:pic>
        <p:nvPicPr>
          <p:cNvPr id="321" name="G"/>
          <p:cNvPicPr>
            <a:picLocks noChangeAspect="1"/>
          </p:cNvPicPr>
          <p:nvPr/>
        </p:nvPicPr>
        <p:blipFill>
          <a:blip r:embed="rIdM5"/>
          <a:stretch>
            <a:fillRect/>
          </a:stretch>
        </p:blipFill>
        <p:spPr>
          <a:xfrm>
            <a:off x="4221748" y="1755648"/>
            <a:ext cx="182880" cy="182880"/>
          </a:xfrm>
          <a:prstGeom prst="rect">
            <a:avLst/>
          </a:prstGeom>
        </p:spPr>
      </p:pic>
      <p:sp>
        <p:nvSpPr>
          <p:cNvPr id="322" name="T"/>
          <p:cNvSpPr txBox="1"/>
          <p:nvPr/>
        </p:nvSpPr>
        <p:spPr>
          <a:xfrm>
            <a:off x="4550932" y="1627632"/>
            <a:ext cx="1050170" cy="274320"/>
          </a:xfrm>
          <a:prstGeom prst="rect">
            <a:avLst/>
          </a:prstGeom>
          <a:noFill/>
        </p:spPr>
        <p:txBody>
          <a:bodyPr wrap="square" lIns="0" tIns="0" rIns="0" bIns="0" anchor="ctr"/>
          <a:lstStyle/>
          <a:p>
            <a:pPr algn="l">
              <a:buNone/>
            </a:pPr>
            <a:r>
              <a:rPr lang="id-ID" sz="1700" b="1" dirty="0">
                <a:solidFill>
                  <a:srgbClr val="D9600B"/>
                </a:solidFill>
                <a:latin typeface="Roboto"/>
                <a:ea typeface="Roboto"/>
                <a:cs typeface="Roboto"/>
              </a:rPr>
              <a:t>17</a:t>
            </a:r>
            <a:endParaRPr lang="id-ID" sz="1700"/>
          </a:p>
        </p:txBody>
      </p:sp>
      <p:sp>
        <p:nvSpPr>
          <p:cNvPr id="323" name="T"/>
          <p:cNvSpPr txBox="1"/>
          <p:nvPr/>
        </p:nvSpPr>
        <p:spPr>
          <a:xfrm>
            <a:off x="4550932" y="1892808"/>
            <a:ext cx="1050170" cy="155448"/>
          </a:xfrm>
          <a:prstGeom prst="rect">
            <a:avLst/>
          </a:prstGeom>
          <a:noFill/>
        </p:spPr>
        <p:txBody>
          <a:bodyPr wrap="square" lIns="0" tIns="0" rIns="0" bIns="0" anchor="t"/>
          <a:lstStyle/>
          <a:p>
            <a:pPr algn="l">
              <a:buNone/>
            </a:pPr>
            <a:r>
              <a:rPr lang="id-ID" sz="750" dirty="0">
                <a:solidFill>
                  <a:srgbClr val="2E3440"/>
                </a:solidFill>
                <a:latin typeface="Roboto"/>
                <a:ea typeface="Roboto"/>
                <a:cs typeface="Roboto"/>
              </a:rPr>
              <a:t>karhutla</a:t>
            </a:r>
            <a:endParaRPr lang="id-ID" sz="750"/>
          </a:p>
        </p:txBody>
      </p:sp>
      <p:sp>
        <p:nvSpPr>
          <p:cNvPr id="324" name="K"/>
          <p:cNvSpPr/>
          <p:nvPr/>
        </p:nvSpPr>
        <p:spPr>
          <a:xfrm>
            <a:off x="5729118" y="1591056"/>
            <a:ext cx="1598810" cy="512064"/>
          </a:xfrm>
          <a:prstGeom prst="roundRect">
            <a:avLst>
              <a:gd name="adj" fmla="val 14286"/>
            </a:avLst>
          </a:prstGeom>
          <a:solidFill>
            <a:srgbClr val="FFFFFF"/>
          </a:solidFill>
          <a:ln w="9525">
            <a:solidFill>
              <a:srgbClr val="BFC5CC"/>
            </a:solidFill>
          </a:ln>
        </p:spPr>
      </p:sp>
      <p:sp>
        <p:nvSpPr>
          <p:cNvPr id="325" name="K"/>
          <p:cNvSpPr/>
          <p:nvPr/>
        </p:nvSpPr>
        <p:spPr>
          <a:xfrm>
            <a:off x="5838846" y="1682496"/>
            <a:ext cx="329184" cy="329184"/>
          </a:xfrm>
          <a:prstGeom prst="ellipse">
            <a:avLst/>
          </a:prstGeom>
          <a:solidFill>
            <a:srgbClr val="F4ECDC"/>
          </a:solidFill>
          <a:ln>
            <a:noFill/>
          </a:ln>
        </p:spPr>
      </p:sp>
      <p:pic>
        <p:nvPicPr>
          <p:cNvPr id="326" name="G"/>
          <p:cNvPicPr>
            <a:picLocks noChangeAspect="1"/>
          </p:cNvPicPr>
          <p:nvPr/>
        </p:nvPicPr>
        <p:blipFill>
          <a:blip r:embed="rIdM6"/>
          <a:stretch>
            <a:fillRect/>
          </a:stretch>
        </p:blipFill>
        <p:spPr>
          <a:xfrm>
            <a:off x="5911998" y="1755648"/>
            <a:ext cx="182880" cy="182880"/>
          </a:xfrm>
          <a:prstGeom prst="rect">
            <a:avLst/>
          </a:prstGeom>
        </p:spPr>
      </p:pic>
      <p:sp>
        <p:nvSpPr>
          <p:cNvPr id="327" name="T"/>
          <p:cNvSpPr txBox="1"/>
          <p:nvPr/>
        </p:nvSpPr>
        <p:spPr>
          <a:xfrm>
            <a:off x="6241182" y="1627632"/>
            <a:ext cx="1050170" cy="274320"/>
          </a:xfrm>
          <a:prstGeom prst="rect">
            <a:avLst/>
          </a:prstGeom>
          <a:noFill/>
        </p:spPr>
        <p:txBody>
          <a:bodyPr wrap="square" lIns="0" tIns="0" rIns="0" bIns="0" anchor="ctr"/>
          <a:lstStyle/>
          <a:p>
            <a:pPr algn="l">
              <a:buNone/>
            </a:pPr>
            <a:r>
              <a:rPr lang="id-ID" sz="1700" b="1" dirty="0">
                <a:solidFill>
                  <a:srgbClr val="B08A3E"/>
                </a:solidFill>
                <a:latin typeface="Roboto"/>
                <a:ea typeface="Roboto"/>
                <a:cs typeface="Roboto"/>
              </a:rPr>
              <a:t>0</a:t>
            </a:r>
            <a:endParaRPr lang="id-ID" sz="1700"/>
          </a:p>
        </p:txBody>
      </p:sp>
      <p:sp>
        <p:nvSpPr>
          <p:cNvPr id="328" name="T"/>
          <p:cNvSpPr txBox="1"/>
          <p:nvPr/>
        </p:nvSpPr>
        <p:spPr>
          <a:xfrm>
            <a:off x="6241182" y="1892808"/>
            <a:ext cx="1050170" cy="155448"/>
          </a:xfrm>
          <a:prstGeom prst="rect">
            <a:avLst/>
          </a:prstGeom>
          <a:noFill/>
        </p:spPr>
        <p:txBody>
          <a:bodyPr wrap="square" lIns="0" tIns="0" rIns="0" bIns="0" anchor="t"/>
          <a:lstStyle/>
          <a:p>
            <a:pPr algn="l">
              <a:buNone/>
            </a:pPr>
            <a:r>
              <a:rPr lang="id-ID" sz="750" dirty="0">
                <a:solidFill>
                  <a:srgbClr val="2E3440"/>
                </a:solidFill>
                <a:latin typeface="Roboto"/>
                <a:ea typeface="Roboto"/>
                <a:cs typeface="Roboto"/>
              </a:rPr>
              <a:t>kekeringan</a:t>
            </a:r>
            <a:endParaRPr lang="id-ID" sz="750"/>
          </a:p>
        </p:txBody>
      </p:sp>
      <p:sp>
        <p:nvSpPr>
          <p:cNvPr id="329" name="K"/>
          <p:cNvSpPr/>
          <p:nvPr/>
        </p:nvSpPr>
        <p:spPr>
          <a:xfrm>
            <a:off x="7419368" y="1591056"/>
            <a:ext cx="1598810" cy="512064"/>
          </a:xfrm>
          <a:prstGeom prst="roundRect">
            <a:avLst>
              <a:gd name="adj" fmla="val 14286"/>
            </a:avLst>
          </a:prstGeom>
          <a:solidFill>
            <a:srgbClr val="FFFFFF"/>
          </a:solidFill>
          <a:ln w="9525">
            <a:solidFill>
              <a:srgbClr val="BFC5CC"/>
            </a:solidFill>
          </a:ln>
        </p:spPr>
      </p:sp>
      <p:sp>
        <p:nvSpPr>
          <p:cNvPr id="330" name="K"/>
          <p:cNvSpPr/>
          <p:nvPr/>
        </p:nvSpPr>
        <p:spPr>
          <a:xfrm>
            <a:off x="7529096" y="1682496"/>
            <a:ext cx="329184" cy="329184"/>
          </a:xfrm>
          <a:prstGeom prst="ellipse">
            <a:avLst/>
          </a:prstGeom>
          <a:solidFill>
            <a:srgbClr val="E3EAF1"/>
          </a:solidFill>
          <a:ln>
            <a:noFill/>
          </a:ln>
        </p:spPr>
      </p:sp>
      <p:pic>
        <p:nvPicPr>
          <p:cNvPr id="331" name="G"/>
          <p:cNvPicPr>
            <a:picLocks noChangeAspect="1"/>
          </p:cNvPicPr>
          <p:nvPr/>
        </p:nvPicPr>
        <p:blipFill>
          <a:blip r:embed="rIdM7"/>
          <a:stretch>
            <a:fillRect/>
          </a:stretch>
        </p:blipFill>
        <p:spPr>
          <a:xfrm>
            <a:off x="7602248" y="1755648"/>
            <a:ext cx="182880" cy="182880"/>
          </a:xfrm>
          <a:prstGeom prst="rect">
            <a:avLst/>
          </a:prstGeom>
        </p:spPr>
      </p:pic>
      <p:sp>
        <p:nvSpPr>
          <p:cNvPr id="332" name="T"/>
          <p:cNvSpPr txBox="1"/>
          <p:nvPr/>
        </p:nvSpPr>
        <p:spPr>
          <a:xfrm>
            <a:off x="7931432" y="1627632"/>
            <a:ext cx="1050170" cy="274320"/>
          </a:xfrm>
          <a:prstGeom prst="rect">
            <a:avLst/>
          </a:prstGeom>
          <a:noFill/>
        </p:spPr>
        <p:txBody>
          <a:bodyPr wrap="square" lIns="0" tIns="0" rIns="0" bIns="0" anchor="ctr"/>
          <a:lstStyle/>
          <a:p>
            <a:pPr algn="l">
              <a:buNone/>
            </a:pPr>
            <a:r>
              <a:rPr lang="id-ID" sz="1700" b="1" dirty="0">
                <a:solidFill>
                  <a:srgbClr val="5B7A99"/>
                </a:solidFill>
                <a:latin typeface="Roboto"/>
                <a:ea typeface="Roboto"/>
                <a:cs typeface="Roboto"/>
              </a:rPr>
              <a:t>8</a:t>
            </a:r>
            <a:endParaRPr lang="id-ID" sz="1700"/>
          </a:p>
        </p:txBody>
      </p:sp>
      <p:sp>
        <p:nvSpPr>
          <p:cNvPr id="333" name="T"/>
          <p:cNvSpPr txBox="1"/>
          <p:nvPr/>
        </p:nvSpPr>
        <p:spPr>
          <a:xfrm>
            <a:off x="7931432" y="1892808"/>
            <a:ext cx="1050170" cy="155448"/>
          </a:xfrm>
          <a:prstGeom prst="rect">
            <a:avLst/>
          </a:prstGeom>
          <a:noFill/>
        </p:spPr>
        <p:txBody>
          <a:bodyPr wrap="square" lIns="0" tIns="0" rIns="0" bIns="0" anchor="t"/>
          <a:lstStyle/>
          <a:p>
            <a:pPr algn="l">
              <a:buNone/>
            </a:pPr>
            <a:r>
              <a:rPr lang="id-ID" sz="750" dirty="0">
                <a:solidFill>
                  <a:srgbClr val="2E3440"/>
                </a:solidFill>
                <a:latin typeface="Roboto"/>
                <a:ea typeface="Roboto"/>
                <a:cs typeface="Roboto"/>
              </a:rPr>
              <a:t>bencana lainnya</a:t>
            </a:r>
            <a:endParaRPr lang="id-ID" sz="750"/>
          </a:p>
        </p:txBody>
      </p:sp>
      <p:sp>
        <p:nvSpPr>
          <p:cNvPr id="334" name="K"/>
          <p:cNvSpPr/>
          <p:nvPr/>
        </p:nvSpPr>
        <p:spPr>
          <a:xfrm>
            <a:off x="9511955" y="1591056"/>
            <a:ext cx="2021373" cy="512064"/>
          </a:xfrm>
          <a:prstGeom prst="roundRect">
            <a:avLst>
              <a:gd name="adj" fmla="val 14286"/>
            </a:avLst>
          </a:prstGeom>
          <a:solidFill>
            <a:srgbClr val="FFFFFF"/>
          </a:solidFill>
          <a:ln w="9525">
            <a:solidFill>
              <a:srgbClr val="BFC5CC"/>
            </a:solidFill>
          </a:ln>
        </p:spPr>
      </p:sp>
      <p:sp>
        <p:nvSpPr>
          <p:cNvPr id="335" name="K"/>
          <p:cNvSpPr/>
          <p:nvPr/>
        </p:nvSpPr>
        <p:spPr>
          <a:xfrm>
            <a:off x="9621683" y="1682496"/>
            <a:ext cx="329184" cy="329184"/>
          </a:xfrm>
          <a:prstGeom prst="ellipse">
            <a:avLst/>
          </a:prstGeom>
          <a:solidFill>
            <a:srgbClr val="F8DDE0"/>
          </a:solidFill>
          <a:ln>
            <a:noFill/>
          </a:ln>
        </p:spPr>
      </p:sp>
      <p:pic>
        <p:nvPicPr>
          <p:cNvPr id="336" name="G"/>
          <p:cNvPicPr>
            <a:picLocks noChangeAspect="1"/>
          </p:cNvPicPr>
          <p:nvPr/>
        </p:nvPicPr>
        <p:blipFill>
          <a:blip r:embed="rIdM8"/>
          <a:stretch>
            <a:fillRect/>
          </a:stretch>
        </p:blipFill>
        <p:spPr>
          <a:xfrm>
            <a:off x="9694835" y="1755648"/>
            <a:ext cx="182880" cy="182880"/>
          </a:xfrm>
          <a:prstGeom prst="rect">
            <a:avLst/>
          </a:prstGeom>
        </p:spPr>
      </p:pic>
      <p:sp>
        <p:nvSpPr>
          <p:cNvPr id="337" name="T"/>
          <p:cNvSpPr txBox="1"/>
          <p:nvPr/>
        </p:nvSpPr>
        <p:spPr>
          <a:xfrm>
            <a:off x="10024019" y="1627632"/>
            <a:ext cx="1472733" cy="274320"/>
          </a:xfrm>
          <a:prstGeom prst="rect">
            <a:avLst/>
          </a:prstGeom>
          <a:noFill/>
        </p:spPr>
        <p:txBody>
          <a:bodyPr wrap="square" lIns="0" tIns="0" rIns="0" bIns="0" anchor="ctr"/>
          <a:lstStyle/>
          <a:p>
            <a:pPr algn="l">
              <a:buNone/>
            </a:pPr>
            <a:r>
              <a:rPr lang="id-ID" sz="1700" b="1" dirty="0">
                <a:solidFill>
                  <a:srgbClr val="C8102E"/>
                </a:solidFill>
                <a:latin typeface="Roboto"/>
                <a:ea typeface="Roboto"/>
                <a:cs typeface="Roboto"/>
              </a:rPr>
              <a:t>11</a:t>
            </a:r>
            <a:endParaRPr lang="id-ID" sz="1700"/>
          </a:p>
        </p:txBody>
      </p:sp>
      <p:sp>
        <p:nvSpPr>
          <p:cNvPr id="338" name="T"/>
          <p:cNvSpPr txBox="1"/>
          <p:nvPr/>
        </p:nvSpPr>
        <p:spPr>
          <a:xfrm>
            <a:off x="10024019" y="1892808"/>
            <a:ext cx="1472733" cy="155448"/>
          </a:xfrm>
          <a:prstGeom prst="rect">
            <a:avLst/>
          </a:prstGeom>
          <a:noFill/>
        </p:spPr>
        <p:txBody>
          <a:bodyPr wrap="square" lIns="0" tIns="0" rIns="0" bIns="0" anchor="t"/>
          <a:lstStyle/>
          <a:p>
            <a:pPr algn="l">
              <a:buNone/>
            </a:pPr>
            <a:r>
              <a:rPr lang="id-ID" sz="750" dirty="0">
                <a:solidFill>
                  <a:srgbClr val="2E3440"/>
                </a:solidFill>
                <a:latin typeface="Roboto"/>
                <a:ea typeface="Roboto"/>
                <a:cs typeface="Roboto"/>
              </a:rPr>
              <a:t>kejadian perlu perhatian</a:t>
            </a:r>
            <a:endParaRPr lang="id-ID" sz="750"/>
          </a:p>
        </p:txBody>
      </p:sp>
      <p:pic>
        <p:nvPicPr>
          <p:cNvPr id="339" name="G"/>
          <p:cNvPicPr>
            <a:picLocks noChangeAspect="1"/>
          </p:cNvPicPr>
          <p:nvPr/>
        </p:nvPicPr>
        <p:blipFill>
          <a:blip r:embed="rIdM9"/>
          <a:stretch>
            <a:fillRect/>
          </a:stretch>
        </p:blipFill>
        <p:spPr>
          <a:xfrm>
            <a:off x="502920" y="2331720"/>
            <a:ext cx="7680960" cy="2880360"/>
          </a:xfrm>
          <a:prstGeom prst="rect">
            <a:avLst/>
          </a:prstGeom>
        </p:spPr>
      </p:pic>
      <p:sp>
        <p:nvSpPr>
          <p:cNvPr id="340" name="K"/>
          <p:cNvSpPr/>
          <p:nvPr/>
        </p:nvSpPr>
        <p:spPr>
          <a:xfrm>
            <a:off x="7871081" y="4351809"/>
            <a:ext cx="219456" cy="219456"/>
          </a:xfrm>
          <a:prstGeom prst="ellipse">
            <a:avLst/>
          </a:prstGeom>
          <a:solidFill>
            <a:srgbClr val="D9600B"/>
          </a:solidFill>
          <a:ln w="19050">
            <a:solidFill>
              <a:srgbClr val="FFFFFF"/>
            </a:solidFill>
          </a:ln>
        </p:spPr>
      </p:sp>
      <p:sp>
        <p:nvSpPr>
          <p:cNvPr id="341" name="T"/>
          <p:cNvSpPr txBox="1"/>
          <p:nvPr/>
        </p:nvSpPr>
        <p:spPr>
          <a:xfrm>
            <a:off x="7871081" y="4351809"/>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42" name="K"/>
          <p:cNvSpPr/>
          <p:nvPr/>
        </p:nvSpPr>
        <p:spPr>
          <a:xfrm>
            <a:off x="8004400" y="4300785"/>
            <a:ext cx="137160" cy="137160"/>
          </a:xfrm>
          <a:prstGeom prst="ellipse">
            <a:avLst/>
          </a:prstGeom>
          <a:solidFill>
            <a:srgbClr val="C8102E"/>
          </a:solidFill>
          <a:ln w="12700">
            <a:solidFill>
              <a:srgbClr val="FFFFFF"/>
            </a:solidFill>
          </a:ln>
        </p:spPr>
      </p:sp>
      <p:sp>
        <p:nvSpPr>
          <p:cNvPr id="343" name="T"/>
          <p:cNvSpPr txBox="1"/>
          <p:nvPr/>
        </p:nvSpPr>
        <p:spPr>
          <a:xfrm>
            <a:off x="8004400" y="4300785"/>
            <a:ext cx="137160" cy="13716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700"/>
          </a:p>
        </p:txBody>
      </p:sp>
      <p:sp>
        <p:nvSpPr>
          <p:cNvPr id="344" name="T"/>
          <p:cNvSpPr txBox="1"/>
          <p:nvPr/>
        </p:nvSpPr>
        <p:spPr>
          <a:xfrm>
            <a:off x="6353177" y="4388385"/>
            <a:ext cx="1463040" cy="146304"/>
          </a:xfrm>
          <a:prstGeom prst="rect">
            <a:avLst/>
          </a:prstGeom>
          <a:noFill/>
        </p:spPr>
        <p:txBody>
          <a:bodyPr wrap="square" lIns="0" tIns="0" rIns="0" bIns="0" anchor="ctr"/>
          <a:lstStyle/>
          <a:p>
            <a:pPr algn="r">
              <a:buNone/>
            </a:pPr>
            <a:r>
              <a:rPr lang="id-ID" sz="750" b="1" dirty="0">
                <a:solidFill>
                  <a:srgbClr val="1A1A1A"/>
                </a:solidFill>
                <a:latin typeface="Roboto"/>
                <a:ea typeface="Roboto"/>
                <a:cs typeface="Roboto"/>
              </a:rPr>
              <a:t>Papua Selatan</a:t>
            </a:r>
            <a:endParaRPr lang="id-ID" sz="750"/>
          </a:p>
        </p:txBody>
      </p:sp>
      <p:sp>
        <p:nvSpPr>
          <p:cNvPr id="345" name="K"/>
          <p:cNvSpPr/>
          <p:nvPr/>
        </p:nvSpPr>
        <p:spPr>
          <a:xfrm>
            <a:off x="3475300" y="3529117"/>
            <a:ext cx="219456" cy="219456"/>
          </a:xfrm>
          <a:prstGeom prst="ellipse">
            <a:avLst/>
          </a:prstGeom>
          <a:solidFill>
            <a:srgbClr val="D9600B"/>
          </a:solidFill>
          <a:ln w="19050">
            <a:solidFill>
              <a:srgbClr val="FFFFFF"/>
            </a:solidFill>
          </a:ln>
        </p:spPr>
      </p:sp>
      <p:sp>
        <p:nvSpPr>
          <p:cNvPr id="346" name="T"/>
          <p:cNvSpPr txBox="1"/>
          <p:nvPr/>
        </p:nvSpPr>
        <p:spPr>
          <a:xfrm>
            <a:off x="3475300" y="3529117"/>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47" name="K"/>
          <p:cNvSpPr/>
          <p:nvPr/>
        </p:nvSpPr>
        <p:spPr>
          <a:xfrm>
            <a:off x="3608619" y="3478093"/>
            <a:ext cx="137160" cy="137160"/>
          </a:xfrm>
          <a:prstGeom prst="ellipse">
            <a:avLst/>
          </a:prstGeom>
          <a:solidFill>
            <a:srgbClr val="C8102E"/>
          </a:solidFill>
          <a:ln w="12700">
            <a:solidFill>
              <a:srgbClr val="FFFFFF"/>
            </a:solidFill>
          </a:ln>
        </p:spPr>
      </p:sp>
      <p:sp>
        <p:nvSpPr>
          <p:cNvPr id="348" name="T"/>
          <p:cNvSpPr txBox="1"/>
          <p:nvPr/>
        </p:nvSpPr>
        <p:spPr>
          <a:xfrm>
            <a:off x="3608619" y="3478093"/>
            <a:ext cx="137160" cy="13716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700"/>
          </a:p>
        </p:txBody>
      </p:sp>
      <p:sp>
        <p:nvSpPr>
          <p:cNvPr id="349" name="T"/>
          <p:cNvSpPr txBox="1"/>
          <p:nvPr/>
        </p:nvSpPr>
        <p:spPr>
          <a:xfrm>
            <a:off x="3749620" y="3565693"/>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Kal. Tengah</a:t>
            </a:r>
            <a:endParaRPr lang="id-ID" sz="750"/>
          </a:p>
        </p:txBody>
      </p:sp>
      <p:sp>
        <p:nvSpPr>
          <p:cNvPr id="350" name="K"/>
          <p:cNvSpPr/>
          <p:nvPr/>
        </p:nvSpPr>
        <p:spPr>
          <a:xfrm>
            <a:off x="4675098" y="3427152"/>
            <a:ext cx="219456" cy="219456"/>
          </a:xfrm>
          <a:prstGeom prst="ellipse">
            <a:avLst/>
          </a:prstGeom>
          <a:solidFill>
            <a:srgbClr val="D9600B"/>
          </a:solidFill>
          <a:ln w="19050">
            <a:solidFill>
              <a:srgbClr val="FFFFFF"/>
            </a:solidFill>
          </a:ln>
        </p:spPr>
      </p:sp>
      <p:sp>
        <p:nvSpPr>
          <p:cNvPr id="351" name="T"/>
          <p:cNvSpPr txBox="1"/>
          <p:nvPr/>
        </p:nvSpPr>
        <p:spPr>
          <a:xfrm>
            <a:off x="4675098" y="3427152"/>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52" name="K"/>
          <p:cNvSpPr/>
          <p:nvPr/>
        </p:nvSpPr>
        <p:spPr>
          <a:xfrm>
            <a:off x="4808417" y="3376129"/>
            <a:ext cx="137160" cy="137160"/>
          </a:xfrm>
          <a:prstGeom prst="ellipse">
            <a:avLst/>
          </a:prstGeom>
          <a:solidFill>
            <a:srgbClr val="C8102E"/>
          </a:solidFill>
          <a:ln w="12700">
            <a:solidFill>
              <a:srgbClr val="FFFFFF"/>
            </a:solidFill>
          </a:ln>
        </p:spPr>
      </p:sp>
      <p:sp>
        <p:nvSpPr>
          <p:cNvPr id="353" name="T"/>
          <p:cNvSpPr txBox="1"/>
          <p:nvPr/>
        </p:nvSpPr>
        <p:spPr>
          <a:xfrm>
            <a:off x="4808417" y="3376129"/>
            <a:ext cx="137160" cy="13716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700"/>
          </a:p>
        </p:txBody>
      </p:sp>
      <p:sp>
        <p:nvSpPr>
          <p:cNvPr id="354" name="T"/>
          <p:cNvSpPr txBox="1"/>
          <p:nvPr/>
        </p:nvSpPr>
        <p:spPr>
          <a:xfrm>
            <a:off x="4949418" y="3463728"/>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Sul. Tengah</a:t>
            </a:r>
            <a:endParaRPr lang="id-ID" sz="750"/>
          </a:p>
        </p:txBody>
      </p:sp>
      <p:sp>
        <p:nvSpPr>
          <p:cNvPr id="355" name="K"/>
          <p:cNvSpPr/>
          <p:nvPr/>
        </p:nvSpPr>
        <p:spPr>
          <a:xfrm>
            <a:off x="3980367" y="3183193"/>
            <a:ext cx="219456" cy="219456"/>
          </a:xfrm>
          <a:prstGeom prst="ellipse">
            <a:avLst/>
          </a:prstGeom>
          <a:solidFill>
            <a:srgbClr val="D9600B"/>
          </a:solidFill>
          <a:ln w="19050">
            <a:solidFill>
              <a:srgbClr val="FFFFFF"/>
            </a:solidFill>
          </a:ln>
        </p:spPr>
      </p:sp>
      <p:sp>
        <p:nvSpPr>
          <p:cNvPr id="356" name="T"/>
          <p:cNvSpPr txBox="1"/>
          <p:nvPr/>
        </p:nvSpPr>
        <p:spPr>
          <a:xfrm>
            <a:off x="3980367" y="3183193"/>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57" name="K"/>
          <p:cNvSpPr/>
          <p:nvPr/>
        </p:nvSpPr>
        <p:spPr>
          <a:xfrm>
            <a:off x="4113686" y="3132169"/>
            <a:ext cx="137160" cy="137160"/>
          </a:xfrm>
          <a:prstGeom prst="ellipse">
            <a:avLst/>
          </a:prstGeom>
          <a:solidFill>
            <a:srgbClr val="C8102E"/>
          </a:solidFill>
          <a:ln w="12700">
            <a:solidFill>
              <a:srgbClr val="FFFFFF"/>
            </a:solidFill>
          </a:ln>
        </p:spPr>
      </p:sp>
      <p:sp>
        <p:nvSpPr>
          <p:cNvPr id="358" name="T"/>
          <p:cNvSpPr txBox="1"/>
          <p:nvPr/>
        </p:nvSpPr>
        <p:spPr>
          <a:xfrm>
            <a:off x="4113686" y="3132169"/>
            <a:ext cx="137160" cy="13716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700"/>
          </a:p>
        </p:txBody>
      </p:sp>
      <p:sp>
        <p:nvSpPr>
          <p:cNvPr id="359" name="T"/>
          <p:cNvSpPr txBox="1"/>
          <p:nvPr/>
        </p:nvSpPr>
        <p:spPr>
          <a:xfrm>
            <a:off x="4254687" y="3219769"/>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Kal. Timur</a:t>
            </a:r>
            <a:endParaRPr lang="id-ID" sz="750"/>
          </a:p>
        </p:txBody>
      </p:sp>
      <p:sp>
        <p:nvSpPr>
          <p:cNvPr id="360" name="K"/>
          <p:cNvSpPr/>
          <p:nvPr/>
        </p:nvSpPr>
        <p:spPr>
          <a:xfrm>
            <a:off x="4881742" y="3897704"/>
            <a:ext cx="219456" cy="219456"/>
          </a:xfrm>
          <a:prstGeom prst="ellipse">
            <a:avLst/>
          </a:prstGeom>
          <a:solidFill>
            <a:srgbClr val="D9600B"/>
          </a:solidFill>
          <a:ln w="19050">
            <a:solidFill>
              <a:srgbClr val="FFFFFF"/>
            </a:solidFill>
          </a:ln>
        </p:spPr>
      </p:sp>
      <p:sp>
        <p:nvSpPr>
          <p:cNvPr id="361" name="T"/>
          <p:cNvSpPr txBox="1"/>
          <p:nvPr/>
        </p:nvSpPr>
        <p:spPr>
          <a:xfrm>
            <a:off x="4881742" y="3897704"/>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62" name="K"/>
          <p:cNvSpPr/>
          <p:nvPr/>
        </p:nvSpPr>
        <p:spPr>
          <a:xfrm>
            <a:off x="5015062" y="3846681"/>
            <a:ext cx="137160" cy="137160"/>
          </a:xfrm>
          <a:prstGeom prst="ellipse">
            <a:avLst/>
          </a:prstGeom>
          <a:solidFill>
            <a:srgbClr val="C8102E"/>
          </a:solidFill>
          <a:ln w="12700">
            <a:solidFill>
              <a:srgbClr val="FFFFFF"/>
            </a:solidFill>
          </a:ln>
        </p:spPr>
      </p:sp>
      <p:sp>
        <p:nvSpPr>
          <p:cNvPr id="363" name="T"/>
          <p:cNvSpPr txBox="1"/>
          <p:nvPr/>
        </p:nvSpPr>
        <p:spPr>
          <a:xfrm>
            <a:off x="5015062" y="3846681"/>
            <a:ext cx="137160" cy="13716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700"/>
          </a:p>
        </p:txBody>
      </p:sp>
      <p:sp>
        <p:nvSpPr>
          <p:cNvPr id="364" name="T"/>
          <p:cNvSpPr txBox="1"/>
          <p:nvPr/>
        </p:nvSpPr>
        <p:spPr>
          <a:xfrm>
            <a:off x="5156062" y="3934280"/>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Sul. Tenggara</a:t>
            </a:r>
            <a:endParaRPr lang="id-ID" sz="750"/>
          </a:p>
        </p:txBody>
      </p:sp>
      <p:sp>
        <p:nvSpPr>
          <p:cNvPr id="365" name="K"/>
          <p:cNvSpPr/>
          <p:nvPr/>
        </p:nvSpPr>
        <p:spPr>
          <a:xfrm>
            <a:off x="6160213" y="3796350"/>
            <a:ext cx="219456" cy="219456"/>
          </a:xfrm>
          <a:prstGeom prst="ellipse">
            <a:avLst/>
          </a:prstGeom>
          <a:solidFill>
            <a:srgbClr val="D9600B"/>
          </a:solidFill>
          <a:ln w="19050">
            <a:solidFill>
              <a:srgbClr val="FFFFFF"/>
            </a:solidFill>
          </a:ln>
        </p:spPr>
      </p:sp>
      <p:sp>
        <p:nvSpPr>
          <p:cNvPr id="366" name="T"/>
          <p:cNvSpPr txBox="1"/>
          <p:nvPr/>
        </p:nvSpPr>
        <p:spPr>
          <a:xfrm>
            <a:off x="6160213" y="3796350"/>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67" name="K"/>
          <p:cNvSpPr/>
          <p:nvPr/>
        </p:nvSpPr>
        <p:spPr>
          <a:xfrm>
            <a:off x="6293533" y="3745326"/>
            <a:ext cx="137160" cy="137160"/>
          </a:xfrm>
          <a:prstGeom prst="ellipse">
            <a:avLst/>
          </a:prstGeom>
          <a:solidFill>
            <a:srgbClr val="C8102E"/>
          </a:solidFill>
          <a:ln w="12700">
            <a:solidFill>
              <a:srgbClr val="FFFFFF"/>
            </a:solidFill>
          </a:ln>
        </p:spPr>
      </p:sp>
      <p:sp>
        <p:nvSpPr>
          <p:cNvPr id="368" name="T"/>
          <p:cNvSpPr txBox="1"/>
          <p:nvPr/>
        </p:nvSpPr>
        <p:spPr>
          <a:xfrm>
            <a:off x="6293533" y="3745326"/>
            <a:ext cx="137160" cy="13716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700"/>
          </a:p>
        </p:txBody>
      </p:sp>
      <p:sp>
        <p:nvSpPr>
          <p:cNvPr id="369" name="T"/>
          <p:cNvSpPr txBox="1"/>
          <p:nvPr/>
        </p:nvSpPr>
        <p:spPr>
          <a:xfrm>
            <a:off x="6434533" y="3832926"/>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Maluku</a:t>
            </a:r>
            <a:endParaRPr lang="id-ID" sz="750"/>
          </a:p>
        </p:txBody>
      </p:sp>
      <p:sp>
        <p:nvSpPr>
          <p:cNvPr id="370" name="K"/>
          <p:cNvSpPr/>
          <p:nvPr/>
        </p:nvSpPr>
        <p:spPr>
          <a:xfrm>
            <a:off x="4602013" y="3996297"/>
            <a:ext cx="219456" cy="219456"/>
          </a:xfrm>
          <a:prstGeom prst="ellipse">
            <a:avLst/>
          </a:prstGeom>
          <a:solidFill>
            <a:srgbClr val="D9600B"/>
          </a:solidFill>
          <a:ln w="19050">
            <a:solidFill>
              <a:srgbClr val="FFFFFF"/>
            </a:solidFill>
          </a:ln>
        </p:spPr>
      </p:sp>
      <p:sp>
        <p:nvSpPr>
          <p:cNvPr id="371" name="T"/>
          <p:cNvSpPr txBox="1"/>
          <p:nvPr/>
        </p:nvSpPr>
        <p:spPr>
          <a:xfrm>
            <a:off x="4602013" y="3996297"/>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72" name="K"/>
          <p:cNvSpPr/>
          <p:nvPr/>
        </p:nvSpPr>
        <p:spPr>
          <a:xfrm>
            <a:off x="4735332" y="3945274"/>
            <a:ext cx="137160" cy="137160"/>
          </a:xfrm>
          <a:prstGeom prst="ellipse">
            <a:avLst/>
          </a:prstGeom>
          <a:solidFill>
            <a:srgbClr val="C8102E"/>
          </a:solidFill>
          <a:ln w="12700">
            <a:solidFill>
              <a:srgbClr val="FFFFFF"/>
            </a:solidFill>
          </a:ln>
        </p:spPr>
      </p:sp>
      <p:sp>
        <p:nvSpPr>
          <p:cNvPr id="373" name="T"/>
          <p:cNvSpPr txBox="1"/>
          <p:nvPr/>
        </p:nvSpPr>
        <p:spPr>
          <a:xfrm>
            <a:off x="4735332" y="3945274"/>
            <a:ext cx="137160" cy="13716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700"/>
          </a:p>
        </p:txBody>
      </p:sp>
      <p:sp>
        <p:nvSpPr>
          <p:cNvPr id="374" name="T"/>
          <p:cNvSpPr txBox="1"/>
          <p:nvPr/>
        </p:nvSpPr>
        <p:spPr>
          <a:xfrm>
            <a:off x="3980221" y="4243185"/>
            <a:ext cx="1463040" cy="146304"/>
          </a:xfrm>
          <a:prstGeom prst="rect">
            <a:avLst/>
          </a:prstGeom>
          <a:noFill/>
        </p:spPr>
        <p:txBody>
          <a:bodyPr wrap="square" lIns="0" tIns="0" rIns="0" bIns="0" anchor="ctr"/>
          <a:lstStyle/>
          <a:p>
            <a:pPr algn="ctr">
              <a:buNone/>
            </a:pPr>
            <a:r>
              <a:rPr lang="id-ID" sz="750" b="1" dirty="0">
                <a:solidFill>
                  <a:srgbClr val="1A1A1A"/>
                </a:solidFill>
                <a:latin typeface="Roboto"/>
                <a:ea typeface="Roboto"/>
                <a:cs typeface="Roboto"/>
              </a:rPr>
              <a:t>Sul. Selatan</a:t>
            </a:r>
            <a:endParaRPr lang="id-ID" sz="750"/>
          </a:p>
        </p:txBody>
      </p:sp>
      <p:sp>
        <p:nvSpPr>
          <p:cNvPr id="375" name="K"/>
          <p:cNvSpPr/>
          <p:nvPr/>
        </p:nvSpPr>
        <p:spPr>
          <a:xfrm>
            <a:off x="6864057" y="3707344"/>
            <a:ext cx="219456" cy="219456"/>
          </a:xfrm>
          <a:prstGeom prst="ellipse">
            <a:avLst/>
          </a:prstGeom>
          <a:solidFill>
            <a:srgbClr val="D9600B"/>
          </a:solidFill>
          <a:ln w="19050">
            <a:solidFill>
              <a:srgbClr val="FFFFFF"/>
            </a:solidFill>
          </a:ln>
        </p:spPr>
      </p:sp>
      <p:sp>
        <p:nvSpPr>
          <p:cNvPr id="376" name="T"/>
          <p:cNvSpPr txBox="1"/>
          <p:nvPr/>
        </p:nvSpPr>
        <p:spPr>
          <a:xfrm>
            <a:off x="6864057" y="3707344"/>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77" name="T"/>
          <p:cNvSpPr txBox="1"/>
          <p:nvPr/>
        </p:nvSpPr>
        <p:spPr>
          <a:xfrm>
            <a:off x="7138377" y="3743920"/>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Papua Barat</a:t>
            </a:r>
            <a:endParaRPr lang="id-ID" sz="750"/>
          </a:p>
        </p:txBody>
      </p:sp>
      <p:sp>
        <p:nvSpPr>
          <p:cNvPr id="378" name="K"/>
          <p:cNvSpPr/>
          <p:nvPr/>
        </p:nvSpPr>
        <p:spPr>
          <a:xfrm>
            <a:off x="4974100" y="3145397"/>
            <a:ext cx="219456" cy="219456"/>
          </a:xfrm>
          <a:prstGeom prst="ellipse">
            <a:avLst/>
          </a:prstGeom>
          <a:solidFill>
            <a:srgbClr val="D9600B"/>
          </a:solidFill>
          <a:ln w="19050">
            <a:solidFill>
              <a:srgbClr val="FFFFFF"/>
            </a:solidFill>
          </a:ln>
        </p:spPr>
      </p:sp>
      <p:sp>
        <p:nvSpPr>
          <p:cNvPr id="379" name="T"/>
          <p:cNvSpPr txBox="1"/>
          <p:nvPr/>
        </p:nvSpPr>
        <p:spPr>
          <a:xfrm>
            <a:off x="4974100" y="3145397"/>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80" name="T"/>
          <p:cNvSpPr txBox="1"/>
          <p:nvPr/>
        </p:nvSpPr>
        <p:spPr>
          <a:xfrm>
            <a:off x="5248420" y="3181973"/>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Gorontalo</a:t>
            </a:r>
            <a:endParaRPr lang="id-ID" sz="750"/>
          </a:p>
        </p:txBody>
      </p:sp>
      <p:sp>
        <p:nvSpPr>
          <p:cNvPr id="381" name="K"/>
          <p:cNvSpPr/>
          <p:nvPr/>
        </p:nvSpPr>
        <p:spPr>
          <a:xfrm>
            <a:off x="4767899" y="4701217"/>
            <a:ext cx="219456" cy="219456"/>
          </a:xfrm>
          <a:prstGeom prst="ellipse">
            <a:avLst/>
          </a:prstGeom>
          <a:solidFill>
            <a:srgbClr val="D9600B"/>
          </a:solidFill>
          <a:ln w="19050">
            <a:solidFill>
              <a:srgbClr val="FFFFFF"/>
            </a:solidFill>
          </a:ln>
        </p:spPr>
      </p:sp>
      <p:sp>
        <p:nvSpPr>
          <p:cNvPr id="382" name="T"/>
          <p:cNvSpPr txBox="1"/>
          <p:nvPr/>
        </p:nvSpPr>
        <p:spPr>
          <a:xfrm>
            <a:off x="4767899" y="4701217"/>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83" name="K"/>
          <p:cNvSpPr/>
          <p:nvPr/>
        </p:nvSpPr>
        <p:spPr>
          <a:xfrm>
            <a:off x="4707732" y="4825393"/>
            <a:ext cx="155448" cy="155448"/>
          </a:xfrm>
          <a:prstGeom prst="ellipse">
            <a:avLst/>
          </a:prstGeom>
          <a:solidFill>
            <a:srgbClr val="5B7A99"/>
          </a:solidFill>
          <a:ln w="12700">
            <a:solidFill>
              <a:srgbClr val="FFFFFF"/>
            </a:solidFill>
          </a:ln>
        </p:spPr>
      </p:sp>
      <p:sp>
        <p:nvSpPr>
          <p:cNvPr id="384" name="T"/>
          <p:cNvSpPr txBox="1"/>
          <p:nvPr/>
        </p:nvSpPr>
        <p:spPr>
          <a:xfrm>
            <a:off x="4707732" y="4825393"/>
            <a:ext cx="155448" cy="155448"/>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1</a:t>
            </a:r>
            <a:endParaRPr lang="id-ID" sz="650"/>
          </a:p>
        </p:txBody>
      </p:sp>
      <p:sp>
        <p:nvSpPr>
          <p:cNvPr id="385" name="T"/>
          <p:cNvSpPr txBox="1"/>
          <p:nvPr/>
        </p:nvSpPr>
        <p:spPr>
          <a:xfrm>
            <a:off x="5042219" y="4737793"/>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NTT</a:t>
            </a:r>
            <a:endParaRPr lang="id-ID" sz="750"/>
          </a:p>
        </p:txBody>
      </p:sp>
      <p:sp>
        <p:nvSpPr>
          <p:cNvPr id="386" name="K"/>
          <p:cNvSpPr/>
          <p:nvPr/>
        </p:nvSpPr>
        <p:spPr>
          <a:xfrm>
            <a:off x="3804910" y="3755423"/>
            <a:ext cx="219456" cy="219456"/>
          </a:xfrm>
          <a:prstGeom prst="ellipse">
            <a:avLst/>
          </a:prstGeom>
          <a:solidFill>
            <a:srgbClr val="D9600B"/>
          </a:solidFill>
          <a:ln w="19050">
            <a:solidFill>
              <a:srgbClr val="FFFFFF"/>
            </a:solidFill>
          </a:ln>
        </p:spPr>
      </p:sp>
      <p:sp>
        <p:nvSpPr>
          <p:cNvPr id="387" name="T"/>
          <p:cNvSpPr txBox="1"/>
          <p:nvPr/>
        </p:nvSpPr>
        <p:spPr>
          <a:xfrm>
            <a:off x="3804910" y="3755423"/>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88" name="K"/>
          <p:cNvSpPr/>
          <p:nvPr/>
        </p:nvSpPr>
        <p:spPr>
          <a:xfrm>
            <a:off x="3744742" y="3879598"/>
            <a:ext cx="155448" cy="155448"/>
          </a:xfrm>
          <a:prstGeom prst="ellipse">
            <a:avLst/>
          </a:prstGeom>
          <a:solidFill>
            <a:srgbClr val="0E7490"/>
          </a:solidFill>
          <a:ln w="12700">
            <a:solidFill>
              <a:srgbClr val="FFFFFF"/>
            </a:solidFill>
          </a:ln>
        </p:spPr>
      </p:sp>
      <p:sp>
        <p:nvSpPr>
          <p:cNvPr id="389" name="T"/>
          <p:cNvSpPr txBox="1"/>
          <p:nvPr/>
        </p:nvSpPr>
        <p:spPr>
          <a:xfrm>
            <a:off x="3744742" y="3879598"/>
            <a:ext cx="155448" cy="155448"/>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1</a:t>
            </a:r>
            <a:endParaRPr lang="id-ID" sz="650"/>
          </a:p>
        </p:txBody>
      </p:sp>
      <p:sp>
        <p:nvSpPr>
          <p:cNvPr id="390" name="K"/>
          <p:cNvSpPr/>
          <p:nvPr/>
        </p:nvSpPr>
        <p:spPr>
          <a:xfrm>
            <a:off x="3938229" y="3704399"/>
            <a:ext cx="137160" cy="137160"/>
          </a:xfrm>
          <a:prstGeom prst="ellipse">
            <a:avLst/>
          </a:prstGeom>
          <a:solidFill>
            <a:srgbClr val="C8102E"/>
          </a:solidFill>
          <a:ln w="12700">
            <a:solidFill>
              <a:srgbClr val="FFFFFF"/>
            </a:solidFill>
          </a:ln>
        </p:spPr>
      </p:sp>
      <p:sp>
        <p:nvSpPr>
          <p:cNvPr id="391" name="T"/>
          <p:cNvSpPr txBox="1"/>
          <p:nvPr/>
        </p:nvSpPr>
        <p:spPr>
          <a:xfrm>
            <a:off x="3938229" y="3704399"/>
            <a:ext cx="137160" cy="13716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700"/>
          </a:p>
        </p:txBody>
      </p:sp>
      <p:sp>
        <p:nvSpPr>
          <p:cNvPr id="392" name="T"/>
          <p:cNvSpPr txBox="1"/>
          <p:nvPr/>
        </p:nvSpPr>
        <p:spPr>
          <a:xfrm>
            <a:off x="3183118" y="4053334"/>
            <a:ext cx="1463040" cy="146304"/>
          </a:xfrm>
          <a:prstGeom prst="rect">
            <a:avLst/>
          </a:prstGeom>
          <a:noFill/>
        </p:spPr>
        <p:txBody>
          <a:bodyPr wrap="square" lIns="0" tIns="0" rIns="0" bIns="0" anchor="ctr"/>
          <a:lstStyle/>
          <a:p>
            <a:pPr algn="ctr">
              <a:buNone/>
            </a:pPr>
            <a:r>
              <a:rPr lang="id-ID" sz="750" b="1" dirty="0">
                <a:solidFill>
                  <a:srgbClr val="1A1A1A"/>
                </a:solidFill>
                <a:latin typeface="Roboto"/>
                <a:ea typeface="Roboto"/>
                <a:cs typeface="Roboto"/>
              </a:rPr>
              <a:t>Kal. Selatan</a:t>
            </a:r>
            <a:endParaRPr lang="id-ID" sz="750"/>
          </a:p>
        </p:txBody>
      </p:sp>
      <p:sp>
        <p:nvSpPr>
          <p:cNvPr id="393" name="K"/>
          <p:cNvSpPr/>
          <p:nvPr/>
        </p:nvSpPr>
        <p:spPr>
          <a:xfrm>
            <a:off x="4218300" y="4705510"/>
            <a:ext cx="219456" cy="219456"/>
          </a:xfrm>
          <a:prstGeom prst="ellipse">
            <a:avLst/>
          </a:prstGeom>
          <a:solidFill>
            <a:srgbClr val="D9600B"/>
          </a:solidFill>
          <a:ln w="19050">
            <a:solidFill>
              <a:srgbClr val="FFFFFF"/>
            </a:solidFill>
          </a:ln>
        </p:spPr>
      </p:sp>
      <p:sp>
        <p:nvSpPr>
          <p:cNvPr id="394" name="T"/>
          <p:cNvSpPr txBox="1"/>
          <p:nvPr/>
        </p:nvSpPr>
        <p:spPr>
          <a:xfrm>
            <a:off x="4218300" y="4705510"/>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95" name="K"/>
          <p:cNvSpPr/>
          <p:nvPr/>
        </p:nvSpPr>
        <p:spPr>
          <a:xfrm>
            <a:off x="4351619" y="4654486"/>
            <a:ext cx="137160" cy="137160"/>
          </a:xfrm>
          <a:prstGeom prst="ellipse">
            <a:avLst/>
          </a:prstGeom>
          <a:solidFill>
            <a:srgbClr val="C8102E"/>
          </a:solidFill>
          <a:ln w="12700">
            <a:solidFill>
              <a:srgbClr val="FFFFFF"/>
            </a:solidFill>
          </a:ln>
        </p:spPr>
      </p:sp>
      <p:sp>
        <p:nvSpPr>
          <p:cNvPr id="396" name="T"/>
          <p:cNvSpPr txBox="1"/>
          <p:nvPr/>
        </p:nvSpPr>
        <p:spPr>
          <a:xfrm>
            <a:off x="4351619" y="4654486"/>
            <a:ext cx="137160" cy="13716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700"/>
          </a:p>
        </p:txBody>
      </p:sp>
      <p:sp>
        <p:nvSpPr>
          <p:cNvPr id="397" name="T"/>
          <p:cNvSpPr txBox="1"/>
          <p:nvPr/>
        </p:nvSpPr>
        <p:spPr>
          <a:xfrm>
            <a:off x="4492620" y="4742086"/>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NTB</a:t>
            </a:r>
            <a:endParaRPr lang="id-ID" sz="750"/>
          </a:p>
        </p:txBody>
      </p:sp>
      <p:sp>
        <p:nvSpPr>
          <p:cNvPr id="398" name="K"/>
          <p:cNvSpPr/>
          <p:nvPr/>
        </p:nvSpPr>
        <p:spPr>
          <a:xfrm>
            <a:off x="3096361" y="3272093"/>
            <a:ext cx="219456" cy="219456"/>
          </a:xfrm>
          <a:prstGeom prst="ellipse">
            <a:avLst/>
          </a:prstGeom>
          <a:solidFill>
            <a:srgbClr val="D9600B"/>
          </a:solidFill>
          <a:ln w="19050">
            <a:solidFill>
              <a:srgbClr val="FFFFFF"/>
            </a:solidFill>
          </a:ln>
        </p:spPr>
      </p:sp>
      <p:sp>
        <p:nvSpPr>
          <p:cNvPr id="399" name="T"/>
          <p:cNvSpPr txBox="1"/>
          <p:nvPr/>
        </p:nvSpPr>
        <p:spPr>
          <a:xfrm>
            <a:off x="3096361" y="3272093"/>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400" name="T"/>
          <p:cNvSpPr txBox="1"/>
          <p:nvPr/>
        </p:nvSpPr>
        <p:spPr>
          <a:xfrm>
            <a:off x="1578457" y="3308669"/>
            <a:ext cx="1463040" cy="146304"/>
          </a:xfrm>
          <a:prstGeom prst="rect">
            <a:avLst/>
          </a:prstGeom>
          <a:noFill/>
        </p:spPr>
        <p:txBody>
          <a:bodyPr wrap="square" lIns="0" tIns="0" rIns="0" bIns="0" anchor="ctr"/>
          <a:lstStyle/>
          <a:p>
            <a:pPr algn="r">
              <a:buNone/>
            </a:pPr>
            <a:r>
              <a:rPr lang="id-ID" sz="750" b="1" dirty="0">
                <a:solidFill>
                  <a:srgbClr val="1A1A1A"/>
                </a:solidFill>
                <a:latin typeface="Roboto"/>
                <a:ea typeface="Roboto"/>
                <a:cs typeface="Roboto"/>
              </a:rPr>
              <a:t>Kal. Barat</a:t>
            </a:r>
            <a:endParaRPr lang="id-ID" sz="750"/>
          </a:p>
        </p:txBody>
      </p:sp>
      <p:sp>
        <p:nvSpPr>
          <p:cNvPr id="401" name="K"/>
          <p:cNvSpPr/>
          <p:nvPr/>
        </p:nvSpPr>
        <p:spPr>
          <a:xfrm>
            <a:off x="1684296" y="3544753"/>
            <a:ext cx="219456" cy="219456"/>
          </a:xfrm>
          <a:prstGeom prst="ellipse">
            <a:avLst/>
          </a:prstGeom>
          <a:solidFill>
            <a:srgbClr val="D9600B"/>
          </a:solidFill>
          <a:ln w="19050">
            <a:solidFill>
              <a:srgbClr val="FFFFFF"/>
            </a:solidFill>
          </a:ln>
        </p:spPr>
      </p:sp>
      <p:sp>
        <p:nvSpPr>
          <p:cNvPr id="402" name="T"/>
          <p:cNvSpPr txBox="1"/>
          <p:nvPr/>
        </p:nvSpPr>
        <p:spPr>
          <a:xfrm>
            <a:off x="1684296" y="3544753"/>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403" name="T"/>
          <p:cNvSpPr txBox="1"/>
          <p:nvPr/>
        </p:nvSpPr>
        <p:spPr>
          <a:xfrm>
            <a:off x="166392" y="3581329"/>
            <a:ext cx="1463040" cy="146304"/>
          </a:xfrm>
          <a:prstGeom prst="rect">
            <a:avLst/>
          </a:prstGeom>
          <a:noFill/>
        </p:spPr>
        <p:txBody>
          <a:bodyPr wrap="square" lIns="0" tIns="0" rIns="0" bIns="0" anchor="ctr"/>
          <a:lstStyle/>
          <a:p>
            <a:pPr algn="r">
              <a:buNone/>
            </a:pPr>
            <a:r>
              <a:rPr lang="id-ID" sz="750" b="1" dirty="0">
                <a:solidFill>
                  <a:srgbClr val="1A1A1A"/>
                </a:solidFill>
                <a:latin typeface="Roboto"/>
                <a:ea typeface="Roboto"/>
                <a:cs typeface="Roboto"/>
              </a:rPr>
              <a:t>Jambi</a:t>
            </a:r>
            <a:endParaRPr lang="id-ID" sz="750"/>
          </a:p>
        </p:txBody>
      </p:sp>
      <p:sp>
        <p:nvSpPr>
          <p:cNvPr id="404" name="K"/>
          <p:cNvSpPr/>
          <p:nvPr/>
        </p:nvSpPr>
        <p:spPr>
          <a:xfrm>
            <a:off x="1927738" y="3798728"/>
            <a:ext cx="219456" cy="219456"/>
          </a:xfrm>
          <a:prstGeom prst="ellipse">
            <a:avLst/>
          </a:prstGeom>
          <a:solidFill>
            <a:srgbClr val="D9600B"/>
          </a:solidFill>
          <a:ln w="19050">
            <a:solidFill>
              <a:srgbClr val="FFFFFF"/>
            </a:solidFill>
          </a:ln>
        </p:spPr>
      </p:sp>
      <p:sp>
        <p:nvSpPr>
          <p:cNvPr id="405" name="T"/>
          <p:cNvSpPr txBox="1"/>
          <p:nvPr/>
        </p:nvSpPr>
        <p:spPr>
          <a:xfrm>
            <a:off x="1927738" y="3798728"/>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406" name="T"/>
          <p:cNvSpPr txBox="1"/>
          <p:nvPr/>
        </p:nvSpPr>
        <p:spPr>
          <a:xfrm>
            <a:off x="409834" y="3835304"/>
            <a:ext cx="1463040" cy="146304"/>
          </a:xfrm>
          <a:prstGeom prst="rect">
            <a:avLst/>
          </a:prstGeom>
          <a:noFill/>
        </p:spPr>
        <p:txBody>
          <a:bodyPr wrap="square" lIns="0" tIns="0" rIns="0" bIns="0" anchor="ctr"/>
          <a:lstStyle/>
          <a:p>
            <a:pPr algn="r">
              <a:buNone/>
            </a:pPr>
            <a:r>
              <a:rPr lang="id-ID" sz="750" b="1" dirty="0">
                <a:solidFill>
                  <a:srgbClr val="1A1A1A"/>
                </a:solidFill>
                <a:latin typeface="Roboto"/>
                <a:ea typeface="Roboto"/>
                <a:cs typeface="Roboto"/>
              </a:rPr>
              <a:t>Sum. Selatan</a:t>
            </a:r>
            <a:endParaRPr lang="id-ID" sz="750"/>
          </a:p>
        </p:txBody>
      </p:sp>
      <p:sp>
        <p:nvSpPr>
          <p:cNvPr id="407" name="K"/>
          <p:cNvSpPr/>
          <p:nvPr/>
        </p:nvSpPr>
        <p:spPr>
          <a:xfrm>
            <a:off x="1526329" y="3185000"/>
            <a:ext cx="219456" cy="219456"/>
          </a:xfrm>
          <a:prstGeom prst="ellipse">
            <a:avLst/>
          </a:prstGeom>
          <a:solidFill>
            <a:srgbClr val="D9600B"/>
          </a:solidFill>
          <a:ln w="19050">
            <a:solidFill>
              <a:srgbClr val="FFFFFF"/>
            </a:solidFill>
          </a:ln>
        </p:spPr>
      </p:sp>
      <p:sp>
        <p:nvSpPr>
          <p:cNvPr id="408" name="T"/>
          <p:cNvSpPr txBox="1"/>
          <p:nvPr/>
        </p:nvSpPr>
        <p:spPr>
          <a:xfrm>
            <a:off x="1526329" y="3185000"/>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409" name="T"/>
          <p:cNvSpPr txBox="1"/>
          <p:nvPr/>
        </p:nvSpPr>
        <p:spPr>
          <a:xfrm>
            <a:off x="1800649" y="3221576"/>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Riau</a:t>
            </a:r>
            <a:endParaRPr lang="id-ID" sz="750"/>
          </a:p>
        </p:txBody>
      </p:sp>
      <p:sp>
        <p:nvSpPr>
          <p:cNvPr id="410" name="K"/>
          <p:cNvSpPr/>
          <p:nvPr/>
        </p:nvSpPr>
        <p:spPr>
          <a:xfrm>
            <a:off x="2069993" y="4083051"/>
            <a:ext cx="219456" cy="219456"/>
          </a:xfrm>
          <a:prstGeom prst="ellipse">
            <a:avLst/>
          </a:prstGeom>
          <a:solidFill>
            <a:srgbClr val="D9600B"/>
          </a:solidFill>
          <a:ln w="19050">
            <a:solidFill>
              <a:srgbClr val="FFFFFF"/>
            </a:solidFill>
          </a:ln>
        </p:spPr>
      </p:sp>
      <p:sp>
        <p:nvSpPr>
          <p:cNvPr id="411" name="T"/>
          <p:cNvSpPr txBox="1"/>
          <p:nvPr/>
        </p:nvSpPr>
        <p:spPr>
          <a:xfrm>
            <a:off x="2069993" y="4083051"/>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412" name="T"/>
          <p:cNvSpPr txBox="1"/>
          <p:nvPr/>
        </p:nvSpPr>
        <p:spPr>
          <a:xfrm>
            <a:off x="2344313" y="4119627"/>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Lampung</a:t>
            </a:r>
            <a:endParaRPr lang="id-ID" sz="750"/>
          </a:p>
        </p:txBody>
      </p:sp>
      <p:sp>
        <p:nvSpPr>
          <p:cNvPr id="413" name="K"/>
          <p:cNvSpPr/>
          <p:nvPr/>
        </p:nvSpPr>
        <p:spPr>
          <a:xfrm>
            <a:off x="695709" y="2520018"/>
            <a:ext cx="265176" cy="265176"/>
          </a:xfrm>
          <a:prstGeom prst="ellipse">
            <a:avLst/>
          </a:prstGeom>
          <a:solidFill>
            <a:srgbClr val="0E7490"/>
          </a:solidFill>
          <a:ln w="19050">
            <a:solidFill>
              <a:srgbClr val="FFFFFF"/>
            </a:solidFill>
          </a:ln>
        </p:spPr>
      </p:sp>
      <p:sp>
        <p:nvSpPr>
          <p:cNvPr id="414" name="T"/>
          <p:cNvSpPr txBox="1"/>
          <p:nvPr/>
        </p:nvSpPr>
        <p:spPr>
          <a:xfrm>
            <a:off x="695709" y="2520018"/>
            <a:ext cx="265176" cy="26517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3</a:t>
            </a:r>
            <a:endParaRPr lang="id-ID" sz="850"/>
          </a:p>
        </p:txBody>
      </p:sp>
      <p:sp>
        <p:nvSpPr>
          <p:cNvPr id="415" name="K"/>
          <p:cNvSpPr/>
          <p:nvPr/>
        </p:nvSpPr>
        <p:spPr>
          <a:xfrm>
            <a:off x="871091" y="2472652"/>
            <a:ext cx="137160" cy="137160"/>
          </a:xfrm>
          <a:prstGeom prst="ellipse">
            <a:avLst/>
          </a:prstGeom>
          <a:solidFill>
            <a:srgbClr val="C8102E"/>
          </a:solidFill>
          <a:ln w="12700">
            <a:solidFill>
              <a:srgbClr val="FFFFFF"/>
            </a:solidFill>
          </a:ln>
        </p:spPr>
      </p:sp>
      <p:sp>
        <p:nvSpPr>
          <p:cNvPr id="416" name="T"/>
          <p:cNvSpPr txBox="1"/>
          <p:nvPr/>
        </p:nvSpPr>
        <p:spPr>
          <a:xfrm>
            <a:off x="871091" y="2472652"/>
            <a:ext cx="137160" cy="13716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700"/>
          </a:p>
        </p:txBody>
      </p:sp>
      <p:sp>
        <p:nvSpPr>
          <p:cNvPr id="417" name="T"/>
          <p:cNvSpPr txBox="1"/>
          <p:nvPr/>
        </p:nvSpPr>
        <p:spPr>
          <a:xfrm>
            <a:off x="1015749" y="2579454"/>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Aceh</a:t>
            </a:r>
            <a:endParaRPr lang="id-ID" sz="750"/>
          </a:p>
        </p:txBody>
      </p:sp>
      <p:sp>
        <p:nvSpPr>
          <p:cNvPr id="418" name="K"/>
          <p:cNvSpPr/>
          <p:nvPr/>
        </p:nvSpPr>
        <p:spPr>
          <a:xfrm>
            <a:off x="1066519" y="2852005"/>
            <a:ext cx="265176" cy="265176"/>
          </a:xfrm>
          <a:prstGeom prst="ellipse">
            <a:avLst/>
          </a:prstGeom>
          <a:solidFill>
            <a:srgbClr val="2F6FB5"/>
          </a:solidFill>
          <a:ln w="19050">
            <a:solidFill>
              <a:srgbClr val="FFFFFF"/>
            </a:solidFill>
          </a:ln>
        </p:spPr>
      </p:sp>
      <p:sp>
        <p:nvSpPr>
          <p:cNvPr id="419" name="T"/>
          <p:cNvSpPr txBox="1"/>
          <p:nvPr/>
        </p:nvSpPr>
        <p:spPr>
          <a:xfrm>
            <a:off x="1066519" y="2852005"/>
            <a:ext cx="265176" cy="26517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3</a:t>
            </a:r>
            <a:endParaRPr lang="id-ID" sz="850"/>
          </a:p>
        </p:txBody>
      </p:sp>
      <p:sp>
        <p:nvSpPr>
          <p:cNvPr id="420" name="T"/>
          <p:cNvSpPr txBox="1"/>
          <p:nvPr/>
        </p:nvSpPr>
        <p:spPr>
          <a:xfrm>
            <a:off x="467587" y="3144613"/>
            <a:ext cx="1463040" cy="146304"/>
          </a:xfrm>
          <a:prstGeom prst="rect">
            <a:avLst/>
          </a:prstGeom>
          <a:noFill/>
        </p:spPr>
        <p:txBody>
          <a:bodyPr wrap="square" lIns="0" tIns="0" rIns="0" bIns="0" anchor="ctr"/>
          <a:lstStyle/>
          <a:p>
            <a:pPr algn="ctr">
              <a:buNone/>
            </a:pPr>
            <a:r>
              <a:rPr lang="id-ID" sz="750" b="1" dirty="0">
                <a:solidFill>
                  <a:srgbClr val="1A1A1A"/>
                </a:solidFill>
                <a:latin typeface="Roboto"/>
                <a:ea typeface="Roboto"/>
                <a:cs typeface="Roboto"/>
              </a:rPr>
              <a:t>Sum. Utara</a:t>
            </a:r>
            <a:endParaRPr lang="id-ID" sz="750"/>
          </a:p>
        </p:txBody>
      </p:sp>
      <p:sp>
        <p:nvSpPr>
          <p:cNvPr id="421" name="K"/>
          <p:cNvSpPr/>
          <p:nvPr/>
        </p:nvSpPr>
        <p:spPr>
          <a:xfrm>
            <a:off x="1371600" y="5216652"/>
            <a:ext cx="128016" cy="128016"/>
          </a:xfrm>
          <a:prstGeom prst="rect">
            <a:avLst/>
          </a:prstGeom>
          <a:solidFill>
            <a:srgbClr val="D9600B"/>
          </a:solidFill>
          <a:ln>
            <a:noFill/>
          </a:ln>
        </p:spPr>
      </p:sp>
      <p:sp>
        <p:nvSpPr>
          <p:cNvPr id="422" name="T"/>
          <p:cNvSpPr txBox="1"/>
          <p:nvPr/>
        </p:nvSpPr>
        <p:spPr>
          <a:xfrm>
            <a:off x="1554480" y="5184648"/>
            <a:ext cx="1100000" cy="192024"/>
          </a:xfrm>
          <a:prstGeom prst="rect">
            <a:avLst/>
          </a:prstGeom>
          <a:noFill/>
        </p:spPr>
        <p:txBody>
          <a:bodyPr wrap="square" lIns="0" tIns="0" rIns="0" bIns="0" anchor="ctr"/>
          <a:lstStyle/>
          <a:p>
            <a:pPr algn="l">
              <a:buNone/>
            </a:pPr>
            <a:r>
              <a:rPr lang="id-ID" sz="750" dirty="0">
                <a:solidFill>
                  <a:srgbClr val="1A1A1A"/>
                </a:solidFill>
                <a:latin typeface="Roboto"/>
                <a:ea typeface="Roboto"/>
                <a:cs typeface="Roboto"/>
              </a:rPr>
              <a:t>karhutla</a:t>
            </a:r>
            <a:endParaRPr lang="id-ID" sz="750"/>
          </a:p>
        </p:txBody>
      </p:sp>
      <p:sp>
        <p:nvSpPr>
          <p:cNvPr id="423" name="K"/>
          <p:cNvSpPr/>
          <p:nvPr/>
        </p:nvSpPr>
        <p:spPr>
          <a:xfrm>
            <a:off x="2199080" y="5207508"/>
            <a:ext cx="146304" cy="146304"/>
          </a:xfrm>
          <a:prstGeom prst="ellipse">
            <a:avLst/>
          </a:prstGeom>
          <a:solidFill>
            <a:srgbClr val="5B7A99"/>
          </a:solidFill>
          <a:ln>
            <a:noFill/>
          </a:ln>
        </p:spPr>
      </p:sp>
      <p:sp>
        <p:nvSpPr>
          <p:cNvPr id="424" name="T"/>
          <p:cNvSpPr txBox="1"/>
          <p:nvPr/>
        </p:nvSpPr>
        <p:spPr>
          <a:xfrm>
            <a:off x="2400248" y="5184648"/>
            <a:ext cx="1100000" cy="192024"/>
          </a:xfrm>
          <a:prstGeom prst="rect">
            <a:avLst/>
          </a:prstGeom>
          <a:noFill/>
        </p:spPr>
        <p:txBody>
          <a:bodyPr wrap="square" lIns="0" tIns="0" rIns="0" bIns="0" anchor="ctr"/>
          <a:lstStyle/>
          <a:p>
            <a:pPr algn="l">
              <a:buNone/>
            </a:pPr>
            <a:r>
              <a:rPr lang="id-ID" sz="750" dirty="0">
                <a:solidFill>
                  <a:srgbClr val="1A1A1A"/>
                </a:solidFill>
                <a:latin typeface="Roboto"/>
                <a:ea typeface="Roboto"/>
                <a:cs typeface="Roboto"/>
              </a:rPr>
              <a:t>gempa bumi</a:t>
            </a:r>
            <a:endParaRPr lang="id-ID" sz="750"/>
          </a:p>
        </p:txBody>
      </p:sp>
      <p:sp>
        <p:nvSpPr>
          <p:cNvPr id="425" name="K"/>
          <p:cNvSpPr/>
          <p:nvPr/>
        </p:nvSpPr>
        <p:spPr>
          <a:xfrm>
            <a:off x="3148848" y="5207508"/>
            <a:ext cx="146304" cy="146304"/>
          </a:xfrm>
          <a:prstGeom prst="ellipse">
            <a:avLst/>
          </a:prstGeom>
          <a:solidFill>
            <a:srgbClr val="2F6FB5"/>
          </a:solidFill>
          <a:ln>
            <a:noFill/>
          </a:ln>
        </p:spPr>
      </p:sp>
      <p:sp>
        <p:nvSpPr>
          <p:cNvPr id="426" name="T"/>
          <p:cNvSpPr txBox="1"/>
          <p:nvPr/>
        </p:nvSpPr>
        <p:spPr>
          <a:xfrm>
            <a:off x="3350016" y="5184648"/>
            <a:ext cx="1100000" cy="192024"/>
          </a:xfrm>
          <a:prstGeom prst="rect">
            <a:avLst/>
          </a:prstGeom>
          <a:noFill/>
        </p:spPr>
        <p:txBody>
          <a:bodyPr wrap="square" lIns="0" tIns="0" rIns="0" bIns="0" anchor="ctr"/>
          <a:lstStyle/>
          <a:p>
            <a:pPr algn="l">
              <a:buNone/>
            </a:pPr>
            <a:r>
              <a:rPr lang="id-ID" sz="750" dirty="0">
                <a:solidFill>
                  <a:srgbClr val="1A1A1A"/>
                </a:solidFill>
                <a:latin typeface="Roboto"/>
                <a:ea typeface="Roboto"/>
                <a:cs typeface="Roboto"/>
              </a:rPr>
              <a:t>banjir</a:t>
            </a:r>
            <a:endParaRPr lang="id-ID" sz="750"/>
          </a:p>
        </p:txBody>
      </p:sp>
      <p:sp>
        <p:nvSpPr>
          <p:cNvPr id="427" name="K"/>
          <p:cNvSpPr/>
          <p:nvPr/>
        </p:nvSpPr>
        <p:spPr>
          <a:xfrm>
            <a:off x="3890616" y="5207508"/>
            <a:ext cx="146304" cy="146304"/>
          </a:xfrm>
          <a:prstGeom prst="ellipse">
            <a:avLst/>
          </a:prstGeom>
          <a:solidFill>
            <a:srgbClr val="0E7490"/>
          </a:solidFill>
          <a:ln>
            <a:noFill/>
          </a:ln>
        </p:spPr>
      </p:sp>
      <p:sp>
        <p:nvSpPr>
          <p:cNvPr id="428" name="T"/>
          <p:cNvSpPr txBox="1"/>
          <p:nvPr/>
        </p:nvSpPr>
        <p:spPr>
          <a:xfrm>
            <a:off x="4091784" y="5184648"/>
            <a:ext cx="1100000" cy="192024"/>
          </a:xfrm>
          <a:prstGeom prst="rect">
            <a:avLst/>
          </a:prstGeom>
          <a:noFill/>
        </p:spPr>
        <p:txBody>
          <a:bodyPr wrap="square" lIns="0" tIns="0" rIns="0" bIns="0" anchor="ctr"/>
          <a:lstStyle/>
          <a:p>
            <a:pPr algn="l">
              <a:buNone/>
            </a:pPr>
            <a:r>
              <a:rPr lang="id-ID" sz="750" dirty="0">
                <a:solidFill>
                  <a:srgbClr val="1A1A1A"/>
                </a:solidFill>
                <a:latin typeface="Roboto"/>
                <a:ea typeface="Roboto"/>
                <a:cs typeface="Roboto"/>
              </a:rPr>
              <a:t>angin kencang</a:t>
            </a:r>
            <a:endParaRPr lang="id-ID" sz="750"/>
          </a:p>
        </p:txBody>
      </p:sp>
      <p:sp>
        <p:nvSpPr>
          <p:cNvPr id="429" name="K"/>
          <p:cNvSpPr/>
          <p:nvPr/>
        </p:nvSpPr>
        <p:spPr>
          <a:xfrm>
            <a:off x="4996384" y="5207508"/>
            <a:ext cx="146304" cy="146304"/>
          </a:xfrm>
          <a:prstGeom prst="ellipse">
            <a:avLst/>
          </a:prstGeom>
          <a:solidFill>
            <a:srgbClr val="C8102E"/>
          </a:solidFill>
          <a:ln>
            <a:noFill/>
          </a:ln>
        </p:spPr>
      </p:sp>
      <p:sp>
        <p:nvSpPr>
          <p:cNvPr id="430" name="T"/>
          <p:cNvSpPr txBox="1"/>
          <p:nvPr/>
        </p:nvSpPr>
        <p:spPr>
          <a:xfrm>
            <a:off x="4996384" y="5207508"/>
            <a:ext cx="146304" cy="146304"/>
          </a:xfrm>
          <a:prstGeom prst="rect">
            <a:avLst/>
          </a:prstGeom>
          <a:noFill/>
        </p:spPr>
        <p:txBody>
          <a:bodyPr wrap="square" lIns="0" tIns="0" rIns="0" bIns="0" anchor="ctr"/>
          <a:lstStyle/>
          <a:p>
            <a:pPr algn="ctr">
              <a:buNone/>
            </a:pPr>
            <a:r>
              <a:rPr lang="id-ID" sz="750" b="1" dirty="0">
                <a:solidFill>
                  <a:srgbClr val="FFFFFF"/>
                </a:solidFill>
                <a:latin typeface="Roboto"/>
                <a:ea typeface="Roboto"/>
                <a:cs typeface="Roboto"/>
              </a:rPr>
              <a:t>!</a:t>
            </a:r>
            <a:endParaRPr lang="id-ID" sz="750"/>
          </a:p>
        </p:txBody>
      </p:sp>
      <p:sp>
        <p:nvSpPr>
          <p:cNvPr id="431" name="T"/>
          <p:cNvSpPr txBox="1"/>
          <p:nvPr/>
        </p:nvSpPr>
        <p:spPr>
          <a:xfrm>
            <a:off x="5197552" y="5184648"/>
            <a:ext cx="1100000" cy="192024"/>
          </a:xfrm>
          <a:prstGeom prst="rect">
            <a:avLst/>
          </a:prstGeom>
          <a:noFill/>
        </p:spPr>
        <p:txBody>
          <a:bodyPr wrap="square" lIns="0" tIns="0" rIns="0" bIns="0" anchor="ctr"/>
          <a:lstStyle/>
          <a:p>
            <a:pPr algn="l">
              <a:buNone/>
            </a:pPr>
            <a:r>
              <a:rPr lang="id-ID" sz="750" dirty="0">
                <a:solidFill>
                  <a:srgbClr val="1A1A1A"/>
                </a:solidFill>
                <a:latin typeface="Roboto"/>
                <a:ea typeface="Roboto"/>
                <a:cs typeface="Roboto"/>
              </a:rPr>
              <a:t>perlu perhatian</a:t>
            </a:r>
            <a:endParaRPr lang="id-ID" sz="750"/>
          </a:p>
        </p:txBody>
      </p:sp>
      <p:sp>
        <p:nvSpPr>
          <p:cNvPr id="432" name="K"/>
          <p:cNvSpPr/>
          <p:nvPr/>
        </p:nvSpPr>
        <p:spPr>
          <a:xfrm>
            <a:off x="8503920" y="2331720"/>
            <a:ext cx="3139135" cy="3017520"/>
          </a:xfrm>
          <a:prstGeom prst="roundRect">
            <a:avLst>
              <a:gd name="adj" fmla="val 3000"/>
            </a:avLst>
          </a:prstGeom>
          <a:solidFill>
            <a:srgbClr val="FFFFFF"/>
          </a:solidFill>
          <a:ln w="9525">
            <a:solidFill>
              <a:srgbClr val="BFC5CC"/>
            </a:solidFill>
          </a:ln>
        </p:spPr>
      </p:sp>
      <p:sp>
        <p:nvSpPr>
          <p:cNvPr id="433" name="T"/>
          <p:cNvSpPr txBox="1"/>
          <p:nvPr/>
        </p:nvSpPr>
        <p:spPr>
          <a:xfrm>
            <a:off x="8668512" y="2441448"/>
            <a:ext cx="2864815" cy="182880"/>
          </a:xfrm>
          <a:prstGeom prst="rect">
            <a:avLst/>
          </a:prstGeom>
          <a:noFill/>
        </p:spPr>
        <p:txBody>
          <a:bodyPr wrap="square" lIns="0" tIns="0" rIns="0" bIns="0" anchor="t"/>
          <a:lstStyle/>
          <a:p>
            <a:pPr algn="l">
              <a:buNone/>
            </a:pPr>
            <a:r>
              <a:rPr lang="id-ID" sz="750" b="1" spc="100" dirty="0">
                <a:solidFill>
                  <a:srgbClr val="051C2C"/>
                </a:solidFill>
                <a:latin typeface="Roboto"/>
                <a:ea typeface="Roboto"/>
                <a:cs typeface="Roboto"/>
              </a:rPr>
              <a:t>STATUS PENANGANAN</a:t>
            </a:r>
            <a:endParaRPr lang="id-ID" sz="750"/>
          </a:p>
        </p:txBody>
      </p:sp>
      <p:sp>
        <p:nvSpPr>
          <p:cNvPr id="434" name="K"/>
          <p:cNvSpPr/>
          <p:nvPr/>
        </p:nvSpPr>
        <p:spPr>
          <a:xfrm>
            <a:off x="8668512" y="2697480"/>
            <a:ext cx="561990" cy="201168"/>
          </a:xfrm>
          <a:prstGeom prst="rect">
            <a:avLst/>
          </a:prstGeom>
          <a:solidFill>
            <a:srgbClr val="051C2C"/>
          </a:solidFill>
          <a:ln>
            <a:noFill/>
          </a:ln>
        </p:spPr>
      </p:sp>
      <p:sp>
        <p:nvSpPr>
          <p:cNvPr id="435" name="T"/>
          <p:cNvSpPr txBox="1"/>
          <p:nvPr/>
        </p:nvSpPr>
        <p:spPr>
          <a:xfrm>
            <a:off x="8668512" y="2697480"/>
            <a:ext cx="561990" cy="201168"/>
          </a:xfrm>
          <a:prstGeom prst="rect">
            <a:avLst/>
          </a:prstGeom>
          <a:noFill/>
        </p:spPr>
        <p:txBody>
          <a:bodyPr wrap="square" lIns="0" tIns="0" rIns="0" bIns="0" anchor="ctr"/>
          <a:lstStyle/>
          <a:p>
            <a:pPr algn="ctr">
              <a:buNone/>
            </a:pPr>
            <a:r>
              <a:rPr lang="id-ID" sz="750" b="1" dirty="0">
                <a:solidFill>
                  <a:srgbClr val="FFFFFF"/>
                </a:solidFill>
                <a:latin typeface="Roboto"/>
                <a:ea typeface="Roboto"/>
                <a:cs typeface="Roboto"/>
              </a:rPr>
              <a:t>20%</a:t>
            </a:r>
            <a:endParaRPr lang="id-ID" sz="750"/>
          </a:p>
        </p:txBody>
      </p:sp>
      <p:sp>
        <p:nvSpPr>
          <p:cNvPr id="436" name="K"/>
          <p:cNvSpPr/>
          <p:nvPr/>
        </p:nvSpPr>
        <p:spPr>
          <a:xfrm>
            <a:off x="9230502" y="2697480"/>
            <a:ext cx="2247961" cy="201168"/>
          </a:xfrm>
          <a:prstGeom prst="rect">
            <a:avLst/>
          </a:prstGeom>
          <a:solidFill>
            <a:srgbClr val="D9600B"/>
          </a:solidFill>
          <a:ln>
            <a:noFill/>
          </a:ln>
        </p:spPr>
      </p:sp>
      <p:sp>
        <p:nvSpPr>
          <p:cNvPr id="437" name="T"/>
          <p:cNvSpPr txBox="1"/>
          <p:nvPr/>
        </p:nvSpPr>
        <p:spPr>
          <a:xfrm>
            <a:off x="9230502" y="2697480"/>
            <a:ext cx="2247961" cy="201168"/>
          </a:xfrm>
          <a:prstGeom prst="rect">
            <a:avLst/>
          </a:prstGeom>
          <a:noFill/>
        </p:spPr>
        <p:txBody>
          <a:bodyPr wrap="square" lIns="0" tIns="0" rIns="0" bIns="0" anchor="ctr"/>
          <a:lstStyle/>
          <a:p>
            <a:pPr algn="ctr">
              <a:buNone/>
            </a:pPr>
            <a:r>
              <a:rPr lang="id-ID" sz="750" b="1" dirty="0">
                <a:solidFill>
                  <a:srgbClr val="FFFFFF"/>
                </a:solidFill>
                <a:latin typeface="Roboto"/>
                <a:ea typeface="Roboto"/>
                <a:cs typeface="Roboto"/>
              </a:rPr>
              <a:t>80%</a:t>
            </a:r>
            <a:endParaRPr lang="id-ID" sz="750"/>
          </a:p>
        </p:txBody>
      </p:sp>
      <p:sp>
        <p:nvSpPr>
          <p:cNvPr id="438" name="K"/>
          <p:cNvSpPr/>
          <p:nvPr/>
        </p:nvSpPr>
        <p:spPr>
          <a:xfrm>
            <a:off x="8668512" y="2971800"/>
            <a:ext cx="1368400" cy="512064"/>
          </a:xfrm>
          <a:prstGeom prst="roundRect">
            <a:avLst>
              <a:gd name="adj" fmla="val 9000"/>
            </a:avLst>
          </a:prstGeom>
          <a:solidFill>
            <a:srgbClr val="E6EAF0"/>
          </a:solidFill>
          <a:ln>
            <a:noFill/>
          </a:ln>
        </p:spPr>
      </p:sp>
      <p:sp>
        <p:nvSpPr>
          <p:cNvPr id="439" name="K"/>
          <p:cNvSpPr/>
          <p:nvPr/>
        </p:nvSpPr>
        <p:spPr>
          <a:xfrm>
            <a:off x="8778240" y="3063240"/>
            <a:ext cx="329184" cy="329184"/>
          </a:xfrm>
          <a:prstGeom prst="ellipse">
            <a:avLst/>
          </a:prstGeom>
          <a:solidFill>
            <a:srgbClr val="051C2C"/>
          </a:solidFill>
          <a:ln>
            <a:noFill/>
          </a:ln>
        </p:spPr>
      </p:sp>
      <p:pic>
        <p:nvPicPr>
          <p:cNvPr id="440" name="G"/>
          <p:cNvPicPr>
            <a:picLocks noChangeAspect="1"/>
          </p:cNvPicPr>
          <p:nvPr/>
        </p:nvPicPr>
        <p:blipFill>
          <a:blip r:embed="rIdM10"/>
          <a:stretch>
            <a:fillRect/>
          </a:stretch>
        </p:blipFill>
        <p:spPr>
          <a:xfrm>
            <a:off x="8860536" y="3145536"/>
            <a:ext cx="164592" cy="164592"/>
          </a:xfrm>
          <a:prstGeom prst="rect">
            <a:avLst/>
          </a:prstGeom>
        </p:spPr>
      </p:pic>
      <p:sp>
        <p:nvSpPr>
          <p:cNvPr id="441" name="T"/>
          <p:cNvSpPr txBox="1"/>
          <p:nvPr/>
        </p:nvSpPr>
        <p:spPr>
          <a:xfrm>
            <a:off x="9180576" y="2990088"/>
            <a:ext cx="819760" cy="292608"/>
          </a:xfrm>
          <a:prstGeom prst="rect">
            <a:avLst/>
          </a:prstGeom>
          <a:noFill/>
        </p:spPr>
        <p:txBody>
          <a:bodyPr wrap="square" lIns="0" tIns="0" rIns="0" bIns="0" anchor="ctr"/>
          <a:lstStyle/>
          <a:p>
            <a:pPr algn="l">
              <a:buNone/>
            </a:pPr>
            <a:r>
              <a:rPr lang="id-ID" sz="1700" b="1" dirty="0">
                <a:solidFill>
                  <a:srgbClr val="051C2C"/>
                </a:solidFill>
                <a:latin typeface="Roboto"/>
                <a:ea typeface="Roboto"/>
                <a:cs typeface="Roboto"/>
              </a:rPr>
              <a:t>5</a:t>
            </a:r>
            <a:r>
              <a:rPr lang="id-ID" sz="1700" dirty="0">
                <a:solidFill>
                  <a:srgbClr val="2E3440"/>
                </a:solidFill>
                <a:latin typeface="Roboto"/>
                <a:ea typeface="Roboto"/>
                <a:cs typeface="Roboto"/>
              </a:rPr>
              <a:t>  / 25</a:t>
            </a:r>
            <a:endParaRPr lang="id-ID" sz="1700"/>
          </a:p>
        </p:txBody>
      </p:sp>
      <p:sp>
        <p:nvSpPr>
          <p:cNvPr id="442" name="T"/>
          <p:cNvSpPr txBox="1"/>
          <p:nvPr/>
        </p:nvSpPr>
        <p:spPr>
          <a:xfrm>
            <a:off x="9180576" y="3273552"/>
            <a:ext cx="840000" cy="164592"/>
          </a:xfrm>
          <a:prstGeom prst="rect">
            <a:avLst/>
          </a:prstGeom>
          <a:noFill/>
        </p:spPr>
        <p:txBody>
          <a:bodyPr wrap="square" lIns="0" tIns="0" rIns="0" bIns="0" anchor="t"/>
          <a:lstStyle/>
          <a:p>
            <a:pPr algn="l">
              <a:buNone/>
            </a:pPr>
            <a:r>
              <a:rPr lang="id-ID" sz="700" b="1" dirty="0">
                <a:solidFill>
                  <a:srgbClr val="051C2C"/>
                </a:solidFill>
                <a:latin typeface="Roboto"/>
                <a:ea typeface="Roboto"/>
                <a:cs typeface="Roboto"/>
              </a:rPr>
              <a:t>selesai</a:t>
            </a:r>
            <a:endParaRPr lang="id-ID" sz="680"/>
          </a:p>
        </p:txBody>
      </p:sp>
      <p:sp>
        <p:nvSpPr>
          <p:cNvPr id="443" name="K"/>
          <p:cNvSpPr/>
          <p:nvPr/>
        </p:nvSpPr>
        <p:spPr>
          <a:xfrm>
            <a:off x="10110064" y="2971800"/>
            <a:ext cx="1368400" cy="512064"/>
          </a:xfrm>
          <a:prstGeom prst="roundRect">
            <a:avLst>
              <a:gd name="adj" fmla="val 9000"/>
            </a:avLst>
          </a:prstGeom>
          <a:solidFill>
            <a:srgbClr val="FBE7D6"/>
          </a:solidFill>
          <a:ln>
            <a:noFill/>
          </a:ln>
        </p:spPr>
      </p:sp>
      <p:sp>
        <p:nvSpPr>
          <p:cNvPr id="444" name="K"/>
          <p:cNvSpPr/>
          <p:nvPr/>
        </p:nvSpPr>
        <p:spPr>
          <a:xfrm>
            <a:off x="10219792" y="3063240"/>
            <a:ext cx="329184" cy="329184"/>
          </a:xfrm>
          <a:prstGeom prst="ellipse">
            <a:avLst/>
          </a:prstGeom>
          <a:solidFill>
            <a:srgbClr val="D9600B"/>
          </a:solidFill>
          <a:ln>
            <a:noFill/>
          </a:ln>
        </p:spPr>
      </p:sp>
      <p:pic>
        <p:nvPicPr>
          <p:cNvPr id="445" name="G"/>
          <p:cNvPicPr>
            <a:picLocks noChangeAspect="1"/>
          </p:cNvPicPr>
          <p:nvPr/>
        </p:nvPicPr>
        <p:blipFill>
          <a:blip r:embed="rIdM11"/>
          <a:stretch>
            <a:fillRect/>
          </a:stretch>
        </p:blipFill>
        <p:spPr>
          <a:xfrm>
            <a:off x="10302088" y="3145536"/>
            <a:ext cx="164592" cy="164592"/>
          </a:xfrm>
          <a:prstGeom prst="rect">
            <a:avLst/>
          </a:prstGeom>
        </p:spPr>
      </p:pic>
      <p:sp>
        <p:nvSpPr>
          <p:cNvPr id="446" name="T"/>
          <p:cNvSpPr txBox="1"/>
          <p:nvPr/>
        </p:nvSpPr>
        <p:spPr>
          <a:xfrm>
            <a:off x="10622128" y="2990088"/>
            <a:ext cx="819760" cy="292608"/>
          </a:xfrm>
          <a:prstGeom prst="rect">
            <a:avLst/>
          </a:prstGeom>
          <a:noFill/>
        </p:spPr>
        <p:txBody>
          <a:bodyPr wrap="square" lIns="0" tIns="0" rIns="0" bIns="0" anchor="ctr"/>
          <a:lstStyle/>
          <a:p>
            <a:pPr algn="l">
              <a:buNone/>
            </a:pPr>
            <a:r>
              <a:rPr lang="id-ID" sz="1700" b="1" dirty="0">
                <a:solidFill>
                  <a:srgbClr val="D9600B"/>
                </a:solidFill>
                <a:latin typeface="Roboto"/>
                <a:ea typeface="Roboto"/>
                <a:cs typeface="Roboto"/>
              </a:rPr>
              <a:t>20</a:t>
            </a:r>
            <a:r>
              <a:rPr lang="id-ID" sz="1700" dirty="0">
                <a:solidFill>
                  <a:srgbClr val="2E3440"/>
                </a:solidFill>
                <a:latin typeface="Roboto"/>
                <a:ea typeface="Roboto"/>
                <a:cs typeface="Roboto"/>
              </a:rPr>
              <a:t>  / 25</a:t>
            </a:r>
            <a:endParaRPr lang="id-ID" sz="1700"/>
          </a:p>
        </p:txBody>
      </p:sp>
      <p:sp>
        <p:nvSpPr>
          <p:cNvPr id="447" name="T"/>
          <p:cNvSpPr txBox="1"/>
          <p:nvPr/>
        </p:nvSpPr>
        <p:spPr>
          <a:xfrm>
            <a:off x="10622128" y="3273552"/>
            <a:ext cx="840000" cy="164592"/>
          </a:xfrm>
          <a:prstGeom prst="rect">
            <a:avLst/>
          </a:prstGeom>
          <a:noFill/>
        </p:spPr>
        <p:txBody>
          <a:bodyPr wrap="square" lIns="0" tIns="0" rIns="0" bIns="0" anchor="t"/>
          <a:lstStyle/>
          <a:p>
            <a:pPr algn="l">
              <a:buNone/>
            </a:pPr>
            <a:r>
              <a:rPr lang="id-ID" sz="700" b="1" dirty="0">
                <a:solidFill>
                  <a:srgbClr val="D9600B"/>
                </a:solidFill>
                <a:latin typeface="Roboto"/>
                <a:ea typeface="Roboto"/>
                <a:cs typeface="Roboto"/>
              </a:rPr>
              <a:t>dalam penanganan</a:t>
            </a:r>
            <a:endParaRPr lang="id-ID" sz="680"/>
          </a:p>
        </p:txBody>
      </p:sp>
      <p:cxnSp>
        <p:nvCxnSpPr>
          <p:cNvPr id="448" name="L"/>
          <p:cNvCxnSpPr/>
          <p:nvPr/>
        </p:nvCxnSpPr>
        <p:spPr>
          <a:xfrm>
            <a:off x="8668512" y="3557016"/>
            <a:ext cx="2809951" cy="0"/>
          </a:xfrm>
          <a:prstGeom prst="line">
            <a:avLst/>
          </a:prstGeom>
          <a:ln w="9525">
            <a:solidFill>
              <a:srgbClr val="E5E7EB"/>
            </a:solidFill>
          </a:ln>
        </p:spPr>
      </p:cxnSp>
      <p:sp>
        <p:nvSpPr>
          <p:cNvPr id="449" name="T"/>
          <p:cNvSpPr txBox="1"/>
          <p:nvPr/>
        </p:nvSpPr>
        <p:spPr>
          <a:xfrm>
            <a:off x="8668512" y="3621024"/>
            <a:ext cx="2864815" cy="182880"/>
          </a:xfrm>
          <a:prstGeom prst="rect">
            <a:avLst/>
          </a:prstGeom>
          <a:noFill/>
        </p:spPr>
        <p:txBody>
          <a:bodyPr wrap="square" lIns="0" tIns="0" rIns="0" bIns="0" anchor="t"/>
          <a:lstStyle/>
          <a:p>
            <a:pPr algn="l">
              <a:buNone/>
            </a:pPr>
            <a:r>
              <a:rPr lang="id-ID" sz="750" b="1" spc="100" dirty="0">
                <a:solidFill>
                  <a:srgbClr val="C8102E"/>
                </a:solidFill>
                <a:latin typeface="Roboto"/>
                <a:ea typeface="Roboto"/>
                <a:cs typeface="Roboto"/>
              </a:rPr>
              <a:t>BENCANA DALAM PENANGANAN (20)</a:t>
            </a:r>
            <a:endParaRPr lang="id-ID" sz="750"/>
          </a:p>
        </p:txBody>
      </p:sp>
      <p:sp>
        <p:nvSpPr>
          <p:cNvPr id="450" name="K"/>
          <p:cNvSpPr/>
          <p:nvPr/>
        </p:nvSpPr>
        <p:spPr>
          <a:xfrm>
            <a:off x="8668512" y="3840480"/>
            <a:ext cx="106146" cy="106146"/>
          </a:xfrm>
          <a:prstGeom prst="ellipse">
            <a:avLst/>
          </a:prstGeom>
          <a:solidFill>
            <a:srgbClr val="D9600B"/>
          </a:solidFill>
          <a:ln>
            <a:noFill/>
          </a:ln>
        </p:spPr>
      </p:sp>
      <p:pic>
        <p:nvPicPr>
          <p:cNvPr id="451" name="G"/>
          <p:cNvPicPr>
            <a:picLocks noChangeAspect="1"/>
          </p:cNvPicPr>
          <p:nvPr/>
        </p:nvPicPr>
        <p:blipFill>
          <a:blip r:embed="rIdM12"/>
          <a:stretch>
            <a:fillRect/>
          </a:stretch>
        </p:blipFill>
        <p:spPr>
          <a:xfrm>
            <a:off x="8688679" y="3860647"/>
            <a:ext cx="65810" cy="65810"/>
          </a:xfrm>
          <a:prstGeom prst="rect">
            <a:avLst/>
          </a:prstGeom>
        </p:spPr>
      </p:pic>
      <p:sp>
        <p:nvSpPr>
          <p:cNvPr id="452" name="K"/>
          <p:cNvSpPr/>
          <p:nvPr/>
        </p:nvSpPr>
        <p:spPr>
          <a:xfrm>
            <a:off x="8742814" y="3819250"/>
            <a:ext cx="58380" cy="58380"/>
          </a:xfrm>
          <a:prstGeom prst="ellipse">
            <a:avLst/>
          </a:prstGeom>
          <a:solidFill>
            <a:srgbClr val="C8102E"/>
          </a:solidFill>
          <a:ln w="6350">
            <a:solidFill>
              <a:srgbClr val="FFFFFF"/>
            </a:solidFill>
          </a:ln>
        </p:spPr>
      </p:sp>
      <p:sp>
        <p:nvSpPr>
          <p:cNvPr id="453" name="T"/>
          <p:cNvSpPr txBox="1"/>
          <p:nvPr/>
        </p:nvSpPr>
        <p:spPr>
          <a:xfrm>
            <a:off x="8742814" y="3819250"/>
            <a:ext cx="58380" cy="5838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500"/>
          </a:p>
        </p:txBody>
      </p:sp>
      <p:sp>
        <p:nvSpPr>
          <p:cNvPr id="454" name="T"/>
          <p:cNvSpPr txBox="1"/>
          <p:nvPr/>
        </p:nvSpPr>
        <p:spPr>
          <a:xfrm>
            <a:off x="8869680" y="3811257"/>
            <a:ext cx="1758391" cy="164592"/>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Papua Selatan</a:t>
            </a:r>
            <a:endParaRPr lang="id-ID" sz="760"/>
          </a:p>
        </p:txBody>
      </p:sp>
      <p:sp>
        <p:nvSpPr>
          <p:cNvPr id="455" name="K"/>
          <p:cNvSpPr/>
          <p:nvPr/>
        </p:nvSpPr>
        <p:spPr>
          <a:xfrm>
            <a:off x="10470000" y="3840480"/>
            <a:ext cx="1070000" cy="106146"/>
          </a:xfrm>
          <a:prstGeom prst="roundRect">
            <a:avLst>
              <a:gd name="adj" fmla="val 50000"/>
            </a:avLst>
          </a:prstGeom>
          <a:solidFill>
            <a:srgbClr val="FBE7D6"/>
          </a:solidFill>
          <a:ln>
            <a:noFill/>
          </a:ln>
        </p:spPr>
      </p:sp>
      <p:pic>
        <p:nvPicPr>
          <p:cNvPr id="456" name="G"/>
          <p:cNvPicPr>
            <a:picLocks noChangeAspect="1"/>
          </p:cNvPicPr>
          <p:nvPr/>
        </p:nvPicPr>
        <p:blipFill>
          <a:blip r:embed="rIdM13"/>
          <a:stretch>
            <a:fillRect/>
          </a:stretch>
        </p:blipFill>
        <p:spPr>
          <a:xfrm>
            <a:off x="10520000" y="3857463"/>
            <a:ext cx="72179" cy="72179"/>
          </a:xfrm>
          <a:prstGeom prst="rect">
            <a:avLst/>
          </a:prstGeom>
        </p:spPr>
      </p:pic>
      <p:sp>
        <p:nvSpPr>
          <p:cNvPr id="457" name="T"/>
          <p:cNvSpPr txBox="1"/>
          <p:nvPr/>
        </p:nvSpPr>
        <p:spPr>
          <a:xfrm>
            <a:off x="10650000" y="3840480"/>
            <a:ext cx="26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sisa</a:t>
            </a:r>
            <a:endParaRPr lang="id-ID" sz="720"/>
          </a:p>
        </p:txBody>
      </p:sp>
      <p:sp>
        <p:nvSpPr>
          <p:cNvPr id="458" name="T"/>
          <p:cNvSpPr txBox="1"/>
          <p:nvPr/>
        </p:nvSpPr>
        <p:spPr>
          <a:xfrm>
            <a:off x="10800000" y="3840480"/>
            <a:ext cx="380000" cy="106146"/>
          </a:xfrm>
          <a:prstGeom prst="rect">
            <a:avLst/>
          </a:prstGeom>
          <a:noFill/>
        </p:spPr>
        <p:txBody>
          <a:bodyPr wrap="none" lIns="0" tIns="0" rIns="0" bIns="0" anchor="ctr"/>
          <a:lstStyle/>
          <a:p>
            <a:pPr algn="r">
              <a:buNone/>
            </a:pPr>
            <a:r>
              <a:rPr lang="id-ID" sz="720" b="1" dirty="0">
                <a:solidFill>
                  <a:srgbClr val="D9600B"/>
                </a:solidFill>
                <a:latin typeface="Roboto"/>
                <a:ea typeface="Roboto"/>
                <a:cs typeface="Roboto"/>
              </a:rPr>
              <a:t>± 549</a:t>
            </a:r>
            <a:endParaRPr lang="id-ID" sz="720"/>
          </a:p>
        </p:txBody>
      </p:sp>
      <p:sp>
        <p:nvSpPr>
          <p:cNvPr id="459" name="T"/>
          <p:cNvSpPr txBox="1"/>
          <p:nvPr/>
        </p:nvSpPr>
        <p:spPr>
          <a:xfrm>
            <a:off x="11201600" y="3840480"/>
            <a:ext cx="20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ha</a:t>
            </a:r>
            <a:endParaRPr lang="id-ID" sz="720"/>
          </a:p>
        </p:txBody>
      </p:sp>
      <p:cxnSp>
        <p:nvCxnSpPr>
          <p:cNvPr id="460" name="L"/>
          <p:cNvCxnSpPr/>
          <p:nvPr/>
        </p:nvCxnSpPr>
        <p:spPr>
          <a:xfrm>
            <a:off x="8668512" y="3959895"/>
            <a:ext cx="2809951" cy="0"/>
          </a:xfrm>
          <a:prstGeom prst="line">
            <a:avLst/>
          </a:prstGeom>
          <a:ln w="9525">
            <a:solidFill>
              <a:srgbClr val="F1F2F4"/>
            </a:solidFill>
          </a:ln>
        </p:spPr>
      </p:cxnSp>
      <p:sp>
        <p:nvSpPr>
          <p:cNvPr id="461" name="K"/>
          <p:cNvSpPr/>
          <p:nvPr/>
        </p:nvSpPr>
        <p:spPr>
          <a:xfrm>
            <a:off x="8668512" y="3973163"/>
            <a:ext cx="106146" cy="106146"/>
          </a:xfrm>
          <a:prstGeom prst="ellipse">
            <a:avLst/>
          </a:prstGeom>
          <a:solidFill>
            <a:srgbClr val="D9600B"/>
          </a:solidFill>
          <a:ln>
            <a:noFill/>
          </a:ln>
        </p:spPr>
      </p:sp>
      <p:pic>
        <p:nvPicPr>
          <p:cNvPr id="462" name="G"/>
          <p:cNvPicPr>
            <a:picLocks noChangeAspect="1"/>
          </p:cNvPicPr>
          <p:nvPr/>
        </p:nvPicPr>
        <p:blipFill>
          <a:blip r:embed="rIdM12"/>
          <a:stretch>
            <a:fillRect/>
          </a:stretch>
        </p:blipFill>
        <p:spPr>
          <a:xfrm>
            <a:off x="8688679" y="3993330"/>
            <a:ext cx="65810" cy="65810"/>
          </a:xfrm>
          <a:prstGeom prst="rect">
            <a:avLst/>
          </a:prstGeom>
        </p:spPr>
      </p:pic>
      <p:sp>
        <p:nvSpPr>
          <p:cNvPr id="463" name="K"/>
          <p:cNvSpPr/>
          <p:nvPr/>
        </p:nvSpPr>
        <p:spPr>
          <a:xfrm>
            <a:off x="8742814" y="3951933"/>
            <a:ext cx="58380" cy="58380"/>
          </a:xfrm>
          <a:prstGeom prst="ellipse">
            <a:avLst/>
          </a:prstGeom>
          <a:solidFill>
            <a:srgbClr val="C8102E"/>
          </a:solidFill>
          <a:ln w="6350">
            <a:solidFill>
              <a:srgbClr val="FFFFFF"/>
            </a:solidFill>
          </a:ln>
        </p:spPr>
      </p:sp>
      <p:sp>
        <p:nvSpPr>
          <p:cNvPr id="464" name="T"/>
          <p:cNvSpPr txBox="1"/>
          <p:nvPr/>
        </p:nvSpPr>
        <p:spPr>
          <a:xfrm>
            <a:off x="8742814" y="3951933"/>
            <a:ext cx="58380" cy="5838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500"/>
          </a:p>
        </p:txBody>
      </p:sp>
      <p:sp>
        <p:nvSpPr>
          <p:cNvPr id="465" name="T"/>
          <p:cNvSpPr txBox="1"/>
          <p:nvPr/>
        </p:nvSpPr>
        <p:spPr>
          <a:xfrm>
            <a:off x="8869680" y="3943940"/>
            <a:ext cx="1758391" cy="164592"/>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Kalimantan Tengah</a:t>
            </a:r>
            <a:endParaRPr lang="id-ID" sz="760"/>
          </a:p>
        </p:txBody>
      </p:sp>
      <p:sp>
        <p:nvSpPr>
          <p:cNvPr id="466" name="K"/>
          <p:cNvSpPr/>
          <p:nvPr/>
        </p:nvSpPr>
        <p:spPr>
          <a:xfrm>
            <a:off x="10470000" y="3973163"/>
            <a:ext cx="1070000" cy="106146"/>
          </a:xfrm>
          <a:prstGeom prst="roundRect">
            <a:avLst>
              <a:gd name="adj" fmla="val 50000"/>
            </a:avLst>
          </a:prstGeom>
          <a:solidFill>
            <a:srgbClr val="FBE7D6"/>
          </a:solidFill>
          <a:ln>
            <a:noFill/>
          </a:ln>
        </p:spPr>
      </p:sp>
      <p:pic>
        <p:nvPicPr>
          <p:cNvPr id="467" name="G"/>
          <p:cNvPicPr>
            <a:picLocks noChangeAspect="1"/>
          </p:cNvPicPr>
          <p:nvPr/>
        </p:nvPicPr>
        <p:blipFill>
          <a:blip r:embed="rIdM13"/>
          <a:stretch>
            <a:fillRect/>
          </a:stretch>
        </p:blipFill>
        <p:spPr>
          <a:xfrm>
            <a:off x="10520000" y="3990146"/>
            <a:ext cx="72179" cy="72179"/>
          </a:xfrm>
          <a:prstGeom prst="rect">
            <a:avLst/>
          </a:prstGeom>
        </p:spPr>
      </p:pic>
      <p:sp>
        <p:nvSpPr>
          <p:cNvPr id="468" name="T"/>
          <p:cNvSpPr txBox="1"/>
          <p:nvPr/>
        </p:nvSpPr>
        <p:spPr>
          <a:xfrm>
            <a:off x="10650000" y="3973163"/>
            <a:ext cx="26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sisa</a:t>
            </a:r>
            <a:endParaRPr lang="id-ID" sz="720"/>
          </a:p>
        </p:txBody>
      </p:sp>
      <p:sp>
        <p:nvSpPr>
          <p:cNvPr id="469" name="T"/>
          <p:cNvSpPr txBox="1"/>
          <p:nvPr/>
        </p:nvSpPr>
        <p:spPr>
          <a:xfrm>
            <a:off x="10800000" y="3973163"/>
            <a:ext cx="380000" cy="106146"/>
          </a:xfrm>
          <a:prstGeom prst="rect">
            <a:avLst/>
          </a:prstGeom>
          <a:noFill/>
        </p:spPr>
        <p:txBody>
          <a:bodyPr wrap="none" lIns="0" tIns="0" rIns="0" bIns="0" anchor="ctr"/>
          <a:lstStyle/>
          <a:p>
            <a:pPr algn="r">
              <a:buNone/>
            </a:pPr>
            <a:r>
              <a:rPr lang="id-ID" sz="720" b="1" dirty="0">
                <a:solidFill>
                  <a:srgbClr val="D9600B"/>
                </a:solidFill>
                <a:latin typeface="Roboto"/>
                <a:ea typeface="Roboto"/>
                <a:cs typeface="Roboto"/>
              </a:rPr>
              <a:t>± 467</a:t>
            </a:r>
            <a:endParaRPr lang="id-ID" sz="720"/>
          </a:p>
        </p:txBody>
      </p:sp>
      <p:sp>
        <p:nvSpPr>
          <p:cNvPr id="470" name="T"/>
          <p:cNvSpPr txBox="1"/>
          <p:nvPr/>
        </p:nvSpPr>
        <p:spPr>
          <a:xfrm>
            <a:off x="11201600" y="3973163"/>
            <a:ext cx="20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ha</a:t>
            </a:r>
            <a:endParaRPr lang="id-ID" sz="720"/>
          </a:p>
        </p:txBody>
      </p:sp>
      <p:cxnSp>
        <p:nvCxnSpPr>
          <p:cNvPr id="471" name="L"/>
          <p:cNvCxnSpPr/>
          <p:nvPr/>
        </p:nvCxnSpPr>
        <p:spPr>
          <a:xfrm>
            <a:off x="8668512" y="4092578"/>
            <a:ext cx="2809951" cy="0"/>
          </a:xfrm>
          <a:prstGeom prst="line">
            <a:avLst/>
          </a:prstGeom>
          <a:ln w="9525">
            <a:solidFill>
              <a:srgbClr val="F1F2F4"/>
            </a:solidFill>
          </a:ln>
        </p:spPr>
      </p:cxnSp>
      <p:sp>
        <p:nvSpPr>
          <p:cNvPr id="472" name="K"/>
          <p:cNvSpPr/>
          <p:nvPr/>
        </p:nvSpPr>
        <p:spPr>
          <a:xfrm>
            <a:off x="8668512" y="4105846"/>
            <a:ext cx="106146" cy="106146"/>
          </a:xfrm>
          <a:prstGeom prst="ellipse">
            <a:avLst/>
          </a:prstGeom>
          <a:solidFill>
            <a:srgbClr val="D9600B"/>
          </a:solidFill>
          <a:ln>
            <a:noFill/>
          </a:ln>
        </p:spPr>
      </p:sp>
      <p:pic>
        <p:nvPicPr>
          <p:cNvPr id="473" name="G"/>
          <p:cNvPicPr>
            <a:picLocks noChangeAspect="1"/>
          </p:cNvPicPr>
          <p:nvPr/>
        </p:nvPicPr>
        <p:blipFill>
          <a:blip r:embed="rIdM12"/>
          <a:stretch>
            <a:fillRect/>
          </a:stretch>
        </p:blipFill>
        <p:spPr>
          <a:xfrm>
            <a:off x="8688679" y="4126013"/>
            <a:ext cx="65810" cy="65810"/>
          </a:xfrm>
          <a:prstGeom prst="rect">
            <a:avLst/>
          </a:prstGeom>
        </p:spPr>
      </p:pic>
      <p:sp>
        <p:nvSpPr>
          <p:cNvPr id="474" name="K"/>
          <p:cNvSpPr/>
          <p:nvPr/>
        </p:nvSpPr>
        <p:spPr>
          <a:xfrm>
            <a:off x="8742814" y="4084616"/>
            <a:ext cx="58380" cy="58380"/>
          </a:xfrm>
          <a:prstGeom prst="ellipse">
            <a:avLst/>
          </a:prstGeom>
          <a:solidFill>
            <a:srgbClr val="C8102E"/>
          </a:solidFill>
          <a:ln w="6350">
            <a:solidFill>
              <a:srgbClr val="FFFFFF"/>
            </a:solidFill>
          </a:ln>
        </p:spPr>
      </p:sp>
      <p:sp>
        <p:nvSpPr>
          <p:cNvPr id="475" name="T"/>
          <p:cNvSpPr txBox="1"/>
          <p:nvPr/>
        </p:nvSpPr>
        <p:spPr>
          <a:xfrm>
            <a:off x="8742814" y="4084616"/>
            <a:ext cx="58380" cy="5838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500"/>
          </a:p>
        </p:txBody>
      </p:sp>
      <p:sp>
        <p:nvSpPr>
          <p:cNvPr id="476" name="T"/>
          <p:cNvSpPr txBox="1"/>
          <p:nvPr/>
        </p:nvSpPr>
        <p:spPr>
          <a:xfrm>
            <a:off x="8869680" y="4076623"/>
            <a:ext cx="1758391" cy="164592"/>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Sulawesi Tengah</a:t>
            </a:r>
            <a:endParaRPr lang="id-ID" sz="760"/>
          </a:p>
        </p:txBody>
      </p:sp>
      <p:sp>
        <p:nvSpPr>
          <p:cNvPr id="477" name="K"/>
          <p:cNvSpPr/>
          <p:nvPr/>
        </p:nvSpPr>
        <p:spPr>
          <a:xfrm>
            <a:off x="10470000" y="4105846"/>
            <a:ext cx="1070000" cy="106146"/>
          </a:xfrm>
          <a:prstGeom prst="roundRect">
            <a:avLst>
              <a:gd name="adj" fmla="val 50000"/>
            </a:avLst>
          </a:prstGeom>
          <a:solidFill>
            <a:srgbClr val="FBE7D6"/>
          </a:solidFill>
          <a:ln>
            <a:noFill/>
          </a:ln>
        </p:spPr>
      </p:sp>
      <p:pic>
        <p:nvPicPr>
          <p:cNvPr id="478" name="G"/>
          <p:cNvPicPr>
            <a:picLocks noChangeAspect="1"/>
          </p:cNvPicPr>
          <p:nvPr/>
        </p:nvPicPr>
        <p:blipFill>
          <a:blip r:embed="rIdM13"/>
          <a:stretch>
            <a:fillRect/>
          </a:stretch>
        </p:blipFill>
        <p:spPr>
          <a:xfrm>
            <a:off x="10520000" y="4122829"/>
            <a:ext cx="72179" cy="72179"/>
          </a:xfrm>
          <a:prstGeom prst="rect">
            <a:avLst/>
          </a:prstGeom>
        </p:spPr>
      </p:pic>
      <p:sp>
        <p:nvSpPr>
          <p:cNvPr id="479" name="T"/>
          <p:cNvSpPr txBox="1"/>
          <p:nvPr/>
        </p:nvSpPr>
        <p:spPr>
          <a:xfrm>
            <a:off x="10650000" y="4105846"/>
            <a:ext cx="26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sisa</a:t>
            </a:r>
            <a:endParaRPr lang="id-ID" sz="720"/>
          </a:p>
        </p:txBody>
      </p:sp>
      <p:sp>
        <p:nvSpPr>
          <p:cNvPr id="480" name="T"/>
          <p:cNvSpPr txBox="1"/>
          <p:nvPr/>
        </p:nvSpPr>
        <p:spPr>
          <a:xfrm>
            <a:off x="10800000" y="4105846"/>
            <a:ext cx="380000" cy="106146"/>
          </a:xfrm>
          <a:prstGeom prst="rect">
            <a:avLst/>
          </a:prstGeom>
          <a:noFill/>
        </p:spPr>
        <p:txBody>
          <a:bodyPr wrap="none" lIns="0" tIns="0" rIns="0" bIns="0" anchor="ctr"/>
          <a:lstStyle/>
          <a:p>
            <a:pPr algn="r">
              <a:buNone/>
            </a:pPr>
            <a:r>
              <a:rPr lang="id-ID" sz="720" b="1" dirty="0">
                <a:solidFill>
                  <a:srgbClr val="D9600B"/>
                </a:solidFill>
                <a:latin typeface="Roboto"/>
                <a:ea typeface="Roboto"/>
                <a:cs typeface="Roboto"/>
              </a:rPr>
              <a:t>± 393</a:t>
            </a:r>
            <a:endParaRPr lang="id-ID" sz="720"/>
          </a:p>
        </p:txBody>
      </p:sp>
      <p:sp>
        <p:nvSpPr>
          <p:cNvPr id="481" name="T"/>
          <p:cNvSpPr txBox="1"/>
          <p:nvPr/>
        </p:nvSpPr>
        <p:spPr>
          <a:xfrm>
            <a:off x="11201600" y="4105846"/>
            <a:ext cx="20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ha</a:t>
            </a:r>
            <a:endParaRPr lang="id-ID" sz="720"/>
          </a:p>
        </p:txBody>
      </p:sp>
      <p:cxnSp>
        <p:nvCxnSpPr>
          <p:cNvPr id="482" name="L"/>
          <p:cNvCxnSpPr/>
          <p:nvPr/>
        </p:nvCxnSpPr>
        <p:spPr>
          <a:xfrm>
            <a:off x="8668512" y="4225261"/>
            <a:ext cx="2809951" cy="0"/>
          </a:xfrm>
          <a:prstGeom prst="line">
            <a:avLst/>
          </a:prstGeom>
          <a:ln w="9525">
            <a:solidFill>
              <a:srgbClr val="F1F2F4"/>
            </a:solidFill>
          </a:ln>
        </p:spPr>
      </p:cxnSp>
      <p:sp>
        <p:nvSpPr>
          <p:cNvPr id="483" name="K"/>
          <p:cNvSpPr/>
          <p:nvPr/>
        </p:nvSpPr>
        <p:spPr>
          <a:xfrm>
            <a:off x="8668512" y="4238529"/>
            <a:ext cx="106146" cy="106146"/>
          </a:xfrm>
          <a:prstGeom prst="ellipse">
            <a:avLst/>
          </a:prstGeom>
          <a:solidFill>
            <a:srgbClr val="D9600B"/>
          </a:solidFill>
          <a:ln>
            <a:noFill/>
          </a:ln>
        </p:spPr>
      </p:sp>
      <p:pic>
        <p:nvPicPr>
          <p:cNvPr id="484" name="G"/>
          <p:cNvPicPr>
            <a:picLocks noChangeAspect="1"/>
          </p:cNvPicPr>
          <p:nvPr/>
        </p:nvPicPr>
        <p:blipFill>
          <a:blip r:embed="rIdM12"/>
          <a:stretch>
            <a:fillRect/>
          </a:stretch>
        </p:blipFill>
        <p:spPr>
          <a:xfrm>
            <a:off x="8688679" y="4258696"/>
            <a:ext cx="65810" cy="65810"/>
          </a:xfrm>
          <a:prstGeom prst="rect">
            <a:avLst/>
          </a:prstGeom>
        </p:spPr>
      </p:pic>
      <p:sp>
        <p:nvSpPr>
          <p:cNvPr id="485" name="K"/>
          <p:cNvSpPr/>
          <p:nvPr/>
        </p:nvSpPr>
        <p:spPr>
          <a:xfrm>
            <a:off x="8742814" y="4217299"/>
            <a:ext cx="58380" cy="58380"/>
          </a:xfrm>
          <a:prstGeom prst="ellipse">
            <a:avLst/>
          </a:prstGeom>
          <a:solidFill>
            <a:srgbClr val="C8102E"/>
          </a:solidFill>
          <a:ln w="6350">
            <a:solidFill>
              <a:srgbClr val="FFFFFF"/>
            </a:solidFill>
          </a:ln>
        </p:spPr>
      </p:sp>
      <p:sp>
        <p:nvSpPr>
          <p:cNvPr id="486" name="T"/>
          <p:cNvSpPr txBox="1"/>
          <p:nvPr/>
        </p:nvSpPr>
        <p:spPr>
          <a:xfrm>
            <a:off x="8742814" y="4217299"/>
            <a:ext cx="58380" cy="5838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500"/>
          </a:p>
        </p:txBody>
      </p:sp>
      <p:sp>
        <p:nvSpPr>
          <p:cNvPr id="487" name="T"/>
          <p:cNvSpPr txBox="1"/>
          <p:nvPr/>
        </p:nvSpPr>
        <p:spPr>
          <a:xfrm>
            <a:off x="8869680" y="4209306"/>
            <a:ext cx="1758391" cy="164592"/>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Kalimantan Timur</a:t>
            </a:r>
            <a:endParaRPr lang="id-ID" sz="760"/>
          </a:p>
        </p:txBody>
      </p:sp>
      <p:sp>
        <p:nvSpPr>
          <p:cNvPr id="488" name="K"/>
          <p:cNvSpPr/>
          <p:nvPr/>
        </p:nvSpPr>
        <p:spPr>
          <a:xfrm>
            <a:off x="10470000" y="4238529"/>
            <a:ext cx="1070000" cy="106146"/>
          </a:xfrm>
          <a:prstGeom prst="roundRect">
            <a:avLst>
              <a:gd name="adj" fmla="val 50000"/>
            </a:avLst>
          </a:prstGeom>
          <a:solidFill>
            <a:srgbClr val="FBE7D6"/>
          </a:solidFill>
          <a:ln>
            <a:noFill/>
          </a:ln>
        </p:spPr>
      </p:sp>
      <p:pic>
        <p:nvPicPr>
          <p:cNvPr id="489" name="G"/>
          <p:cNvPicPr>
            <a:picLocks noChangeAspect="1"/>
          </p:cNvPicPr>
          <p:nvPr/>
        </p:nvPicPr>
        <p:blipFill>
          <a:blip r:embed="rIdM13"/>
          <a:stretch>
            <a:fillRect/>
          </a:stretch>
        </p:blipFill>
        <p:spPr>
          <a:xfrm>
            <a:off x="10520000" y="4255512"/>
            <a:ext cx="72179" cy="72179"/>
          </a:xfrm>
          <a:prstGeom prst="rect">
            <a:avLst/>
          </a:prstGeom>
        </p:spPr>
      </p:pic>
      <p:sp>
        <p:nvSpPr>
          <p:cNvPr id="490" name="T"/>
          <p:cNvSpPr txBox="1"/>
          <p:nvPr/>
        </p:nvSpPr>
        <p:spPr>
          <a:xfrm>
            <a:off x="10650000" y="4238529"/>
            <a:ext cx="26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sisa</a:t>
            </a:r>
            <a:endParaRPr lang="id-ID" sz="720"/>
          </a:p>
        </p:txBody>
      </p:sp>
      <p:sp>
        <p:nvSpPr>
          <p:cNvPr id="491" name="T"/>
          <p:cNvSpPr txBox="1"/>
          <p:nvPr/>
        </p:nvSpPr>
        <p:spPr>
          <a:xfrm>
            <a:off x="10800000" y="4238529"/>
            <a:ext cx="380000" cy="106146"/>
          </a:xfrm>
          <a:prstGeom prst="rect">
            <a:avLst/>
          </a:prstGeom>
          <a:noFill/>
        </p:spPr>
        <p:txBody>
          <a:bodyPr wrap="none" lIns="0" tIns="0" rIns="0" bIns="0" anchor="ctr"/>
          <a:lstStyle/>
          <a:p>
            <a:pPr algn="r">
              <a:buNone/>
            </a:pPr>
            <a:r>
              <a:rPr lang="id-ID" sz="720" b="1" dirty="0">
                <a:solidFill>
                  <a:srgbClr val="D9600B"/>
                </a:solidFill>
                <a:latin typeface="Roboto"/>
                <a:ea typeface="Roboto"/>
                <a:cs typeface="Roboto"/>
              </a:rPr>
              <a:t>± 320</a:t>
            </a:r>
            <a:endParaRPr lang="id-ID" sz="720"/>
          </a:p>
        </p:txBody>
      </p:sp>
      <p:sp>
        <p:nvSpPr>
          <p:cNvPr id="492" name="T"/>
          <p:cNvSpPr txBox="1"/>
          <p:nvPr/>
        </p:nvSpPr>
        <p:spPr>
          <a:xfrm>
            <a:off x="11201600" y="4238529"/>
            <a:ext cx="20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ha</a:t>
            </a:r>
            <a:endParaRPr lang="id-ID" sz="720"/>
          </a:p>
        </p:txBody>
      </p:sp>
      <p:cxnSp>
        <p:nvCxnSpPr>
          <p:cNvPr id="493" name="L"/>
          <p:cNvCxnSpPr/>
          <p:nvPr/>
        </p:nvCxnSpPr>
        <p:spPr>
          <a:xfrm>
            <a:off x="8668512" y="4357944"/>
            <a:ext cx="2809951" cy="0"/>
          </a:xfrm>
          <a:prstGeom prst="line">
            <a:avLst/>
          </a:prstGeom>
          <a:ln w="9525">
            <a:solidFill>
              <a:srgbClr val="F1F2F4"/>
            </a:solidFill>
          </a:ln>
        </p:spPr>
      </p:cxnSp>
      <p:sp>
        <p:nvSpPr>
          <p:cNvPr id="494" name="K"/>
          <p:cNvSpPr/>
          <p:nvPr/>
        </p:nvSpPr>
        <p:spPr>
          <a:xfrm>
            <a:off x="8668512" y="4371212"/>
            <a:ext cx="106146" cy="106146"/>
          </a:xfrm>
          <a:prstGeom prst="ellipse">
            <a:avLst/>
          </a:prstGeom>
          <a:solidFill>
            <a:srgbClr val="D9600B"/>
          </a:solidFill>
          <a:ln>
            <a:noFill/>
          </a:ln>
        </p:spPr>
      </p:sp>
      <p:pic>
        <p:nvPicPr>
          <p:cNvPr id="495" name="G"/>
          <p:cNvPicPr>
            <a:picLocks noChangeAspect="1"/>
          </p:cNvPicPr>
          <p:nvPr/>
        </p:nvPicPr>
        <p:blipFill>
          <a:blip r:embed="rIdM12"/>
          <a:stretch>
            <a:fillRect/>
          </a:stretch>
        </p:blipFill>
        <p:spPr>
          <a:xfrm>
            <a:off x="8688679" y="4391379"/>
            <a:ext cx="65810" cy="65810"/>
          </a:xfrm>
          <a:prstGeom prst="rect">
            <a:avLst/>
          </a:prstGeom>
        </p:spPr>
      </p:pic>
      <p:sp>
        <p:nvSpPr>
          <p:cNvPr id="496" name="K"/>
          <p:cNvSpPr/>
          <p:nvPr/>
        </p:nvSpPr>
        <p:spPr>
          <a:xfrm>
            <a:off x="8742814" y="4349982"/>
            <a:ext cx="58380" cy="58380"/>
          </a:xfrm>
          <a:prstGeom prst="ellipse">
            <a:avLst/>
          </a:prstGeom>
          <a:solidFill>
            <a:srgbClr val="C8102E"/>
          </a:solidFill>
          <a:ln w="6350">
            <a:solidFill>
              <a:srgbClr val="FFFFFF"/>
            </a:solidFill>
          </a:ln>
        </p:spPr>
      </p:sp>
      <p:sp>
        <p:nvSpPr>
          <p:cNvPr id="497" name="T"/>
          <p:cNvSpPr txBox="1"/>
          <p:nvPr/>
        </p:nvSpPr>
        <p:spPr>
          <a:xfrm>
            <a:off x="8742814" y="4349982"/>
            <a:ext cx="58380" cy="5838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500"/>
          </a:p>
        </p:txBody>
      </p:sp>
      <p:sp>
        <p:nvSpPr>
          <p:cNvPr id="498" name="T"/>
          <p:cNvSpPr txBox="1"/>
          <p:nvPr/>
        </p:nvSpPr>
        <p:spPr>
          <a:xfrm>
            <a:off x="8869680" y="4341989"/>
            <a:ext cx="1758391" cy="164592"/>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Sulawesi Tenggara</a:t>
            </a:r>
            <a:endParaRPr lang="id-ID" sz="760"/>
          </a:p>
        </p:txBody>
      </p:sp>
      <p:sp>
        <p:nvSpPr>
          <p:cNvPr id="499" name="K"/>
          <p:cNvSpPr/>
          <p:nvPr/>
        </p:nvSpPr>
        <p:spPr>
          <a:xfrm>
            <a:off x="10470000" y="4371212"/>
            <a:ext cx="1070000" cy="106146"/>
          </a:xfrm>
          <a:prstGeom prst="roundRect">
            <a:avLst>
              <a:gd name="adj" fmla="val 50000"/>
            </a:avLst>
          </a:prstGeom>
          <a:solidFill>
            <a:srgbClr val="FBE7D6"/>
          </a:solidFill>
          <a:ln>
            <a:noFill/>
          </a:ln>
        </p:spPr>
      </p:sp>
      <p:pic>
        <p:nvPicPr>
          <p:cNvPr id="500" name="G"/>
          <p:cNvPicPr>
            <a:picLocks noChangeAspect="1"/>
          </p:cNvPicPr>
          <p:nvPr/>
        </p:nvPicPr>
        <p:blipFill>
          <a:blip r:embed="rIdM13"/>
          <a:stretch>
            <a:fillRect/>
          </a:stretch>
        </p:blipFill>
        <p:spPr>
          <a:xfrm>
            <a:off x="10520000" y="4388195"/>
            <a:ext cx="72179" cy="72179"/>
          </a:xfrm>
          <a:prstGeom prst="rect">
            <a:avLst/>
          </a:prstGeom>
        </p:spPr>
      </p:pic>
      <p:sp>
        <p:nvSpPr>
          <p:cNvPr id="501" name="T"/>
          <p:cNvSpPr txBox="1"/>
          <p:nvPr/>
        </p:nvSpPr>
        <p:spPr>
          <a:xfrm>
            <a:off x="10650000" y="4371212"/>
            <a:ext cx="26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sisa</a:t>
            </a:r>
            <a:endParaRPr lang="id-ID" sz="720"/>
          </a:p>
        </p:txBody>
      </p:sp>
      <p:sp>
        <p:nvSpPr>
          <p:cNvPr id="502" name="T"/>
          <p:cNvSpPr txBox="1"/>
          <p:nvPr/>
        </p:nvSpPr>
        <p:spPr>
          <a:xfrm>
            <a:off x="10800000" y="4371212"/>
            <a:ext cx="380000" cy="106146"/>
          </a:xfrm>
          <a:prstGeom prst="rect">
            <a:avLst/>
          </a:prstGeom>
          <a:noFill/>
        </p:spPr>
        <p:txBody>
          <a:bodyPr wrap="none" lIns="0" tIns="0" rIns="0" bIns="0" anchor="ctr"/>
          <a:lstStyle/>
          <a:p>
            <a:pPr algn="r">
              <a:buNone/>
            </a:pPr>
            <a:r>
              <a:rPr lang="id-ID" sz="720" b="1" dirty="0">
                <a:solidFill>
                  <a:srgbClr val="D9600B"/>
                </a:solidFill>
                <a:latin typeface="Roboto"/>
                <a:ea typeface="Roboto"/>
                <a:cs typeface="Roboto"/>
              </a:rPr>
              <a:t>± 282</a:t>
            </a:r>
            <a:endParaRPr lang="id-ID" sz="720"/>
          </a:p>
        </p:txBody>
      </p:sp>
      <p:sp>
        <p:nvSpPr>
          <p:cNvPr id="503" name="T"/>
          <p:cNvSpPr txBox="1"/>
          <p:nvPr/>
        </p:nvSpPr>
        <p:spPr>
          <a:xfrm>
            <a:off x="11201600" y="4371212"/>
            <a:ext cx="20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ha</a:t>
            </a:r>
            <a:endParaRPr lang="id-ID" sz="720"/>
          </a:p>
        </p:txBody>
      </p:sp>
      <p:cxnSp>
        <p:nvCxnSpPr>
          <p:cNvPr id="504" name="L"/>
          <p:cNvCxnSpPr/>
          <p:nvPr/>
        </p:nvCxnSpPr>
        <p:spPr>
          <a:xfrm>
            <a:off x="8668512" y="4490627"/>
            <a:ext cx="2809951" cy="0"/>
          </a:xfrm>
          <a:prstGeom prst="line">
            <a:avLst/>
          </a:prstGeom>
          <a:ln w="9525">
            <a:solidFill>
              <a:srgbClr val="F1F2F4"/>
            </a:solidFill>
          </a:ln>
        </p:spPr>
      </p:cxnSp>
      <p:sp>
        <p:nvSpPr>
          <p:cNvPr id="505" name="K"/>
          <p:cNvSpPr/>
          <p:nvPr/>
        </p:nvSpPr>
        <p:spPr>
          <a:xfrm>
            <a:off x="8668512" y="4503895"/>
            <a:ext cx="106146" cy="106146"/>
          </a:xfrm>
          <a:prstGeom prst="ellipse">
            <a:avLst/>
          </a:prstGeom>
          <a:solidFill>
            <a:srgbClr val="D9600B"/>
          </a:solidFill>
          <a:ln>
            <a:noFill/>
          </a:ln>
        </p:spPr>
      </p:sp>
      <p:pic>
        <p:nvPicPr>
          <p:cNvPr id="506" name="G"/>
          <p:cNvPicPr>
            <a:picLocks noChangeAspect="1"/>
          </p:cNvPicPr>
          <p:nvPr/>
        </p:nvPicPr>
        <p:blipFill>
          <a:blip r:embed="rIdM12"/>
          <a:stretch>
            <a:fillRect/>
          </a:stretch>
        </p:blipFill>
        <p:spPr>
          <a:xfrm>
            <a:off x="8688679" y="4524062"/>
            <a:ext cx="65810" cy="65810"/>
          </a:xfrm>
          <a:prstGeom prst="rect">
            <a:avLst/>
          </a:prstGeom>
        </p:spPr>
      </p:pic>
      <p:sp>
        <p:nvSpPr>
          <p:cNvPr id="507" name="K"/>
          <p:cNvSpPr/>
          <p:nvPr/>
        </p:nvSpPr>
        <p:spPr>
          <a:xfrm>
            <a:off x="8742814" y="4482665"/>
            <a:ext cx="58380" cy="58380"/>
          </a:xfrm>
          <a:prstGeom prst="ellipse">
            <a:avLst/>
          </a:prstGeom>
          <a:solidFill>
            <a:srgbClr val="C8102E"/>
          </a:solidFill>
          <a:ln w="6350">
            <a:solidFill>
              <a:srgbClr val="FFFFFF"/>
            </a:solidFill>
          </a:ln>
        </p:spPr>
      </p:sp>
      <p:sp>
        <p:nvSpPr>
          <p:cNvPr id="508" name="T"/>
          <p:cNvSpPr txBox="1"/>
          <p:nvPr/>
        </p:nvSpPr>
        <p:spPr>
          <a:xfrm>
            <a:off x="8742814" y="4482665"/>
            <a:ext cx="58380" cy="5838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500"/>
          </a:p>
        </p:txBody>
      </p:sp>
      <p:sp>
        <p:nvSpPr>
          <p:cNvPr id="509" name="T"/>
          <p:cNvSpPr txBox="1"/>
          <p:nvPr/>
        </p:nvSpPr>
        <p:spPr>
          <a:xfrm>
            <a:off x="8869680" y="4474672"/>
            <a:ext cx="1758391" cy="164592"/>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Maluku</a:t>
            </a:r>
            <a:endParaRPr lang="id-ID" sz="760"/>
          </a:p>
        </p:txBody>
      </p:sp>
      <p:sp>
        <p:nvSpPr>
          <p:cNvPr id="510" name="K"/>
          <p:cNvSpPr/>
          <p:nvPr/>
        </p:nvSpPr>
        <p:spPr>
          <a:xfrm>
            <a:off x="10470000" y="4503895"/>
            <a:ext cx="1070000" cy="106146"/>
          </a:xfrm>
          <a:prstGeom prst="roundRect">
            <a:avLst>
              <a:gd name="adj" fmla="val 50000"/>
            </a:avLst>
          </a:prstGeom>
          <a:solidFill>
            <a:srgbClr val="FBE7D6"/>
          </a:solidFill>
          <a:ln>
            <a:noFill/>
          </a:ln>
        </p:spPr>
      </p:sp>
      <p:pic>
        <p:nvPicPr>
          <p:cNvPr id="511" name="G"/>
          <p:cNvPicPr>
            <a:picLocks noChangeAspect="1"/>
          </p:cNvPicPr>
          <p:nvPr/>
        </p:nvPicPr>
        <p:blipFill>
          <a:blip r:embed="rIdM13"/>
          <a:stretch>
            <a:fillRect/>
          </a:stretch>
        </p:blipFill>
        <p:spPr>
          <a:xfrm>
            <a:off x="10520000" y="4520878"/>
            <a:ext cx="72179" cy="72179"/>
          </a:xfrm>
          <a:prstGeom prst="rect">
            <a:avLst/>
          </a:prstGeom>
        </p:spPr>
      </p:pic>
      <p:sp>
        <p:nvSpPr>
          <p:cNvPr id="512" name="T"/>
          <p:cNvSpPr txBox="1"/>
          <p:nvPr/>
        </p:nvSpPr>
        <p:spPr>
          <a:xfrm>
            <a:off x="10650000" y="4503895"/>
            <a:ext cx="26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sisa</a:t>
            </a:r>
            <a:endParaRPr lang="id-ID" sz="720"/>
          </a:p>
        </p:txBody>
      </p:sp>
      <p:sp>
        <p:nvSpPr>
          <p:cNvPr id="513" name="T"/>
          <p:cNvSpPr txBox="1"/>
          <p:nvPr/>
        </p:nvSpPr>
        <p:spPr>
          <a:xfrm>
            <a:off x="10800000" y="4503895"/>
            <a:ext cx="380000" cy="106146"/>
          </a:xfrm>
          <a:prstGeom prst="rect">
            <a:avLst/>
          </a:prstGeom>
          <a:noFill/>
        </p:spPr>
        <p:txBody>
          <a:bodyPr wrap="none" lIns="0" tIns="0" rIns="0" bIns="0" anchor="ctr"/>
          <a:lstStyle/>
          <a:p>
            <a:pPr algn="r">
              <a:buNone/>
            </a:pPr>
            <a:r>
              <a:rPr lang="id-ID" sz="720" b="1" dirty="0">
                <a:solidFill>
                  <a:srgbClr val="D9600B"/>
                </a:solidFill>
                <a:latin typeface="Roboto"/>
                <a:ea typeface="Roboto"/>
                <a:cs typeface="Roboto"/>
              </a:rPr>
              <a:t>± 104</a:t>
            </a:r>
            <a:endParaRPr lang="id-ID" sz="720"/>
          </a:p>
        </p:txBody>
      </p:sp>
      <p:sp>
        <p:nvSpPr>
          <p:cNvPr id="514" name="T"/>
          <p:cNvSpPr txBox="1"/>
          <p:nvPr/>
        </p:nvSpPr>
        <p:spPr>
          <a:xfrm>
            <a:off x="11201600" y="4503895"/>
            <a:ext cx="20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ha</a:t>
            </a:r>
            <a:endParaRPr lang="id-ID" sz="720"/>
          </a:p>
        </p:txBody>
      </p:sp>
      <p:cxnSp>
        <p:nvCxnSpPr>
          <p:cNvPr id="515" name="L"/>
          <p:cNvCxnSpPr/>
          <p:nvPr/>
        </p:nvCxnSpPr>
        <p:spPr>
          <a:xfrm>
            <a:off x="8668512" y="4623310"/>
            <a:ext cx="2809951" cy="0"/>
          </a:xfrm>
          <a:prstGeom prst="line">
            <a:avLst/>
          </a:prstGeom>
          <a:ln w="9525">
            <a:solidFill>
              <a:srgbClr val="F1F2F4"/>
            </a:solidFill>
          </a:ln>
        </p:spPr>
      </p:cxnSp>
      <p:sp>
        <p:nvSpPr>
          <p:cNvPr id="516" name="K"/>
          <p:cNvSpPr/>
          <p:nvPr/>
        </p:nvSpPr>
        <p:spPr>
          <a:xfrm>
            <a:off x="8668512" y="4636578"/>
            <a:ext cx="106146" cy="106146"/>
          </a:xfrm>
          <a:prstGeom prst="ellipse">
            <a:avLst/>
          </a:prstGeom>
          <a:solidFill>
            <a:srgbClr val="D9600B"/>
          </a:solidFill>
          <a:ln>
            <a:noFill/>
          </a:ln>
        </p:spPr>
      </p:sp>
      <p:pic>
        <p:nvPicPr>
          <p:cNvPr id="517" name="G"/>
          <p:cNvPicPr>
            <a:picLocks noChangeAspect="1"/>
          </p:cNvPicPr>
          <p:nvPr/>
        </p:nvPicPr>
        <p:blipFill>
          <a:blip r:embed="rIdM12"/>
          <a:stretch>
            <a:fillRect/>
          </a:stretch>
        </p:blipFill>
        <p:spPr>
          <a:xfrm>
            <a:off x="8688679" y="4656745"/>
            <a:ext cx="65810" cy="65810"/>
          </a:xfrm>
          <a:prstGeom prst="rect">
            <a:avLst/>
          </a:prstGeom>
        </p:spPr>
      </p:pic>
      <p:sp>
        <p:nvSpPr>
          <p:cNvPr id="518" name="K"/>
          <p:cNvSpPr/>
          <p:nvPr/>
        </p:nvSpPr>
        <p:spPr>
          <a:xfrm>
            <a:off x="8742814" y="4615348"/>
            <a:ext cx="58380" cy="58380"/>
          </a:xfrm>
          <a:prstGeom prst="ellipse">
            <a:avLst/>
          </a:prstGeom>
          <a:solidFill>
            <a:srgbClr val="C8102E"/>
          </a:solidFill>
          <a:ln w="6350">
            <a:solidFill>
              <a:srgbClr val="FFFFFF"/>
            </a:solidFill>
          </a:ln>
        </p:spPr>
      </p:sp>
      <p:sp>
        <p:nvSpPr>
          <p:cNvPr id="519" name="T"/>
          <p:cNvSpPr txBox="1"/>
          <p:nvPr/>
        </p:nvSpPr>
        <p:spPr>
          <a:xfrm>
            <a:off x="8742814" y="4615348"/>
            <a:ext cx="58380" cy="5838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500"/>
          </a:p>
        </p:txBody>
      </p:sp>
      <p:sp>
        <p:nvSpPr>
          <p:cNvPr id="520" name="T"/>
          <p:cNvSpPr txBox="1"/>
          <p:nvPr/>
        </p:nvSpPr>
        <p:spPr>
          <a:xfrm>
            <a:off x="8869680" y="4607355"/>
            <a:ext cx="1758391" cy="164592"/>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Sulawesi Selatan</a:t>
            </a:r>
            <a:endParaRPr lang="id-ID" sz="760"/>
          </a:p>
        </p:txBody>
      </p:sp>
      <p:sp>
        <p:nvSpPr>
          <p:cNvPr id="521" name="K"/>
          <p:cNvSpPr/>
          <p:nvPr/>
        </p:nvSpPr>
        <p:spPr>
          <a:xfrm>
            <a:off x="10470000" y="4636578"/>
            <a:ext cx="1070000" cy="106146"/>
          </a:xfrm>
          <a:prstGeom prst="roundRect">
            <a:avLst>
              <a:gd name="adj" fmla="val 50000"/>
            </a:avLst>
          </a:prstGeom>
          <a:solidFill>
            <a:srgbClr val="FBE7D6"/>
          </a:solidFill>
          <a:ln>
            <a:noFill/>
          </a:ln>
        </p:spPr>
      </p:sp>
      <p:pic>
        <p:nvPicPr>
          <p:cNvPr id="522" name="G"/>
          <p:cNvPicPr>
            <a:picLocks noChangeAspect="1"/>
          </p:cNvPicPr>
          <p:nvPr/>
        </p:nvPicPr>
        <p:blipFill>
          <a:blip r:embed="rIdM13"/>
          <a:stretch>
            <a:fillRect/>
          </a:stretch>
        </p:blipFill>
        <p:spPr>
          <a:xfrm>
            <a:off x="10520000" y="4653561"/>
            <a:ext cx="72179" cy="72179"/>
          </a:xfrm>
          <a:prstGeom prst="rect">
            <a:avLst/>
          </a:prstGeom>
        </p:spPr>
      </p:pic>
      <p:sp>
        <p:nvSpPr>
          <p:cNvPr id="523" name="T"/>
          <p:cNvSpPr txBox="1"/>
          <p:nvPr/>
        </p:nvSpPr>
        <p:spPr>
          <a:xfrm>
            <a:off x="10650000" y="4636578"/>
            <a:ext cx="26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sisa</a:t>
            </a:r>
            <a:endParaRPr lang="id-ID" sz="720"/>
          </a:p>
        </p:txBody>
      </p:sp>
      <p:sp>
        <p:nvSpPr>
          <p:cNvPr id="524" name="T"/>
          <p:cNvSpPr txBox="1"/>
          <p:nvPr/>
        </p:nvSpPr>
        <p:spPr>
          <a:xfrm>
            <a:off x="10800000" y="4636578"/>
            <a:ext cx="380000" cy="106146"/>
          </a:xfrm>
          <a:prstGeom prst="rect">
            <a:avLst/>
          </a:prstGeom>
          <a:noFill/>
        </p:spPr>
        <p:txBody>
          <a:bodyPr wrap="none" lIns="0" tIns="0" rIns="0" bIns="0" anchor="ctr"/>
          <a:lstStyle/>
          <a:p>
            <a:pPr algn="r">
              <a:buNone/>
            </a:pPr>
            <a:r>
              <a:rPr lang="id-ID" sz="720" b="1" dirty="0">
                <a:solidFill>
                  <a:srgbClr val="D9600B"/>
                </a:solidFill>
                <a:latin typeface="Roboto"/>
                <a:ea typeface="Roboto"/>
                <a:cs typeface="Roboto"/>
              </a:rPr>
              <a:t>± 101</a:t>
            </a:r>
            <a:endParaRPr lang="id-ID" sz="720"/>
          </a:p>
        </p:txBody>
      </p:sp>
      <p:sp>
        <p:nvSpPr>
          <p:cNvPr id="525" name="T"/>
          <p:cNvSpPr txBox="1"/>
          <p:nvPr/>
        </p:nvSpPr>
        <p:spPr>
          <a:xfrm>
            <a:off x="11201600" y="4636578"/>
            <a:ext cx="20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ha</a:t>
            </a:r>
            <a:endParaRPr lang="id-ID" sz="720"/>
          </a:p>
        </p:txBody>
      </p:sp>
      <p:cxnSp>
        <p:nvCxnSpPr>
          <p:cNvPr id="526" name="L"/>
          <p:cNvCxnSpPr/>
          <p:nvPr/>
        </p:nvCxnSpPr>
        <p:spPr>
          <a:xfrm>
            <a:off x="8668512" y="4755993"/>
            <a:ext cx="2809951" cy="0"/>
          </a:xfrm>
          <a:prstGeom prst="line">
            <a:avLst/>
          </a:prstGeom>
          <a:ln w="9525">
            <a:solidFill>
              <a:srgbClr val="F1F2F4"/>
            </a:solidFill>
          </a:ln>
        </p:spPr>
      </p:cxnSp>
      <p:sp>
        <p:nvSpPr>
          <p:cNvPr id="527" name="K"/>
          <p:cNvSpPr/>
          <p:nvPr/>
        </p:nvSpPr>
        <p:spPr>
          <a:xfrm>
            <a:off x="8668512" y="4769261"/>
            <a:ext cx="106146" cy="106146"/>
          </a:xfrm>
          <a:prstGeom prst="ellipse">
            <a:avLst/>
          </a:prstGeom>
          <a:solidFill>
            <a:srgbClr val="D9600B"/>
          </a:solidFill>
          <a:ln>
            <a:noFill/>
          </a:ln>
        </p:spPr>
      </p:sp>
      <p:pic>
        <p:nvPicPr>
          <p:cNvPr id="528" name="G"/>
          <p:cNvPicPr>
            <a:picLocks noChangeAspect="1"/>
          </p:cNvPicPr>
          <p:nvPr/>
        </p:nvPicPr>
        <p:blipFill>
          <a:blip r:embed="rIdM12"/>
          <a:stretch>
            <a:fillRect/>
          </a:stretch>
        </p:blipFill>
        <p:spPr>
          <a:xfrm>
            <a:off x="8688679" y="4789428"/>
            <a:ext cx="65810" cy="65810"/>
          </a:xfrm>
          <a:prstGeom prst="rect">
            <a:avLst/>
          </a:prstGeom>
        </p:spPr>
      </p:pic>
      <p:sp>
        <p:nvSpPr>
          <p:cNvPr id="529" name="K"/>
          <p:cNvSpPr/>
          <p:nvPr/>
        </p:nvSpPr>
        <p:spPr>
          <a:xfrm>
            <a:off x="8742814" y="4748031"/>
            <a:ext cx="58380" cy="58380"/>
          </a:xfrm>
          <a:prstGeom prst="ellipse">
            <a:avLst/>
          </a:prstGeom>
          <a:solidFill>
            <a:srgbClr val="C8102E"/>
          </a:solidFill>
          <a:ln w="6350">
            <a:solidFill>
              <a:srgbClr val="FFFFFF"/>
            </a:solidFill>
          </a:ln>
        </p:spPr>
      </p:sp>
      <p:sp>
        <p:nvSpPr>
          <p:cNvPr id="530" name="T"/>
          <p:cNvSpPr txBox="1"/>
          <p:nvPr/>
        </p:nvSpPr>
        <p:spPr>
          <a:xfrm>
            <a:off x="8742814" y="4748031"/>
            <a:ext cx="58380" cy="5838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500"/>
          </a:p>
        </p:txBody>
      </p:sp>
      <p:sp>
        <p:nvSpPr>
          <p:cNvPr id="531" name="T"/>
          <p:cNvSpPr txBox="1"/>
          <p:nvPr/>
        </p:nvSpPr>
        <p:spPr>
          <a:xfrm>
            <a:off x="8869680" y="4740038"/>
            <a:ext cx="1758391" cy="164592"/>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Karhutla lainnya</a:t>
            </a:r>
            <a:r>
              <a:rPr lang="id-ID" sz="760" dirty="0">
                <a:solidFill>
                  <a:srgbClr val="2E3440"/>
                </a:solidFill>
                <a:latin typeface="Roboto"/>
                <a:ea typeface="Roboto"/>
                <a:cs typeface="Roboto"/>
              </a:rPr>
              <a:t>, 8 provinsi</a:t>
            </a:r>
            <a:endParaRPr lang="id-ID" sz="760"/>
          </a:p>
        </p:txBody>
      </p:sp>
      <p:sp>
        <p:nvSpPr>
          <p:cNvPr id="532" name="K"/>
          <p:cNvSpPr/>
          <p:nvPr/>
        </p:nvSpPr>
        <p:spPr>
          <a:xfrm>
            <a:off x="10470000" y="4769261"/>
            <a:ext cx="1070000" cy="106146"/>
          </a:xfrm>
          <a:prstGeom prst="roundRect">
            <a:avLst>
              <a:gd name="adj" fmla="val 50000"/>
            </a:avLst>
          </a:prstGeom>
          <a:solidFill>
            <a:srgbClr val="FBE7D6"/>
          </a:solidFill>
          <a:ln>
            <a:noFill/>
          </a:ln>
        </p:spPr>
      </p:sp>
      <p:pic>
        <p:nvPicPr>
          <p:cNvPr id="533" name="G"/>
          <p:cNvPicPr>
            <a:picLocks noChangeAspect="1"/>
          </p:cNvPicPr>
          <p:nvPr/>
        </p:nvPicPr>
        <p:blipFill>
          <a:blip r:embed="rIdM13"/>
          <a:stretch>
            <a:fillRect/>
          </a:stretch>
        </p:blipFill>
        <p:spPr>
          <a:xfrm>
            <a:off x="10520000" y="4786244"/>
            <a:ext cx="72179" cy="72179"/>
          </a:xfrm>
          <a:prstGeom prst="rect">
            <a:avLst/>
          </a:prstGeom>
        </p:spPr>
      </p:pic>
      <p:sp>
        <p:nvSpPr>
          <p:cNvPr id="534" name="T"/>
          <p:cNvSpPr txBox="1"/>
          <p:nvPr/>
        </p:nvSpPr>
        <p:spPr>
          <a:xfrm>
            <a:off x="10650000" y="4769261"/>
            <a:ext cx="26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sisa</a:t>
            </a:r>
            <a:endParaRPr lang="id-ID" sz="720"/>
          </a:p>
        </p:txBody>
      </p:sp>
      <p:sp>
        <p:nvSpPr>
          <p:cNvPr id="535" name="T"/>
          <p:cNvSpPr txBox="1"/>
          <p:nvPr/>
        </p:nvSpPr>
        <p:spPr>
          <a:xfrm>
            <a:off x="10800000" y="4769261"/>
            <a:ext cx="380000" cy="106146"/>
          </a:xfrm>
          <a:prstGeom prst="rect">
            <a:avLst/>
          </a:prstGeom>
          <a:noFill/>
        </p:spPr>
        <p:txBody>
          <a:bodyPr wrap="none" lIns="0" tIns="0" rIns="0" bIns="0" anchor="ctr"/>
          <a:lstStyle/>
          <a:p>
            <a:pPr algn="r">
              <a:buNone/>
            </a:pPr>
            <a:r>
              <a:rPr lang="id-ID" sz="720" b="1" dirty="0">
                <a:solidFill>
                  <a:srgbClr val="D9600B"/>
                </a:solidFill>
                <a:latin typeface="Roboto"/>
                <a:ea typeface="Roboto"/>
                <a:cs typeface="Roboto"/>
              </a:rPr>
              <a:t>± 288</a:t>
            </a:r>
            <a:endParaRPr lang="id-ID" sz="720"/>
          </a:p>
        </p:txBody>
      </p:sp>
      <p:sp>
        <p:nvSpPr>
          <p:cNvPr id="536" name="T"/>
          <p:cNvSpPr txBox="1"/>
          <p:nvPr/>
        </p:nvSpPr>
        <p:spPr>
          <a:xfrm>
            <a:off x="11201600" y="4769261"/>
            <a:ext cx="20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ha</a:t>
            </a:r>
            <a:endParaRPr lang="id-ID" sz="720"/>
          </a:p>
        </p:txBody>
      </p:sp>
      <p:cxnSp>
        <p:nvCxnSpPr>
          <p:cNvPr id="537" name="L"/>
          <p:cNvCxnSpPr/>
          <p:nvPr/>
        </p:nvCxnSpPr>
        <p:spPr>
          <a:xfrm>
            <a:off x="8668512" y="4888676"/>
            <a:ext cx="2809951" cy="0"/>
          </a:xfrm>
          <a:prstGeom prst="line">
            <a:avLst/>
          </a:prstGeom>
          <a:ln w="9525">
            <a:solidFill>
              <a:srgbClr val="F1F2F4"/>
            </a:solidFill>
          </a:ln>
        </p:spPr>
      </p:cxnSp>
      <p:sp>
        <p:nvSpPr>
          <p:cNvPr id="538" name="K"/>
          <p:cNvSpPr/>
          <p:nvPr/>
        </p:nvSpPr>
        <p:spPr>
          <a:xfrm>
            <a:off x="8668512" y="4901944"/>
            <a:ext cx="106146" cy="106146"/>
          </a:xfrm>
          <a:prstGeom prst="ellipse">
            <a:avLst/>
          </a:prstGeom>
          <a:solidFill>
            <a:srgbClr val="2F6FB5"/>
          </a:solidFill>
          <a:ln>
            <a:noFill/>
          </a:ln>
        </p:spPr>
      </p:sp>
      <p:pic>
        <p:nvPicPr>
          <p:cNvPr id="539" name="G"/>
          <p:cNvPicPr>
            <a:picLocks noChangeAspect="1"/>
          </p:cNvPicPr>
          <p:nvPr/>
        </p:nvPicPr>
        <p:blipFill>
          <a:blip r:embed="rIdM14"/>
          <a:stretch>
            <a:fillRect/>
          </a:stretch>
        </p:blipFill>
        <p:spPr>
          <a:xfrm>
            <a:off x="8688679" y="4922111"/>
            <a:ext cx="65810" cy="65810"/>
          </a:xfrm>
          <a:prstGeom prst="rect">
            <a:avLst/>
          </a:prstGeom>
        </p:spPr>
      </p:pic>
      <p:sp>
        <p:nvSpPr>
          <p:cNvPr id="540" name="K"/>
          <p:cNvSpPr/>
          <p:nvPr/>
        </p:nvSpPr>
        <p:spPr>
          <a:xfrm>
            <a:off x="8742814" y="4880714"/>
            <a:ext cx="58380" cy="58380"/>
          </a:xfrm>
          <a:prstGeom prst="ellipse">
            <a:avLst/>
          </a:prstGeom>
          <a:solidFill>
            <a:srgbClr val="C8102E"/>
          </a:solidFill>
          <a:ln w="6350">
            <a:solidFill>
              <a:srgbClr val="FFFFFF"/>
            </a:solidFill>
          </a:ln>
        </p:spPr>
      </p:sp>
      <p:sp>
        <p:nvSpPr>
          <p:cNvPr id="541" name="T"/>
          <p:cNvSpPr txBox="1"/>
          <p:nvPr/>
        </p:nvSpPr>
        <p:spPr>
          <a:xfrm>
            <a:off x="8742814" y="4880714"/>
            <a:ext cx="58380" cy="5838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500"/>
          </a:p>
        </p:txBody>
      </p:sp>
      <p:sp>
        <p:nvSpPr>
          <p:cNvPr id="542" name="T"/>
          <p:cNvSpPr txBox="1"/>
          <p:nvPr/>
        </p:nvSpPr>
        <p:spPr>
          <a:xfrm>
            <a:off x="8869680" y="4872721"/>
            <a:ext cx="1758391" cy="164592"/>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Banjir</a:t>
            </a:r>
            <a:r>
              <a:rPr lang="id-ID" sz="760" dirty="0">
                <a:solidFill>
                  <a:srgbClr val="2E3440"/>
                </a:solidFill>
                <a:latin typeface="Roboto"/>
                <a:ea typeface="Roboto"/>
                <a:cs typeface="Roboto"/>
              </a:rPr>
              <a:t>, 3 kab/kota di 2 provinsi</a:t>
            </a:r>
            <a:endParaRPr lang="id-ID" sz="760"/>
          </a:p>
        </p:txBody>
      </p:sp>
      <p:sp>
        <p:nvSpPr>
          <p:cNvPr id="543" name="K"/>
          <p:cNvSpPr/>
          <p:nvPr/>
        </p:nvSpPr>
        <p:spPr>
          <a:xfrm>
            <a:off x="10470000" y="4901944"/>
            <a:ext cx="1070000" cy="106146"/>
          </a:xfrm>
          <a:prstGeom prst="roundRect">
            <a:avLst>
              <a:gd name="adj" fmla="val 50000"/>
            </a:avLst>
          </a:prstGeom>
          <a:solidFill>
            <a:srgbClr val="DCE7F5"/>
          </a:solidFill>
          <a:ln>
            <a:noFill/>
          </a:ln>
        </p:spPr>
      </p:sp>
      <p:pic>
        <p:nvPicPr>
          <p:cNvPr id="544" name="G"/>
          <p:cNvPicPr>
            <a:picLocks noChangeAspect="1"/>
          </p:cNvPicPr>
          <p:nvPr/>
        </p:nvPicPr>
        <p:blipFill>
          <a:blip r:embed="rIdM15"/>
          <a:stretch>
            <a:fillRect/>
          </a:stretch>
        </p:blipFill>
        <p:spPr>
          <a:xfrm>
            <a:off x="10520000" y="4918927"/>
            <a:ext cx="72179" cy="72179"/>
          </a:xfrm>
          <a:prstGeom prst="rect">
            <a:avLst/>
          </a:prstGeom>
        </p:spPr>
      </p:pic>
      <p:sp>
        <p:nvSpPr>
          <p:cNvPr id="545" name="T"/>
          <p:cNvSpPr txBox="1"/>
          <p:nvPr/>
        </p:nvSpPr>
        <p:spPr>
          <a:xfrm>
            <a:off x="10680000" y="4901944"/>
            <a:ext cx="500000" cy="106146"/>
          </a:xfrm>
          <a:prstGeom prst="rect">
            <a:avLst/>
          </a:prstGeom>
          <a:noFill/>
        </p:spPr>
        <p:txBody>
          <a:bodyPr wrap="none" lIns="0" tIns="0" rIns="0" bIns="0" anchor="ctr"/>
          <a:lstStyle/>
          <a:p>
            <a:pPr algn="r">
              <a:buNone/>
            </a:pPr>
            <a:r>
              <a:rPr lang="id-ID" sz="720" b="1" dirty="0">
                <a:solidFill>
                  <a:srgbClr val="2F6FB5"/>
                </a:solidFill>
                <a:latin typeface="Roboto"/>
                <a:ea typeface="Roboto"/>
                <a:cs typeface="Roboto"/>
              </a:rPr>
              <a:t>2.636</a:t>
            </a:r>
            <a:endParaRPr lang="id-ID" sz="720"/>
          </a:p>
        </p:txBody>
      </p:sp>
      <p:sp>
        <p:nvSpPr>
          <p:cNvPr id="546" name="T"/>
          <p:cNvSpPr txBox="1"/>
          <p:nvPr/>
        </p:nvSpPr>
        <p:spPr>
          <a:xfrm>
            <a:off x="11201600" y="4901944"/>
            <a:ext cx="300000" cy="106146"/>
          </a:xfrm>
          <a:prstGeom prst="rect">
            <a:avLst/>
          </a:prstGeom>
          <a:noFill/>
        </p:spPr>
        <p:txBody>
          <a:bodyPr wrap="none" lIns="0" tIns="0" rIns="0" bIns="0" anchor="ctr"/>
          <a:lstStyle/>
          <a:p>
            <a:pPr algn="l">
              <a:buNone/>
            </a:pPr>
            <a:r>
              <a:rPr lang="id-ID" sz="720" b="1" dirty="0">
                <a:solidFill>
                  <a:srgbClr val="2F6FB5"/>
                </a:solidFill>
                <a:latin typeface="Roboto"/>
                <a:ea typeface="Roboto"/>
                <a:cs typeface="Roboto"/>
              </a:rPr>
              <a:t>KK</a:t>
            </a:r>
            <a:endParaRPr lang="id-ID" sz="720"/>
          </a:p>
        </p:txBody>
      </p:sp>
      <p:cxnSp>
        <p:nvCxnSpPr>
          <p:cNvPr id="547" name="L"/>
          <p:cNvCxnSpPr/>
          <p:nvPr/>
        </p:nvCxnSpPr>
        <p:spPr>
          <a:xfrm>
            <a:off x="8668512" y="5021359"/>
            <a:ext cx="2809951" cy="0"/>
          </a:xfrm>
          <a:prstGeom prst="line">
            <a:avLst/>
          </a:prstGeom>
          <a:ln w="9525">
            <a:solidFill>
              <a:srgbClr val="F1F2F4"/>
            </a:solidFill>
          </a:ln>
        </p:spPr>
      </p:cxnSp>
      <p:sp>
        <p:nvSpPr>
          <p:cNvPr id="548" name="K"/>
          <p:cNvSpPr/>
          <p:nvPr/>
        </p:nvSpPr>
        <p:spPr>
          <a:xfrm>
            <a:off x="8668512" y="5034627"/>
            <a:ext cx="106146" cy="106146"/>
          </a:xfrm>
          <a:prstGeom prst="ellipse">
            <a:avLst/>
          </a:prstGeom>
          <a:solidFill>
            <a:srgbClr val="0E7490"/>
          </a:solidFill>
          <a:ln>
            <a:noFill/>
          </a:ln>
        </p:spPr>
      </p:sp>
      <p:pic>
        <p:nvPicPr>
          <p:cNvPr id="549" name="G"/>
          <p:cNvPicPr>
            <a:picLocks noChangeAspect="1"/>
          </p:cNvPicPr>
          <p:nvPr/>
        </p:nvPicPr>
        <p:blipFill>
          <a:blip r:embed="rIdM16"/>
          <a:stretch>
            <a:fillRect/>
          </a:stretch>
        </p:blipFill>
        <p:spPr>
          <a:xfrm>
            <a:off x="8688679" y="5054794"/>
            <a:ext cx="65810" cy="65810"/>
          </a:xfrm>
          <a:prstGeom prst="rect">
            <a:avLst/>
          </a:prstGeom>
        </p:spPr>
      </p:pic>
      <p:sp>
        <p:nvSpPr>
          <p:cNvPr id="550" name="T"/>
          <p:cNvSpPr txBox="1"/>
          <p:nvPr/>
        </p:nvSpPr>
        <p:spPr>
          <a:xfrm>
            <a:off x="8869680" y="5005404"/>
            <a:ext cx="1758391" cy="164592"/>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Kalimantan Selatan</a:t>
            </a:r>
            <a:r>
              <a:rPr lang="id-ID" sz="760" dirty="0">
                <a:solidFill>
                  <a:srgbClr val="2E3440"/>
                </a:solidFill>
                <a:latin typeface="Roboto"/>
                <a:ea typeface="Roboto"/>
                <a:cs typeface="Roboto"/>
              </a:rPr>
              <a:t>, Banjar</a:t>
            </a:r>
            <a:endParaRPr lang="id-ID" sz="760"/>
          </a:p>
        </p:txBody>
      </p:sp>
      <p:sp>
        <p:nvSpPr>
          <p:cNvPr id="551" name="K"/>
          <p:cNvSpPr/>
          <p:nvPr/>
        </p:nvSpPr>
        <p:spPr>
          <a:xfrm>
            <a:off x="10470000" y="5034627"/>
            <a:ext cx="1070000" cy="106146"/>
          </a:xfrm>
          <a:prstGeom prst="roundRect">
            <a:avLst>
              <a:gd name="adj" fmla="val 50000"/>
            </a:avLst>
          </a:prstGeom>
          <a:solidFill>
            <a:srgbClr val="D5EEF2"/>
          </a:solidFill>
          <a:ln>
            <a:noFill/>
          </a:ln>
        </p:spPr>
      </p:sp>
      <p:pic>
        <p:nvPicPr>
          <p:cNvPr id="552" name="G"/>
          <p:cNvPicPr>
            <a:picLocks noChangeAspect="1"/>
          </p:cNvPicPr>
          <p:nvPr/>
        </p:nvPicPr>
        <p:blipFill>
          <a:blip r:embed="rIdM15"/>
          <a:stretch>
            <a:fillRect/>
          </a:stretch>
        </p:blipFill>
        <p:spPr>
          <a:xfrm>
            <a:off x="10520000" y="5051610"/>
            <a:ext cx="72179" cy="72179"/>
          </a:xfrm>
          <a:prstGeom prst="rect">
            <a:avLst/>
          </a:prstGeom>
        </p:spPr>
      </p:pic>
      <p:sp>
        <p:nvSpPr>
          <p:cNvPr id="553" name="T"/>
          <p:cNvSpPr txBox="1"/>
          <p:nvPr/>
        </p:nvSpPr>
        <p:spPr>
          <a:xfrm>
            <a:off x="10680000" y="5034627"/>
            <a:ext cx="500000" cy="106146"/>
          </a:xfrm>
          <a:prstGeom prst="rect">
            <a:avLst/>
          </a:prstGeom>
          <a:noFill/>
        </p:spPr>
        <p:txBody>
          <a:bodyPr wrap="none" lIns="0" tIns="0" rIns="0" bIns="0" anchor="ctr"/>
          <a:lstStyle/>
          <a:p>
            <a:pPr algn="r">
              <a:buNone/>
            </a:pPr>
            <a:r>
              <a:rPr lang="id-ID" sz="720" b="1" dirty="0">
                <a:solidFill>
                  <a:srgbClr val="0E7490"/>
                </a:solidFill>
                <a:latin typeface="Roboto"/>
                <a:ea typeface="Roboto"/>
                <a:cs typeface="Roboto"/>
              </a:rPr>
              <a:t>45</a:t>
            </a:r>
            <a:endParaRPr lang="id-ID" sz="720"/>
          </a:p>
        </p:txBody>
      </p:sp>
      <p:sp>
        <p:nvSpPr>
          <p:cNvPr id="554" name="T"/>
          <p:cNvSpPr txBox="1"/>
          <p:nvPr/>
        </p:nvSpPr>
        <p:spPr>
          <a:xfrm>
            <a:off x="11201600" y="5034627"/>
            <a:ext cx="300000" cy="106146"/>
          </a:xfrm>
          <a:prstGeom prst="rect">
            <a:avLst/>
          </a:prstGeom>
          <a:noFill/>
        </p:spPr>
        <p:txBody>
          <a:bodyPr wrap="none" lIns="0" tIns="0" rIns="0" bIns="0" anchor="ctr"/>
          <a:lstStyle/>
          <a:p>
            <a:pPr algn="l">
              <a:buNone/>
            </a:pPr>
            <a:r>
              <a:rPr lang="id-ID" sz="720" b="1" dirty="0">
                <a:solidFill>
                  <a:srgbClr val="0E7490"/>
                </a:solidFill>
                <a:latin typeface="Roboto"/>
                <a:ea typeface="Roboto"/>
                <a:cs typeface="Roboto"/>
              </a:rPr>
              <a:t>KK</a:t>
            </a:r>
            <a:endParaRPr lang="id-ID" sz="720"/>
          </a:p>
        </p:txBody>
      </p:sp>
      <p:cxnSp>
        <p:nvCxnSpPr>
          <p:cNvPr id="555" name="L"/>
          <p:cNvCxnSpPr/>
          <p:nvPr/>
        </p:nvCxnSpPr>
        <p:spPr>
          <a:xfrm>
            <a:off x="8668512" y="5154042"/>
            <a:ext cx="2809951" cy="0"/>
          </a:xfrm>
          <a:prstGeom prst="line">
            <a:avLst/>
          </a:prstGeom>
          <a:ln w="9525">
            <a:solidFill>
              <a:srgbClr val="F1F2F4"/>
            </a:solidFill>
          </a:ln>
        </p:spPr>
      </p:cxnSp>
      <p:sp>
        <p:nvSpPr>
          <p:cNvPr id="556" name="K"/>
          <p:cNvSpPr/>
          <p:nvPr/>
        </p:nvSpPr>
        <p:spPr>
          <a:xfrm>
            <a:off x="8668512" y="5167310"/>
            <a:ext cx="106146" cy="106146"/>
          </a:xfrm>
          <a:prstGeom prst="ellipse">
            <a:avLst/>
          </a:prstGeom>
          <a:solidFill>
            <a:srgbClr val="5B7A99"/>
          </a:solidFill>
          <a:ln>
            <a:noFill/>
          </a:ln>
        </p:spPr>
      </p:sp>
      <p:pic>
        <p:nvPicPr>
          <p:cNvPr id="557" name="G"/>
          <p:cNvPicPr>
            <a:picLocks noChangeAspect="1"/>
          </p:cNvPicPr>
          <p:nvPr/>
        </p:nvPicPr>
        <p:blipFill>
          <a:blip r:embed="rIdM17"/>
          <a:stretch>
            <a:fillRect/>
          </a:stretch>
        </p:blipFill>
        <p:spPr>
          <a:xfrm>
            <a:off x="8688679" y="5187477"/>
            <a:ext cx="65810" cy="65810"/>
          </a:xfrm>
          <a:prstGeom prst="rect">
            <a:avLst/>
          </a:prstGeom>
        </p:spPr>
      </p:pic>
      <p:sp>
        <p:nvSpPr>
          <p:cNvPr id="558" name="T"/>
          <p:cNvSpPr txBox="1"/>
          <p:nvPr/>
        </p:nvSpPr>
        <p:spPr>
          <a:xfrm>
            <a:off x="8869680" y="5138087"/>
            <a:ext cx="1758391" cy="164592"/>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Nusa Tenggara Timur</a:t>
            </a:r>
            <a:endParaRPr lang="id-ID" sz="760"/>
          </a:p>
        </p:txBody>
      </p:sp>
      <p:sp>
        <p:nvSpPr>
          <p:cNvPr id="559" name="K"/>
          <p:cNvSpPr/>
          <p:nvPr/>
        </p:nvSpPr>
        <p:spPr>
          <a:xfrm>
            <a:off x="10470000" y="5167310"/>
            <a:ext cx="1070000" cy="106146"/>
          </a:xfrm>
          <a:prstGeom prst="roundRect">
            <a:avLst>
              <a:gd name="adj" fmla="val 50000"/>
            </a:avLst>
          </a:prstGeom>
          <a:solidFill>
            <a:srgbClr val="E3EAF1"/>
          </a:solidFill>
          <a:ln>
            <a:noFill/>
          </a:ln>
        </p:spPr>
      </p:sp>
      <p:pic>
        <p:nvPicPr>
          <p:cNvPr id="560" name="G"/>
          <p:cNvPicPr>
            <a:picLocks noChangeAspect="1"/>
          </p:cNvPicPr>
          <p:nvPr/>
        </p:nvPicPr>
        <p:blipFill>
          <a:blip r:embed="rIdM15"/>
          <a:stretch>
            <a:fillRect/>
          </a:stretch>
        </p:blipFill>
        <p:spPr>
          <a:xfrm>
            <a:off x="10520000" y="5184293"/>
            <a:ext cx="72179" cy="72179"/>
          </a:xfrm>
          <a:prstGeom prst="rect">
            <a:avLst/>
          </a:prstGeom>
        </p:spPr>
      </p:pic>
      <p:sp>
        <p:nvSpPr>
          <p:cNvPr id="561" name="T"/>
          <p:cNvSpPr txBox="1"/>
          <p:nvPr/>
        </p:nvSpPr>
        <p:spPr>
          <a:xfrm>
            <a:off x="10680000" y="5167310"/>
            <a:ext cx="500000" cy="106146"/>
          </a:xfrm>
          <a:prstGeom prst="rect">
            <a:avLst/>
          </a:prstGeom>
          <a:noFill/>
        </p:spPr>
        <p:txBody>
          <a:bodyPr wrap="none" lIns="0" tIns="0" rIns="0" bIns="0" anchor="ctr"/>
          <a:lstStyle/>
          <a:p>
            <a:pPr algn="r">
              <a:buNone/>
            </a:pPr>
            <a:r>
              <a:rPr lang="id-ID" sz="720" b="1" dirty="0">
                <a:solidFill>
                  <a:srgbClr val="5B7A99"/>
                </a:solidFill>
                <a:latin typeface="Roboto"/>
                <a:ea typeface="Roboto"/>
                <a:cs typeface="Roboto"/>
              </a:rPr>
              <a:t>17.707</a:t>
            </a:r>
            <a:endParaRPr lang="id-ID" sz="720"/>
          </a:p>
        </p:txBody>
      </p:sp>
      <p:sp>
        <p:nvSpPr>
          <p:cNvPr id="562" name="T"/>
          <p:cNvSpPr txBox="1"/>
          <p:nvPr/>
        </p:nvSpPr>
        <p:spPr>
          <a:xfrm>
            <a:off x="11201600" y="5167310"/>
            <a:ext cx="300000" cy="106146"/>
          </a:xfrm>
          <a:prstGeom prst="rect">
            <a:avLst/>
          </a:prstGeom>
          <a:noFill/>
        </p:spPr>
        <p:txBody>
          <a:bodyPr wrap="none" lIns="0" tIns="0" rIns="0" bIns="0" anchor="ctr"/>
          <a:lstStyle/>
          <a:p>
            <a:pPr algn="l">
              <a:buNone/>
            </a:pPr>
            <a:r>
              <a:rPr lang="id-ID" sz="720" b="1" dirty="0">
                <a:solidFill>
                  <a:srgbClr val="5B7A99"/>
                </a:solidFill>
                <a:latin typeface="Roboto"/>
                <a:ea typeface="Roboto"/>
                <a:cs typeface="Roboto"/>
              </a:rPr>
              <a:t>KK</a:t>
            </a:r>
            <a:endParaRPr lang="id-ID" sz="720"/>
          </a:p>
        </p:txBody>
      </p:sp>
      <p:sp>
        <p:nvSpPr>
          <p:cNvPr id="563" name="K"/>
          <p:cNvSpPr/>
          <p:nvPr/>
        </p:nvSpPr>
        <p:spPr>
          <a:xfrm>
            <a:off x="548640" y="5468112"/>
            <a:ext cx="11094415" cy="822960"/>
          </a:xfrm>
          <a:prstGeom prst="roundRect">
            <a:avLst>
              <a:gd name="adj" fmla="val 8889"/>
            </a:avLst>
          </a:prstGeom>
          <a:solidFill>
            <a:srgbClr val="FDF4EC"/>
          </a:solidFill>
          <a:ln>
            <a:noFill/>
          </a:ln>
        </p:spPr>
      </p:sp>
      <p:sp>
        <p:nvSpPr>
          <p:cNvPr id="564" name="T"/>
          <p:cNvSpPr txBox="1"/>
          <p:nvPr/>
        </p:nvSpPr>
        <p:spPr>
          <a:xfrm>
            <a:off x="694944" y="5541264"/>
            <a:ext cx="3657600" cy="182880"/>
          </a:xfrm>
          <a:prstGeom prst="rect">
            <a:avLst/>
          </a:prstGeom>
          <a:noFill/>
        </p:spPr>
        <p:txBody>
          <a:bodyPr wrap="square" lIns="0" tIns="0" rIns="0" bIns="0" anchor="t"/>
          <a:lstStyle/>
          <a:p>
            <a:pPr algn="l">
              <a:buNone/>
            </a:pPr>
            <a:r>
              <a:rPr lang="id-ID" sz="750" b="1" spc="100" dirty="0">
                <a:solidFill>
                  <a:srgbClr val="D9600B"/>
                </a:solidFill>
                <a:latin typeface="Roboto"/>
                <a:ea typeface="Roboto"/>
                <a:cs typeface="Roboto"/>
              </a:rPr>
              <a:t>YANG AKAN DILAKUKAN BNPB</a:t>
            </a:r>
            <a:endParaRPr lang="id-ID" sz="750"/>
          </a:p>
        </p:txBody>
      </p:sp>
      <p:sp>
        <p:nvSpPr>
          <p:cNvPr id="565" name="K"/>
          <p:cNvSpPr/>
          <p:nvPr/>
        </p:nvSpPr>
        <p:spPr>
          <a:xfrm>
            <a:off x="694944" y="5806440"/>
            <a:ext cx="365760" cy="365760"/>
          </a:xfrm>
          <a:prstGeom prst="ellipse">
            <a:avLst/>
          </a:prstGeom>
          <a:solidFill>
            <a:srgbClr val="D9600B"/>
          </a:solidFill>
          <a:ln>
            <a:noFill/>
          </a:ln>
        </p:spPr>
      </p:sp>
      <p:pic>
        <p:nvPicPr>
          <p:cNvPr id="566" name="G"/>
          <p:cNvPicPr>
            <a:picLocks noChangeAspect="1"/>
          </p:cNvPicPr>
          <p:nvPr/>
        </p:nvPicPr>
        <p:blipFill>
          <a:blip r:embed="rIdM18"/>
          <a:stretch>
            <a:fillRect/>
          </a:stretch>
        </p:blipFill>
        <p:spPr>
          <a:xfrm>
            <a:off x="777240" y="5888736"/>
            <a:ext cx="201168" cy="201168"/>
          </a:xfrm>
          <a:prstGeom prst="rect">
            <a:avLst/>
          </a:prstGeom>
        </p:spPr>
      </p:pic>
      <p:sp>
        <p:nvSpPr>
          <p:cNvPr id="567" name="T"/>
          <p:cNvSpPr txBox="1"/>
          <p:nvPr/>
        </p:nvSpPr>
        <p:spPr>
          <a:xfrm>
            <a:off x="1152144" y="5733288"/>
            <a:ext cx="3014472" cy="201168"/>
          </a:xfrm>
          <a:prstGeom prst="rect">
            <a:avLst/>
          </a:prstGeom>
          <a:noFill/>
        </p:spPr>
        <p:txBody>
          <a:bodyPr wrap="square" lIns="0" tIns="0" rIns="0" bIns="0" anchor="t"/>
          <a:lstStyle/>
          <a:p>
            <a:pPr algn="l">
              <a:buNone/>
            </a:pPr>
            <a:r>
              <a:rPr lang="id-ID" sz="950" b="1" dirty="0">
                <a:solidFill>
                  <a:srgbClr val="1A1A1A"/>
                </a:solidFill>
                <a:latin typeface="Roboto"/>
                <a:ea typeface="Roboto"/>
                <a:cs typeface="Roboto"/>
              </a:rPr>
              <a:t>Pemadaman prioritas</a:t>
            </a:r>
            <a:endParaRPr lang="id-ID" sz="950"/>
          </a:p>
        </p:txBody>
      </p:sp>
      <p:sp>
        <p:nvSpPr>
          <p:cNvPr id="568" name="T"/>
          <p:cNvSpPr txBox="1"/>
          <p:nvPr/>
        </p:nvSpPr>
        <p:spPr>
          <a:xfrm>
            <a:off x="1152144" y="5952744"/>
            <a:ext cx="3014472" cy="320040"/>
          </a:xfrm>
          <a:prstGeom prst="rect">
            <a:avLst/>
          </a:prstGeom>
          <a:noFill/>
        </p:spPr>
        <p:txBody>
          <a:bodyPr wrap="none" lIns="0" tIns="0" rIns="0" bIns="0" anchor="t"/>
          <a:lstStyle/>
          <a:p>
            <a:pPr algn="l">
              <a:buNone/>
            </a:pPr>
            <a:r>
              <a:rPr lang="id-ID" sz="820" dirty="0">
                <a:solidFill>
                  <a:srgbClr val="2E3440"/>
                </a:solidFill>
                <a:latin typeface="Roboto"/>
                <a:ea typeface="Roboto"/>
                <a:cs typeface="Roboto"/>
              </a:rPr>
              <a:t>•  Papua Selatan ±549 ha dan Kal. Tengah ±467 ha belum padam</a:t>
            </a:r>
            <a:endParaRPr lang="id-ID" sz="820"/>
          </a:p>
          <a:p>
            <a:pPr algn="l">
              <a:buNone/>
            </a:pPr>
            <a:r>
              <a:rPr lang="id-ID" sz="820" dirty="0">
                <a:solidFill>
                  <a:srgbClr val="2E3440"/>
                </a:solidFill>
                <a:latin typeface="Roboto"/>
                <a:ea typeface="Roboto"/>
                <a:cs typeface="Roboto"/>
              </a:rPr>
              <a:t>•  Patroli, pendinginan: Sulteng, Kaltim, Sultra</a:t>
            </a:r>
            <a:endParaRPr lang="id-ID" sz="820"/>
          </a:p>
        </p:txBody>
      </p:sp>
      <p:cxnSp>
        <p:nvCxnSpPr>
          <p:cNvPr id="569" name="L"/>
          <p:cNvCxnSpPr/>
          <p:nvPr/>
        </p:nvCxnSpPr>
        <p:spPr>
          <a:xfrm>
            <a:off x="4222394" y="5797296"/>
            <a:ext cx="0" cy="457200"/>
          </a:xfrm>
          <a:prstGeom prst="line">
            <a:avLst/>
          </a:prstGeom>
          <a:ln w="9525">
            <a:solidFill>
              <a:srgbClr val="F2D3BA"/>
            </a:solidFill>
          </a:ln>
        </p:spPr>
      </p:cxnSp>
      <p:sp>
        <p:nvSpPr>
          <p:cNvPr id="570" name="K"/>
          <p:cNvSpPr/>
          <p:nvPr/>
        </p:nvSpPr>
        <p:spPr>
          <a:xfrm>
            <a:off x="4295546" y="5806440"/>
            <a:ext cx="365760" cy="365760"/>
          </a:xfrm>
          <a:prstGeom prst="ellipse">
            <a:avLst/>
          </a:prstGeom>
          <a:solidFill>
            <a:srgbClr val="D9600B"/>
          </a:solidFill>
          <a:ln>
            <a:noFill/>
          </a:ln>
        </p:spPr>
      </p:sp>
      <p:pic>
        <p:nvPicPr>
          <p:cNvPr id="571" name="G"/>
          <p:cNvPicPr>
            <a:picLocks noChangeAspect="1"/>
          </p:cNvPicPr>
          <p:nvPr/>
        </p:nvPicPr>
        <p:blipFill>
          <a:blip r:embed="rIdM19"/>
          <a:stretch>
            <a:fillRect/>
          </a:stretch>
        </p:blipFill>
        <p:spPr>
          <a:xfrm>
            <a:off x="4377842" y="5888736"/>
            <a:ext cx="201168" cy="201168"/>
          </a:xfrm>
          <a:prstGeom prst="rect">
            <a:avLst/>
          </a:prstGeom>
        </p:spPr>
      </p:pic>
      <p:sp>
        <p:nvSpPr>
          <p:cNvPr id="572" name="T"/>
          <p:cNvSpPr txBox="1"/>
          <p:nvPr/>
        </p:nvSpPr>
        <p:spPr>
          <a:xfrm>
            <a:off x="4752746" y="5733288"/>
            <a:ext cx="3014472" cy="201168"/>
          </a:xfrm>
          <a:prstGeom prst="rect">
            <a:avLst/>
          </a:prstGeom>
          <a:noFill/>
        </p:spPr>
        <p:txBody>
          <a:bodyPr wrap="square" lIns="0" tIns="0" rIns="0" bIns="0" anchor="t"/>
          <a:lstStyle/>
          <a:p>
            <a:pPr algn="l">
              <a:buNone/>
            </a:pPr>
            <a:r>
              <a:rPr lang="id-ID" sz="950" b="1" dirty="0">
                <a:solidFill>
                  <a:srgbClr val="1A1A1A"/>
                </a:solidFill>
                <a:latin typeface="Roboto"/>
                <a:ea typeface="Roboto"/>
                <a:cs typeface="Roboto"/>
              </a:rPr>
              <a:t>Keselamatan warga</a:t>
            </a:r>
            <a:endParaRPr lang="id-ID" sz="950"/>
          </a:p>
        </p:txBody>
      </p:sp>
      <p:sp>
        <p:nvSpPr>
          <p:cNvPr id="573" name="T"/>
          <p:cNvSpPr txBox="1"/>
          <p:nvPr/>
        </p:nvSpPr>
        <p:spPr>
          <a:xfrm>
            <a:off x="4752746" y="5952744"/>
            <a:ext cx="3014472" cy="320040"/>
          </a:xfrm>
          <a:prstGeom prst="rect">
            <a:avLst/>
          </a:prstGeom>
          <a:noFill/>
        </p:spPr>
        <p:txBody>
          <a:bodyPr wrap="none" lIns="0" tIns="0" rIns="0" bIns="0" anchor="t"/>
          <a:lstStyle/>
          <a:p>
            <a:pPr algn="l">
              <a:buNone/>
            </a:pPr>
            <a:r>
              <a:rPr lang="id-ID" sz="820" dirty="0">
                <a:solidFill>
                  <a:srgbClr val="2E3440"/>
                </a:solidFill>
                <a:latin typeface="Roboto"/>
                <a:ea typeface="Roboto"/>
                <a:cs typeface="Roboto"/>
              </a:rPr>
              <a:t>•  Masker dan layanan ISPA: Pekanbaru, Pangkalan Bun</a:t>
            </a:r>
            <a:endParaRPr lang="id-ID" sz="820"/>
          </a:p>
          <a:p>
            <a:pPr algn="l">
              <a:buNone/>
            </a:pPr>
            <a:r>
              <a:rPr lang="id-ID" sz="820" dirty="0">
                <a:solidFill>
                  <a:srgbClr val="2E3440"/>
                </a:solidFill>
                <a:latin typeface="Roboto"/>
                <a:ea typeface="Roboto"/>
                <a:cs typeface="Roboto"/>
              </a:rPr>
              <a:t>•  Pengungsi: gempa NTT ±27.307, banjir Aceh ±173 jiwa</a:t>
            </a:r>
            <a:endParaRPr lang="id-ID" sz="820"/>
          </a:p>
        </p:txBody>
      </p:sp>
      <p:cxnSp>
        <p:nvCxnSpPr>
          <p:cNvPr id="574" name="L"/>
          <p:cNvCxnSpPr/>
          <p:nvPr/>
        </p:nvCxnSpPr>
        <p:spPr>
          <a:xfrm>
            <a:off x="7822996" y="5797296"/>
            <a:ext cx="0" cy="457200"/>
          </a:xfrm>
          <a:prstGeom prst="line">
            <a:avLst/>
          </a:prstGeom>
          <a:ln w="9525">
            <a:solidFill>
              <a:srgbClr val="F2D3BA"/>
            </a:solidFill>
          </a:ln>
        </p:spPr>
      </p:cxnSp>
      <p:sp>
        <p:nvSpPr>
          <p:cNvPr id="575" name="K"/>
          <p:cNvSpPr/>
          <p:nvPr/>
        </p:nvSpPr>
        <p:spPr>
          <a:xfrm>
            <a:off x="7896148" y="5806440"/>
            <a:ext cx="365760" cy="365760"/>
          </a:xfrm>
          <a:prstGeom prst="ellipse">
            <a:avLst/>
          </a:prstGeom>
          <a:solidFill>
            <a:srgbClr val="D9600B"/>
          </a:solidFill>
          <a:ln>
            <a:noFill/>
          </a:ln>
        </p:spPr>
      </p:sp>
      <p:pic>
        <p:nvPicPr>
          <p:cNvPr id="576" name="G"/>
          <p:cNvPicPr>
            <a:picLocks noChangeAspect="1"/>
          </p:cNvPicPr>
          <p:nvPr/>
        </p:nvPicPr>
        <p:blipFill>
          <a:blip r:embed="rIdM2"/>
          <a:stretch>
            <a:fillRect/>
          </a:stretch>
        </p:blipFill>
        <p:spPr>
          <a:xfrm>
            <a:off x="7978444" y="5888736"/>
            <a:ext cx="201168" cy="201168"/>
          </a:xfrm>
          <a:prstGeom prst="rect">
            <a:avLst/>
          </a:prstGeom>
        </p:spPr>
      </p:pic>
      <p:sp>
        <p:nvSpPr>
          <p:cNvPr id="577" name="T"/>
          <p:cNvSpPr txBox="1"/>
          <p:nvPr/>
        </p:nvSpPr>
        <p:spPr>
          <a:xfrm>
            <a:off x="8353348" y="5733288"/>
            <a:ext cx="3014472" cy="201168"/>
          </a:xfrm>
          <a:prstGeom prst="rect">
            <a:avLst/>
          </a:prstGeom>
          <a:noFill/>
        </p:spPr>
        <p:txBody>
          <a:bodyPr wrap="square" lIns="0" tIns="0" rIns="0" bIns="0" anchor="t"/>
          <a:lstStyle/>
          <a:p>
            <a:pPr algn="l">
              <a:buNone/>
            </a:pPr>
            <a:r>
              <a:rPr lang="id-ID" sz="950" b="1" dirty="0">
                <a:solidFill>
                  <a:srgbClr val="1A1A1A"/>
                </a:solidFill>
                <a:latin typeface="Roboto"/>
                <a:ea typeface="Roboto"/>
                <a:cs typeface="Roboto"/>
              </a:rPr>
              <a:t>Pemulihan</a:t>
            </a:r>
            <a:endParaRPr lang="id-ID" sz="950"/>
          </a:p>
        </p:txBody>
      </p:sp>
      <p:sp>
        <p:nvSpPr>
          <p:cNvPr id="578" name="T"/>
          <p:cNvSpPr txBox="1"/>
          <p:nvPr/>
        </p:nvSpPr>
        <p:spPr>
          <a:xfrm>
            <a:off x="8353348" y="5952744"/>
            <a:ext cx="3014472" cy="320040"/>
          </a:xfrm>
          <a:prstGeom prst="rect">
            <a:avLst/>
          </a:prstGeom>
          <a:noFill/>
        </p:spPr>
        <p:txBody>
          <a:bodyPr wrap="none" lIns="0" tIns="0" rIns="0" bIns="0" anchor="t"/>
          <a:lstStyle/>
          <a:p>
            <a:pPr algn="l">
              <a:buNone/>
            </a:pPr>
            <a:r>
              <a:rPr lang="id-ID" sz="820" dirty="0">
                <a:solidFill>
                  <a:srgbClr val="2E3440"/>
                </a:solidFill>
                <a:latin typeface="Roboto"/>
                <a:ea typeface="Roboto"/>
                <a:cs typeface="Roboto"/>
              </a:rPr>
              <a:t>•  Banjir Aceh: pendampingan berlanjut</a:t>
            </a:r>
            <a:endParaRPr lang="id-ID" sz="82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Shape 1"/>
          <p:cNvSpPr/>
          <p:nvPr/>
        </p:nvSpPr>
        <p:spPr>
          <a:xfrm>
            <a:off x="548640" y="1207008"/>
            <a:ext cx="11094415" cy="0"/>
          </a:xfrm>
          <a:prstGeom prst="line">
            <a:avLst/>
          </a:prstGeom>
          <a:noFill/>
          <a:ln w="9525">
            <a:solidFill>
              <a:srgbClr val="1A1A1A"/>
            </a:solidFill>
            <a:prstDash val="solid"/>
          </a:ln>
        </p:spPr>
      </p:sp>
      <p:sp>
        <p:nvSpPr>
          <p:cNvPr id="4" name="Shape 2"/>
          <p:cNvSpPr/>
          <p:nvPr/>
        </p:nvSpPr>
        <p:spPr>
          <a:xfrm>
            <a:off x="548640" y="6446520"/>
            <a:ext cx="11094415" cy="0"/>
          </a:xfrm>
          <a:prstGeom prst="line">
            <a:avLst/>
          </a:prstGeom>
          <a:noFill/>
          <a:ln w="9525">
            <a:solidFill>
              <a:srgbClr val="1A1A1A"/>
            </a:solidFill>
            <a:prstDash val="solid"/>
          </a:ln>
        </p:spPr>
      </p:sp>
      <p:pic>
        <p:nvPicPr>
          <p:cNvPr id="5" name="Image 0" descr="preencoded.png">    </p:cNvPr>
          <p:cNvPicPr>
            <a:picLocks noChangeAspect="1"/>
          </p:cNvPicPr>
          <p:nvPr/>
        </p:nvPicPr>
        <p:blipFill>
          <a:blip r:embed="rId1"/>
          <a:stretch>
            <a:fillRect/>
          </a:stretch>
        </p:blipFill>
        <p:spPr>
          <a:xfrm>
            <a:off x="11295583" y="365760"/>
            <a:ext cx="347472" cy="438912"/>
          </a:xfrm>
          <a:prstGeom prst="rect">
            <a:avLst/>
          </a:prstGeom>
        </p:spPr>
      </p:pic>
      <p:sp>
        <p:nvSpPr>
          <p:cNvPr id="6" name="Text 3"/>
          <p:cNvSpPr txBox="1"/>
          <p:nvPr/>
        </p:nvSpPr>
        <p:spPr>
          <a:xfrm>
            <a:off x="548640" y="6510528"/>
            <a:ext cx="5486400" cy="201168"/>
          </a:xfrm>
          <a:prstGeom prst="rect">
            <a:avLst/>
          </a:prstGeom>
          <a:noFill/>
          <a:ln/>
        </p:spPr>
        <p:txBody>
          <a:bodyPr wrap="square" lIns="0" tIns="0" rIns="0" bIns="0" rtlCol="0" anchor="t"/>
          <a:lstStyle/>
          <a:p>
            <a:pPr indent="0" marL="0">
              <a:buNone/>
            </a:pPr>
            <a:r>
              <a:rPr lang="en-US" sz="850" dirty="0">
                <a:solidFill>
                  <a:srgbClr val="1A1A1A"/>
                </a:solidFill>
                <a:latin typeface="Roboto" pitchFamily="34" charset="0"/>
                <a:ea typeface="Roboto" pitchFamily="34" charset="-122"/>
                <a:cs typeface="Roboto" pitchFamily="34" charset="-120"/>
              </a:rPr>
              <a:t>Badan Nasional Penanggulangan Bencana  |  Copyright 2026</a:t>
            </a:r>
            <a:endParaRPr lang="en-US" sz="850" dirty="0"/>
          </a:p>
        </p:txBody>
      </p:sp>
      <p:sp>
        <p:nvSpPr>
          <p:cNvPr id="7" name="Text 4"/>
          <p:cNvSpPr txBox="1"/>
          <p:nvPr/>
        </p:nvSpPr>
        <p:spPr>
          <a:xfrm>
            <a:off x="10728655" y="6510528"/>
            <a:ext cx="914400" cy="201168"/>
          </a:xfrm>
          <a:prstGeom prst="rect">
            <a:avLst/>
          </a:prstGeom>
          <a:noFill/>
          <a:ln/>
        </p:spPr>
        <p:txBody>
          <a:bodyPr wrap="square" lIns="0" tIns="0" rIns="0" bIns="0" rtlCol="0" anchor="t"/>
          <a:lstStyle/>
          <a:p>
            <a:pPr algn="r" indent="0" marL="0">
              <a:buNone/>
            </a:pPr>
            <a:r>
              <a:rPr lang="en-US" sz="850" b="1" dirty="0">
                <a:solidFill>
                  <a:srgbClr val="1A1A1A"/>
                </a:solidFill>
                <a:latin typeface="Roboto" pitchFamily="34" charset="0"/>
                <a:ea typeface="Roboto" pitchFamily="34" charset="-122"/>
                <a:cs typeface="Roboto" pitchFamily="34" charset="-120"/>
              </a:rPr>
              <a:t>3</a:t>
            </a:r>
            <a:endParaRPr lang="en-US" sz="850" dirty="0"/>
          </a:p>
        </p:txBody>
      </p:sp>
      <p:sp>
        <p:nvSpPr>
          <p:cNvPr id="898" name="T"/>
          <p:cNvSpPr txBox="1"/>
          <p:nvPr/>
        </p:nvSpPr>
        <p:spPr>
          <a:xfrm>
            <a:off x="548640" y="292608"/>
            <a:ext cx="10454335" cy="822960"/>
          </a:xfrm>
          <a:prstGeom prst="rect">
            <a:avLst/>
          </a:prstGeom>
          <a:noFill/>
        </p:spPr>
        <p:txBody>
          <a:bodyPr wrap="square" lIns="0" tIns="0" rIns="0" bIns="0" anchor="b"/>
          <a:lstStyle/>
          <a:p>
            <a:pPr algn="l">
              <a:buNone/>
            </a:pPr>
            <a:r>
              <a:rPr lang="id-ID" sz="2200" b="1" dirty="0">
                <a:solidFill>
                  <a:srgbClr val="1A1A1A"/>
                </a:solidFill>
                <a:latin typeface="Roboto"/>
                <a:ea typeface="Roboto"/>
                <a:cs typeface="Roboto"/>
              </a:rPr>
              <a:t>Rincian </a:t>
            </a:r>
            <a:r>
              <a:rPr lang="id-ID" sz="2200" b="1" dirty="0">
                <a:solidFill>
                  <a:srgbClr val="D9600B"/>
                </a:solidFill>
                <a:latin typeface="Roboto"/>
                <a:ea typeface="Roboto"/>
                <a:cs typeface="Roboto"/>
              </a:rPr>
              <a:t>25</a:t>
            </a:r>
            <a:r>
              <a:rPr lang="id-ID" sz="2200" b="1" dirty="0">
                <a:solidFill>
                  <a:srgbClr val="1A1A1A"/>
                </a:solidFill>
                <a:latin typeface="Roboto"/>
                <a:ea typeface="Roboto"/>
                <a:cs typeface="Roboto"/>
              </a:rPr>
              <a:t> kejadian menonjol: </a:t>
            </a:r>
            <a:r>
              <a:rPr lang="id-ID" sz="2200" b="1" dirty="0">
                <a:solidFill>
                  <a:srgbClr val="D9600B"/>
                </a:solidFill>
                <a:latin typeface="Roboto"/>
                <a:ea typeface="Roboto"/>
                <a:cs typeface="Roboto"/>
              </a:rPr>
              <a:t>17</a:t>
            </a:r>
            <a:r>
              <a:rPr lang="id-ID" sz="2200" b="1" dirty="0">
                <a:solidFill>
                  <a:srgbClr val="1A1A1A"/>
                </a:solidFill>
                <a:latin typeface="Roboto"/>
                <a:ea typeface="Roboto"/>
                <a:cs typeface="Roboto"/>
              </a:rPr>
              <a:t> karhutla</a:t>
            </a:r>
            <a:r>
              <a:rPr lang="id-ID" sz="2200" b="1" dirty="0">
                <a:solidFill>
                  <a:srgbClr val="1A1A1A"/>
                </a:solidFill>
                <a:latin typeface="Roboto"/>
                <a:ea typeface="Roboto"/>
                <a:cs typeface="Roboto"/>
              </a:rPr>
              <a:t> dan </a:t>
            </a:r>
            <a:r>
              <a:rPr lang="id-ID" sz="2200" b="1" dirty="0">
                <a:solidFill>
                  <a:srgbClr val="D9600B"/>
                </a:solidFill>
                <a:latin typeface="Roboto"/>
                <a:ea typeface="Roboto"/>
                <a:cs typeface="Roboto"/>
              </a:rPr>
              <a:t>8</a:t>
            </a:r>
            <a:r>
              <a:rPr lang="id-ID" sz="2200" b="1" dirty="0">
                <a:solidFill>
                  <a:srgbClr val="1A1A1A"/>
                </a:solidFill>
                <a:latin typeface="Roboto"/>
                <a:ea typeface="Roboto"/>
                <a:cs typeface="Roboto"/>
              </a:rPr>
              <a:t> bencana lainnya</a:t>
            </a:r>
            <a:r>
              <a:rPr lang="id-ID" sz="2200" b="1" dirty="0">
                <a:solidFill>
                  <a:srgbClr val="1A1A1A"/>
                </a:solidFill>
                <a:latin typeface="Roboto"/>
                <a:ea typeface="Roboto"/>
                <a:cs typeface="Roboto"/>
              </a:rPr>
              <a:t>; </a:t>
            </a:r>
            <a:r>
              <a:rPr lang="id-ID" sz="2200" b="1" dirty="0">
                <a:solidFill>
                  <a:srgbClr val="D9600B"/>
                </a:solidFill>
                <a:latin typeface="Roboto"/>
                <a:ea typeface="Roboto"/>
                <a:cs typeface="Roboto"/>
              </a:rPr>
              <a:t>3 gunung api</a:t>
            </a:r>
            <a:r>
              <a:rPr lang="id-ID" sz="2200" b="1" dirty="0">
                <a:solidFill>
                  <a:srgbClr val="1A1A1A"/>
                </a:solidFill>
                <a:latin typeface="Roboto"/>
                <a:ea typeface="Roboto"/>
                <a:cs typeface="Roboto"/>
              </a:rPr>
              <a:t> berstatus Siaga</a:t>
            </a:r>
            <a:endParaRPr lang="id-ID" sz="2200"/>
          </a:p>
        </p:txBody>
      </p:sp>
      <p:sp>
        <p:nvSpPr>
          <p:cNvPr id="301" name="K"/>
          <p:cNvSpPr/>
          <p:nvPr/>
        </p:nvSpPr>
        <p:spPr>
          <a:xfrm>
            <a:off x="548640" y="1325880"/>
            <a:ext cx="6720840" cy="5029200"/>
          </a:xfrm>
          <a:prstGeom prst="roundRect">
            <a:avLst>
              <a:gd name="adj" fmla="val 2000"/>
            </a:avLst>
          </a:prstGeom>
          <a:solidFill>
            <a:srgbClr val="FFFFFF"/>
          </a:solidFill>
          <a:ln w="9525">
            <a:solidFill>
              <a:srgbClr val="BFC5CC"/>
            </a:solidFill>
          </a:ln>
        </p:spPr>
      </p:sp>
      <p:sp>
        <p:nvSpPr>
          <p:cNvPr id="302" name="K"/>
          <p:cNvSpPr/>
          <p:nvPr/>
        </p:nvSpPr>
        <p:spPr>
          <a:xfrm>
            <a:off x="548640" y="1325880"/>
            <a:ext cx="6720840" cy="457200"/>
          </a:xfrm>
          <a:prstGeom prst="roundRect">
            <a:avLst>
              <a:gd name="adj" fmla="val 16000"/>
            </a:avLst>
          </a:prstGeom>
          <a:solidFill>
            <a:srgbClr val="FBE7D6"/>
          </a:solidFill>
          <a:ln>
            <a:noFill/>
          </a:ln>
        </p:spPr>
      </p:sp>
      <p:sp>
        <p:nvSpPr>
          <p:cNvPr id="303" name="K"/>
          <p:cNvSpPr/>
          <p:nvPr/>
        </p:nvSpPr>
        <p:spPr>
          <a:xfrm>
            <a:off x="548640" y="1600200"/>
            <a:ext cx="6720840" cy="182880"/>
          </a:xfrm>
          <a:prstGeom prst="rect">
            <a:avLst/>
          </a:prstGeom>
          <a:solidFill>
            <a:srgbClr val="FBE7D6"/>
          </a:solidFill>
          <a:ln>
            <a:noFill/>
          </a:ln>
        </p:spPr>
      </p:sp>
      <p:sp>
        <p:nvSpPr>
          <p:cNvPr id="304" name="K"/>
          <p:cNvSpPr/>
          <p:nvPr/>
        </p:nvSpPr>
        <p:spPr>
          <a:xfrm>
            <a:off x="676656" y="1408176"/>
            <a:ext cx="292608" cy="292608"/>
          </a:xfrm>
          <a:prstGeom prst="ellipse">
            <a:avLst/>
          </a:prstGeom>
          <a:solidFill>
            <a:srgbClr val="D9600B"/>
          </a:solidFill>
          <a:ln>
            <a:noFill/>
          </a:ln>
        </p:spPr>
      </p:sp>
      <p:pic>
        <p:nvPicPr>
          <p:cNvPr id="305" name="G"/>
          <p:cNvPicPr>
            <a:picLocks noChangeAspect="1"/>
          </p:cNvPicPr>
          <p:nvPr/>
        </p:nvPicPr>
        <p:blipFill>
          <a:blip r:embed="rIdM1"/>
          <a:stretch>
            <a:fillRect/>
          </a:stretch>
        </p:blipFill>
        <p:spPr>
          <a:xfrm>
            <a:off x="731520" y="1463040"/>
            <a:ext cx="182880" cy="182880"/>
          </a:xfrm>
          <a:prstGeom prst="rect">
            <a:avLst/>
          </a:prstGeom>
        </p:spPr>
      </p:pic>
      <p:sp>
        <p:nvSpPr>
          <p:cNvPr id="306" name="T"/>
          <p:cNvSpPr txBox="1"/>
          <p:nvPr/>
        </p:nvSpPr>
        <p:spPr>
          <a:xfrm>
            <a:off x="1051560" y="1325880"/>
            <a:ext cx="5620840" cy="457200"/>
          </a:xfrm>
          <a:prstGeom prst="rect">
            <a:avLst/>
          </a:prstGeom>
          <a:noFill/>
        </p:spPr>
        <p:txBody>
          <a:bodyPr wrap="square" lIns="0" tIns="0" rIns="0" bIns="0" anchor="ctr"/>
          <a:lstStyle/>
          <a:p>
            <a:pPr algn="l">
              <a:buNone/>
            </a:pPr>
            <a:r>
              <a:rPr lang="id-ID" sz="1100" b="1" dirty="0">
                <a:solidFill>
                  <a:srgbClr val="1A1A1A"/>
                </a:solidFill>
                <a:latin typeface="Roboto"/>
                <a:ea typeface="Roboto"/>
                <a:cs typeface="Roboto"/>
              </a:rPr>
              <a:t>Karhutla</a:t>
            </a:r>
            <a:endParaRPr lang="id-ID" sz="1100"/>
          </a:p>
        </p:txBody>
      </p:sp>
      <p:sp>
        <p:nvSpPr>
          <p:cNvPr id="307" name="T"/>
          <p:cNvSpPr txBox="1"/>
          <p:nvPr/>
        </p:nvSpPr>
        <p:spPr>
          <a:xfrm>
            <a:off x="6629400" y="1325880"/>
            <a:ext cx="512064" cy="457200"/>
          </a:xfrm>
          <a:prstGeom prst="rect">
            <a:avLst/>
          </a:prstGeom>
          <a:noFill/>
        </p:spPr>
        <p:txBody>
          <a:bodyPr wrap="square" lIns="0" tIns="0" rIns="0" bIns="0" anchor="ctr"/>
          <a:lstStyle/>
          <a:p>
            <a:pPr algn="r">
              <a:buNone/>
            </a:pPr>
            <a:r>
              <a:rPr lang="id-ID" sz="1800" b="1" dirty="0">
                <a:solidFill>
                  <a:srgbClr val="D9600B"/>
                </a:solidFill>
                <a:latin typeface="Roboto"/>
                <a:ea typeface="Roboto"/>
                <a:cs typeface="Roboto"/>
              </a:rPr>
              <a:t>17</a:t>
            </a:r>
            <a:endParaRPr lang="id-ID" sz="1800"/>
          </a:p>
        </p:txBody>
      </p:sp>
      <p:sp>
        <p:nvSpPr>
          <p:cNvPr id="308" name="T"/>
          <p:cNvSpPr txBox="1"/>
          <p:nvPr/>
        </p:nvSpPr>
        <p:spPr>
          <a:xfrm>
            <a:off x="676656" y="1856232"/>
            <a:ext cx="2194560" cy="164592"/>
          </a:xfrm>
          <a:prstGeom prst="rect">
            <a:avLst/>
          </a:prstGeom>
          <a:noFill/>
        </p:spPr>
        <p:txBody>
          <a:bodyPr wrap="square" lIns="0" tIns="0" rIns="0" bIns="0" anchor="t"/>
          <a:lstStyle/>
          <a:p>
            <a:pPr algn="l">
              <a:buNone/>
            </a:pPr>
            <a:r>
              <a:rPr lang="id-ID" sz="700" b="1" spc="60" dirty="0">
                <a:solidFill>
                  <a:srgbClr val="6B7280"/>
                </a:solidFill>
                <a:latin typeface="Roboto"/>
                <a:ea typeface="Roboto"/>
                <a:cs typeface="Roboto"/>
              </a:rPr>
              <a:t>LOKASI</a:t>
            </a:r>
            <a:endParaRPr lang="id-ID" sz="650"/>
          </a:p>
        </p:txBody>
      </p:sp>
      <p:sp>
        <p:nvSpPr>
          <p:cNvPr id="309" name="T"/>
          <p:cNvSpPr txBox="1"/>
          <p:nvPr/>
        </p:nvSpPr>
        <p:spPr>
          <a:xfrm>
            <a:off x="3291840" y="1856232"/>
            <a:ext cx="1280160" cy="164592"/>
          </a:xfrm>
          <a:prstGeom prst="rect">
            <a:avLst/>
          </a:prstGeom>
          <a:noFill/>
        </p:spPr>
        <p:txBody>
          <a:bodyPr wrap="square" lIns="0" tIns="0" rIns="0" bIns="0" anchor="t"/>
          <a:lstStyle/>
          <a:p>
            <a:pPr algn="l">
              <a:buNone/>
            </a:pPr>
            <a:r>
              <a:rPr lang="id-ID" sz="700" b="1" spc="60" dirty="0">
                <a:solidFill>
                  <a:srgbClr val="6B7280"/>
                </a:solidFill>
                <a:latin typeface="Roboto"/>
                <a:ea typeface="Roboto"/>
                <a:cs typeface="Roboto"/>
              </a:rPr>
              <a:t>TERBAKAR 1 JAN–30 OKT</a:t>
            </a:r>
            <a:endParaRPr lang="id-ID" sz="650"/>
          </a:p>
        </p:txBody>
      </p:sp>
      <p:sp>
        <p:nvSpPr>
          <p:cNvPr id="310" name="T"/>
          <p:cNvSpPr txBox="1"/>
          <p:nvPr/>
        </p:nvSpPr>
        <p:spPr>
          <a:xfrm>
            <a:off x="4617720" y="1856232"/>
            <a:ext cx="2523744" cy="164592"/>
          </a:xfrm>
          <a:prstGeom prst="rect">
            <a:avLst/>
          </a:prstGeom>
          <a:noFill/>
        </p:spPr>
        <p:txBody>
          <a:bodyPr wrap="square" lIns="0" tIns="0" rIns="0" bIns="0" anchor="t"/>
          <a:lstStyle/>
          <a:p>
            <a:pPr algn="ctr">
              <a:buNone/>
            </a:pPr>
            <a:r>
              <a:rPr lang="id-ID" sz="700" b="1" spc="60" dirty="0">
                <a:solidFill>
                  <a:srgbClr val="6B7280"/>
                </a:solidFill>
                <a:latin typeface="Roboto"/>
                <a:ea typeface="Roboto"/>
                <a:cs typeface="Roboto"/>
              </a:rPr>
              <a:t>FIRESPOT DAN SISA 30 OKT</a:t>
            </a:r>
            <a:endParaRPr lang="id-ID" sz="650"/>
          </a:p>
        </p:txBody>
      </p:sp>
      <p:cxnSp>
        <p:nvCxnSpPr>
          <p:cNvPr id="311" name="L"/>
          <p:cNvCxnSpPr/>
          <p:nvPr/>
        </p:nvCxnSpPr>
        <p:spPr>
          <a:xfrm>
            <a:off x="676656" y="2039112"/>
            <a:ext cx="6464808" cy="0"/>
          </a:xfrm>
          <a:prstGeom prst="line">
            <a:avLst/>
          </a:prstGeom>
          <a:ln w="9525">
            <a:solidFill>
              <a:srgbClr val="1A1A1A"/>
            </a:solidFill>
          </a:ln>
        </p:spPr>
      </p:cxnSp>
      <p:sp>
        <p:nvSpPr>
          <p:cNvPr id="312" name="K"/>
          <p:cNvSpPr/>
          <p:nvPr/>
        </p:nvSpPr>
        <p:spPr>
          <a:xfrm>
            <a:off x="676656" y="2106842"/>
            <a:ext cx="148326" cy="148326"/>
          </a:xfrm>
          <a:prstGeom prst="ellipse">
            <a:avLst/>
          </a:prstGeom>
          <a:solidFill>
            <a:srgbClr val="D9600B"/>
          </a:solidFill>
          <a:ln>
            <a:noFill/>
          </a:ln>
        </p:spPr>
      </p:sp>
      <p:pic>
        <p:nvPicPr>
          <p:cNvPr id="313" name="G"/>
          <p:cNvPicPr>
            <a:picLocks noChangeAspect="1"/>
          </p:cNvPicPr>
          <p:nvPr/>
        </p:nvPicPr>
        <p:blipFill>
          <a:blip r:embed="rIdM2"/>
          <a:stretch>
            <a:fillRect/>
          </a:stretch>
        </p:blipFill>
        <p:spPr>
          <a:xfrm>
            <a:off x="703354" y="2133541"/>
            <a:ext cx="94928" cy="94928"/>
          </a:xfrm>
          <a:prstGeom prst="rect">
            <a:avLst/>
          </a:prstGeom>
        </p:spPr>
      </p:pic>
      <p:sp>
        <p:nvSpPr>
          <p:cNvPr id="314" name="T"/>
          <p:cNvSpPr txBox="1"/>
          <p:nvPr/>
        </p:nvSpPr>
        <p:spPr>
          <a:xfrm>
            <a:off x="990000" y="2057400"/>
            <a:ext cx="2073240" cy="247211"/>
          </a:xfrm>
          <a:prstGeom prst="rect">
            <a:avLst/>
          </a:prstGeom>
          <a:noFill/>
        </p:spPr>
        <p:txBody>
          <a:bodyPr wrap="none" lIns="0" tIns="0" rIns="0" bIns="0" anchor="ctr"/>
          <a:lstStyle/>
          <a:p>
            <a:pPr algn="l">
              <a:buNone/>
            </a:pPr>
            <a:r>
              <a:rPr lang="id-ID" sz="756" b="1" dirty="0">
                <a:solidFill>
                  <a:srgbClr val="1A1A1A"/>
                </a:solidFill>
                <a:latin typeface="Roboto"/>
                <a:ea typeface="Roboto"/>
                <a:cs typeface="Roboto"/>
              </a:rPr>
              <a:t>Papua Selatan</a:t>
            </a:r>
            <a:endParaRPr lang="id-ID" sz="756"/>
          </a:p>
        </p:txBody>
      </p:sp>
      <p:sp>
        <p:nvSpPr>
          <p:cNvPr id="315" name="T"/>
          <p:cNvSpPr txBox="1"/>
          <p:nvPr/>
        </p:nvSpPr>
        <p:spPr>
          <a:xfrm>
            <a:off x="3291840" y="2057400"/>
            <a:ext cx="820000" cy="247211"/>
          </a:xfrm>
          <a:prstGeom prst="rect">
            <a:avLst/>
          </a:prstGeom>
          <a:noFill/>
        </p:spPr>
        <p:txBody>
          <a:bodyPr wrap="none" lIns="0" tIns="0" rIns="0" bIns="0" anchor="ctr"/>
          <a:lstStyle/>
          <a:p>
            <a:pPr algn="r">
              <a:buNone/>
            </a:pPr>
            <a:r>
              <a:rPr lang="id-ID" sz="740" b="1" dirty="0">
                <a:solidFill>
                  <a:srgbClr val="1A1A1A"/>
                </a:solidFill>
                <a:latin typeface="Roboto"/>
                <a:ea typeface="Roboto"/>
                <a:cs typeface="Roboto"/>
              </a:rPr>
              <a:t>± 298.227</a:t>
            </a:r>
            <a:endParaRPr lang="id-ID" sz="740"/>
          </a:p>
        </p:txBody>
      </p:sp>
      <p:sp>
        <p:nvSpPr>
          <p:cNvPr id="316" name="T"/>
          <p:cNvSpPr txBox="1"/>
          <p:nvPr/>
        </p:nvSpPr>
        <p:spPr>
          <a:xfrm>
            <a:off x="4134040" y="2057400"/>
            <a:ext cx="900000" cy="247211"/>
          </a:xfrm>
          <a:prstGeom prst="rect">
            <a:avLst/>
          </a:prstGeom>
          <a:noFill/>
        </p:spPr>
        <p:txBody>
          <a:bodyPr wrap="none" lIns="0" tIns="0" rIns="0" bIns="0" anchor="ctr"/>
          <a:lstStyle/>
          <a:p>
            <a:pPr algn="l">
              <a:buNone/>
            </a:pPr>
            <a:r>
              <a:rPr lang="id-ID" sz="740" b="1" dirty="0">
                <a:solidFill>
                  <a:srgbClr val="1A1A1A"/>
                </a:solidFill>
                <a:latin typeface="Roboto"/>
                <a:ea typeface="Roboto"/>
                <a:cs typeface="Roboto"/>
              </a:rPr>
              <a:t>ha</a:t>
            </a:r>
            <a:endParaRPr lang="id-ID" sz="740"/>
          </a:p>
        </p:txBody>
      </p:sp>
      <p:sp>
        <p:nvSpPr>
          <p:cNvPr id="317" name="K"/>
          <p:cNvSpPr/>
          <p:nvPr/>
        </p:nvSpPr>
        <p:spPr>
          <a:xfrm>
            <a:off x="4739006" y="2099426"/>
            <a:ext cx="1152584" cy="163159"/>
          </a:xfrm>
          <a:prstGeom prst="roundRect">
            <a:avLst>
              <a:gd name="adj" fmla="val 50000"/>
            </a:avLst>
          </a:prstGeom>
          <a:solidFill>
            <a:srgbClr val="E6EAF0"/>
          </a:solidFill>
          <a:ln>
            <a:noFill/>
          </a:ln>
        </p:spPr>
      </p:sp>
      <p:pic>
        <p:nvPicPr>
          <p:cNvPr id="318" name="G"/>
          <p:cNvPicPr>
            <a:picLocks noChangeAspect="1"/>
          </p:cNvPicPr>
          <p:nvPr/>
        </p:nvPicPr>
        <p:blipFill>
          <a:blip r:embed="rIdM3"/>
          <a:stretch>
            <a:fillRect/>
          </a:stretch>
        </p:blipFill>
        <p:spPr>
          <a:xfrm>
            <a:off x="4812158" y="2130426"/>
            <a:ext cx="101158" cy="101158"/>
          </a:xfrm>
          <a:prstGeom prst="rect">
            <a:avLst/>
          </a:prstGeom>
        </p:spPr>
      </p:pic>
      <p:sp>
        <p:nvSpPr>
          <p:cNvPr id="319" name="T"/>
          <p:cNvSpPr txBox="1"/>
          <p:nvPr/>
        </p:nvSpPr>
        <p:spPr>
          <a:xfrm>
            <a:off x="4995894" y="2099426"/>
            <a:ext cx="360000" cy="163159"/>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88</a:t>
            </a:r>
            <a:endParaRPr lang="id-ID" sz="625"/>
          </a:p>
        </p:txBody>
      </p:sp>
      <p:sp>
        <p:nvSpPr>
          <p:cNvPr id="320" name="T"/>
          <p:cNvSpPr txBox="1"/>
          <p:nvPr/>
        </p:nvSpPr>
        <p:spPr>
          <a:xfrm>
            <a:off x="5374644" y="2099426"/>
            <a:ext cx="480000" cy="163159"/>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25"/>
          </a:p>
        </p:txBody>
      </p:sp>
      <p:sp>
        <p:nvSpPr>
          <p:cNvPr id="321" name="K"/>
          <p:cNvSpPr/>
          <p:nvPr/>
        </p:nvSpPr>
        <p:spPr>
          <a:xfrm>
            <a:off x="5964742" y="2099426"/>
            <a:ext cx="1155436" cy="163159"/>
          </a:xfrm>
          <a:prstGeom prst="roundRect">
            <a:avLst>
              <a:gd name="adj" fmla="val 50000"/>
            </a:avLst>
          </a:prstGeom>
          <a:solidFill>
            <a:srgbClr val="FBE7D6"/>
          </a:solidFill>
          <a:ln>
            <a:noFill/>
          </a:ln>
        </p:spPr>
      </p:sp>
      <p:pic>
        <p:nvPicPr>
          <p:cNvPr id="322" name="G"/>
          <p:cNvPicPr>
            <a:picLocks noChangeAspect="1"/>
          </p:cNvPicPr>
          <p:nvPr/>
        </p:nvPicPr>
        <p:blipFill>
          <a:blip r:embed="rIdM4"/>
          <a:stretch>
            <a:fillRect/>
          </a:stretch>
        </p:blipFill>
        <p:spPr>
          <a:xfrm>
            <a:off x="6037894" y="2130426"/>
            <a:ext cx="101158" cy="101158"/>
          </a:xfrm>
          <a:prstGeom prst="rect">
            <a:avLst/>
          </a:prstGeom>
        </p:spPr>
      </p:pic>
      <p:sp>
        <p:nvSpPr>
          <p:cNvPr id="323" name="T"/>
          <p:cNvSpPr txBox="1"/>
          <p:nvPr/>
        </p:nvSpPr>
        <p:spPr>
          <a:xfrm>
            <a:off x="6211630" y="2099426"/>
            <a:ext cx="26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25"/>
          </a:p>
        </p:txBody>
      </p:sp>
      <p:sp>
        <p:nvSpPr>
          <p:cNvPr id="324" name="T"/>
          <p:cNvSpPr txBox="1"/>
          <p:nvPr/>
        </p:nvSpPr>
        <p:spPr>
          <a:xfrm>
            <a:off x="6481630" y="2099426"/>
            <a:ext cx="420000" cy="163159"/>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549</a:t>
            </a:r>
            <a:endParaRPr lang="id-ID" sz="625"/>
          </a:p>
        </p:txBody>
      </p:sp>
      <p:sp>
        <p:nvSpPr>
          <p:cNvPr id="325" name="T"/>
          <p:cNvSpPr txBox="1"/>
          <p:nvPr/>
        </p:nvSpPr>
        <p:spPr>
          <a:xfrm>
            <a:off x="6920380" y="2099426"/>
            <a:ext cx="18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25"/>
          </a:p>
        </p:txBody>
      </p:sp>
      <p:cxnSp>
        <p:nvCxnSpPr>
          <p:cNvPr id="326" name="L"/>
          <p:cNvCxnSpPr/>
          <p:nvPr/>
        </p:nvCxnSpPr>
        <p:spPr>
          <a:xfrm>
            <a:off x="676656" y="2304611"/>
            <a:ext cx="6464808" cy="0"/>
          </a:xfrm>
          <a:prstGeom prst="line">
            <a:avLst/>
          </a:prstGeom>
          <a:ln w="9525">
            <a:solidFill>
              <a:srgbClr val="EEF0F3"/>
            </a:solidFill>
          </a:ln>
        </p:spPr>
      </p:cxnSp>
      <p:sp>
        <p:nvSpPr>
          <p:cNvPr id="327" name="K"/>
          <p:cNvSpPr/>
          <p:nvPr/>
        </p:nvSpPr>
        <p:spPr>
          <a:xfrm>
            <a:off x="676656" y="2354053"/>
            <a:ext cx="148326" cy="148326"/>
          </a:xfrm>
          <a:prstGeom prst="ellipse">
            <a:avLst/>
          </a:prstGeom>
          <a:solidFill>
            <a:srgbClr val="D9600B"/>
          </a:solidFill>
          <a:ln>
            <a:noFill/>
          </a:ln>
        </p:spPr>
      </p:sp>
      <p:pic>
        <p:nvPicPr>
          <p:cNvPr id="328" name="G"/>
          <p:cNvPicPr>
            <a:picLocks noChangeAspect="1"/>
          </p:cNvPicPr>
          <p:nvPr/>
        </p:nvPicPr>
        <p:blipFill>
          <a:blip r:embed="rIdM2"/>
          <a:stretch>
            <a:fillRect/>
          </a:stretch>
        </p:blipFill>
        <p:spPr>
          <a:xfrm>
            <a:off x="703354" y="2380752"/>
            <a:ext cx="94928" cy="94928"/>
          </a:xfrm>
          <a:prstGeom prst="rect">
            <a:avLst/>
          </a:prstGeom>
        </p:spPr>
      </p:pic>
      <p:sp>
        <p:nvSpPr>
          <p:cNvPr id="329" name="T"/>
          <p:cNvSpPr txBox="1"/>
          <p:nvPr/>
        </p:nvSpPr>
        <p:spPr>
          <a:xfrm>
            <a:off x="990000" y="2304611"/>
            <a:ext cx="2073240" cy="247211"/>
          </a:xfrm>
          <a:prstGeom prst="rect">
            <a:avLst/>
          </a:prstGeom>
          <a:noFill/>
        </p:spPr>
        <p:txBody>
          <a:bodyPr wrap="none" lIns="0" tIns="0" rIns="0" bIns="0" anchor="ctr"/>
          <a:lstStyle/>
          <a:p>
            <a:pPr algn="l">
              <a:buNone/>
            </a:pPr>
            <a:r>
              <a:rPr lang="id-ID" sz="756" b="1" dirty="0">
                <a:solidFill>
                  <a:srgbClr val="1A1A1A"/>
                </a:solidFill>
                <a:latin typeface="Roboto"/>
                <a:ea typeface="Roboto"/>
                <a:cs typeface="Roboto"/>
              </a:rPr>
              <a:t>Kalimantan Tengah</a:t>
            </a:r>
            <a:endParaRPr lang="id-ID" sz="756"/>
          </a:p>
        </p:txBody>
      </p:sp>
      <p:sp>
        <p:nvSpPr>
          <p:cNvPr id="330" name="T"/>
          <p:cNvSpPr txBox="1"/>
          <p:nvPr/>
        </p:nvSpPr>
        <p:spPr>
          <a:xfrm>
            <a:off x="3291840" y="2304611"/>
            <a:ext cx="820000" cy="247211"/>
          </a:xfrm>
          <a:prstGeom prst="rect">
            <a:avLst/>
          </a:prstGeom>
          <a:noFill/>
        </p:spPr>
        <p:txBody>
          <a:bodyPr wrap="none" lIns="0" tIns="0" rIns="0" bIns="0" anchor="ctr"/>
          <a:lstStyle/>
          <a:p>
            <a:pPr algn="r">
              <a:buNone/>
            </a:pPr>
            <a:r>
              <a:rPr lang="id-ID" sz="740" b="1" dirty="0">
                <a:solidFill>
                  <a:srgbClr val="1A1A1A"/>
                </a:solidFill>
                <a:latin typeface="Roboto"/>
                <a:ea typeface="Roboto"/>
                <a:cs typeface="Roboto"/>
              </a:rPr>
              <a:t>± 690.422</a:t>
            </a:r>
            <a:endParaRPr lang="id-ID" sz="740"/>
          </a:p>
        </p:txBody>
      </p:sp>
      <p:sp>
        <p:nvSpPr>
          <p:cNvPr id="331" name="T"/>
          <p:cNvSpPr txBox="1"/>
          <p:nvPr/>
        </p:nvSpPr>
        <p:spPr>
          <a:xfrm>
            <a:off x="4134040" y="2304611"/>
            <a:ext cx="900000" cy="247211"/>
          </a:xfrm>
          <a:prstGeom prst="rect">
            <a:avLst/>
          </a:prstGeom>
          <a:noFill/>
        </p:spPr>
        <p:txBody>
          <a:bodyPr wrap="none" lIns="0" tIns="0" rIns="0" bIns="0" anchor="ctr"/>
          <a:lstStyle/>
          <a:p>
            <a:pPr algn="l">
              <a:buNone/>
            </a:pPr>
            <a:r>
              <a:rPr lang="id-ID" sz="740" b="1" dirty="0">
                <a:solidFill>
                  <a:srgbClr val="1A1A1A"/>
                </a:solidFill>
                <a:latin typeface="Roboto"/>
                <a:ea typeface="Roboto"/>
                <a:cs typeface="Roboto"/>
              </a:rPr>
              <a:t>ha</a:t>
            </a:r>
            <a:endParaRPr lang="id-ID" sz="740"/>
          </a:p>
        </p:txBody>
      </p:sp>
      <p:sp>
        <p:nvSpPr>
          <p:cNvPr id="332" name="K"/>
          <p:cNvSpPr/>
          <p:nvPr/>
        </p:nvSpPr>
        <p:spPr>
          <a:xfrm>
            <a:off x="4739006" y="2346637"/>
            <a:ext cx="1152584" cy="163159"/>
          </a:xfrm>
          <a:prstGeom prst="roundRect">
            <a:avLst>
              <a:gd name="adj" fmla="val 50000"/>
            </a:avLst>
          </a:prstGeom>
          <a:solidFill>
            <a:srgbClr val="E6EAF0"/>
          </a:solidFill>
          <a:ln>
            <a:noFill/>
          </a:ln>
        </p:spPr>
      </p:sp>
      <p:pic>
        <p:nvPicPr>
          <p:cNvPr id="333" name="G"/>
          <p:cNvPicPr>
            <a:picLocks noChangeAspect="1"/>
          </p:cNvPicPr>
          <p:nvPr/>
        </p:nvPicPr>
        <p:blipFill>
          <a:blip r:embed="rIdM3"/>
          <a:stretch>
            <a:fillRect/>
          </a:stretch>
        </p:blipFill>
        <p:spPr>
          <a:xfrm>
            <a:off x="4812158" y="2377637"/>
            <a:ext cx="101158" cy="101158"/>
          </a:xfrm>
          <a:prstGeom prst="rect">
            <a:avLst/>
          </a:prstGeom>
        </p:spPr>
      </p:pic>
      <p:sp>
        <p:nvSpPr>
          <p:cNvPr id="334" name="T"/>
          <p:cNvSpPr txBox="1"/>
          <p:nvPr/>
        </p:nvSpPr>
        <p:spPr>
          <a:xfrm>
            <a:off x="4995894" y="2346637"/>
            <a:ext cx="360000" cy="163159"/>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649</a:t>
            </a:r>
            <a:endParaRPr lang="id-ID" sz="625"/>
          </a:p>
        </p:txBody>
      </p:sp>
      <p:sp>
        <p:nvSpPr>
          <p:cNvPr id="335" name="T"/>
          <p:cNvSpPr txBox="1"/>
          <p:nvPr/>
        </p:nvSpPr>
        <p:spPr>
          <a:xfrm>
            <a:off x="5374644" y="2346637"/>
            <a:ext cx="480000" cy="163159"/>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25"/>
          </a:p>
        </p:txBody>
      </p:sp>
      <p:sp>
        <p:nvSpPr>
          <p:cNvPr id="336" name="K"/>
          <p:cNvSpPr/>
          <p:nvPr/>
        </p:nvSpPr>
        <p:spPr>
          <a:xfrm>
            <a:off x="5964742" y="2346637"/>
            <a:ext cx="1155436" cy="163159"/>
          </a:xfrm>
          <a:prstGeom prst="roundRect">
            <a:avLst>
              <a:gd name="adj" fmla="val 50000"/>
            </a:avLst>
          </a:prstGeom>
          <a:solidFill>
            <a:srgbClr val="FBE7D6"/>
          </a:solidFill>
          <a:ln>
            <a:noFill/>
          </a:ln>
        </p:spPr>
      </p:sp>
      <p:pic>
        <p:nvPicPr>
          <p:cNvPr id="337" name="G"/>
          <p:cNvPicPr>
            <a:picLocks noChangeAspect="1"/>
          </p:cNvPicPr>
          <p:nvPr/>
        </p:nvPicPr>
        <p:blipFill>
          <a:blip r:embed="rIdM4"/>
          <a:stretch>
            <a:fillRect/>
          </a:stretch>
        </p:blipFill>
        <p:spPr>
          <a:xfrm>
            <a:off x="6037894" y="2377637"/>
            <a:ext cx="101158" cy="101158"/>
          </a:xfrm>
          <a:prstGeom prst="rect">
            <a:avLst/>
          </a:prstGeom>
        </p:spPr>
      </p:pic>
      <p:sp>
        <p:nvSpPr>
          <p:cNvPr id="338" name="T"/>
          <p:cNvSpPr txBox="1"/>
          <p:nvPr/>
        </p:nvSpPr>
        <p:spPr>
          <a:xfrm>
            <a:off x="6211630" y="2346637"/>
            <a:ext cx="26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25"/>
          </a:p>
        </p:txBody>
      </p:sp>
      <p:sp>
        <p:nvSpPr>
          <p:cNvPr id="339" name="T"/>
          <p:cNvSpPr txBox="1"/>
          <p:nvPr/>
        </p:nvSpPr>
        <p:spPr>
          <a:xfrm>
            <a:off x="6481630" y="2346637"/>
            <a:ext cx="420000" cy="163159"/>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467</a:t>
            </a:r>
            <a:endParaRPr lang="id-ID" sz="625"/>
          </a:p>
        </p:txBody>
      </p:sp>
      <p:sp>
        <p:nvSpPr>
          <p:cNvPr id="340" name="T"/>
          <p:cNvSpPr txBox="1"/>
          <p:nvPr/>
        </p:nvSpPr>
        <p:spPr>
          <a:xfrm>
            <a:off x="6920380" y="2346637"/>
            <a:ext cx="18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25"/>
          </a:p>
        </p:txBody>
      </p:sp>
      <p:cxnSp>
        <p:nvCxnSpPr>
          <p:cNvPr id="341" name="L"/>
          <p:cNvCxnSpPr/>
          <p:nvPr/>
        </p:nvCxnSpPr>
        <p:spPr>
          <a:xfrm>
            <a:off x="676656" y="2551822"/>
            <a:ext cx="6464808" cy="0"/>
          </a:xfrm>
          <a:prstGeom prst="line">
            <a:avLst/>
          </a:prstGeom>
          <a:ln w="9525">
            <a:solidFill>
              <a:srgbClr val="EEF0F3"/>
            </a:solidFill>
          </a:ln>
        </p:spPr>
      </p:cxnSp>
      <p:sp>
        <p:nvSpPr>
          <p:cNvPr id="342" name="K"/>
          <p:cNvSpPr/>
          <p:nvPr/>
        </p:nvSpPr>
        <p:spPr>
          <a:xfrm>
            <a:off x="676656" y="2601264"/>
            <a:ext cx="148326" cy="148326"/>
          </a:xfrm>
          <a:prstGeom prst="ellipse">
            <a:avLst/>
          </a:prstGeom>
          <a:solidFill>
            <a:srgbClr val="D9600B"/>
          </a:solidFill>
          <a:ln>
            <a:noFill/>
          </a:ln>
        </p:spPr>
      </p:sp>
      <p:pic>
        <p:nvPicPr>
          <p:cNvPr id="343" name="G"/>
          <p:cNvPicPr>
            <a:picLocks noChangeAspect="1"/>
          </p:cNvPicPr>
          <p:nvPr/>
        </p:nvPicPr>
        <p:blipFill>
          <a:blip r:embed="rIdM2"/>
          <a:stretch>
            <a:fillRect/>
          </a:stretch>
        </p:blipFill>
        <p:spPr>
          <a:xfrm>
            <a:off x="703354" y="2627963"/>
            <a:ext cx="94928" cy="94928"/>
          </a:xfrm>
          <a:prstGeom prst="rect">
            <a:avLst/>
          </a:prstGeom>
        </p:spPr>
      </p:pic>
      <p:sp>
        <p:nvSpPr>
          <p:cNvPr id="344" name="T"/>
          <p:cNvSpPr txBox="1"/>
          <p:nvPr/>
        </p:nvSpPr>
        <p:spPr>
          <a:xfrm>
            <a:off x="990000" y="2551822"/>
            <a:ext cx="2073240" cy="247211"/>
          </a:xfrm>
          <a:prstGeom prst="rect">
            <a:avLst/>
          </a:prstGeom>
          <a:noFill/>
        </p:spPr>
        <p:txBody>
          <a:bodyPr wrap="none" lIns="0" tIns="0" rIns="0" bIns="0" anchor="ctr"/>
          <a:lstStyle/>
          <a:p>
            <a:pPr algn="l">
              <a:buNone/>
            </a:pPr>
            <a:r>
              <a:rPr lang="id-ID" sz="756" b="1" dirty="0">
                <a:solidFill>
                  <a:srgbClr val="1A1A1A"/>
                </a:solidFill>
                <a:latin typeface="Roboto"/>
                <a:ea typeface="Roboto"/>
                <a:cs typeface="Roboto"/>
              </a:rPr>
              <a:t>Sulawesi Tengah</a:t>
            </a:r>
            <a:endParaRPr lang="id-ID" sz="756"/>
          </a:p>
        </p:txBody>
      </p:sp>
      <p:sp>
        <p:nvSpPr>
          <p:cNvPr id="345" name="T"/>
          <p:cNvSpPr txBox="1"/>
          <p:nvPr/>
        </p:nvSpPr>
        <p:spPr>
          <a:xfrm>
            <a:off x="3291840" y="2551822"/>
            <a:ext cx="820000" cy="247211"/>
          </a:xfrm>
          <a:prstGeom prst="rect">
            <a:avLst/>
          </a:prstGeom>
          <a:noFill/>
        </p:spPr>
        <p:txBody>
          <a:bodyPr wrap="none" lIns="0" tIns="0" rIns="0" bIns="0" anchor="ctr"/>
          <a:lstStyle/>
          <a:p>
            <a:pPr algn="r">
              <a:buNone/>
            </a:pPr>
            <a:r>
              <a:rPr lang="id-ID" sz="740" b="1" dirty="0">
                <a:solidFill>
                  <a:srgbClr val="1A1A1A"/>
                </a:solidFill>
                <a:latin typeface="Roboto"/>
                <a:ea typeface="Roboto"/>
                <a:cs typeface="Roboto"/>
              </a:rPr>
              <a:t>± 45.843</a:t>
            </a:r>
            <a:endParaRPr lang="id-ID" sz="740"/>
          </a:p>
        </p:txBody>
      </p:sp>
      <p:sp>
        <p:nvSpPr>
          <p:cNvPr id="346" name="T"/>
          <p:cNvSpPr txBox="1"/>
          <p:nvPr/>
        </p:nvSpPr>
        <p:spPr>
          <a:xfrm>
            <a:off x="4134040" y="2551822"/>
            <a:ext cx="900000" cy="247211"/>
          </a:xfrm>
          <a:prstGeom prst="rect">
            <a:avLst/>
          </a:prstGeom>
          <a:noFill/>
        </p:spPr>
        <p:txBody>
          <a:bodyPr wrap="none" lIns="0" tIns="0" rIns="0" bIns="0" anchor="ctr"/>
          <a:lstStyle/>
          <a:p>
            <a:pPr algn="l">
              <a:buNone/>
            </a:pPr>
            <a:r>
              <a:rPr lang="id-ID" sz="740" b="1" dirty="0">
                <a:solidFill>
                  <a:srgbClr val="1A1A1A"/>
                </a:solidFill>
                <a:latin typeface="Roboto"/>
                <a:ea typeface="Roboto"/>
                <a:cs typeface="Roboto"/>
              </a:rPr>
              <a:t>ha</a:t>
            </a:r>
            <a:endParaRPr lang="id-ID" sz="740"/>
          </a:p>
        </p:txBody>
      </p:sp>
      <p:sp>
        <p:nvSpPr>
          <p:cNvPr id="347" name="K"/>
          <p:cNvSpPr/>
          <p:nvPr/>
        </p:nvSpPr>
        <p:spPr>
          <a:xfrm>
            <a:off x="4739006" y="2593848"/>
            <a:ext cx="1152584" cy="163159"/>
          </a:xfrm>
          <a:prstGeom prst="roundRect">
            <a:avLst>
              <a:gd name="adj" fmla="val 50000"/>
            </a:avLst>
          </a:prstGeom>
          <a:solidFill>
            <a:srgbClr val="E6EAF0"/>
          </a:solidFill>
          <a:ln>
            <a:noFill/>
          </a:ln>
        </p:spPr>
      </p:sp>
      <p:pic>
        <p:nvPicPr>
          <p:cNvPr id="348" name="G"/>
          <p:cNvPicPr>
            <a:picLocks noChangeAspect="1"/>
          </p:cNvPicPr>
          <p:nvPr/>
        </p:nvPicPr>
        <p:blipFill>
          <a:blip r:embed="rIdM3"/>
          <a:stretch>
            <a:fillRect/>
          </a:stretch>
        </p:blipFill>
        <p:spPr>
          <a:xfrm>
            <a:off x="4812158" y="2624848"/>
            <a:ext cx="101158" cy="101158"/>
          </a:xfrm>
          <a:prstGeom prst="rect">
            <a:avLst/>
          </a:prstGeom>
        </p:spPr>
      </p:pic>
      <p:sp>
        <p:nvSpPr>
          <p:cNvPr id="349" name="T"/>
          <p:cNvSpPr txBox="1"/>
          <p:nvPr/>
        </p:nvSpPr>
        <p:spPr>
          <a:xfrm>
            <a:off x="4995894" y="2593848"/>
            <a:ext cx="360000" cy="163159"/>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327</a:t>
            </a:r>
            <a:endParaRPr lang="id-ID" sz="625"/>
          </a:p>
        </p:txBody>
      </p:sp>
      <p:sp>
        <p:nvSpPr>
          <p:cNvPr id="350" name="T"/>
          <p:cNvSpPr txBox="1"/>
          <p:nvPr/>
        </p:nvSpPr>
        <p:spPr>
          <a:xfrm>
            <a:off x="5374644" y="2593848"/>
            <a:ext cx="480000" cy="163159"/>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25"/>
          </a:p>
        </p:txBody>
      </p:sp>
      <p:sp>
        <p:nvSpPr>
          <p:cNvPr id="351" name="K"/>
          <p:cNvSpPr/>
          <p:nvPr/>
        </p:nvSpPr>
        <p:spPr>
          <a:xfrm>
            <a:off x="5964742" y="2593848"/>
            <a:ext cx="1155436" cy="163159"/>
          </a:xfrm>
          <a:prstGeom prst="roundRect">
            <a:avLst>
              <a:gd name="adj" fmla="val 50000"/>
            </a:avLst>
          </a:prstGeom>
          <a:solidFill>
            <a:srgbClr val="FBE7D6"/>
          </a:solidFill>
          <a:ln>
            <a:noFill/>
          </a:ln>
        </p:spPr>
      </p:sp>
      <p:pic>
        <p:nvPicPr>
          <p:cNvPr id="352" name="G"/>
          <p:cNvPicPr>
            <a:picLocks noChangeAspect="1"/>
          </p:cNvPicPr>
          <p:nvPr/>
        </p:nvPicPr>
        <p:blipFill>
          <a:blip r:embed="rIdM4"/>
          <a:stretch>
            <a:fillRect/>
          </a:stretch>
        </p:blipFill>
        <p:spPr>
          <a:xfrm>
            <a:off x="6037894" y="2624848"/>
            <a:ext cx="101158" cy="101158"/>
          </a:xfrm>
          <a:prstGeom prst="rect">
            <a:avLst/>
          </a:prstGeom>
        </p:spPr>
      </p:pic>
      <p:sp>
        <p:nvSpPr>
          <p:cNvPr id="353" name="T"/>
          <p:cNvSpPr txBox="1"/>
          <p:nvPr/>
        </p:nvSpPr>
        <p:spPr>
          <a:xfrm>
            <a:off x="6211630" y="2593848"/>
            <a:ext cx="26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25"/>
          </a:p>
        </p:txBody>
      </p:sp>
      <p:sp>
        <p:nvSpPr>
          <p:cNvPr id="354" name="T"/>
          <p:cNvSpPr txBox="1"/>
          <p:nvPr/>
        </p:nvSpPr>
        <p:spPr>
          <a:xfrm>
            <a:off x="6481630" y="2593848"/>
            <a:ext cx="420000" cy="163159"/>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393</a:t>
            </a:r>
            <a:endParaRPr lang="id-ID" sz="625"/>
          </a:p>
        </p:txBody>
      </p:sp>
      <p:sp>
        <p:nvSpPr>
          <p:cNvPr id="355" name="T"/>
          <p:cNvSpPr txBox="1"/>
          <p:nvPr/>
        </p:nvSpPr>
        <p:spPr>
          <a:xfrm>
            <a:off x="6920380" y="2593848"/>
            <a:ext cx="18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25"/>
          </a:p>
        </p:txBody>
      </p:sp>
      <p:cxnSp>
        <p:nvCxnSpPr>
          <p:cNvPr id="356" name="L"/>
          <p:cNvCxnSpPr/>
          <p:nvPr/>
        </p:nvCxnSpPr>
        <p:spPr>
          <a:xfrm>
            <a:off x="676656" y="2799033"/>
            <a:ext cx="6464808" cy="0"/>
          </a:xfrm>
          <a:prstGeom prst="line">
            <a:avLst/>
          </a:prstGeom>
          <a:ln w="9525">
            <a:solidFill>
              <a:srgbClr val="EEF0F3"/>
            </a:solidFill>
          </a:ln>
        </p:spPr>
      </p:cxnSp>
      <p:sp>
        <p:nvSpPr>
          <p:cNvPr id="357" name="K"/>
          <p:cNvSpPr/>
          <p:nvPr/>
        </p:nvSpPr>
        <p:spPr>
          <a:xfrm>
            <a:off x="676656" y="2848475"/>
            <a:ext cx="148326" cy="148326"/>
          </a:xfrm>
          <a:prstGeom prst="ellipse">
            <a:avLst/>
          </a:prstGeom>
          <a:solidFill>
            <a:srgbClr val="D9600B"/>
          </a:solidFill>
          <a:ln>
            <a:noFill/>
          </a:ln>
        </p:spPr>
      </p:sp>
      <p:pic>
        <p:nvPicPr>
          <p:cNvPr id="358" name="G"/>
          <p:cNvPicPr>
            <a:picLocks noChangeAspect="1"/>
          </p:cNvPicPr>
          <p:nvPr/>
        </p:nvPicPr>
        <p:blipFill>
          <a:blip r:embed="rIdM2"/>
          <a:stretch>
            <a:fillRect/>
          </a:stretch>
        </p:blipFill>
        <p:spPr>
          <a:xfrm>
            <a:off x="703354" y="2875174"/>
            <a:ext cx="94928" cy="94928"/>
          </a:xfrm>
          <a:prstGeom prst="rect">
            <a:avLst/>
          </a:prstGeom>
        </p:spPr>
      </p:pic>
      <p:sp>
        <p:nvSpPr>
          <p:cNvPr id="359" name="T"/>
          <p:cNvSpPr txBox="1"/>
          <p:nvPr/>
        </p:nvSpPr>
        <p:spPr>
          <a:xfrm>
            <a:off x="990000" y="2799033"/>
            <a:ext cx="2073240" cy="247211"/>
          </a:xfrm>
          <a:prstGeom prst="rect">
            <a:avLst/>
          </a:prstGeom>
          <a:noFill/>
        </p:spPr>
        <p:txBody>
          <a:bodyPr wrap="none" lIns="0" tIns="0" rIns="0" bIns="0" anchor="ctr"/>
          <a:lstStyle/>
          <a:p>
            <a:pPr algn="l">
              <a:buNone/>
            </a:pPr>
            <a:r>
              <a:rPr lang="id-ID" sz="756" b="1" dirty="0">
                <a:solidFill>
                  <a:srgbClr val="1A1A1A"/>
                </a:solidFill>
                <a:latin typeface="Roboto"/>
                <a:ea typeface="Roboto"/>
                <a:cs typeface="Roboto"/>
              </a:rPr>
              <a:t>Kalimantan Timur</a:t>
            </a:r>
            <a:endParaRPr lang="id-ID" sz="756"/>
          </a:p>
        </p:txBody>
      </p:sp>
      <p:sp>
        <p:nvSpPr>
          <p:cNvPr id="360" name="T"/>
          <p:cNvSpPr txBox="1"/>
          <p:nvPr/>
        </p:nvSpPr>
        <p:spPr>
          <a:xfrm>
            <a:off x="3291840" y="2799033"/>
            <a:ext cx="820000" cy="247211"/>
          </a:xfrm>
          <a:prstGeom prst="rect">
            <a:avLst/>
          </a:prstGeom>
          <a:noFill/>
        </p:spPr>
        <p:txBody>
          <a:bodyPr wrap="none" lIns="0" tIns="0" rIns="0" bIns="0" anchor="ctr"/>
          <a:lstStyle/>
          <a:p>
            <a:pPr algn="r">
              <a:buNone/>
            </a:pPr>
            <a:r>
              <a:rPr lang="id-ID" sz="740" b="1" dirty="0">
                <a:solidFill>
                  <a:srgbClr val="1A1A1A"/>
                </a:solidFill>
                <a:latin typeface="Roboto"/>
                <a:ea typeface="Roboto"/>
                <a:cs typeface="Roboto"/>
              </a:rPr>
              <a:t>± 128.002</a:t>
            </a:r>
            <a:endParaRPr lang="id-ID" sz="740"/>
          </a:p>
        </p:txBody>
      </p:sp>
      <p:sp>
        <p:nvSpPr>
          <p:cNvPr id="361" name="T"/>
          <p:cNvSpPr txBox="1"/>
          <p:nvPr/>
        </p:nvSpPr>
        <p:spPr>
          <a:xfrm>
            <a:off x="4134040" y="2799033"/>
            <a:ext cx="900000" cy="247211"/>
          </a:xfrm>
          <a:prstGeom prst="rect">
            <a:avLst/>
          </a:prstGeom>
          <a:noFill/>
        </p:spPr>
        <p:txBody>
          <a:bodyPr wrap="none" lIns="0" tIns="0" rIns="0" bIns="0" anchor="ctr"/>
          <a:lstStyle/>
          <a:p>
            <a:pPr algn="l">
              <a:buNone/>
            </a:pPr>
            <a:r>
              <a:rPr lang="id-ID" sz="740" b="1" dirty="0">
                <a:solidFill>
                  <a:srgbClr val="1A1A1A"/>
                </a:solidFill>
                <a:latin typeface="Roboto"/>
                <a:ea typeface="Roboto"/>
                <a:cs typeface="Roboto"/>
              </a:rPr>
              <a:t>ha</a:t>
            </a:r>
            <a:endParaRPr lang="id-ID" sz="740"/>
          </a:p>
        </p:txBody>
      </p:sp>
      <p:sp>
        <p:nvSpPr>
          <p:cNvPr id="362" name="K"/>
          <p:cNvSpPr/>
          <p:nvPr/>
        </p:nvSpPr>
        <p:spPr>
          <a:xfrm>
            <a:off x="4739006" y="2841059"/>
            <a:ext cx="1152584" cy="163159"/>
          </a:xfrm>
          <a:prstGeom prst="roundRect">
            <a:avLst>
              <a:gd name="adj" fmla="val 50000"/>
            </a:avLst>
          </a:prstGeom>
          <a:solidFill>
            <a:srgbClr val="E6EAF0"/>
          </a:solidFill>
          <a:ln>
            <a:noFill/>
          </a:ln>
        </p:spPr>
      </p:sp>
      <p:pic>
        <p:nvPicPr>
          <p:cNvPr id="363" name="G"/>
          <p:cNvPicPr>
            <a:picLocks noChangeAspect="1"/>
          </p:cNvPicPr>
          <p:nvPr/>
        </p:nvPicPr>
        <p:blipFill>
          <a:blip r:embed="rIdM3"/>
          <a:stretch>
            <a:fillRect/>
          </a:stretch>
        </p:blipFill>
        <p:spPr>
          <a:xfrm>
            <a:off x="4812158" y="2872059"/>
            <a:ext cx="101158" cy="101158"/>
          </a:xfrm>
          <a:prstGeom prst="rect">
            <a:avLst/>
          </a:prstGeom>
        </p:spPr>
      </p:pic>
      <p:sp>
        <p:nvSpPr>
          <p:cNvPr id="364" name="T"/>
          <p:cNvSpPr txBox="1"/>
          <p:nvPr/>
        </p:nvSpPr>
        <p:spPr>
          <a:xfrm>
            <a:off x="4995894" y="2841059"/>
            <a:ext cx="360000" cy="163159"/>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407</a:t>
            </a:r>
            <a:endParaRPr lang="id-ID" sz="625"/>
          </a:p>
        </p:txBody>
      </p:sp>
      <p:sp>
        <p:nvSpPr>
          <p:cNvPr id="365" name="T"/>
          <p:cNvSpPr txBox="1"/>
          <p:nvPr/>
        </p:nvSpPr>
        <p:spPr>
          <a:xfrm>
            <a:off x="5374644" y="2841059"/>
            <a:ext cx="480000" cy="163159"/>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25"/>
          </a:p>
        </p:txBody>
      </p:sp>
      <p:sp>
        <p:nvSpPr>
          <p:cNvPr id="366" name="K"/>
          <p:cNvSpPr/>
          <p:nvPr/>
        </p:nvSpPr>
        <p:spPr>
          <a:xfrm>
            <a:off x="5964742" y="2841059"/>
            <a:ext cx="1155436" cy="163159"/>
          </a:xfrm>
          <a:prstGeom prst="roundRect">
            <a:avLst>
              <a:gd name="adj" fmla="val 50000"/>
            </a:avLst>
          </a:prstGeom>
          <a:solidFill>
            <a:srgbClr val="FBE7D6"/>
          </a:solidFill>
          <a:ln>
            <a:noFill/>
          </a:ln>
        </p:spPr>
      </p:sp>
      <p:pic>
        <p:nvPicPr>
          <p:cNvPr id="367" name="G"/>
          <p:cNvPicPr>
            <a:picLocks noChangeAspect="1"/>
          </p:cNvPicPr>
          <p:nvPr/>
        </p:nvPicPr>
        <p:blipFill>
          <a:blip r:embed="rIdM4"/>
          <a:stretch>
            <a:fillRect/>
          </a:stretch>
        </p:blipFill>
        <p:spPr>
          <a:xfrm>
            <a:off x="6037894" y="2872059"/>
            <a:ext cx="101158" cy="101158"/>
          </a:xfrm>
          <a:prstGeom prst="rect">
            <a:avLst/>
          </a:prstGeom>
        </p:spPr>
      </p:pic>
      <p:sp>
        <p:nvSpPr>
          <p:cNvPr id="368" name="T"/>
          <p:cNvSpPr txBox="1"/>
          <p:nvPr/>
        </p:nvSpPr>
        <p:spPr>
          <a:xfrm>
            <a:off x="6211630" y="2841059"/>
            <a:ext cx="26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25"/>
          </a:p>
        </p:txBody>
      </p:sp>
      <p:sp>
        <p:nvSpPr>
          <p:cNvPr id="369" name="T"/>
          <p:cNvSpPr txBox="1"/>
          <p:nvPr/>
        </p:nvSpPr>
        <p:spPr>
          <a:xfrm>
            <a:off x="6481630" y="2841059"/>
            <a:ext cx="420000" cy="163159"/>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320</a:t>
            </a:r>
            <a:endParaRPr lang="id-ID" sz="625"/>
          </a:p>
        </p:txBody>
      </p:sp>
      <p:sp>
        <p:nvSpPr>
          <p:cNvPr id="370" name="T"/>
          <p:cNvSpPr txBox="1"/>
          <p:nvPr/>
        </p:nvSpPr>
        <p:spPr>
          <a:xfrm>
            <a:off x="6920380" y="2841059"/>
            <a:ext cx="18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25"/>
          </a:p>
        </p:txBody>
      </p:sp>
      <p:cxnSp>
        <p:nvCxnSpPr>
          <p:cNvPr id="371" name="L"/>
          <p:cNvCxnSpPr/>
          <p:nvPr/>
        </p:nvCxnSpPr>
        <p:spPr>
          <a:xfrm>
            <a:off x="676656" y="3046244"/>
            <a:ext cx="6464808" cy="0"/>
          </a:xfrm>
          <a:prstGeom prst="line">
            <a:avLst/>
          </a:prstGeom>
          <a:ln w="9525">
            <a:solidFill>
              <a:srgbClr val="EEF0F3"/>
            </a:solidFill>
          </a:ln>
        </p:spPr>
      </p:cxnSp>
      <p:sp>
        <p:nvSpPr>
          <p:cNvPr id="372" name="K"/>
          <p:cNvSpPr/>
          <p:nvPr/>
        </p:nvSpPr>
        <p:spPr>
          <a:xfrm>
            <a:off x="676656" y="3095686"/>
            <a:ext cx="148326" cy="148326"/>
          </a:xfrm>
          <a:prstGeom prst="ellipse">
            <a:avLst/>
          </a:prstGeom>
          <a:solidFill>
            <a:srgbClr val="D9600B"/>
          </a:solidFill>
          <a:ln>
            <a:noFill/>
          </a:ln>
        </p:spPr>
      </p:sp>
      <p:pic>
        <p:nvPicPr>
          <p:cNvPr id="373" name="G"/>
          <p:cNvPicPr>
            <a:picLocks noChangeAspect="1"/>
          </p:cNvPicPr>
          <p:nvPr/>
        </p:nvPicPr>
        <p:blipFill>
          <a:blip r:embed="rIdM2"/>
          <a:stretch>
            <a:fillRect/>
          </a:stretch>
        </p:blipFill>
        <p:spPr>
          <a:xfrm>
            <a:off x="703354" y="3122385"/>
            <a:ext cx="94928" cy="94928"/>
          </a:xfrm>
          <a:prstGeom prst="rect">
            <a:avLst/>
          </a:prstGeom>
        </p:spPr>
      </p:pic>
      <p:sp>
        <p:nvSpPr>
          <p:cNvPr id="374" name="T"/>
          <p:cNvSpPr txBox="1"/>
          <p:nvPr/>
        </p:nvSpPr>
        <p:spPr>
          <a:xfrm>
            <a:off x="990000" y="3046244"/>
            <a:ext cx="2073240" cy="247211"/>
          </a:xfrm>
          <a:prstGeom prst="rect">
            <a:avLst/>
          </a:prstGeom>
          <a:noFill/>
        </p:spPr>
        <p:txBody>
          <a:bodyPr wrap="none" lIns="0" tIns="0" rIns="0" bIns="0" anchor="ctr"/>
          <a:lstStyle/>
          <a:p>
            <a:pPr algn="l">
              <a:buNone/>
            </a:pPr>
            <a:r>
              <a:rPr lang="id-ID" sz="756" b="1" dirty="0">
                <a:solidFill>
                  <a:srgbClr val="1A1A1A"/>
                </a:solidFill>
                <a:latin typeface="Roboto"/>
                <a:ea typeface="Roboto"/>
                <a:cs typeface="Roboto"/>
              </a:rPr>
              <a:t>Sulawesi Tenggara</a:t>
            </a:r>
            <a:endParaRPr lang="id-ID" sz="756"/>
          </a:p>
        </p:txBody>
      </p:sp>
      <p:sp>
        <p:nvSpPr>
          <p:cNvPr id="375" name="T"/>
          <p:cNvSpPr txBox="1"/>
          <p:nvPr/>
        </p:nvSpPr>
        <p:spPr>
          <a:xfrm>
            <a:off x="3291840" y="3046244"/>
            <a:ext cx="820000" cy="247211"/>
          </a:xfrm>
          <a:prstGeom prst="rect">
            <a:avLst/>
          </a:prstGeom>
          <a:noFill/>
        </p:spPr>
        <p:txBody>
          <a:bodyPr wrap="none" lIns="0" tIns="0" rIns="0" bIns="0" anchor="ctr"/>
          <a:lstStyle/>
          <a:p>
            <a:pPr algn="r">
              <a:buNone/>
            </a:pPr>
            <a:r>
              <a:rPr lang="id-ID" sz="740" b="1" dirty="0">
                <a:solidFill>
                  <a:srgbClr val="1A1A1A"/>
                </a:solidFill>
                <a:latin typeface="Roboto"/>
                <a:ea typeface="Roboto"/>
                <a:cs typeface="Roboto"/>
              </a:rPr>
              <a:t>± 29.685</a:t>
            </a:r>
            <a:endParaRPr lang="id-ID" sz="740"/>
          </a:p>
        </p:txBody>
      </p:sp>
      <p:sp>
        <p:nvSpPr>
          <p:cNvPr id="376" name="T"/>
          <p:cNvSpPr txBox="1"/>
          <p:nvPr/>
        </p:nvSpPr>
        <p:spPr>
          <a:xfrm>
            <a:off x="4134040" y="3046244"/>
            <a:ext cx="900000" cy="247211"/>
          </a:xfrm>
          <a:prstGeom prst="rect">
            <a:avLst/>
          </a:prstGeom>
          <a:noFill/>
        </p:spPr>
        <p:txBody>
          <a:bodyPr wrap="none" lIns="0" tIns="0" rIns="0" bIns="0" anchor="ctr"/>
          <a:lstStyle/>
          <a:p>
            <a:pPr algn="l">
              <a:buNone/>
            </a:pPr>
            <a:r>
              <a:rPr lang="id-ID" sz="740" b="1" dirty="0">
                <a:solidFill>
                  <a:srgbClr val="1A1A1A"/>
                </a:solidFill>
                <a:latin typeface="Roboto"/>
                <a:ea typeface="Roboto"/>
                <a:cs typeface="Roboto"/>
              </a:rPr>
              <a:t>ha</a:t>
            </a:r>
            <a:endParaRPr lang="id-ID" sz="740"/>
          </a:p>
        </p:txBody>
      </p:sp>
      <p:sp>
        <p:nvSpPr>
          <p:cNvPr id="377" name="K"/>
          <p:cNvSpPr/>
          <p:nvPr/>
        </p:nvSpPr>
        <p:spPr>
          <a:xfrm>
            <a:off x="4739006" y="3088270"/>
            <a:ext cx="1152584" cy="163159"/>
          </a:xfrm>
          <a:prstGeom prst="roundRect">
            <a:avLst>
              <a:gd name="adj" fmla="val 50000"/>
            </a:avLst>
          </a:prstGeom>
          <a:solidFill>
            <a:srgbClr val="E6EAF0"/>
          </a:solidFill>
          <a:ln>
            <a:noFill/>
          </a:ln>
        </p:spPr>
      </p:sp>
      <p:pic>
        <p:nvPicPr>
          <p:cNvPr id="378" name="G"/>
          <p:cNvPicPr>
            <a:picLocks noChangeAspect="1"/>
          </p:cNvPicPr>
          <p:nvPr/>
        </p:nvPicPr>
        <p:blipFill>
          <a:blip r:embed="rIdM3"/>
          <a:stretch>
            <a:fillRect/>
          </a:stretch>
        </p:blipFill>
        <p:spPr>
          <a:xfrm>
            <a:off x="4812158" y="3119270"/>
            <a:ext cx="101158" cy="101158"/>
          </a:xfrm>
          <a:prstGeom prst="rect">
            <a:avLst/>
          </a:prstGeom>
        </p:spPr>
      </p:pic>
      <p:sp>
        <p:nvSpPr>
          <p:cNvPr id="379" name="T"/>
          <p:cNvSpPr txBox="1"/>
          <p:nvPr/>
        </p:nvSpPr>
        <p:spPr>
          <a:xfrm>
            <a:off x="4995894" y="3088270"/>
            <a:ext cx="360000" cy="163159"/>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266</a:t>
            </a:r>
            <a:endParaRPr lang="id-ID" sz="625"/>
          </a:p>
        </p:txBody>
      </p:sp>
      <p:sp>
        <p:nvSpPr>
          <p:cNvPr id="380" name="T"/>
          <p:cNvSpPr txBox="1"/>
          <p:nvPr/>
        </p:nvSpPr>
        <p:spPr>
          <a:xfrm>
            <a:off x="5374644" y="3088270"/>
            <a:ext cx="480000" cy="163159"/>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25"/>
          </a:p>
        </p:txBody>
      </p:sp>
      <p:sp>
        <p:nvSpPr>
          <p:cNvPr id="381" name="K"/>
          <p:cNvSpPr/>
          <p:nvPr/>
        </p:nvSpPr>
        <p:spPr>
          <a:xfrm>
            <a:off x="5964742" y="3088270"/>
            <a:ext cx="1155436" cy="163159"/>
          </a:xfrm>
          <a:prstGeom prst="roundRect">
            <a:avLst>
              <a:gd name="adj" fmla="val 50000"/>
            </a:avLst>
          </a:prstGeom>
          <a:solidFill>
            <a:srgbClr val="FBE7D6"/>
          </a:solidFill>
          <a:ln>
            <a:noFill/>
          </a:ln>
        </p:spPr>
      </p:sp>
      <p:pic>
        <p:nvPicPr>
          <p:cNvPr id="382" name="G"/>
          <p:cNvPicPr>
            <a:picLocks noChangeAspect="1"/>
          </p:cNvPicPr>
          <p:nvPr/>
        </p:nvPicPr>
        <p:blipFill>
          <a:blip r:embed="rIdM4"/>
          <a:stretch>
            <a:fillRect/>
          </a:stretch>
        </p:blipFill>
        <p:spPr>
          <a:xfrm>
            <a:off x="6037894" y="3119270"/>
            <a:ext cx="101158" cy="101158"/>
          </a:xfrm>
          <a:prstGeom prst="rect">
            <a:avLst/>
          </a:prstGeom>
        </p:spPr>
      </p:pic>
      <p:sp>
        <p:nvSpPr>
          <p:cNvPr id="383" name="T"/>
          <p:cNvSpPr txBox="1"/>
          <p:nvPr/>
        </p:nvSpPr>
        <p:spPr>
          <a:xfrm>
            <a:off x="6211630" y="3088270"/>
            <a:ext cx="26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25"/>
          </a:p>
        </p:txBody>
      </p:sp>
      <p:sp>
        <p:nvSpPr>
          <p:cNvPr id="384" name="T"/>
          <p:cNvSpPr txBox="1"/>
          <p:nvPr/>
        </p:nvSpPr>
        <p:spPr>
          <a:xfrm>
            <a:off x="6481630" y="3088270"/>
            <a:ext cx="420000" cy="163159"/>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282</a:t>
            </a:r>
            <a:endParaRPr lang="id-ID" sz="625"/>
          </a:p>
        </p:txBody>
      </p:sp>
      <p:sp>
        <p:nvSpPr>
          <p:cNvPr id="385" name="T"/>
          <p:cNvSpPr txBox="1"/>
          <p:nvPr/>
        </p:nvSpPr>
        <p:spPr>
          <a:xfrm>
            <a:off x="6920380" y="3088270"/>
            <a:ext cx="18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25"/>
          </a:p>
        </p:txBody>
      </p:sp>
      <p:cxnSp>
        <p:nvCxnSpPr>
          <p:cNvPr id="386" name="L"/>
          <p:cNvCxnSpPr/>
          <p:nvPr/>
        </p:nvCxnSpPr>
        <p:spPr>
          <a:xfrm>
            <a:off x="676656" y="3293455"/>
            <a:ext cx="6464808" cy="0"/>
          </a:xfrm>
          <a:prstGeom prst="line">
            <a:avLst/>
          </a:prstGeom>
          <a:ln w="9525">
            <a:solidFill>
              <a:srgbClr val="EEF0F3"/>
            </a:solidFill>
          </a:ln>
        </p:spPr>
      </p:cxnSp>
      <p:sp>
        <p:nvSpPr>
          <p:cNvPr id="387" name="K"/>
          <p:cNvSpPr/>
          <p:nvPr/>
        </p:nvSpPr>
        <p:spPr>
          <a:xfrm>
            <a:off x="676656" y="3342897"/>
            <a:ext cx="148326" cy="148326"/>
          </a:xfrm>
          <a:prstGeom prst="ellipse">
            <a:avLst/>
          </a:prstGeom>
          <a:solidFill>
            <a:srgbClr val="D9600B"/>
          </a:solidFill>
          <a:ln>
            <a:noFill/>
          </a:ln>
        </p:spPr>
      </p:sp>
      <p:pic>
        <p:nvPicPr>
          <p:cNvPr id="388" name="G"/>
          <p:cNvPicPr>
            <a:picLocks noChangeAspect="1"/>
          </p:cNvPicPr>
          <p:nvPr/>
        </p:nvPicPr>
        <p:blipFill>
          <a:blip r:embed="rIdM2"/>
          <a:stretch>
            <a:fillRect/>
          </a:stretch>
        </p:blipFill>
        <p:spPr>
          <a:xfrm>
            <a:off x="703354" y="3369596"/>
            <a:ext cx="94928" cy="94928"/>
          </a:xfrm>
          <a:prstGeom prst="rect">
            <a:avLst/>
          </a:prstGeom>
        </p:spPr>
      </p:pic>
      <p:sp>
        <p:nvSpPr>
          <p:cNvPr id="389" name="T"/>
          <p:cNvSpPr txBox="1"/>
          <p:nvPr/>
        </p:nvSpPr>
        <p:spPr>
          <a:xfrm>
            <a:off x="990000" y="3293455"/>
            <a:ext cx="2073240" cy="247211"/>
          </a:xfrm>
          <a:prstGeom prst="rect">
            <a:avLst/>
          </a:prstGeom>
          <a:noFill/>
        </p:spPr>
        <p:txBody>
          <a:bodyPr wrap="none" lIns="0" tIns="0" rIns="0" bIns="0" anchor="ctr"/>
          <a:lstStyle/>
          <a:p>
            <a:pPr algn="l">
              <a:buNone/>
            </a:pPr>
            <a:r>
              <a:rPr lang="id-ID" sz="756" b="1" dirty="0">
                <a:solidFill>
                  <a:srgbClr val="1A1A1A"/>
                </a:solidFill>
                <a:latin typeface="Roboto"/>
                <a:ea typeface="Roboto"/>
                <a:cs typeface="Roboto"/>
              </a:rPr>
              <a:t>Maluku</a:t>
            </a:r>
            <a:endParaRPr lang="id-ID" sz="756"/>
          </a:p>
        </p:txBody>
      </p:sp>
      <p:sp>
        <p:nvSpPr>
          <p:cNvPr id="390" name="T"/>
          <p:cNvSpPr txBox="1"/>
          <p:nvPr/>
        </p:nvSpPr>
        <p:spPr>
          <a:xfrm>
            <a:off x="3291840" y="3293455"/>
            <a:ext cx="820000" cy="247211"/>
          </a:xfrm>
          <a:prstGeom prst="rect">
            <a:avLst/>
          </a:prstGeom>
          <a:noFill/>
        </p:spPr>
        <p:txBody>
          <a:bodyPr wrap="none" lIns="0" tIns="0" rIns="0" bIns="0" anchor="ctr"/>
          <a:lstStyle/>
          <a:p>
            <a:pPr algn="r">
              <a:buNone/>
            </a:pPr>
            <a:r>
              <a:rPr lang="id-ID" sz="740" b="1" dirty="0">
                <a:solidFill>
                  <a:srgbClr val="1A1A1A"/>
                </a:solidFill>
                <a:latin typeface="Roboto"/>
                <a:ea typeface="Roboto"/>
                <a:cs typeface="Roboto"/>
              </a:rPr>
              <a:t>± 74.708</a:t>
            </a:r>
            <a:endParaRPr lang="id-ID" sz="740"/>
          </a:p>
        </p:txBody>
      </p:sp>
      <p:sp>
        <p:nvSpPr>
          <p:cNvPr id="391" name="T"/>
          <p:cNvSpPr txBox="1"/>
          <p:nvPr/>
        </p:nvSpPr>
        <p:spPr>
          <a:xfrm>
            <a:off x="4134040" y="3293455"/>
            <a:ext cx="900000" cy="247211"/>
          </a:xfrm>
          <a:prstGeom prst="rect">
            <a:avLst/>
          </a:prstGeom>
          <a:noFill/>
        </p:spPr>
        <p:txBody>
          <a:bodyPr wrap="none" lIns="0" tIns="0" rIns="0" bIns="0" anchor="ctr"/>
          <a:lstStyle/>
          <a:p>
            <a:pPr algn="l">
              <a:buNone/>
            </a:pPr>
            <a:r>
              <a:rPr lang="id-ID" sz="740" b="1" dirty="0">
                <a:solidFill>
                  <a:srgbClr val="1A1A1A"/>
                </a:solidFill>
                <a:latin typeface="Roboto"/>
                <a:ea typeface="Roboto"/>
                <a:cs typeface="Roboto"/>
              </a:rPr>
              <a:t>ha</a:t>
            </a:r>
            <a:endParaRPr lang="id-ID" sz="740"/>
          </a:p>
        </p:txBody>
      </p:sp>
      <p:sp>
        <p:nvSpPr>
          <p:cNvPr id="392" name="K"/>
          <p:cNvSpPr/>
          <p:nvPr/>
        </p:nvSpPr>
        <p:spPr>
          <a:xfrm>
            <a:off x="4739006" y="3335481"/>
            <a:ext cx="1152584" cy="163159"/>
          </a:xfrm>
          <a:prstGeom prst="roundRect">
            <a:avLst>
              <a:gd name="adj" fmla="val 50000"/>
            </a:avLst>
          </a:prstGeom>
          <a:solidFill>
            <a:srgbClr val="E6EAF0"/>
          </a:solidFill>
          <a:ln>
            <a:noFill/>
          </a:ln>
        </p:spPr>
      </p:sp>
      <p:pic>
        <p:nvPicPr>
          <p:cNvPr id="393" name="G"/>
          <p:cNvPicPr>
            <a:picLocks noChangeAspect="1"/>
          </p:cNvPicPr>
          <p:nvPr/>
        </p:nvPicPr>
        <p:blipFill>
          <a:blip r:embed="rIdM3"/>
          <a:stretch>
            <a:fillRect/>
          </a:stretch>
        </p:blipFill>
        <p:spPr>
          <a:xfrm>
            <a:off x="4812158" y="3366481"/>
            <a:ext cx="101158" cy="101158"/>
          </a:xfrm>
          <a:prstGeom prst="rect">
            <a:avLst/>
          </a:prstGeom>
        </p:spPr>
      </p:pic>
      <p:sp>
        <p:nvSpPr>
          <p:cNvPr id="394" name="T"/>
          <p:cNvSpPr txBox="1"/>
          <p:nvPr/>
        </p:nvSpPr>
        <p:spPr>
          <a:xfrm>
            <a:off x="4995894" y="3335481"/>
            <a:ext cx="360000" cy="163159"/>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32</a:t>
            </a:r>
            <a:endParaRPr lang="id-ID" sz="625"/>
          </a:p>
        </p:txBody>
      </p:sp>
      <p:sp>
        <p:nvSpPr>
          <p:cNvPr id="395" name="T"/>
          <p:cNvSpPr txBox="1"/>
          <p:nvPr/>
        </p:nvSpPr>
        <p:spPr>
          <a:xfrm>
            <a:off x="5374644" y="3335481"/>
            <a:ext cx="480000" cy="163159"/>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25"/>
          </a:p>
        </p:txBody>
      </p:sp>
      <p:sp>
        <p:nvSpPr>
          <p:cNvPr id="396" name="K"/>
          <p:cNvSpPr/>
          <p:nvPr/>
        </p:nvSpPr>
        <p:spPr>
          <a:xfrm>
            <a:off x="5964742" y="3335481"/>
            <a:ext cx="1155436" cy="163159"/>
          </a:xfrm>
          <a:prstGeom prst="roundRect">
            <a:avLst>
              <a:gd name="adj" fmla="val 50000"/>
            </a:avLst>
          </a:prstGeom>
          <a:solidFill>
            <a:srgbClr val="FBE7D6"/>
          </a:solidFill>
          <a:ln>
            <a:noFill/>
          </a:ln>
        </p:spPr>
      </p:sp>
      <p:pic>
        <p:nvPicPr>
          <p:cNvPr id="397" name="G"/>
          <p:cNvPicPr>
            <a:picLocks noChangeAspect="1"/>
          </p:cNvPicPr>
          <p:nvPr/>
        </p:nvPicPr>
        <p:blipFill>
          <a:blip r:embed="rIdM4"/>
          <a:stretch>
            <a:fillRect/>
          </a:stretch>
        </p:blipFill>
        <p:spPr>
          <a:xfrm>
            <a:off x="6037894" y="3366481"/>
            <a:ext cx="101158" cy="101158"/>
          </a:xfrm>
          <a:prstGeom prst="rect">
            <a:avLst/>
          </a:prstGeom>
        </p:spPr>
      </p:pic>
      <p:sp>
        <p:nvSpPr>
          <p:cNvPr id="398" name="T"/>
          <p:cNvSpPr txBox="1"/>
          <p:nvPr/>
        </p:nvSpPr>
        <p:spPr>
          <a:xfrm>
            <a:off x="6211630" y="3335481"/>
            <a:ext cx="26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25"/>
          </a:p>
        </p:txBody>
      </p:sp>
      <p:sp>
        <p:nvSpPr>
          <p:cNvPr id="399" name="T"/>
          <p:cNvSpPr txBox="1"/>
          <p:nvPr/>
        </p:nvSpPr>
        <p:spPr>
          <a:xfrm>
            <a:off x="6481630" y="3335481"/>
            <a:ext cx="420000" cy="163159"/>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104</a:t>
            </a:r>
            <a:endParaRPr lang="id-ID" sz="625"/>
          </a:p>
        </p:txBody>
      </p:sp>
      <p:sp>
        <p:nvSpPr>
          <p:cNvPr id="400" name="T"/>
          <p:cNvSpPr txBox="1"/>
          <p:nvPr/>
        </p:nvSpPr>
        <p:spPr>
          <a:xfrm>
            <a:off x="6920380" y="3335481"/>
            <a:ext cx="18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25"/>
          </a:p>
        </p:txBody>
      </p:sp>
      <p:cxnSp>
        <p:nvCxnSpPr>
          <p:cNvPr id="401" name="L"/>
          <p:cNvCxnSpPr/>
          <p:nvPr/>
        </p:nvCxnSpPr>
        <p:spPr>
          <a:xfrm>
            <a:off x="676656" y="3540666"/>
            <a:ext cx="6464808" cy="0"/>
          </a:xfrm>
          <a:prstGeom prst="line">
            <a:avLst/>
          </a:prstGeom>
          <a:ln w="9525">
            <a:solidFill>
              <a:srgbClr val="EEF0F3"/>
            </a:solidFill>
          </a:ln>
        </p:spPr>
      </p:cxnSp>
      <p:sp>
        <p:nvSpPr>
          <p:cNvPr id="402" name="K"/>
          <p:cNvSpPr/>
          <p:nvPr/>
        </p:nvSpPr>
        <p:spPr>
          <a:xfrm>
            <a:off x="676656" y="3590108"/>
            <a:ext cx="148326" cy="148326"/>
          </a:xfrm>
          <a:prstGeom prst="ellipse">
            <a:avLst/>
          </a:prstGeom>
          <a:solidFill>
            <a:srgbClr val="D9600B"/>
          </a:solidFill>
          <a:ln>
            <a:noFill/>
          </a:ln>
        </p:spPr>
      </p:sp>
      <p:pic>
        <p:nvPicPr>
          <p:cNvPr id="403" name="G"/>
          <p:cNvPicPr>
            <a:picLocks noChangeAspect="1"/>
          </p:cNvPicPr>
          <p:nvPr/>
        </p:nvPicPr>
        <p:blipFill>
          <a:blip r:embed="rIdM2"/>
          <a:stretch>
            <a:fillRect/>
          </a:stretch>
        </p:blipFill>
        <p:spPr>
          <a:xfrm>
            <a:off x="703354" y="3616807"/>
            <a:ext cx="94928" cy="94928"/>
          </a:xfrm>
          <a:prstGeom prst="rect">
            <a:avLst/>
          </a:prstGeom>
        </p:spPr>
      </p:pic>
      <p:sp>
        <p:nvSpPr>
          <p:cNvPr id="404" name="T"/>
          <p:cNvSpPr txBox="1"/>
          <p:nvPr/>
        </p:nvSpPr>
        <p:spPr>
          <a:xfrm>
            <a:off x="990000" y="3540666"/>
            <a:ext cx="2073240" cy="247211"/>
          </a:xfrm>
          <a:prstGeom prst="rect">
            <a:avLst/>
          </a:prstGeom>
          <a:noFill/>
        </p:spPr>
        <p:txBody>
          <a:bodyPr wrap="none" lIns="0" tIns="0" rIns="0" bIns="0" anchor="ctr"/>
          <a:lstStyle/>
          <a:p>
            <a:pPr algn="l">
              <a:buNone/>
            </a:pPr>
            <a:r>
              <a:rPr lang="id-ID" sz="756" b="1" dirty="0">
                <a:solidFill>
                  <a:srgbClr val="1A1A1A"/>
                </a:solidFill>
                <a:latin typeface="Roboto"/>
                <a:ea typeface="Roboto"/>
                <a:cs typeface="Roboto"/>
              </a:rPr>
              <a:t>Sulawesi Selatan</a:t>
            </a:r>
            <a:endParaRPr lang="id-ID" sz="756"/>
          </a:p>
        </p:txBody>
      </p:sp>
      <p:sp>
        <p:nvSpPr>
          <p:cNvPr id="405" name="T"/>
          <p:cNvSpPr txBox="1"/>
          <p:nvPr/>
        </p:nvSpPr>
        <p:spPr>
          <a:xfrm>
            <a:off x="3291840" y="3540666"/>
            <a:ext cx="820000" cy="247211"/>
          </a:xfrm>
          <a:prstGeom prst="rect">
            <a:avLst/>
          </a:prstGeom>
          <a:noFill/>
        </p:spPr>
        <p:txBody>
          <a:bodyPr wrap="none" lIns="0" tIns="0" rIns="0" bIns="0" anchor="ctr"/>
          <a:lstStyle/>
          <a:p>
            <a:pPr algn="r">
              <a:buNone/>
            </a:pPr>
            <a:r>
              <a:rPr lang="id-ID" sz="740" b="1" dirty="0">
                <a:solidFill>
                  <a:srgbClr val="1A1A1A"/>
                </a:solidFill>
                <a:latin typeface="Roboto"/>
                <a:ea typeface="Roboto"/>
                <a:cs typeface="Roboto"/>
              </a:rPr>
              <a:t>± 34.155</a:t>
            </a:r>
            <a:endParaRPr lang="id-ID" sz="740"/>
          </a:p>
        </p:txBody>
      </p:sp>
      <p:sp>
        <p:nvSpPr>
          <p:cNvPr id="406" name="T"/>
          <p:cNvSpPr txBox="1"/>
          <p:nvPr/>
        </p:nvSpPr>
        <p:spPr>
          <a:xfrm>
            <a:off x="4134040" y="3540666"/>
            <a:ext cx="900000" cy="247211"/>
          </a:xfrm>
          <a:prstGeom prst="rect">
            <a:avLst/>
          </a:prstGeom>
          <a:noFill/>
        </p:spPr>
        <p:txBody>
          <a:bodyPr wrap="none" lIns="0" tIns="0" rIns="0" bIns="0" anchor="ctr"/>
          <a:lstStyle/>
          <a:p>
            <a:pPr algn="l">
              <a:buNone/>
            </a:pPr>
            <a:r>
              <a:rPr lang="id-ID" sz="740" b="1" dirty="0">
                <a:solidFill>
                  <a:srgbClr val="1A1A1A"/>
                </a:solidFill>
                <a:latin typeface="Roboto"/>
                <a:ea typeface="Roboto"/>
                <a:cs typeface="Roboto"/>
              </a:rPr>
              <a:t>ha</a:t>
            </a:r>
            <a:endParaRPr lang="id-ID" sz="740"/>
          </a:p>
        </p:txBody>
      </p:sp>
      <p:sp>
        <p:nvSpPr>
          <p:cNvPr id="407" name="K"/>
          <p:cNvSpPr/>
          <p:nvPr/>
        </p:nvSpPr>
        <p:spPr>
          <a:xfrm>
            <a:off x="4739006" y="3582692"/>
            <a:ext cx="1152584" cy="163159"/>
          </a:xfrm>
          <a:prstGeom prst="roundRect">
            <a:avLst>
              <a:gd name="adj" fmla="val 50000"/>
            </a:avLst>
          </a:prstGeom>
          <a:solidFill>
            <a:srgbClr val="E6EAF0"/>
          </a:solidFill>
          <a:ln>
            <a:noFill/>
          </a:ln>
        </p:spPr>
      </p:sp>
      <p:pic>
        <p:nvPicPr>
          <p:cNvPr id="408" name="G"/>
          <p:cNvPicPr>
            <a:picLocks noChangeAspect="1"/>
          </p:cNvPicPr>
          <p:nvPr/>
        </p:nvPicPr>
        <p:blipFill>
          <a:blip r:embed="rIdM3"/>
          <a:stretch>
            <a:fillRect/>
          </a:stretch>
        </p:blipFill>
        <p:spPr>
          <a:xfrm>
            <a:off x="4812158" y="3613692"/>
            <a:ext cx="101158" cy="101158"/>
          </a:xfrm>
          <a:prstGeom prst="rect">
            <a:avLst/>
          </a:prstGeom>
        </p:spPr>
      </p:pic>
      <p:sp>
        <p:nvSpPr>
          <p:cNvPr id="409" name="T"/>
          <p:cNvSpPr txBox="1"/>
          <p:nvPr/>
        </p:nvSpPr>
        <p:spPr>
          <a:xfrm>
            <a:off x="4995894" y="3582692"/>
            <a:ext cx="360000" cy="163159"/>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101</a:t>
            </a:r>
            <a:endParaRPr lang="id-ID" sz="625"/>
          </a:p>
        </p:txBody>
      </p:sp>
      <p:sp>
        <p:nvSpPr>
          <p:cNvPr id="410" name="T"/>
          <p:cNvSpPr txBox="1"/>
          <p:nvPr/>
        </p:nvSpPr>
        <p:spPr>
          <a:xfrm>
            <a:off x="5374644" y="3582692"/>
            <a:ext cx="480000" cy="163159"/>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25"/>
          </a:p>
        </p:txBody>
      </p:sp>
      <p:sp>
        <p:nvSpPr>
          <p:cNvPr id="411" name="K"/>
          <p:cNvSpPr/>
          <p:nvPr/>
        </p:nvSpPr>
        <p:spPr>
          <a:xfrm>
            <a:off x="5964742" y="3582692"/>
            <a:ext cx="1155436" cy="163159"/>
          </a:xfrm>
          <a:prstGeom prst="roundRect">
            <a:avLst>
              <a:gd name="adj" fmla="val 50000"/>
            </a:avLst>
          </a:prstGeom>
          <a:solidFill>
            <a:srgbClr val="FBE7D6"/>
          </a:solidFill>
          <a:ln>
            <a:noFill/>
          </a:ln>
        </p:spPr>
      </p:sp>
      <p:pic>
        <p:nvPicPr>
          <p:cNvPr id="412" name="G"/>
          <p:cNvPicPr>
            <a:picLocks noChangeAspect="1"/>
          </p:cNvPicPr>
          <p:nvPr/>
        </p:nvPicPr>
        <p:blipFill>
          <a:blip r:embed="rIdM4"/>
          <a:stretch>
            <a:fillRect/>
          </a:stretch>
        </p:blipFill>
        <p:spPr>
          <a:xfrm>
            <a:off x="6037894" y="3613692"/>
            <a:ext cx="101158" cy="101158"/>
          </a:xfrm>
          <a:prstGeom prst="rect">
            <a:avLst/>
          </a:prstGeom>
        </p:spPr>
      </p:pic>
      <p:sp>
        <p:nvSpPr>
          <p:cNvPr id="413" name="T"/>
          <p:cNvSpPr txBox="1"/>
          <p:nvPr/>
        </p:nvSpPr>
        <p:spPr>
          <a:xfrm>
            <a:off x="6211630" y="3582692"/>
            <a:ext cx="26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25"/>
          </a:p>
        </p:txBody>
      </p:sp>
      <p:sp>
        <p:nvSpPr>
          <p:cNvPr id="414" name="T"/>
          <p:cNvSpPr txBox="1"/>
          <p:nvPr/>
        </p:nvSpPr>
        <p:spPr>
          <a:xfrm>
            <a:off x="6481630" y="3582692"/>
            <a:ext cx="420000" cy="163159"/>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101</a:t>
            </a:r>
            <a:endParaRPr lang="id-ID" sz="625"/>
          </a:p>
        </p:txBody>
      </p:sp>
      <p:sp>
        <p:nvSpPr>
          <p:cNvPr id="415" name="T"/>
          <p:cNvSpPr txBox="1"/>
          <p:nvPr/>
        </p:nvSpPr>
        <p:spPr>
          <a:xfrm>
            <a:off x="6920380" y="3582692"/>
            <a:ext cx="18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25"/>
          </a:p>
        </p:txBody>
      </p:sp>
      <p:cxnSp>
        <p:nvCxnSpPr>
          <p:cNvPr id="416" name="L"/>
          <p:cNvCxnSpPr/>
          <p:nvPr/>
        </p:nvCxnSpPr>
        <p:spPr>
          <a:xfrm>
            <a:off x="676656" y="3787877"/>
            <a:ext cx="6464808" cy="0"/>
          </a:xfrm>
          <a:prstGeom prst="line">
            <a:avLst/>
          </a:prstGeom>
          <a:ln w="9525">
            <a:solidFill>
              <a:srgbClr val="EEF0F3"/>
            </a:solidFill>
          </a:ln>
        </p:spPr>
      </p:cxnSp>
      <p:sp>
        <p:nvSpPr>
          <p:cNvPr id="417" name="K"/>
          <p:cNvSpPr/>
          <p:nvPr/>
        </p:nvSpPr>
        <p:spPr>
          <a:xfrm>
            <a:off x="676656" y="3837319"/>
            <a:ext cx="148326" cy="148326"/>
          </a:xfrm>
          <a:prstGeom prst="ellipse">
            <a:avLst/>
          </a:prstGeom>
          <a:solidFill>
            <a:srgbClr val="D9600B"/>
          </a:solidFill>
          <a:ln>
            <a:noFill/>
          </a:ln>
        </p:spPr>
      </p:sp>
      <p:pic>
        <p:nvPicPr>
          <p:cNvPr id="418" name="G"/>
          <p:cNvPicPr>
            <a:picLocks noChangeAspect="1"/>
          </p:cNvPicPr>
          <p:nvPr/>
        </p:nvPicPr>
        <p:blipFill>
          <a:blip r:embed="rIdM2"/>
          <a:stretch>
            <a:fillRect/>
          </a:stretch>
        </p:blipFill>
        <p:spPr>
          <a:xfrm>
            <a:off x="703354" y="3864018"/>
            <a:ext cx="94928" cy="94928"/>
          </a:xfrm>
          <a:prstGeom prst="rect">
            <a:avLst/>
          </a:prstGeom>
        </p:spPr>
      </p:pic>
      <p:sp>
        <p:nvSpPr>
          <p:cNvPr id="419" name="T"/>
          <p:cNvSpPr txBox="1"/>
          <p:nvPr/>
        </p:nvSpPr>
        <p:spPr>
          <a:xfrm>
            <a:off x="990000" y="3787877"/>
            <a:ext cx="2073240" cy="247211"/>
          </a:xfrm>
          <a:prstGeom prst="rect">
            <a:avLst/>
          </a:prstGeom>
          <a:noFill/>
        </p:spPr>
        <p:txBody>
          <a:bodyPr wrap="none" lIns="0" tIns="0" rIns="0" bIns="0" anchor="ctr"/>
          <a:lstStyle/>
          <a:p>
            <a:pPr algn="l">
              <a:buNone/>
            </a:pPr>
            <a:r>
              <a:rPr lang="id-ID" sz="756" b="1" dirty="0">
                <a:solidFill>
                  <a:srgbClr val="1A1A1A"/>
                </a:solidFill>
                <a:latin typeface="Roboto"/>
                <a:ea typeface="Roboto"/>
                <a:cs typeface="Roboto"/>
              </a:rPr>
              <a:t>Papua Barat</a:t>
            </a:r>
            <a:endParaRPr lang="id-ID" sz="756"/>
          </a:p>
        </p:txBody>
      </p:sp>
      <p:sp>
        <p:nvSpPr>
          <p:cNvPr id="420" name="T"/>
          <p:cNvSpPr txBox="1"/>
          <p:nvPr/>
        </p:nvSpPr>
        <p:spPr>
          <a:xfrm>
            <a:off x="3291840" y="3787877"/>
            <a:ext cx="820000" cy="247211"/>
          </a:xfrm>
          <a:prstGeom prst="rect">
            <a:avLst/>
          </a:prstGeom>
          <a:noFill/>
        </p:spPr>
        <p:txBody>
          <a:bodyPr wrap="none" lIns="0" tIns="0" rIns="0" bIns="0" anchor="ctr"/>
          <a:lstStyle/>
          <a:p>
            <a:pPr algn="r">
              <a:buNone/>
            </a:pPr>
            <a:r>
              <a:rPr lang="id-ID" sz="740" b="1" dirty="0">
                <a:solidFill>
                  <a:srgbClr val="1A1A1A"/>
                </a:solidFill>
                <a:latin typeface="Roboto"/>
                <a:ea typeface="Roboto"/>
                <a:cs typeface="Roboto"/>
              </a:rPr>
              <a:t>± 54.657</a:t>
            </a:r>
            <a:endParaRPr lang="id-ID" sz="740"/>
          </a:p>
        </p:txBody>
      </p:sp>
      <p:sp>
        <p:nvSpPr>
          <p:cNvPr id="421" name="T"/>
          <p:cNvSpPr txBox="1"/>
          <p:nvPr/>
        </p:nvSpPr>
        <p:spPr>
          <a:xfrm>
            <a:off x="4134040" y="3787877"/>
            <a:ext cx="900000" cy="247211"/>
          </a:xfrm>
          <a:prstGeom prst="rect">
            <a:avLst/>
          </a:prstGeom>
          <a:noFill/>
        </p:spPr>
        <p:txBody>
          <a:bodyPr wrap="none" lIns="0" tIns="0" rIns="0" bIns="0" anchor="ctr"/>
          <a:lstStyle/>
          <a:p>
            <a:pPr algn="l">
              <a:buNone/>
            </a:pPr>
            <a:r>
              <a:rPr lang="id-ID" sz="740" b="1" dirty="0">
                <a:solidFill>
                  <a:srgbClr val="1A1A1A"/>
                </a:solidFill>
                <a:latin typeface="Roboto"/>
                <a:ea typeface="Roboto"/>
                <a:cs typeface="Roboto"/>
              </a:rPr>
              <a:t>ha</a:t>
            </a:r>
            <a:endParaRPr lang="id-ID" sz="740"/>
          </a:p>
        </p:txBody>
      </p:sp>
      <p:sp>
        <p:nvSpPr>
          <p:cNvPr id="422" name="K"/>
          <p:cNvSpPr/>
          <p:nvPr/>
        </p:nvSpPr>
        <p:spPr>
          <a:xfrm>
            <a:off x="4739006" y="3829903"/>
            <a:ext cx="1152584" cy="163159"/>
          </a:xfrm>
          <a:prstGeom prst="roundRect">
            <a:avLst>
              <a:gd name="adj" fmla="val 50000"/>
            </a:avLst>
          </a:prstGeom>
          <a:solidFill>
            <a:srgbClr val="E6EAF0"/>
          </a:solidFill>
          <a:ln>
            <a:noFill/>
          </a:ln>
        </p:spPr>
      </p:sp>
      <p:pic>
        <p:nvPicPr>
          <p:cNvPr id="423" name="G"/>
          <p:cNvPicPr>
            <a:picLocks noChangeAspect="1"/>
          </p:cNvPicPr>
          <p:nvPr/>
        </p:nvPicPr>
        <p:blipFill>
          <a:blip r:embed="rIdM3"/>
          <a:stretch>
            <a:fillRect/>
          </a:stretch>
        </p:blipFill>
        <p:spPr>
          <a:xfrm>
            <a:off x="4812158" y="3860903"/>
            <a:ext cx="101158" cy="101158"/>
          </a:xfrm>
          <a:prstGeom prst="rect">
            <a:avLst/>
          </a:prstGeom>
        </p:spPr>
      </p:pic>
      <p:sp>
        <p:nvSpPr>
          <p:cNvPr id="424" name="T"/>
          <p:cNvSpPr txBox="1"/>
          <p:nvPr/>
        </p:nvSpPr>
        <p:spPr>
          <a:xfrm>
            <a:off x="4995894" y="3829903"/>
            <a:ext cx="360000" cy="163159"/>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14</a:t>
            </a:r>
            <a:endParaRPr lang="id-ID" sz="625"/>
          </a:p>
        </p:txBody>
      </p:sp>
      <p:sp>
        <p:nvSpPr>
          <p:cNvPr id="425" name="T"/>
          <p:cNvSpPr txBox="1"/>
          <p:nvPr/>
        </p:nvSpPr>
        <p:spPr>
          <a:xfrm>
            <a:off x="5374644" y="3829903"/>
            <a:ext cx="480000" cy="163159"/>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25"/>
          </a:p>
        </p:txBody>
      </p:sp>
      <p:sp>
        <p:nvSpPr>
          <p:cNvPr id="426" name="K"/>
          <p:cNvSpPr/>
          <p:nvPr/>
        </p:nvSpPr>
        <p:spPr>
          <a:xfrm>
            <a:off x="5964742" y="3829903"/>
            <a:ext cx="1155436" cy="163159"/>
          </a:xfrm>
          <a:prstGeom prst="roundRect">
            <a:avLst>
              <a:gd name="adj" fmla="val 50000"/>
            </a:avLst>
          </a:prstGeom>
          <a:solidFill>
            <a:srgbClr val="FBE7D6"/>
          </a:solidFill>
          <a:ln>
            <a:noFill/>
          </a:ln>
        </p:spPr>
      </p:sp>
      <p:pic>
        <p:nvPicPr>
          <p:cNvPr id="427" name="G"/>
          <p:cNvPicPr>
            <a:picLocks noChangeAspect="1"/>
          </p:cNvPicPr>
          <p:nvPr/>
        </p:nvPicPr>
        <p:blipFill>
          <a:blip r:embed="rIdM4"/>
          <a:stretch>
            <a:fillRect/>
          </a:stretch>
        </p:blipFill>
        <p:spPr>
          <a:xfrm>
            <a:off x="6037894" y="3860903"/>
            <a:ext cx="101158" cy="101158"/>
          </a:xfrm>
          <a:prstGeom prst="rect">
            <a:avLst/>
          </a:prstGeom>
        </p:spPr>
      </p:pic>
      <p:sp>
        <p:nvSpPr>
          <p:cNvPr id="428" name="T"/>
          <p:cNvSpPr txBox="1"/>
          <p:nvPr/>
        </p:nvSpPr>
        <p:spPr>
          <a:xfrm>
            <a:off x="6211630" y="3829903"/>
            <a:ext cx="26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25"/>
          </a:p>
        </p:txBody>
      </p:sp>
      <p:sp>
        <p:nvSpPr>
          <p:cNvPr id="429" name="T"/>
          <p:cNvSpPr txBox="1"/>
          <p:nvPr/>
        </p:nvSpPr>
        <p:spPr>
          <a:xfrm>
            <a:off x="6481630" y="3829903"/>
            <a:ext cx="420000" cy="163159"/>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87</a:t>
            </a:r>
            <a:endParaRPr lang="id-ID" sz="625"/>
          </a:p>
        </p:txBody>
      </p:sp>
      <p:sp>
        <p:nvSpPr>
          <p:cNvPr id="430" name="T"/>
          <p:cNvSpPr txBox="1"/>
          <p:nvPr/>
        </p:nvSpPr>
        <p:spPr>
          <a:xfrm>
            <a:off x="6920380" y="3829903"/>
            <a:ext cx="18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25"/>
          </a:p>
        </p:txBody>
      </p:sp>
      <p:cxnSp>
        <p:nvCxnSpPr>
          <p:cNvPr id="431" name="L"/>
          <p:cNvCxnSpPr/>
          <p:nvPr/>
        </p:nvCxnSpPr>
        <p:spPr>
          <a:xfrm>
            <a:off x="676656" y="4035088"/>
            <a:ext cx="6464808" cy="0"/>
          </a:xfrm>
          <a:prstGeom prst="line">
            <a:avLst/>
          </a:prstGeom>
          <a:ln w="9525">
            <a:solidFill>
              <a:srgbClr val="EEF0F3"/>
            </a:solidFill>
          </a:ln>
        </p:spPr>
      </p:cxnSp>
      <p:sp>
        <p:nvSpPr>
          <p:cNvPr id="432" name="K"/>
          <p:cNvSpPr/>
          <p:nvPr/>
        </p:nvSpPr>
        <p:spPr>
          <a:xfrm>
            <a:off x="676656" y="4084530"/>
            <a:ext cx="148326" cy="148326"/>
          </a:xfrm>
          <a:prstGeom prst="ellipse">
            <a:avLst/>
          </a:prstGeom>
          <a:solidFill>
            <a:srgbClr val="D9600B"/>
          </a:solidFill>
          <a:ln>
            <a:noFill/>
          </a:ln>
        </p:spPr>
      </p:sp>
      <p:pic>
        <p:nvPicPr>
          <p:cNvPr id="433" name="G"/>
          <p:cNvPicPr>
            <a:picLocks noChangeAspect="1"/>
          </p:cNvPicPr>
          <p:nvPr/>
        </p:nvPicPr>
        <p:blipFill>
          <a:blip r:embed="rIdM2"/>
          <a:stretch>
            <a:fillRect/>
          </a:stretch>
        </p:blipFill>
        <p:spPr>
          <a:xfrm>
            <a:off x="703354" y="4111229"/>
            <a:ext cx="94928" cy="94928"/>
          </a:xfrm>
          <a:prstGeom prst="rect">
            <a:avLst/>
          </a:prstGeom>
        </p:spPr>
      </p:pic>
      <p:sp>
        <p:nvSpPr>
          <p:cNvPr id="434" name="T"/>
          <p:cNvSpPr txBox="1"/>
          <p:nvPr/>
        </p:nvSpPr>
        <p:spPr>
          <a:xfrm>
            <a:off x="990000" y="4035088"/>
            <a:ext cx="2073240" cy="247211"/>
          </a:xfrm>
          <a:prstGeom prst="rect">
            <a:avLst/>
          </a:prstGeom>
          <a:noFill/>
        </p:spPr>
        <p:txBody>
          <a:bodyPr wrap="none" lIns="0" tIns="0" rIns="0" bIns="0" anchor="ctr"/>
          <a:lstStyle/>
          <a:p>
            <a:pPr algn="l">
              <a:buNone/>
            </a:pPr>
            <a:r>
              <a:rPr lang="id-ID" sz="756" b="1" dirty="0">
                <a:solidFill>
                  <a:srgbClr val="1A1A1A"/>
                </a:solidFill>
                <a:latin typeface="Roboto"/>
                <a:ea typeface="Roboto"/>
                <a:cs typeface="Roboto"/>
              </a:rPr>
              <a:t>Gorontalo</a:t>
            </a:r>
            <a:endParaRPr lang="id-ID" sz="756"/>
          </a:p>
        </p:txBody>
      </p:sp>
      <p:sp>
        <p:nvSpPr>
          <p:cNvPr id="435" name="T"/>
          <p:cNvSpPr txBox="1"/>
          <p:nvPr/>
        </p:nvSpPr>
        <p:spPr>
          <a:xfrm>
            <a:off x="3291840" y="4035088"/>
            <a:ext cx="820000" cy="247211"/>
          </a:xfrm>
          <a:prstGeom prst="rect">
            <a:avLst/>
          </a:prstGeom>
          <a:noFill/>
        </p:spPr>
        <p:txBody>
          <a:bodyPr wrap="none" lIns="0" tIns="0" rIns="0" bIns="0" anchor="ctr"/>
          <a:lstStyle/>
          <a:p>
            <a:pPr algn="r">
              <a:buNone/>
            </a:pPr>
            <a:r>
              <a:rPr lang="id-ID" sz="740" b="1" dirty="0">
                <a:solidFill>
                  <a:srgbClr val="1A1A1A"/>
                </a:solidFill>
                <a:latin typeface="Roboto"/>
                <a:ea typeface="Roboto"/>
                <a:cs typeface="Roboto"/>
              </a:rPr>
              <a:t>± 10.033</a:t>
            </a:r>
            <a:endParaRPr lang="id-ID" sz="740"/>
          </a:p>
        </p:txBody>
      </p:sp>
      <p:sp>
        <p:nvSpPr>
          <p:cNvPr id="436" name="T"/>
          <p:cNvSpPr txBox="1"/>
          <p:nvPr/>
        </p:nvSpPr>
        <p:spPr>
          <a:xfrm>
            <a:off x="4134040" y="4035088"/>
            <a:ext cx="900000" cy="247211"/>
          </a:xfrm>
          <a:prstGeom prst="rect">
            <a:avLst/>
          </a:prstGeom>
          <a:noFill/>
        </p:spPr>
        <p:txBody>
          <a:bodyPr wrap="none" lIns="0" tIns="0" rIns="0" bIns="0" anchor="ctr"/>
          <a:lstStyle/>
          <a:p>
            <a:pPr algn="l">
              <a:buNone/>
            </a:pPr>
            <a:r>
              <a:rPr lang="id-ID" sz="740" b="1" dirty="0">
                <a:solidFill>
                  <a:srgbClr val="1A1A1A"/>
                </a:solidFill>
                <a:latin typeface="Roboto"/>
                <a:ea typeface="Roboto"/>
                <a:cs typeface="Roboto"/>
              </a:rPr>
              <a:t>ha</a:t>
            </a:r>
            <a:endParaRPr lang="id-ID" sz="740"/>
          </a:p>
        </p:txBody>
      </p:sp>
      <p:sp>
        <p:nvSpPr>
          <p:cNvPr id="437" name="K"/>
          <p:cNvSpPr/>
          <p:nvPr/>
        </p:nvSpPr>
        <p:spPr>
          <a:xfrm>
            <a:off x="4739006" y="4077114"/>
            <a:ext cx="1152584" cy="163159"/>
          </a:xfrm>
          <a:prstGeom prst="roundRect">
            <a:avLst>
              <a:gd name="adj" fmla="val 50000"/>
            </a:avLst>
          </a:prstGeom>
          <a:solidFill>
            <a:srgbClr val="E6EAF0"/>
          </a:solidFill>
          <a:ln>
            <a:noFill/>
          </a:ln>
        </p:spPr>
      </p:sp>
      <p:pic>
        <p:nvPicPr>
          <p:cNvPr id="438" name="G"/>
          <p:cNvPicPr>
            <a:picLocks noChangeAspect="1"/>
          </p:cNvPicPr>
          <p:nvPr/>
        </p:nvPicPr>
        <p:blipFill>
          <a:blip r:embed="rIdM3"/>
          <a:stretch>
            <a:fillRect/>
          </a:stretch>
        </p:blipFill>
        <p:spPr>
          <a:xfrm>
            <a:off x="4812158" y="4108114"/>
            <a:ext cx="101158" cy="101158"/>
          </a:xfrm>
          <a:prstGeom prst="rect">
            <a:avLst/>
          </a:prstGeom>
        </p:spPr>
      </p:pic>
      <p:sp>
        <p:nvSpPr>
          <p:cNvPr id="439" name="T"/>
          <p:cNvSpPr txBox="1"/>
          <p:nvPr/>
        </p:nvSpPr>
        <p:spPr>
          <a:xfrm>
            <a:off x="4995894" y="4077114"/>
            <a:ext cx="360000" cy="163159"/>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76</a:t>
            </a:r>
            <a:endParaRPr lang="id-ID" sz="625"/>
          </a:p>
        </p:txBody>
      </p:sp>
      <p:sp>
        <p:nvSpPr>
          <p:cNvPr id="440" name="T"/>
          <p:cNvSpPr txBox="1"/>
          <p:nvPr/>
        </p:nvSpPr>
        <p:spPr>
          <a:xfrm>
            <a:off x="5374644" y="4077114"/>
            <a:ext cx="480000" cy="163159"/>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25"/>
          </a:p>
        </p:txBody>
      </p:sp>
      <p:sp>
        <p:nvSpPr>
          <p:cNvPr id="441" name="K"/>
          <p:cNvSpPr/>
          <p:nvPr/>
        </p:nvSpPr>
        <p:spPr>
          <a:xfrm>
            <a:off x="5964742" y="4077114"/>
            <a:ext cx="1155436" cy="163159"/>
          </a:xfrm>
          <a:prstGeom prst="roundRect">
            <a:avLst>
              <a:gd name="adj" fmla="val 50000"/>
            </a:avLst>
          </a:prstGeom>
          <a:solidFill>
            <a:srgbClr val="FBE7D6"/>
          </a:solidFill>
          <a:ln>
            <a:noFill/>
          </a:ln>
        </p:spPr>
      </p:sp>
      <p:pic>
        <p:nvPicPr>
          <p:cNvPr id="442" name="G"/>
          <p:cNvPicPr>
            <a:picLocks noChangeAspect="1"/>
          </p:cNvPicPr>
          <p:nvPr/>
        </p:nvPicPr>
        <p:blipFill>
          <a:blip r:embed="rIdM4"/>
          <a:stretch>
            <a:fillRect/>
          </a:stretch>
        </p:blipFill>
        <p:spPr>
          <a:xfrm>
            <a:off x="6037894" y="4108114"/>
            <a:ext cx="101158" cy="101158"/>
          </a:xfrm>
          <a:prstGeom prst="rect">
            <a:avLst/>
          </a:prstGeom>
        </p:spPr>
      </p:pic>
      <p:sp>
        <p:nvSpPr>
          <p:cNvPr id="443" name="T"/>
          <p:cNvSpPr txBox="1"/>
          <p:nvPr/>
        </p:nvSpPr>
        <p:spPr>
          <a:xfrm>
            <a:off x="6211630" y="4077114"/>
            <a:ext cx="26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25"/>
          </a:p>
        </p:txBody>
      </p:sp>
      <p:sp>
        <p:nvSpPr>
          <p:cNvPr id="444" name="T"/>
          <p:cNvSpPr txBox="1"/>
          <p:nvPr/>
        </p:nvSpPr>
        <p:spPr>
          <a:xfrm>
            <a:off x="6481630" y="4077114"/>
            <a:ext cx="420000" cy="163159"/>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68</a:t>
            </a:r>
            <a:endParaRPr lang="id-ID" sz="625"/>
          </a:p>
        </p:txBody>
      </p:sp>
      <p:sp>
        <p:nvSpPr>
          <p:cNvPr id="445" name="T"/>
          <p:cNvSpPr txBox="1"/>
          <p:nvPr/>
        </p:nvSpPr>
        <p:spPr>
          <a:xfrm>
            <a:off x="6920380" y="4077114"/>
            <a:ext cx="18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25"/>
          </a:p>
        </p:txBody>
      </p:sp>
      <p:cxnSp>
        <p:nvCxnSpPr>
          <p:cNvPr id="446" name="L"/>
          <p:cNvCxnSpPr/>
          <p:nvPr/>
        </p:nvCxnSpPr>
        <p:spPr>
          <a:xfrm>
            <a:off x="676656" y="4282299"/>
            <a:ext cx="6464808" cy="0"/>
          </a:xfrm>
          <a:prstGeom prst="line">
            <a:avLst/>
          </a:prstGeom>
          <a:ln w="9525">
            <a:solidFill>
              <a:srgbClr val="EEF0F3"/>
            </a:solidFill>
          </a:ln>
        </p:spPr>
      </p:cxnSp>
      <p:sp>
        <p:nvSpPr>
          <p:cNvPr id="447" name="K"/>
          <p:cNvSpPr/>
          <p:nvPr/>
        </p:nvSpPr>
        <p:spPr>
          <a:xfrm>
            <a:off x="676656" y="4331741"/>
            <a:ext cx="148326" cy="148326"/>
          </a:xfrm>
          <a:prstGeom prst="ellipse">
            <a:avLst/>
          </a:prstGeom>
          <a:solidFill>
            <a:srgbClr val="D9600B"/>
          </a:solidFill>
          <a:ln>
            <a:noFill/>
          </a:ln>
        </p:spPr>
      </p:sp>
      <p:pic>
        <p:nvPicPr>
          <p:cNvPr id="448" name="G"/>
          <p:cNvPicPr>
            <a:picLocks noChangeAspect="1"/>
          </p:cNvPicPr>
          <p:nvPr/>
        </p:nvPicPr>
        <p:blipFill>
          <a:blip r:embed="rIdM2"/>
          <a:stretch>
            <a:fillRect/>
          </a:stretch>
        </p:blipFill>
        <p:spPr>
          <a:xfrm>
            <a:off x="703354" y="4358440"/>
            <a:ext cx="94928" cy="94928"/>
          </a:xfrm>
          <a:prstGeom prst="rect">
            <a:avLst/>
          </a:prstGeom>
        </p:spPr>
      </p:pic>
      <p:sp>
        <p:nvSpPr>
          <p:cNvPr id="449" name="T"/>
          <p:cNvSpPr txBox="1"/>
          <p:nvPr/>
        </p:nvSpPr>
        <p:spPr>
          <a:xfrm>
            <a:off x="990000" y="4282299"/>
            <a:ext cx="2073240" cy="247211"/>
          </a:xfrm>
          <a:prstGeom prst="rect">
            <a:avLst/>
          </a:prstGeom>
          <a:noFill/>
        </p:spPr>
        <p:txBody>
          <a:bodyPr wrap="none" lIns="0" tIns="0" rIns="0" bIns="0" anchor="ctr"/>
          <a:lstStyle/>
          <a:p>
            <a:pPr algn="l">
              <a:buNone/>
            </a:pPr>
            <a:r>
              <a:rPr lang="id-ID" sz="756" b="1" dirty="0">
                <a:solidFill>
                  <a:srgbClr val="1A1A1A"/>
                </a:solidFill>
                <a:latin typeface="Roboto"/>
                <a:ea typeface="Roboto"/>
                <a:cs typeface="Roboto"/>
              </a:rPr>
              <a:t>Nusa Tenggara Timur</a:t>
            </a:r>
            <a:endParaRPr lang="id-ID" sz="756"/>
          </a:p>
        </p:txBody>
      </p:sp>
      <p:sp>
        <p:nvSpPr>
          <p:cNvPr id="450" name="T"/>
          <p:cNvSpPr txBox="1"/>
          <p:nvPr/>
        </p:nvSpPr>
        <p:spPr>
          <a:xfrm>
            <a:off x="3291840" y="4282299"/>
            <a:ext cx="820000" cy="247211"/>
          </a:xfrm>
          <a:prstGeom prst="rect">
            <a:avLst/>
          </a:prstGeom>
          <a:noFill/>
        </p:spPr>
        <p:txBody>
          <a:bodyPr wrap="none" lIns="0" tIns="0" rIns="0" bIns="0" anchor="ctr"/>
          <a:lstStyle/>
          <a:p>
            <a:pPr algn="r">
              <a:buNone/>
            </a:pPr>
            <a:r>
              <a:rPr lang="id-ID" sz="740" b="1" dirty="0">
                <a:solidFill>
                  <a:srgbClr val="1A1A1A"/>
                </a:solidFill>
                <a:latin typeface="Roboto"/>
                <a:ea typeface="Roboto"/>
                <a:cs typeface="Roboto"/>
              </a:rPr>
              <a:t>± 57.367</a:t>
            </a:r>
            <a:endParaRPr lang="id-ID" sz="740"/>
          </a:p>
        </p:txBody>
      </p:sp>
      <p:sp>
        <p:nvSpPr>
          <p:cNvPr id="451" name="T"/>
          <p:cNvSpPr txBox="1"/>
          <p:nvPr/>
        </p:nvSpPr>
        <p:spPr>
          <a:xfrm>
            <a:off x="4134040" y="4282299"/>
            <a:ext cx="900000" cy="247211"/>
          </a:xfrm>
          <a:prstGeom prst="rect">
            <a:avLst/>
          </a:prstGeom>
          <a:noFill/>
        </p:spPr>
        <p:txBody>
          <a:bodyPr wrap="none" lIns="0" tIns="0" rIns="0" bIns="0" anchor="ctr"/>
          <a:lstStyle/>
          <a:p>
            <a:pPr algn="l">
              <a:buNone/>
            </a:pPr>
            <a:r>
              <a:rPr lang="id-ID" sz="740" b="1" dirty="0">
                <a:solidFill>
                  <a:srgbClr val="1A1A1A"/>
                </a:solidFill>
                <a:latin typeface="Roboto"/>
                <a:ea typeface="Roboto"/>
                <a:cs typeface="Roboto"/>
              </a:rPr>
              <a:t>ha</a:t>
            </a:r>
            <a:endParaRPr lang="id-ID" sz="740"/>
          </a:p>
        </p:txBody>
      </p:sp>
      <p:sp>
        <p:nvSpPr>
          <p:cNvPr id="452" name="K"/>
          <p:cNvSpPr/>
          <p:nvPr/>
        </p:nvSpPr>
        <p:spPr>
          <a:xfrm>
            <a:off x="4739006" y="4324325"/>
            <a:ext cx="1152584" cy="163159"/>
          </a:xfrm>
          <a:prstGeom prst="roundRect">
            <a:avLst>
              <a:gd name="adj" fmla="val 50000"/>
            </a:avLst>
          </a:prstGeom>
          <a:solidFill>
            <a:srgbClr val="E6EAF0"/>
          </a:solidFill>
          <a:ln>
            <a:noFill/>
          </a:ln>
        </p:spPr>
      </p:sp>
      <p:pic>
        <p:nvPicPr>
          <p:cNvPr id="453" name="G"/>
          <p:cNvPicPr>
            <a:picLocks noChangeAspect="1"/>
          </p:cNvPicPr>
          <p:nvPr/>
        </p:nvPicPr>
        <p:blipFill>
          <a:blip r:embed="rIdM3"/>
          <a:stretch>
            <a:fillRect/>
          </a:stretch>
        </p:blipFill>
        <p:spPr>
          <a:xfrm>
            <a:off x="4812158" y="4355325"/>
            <a:ext cx="101158" cy="101158"/>
          </a:xfrm>
          <a:prstGeom prst="rect">
            <a:avLst/>
          </a:prstGeom>
        </p:spPr>
      </p:pic>
      <p:sp>
        <p:nvSpPr>
          <p:cNvPr id="454" name="T"/>
          <p:cNvSpPr txBox="1"/>
          <p:nvPr/>
        </p:nvSpPr>
        <p:spPr>
          <a:xfrm>
            <a:off x="4995894" y="4324325"/>
            <a:ext cx="360000" cy="163159"/>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53</a:t>
            </a:r>
            <a:endParaRPr lang="id-ID" sz="625"/>
          </a:p>
        </p:txBody>
      </p:sp>
      <p:sp>
        <p:nvSpPr>
          <p:cNvPr id="455" name="T"/>
          <p:cNvSpPr txBox="1"/>
          <p:nvPr/>
        </p:nvSpPr>
        <p:spPr>
          <a:xfrm>
            <a:off x="5374644" y="4324325"/>
            <a:ext cx="480000" cy="163159"/>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25"/>
          </a:p>
        </p:txBody>
      </p:sp>
      <p:sp>
        <p:nvSpPr>
          <p:cNvPr id="456" name="K"/>
          <p:cNvSpPr/>
          <p:nvPr/>
        </p:nvSpPr>
        <p:spPr>
          <a:xfrm>
            <a:off x="5964742" y="4324325"/>
            <a:ext cx="1155436" cy="163159"/>
          </a:xfrm>
          <a:prstGeom prst="roundRect">
            <a:avLst>
              <a:gd name="adj" fmla="val 50000"/>
            </a:avLst>
          </a:prstGeom>
          <a:solidFill>
            <a:srgbClr val="FBE7D6"/>
          </a:solidFill>
          <a:ln>
            <a:noFill/>
          </a:ln>
        </p:spPr>
      </p:sp>
      <p:pic>
        <p:nvPicPr>
          <p:cNvPr id="457" name="G"/>
          <p:cNvPicPr>
            <a:picLocks noChangeAspect="1"/>
          </p:cNvPicPr>
          <p:nvPr/>
        </p:nvPicPr>
        <p:blipFill>
          <a:blip r:embed="rIdM4"/>
          <a:stretch>
            <a:fillRect/>
          </a:stretch>
        </p:blipFill>
        <p:spPr>
          <a:xfrm>
            <a:off x="6037894" y="4355325"/>
            <a:ext cx="101158" cy="101158"/>
          </a:xfrm>
          <a:prstGeom prst="rect">
            <a:avLst/>
          </a:prstGeom>
        </p:spPr>
      </p:pic>
      <p:sp>
        <p:nvSpPr>
          <p:cNvPr id="458" name="T"/>
          <p:cNvSpPr txBox="1"/>
          <p:nvPr/>
        </p:nvSpPr>
        <p:spPr>
          <a:xfrm>
            <a:off x="6211630" y="4324325"/>
            <a:ext cx="26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25"/>
          </a:p>
        </p:txBody>
      </p:sp>
      <p:sp>
        <p:nvSpPr>
          <p:cNvPr id="459" name="T"/>
          <p:cNvSpPr txBox="1"/>
          <p:nvPr/>
        </p:nvSpPr>
        <p:spPr>
          <a:xfrm>
            <a:off x="6481630" y="4324325"/>
            <a:ext cx="420000" cy="163159"/>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52</a:t>
            </a:r>
            <a:endParaRPr lang="id-ID" sz="625"/>
          </a:p>
        </p:txBody>
      </p:sp>
      <p:sp>
        <p:nvSpPr>
          <p:cNvPr id="460" name="T"/>
          <p:cNvSpPr txBox="1"/>
          <p:nvPr/>
        </p:nvSpPr>
        <p:spPr>
          <a:xfrm>
            <a:off x="6920380" y="4324325"/>
            <a:ext cx="18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25"/>
          </a:p>
        </p:txBody>
      </p:sp>
      <p:cxnSp>
        <p:nvCxnSpPr>
          <p:cNvPr id="461" name="L"/>
          <p:cNvCxnSpPr/>
          <p:nvPr/>
        </p:nvCxnSpPr>
        <p:spPr>
          <a:xfrm>
            <a:off x="676656" y="4529510"/>
            <a:ext cx="6464808" cy="0"/>
          </a:xfrm>
          <a:prstGeom prst="line">
            <a:avLst/>
          </a:prstGeom>
          <a:ln w="9525">
            <a:solidFill>
              <a:srgbClr val="EEF0F3"/>
            </a:solidFill>
          </a:ln>
        </p:spPr>
      </p:cxnSp>
      <p:sp>
        <p:nvSpPr>
          <p:cNvPr id="462" name="K"/>
          <p:cNvSpPr/>
          <p:nvPr/>
        </p:nvSpPr>
        <p:spPr>
          <a:xfrm>
            <a:off x="676656" y="4578952"/>
            <a:ext cx="148326" cy="148326"/>
          </a:xfrm>
          <a:prstGeom prst="ellipse">
            <a:avLst/>
          </a:prstGeom>
          <a:solidFill>
            <a:srgbClr val="D9600B"/>
          </a:solidFill>
          <a:ln>
            <a:noFill/>
          </a:ln>
        </p:spPr>
      </p:sp>
      <p:pic>
        <p:nvPicPr>
          <p:cNvPr id="463" name="G"/>
          <p:cNvPicPr>
            <a:picLocks noChangeAspect="1"/>
          </p:cNvPicPr>
          <p:nvPr/>
        </p:nvPicPr>
        <p:blipFill>
          <a:blip r:embed="rIdM2"/>
          <a:stretch>
            <a:fillRect/>
          </a:stretch>
        </p:blipFill>
        <p:spPr>
          <a:xfrm>
            <a:off x="703354" y="4605651"/>
            <a:ext cx="94928" cy="94928"/>
          </a:xfrm>
          <a:prstGeom prst="rect">
            <a:avLst/>
          </a:prstGeom>
        </p:spPr>
      </p:pic>
      <p:sp>
        <p:nvSpPr>
          <p:cNvPr id="464" name="T"/>
          <p:cNvSpPr txBox="1"/>
          <p:nvPr/>
        </p:nvSpPr>
        <p:spPr>
          <a:xfrm>
            <a:off x="990000" y="4529510"/>
            <a:ext cx="2073240" cy="247211"/>
          </a:xfrm>
          <a:prstGeom prst="rect">
            <a:avLst/>
          </a:prstGeom>
          <a:noFill/>
        </p:spPr>
        <p:txBody>
          <a:bodyPr wrap="none" lIns="0" tIns="0" rIns="0" bIns="0" anchor="ctr"/>
          <a:lstStyle/>
          <a:p>
            <a:pPr algn="l">
              <a:buNone/>
            </a:pPr>
            <a:r>
              <a:rPr lang="id-ID" sz="756" b="1" dirty="0">
                <a:solidFill>
                  <a:srgbClr val="1A1A1A"/>
                </a:solidFill>
                <a:latin typeface="Roboto"/>
                <a:ea typeface="Roboto"/>
                <a:cs typeface="Roboto"/>
              </a:rPr>
              <a:t>Kalimantan Selatan</a:t>
            </a:r>
            <a:endParaRPr lang="id-ID" sz="756"/>
          </a:p>
        </p:txBody>
      </p:sp>
      <p:sp>
        <p:nvSpPr>
          <p:cNvPr id="465" name="T"/>
          <p:cNvSpPr txBox="1"/>
          <p:nvPr/>
        </p:nvSpPr>
        <p:spPr>
          <a:xfrm>
            <a:off x="3291840" y="4529510"/>
            <a:ext cx="820000" cy="247211"/>
          </a:xfrm>
          <a:prstGeom prst="rect">
            <a:avLst/>
          </a:prstGeom>
          <a:noFill/>
        </p:spPr>
        <p:txBody>
          <a:bodyPr wrap="none" lIns="0" tIns="0" rIns="0" bIns="0" anchor="ctr"/>
          <a:lstStyle/>
          <a:p>
            <a:pPr algn="r">
              <a:buNone/>
            </a:pPr>
            <a:r>
              <a:rPr lang="id-ID" sz="740" b="1" dirty="0">
                <a:solidFill>
                  <a:srgbClr val="1A1A1A"/>
                </a:solidFill>
                <a:latin typeface="Roboto"/>
                <a:ea typeface="Roboto"/>
                <a:cs typeface="Roboto"/>
              </a:rPr>
              <a:t>± 105.616</a:t>
            </a:r>
            <a:endParaRPr lang="id-ID" sz="740"/>
          </a:p>
        </p:txBody>
      </p:sp>
      <p:sp>
        <p:nvSpPr>
          <p:cNvPr id="466" name="T"/>
          <p:cNvSpPr txBox="1"/>
          <p:nvPr/>
        </p:nvSpPr>
        <p:spPr>
          <a:xfrm>
            <a:off x="4134040" y="4529510"/>
            <a:ext cx="900000" cy="247211"/>
          </a:xfrm>
          <a:prstGeom prst="rect">
            <a:avLst/>
          </a:prstGeom>
          <a:noFill/>
        </p:spPr>
        <p:txBody>
          <a:bodyPr wrap="none" lIns="0" tIns="0" rIns="0" bIns="0" anchor="ctr"/>
          <a:lstStyle/>
          <a:p>
            <a:pPr algn="l">
              <a:buNone/>
            </a:pPr>
            <a:r>
              <a:rPr lang="id-ID" sz="740" b="1" dirty="0">
                <a:solidFill>
                  <a:srgbClr val="1A1A1A"/>
                </a:solidFill>
                <a:latin typeface="Roboto"/>
                <a:ea typeface="Roboto"/>
                <a:cs typeface="Roboto"/>
              </a:rPr>
              <a:t>ha</a:t>
            </a:r>
            <a:endParaRPr lang="id-ID" sz="740"/>
          </a:p>
        </p:txBody>
      </p:sp>
      <p:sp>
        <p:nvSpPr>
          <p:cNvPr id="467" name="K"/>
          <p:cNvSpPr/>
          <p:nvPr/>
        </p:nvSpPr>
        <p:spPr>
          <a:xfrm>
            <a:off x="4739006" y="4571536"/>
            <a:ext cx="1152584" cy="163159"/>
          </a:xfrm>
          <a:prstGeom prst="roundRect">
            <a:avLst>
              <a:gd name="adj" fmla="val 50000"/>
            </a:avLst>
          </a:prstGeom>
          <a:solidFill>
            <a:srgbClr val="E6EAF0"/>
          </a:solidFill>
          <a:ln>
            <a:noFill/>
          </a:ln>
        </p:spPr>
      </p:sp>
      <p:pic>
        <p:nvPicPr>
          <p:cNvPr id="468" name="G"/>
          <p:cNvPicPr>
            <a:picLocks noChangeAspect="1"/>
          </p:cNvPicPr>
          <p:nvPr/>
        </p:nvPicPr>
        <p:blipFill>
          <a:blip r:embed="rIdM3"/>
          <a:stretch>
            <a:fillRect/>
          </a:stretch>
        </p:blipFill>
        <p:spPr>
          <a:xfrm>
            <a:off x="4812158" y="4602536"/>
            <a:ext cx="101158" cy="101158"/>
          </a:xfrm>
          <a:prstGeom prst="rect">
            <a:avLst/>
          </a:prstGeom>
        </p:spPr>
      </p:pic>
      <p:sp>
        <p:nvSpPr>
          <p:cNvPr id="469" name="T"/>
          <p:cNvSpPr txBox="1"/>
          <p:nvPr/>
        </p:nvSpPr>
        <p:spPr>
          <a:xfrm>
            <a:off x="4995894" y="4571536"/>
            <a:ext cx="360000" cy="163159"/>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121</a:t>
            </a:r>
            <a:endParaRPr lang="id-ID" sz="625"/>
          </a:p>
        </p:txBody>
      </p:sp>
      <p:sp>
        <p:nvSpPr>
          <p:cNvPr id="470" name="T"/>
          <p:cNvSpPr txBox="1"/>
          <p:nvPr/>
        </p:nvSpPr>
        <p:spPr>
          <a:xfrm>
            <a:off x="5374644" y="4571536"/>
            <a:ext cx="480000" cy="163159"/>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25"/>
          </a:p>
        </p:txBody>
      </p:sp>
      <p:sp>
        <p:nvSpPr>
          <p:cNvPr id="471" name="K"/>
          <p:cNvSpPr/>
          <p:nvPr/>
        </p:nvSpPr>
        <p:spPr>
          <a:xfrm>
            <a:off x="5964742" y="4571536"/>
            <a:ext cx="1155436" cy="163159"/>
          </a:xfrm>
          <a:prstGeom prst="roundRect">
            <a:avLst>
              <a:gd name="adj" fmla="val 50000"/>
            </a:avLst>
          </a:prstGeom>
          <a:solidFill>
            <a:srgbClr val="FBE7D6"/>
          </a:solidFill>
          <a:ln>
            <a:noFill/>
          </a:ln>
        </p:spPr>
      </p:sp>
      <p:pic>
        <p:nvPicPr>
          <p:cNvPr id="472" name="G"/>
          <p:cNvPicPr>
            <a:picLocks noChangeAspect="1"/>
          </p:cNvPicPr>
          <p:nvPr/>
        </p:nvPicPr>
        <p:blipFill>
          <a:blip r:embed="rIdM4"/>
          <a:stretch>
            <a:fillRect/>
          </a:stretch>
        </p:blipFill>
        <p:spPr>
          <a:xfrm>
            <a:off x="6037894" y="4602536"/>
            <a:ext cx="101158" cy="101158"/>
          </a:xfrm>
          <a:prstGeom prst="rect">
            <a:avLst/>
          </a:prstGeom>
        </p:spPr>
      </p:pic>
      <p:sp>
        <p:nvSpPr>
          <p:cNvPr id="473" name="T"/>
          <p:cNvSpPr txBox="1"/>
          <p:nvPr/>
        </p:nvSpPr>
        <p:spPr>
          <a:xfrm>
            <a:off x="6211630" y="4571536"/>
            <a:ext cx="26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25"/>
          </a:p>
        </p:txBody>
      </p:sp>
      <p:sp>
        <p:nvSpPr>
          <p:cNvPr id="474" name="T"/>
          <p:cNvSpPr txBox="1"/>
          <p:nvPr/>
        </p:nvSpPr>
        <p:spPr>
          <a:xfrm>
            <a:off x="6481630" y="4571536"/>
            <a:ext cx="420000" cy="163159"/>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33</a:t>
            </a:r>
            <a:endParaRPr lang="id-ID" sz="625"/>
          </a:p>
        </p:txBody>
      </p:sp>
      <p:sp>
        <p:nvSpPr>
          <p:cNvPr id="475" name="T"/>
          <p:cNvSpPr txBox="1"/>
          <p:nvPr/>
        </p:nvSpPr>
        <p:spPr>
          <a:xfrm>
            <a:off x="6920380" y="4571536"/>
            <a:ext cx="18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25"/>
          </a:p>
        </p:txBody>
      </p:sp>
      <p:cxnSp>
        <p:nvCxnSpPr>
          <p:cNvPr id="476" name="L"/>
          <p:cNvCxnSpPr/>
          <p:nvPr/>
        </p:nvCxnSpPr>
        <p:spPr>
          <a:xfrm>
            <a:off x="676656" y="4776721"/>
            <a:ext cx="6464808" cy="0"/>
          </a:xfrm>
          <a:prstGeom prst="line">
            <a:avLst/>
          </a:prstGeom>
          <a:ln w="9525">
            <a:solidFill>
              <a:srgbClr val="EEF0F3"/>
            </a:solidFill>
          </a:ln>
        </p:spPr>
      </p:cxnSp>
      <p:sp>
        <p:nvSpPr>
          <p:cNvPr id="477" name="K"/>
          <p:cNvSpPr/>
          <p:nvPr/>
        </p:nvSpPr>
        <p:spPr>
          <a:xfrm>
            <a:off x="676656" y="4826163"/>
            <a:ext cx="148326" cy="148326"/>
          </a:xfrm>
          <a:prstGeom prst="ellipse">
            <a:avLst/>
          </a:prstGeom>
          <a:solidFill>
            <a:srgbClr val="D9600B"/>
          </a:solidFill>
          <a:ln>
            <a:noFill/>
          </a:ln>
        </p:spPr>
      </p:sp>
      <p:pic>
        <p:nvPicPr>
          <p:cNvPr id="478" name="G"/>
          <p:cNvPicPr>
            <a:picLocks noChangeAspect="1"/>
          </p:cNvPicPr>
          <p:nvPr/>
        </p:nvPicPr>
        <p:blipFill>
          <a:blip r:embed="rIdM2"/>
          <a:stretch>
            <a:fillRect/>
          </a:stretch>
        </p:blipFill>
        <p:spPr>
          <a:xfrm>
            <a:off x="703354" y="4852862"/>
            <a:ext cx="94928" cy="94928"/>
          </a:xfrm>
          <a:prstGeom prst="rect">
            <a:avLst/>
          </a:prstGeom>
        </p:spPr>
      </p:pic>
      <p:sp>
        <p:nvSpPr>
          <p:cNvPr id="479" name="T"/>
          <p:cNvSpPr txBox="1"/>
          <p:nvPr/>
        </p:nvSpPr>
        <p:spPr>
          <a:xfrm>
            <a:off x="990000" y="4776721"/>
            <a:ext cx="2073240" cy="247211"/>
          </a:xfrm>
          <a:prstGeom prst="rect">
            <a:avLst/>
          </a:prstGeom>
          <a:noFill/>
        </p:spPr>
        <p:txBody>
          <a:bodyPr wrap="none" lIns="0" tIns="0" rIns="0" bIns="0" anchor="ctr"/>
          <a:lstStyle/>
          <a:p>
            <a:pPr algn="l">
              <a:buNone/>
            </a:pPr>
            <a:r>
              <a:rPr lang="id-ID" sz="756" b="1" dirty="0">
                <a:solidFill>
                  <a:srgbClr val="1A1A1A"/>
                </a:solidFill>
                <a:latin typeface="Roboto"/>
                <a:ea typeface="Roboto"/>
                <a:cs typeface="Roboto"/>
              </a:rPr>
              <a:t>Nusa Tenggara Barat</a:t>
            </a:r>
            <a:endParaRPr lang="id-ID" sz="756"/>
          </a:p>
        </p:txBody>
      </p:sp>
      <p:sp>
        <p:nvSpPr>
          <p:cNvPr id="480" name="T"/>
          <p:cNvSpPr txBox="1"/>
          <p:nvPr/>
        </p:nvSpPr>
        <p:spPr>
          <a:xfrm>
            <a:off x="3291840" y="4776721"/>
            <a:ext cx="820000" cy="247211"/>
          </a:xfrm>
          <a:prstGeom prst="rect">
            <a:avLst/>
          </a:prstGeom>
          <a:noFill/>
        </p:spPr>
        <p:txBody>
          <a:bodyPr wrap="none" lIns="0" tIns="0" rIns="0" bIns="0" anchor="ctr"/>
          <a:lstStyle/>
          <a:p>
            <a:pPr algn="r">
              <a:buNone/>
            </a:pPr>
            <a:r>
              <a:rPr lang="id-ID" sz="740" b="1" dirty="0">
                <a:solidFill>
                  <a:srgbClr val="1A1A1A"/>
                </a:solidFill>
                <a:latin typeface="Roboto"/>
                <a:ea typeface="Roboto"/>
                <a:cs typeface="Roboto"/>
              </a:rPr>
              <a:t>± 27.357</a:t>
            </a:r>
            <a:endParaRPr lang="id-ID" sz="740"/>
          </a:p>
        </p:txBody>
      </p:sp>
      <p:sp>
        <p:nvSpPr>
          <p:cNvPr id="481" name="T"/>
          <p:cNvSpPr txBox="1"/>
          <p:nvPr/>
        </p:nvSpPr>
        <p:spPr>
          <a:xfrm>
            <a:off x="4134040" y="4776721"/>
            <a:ext cx="900000" cy="247211"/>
          </a:xfrm>
          <a:prstGeom prst="rect">
            <a:avLst/>
          </a:prstGeom>
          <a:noFill/>
        </p:spPr>
        <p:txBody>
          <a:bodyPr wrap="none" lIns="0" tIns="0" rIns="0" bIns="0" anchor="ctr"/>
          <a:lstStyle/>
          <a:p>
            <a:pPr algn="l">
              <a:buNone/>
            </a:pPr>
            <a:r>
              <a:rPr lang="id-ID" sz="740" b="1" dirty="0">
                <a:solidFill>
                  <a:srgbClr val="1A1A1A"/>
                </a:solidFill>
                <a:latin typeface="Roboto"/>
                <a:ea typeface="Roboto"/>
                <a:cs typeface="Roboto"/>
              </a:rPr>
              <a:t>ha</a:t>
            </a:r>
            <a:endParaRPr lang="id-ID" sz="740"/>
          </a:p>
        </p:txBody>
      </p:sp>
      <p:sp>
        <p:nvSpPr>
          <p:cNvPr id="482" name="K"/>
          <p:cNvSpPr/>
          <p:nvPr/>
        </p:nvSpPr>
        <p:spPr>
          <a:xfrm>
            <a:off x="4739006" y="4818747"/>
            <a:ext cx="1152584" cy="163159"/>
          </a:xfrm>
          <a:prstGeom prst="roundRect">
            <a:avLst>
              <a:gd name="adj" fmla="val 50000"/>
            </a:avLst>
          </a:prstGeom>
          <a:solidFill>
            <a:srgbClr val="E6EAF0"/>
          </a:solidFill>
          <a:ln>
            <a:noFill/>
          </a:ln>
        </p:spPr>
      </p:sp>
      <p:pic>
        <p:nvPicPr>
          <p:cNvPr id="483" name="G"/>
          <p:cNvPicPr>
            <a:picLocks noChangeAspect="1"/>
          </p:cNvPicPr>
          <p:nvPr/>
        </p:nvPicPr>
        <p:blipFill>
          <a:blip r:embed="rIdM3"/>
          <a:stretch>
            <a:fillRect/>
          </a:stretch>
        </p:blipFill>
        <p:spPr>
          <a:xfrm>
            <a:off x="4812158" y="4849747"/>
            <a:ext cx="101158" cy="101158"/>
          </a:xfrm>
          <a:prstGeom prst="rect">
            <a:avLst/>
          </a:prstGeom>
        </p:spPr>
      </p:pic>
      <p:sp>
        <p:nvSpPr>
          <p:cNvPr id="484" name="T"/>
          <p:cNvSpPr txBox="1"/>
          <p:nvPr/>
        </p:nvSpPr>
        <p:spPr>
          <a:xfrm>
            <a:off x="4995894" y="4818747"/>
            <a:ext cx="360000" cy="163159"/>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46</a:t>
            </a:r>
            <a:endParaRPr lang="id-ID" sz="625"/>
          </a:p>
        </p:txBody>
      </p:sp>
      <p:sp>
        <p:nvSpPr>
          <p:cNvPr id="485" name="T"/>
          <p:cNvSpPr txBox="1"/>
          <p:nvPr/>
        </p:nvSpPr>
        <p:spPr>
          <a:xfrm>
            <a:off x="5374644" y="4818747"/>
            <a:ext cx="480000" cy="163159"/>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25"/>
          </a:p>
        </p:txBody>
      </p:sp>
      <p:sp>
        <p:nvSpPr>
          <p:cNvPr id="486" name="K"/>
          <p:cNvSpPr/>
          <p:nvPr/>
        </p:nvSpPr>
        <p:spPr>
          <a:xfrm>
            <a:off x="5964742" y="4818747"/>
            <a:ext cx="1155436" cy="163159"/>
          </a:xfrm>
          <a:prstGeom prst="roundRect">
            <a:avLst>
              <a:gd name="adj" fmla="val 50000"/>
            </a:avLst>
          </a:prstGeom>
          <a:solidFill>
            <a:srgbClr val="FBE7D6"/>
          </a:solidFill>
          <a:ln>
            <a:noFill/>
          </a:ln>
        </p:spPr>
      </p:sp>
      <p:pic>
        <p:nvPicPr>
          <p:cNvPr id="487" name="G"/>
          <p:cNvPicPr>
            <a:picLocks noChangeAspect="1"/>
          </p:cNvPicPr>
          <p:nvPr/>
        </p:nvPicPr>
        <p:blipFill>
          <a:blip r:embed="rIdM4"/>
          <a:stretch>
            <a:fillRect/>
          </a:stretch>
        </p:blipFill>
        <p:spPr>
          <a:xfrm>
            <a:off x="6037894" y="4849747"/>
            <a:ext cx="101158" cy="101158"/>
          </a:xfrm>
          <a:prstGeom prst="rect">
            <a:avLst/>
          </a:prstGeom>
        </p:spPr>
      </p:pic>
      <p:sp>
        <p:nvSpPr>
          <p:cNvPr id="488" name="T"/>
          <p:cNvSpPr txBox="1"/>
          <p:nvPr/>
        </p:nvSpPr>
        <p:spPr>
          <a:xfrm>
            <a:off x="6211630" y="4818747"/>
            <a:ext cx="26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25"/>
          </a:p>
        </p:txBody>
      </p:sp>
      <p:sp>
        <p:nvSpPr>
          <p:cNvPr id="489" name="T"/>
          <p:cNvSpPr txBox="1"/>
          <p:nvPr/>
        </p:nvSpPr>
        <p:spPr>
          <a:xfrm>
            <a:off x="6481630" y="4818747"/>
            <a:ext cx="420000" cy="163159"/>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25</a:t>
            </a:r>
            <a:endParaRPr lang="id-ID" sz="625"/>
          </a:p>
        </p:txBody>
      </p:sp>
      <p:sp>
        <p:nvSpPr>
          <p:cNvPr id="490" name="T"/>
          <p:cNvSpPr txBox="1"/>
          <p:nvPr/>
        </p:nvSpPr>
        <p:spPr>
          <a:xfrm>
            <a:off x="6920380" y="4818747"/>
            <a:ext cx="18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25"/>
          </a:p>
        </p:txBody>
      </p:sp>
      <p:cxnSp>
        <p:nvCxnSpPr>
          <p:cNvPr id="491" name="L"/>
          <p:cNvCxnSpPr/>
          <p:nvPr/>
        </p:nvCxnSpPr>
        <p:spPr>
          <a:xfrm>
            <a:off x="676656" y="5023932"/>
            <a:ext cx="6464808" cy="0"/>
          </a:xfrm>
          <a:prstGeom prst="line">
            <a:avLst/>
          </a:prstGeom>
          <a:ln w="9525">
            <a:solidFill>
              <a:srgbClr val="EEF0F3"/>
            </a:solidFill>
          </a:ln>
        </p:spPr>
      </p:cxnSp>
      <p:sp>
        <p:nvSpPr>
          <p:cNvPr id="492" name="K"/>
          <p:cNvSpPr/>
          <p:nvPr/>
        </p:nvSpPr>
        <p:spPr>
          <a:xfrm>
            <a:off x="676656" y="5073374"/>
            <a:ext cx="148326" cy="148326"/>
          </a:xfrm>
          <a:prstGeom prst="ellipse">
            <a:avLst/>
          </a:prstGeom>
          <a:solidFill>
            <a:srgbClr val="D9600B"/>
          </a:solidFill>
          <a:ln>
            <a:noFill/>
          </a:ln>
        </p:spPr>
      </p:sp>
      <p:pic>
        <p:nvPicPr>
          <p:cNvPr id="493" name="G"/>
          <p:cNvPicPr>
            <a:picLocks noChangeAspect="1"/>
          </p:cNvPicPr>
          <p:nvPr/>
        </p:nvPicPr>
        <p:blipFill>
          <a:blip r:embed="rIdM2"/>
          <a:stretch>
            <a:fillRect/>
          </a:stretch>
        </p:blipFill>
        <p:spPr>
          <a:xfrm>
            <a:off x="703354" y="5100073"/>
            <a:ext cx="94928" cy="94928"/>
          </a:xfrm>
          <a:prstGeom prst="rect">
            <a:avLst/>
          </a:prstGeom>
        </p:spPr>
      </p:pic>
      <p:sp>
        <p:nvSpPr>
          <p:cNvPr id="494" name="T"/>
          <p:cNvSpPr txBox="1"/>
          <p:nvPr/>
        </p:nvSpPr>
        <p:spPr>
          <a:xfrm>
            <a:off x="990000" y="5023932"/>
            <a:ext cx="2073240" cy="247211"/>
          </a:xfrm>
          <a:prstGeom prst="rect">
            <a:avLst/>
          </a:prstGeom>
          <a:noFill/>
        </p:spPr>
        <p:txBody>
          <a:bodyPr wrap="none" lIns="0" tIns="0" rIns="0" bIns="0" anchor="ctr"/>
          <a:lstStyle/>
          <a:p>
            <a:pPr algn="l">
              <a:buNone/>
            </a:pPr>
            <a:r>
              <a:rPr lang="id-ID" sz="756" b="1" dirty="0">
                <a:solidFill>
                  <a:srgbClr val="1A1A1A"/>
                </a:solidFill>
                <a:latin typeface="Roboto"/>
                <a:ea typeface="Roboto"/>
                <a:cs typeface="Roboto"/>
              </a:rPr>
              <a:t>Kalimantan Barat</a:t>
            </a:r>
            <a:endParaRPr lang="id-ID" sz="756"/>
          </a:p>
        </p:txBody>
      </p:sp>
      <p:sp>
        <p:nvSpPr>
          <p:cNvPr id="495" name="T"/>
          <p:cNvSpPr txBox="1"/>
          <p:nvPr/>
        </p:nvSpPr>
        <p:spPr>
          <a:xfrm>
            <a:off x="3291840" y="5023932"/>
            <a:ext cx="820000" cy="247211"/>
          </a:xfrm>
          <a:prstGeom prst="rect">
            <a:avLst/>
          </a:prstGeom>
          <a:noFill/>
        </p:spPr>
        <p:txBody>
          <a:bodyPr wrap="none" lIns="0" tIns="0" rIns="0" bIns="0" anchor="ctr"/>
          <a:lstStyle/>
          <a:p>
            <a:pPr algn="r">
              <a:buNone/>
            </a:pPr>
            <a:r>
              <a:rPr lang="id-ID" sz="740" b="1" dirty="0">
                <a:solidFill>
                  <a:srgbClr val="1A1A1A"/>
                </a:solidFill>
                <a:latin typeface="Roboto"/>
                <a:ea typeface="Roboto"/>
                <a:cs typeface="Roboto"/>
              </a:rPr>
              <a:t>± 326.419</a:t>
            </a:r>
            <a:endParaRPr lang="id-ID" sz="740"/>
          </a:p>
        </p:txBody>
      </p:sp>
      <p:sp>
        <p:nvSpPr>
          <p:cNvPr id="496" name="T"/>
          <p:cNvSpPr txBox="1"/>
          <p:nvPr/>
        </p:nvSpPr>
        <p:spPr>
          <a:xfrm>
            <a:off x="4134040" y="5023932"/>
            <a:ext cx="900000" cy="247211"/>
          </a:xfrm>
          <a:prstGeom prst="rect">
            <a:avLst/>
          </a:prstGeom>
          <a:noFill/>
        </p:spPr>
        <p:txBody>
          <a:bodyPr wrap="none" lIns="0" tIns="0" rIns="0" bIns="0" anchor="ctr"/>
          <a:lstStyle/>
          <a:p>
            <a:pPr algn="l">
              <a:buNone/>
            </a:pPr>
            <a:r>
              <a:rPr lang="id-ID" sz="740" b="1" dirty="0">
                <a:solidFill>
                  <a:srgbClr val="1A1A1A"/>
                </a:solidFill>
                <a:latin typeface="Roboto"/>
                <a:ea typeface="Roboto"/>
                <a:cs typeface="Roboto"/>
              </a:rPr>
              <a:t>ha</a:t>
            </a:r>
            <a:endParaRPr lang="id-ID" sz="740"/>
          </a:p>
        </p:txBody>
      </p:sp>
      <p:sp>
        <p:nvSpPr>
          <p:cNvPr id="497" name="K"/>
          <p:cNvSpPr/>
          <p:nvPr/>
        </p:nvSpPr>
        <p:spPr>
          <a:xfrm>
            <a:off x="4739006" y="5065958"/>
            <a:ext cx="1152584" cy="163159"/>
          </a:xfrm>
          <a:prstGeom prst="roundRect">
            <a:avLst>
              <a:gd name="adj" fmla="val 50000"/>
            </a:avLst>
          </a:prstGeom>
          <a:solidFill>
            <a:srgbClr val="E6EAF0"/>
          </a:solidFill>
          <a:ln>
            <a:noFill/>
          </a:ln>
        </p:spPr>
      </p:sp>
      <p:pic>
        <p:nvPicPr>
          <p:cNvPr id="498" name="G"/>
          <p:cNvPicPr>
            <a:picLocks noChangeAspect="1"/>
          </p:cNvPicPr>
          <p:nvPr/>
        </p:nvPicPr>
        <p:blipFill>
          <a:blip r:embed="rIdM3"/>
          <a:stretch>
            <a:fillRect/>
          </a:stretch>
        </p:blipFill>
        <p:spPr>
          <a:xfrm>
            <a:off x="4812158" y="5096958"/>
            <a:ext cx="101158" cy="101158"/>
          </a:xfrm>
          <a:prstGeom prst="rect">
            <a:avLst/>
          </a:prstGeom>
        </p:spPr>
      </p:pic>
      <p:sp>
        <p:nvSpPr>
          <p:cNvPr id="499" name="T"/>
          <p:cNvSpPr txBox="1"/>
          <p:nvPr/>
        </p:nvSpPr>
        <p:spPr>
          <a:xfrm>
            <a:off x="4995894" y="5065958"/>
            <a:ext cx="360000" cy="163159"/>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14</a:t>
            </a:r>
            <a:endParaRPr lang="id-ID" sz="625"/>
          </a:p>
        </p:txBody>
      </p:sp>
      <p:sp>
        <p:nvSpPr>
          <p:cNvPr id="500" name="T"/>
          <p:cNvSpPr txBox="1"/>
          <p:nvPr/>
        </p:nvSpPr>
        <p:spPr>
          <a:xfrm>
            <a:off x="5374644" y="5065958"/>
            <a:ext cx="480000" cy="163159"/>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25"/>
          </a:p>
        </p:txBody>
      </p:sp>
      <p:sp>
        <p:nvSpPr>
          <p:cNvPr id="501" name="K"/>
          <p:cNvSpPr/>
          <p:nvPr/>
        </p:nvSpPr>
        <p:spPr>
          <a:xfrm>
            <a:off x="5964742" y="5065958"/>
            <a:ext cx="1155436" cy="163159"/>
          </a:xfrm>
          <a:prstGeom prst="roundRect">
            <a:avLst>
              <a:gd name="adj" fmla="val 50000"/>
            </a:avLst>
          </a:prstGeom>
          <a:solidFill>
            <a:srgbClr val="FBE7D6"/>
          </a:solidFill>
          <a:ln>
            <a:noFill/>
          </a:ln>
        </p:spPr>
      </p:sp>
      <p:pic>
        <p:nvPicPr>
          <p:cNvPr id="502" name="G"/>
          <p:cNvPicPr>
            <a:picLocks noChangeAspect="1"/>
          </p:cNvPicPr>
          <p:nvPr/>
        </p:nvPicPr>
        <p:blipFill>
          <a:blip r:embed="rIdM4"/>
          <a:stretch>
            <a:fillRect/>
          </a:stretch>
        </p:blipFill>
        <p:spPr>
          <a:xfrm>
            <a:off x="6037894" y="5096958"/>
            <a:ext cx="101158" cy="101158"/>
          </a:xfrm>
          <a:prstGeom prst="rect">
            <a:avLst/>
          </a:prstGeom>
        </p:spPr>
      </p:pic>
      <p:sp>
        <p:nvSpPr>
          <p:cNvPr id="503" name="T"/>
          <p:cNvSpPr txBox="1"/>
          <p:nvPr/>
        </p:nvSpPr>
        <p:spPr>
          <a:xfrm>
            <a:off x="6211630" y="5065958"/>
            <a:ext cx="26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25"/>
          </a:p>
        </p:txBody>
      </p:sp>
      <p:sp>
        <p:nvSpPr>
          <p:cNvPr id="504" name="T"/>
          <p:cNvSpPr txBox="1"/>
          <p:nvPr/>
        </p:nvSpPr>
        <p:spPr>
          <a:xfrm>
            <a:off x="6481630" y="5065958"/>
            <a:ext cx="420000" cy="163159"/>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23</a:t>
            </a:r>
            <a:endParaRPr lang="id-ID" sz="625"/>
          </a:p>
        </p:txBody>
      </p:sp>
      <p:sp>
        <p:nvSpPr>
          <p:cNvPr id="505" name="T"/>
          <p:cNvSpPr txBox="1"/>
          <p:nvPr/>
        </p:nvSpPr>
        <p:spPr>
          <a:xfrm>
            <a:off x="6920380" y="5065958"/>
            <a:ext cx="18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25"/>
          </a:p>
        </p:txBody>
      </p:sp>
      <p:cxnSp>
        <p:nvCxnSpPr>
          <p:cNvPr id="506" name="L"/>
          <p:cNvCxnSpPr/>
          <p:nvPr/>
        </p:nvCxnSpPr>
        <p:spPr>
          <a:xfrm>
            <a:off x="676656" y="5271143"/>
            <a:ext cx="6464808" cy="0"/>
          </a:xfrm>
          <a:prstGeom prst="line">
            <a:avLst/>
          </a:prstGeom>
          <a:ln w="9525">
            <a:solidFill>
              <a:srgbClr val="EEF0F3"/>
            </a:solidFill>
          </a:ln>
        </p:spPr>
      </p:cxnSp>
      <p:sp>
        <p:nvSpPr>
          <p:cNvPr id="507" name="K"/>
          <p:cNvSpPr/>
          <p:nvPr/>
        </p:nvSpPr>
        <p:spPr>
          <a:xfrm>
            <a:off x="676656" y="5320585"/>
            <a:ext cx="148326" cy="148326"/>
          </a:xfrm>
          <a:prstGeom prst="ellipse">
            <a:avLst/>
          </a:prstGeom>
          <a:solidFill>
            <a:srgbClr val="D9600B"/>
          </a:solidFill>
          <a:ln>
            <a:noFill/>
          </a:ln>
        </p:spPr>
      </p:sp>
      <p:pic>
        <p:nvPicPr>
          <p:cNvPr id="508" name="G"/>
          <p:cNvPicPr>
            <a:picLocks noChangeAspect="1"/>
          </p:cNvPicPr>
          <p:nvPr/>
        </p:nvPicPr>
        <p:blipFill>
          <a:blip r:embed="rIdM2"/>
          <a:stretch>
            <a:fillRect/>
          </a:stretch>
        </p:blipFill>
        <p:spPr>
          <a:xfrm>
            <a:off x="703354" y="5347284"/>
            <a:ext cx="94928" cy="94928"/>
          </a:xfrm>
          <a:prstGeom prst="rect">
            <a:avLst/>
          </a:prstGeom>
        </p:spPr>
      </p:pic>
      <p:sp>
        <p:nvSpPr>
          <p:cNvPr id="509" name="T"/>
          <p:cNvSpPr txBox="1"/>
          <p:nvPr/>
        </p:nvSpPr>
        <p:spPr>
          <a:xfrm>
            <a:off x="990000" y="5271143"/>
            <a:ext cx="2073240" cy="247211"/>
          </a:xfrm>
          <a:prstGeom prst="rect">
            <a:avLst/>
          </a:prstGeom>
          <a:noFill/>
        </p:spPr>
        <p:txBody>
          <a:bodyPr wrap="none" lIns="0" tIns="0" rIns="0" bIns="0" anchor="ctr"/>
          <a:lstStyle/>
          <a:p>
            <a:pPr algn="l">
              <a:buNone/>
            </a:pPr>
            <a:r>
              <a:rPr lang="id-ID" sz="756" b="1" dirty="0">
                <a:solidFill>
                  <a:srgbClr val="1A1A1A"/>
                </a:solidFill>
                <a:latin typeface="Roboto"/>
                <a:ea typeface="Roboto"/>
                <a:cs typeface="Roboto"/>
              </a:rPr>
              <a:t>Jambi</a:t>
            </a:r>
            <a:endParaRPr lang="id-ID" sz="756"/>
          </a:p>
        </p:txBody>
      </p:sp>
      <p:sp>
        <p:nvSpPr>
          <p:cNvPr id="510" name="T"/>
          <p:cNvSpPr txBox="1"/>
          <p:nvPr/>
        </p:nvSpPr>
        <p:spPr>
          <a:xfrm>
            <a:off x="3291840" y="5271143"/>
            <a:ext cx="820000" cy="247211"/>
          </a:xfrm>
          <a:prstGeom prst="rect">
            <a:avLst/>
          </a:prstGeom>
          <a:noFill/>
        </p:spPr>
        <p:txBody>
          <a:bodyPr wrap="none" lIns="0" tIns="0" rIns="0" bIns="0" anchor="ctr"/>
          <a:lstStyle/>
          <a:p>
            <a:pPr algn="r">
              <a:buNone/>
            </a:pPr>
            <a:r>
              <a:rPr lang="id-ID" sz="740" b="1" dirty="0">
                <a:solidFill>
                  <a:srgbClr val="1A1A1A"/>
                </a:solidFill>
                <a:latin typeface="Roboto"/>
                <a:ea typeface="Roboto"/>
                <a:cs typeface="Roboto"/>
              </a:rPr>
              <a:t>± 35.248</a:t>
            </a:r>
            <a:endParaRPr lang="id-ID" sz="740"/>
          </a:p>
        </p:txBody>
      </p:sp>
      <p:sp>
        <p:nvSpPr>
          <p:cNvPr id="511" name="T"/>
          <p:cNvSpPr txBox="1"/>
          <p:nvPr/>
        </p:nvSpPr>
        <p:spPr>
          <a:xfrm>
            <a:off x="4134040" y="5271143"/>
            <a:ext cx="900000" cy="247211"/>
          </a:xfrm>
          <a:prstGeom prst="rect">
            <a:avLst/>
          </a:prstGeom>
          <a:noFill/>
        </p:spPr>
        <p:txBody>
          <a:bodyPr wrap="none" lIns="0" tIns="0" rIns="0" bIns="0" anchor="ctr"/>
          <a:lstStyle/>
          <a:p>
            <a:pPr algn="l">
              <a:buNone/>
            </a:pPr>
            <a:r>
              <a:rPr lang="id-ID" sz="740" b="1" dirty="0">
                <a:solidFill>
                  <a:srgbClr val="1A1A1A"/>
                </a:solidFill>
                <a:latin typeface="Roboto"/>
                <a:ea typeface="Roboto"/>
                <a:cs typeface="Roboto"/>
              </a:rPr>
              <a:t>ha</a:t>
            </a:r>
            <a:endParaRPr lang="id-ID" sz="740"/>
          </a:p>
        </p:txBody>
      </p:sp>
      <p:sp>
        <p:nvSpPr>
          <p:cNvPr id="512" name="K"/>
          <p:cNvSpPr/>
          <p:nvPr/>
        </p:nvSpPr>
        <p:spPr>
          <a:xfrm>
            <a:off x="4739006" y="5313169"/>
            <a:ext cx="1152584" cy="163159"/>
          </a:xfrm>
          <a:prstGeom prst="roundRect">
            <a:avLst>
              <a:gd name="adj" fmla="val 50000"/>
            </a:avLst>
          </a:prstGeom>
          <a:solidFill>
            <a:srgbClr val="E6EAF0"/>
          </a:solidFill>
          <a:ln>
            <a:noFill/>
          </a:ln>
        </p:spPr>
      </p:sp>
      <p:pic>
        <p:nvPicPr>
          <p:cNvPr id="513" name="G"/>
          <p:cNvPicPr>
            <a:picLocks noChangeAspect="1"/>
          </p:cNvPicPr>
          <p:nvPr/>
        </p:nvPicPr>
        <p:blipFill>
          <a:blip r:embed="rIdM3"/>
          <a:stretch>
            <a:fillRect/>
          </a:stretch>
        </p:blipFill>
        <p:spPr>
          <a:xfrm>
            <a:off x="4812158" y="5344169"/>
            <a:ext cx="101158" cy="101158"/>
          </a:xfrm>
          <a:prstGeom prst="rect">
            <a:avLst/>
          </a:prstGeom>
        </p:spPr>
      </p:pic>
      <p:sp>
        <p:nvSpPr>
          <p:cNvPr id="514" name="T"/>
          <p:cNvSpPr txBox="1"/>
          <p:nvPr/>
        </p:nvSpPr>
        <p:spPr>
          <a:xfrm>
            <a:off x="4995894" y="5313169"/>
            <a:ext cx="360000" cy="163159"/>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19</a:t>
            </a:r>
            <a:endParaRPr lang="id-ID" sz="625"/>
          </a:p>
        </p:txBody>
      </p:sp>
      <p:sp>
        <p:nvSpPr>
          <p:cNvPr id="515" name="T"/>
          <p:cNvSpPr txBox="1"/>
          <p:nvPr/>
        </p:nvSpPr>
        <p:spPr>
          <a:xfrm>
            <a:off x="5374644" y="5313169"/>
            <a:ext cx="480000" cy="163159"/>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25"/>
          </a:p>
        </p:txBody>
      </p:sp>
      <p:sp>
        <p:nvSpPr>
          <p:cNvPr id="516" name="K"/>
          <p:cNvSpPr/>
          <p:nvPr/>
        </p:nvSpPr>
        <p:spPr>
          <a:xfrm>
            <a:off x="5964742" y="5313169"/>
            <a:ext cx="1155436" cy="163159"/>
          </a:xfrm>
          <a:prstGeom prst="roundRect">
            <a:avLst>
              <a:gd name="adj" fmla="val 50000"/>
            </a:avLst>
          </a:prstGeom>
          <a:solidFill>
            <a:srgbClr val="FBE7D6"/>
          </a:solidFill>
          <a:ln>
            <a:noFill/>
          </a:ln>
        </p:spPr>
      </p:sp>
      <p:pic>
        <p:nvPicPr>
          <p:cNvPr id="517" name="G"/>
          <p:cNvPicPr>
            <a:picLocks noChangeAspect="1"/>
          </p:cNvPicPr>
          <p:nvPr/>
        </p:nvPicPr>
        <p:blipFill>
          <a:blip r:embed="rIdM4"/>
          <a:stretch>
            <a:fillRect/>
          </a:stretch>
        </p:blipFill>
        <p:spPr>
          <a:xfrm>
            <a:off x="6037894" y="5344169"/>
            <a:ext cx="101158" cy="101158"/>
          </a:xfrm>
          <a:prstGeom prst="rect">
            <a:avLst/>
          </a:prstGeom>
        </p:spPr>
      </p:pic>
      <p:sp>
        <p:nvSpPr>
          <p:cNvPr id="518" name="T"/>
          <p:cNvSpPr txBox="1"/>
          <p:nvPr/>
        </p:nvSpPr>
        <p:spPr>
          <a:xfrm>
            <a:off x="6211630" y="5313169"/>
            <a:ext cx="26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25"/>
          </a:p>
        </p:txBody>
      </p:sp>
      <p:sp>
        <p:nvSpPr>
          <p:cNvPr id="519" name="T"/>
          <p:cNvSpPr txBox="1"/>
          <p:nvPr/>
        </p:nvSpPr>
        <p:spPr>
          <a:xfrm>
            <a:off x="6481630" y="5313169"/>
            <a:ext cx="420000" cy="163159"/>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0</a:t>
            </a:r>
            <a:endParaRPr lang="id-ID" sz="625"/>
          </a:p>
        </p:txBody>
      </p:sp>
      <p:sp>
        <p:nvSpPr>
          <p:cNvPr id="520" name="T"/>
          <p:cNvSpPr txBox="1"/>
          <p:nvPr/>
        </p:nvSpPr>
        <p:spPr>
          <a:xfrm>
            <a:off x="6920380" y="5313169"/>
            <a:ext cx="18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25"/>
          </a:p>
        </p:txBody>
      </p:sp>
      <p:cxnSp>
        <p:nvCxnSpPr>
          <p:cNvPr id="521" name="L"/>
          <p:cNvCxnSpPr/>
          <p:nvPr/>
        </p:nvCxnSpPr>
        <p:spPr>
          <a:xfrm>
            <a:off x="676656" y="5518354"/>
            <a:ext cx="6464808" cy="0"/>
          </a:xfrm>
          <a:prstGeom prst="line">
            <a:avLst/>
          </a:prstGeom>
          <a:ln w="9525">
            <a:solidFill>
              <a:srgbClr val="EEF0F3"/>
            </a:solidFill>
          </a:ln>
        </p:spPr>
      </p:cxnSp>
      <p:sp>
        <p:nvSpPr>
          <p:cNvPr id="522" name="K"/>
          <p:cNvSpPr/>
          <p:nvPr/>
        </p:nvSpPr>
        <p:spPr>
          <a:xfrm>
            <a:off x="676656" y="5567796"/>
            <a:ext cx="148326" cy="148326"/>
          </a:xfrm>
          <a:prstGeom prst="ellipse">
            <a:avLst/>
          </a:prstGeom>
          <a:solidFill>
            <a:srgbClr val="D9600B"/>
          </a:solidFill>
          <a:ln>
            <a:noFill/>
          </a:ln>
        </p:spPr>
      </p:sp>
      <p:pic>
        <p:nvPicPr>
          <p:cNvPr id="523" name="G"/>
          <p:cNvPicPr>
            <a:picLocks noChangeAspect="1"/>
          </p:cNvPicPr>
          <p:nvPr/>
        </p:nvPicPr>
        <p:blipFill>
          <a:blip r:embed="rIdM2"/>
          <a:stretch>
            <a:fillRect/>
          </a:stretch>
        </p:blipFill>
        <p:spPr>
          <a:xfrm>
            <a:off x="703354" y="5594495"/>
            <a:ext cx="94928" cy="94928"/>
          </a:xfrm>
          <a:prstGeom prst="rect">
            <a:avLst/>
          </a:prstGeom>
        </p:spPr>
      </p:pic>
      <p:sp>
        <p:nvSpPr>
          <p:cNvPr id="524" name="T"/>
          <p:cNvSpPr txBox="1"/>
          <p:nvPr/>
        </p:nvSpPr>
        <p:spPr>
          <a:xfrm>
            <a:off x="990000" y="5518354"/>
            <a:ext cx="2073240" cy="247211"/>
          </a:xfrm>
          <a:prstGeom prst="rect">
            <a:avLst/>
          </a:prstGeom>
          <a:noFill/>
        </p:spPr>
        <p:txBody>
          <a:bodyPr wrap="none" lIns="0" tIns="0" rIns="0" bIns="0" anchor="ctr"/>
          <a:lstStyle/>
          <a:p>
            <a:pPr algn="l">
              <a:buNone/>
            </a:pPr>
            <a:r>
              <a:rPr lang="id-ID" sz="756" b="1" dirty="0">
                <a:solidFill>
                  <a:srgbClr val="1A1A1A"/>
                </a:solidFill>
                <a:latin typeface="Roboto"/>
                <a:ea typeface="Roboto"/>
                <a:cs typeface="Roboto"/>
              </a:rPr>
              <a:t>Sumatera Selatan</a:t>
            </a:r>
            <a:endParaRPr lang="id-ID" sz="756"/>
          </a:p>
        </p:txBody>
      </p:sp>
      <p:sp>
        <p:nvSpPr>
          <p:cNvPr id="525" name="T"/>
          <p:cNvSpPr txBox="1"/>
          <p:nvPr/>
        </p:nvSpPr>
        <p:spPr>
          <a:xfrm>
            <a:off x="3291840" y="5518354"/>
            <a:ext cx="820000" cy="247211"/>
          </a:xfrm>
          <a:prstGeom prst="rect">
            <a:avLst/>
          </a:prstGeom>
          <a:noFill/>
        </p:spPr>
        <p:txBody>
          <a:bodyPr wrap="none" lIns="0" tIns="0" rIns="0" bIns="0" anchor="ctr"/>
          <a:lstStyle/>
          <a:p>
            <a:pPr algn="r">
              <a:buNone/>
            </a:pPr>
            <a:r>
              <a:rPr lang="id-ID" sz="740" b="1" dirty="0">
                <a:solidFill>
                  <a:srgbClr val="1A1A1A"/>
                </a:solidFill>
                <a:latin typeface="Roboto"/>
                <a:ea typeface="Roboto"/>
                <a:cs typeface="Roboto"/>
              </a:rPr>
              <a:t>± 212.838</a:t>
            </a:r>
            <a:endParaRPr lang="id-ID" sz="740"/>
          </a:p>
        </p:txBody>
      </p:sp>
      <p:sp>
        <p:nvSpPr>
          <p:cNvPr id="526" name="T"/>
          <p:cNvSpPr txBox="1"/>
          <p:nvPr/>
        </p:nvSpPr>
        <p:spPr>
          <a:xfrm>
            <a:off x="4134040" y="5518354"/>
            <a:ext cx="900000" cy="247211"/>
          </a:xfrm>
          <a:prstGeom prst="rect">
            <a:avLst/>
          </a:prstGeom>
          <a:noFill/>
        </p:spPr>
        <p:txBody>
          <a:bodyPr wrap="none" lIns="0" tIns="0" rIns="0" bIns="0" anchor="ctr"/>
          <a:lstStyle/>
          <a:p>
            <a:pPr algn="l">
              <a:buNone/>
            </a:pPr>
            <a:r>
              <a:rPr lang="id-ID" sz="740" b="1" dirty="0">
                <a:solidFill>
                  <a:srgbClr val="1A1A1A"/>
                </a:solidFill>
                <a:latin typeface="Roboto"/>
                <a:ea typeface="Roboto"/>
                <a:cs typeface="Roboto"/>
              </a:rPr>
              <a:t>ha</a:t>
            </a:r>
            <a:endParaRPr lang="id-ID" sz="740"/>
          </a:p>
        </p:txBody>
      </p:sp>
      <p:sp>
        <p:nvSpPr>
          <p:cNvPr id="527" name="K"/>
          <p:cNvSpPr/>
          <p:nvPr/>
        </p:nvSpPr>
        <p:spPr>
          <a:xfrm>
            <a:off x="4739006" y="5560380"/>
            <a:ext cx="1152584" cy="163159"/>
          </a:xfrm>
          <a:prstGeom prst="roundRect">
            <a:avLst>
              <a:gd name="adj" fmla="val 50000"/>
            </a:avLst>
          </a:prstGeom>
          <a:solidFill>
            <a:srgbClr val="E6EAF0"/>
          </a:solidFill>
          <a:ln>
            <a:noFill/>
          </a:ln>
        </p:spPr>
      </p:sp>
      <p:pic>
        <p:nvPicPr>
          <p:cNvPr id="528" name="G"/>
          <p:cNvPicPr>
            <a:picLocks noChangeAspect="1"/>
          </p:cNvPicPr>
          <p:nvPr/>
        </p:nvPicPr>
        <p:blipFill>
          <a:blip r:embed="rIdM3"/>
          <a:stretch>
            <a:fillRect/>
          </a:stretch>
        </p:blipFill>
        <p:spPr>
          <a:xfrm>
            <a:off x="4812158" y="5591380"/>
            <a:ext cx="101158" cy="101158"/>
          </a:xfrm>
          <a:prstGeom prst="rect">
            <a:avLst/>
          </a:prstGeom>
        </p:spPr>
      </p:pic>
      <p:sp>
        <p:nvSpPr>
          <p:cNvPr id="529" name="T"/>
          <p:cNvSpPr txBox="1"/>
          <p:nvPr/>
        </p:nvSpPr>
        <p:spPr>
          <a:xfrm>
            <a:off x="4995894" y="5560380"/>
            <a:ext cx="360000" cy="163159"/>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20</a:t>
            </a:r>
            <a:endParaRPr lang="id-ID" sz="625"/>
          </a:p>
        </p:txBody>
      </p:sp>
      <p:sp>
        <p:nvSpPr>
          <p:cNvPr id="530" name="T"/>
          <p:cNvSpPr txBox="1"/>
          <p:nvPr/>
        </p:nvSpPr>
        <p:spPr>
          <a:xfrm>
            <a:off x="5374644" y="5560380"/>
            <a:ext cx="480000" cy="163159"/>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25"/>
          </a:p>
        </p:txBody>
      </p:sp>
      <p:sp>
        <p:nvSpPr>
          <p:cNvPr id="531" name="K"/>
          <p:cNvSpPr/>
          <p:nvPr/>
        </p:nvSpPr>
        <p:spPr>
          <a:xfrm>
            <a:off x="5964742" y="5560380"/>
            <a:ext cx="1155436" cy="163159"/>
          </a:xfrm>
          <a:prstGeom prst="roundRect">
            <a:avLst>
              <a:gd name="adj" fmla="val 50000"/>
            </a:avLst>
          </a:prstGeom>
          <a:solidFill>
            <a:srgbClr val="FBE7D6"/>
          </a:solidFill>
          <a:ln>
            <a:noFill/>
          </a:ln>
        </p:spPr>
      </p:sp>
      <p:pic>
        <p:nvPicPr>
          <p:cNvPr id="532" name="G"/>
          <p:cNvPicPr>
            <a:picLocks noChangeAspect="1"/>
          </p:cNvPicPr>
          <p:nvPr/>
        </p:nvPicPr>
        <p:blipFill>
          <a:blip r:embed="rIdM4"/>
          <a:stretch>
            <a:fillRect/>
          </a:stretch>
        </p:blipFill>
        <p:spPr>
          <a:xfrm>
            <a:off x="6037894" y="5591380"/>
            <a:ext cx="101158" cy="101158"/>
          </a:xfrm>
          <a:prstGeom prst="rect">
            <a:avLst/>
          </a:prstGeom>
        </p:spPr>
      </p:pic>
      <p:sp>
        <p:nvSpPr>
          <p:cNvPr id="533" name="T"/>
          <p:cNvSpPr txBox="1"/>
          <p:nvPr/>
        </p:nvSpPr>
        <p:spPr>
          <a:xfrm>
            <a:off x="6211630" y="5560380"/>
            <a:ext cx="899404"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69 ha baru 30 Okt</a:t>
            </a:r>
            <a:endParaRPr lang="id-ID" sz="625"/>
          </a:p>
        </p:txBody>
      </p:sp>
      <p:cxnSp>
        <p:nvCxnSpPr>
          <p:cNvPr id="534" name="L"/>
          <p:cNvCxnSpPr/>
          <p:nvPr/>
        </p:nvCxnSpPr>
        <p:spPr>
          <a:xfrm>
            <a:off x="676656" y="5765565"/>
            <a:ext cx="6464808" cy="0"/>
          </a:xfrm>
          <a:prstGeom prst="line">
            <a:avLst/>
          </a:prstGeom>
          <a:ln w="9525">
            <a:solidFill>
              <a:srgbClr val="EEF0F3"/>
            </a:solidFill>
          </a:ln>
        </p:spPr>
      </p:cxnSp>
      <p:sp>
        <p:nvSpPr>
          <p:cNvPr id="535" name="K"/>
          <p:cNvSpPr/>
          <p:nvPr/>
        </p:nvSpPr>
        <p:spPr>
          <a:xfrm>
            <a:off x="676656" y="5815007"/>
            <a:ext cx="148326" cy="148326"/>
          </a:xfrm>
          <a:prstGeom prst="ellipse">
            <a:avLst/>
          </a:prstGeom>
          <a:solidFill>
            <a:srgbClr val="051C2C"/>
          </a:solidFill>
          <a:ln>
            <a:noFill/>
          </a:ln>
        </p:spPr>
      </p:sp>
      <p:pic>
        <p:nvPicPr>
          <p:cNvPr id="536" name="G"/>
          <p:cNvPicPr>
            <a:picLocks noChangeAspect="1"/>
          </p:cNvPicPr>
          <p:nvPr/>
        </p:nvPicPr>
        <p:blipFill>
          <a:blip r:embed="rIdM5"/>
          <a:stretch>
            <a:fillRect/>
          </a:stretch>
        </p:blipFill>
        <p:spPr>
          <a:xfrm>
            <a:off x="703354" y="5841706"/>
            <a:ext cx="94928" cy="94928"/>
          </a:xfrm>
          <a:prstGeom prst="rect">
            <a:avLst/>
          </a:prstGeom>
        </p:spPr>
      </p:pic>
      <p:sp>
        <p:nvSpPr>
          <p:cNvPr id="537" name="T"/>
          <p:cNvSpPr txBox="1"/>
          <p:nvPr/>
        </p:nvSpPr>
        <p:spPr>
          <a:xfrm>
            <a:off x="990000" y="5765565"/>
            <a:ext cx="2073240" cy="247211"/>
          </a:xfrm>
          <a:prstGeom prst="rect">
            <a:avLst/>
          </a:prstGeom>
          <a:noFill/>
        </p:spPr>
        <p:txBody>
          <a:bodyPr wrap="none" lIns="0" tIns="0" rIns="0" bIns="0" anchor="ctr"/>
          <a:lstStyle/>
          <a:p>
            <a:pPr algn="l">
              <a:buNone/>
            </a:pPr>
            <a:r>
              <a:rPr lang="id-ID" sz="756" b="1" dirty="0">
                <a:solidFill>
                  <a:srgbClr val="1A1A1A"/>
                </a:solidFill>
                <a:latin typeface="Roboto"/>
                <a:ea typeface="Roboto"/>
                <a:cs typeface="Roboto"/>
              </a:rPr>
              <a:t>Riau</a:t>
            </a:r>
            <a:endParaRPr lang="id-ID" sz="756"/>
          </a:p>
        </p:txBody>
      </p:sp>
      <p:sp>
        <p:nvSpPr>
          <p:cNvPr id="538" name="T"/>
          <p:cNvSpPr txBox="1"/>
          <p:nvPr/>
        </p:nvSpPr>
        <p:spPr>
          <a:xfrm>
            <a:off x="3291840" y="5765565"/>
            <a:ext cx="820000" cy="247211"/>
          </a:xfrm>
          <a:prstGeom prst="rect">
            <a:avLst/>
          </a:prstGeom>
          <a:noFill/>
        </p:spPr>
        <p:txBody>
          <a:bodyPr wrap="none" lIns="0" tIns="0" rIns="0" bIns="0" anchor="ctr"/>
          <a:lstStyle/>
          <a:p>
            <a:pPr algn="r">
              <a:buNone/>
            </a:pPr>
            <a:r>
              <a:rPr lang="id-ID" sz="740" b="1" dirty="0">
                <a:solidFill>
                  <a:srgbClr val="1A1A1A"/>
                </a:solidFill>
                <a:latin typeface="Roboto"/>
                <a:ea typeface="Roboto"/>
                <a:cs typeface="Roboto"/>
              </a:rPr>
              <a:t>± 26.945</a:t>
            </a:r>
            <a:endParaRPr lang="id-ID" sz="740"/>
          </a:p>
        </p:txBody>
      </p:sp>
      <p:sp>
        <p:nvSpPr>
          <p:cNvPr id="539" name="T"/>
          <p:cNvSpPr txBox="1"/>
          <p:nvPr/>
        </p:nvSpPr>
        <p:spPr>
          <a:xfrm>
            <a:off x="4134040" y="5765565"/>
            <a:ext cx="900000" cy="247211"/>
          </a:xfrm>
          <a:prstGeom prst="rect">
            <a:avLst/>
          </a:prstGeom>
          <a:noFill/>
        </p:spPr>
        <p:txBody>
          <a:bodyPr wrap="none" lIns="0" tIns="0" rIns="0" bIns="0" anchor="ctr"/>
          <a:lstStyle/>
          <a:p>
            <a:pPr algn="l">
              <a:buNone/>
            </a:pPr>
            <a:r>
              <a:rPr lang="id-ID" sz="740" b="1" dirty="0">
                <a:solidFill>
                  <a:srgbClr val="1A1A1A"/>
                </a:solidFill>
                <a:latin typeface="Roboto"/>
                <a:ea typeface="Roboto"/>
                <a:cs typeface="Roboto"/>
              </a:rPr>
              <a:t>ha</a:t>
            </a:r>
            <a:endParaRPr lang="id-ID" sz="740"/>
          </a:p>
        </p:txBody>
      </p:sp>
      <p:cxnSp>
        <p:nvCxnSpPr>
          <p:cNvPr id="540" name="L"/>
          <p:cNvCxnSpPr/>
          <p:nvPr/>
        </p:nvCxnSpPr>
        <p:spPr>
          <a:xfrm>
            <a:off x="676656" y="6012776"/>
            <a:ext cx="6464808" cy="0"/>
          </a:xfrm>
          <a:prstGeom prst="line">
            <a:avLst/>
          </a:prstGeom>
          <a:ln w="9525">
            <a:solidFill>
              <a:srgbClr val="EEF0F3"/>
            </a:solidFill>
          </a:ln>
        </p:spPr>
      </p:cxnSp>
      <p:sp>
        <p:nvSpPr>
          <p:cNvPr id="541" name="K"/>
          <p:cNvSpPr/>
          <p:nvPr/>
        </p:nvSpPr>
        <p:spPr>
          <a:xfrm>
            <a:off x="676656" y="6062218"/>
            <a:ext cx="148326" cy="148326"/>
          </a:xfrm>
          <a:prstGeom prst="ellipse">
            <a:avLst/>
          </a:prstGeom>
          <a:solidFill>
            <a:srgbClr val="051C2C"/>
          </a:solidFill>
          <a:ln>
            <a:noFill/>
          </a:ln>
        </p:spPr>
      </p:sp>
      <p:pic>
        <p:nvPicPr>
          <p:cNvPr id="542" name="G"/>
          <p:cNvPicPr>
            <a:picLocks noChangeAspect="1"/>
          </p:cNvPicPr>
          <p:nvPr/>
        </p:nvPicPr>
        <p:blipFill>
          <a:blip r:embed="rIdM5"/>
          <a:stretch>
            <a:fillRect/>
          </a:stretch>
        </p:blipFill>
        <p:spPr>
          <a:xfrm>
            <a:off x="703354" y="6088917"/>
            <a:ext cx="94928" cy="94928"/>
          </a:xfrm>
          <a:prstGeom prst="rect">
            <a:avLst/>
          </a:prstGeom>
        </p:spPr>
      </p:pic>
      <p:sp>
        <p:nvSpPr>
          <p:cNvPr id="543" name="T"/>
          <p:cNvSpPr txBox="1"/>
          <p:nvPr/>
        </p:nvSpPr>
        <p:spPr>
          <a:xfrm>
            <a:off x="990000" y="6012776"/>
            <a:ext cx="2073240" cy="247211"/>
          </a:xfrm>
          <a:prstGeom prst="rect">
            <a:avLst/>
          </a:prstGeom>
          <a:noFill/>
        </p:spPr>
        <p:txBody>
          <a:bodyPr wrap="none" lIns="0" tIns="0" rIns="0" bIns="0" anchor="ctr"/>
          <a:lstStyle/>
          <a:p>
            <a:pPr algn="l">
              <a:buNone/>
            </a:pPr>
            <a:r>
              <a:rPr lang="id-ID" sz="756" b="1" dirty="0">
                <a:solidFill>
                  <a:srgbClr val="1A1A1A"/>
                </a:solidFill>
                <a:latin typeface="Roboto"/>
                <a:ea typeface="Roboto"/>
                <a:cs typeface="Roboto"/>
              </a:rPr>
              <a:t>Lampung</a:t>
            </a:r>
            <a:r>
              <a:rPr lang="id-ID" sz="756" dirty="0">
                <a:solidFill>
                  <a:srgbClr val="1A1A1A"/>
                </a:solidFill>
                <a:latin typeface="Roboto"/>
                <a:ea typeface="Roboto"/>
                <a:cs typeface="Roboto"/>
              </a:rPr>
              <a:t>, TN Way Kambas</a:t>
            </a:r>
            <a:endParaRPr lang="id-ID" sz="756"/>
          </a:p>
        </p:txBody>
      </p:sp>
      <p:sp>
        <p:nvSpPr>
          <p:cNvPr id="544" name="T"/>
          <p:cNvSpPr txBox="1"/>
          <p:nvPr/>
        </p:nvSpPr>
        <p:spPr>
          <a:xfrm>
            <a:off x="3291840" y="6012776"/>
            <a:ext cx="820000" cy="247211"/>
          </a:xfrm>
          <a:prstGeom prst="rect">
            <a:avLst/>
          </a:prstGeom>
          <a:noFill/>
        </p:spPr>
        <p:txBody>
          <a:bodyPr wrap="none" lIns="0" tIns="0" rIns="0" bIns="0" anchor="ctr"/>
          <a:lstStyle/>
          <a:p>
            <a:pPr algn="r">
              <a:buNone/>
            </a:pPr>
            <a:r>
              <a:rPr lang="id-ID" sz="740" b="1" dirty="0">
                <a:solidFill>
                  <a:srgbClr val="1A1A1A"/>
                </a:solidFill>
                <a:latin typeface="Roboto"/>
                <a:ea typeface="Roboto"/>
                <a:cs typeface="Roboto"/>
              </a:rPr>
              <a:t>± 2.306</a:t>
            </a:r>
            <a:endParaRPr lang="id-ID" sz="740"/>
          </a:p>
        </p:txBody>
      </p:sp>
      <p:sp>
        <p:nvSpPr>
          <p:cNvPr id="545" name="T"/>
          <p:cNvSpPr txBox="1"/>
          <p:nvPr/>
        </p:nvSpPr>
        <p:spPr>
          <a:xfrm>
            <a:off x="4134040" y="6012776"/>
            <a:ext cx="900000" cy="247211"/>
          </a:xfrm>
          <a:prstGeom prst="rect">
            <a:avLst/>
          </a:prstGeom>
          <a:noFill/>
        </p:spPr>
        <p:txBody>
          <a:bodyPr wrap="none" lIns="0" tIns="0" rIns="0" bIns="0" anchor="ctr"/>
          <a:lstStyle/>
          <a:p>
            <a:pPr algn="l">
              <a:buNone/>
            </a:pPr>
            <a:r>
              <a:rPr lang="id-ID" sz="740" b="1" dirty="0">
                <a:solidFill>
                  <a:srgbClr val="1A1A1A"/>
                </a:solidFill>
                <a:latin typeface="Roboto"/>
                <a:ea typeface="Roboto"/>
                <a:cs typeface="Roboto"/>
              </a:rPr>
              <a:t>ha</a:t>
            </a:r>
            <a:endParaRPr lang="id-ID" sz="740"/>
          </a:p>
        </p:txBody>
      </p:sp>
      <p:sp>
        <p:nvSpPr>
          <p:cNvPr id="829" name="K"/>
          <p:cNvSpPr/>
          <p:nvPr/>
        </p:nvSpPr>
        <p:spPr>
          <a:xfrm>
            <a:off x="7406640" y="1325880"/>
            <a:ext cx="4236415" cy="3008376"/>
          </a:xfrm>
          <a:prstGeom prst="roundRect">
            <a:avLst>
              <a:gd name="adj" fmla="val 4000"/>
            </a:avLst>
          </a:prstGeom>
          <a:solidFill>
            <a:srgbClr val="FFFFFF"/>
          </a:solidFill>
          <a:ln w="9525">
            <a:solidFill>
              <a:srgbClr val="BFC5CC"/>
            </a:solidFill>
          </a:ln>
        </p:spPr>
      </p:sp>
      <p:sp>
        <p:nvSpPr>
          <p:cNvPr id="830" name="K"/>
          <p:cNvSpPr/>
          <p:nvPr/>
        </p:nvSpPr>
        <p:spPr>
          <a:xfrm>
            <a:off x="7406640" y="1325880"/>
            <a:ext cx="4236415" cy="365760"/>
          </a:xfrm>
          <a:prstGeom prst="roundRect">
            <a:avLst>
              <a:gd name="adj" fmla="val 16000"/>
            </a:avLst>
          </a:prstGeom>
          <a:solidFill>
            <a:srgbClr val="E3EAF1"/>
          </a:solidFill>
          <a:ln>
            <a:noFill/>
          </a:ln>
        </p:spPr>
      </p:sp>
      <p:sp>
        <p:nvSpPr>
          <p:cNvPr id="831" name="K"/>
          <p:cNvSpPr/>
          <p:nvPr/>
        </p:nvSpPr>
        <p:spPr>
          <a:xfrm>
            <a:off x="7406640" y="1545336"/>
            <a:ext cx="4236415" cy="146304"/>
          </a:xfrm>
          <a:prstGeom prst="rect">
            <a:avLst/>
          </a:prstGeom>
          <a:solidFill>
            <a:srgbClr val="E3EAF1"/>
          </a:solidFill>
          <a:ln>
            <a:noFill/>
          </a:ln>
        </p:spPr>
      </p:sp>
      <p:sp>
        <p:nvSpPr>
          <p:cNvPr id="832" name="K"/>
          <p:cNvSpPr/>
          <p:nvPr/>
        </p:nvSpPr>
        <p:spPr>
          <a:xfrm>
            <a:off x="7534656" y="1362456"/>
            <a:ext cx="292608" cy="292608"/>
          </a:xfrm>
          <a:prstGeom prst="ellipse">
            <a:avLst/>
          </a:prstGeom>
          <a:solidFill>
            <a:srgbClr val="5B7A99"/>
          </a:solidFill>
          <a:ln>
            <a:noFill/>
          </a:ln>
        </p:spPr>
      </p:sp>
      <p:pic>
        <p:nvPicPr>
          <p:cNvPr id="833" name="G"/>
          <p:cNvPicPr>
            <a:picLocks noChangeAspect="1"/>
          </p:cNvPicPr>
          <p:nvPr/>
        </p:nvPicPr>
        <p:blipFill>
          <a:blip r:embed="rIdM17"/>
          <a:stretch>
            <a:fillRect/>
          </a:stretch>
        </p:blipFill>
        <p:spPr>
          <a:xfrm>
            <a:off x="7589520" y="1417320"/>
            <a:ext cx="182880" cy="182880"/>
          </a:xfrm>
          <a:prstGeom prst="rect">
            <a:avLst/>
          </a:prstGeom>
        </p:spPr>
      </p:pic>
      <p:sp>
        <p:nvSpPr>
          <p:cNvPr id="834" name="T"/>
          <p:cNvSpPr txBox="1"/>
          <p:nvPr/>
        </p:nvSpPr>
        <p:spPr>
          <a:xfrm>
            <a:off x="7909560" y="1325880"/>
            <a:ext cx="3136415" cy="365760"/>
          </a:xfrm>
          <a:prstGeom prst="rect">
            <a:avLst/>
          </a:prstGeom>
          <a:noFill/>
        </p:spPr>
        <p:txBody>
          <a:bodyPr wrap="square" lIns="0" tIns="0" rIns="0" bIns="0" anchor="ctr"/>
          <a:lstStyle/>
          <a:p>
            <a:pPr algn="l">
              <a:buNone/>
            </a:pPr>
            <a:r>
              <a:rPr lang="id-ID" sz="1100" b="1" dirty="0">
                <a:solidFill>
                  <a:srgbClr val="1A1A1A"/>
                </a:solidFill>
                <a:latin typeface="Roboto"/>
                <a:ea typeface="Roboto"/>
                <a:cs typeface="Roboto"/>
              </a:rPr>
              <a:t>Bencana lainnya</a:t>
            </a:r>
            <a:endParaRPr lang="id-ID" sz="1100"/>
          </a:p>
        </p:txBody>
      </p:sp>
      <p:sp>
        <p:nvSpPr>
          <p:cNvPr id="835" name="T"/>
          <p:cNvSpPr txBox="1"/>
          <p:nvPr/>
        </p:nvSpPr>
        <p:spPr>
          <a:xfrm>
            <a:off x="11002975" y="1325880"/>
            <a:ext cx="512064" cy="365760"/>
          </a:xfrm>
          <a:prstGeom prst="rect">
            <a:avLst/>
          </a:prstGeom>
          <a:noFill/>
        </p:spPr>
        <p:txBody>
          <a:bodyPr wrap="square" lIns="0" tIns="0" rIns="0" bIns="0" anchor="ctr"/>
          <a:lstStyle/>
          <a:p>
            <a:pPr algn="r">
              <a:buNone/>
            </a:pPr>
            <a:r>
              <a:rPr lang="id-ID" sz="1800" b="1" dirty="0">
                <a:solidFill>
                  <a:srgbClr val="5B7A99"/>
                </a:solidFill>
                <a:latin typeface="Roboto"/>
                <a:ea typeface="Roboto"/>
                <a:cs typeface="Roboto"/>
              </a:rPr>
              <a:t>8</a:t>
            </a:r>
            <a:endParaRPr lang="id-ID" sz="1800"/>
          </a:p>
        </p:txBody>
      </p:sp>
      <p:sp>
        <p:nvSpPr>
          <p:cNvPr id="672" name="K"/>
          <p:cNvSpPr/>
          <p:nvPr/>
        </p:nvSpPr>
        <p:spPr>
          <a:xfrm>
            <a:off x="7589520" y="1764792"/>
            <a:ext cx="128016" cy="128016"/>
          </a:xfrm>
          <a:prstGeom prst="ellipse">
            <a:avLst/>
          </a:prstGeom>
          <a:solidFill>
            <a:srgbClr val="5B7A99"/>
          </a:solidFill>
          <a:ln>
            <a:noFill/>
          </a:ln>
        </p:spPr>
      </p:sp>
      <p:pic>
        <p:nvPicPr>
          <p:cNvPr id="673" name="G"/>
          <p:cNvPicPr>
            <a:picLocks noChangeAspect="1"/>
          </p:cNvPicPr>
          <p:nvPr/>
        </p:nvPicPr>
        <p:blipFill>
          <a:blip r:embed="rIdM6"/>
          <a:stretch>
            <a:fillRect/>
          </a:stretch>
        </p:blipFill>
        <p:spPr>
          <a:xfrm>
            <a:off x="7616952" y="1792224"/>
            <a:ext cx="73152" cy="73152"/>
          </a:xfrm>
          <a:prstGeom prst="rect">
            <a:avLst/>
          </a:prstGeom>
        </p:spPr>
      </p:pic>
      <p:sp>
        <p:nvSpPr>
          <p:cNvPr id="674" name="T"/>
          <p:cNvSpPr txBox="1"/>
          <p:nvPr/>
        </p:nvSpPr>
        <p:spPr>
          <a:xfrm>
            <a:off x="7754112" y="1737360"/>
            <a:ext cx="480000" cy="182880"/>
          </a:xfrm>
          <a:prstGeom prst="rect">
            <a:avLst/>
          </a:prstGeom>
          <a:noFill/>
        </p:spPr>
        <p:txBody>
          <a:bodyPr wrap="none" lIns="0" tIns="0" rIns="0" bIns="0" anchor="ctr"/>
          <a:lstStyle/>
          <a:p>
            <a:pPr algn="l">
              <a:buNone/>
            </a:pPr>
            <a:r>
              <a:rPr lang="id-ID" sz="700" dirty="0">
                <a:solidFill>
                  <a:srgbClr val="2E3440"/>
                </a:solidFill>
                <a:latin typeface="Roboto"/>
                <a:ea typeface="Roboto"/>
                <a:cs typeface="Roboto"/>
              </a:rPr>
              <a:t>Gempa bumi</a:t>
            </a:r>
            <a:endParaRPr lang="id-ID" sz="700"/>
          </a:p>
        </p:txBody>
      </p:sp>
      <p:sp>
        <p:nvSpPr>
          <p:cNvPr id="675" name="K"/>
          <p:cNvSpPr/>
          <p:nvPr/>
        </p:nvSpPr>
        <p:spPr>
          <a:xfrm>
            <a:off x="8371272" y="1764792"/>
            <a:ext cx="128016" cy="128016"/>
          </a:xfrm>
          <a:prstGeom prst="ellipse">
            <a:avLst/>
          </a:prstGeom>
          <a:solidFill>
            <a:srgbClr val="2F6FB5"/>
          </a:solidFill>
          <a:ln>
            <a:noFill/>
          </a:ln>
        </p:spPr>
      </p:sp>
      <p:pic>
        <p:nvPicPr>
          <p:cNvPr id="676" name="G"/>
          <p:cNvPicPr>
            <a:picLocks noChangeAspect="1"/>
          </p:cNvPicPr>
          <p:nvPr/>
        </p:nvPicPr>
        <p:blipFill>
          <a:blip r:embed="rIdM11"/>
          <a:stretch>
            <a:fillRect/>
          </a:stretch>
        </p:blipFill>
        <p:spPr>
          <a:xfrm>
            <a:off x="8398704" y="1792224"/>
            <a:ext cx="73152" cy="73152"/>
          </a:xfrm>
          <a:prstGeom prst="rect">
            <a:avLst/>
          </a:prstGeom>
        </p:spPr>
      </p:pic>
      <p:sp>
        <p:nvSpPr>
          <p:cNvPr id="677" name="T"/>
          <p:cNvSpPr txBox="1"/>
          <p:nvPr/>
        </p:nvSpPr>
        <p:spPr>
          <a:xfrm>
            <a:off x="8535864" y="1737360"/>
            <a:ext cx="288000" cy="182880"/>
          </a:xfrm>
          <a:prstGeom prst="rect">
            <a:avLst/>
          </a:prstGeom>
          <a:noFill/>
        </p:spPr>
        <p:txBody>
          <a:bodyPr wrap="none" lIns="0" tIns="0" rIns="0" bIns="0" anchor="ctr"/>
          <a:lstStyle/>
          <a:p>
            <a:pPr algn="l">
              <a:buNone/>
            </a:pPr>
            <a:r>
              <a:rPr lang="id-ID" sz="700" dirty="0">
                <a:solidFill>
                  <a:srgbClr val="2E3440"/>
                </a:solidFill>
                <a:latin typeface="Roboto"/>
                <a:ea typeface="Roboto"/>
                <a:cs typeface="Roboto"/>
              </a:rPr>
              <a:t>Banjir</a:t>
            </a:r>
            <a:endParaRPr lang="id-ID" sz="700"/>
          </a:p>
        </p:txBody>
      </p:sp>
      <p:sp>
        <p:nvSpPr>
          <p:cNvPr id="678" name="K"/>
          <p:cNvSpPr/>
          <p:nvPr/>
        </p:nvSpPr>
        <p:spPr>
          <a:xfrm>
            <a:off x="8961024" y="1764792"/>
            <a:ext cx="128016" cy="128016"/>
          </a:xfrm>
          <a:prstGeom prst="ellipse">
            <a:avLst/>
          </a:prstGeom>
          <a:solidFill>
            <a:srgbClr val="0E7490"/>
          </a:solidFill>
          <a:ln>
            <a:noFill/>
          </a:ln>
        </p:spPr>
      </p:sp>
      <p:pic>
        <p:nvPicPr>
          <p:cNvPr id="679" name="G"/>
          <p:cNvPicPr>
            <a:picLocks noChangeAspect="1"/>
          </p:cNvPicPr>
          <p:nvPr/>
        </p:nvPicPr>
        <p:blipFill>
          <a:blip r:embed="rIdM15"/>
          <a:stretch>
            <a:fillRect/>
          </a:stretch>
        </p:blipFill>
        <p:spPr>
          <a:xfrm>
            <a:off x="8988456" y="1792224"/>
            <a:ext cx="73152" cy="73152"/>
          </a:xfrm>
          <a:prstGeom prst="rect">
            <a:avLst/>
          </a:prstGeom>
        </p:spPr>
      </p:pic>
      <p:sp>
        <p:nvSpPr>
          <p:cNvPr id="680" name="T"/>
          <p:cNvSpPr txBox="1"/>
          <p:nvPr/>
        </p:nvSpPr>
        <p:spPr>
          <a:xfrm>
            <a:off x="9125616" y="1737360"/>
            <a:ext cx="624000" cy="182880"/>
          </a:xfrm>
          <a:prstGeom prst="rect">
            <a:avLst/>
          </a:prstGeom>
          <a:noFill/>
        </p:spPr>
        <p:txBody>
          <a:bodyPr wrap="none" lIns="0" tIns="0" rIns="0" bIns="0" anchor="ctr"/>
          <a:lstStyle/>
          <a:p>
            <a:pPr algn="l">
              <a:buNone/>
            </a:pPr>
            <a:r>
              <a:rPr lang="id-ID" sz="700" dirty="0">
                <a:solidFill>
                  <a:srgbClr val="2E3440"/>
                </a:solidFill>
                <a:latin typeface="Roboto"/>
                <a:ea typeface="Roboto"/>
                <a:cs typeface="Roboto"/>
              </a:rPr>
              <a:t>Angin kencang</a:t>
            </a:r>
            <a:endParaRPr lang="id-ID" sz="700"/>
          </a:p>
        </p:txBody>
      </p:sp>
      <p:sp>
        <p:nvSpPr>
          <p:cNvPr id="681" name="K"/>
          <p:cNvSpPr/>
          <p:nvPr/>
        </p:nvSpPr>
        <p:spPr>
          <a:xfrm>
            <a:off x="7589520" y="1984248"/>
            <a:ext cx="146304" cy="146304"/>
          </a:xfrm>
          <a:prstGeom prst="ellipse">
            <a:avLst/>
          </a:prstGeom>
          <a:solidFill>
            <a:srgbClr val="D9600B"/>
          </a:solidFill>
          <a:ln>
            <a:noFill/>
          </a:ln>
        </p:spPr>
      </p:sp>
      <p:pic>
        <p:nvPicPr>
          <p:cNvPr id="682" name="G"/>
          <p:cNvPicPr>
            <a:picLocks noChangeAspect="1"/>
          </p:cNvPicPr>
          <p:nvPr/>
        </p:nvPicPr>
        <p:blipFill>
          <a:blip r:embed="rIdM2"/>
          <a:stretch>
            <a:fillRect/>
          </a:stretch>
        </p:blipFill>
        <p:spPr>
          <a:xfrm>
            <a:off x="7615854" y="2010582"/>
            <a:ext cx="93634" cy="93634"/>
          </a:xfrm>
          <a:prstGeom prst="rect">
            <a:avLst/>
          </a:prstGeom>
        </p:spPr>
      </p:pic>
      <p:sp>
        <p:nvSpPr>
          <p:cNvPr id="683" name="K"/>
          <p:cNvSpPr/>
          <p:nvPr/>
        </p:nvSpPr>
        <p:spPr>
          <a:xfrm>
            <a:off x="7772400" y="1984248"/>
            <a:ext cx="146304" cy="146304"/>
          </a:xfrm>
          <a:prstGeom prst="ellipse">
            <a:avLst/>
          </a:prstGeom>
          <a:solidFill>
            <a:srgbClr val="5B7A99"/>
          </a:solidFill>
          <a:ln>
            <a:noFill/>
          </a:ln>
        </p:spPr>
      </p:sp>
      <p:pic>
        <p:nvPicPr>
          <p:cNvPr id="684" name="G"/>
          <p:cNvPicPr>
            <a:picLocks noChangeAspect="1"/>
          </p:cNvPicPr>
          <p:nvPr/>
        </p:nvPicPr>
        <p:blipFill>
          <a:blip r:embed="rIdM6"/>
          <a:stretch>
            <a:fillRect/>
          </a:stretch>
        </p:blipFill>
        <p:spPr>
          <a:xfrm>
            <a:off x="7799832" y="2011680"/>
            <a:ext cx="91440" cy="91440"/>
          </a:xfrm>
          <a:prstGeom prst="rect">
            <a:avLst/>
          </a:prstGeom>
        </p:spPr>
      </p:pic>
      <p:sp>
        <p:nvSpPr>
          <p:cNvPr id="685" name="T"/>
          <p:cNvSpPr txBox="1"/>
          <p:nvPr/>
        </p:nvSpPr>
        <p:spPr>
          <a:xfrm>
            <a:off x="7971232" y="1965960"/>
            <a:ext cx="2286000" cy="182880"/>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Nusa Tenggara Timur</a:t>
            </a:r>
            <a:endParaRPr lang="id-ID" sz="760"/>
          </a:p>
        </p:txBody>
      </p:sp>
      <p:sp>
        <p:nvSpPr>
          <p:cNvPr id="695" name="K"/>
          <p:cNvSpPr/>
          <p:nvPr/>
        </p:nvSpPr>
        <p:spPr>
          <a:xfrm>
            <a:off x="10497642" y="1975104"/>
            <a:ext cx="962532" cy="164592"/>
          </a:xfrm>
          <a:prstGeom prst="roundRect">
            <a:avLst>
              <a:gd name="adj" fmla="val 50000"/>
            </a:avLst>
          </a:prstGeom>
          <a:solidFill>
            <a:srgbClr val="FBE7D6"/>
          </a:solidFill>
          <a:ln>
            <a:noFill/>
          </a:ln>
        </p:spPr>
      </p:sp>
      <p:pic>
        <p:nvPicPr>
          <p:cNvPr id="696" name="G"/>
          <p:cNvPicPr>
            <a:picLocks noChangeAspect="1"/>
          </p:cNvPicPr>
          <p:nvPr/>
        </p:nvPicPr>
        <p:blipFill>
          <a:blip r:embed="rIdM8"/>
          <a:stretch>
            <a:fillRect/>
          </a:stretch>
        </p:blipFill>
        <p:spPr>
          <a:xfrm>
            <a:off x="10555249" y="2008022"/>
            <a:ext cx="98755" cy="98755"/>
          </a:xfrm>
          <a:prstGeom prst="rect">
            <a:avLst/>
          </a:prstGeom>
        </p:spPr>
      </p:pic>
      <p:sp>
        <p:nvSpPr>
          <p:cNvPr id="697" name="T"/>
          <p:cNvSpPr txBox="1"/>
          <p:nvPr/>
        </p:nvSpPr>
        <p:spPr>
          <a:xfrm>
            <a:off x="10654004" y="1975104"/>
            <a:ext cx="806170" cy="164592"/>
          </a:xfrm>
          <a:prstGeom prst="rect">
            <a:avLst/>
          </a:prstGeom>
          <a:noFill/>
        </p:spPr>
        <p:txBody>
          <a:bodyPr wrap="none" lIns="0" tIns="0" rIns="0" bIns="0" anchor="ctr"/>
          <a:lstStyle/>
          <a:p>
            <a:pPr algn="ctr">
              <a:buNone/>
            </a:pPr>
            <a:r>
              <a:rPr lang="id-ID" sz="700" b="1" dirty="0">
                <a:solidFill>
                  <a:srgbClr val="D9600B"/>
                </a:solidFill>
                <a:latin typeface="Roboto"/>
                <a:ea typeface="Roboto"/>
                <a:cs typeface="Roboto"/>
              </a:rPr>
              <a:t>Dalam penanganan</a:t>
            </a:r>
            <a:endParaRPr lang="id-ID" sz="700"/>
          </a:p>
        </p:txBody>
      </p:sp>
      <p:sp>
        <p:nvSpPr>
          <p:cNvPr id="698" name="K"/>
          <p:cNvSpPr/>
          <p:nvPr/>
        </p:nvSpPr>
        <p:spPr>
          <a:xfrm>
            <a:off x="10758042" y="2167128"/>
            <a:ext cx="702132" cy="164592"/>
          </a:xfrm>
          <a:prstGeom prst="roundRect">
            <a:avLst>
              <a:gd name="adj" fmla="val 50000"/>
            </a:avLst>
          </a:prstGeom>
          <a:solidFill>
            <a:srgbClr val="F7F8FA"/>
          </a:solidFill>
          <a:ln>
            <a:noFill/>
          </a:ln>
        </p:spPr>
      </p:sp>
      <p:pic>
        <p:nvPicPr>
          <p:cNvPr id="699" name="G"/>
          <p:cNvPicPr>
            <a:picLocks noChangeAspect="1"/>
          </p:cNvPicPr>
          <p:nvPr/>
        </p:nvPicPr>
        <p:blipFill>
          <a:blip r:embed="rIdM10"/>
          <a:stretch>
            <a:fillRect/>
          </a:stretch>
        </p:blipFill>
        <p:spPr>
          <a:xfrm>
            <a:off x="10815649" y="2200046"/>
            <a:ext cx="98755" cy="98755"/>
          </a:xfrm>
          <a:prstGeom prst="rect">
            <a:avLst/>
          </a:prstGeom>
        </p:spPr>
      </p:pic>
      <p:sp>
        <p:nvSpPr>
          <p:cNvPr id="700" name="T"/>
          <p:cNvSpPr txBox="1"/>
          <p:nvPr/>
        </p:nvSpPr>
        <p:spPr>
          <a:xfrm>
            <a:off x="10914404" y="2167128"/>
            <a:ext cx="545770" cy="164592"/>
          </a:xfrm>
          <a:prstGeom prst="rect">
            <a:avLst/>
          </a:prstGeom>
          <a:noFill/>
        </p:spPr>
        <p:txBody>
          <a:bodyPr wrap="none" lIns="0" tIns="0" rIns="0" bIns="0" anchor="ctr"/>
          <a:lstStyle/>
          <a:p>
            <a:pPr algn="ctr">
              <a:buNone/>
            </a:pPr>
            <a:r>
              <a:rPr lang="id-ID" sz="700" b="1" dirty="0">
                <a:solidFill>
                  <a:srgbClr val="5B7A99"/>
                </a:solidFill>
                <a:latin typeface="Roboto"/>
                <a:ea typeface="Roboto"/>
                <a:cs typeface="Roboto"/>
              </a:rPr>
              <a:t>±17.707 KK</a:t>
            </a:r>
            <a:endParaRPr lang="id-ID" sz="700"/>
          </a:p>
        </p:txBody>
      </p:sp>
      <p:sp>
        <p:nvSpPr>
          <p:cNvPr id="701" name="K"/>
          <p:cNvSpPr/>
          <p:nvPr/>
        </p:nvSpPr>
        <p:spPr>
          <a:xfrm>
            <a:off x="9697245" y="2167128"/>
            <a:ext cx="1005932" cy="164592"/>
          </a:xfrm>
          <a:prstGeom prst="roundRect">
            <a:avLst>
              <a:gd name="adj" fmla="val 50000"/>
            </a:avLst>
          </a:prstGeom>
          <a:solidFill>
            <a:srgbClr val="F7F8FA"/>
          </a:solidFill>
          <a:ln>
            <a:noFill/>
          </a:ln>
        </p:spPr>
      </p:sp>
      <p:pic>
        <p:nvPicPr>
          <p:cNvPr id="702" name="G"/>
          <p:cNvPicPr>
            <a:picLocks noChangeAspect="1"/>
          </p:cNvPicPr>
          <p:nvPr/>
        </p:nvPicPr>
        <p:blipFill>
          <a:blip r:embed="rIdM9"/>
          <a:stretch>
            <a:fillRect/>
          </a:stretch>
        </p:blipFill>
        <p:spPr>
          <a:xfrm>
            <a:off x="9754852" y="2200046"/>
            <a:ext cx="98755" cy="98755"/>
          </a:xfrm>
          <a:prstGeom prst="rect">
            <a:avLst/>
          </a:prstGeom>
        </p:spPr>
      </p:pic>
      <p:sp>
        <p:nvSpPr>
          <p:cNvPr id="703" name="T"/>
          <p:cNvSpPr txBox="1"/>
          <p:nvPr/>
        </p:nvSpPr>
        <p:spPr>
          <a:xfrm>
            <a:off x="9853607" y="2167128"/>
            <a:ext cx="849570" cy="164592"/>
          </a:xfrm>
          <a:prstGeom prst="rect">
            <a:avLst/>
          </a:prstGeom>
          <a:noFill/>
        </p:spPr>
        <p:txBody>
          <a:bodyPr wrap="none" lIns="0" tIns="0" rIns="0" bIns="0" anchor="ctr"/>
          <a:lstStyle/>
          <a:p>
            <a:pPr algn="ctr">
              <a:buNone/>
            </a:pPr>
            <a:r>
              <a:rPr lang="id-ID" sz="700" b="1" dirty="0">
                <a:solidFill>
                  <a:srgbClr val="5B7A99"/>
                </a:solidFill>
                <a:latin typeface="Roboto"/>
                <a:ea typeface="Roboto"/>
                <a:cs typeface="Roboto"/>
              </a:rPr>
              <a:t>±27.307 mengungsi</a:t>
            </a:r>
            <a:endParaRPr lang="id-ID" sz="700"/>
          </a:p>
        </p:txBody>
      </p:sp>
      <p:sp>
        <p:nvSpPr>
          <p:cNvPr id="704" name="K"/>
          <p:cNvSpPr/>
          <p:nvPr/>
        </p:nvSpPr>
        <p:spPr>
          <a:xfrm>
            <a:off x="7589520" y="2368296"/>
            <a:ext cx="146304" cy="146304"/>
          </a:xfrm>
          <a:prstGeom prst="ellipse">
            <a:avLst/>
          </a:prstGeom>
          <a:solidFill>
            <a:srgbClr val="D9600B"/>
          </a:solidFill>
          <a:ln>
            <a:noFill/>
          </a:ln>
        </p:spPr>
      </p:sp>
      <p:pic>
        <p:nvPicPr>
          <p:cNvPr id="705" name="G"/>
          <p:cNvPicPr>
            <a:picLocks noChangeAspect="1"/>
          </p:cNvPicPr>
          <p:nvPr/>
        </p:nvPicPr>
        <p:blipFill>
          <a:blip r:embed="rIdM2"/>
          <a:stretch>
            <a:fillRect/>
          </a:stretch>
        </p:blipFill>
        <p:spPr>
          <a:xfrm>
            <a:off x="7615854" y="2394630"/>
            <a:ext cx="93634" cy="93634"/>
          </a:xfrm>
          <a:prstGeom prst="rect">
            <a:avLst/>
          </a:prstGeom>
        </p:spPr>
      </p:pic>
      <p:sp>
        <p:nvSpPr>
          <p:cNvPr id="706" name="K"/>
          <p:cNvSpPr/>
          <p:nvPr/>
        </p:nvSpPr>
        <p:spPr>
          <a:xfrm>
            <a:off x="7772400" y="2368296"/>
            <a:ext cx="146304" cy="146304"/>
          </a:xfrm>
          <a:prstGeom prst="ellipse">
            <a:avLst/>
          </a:prstGeom>
          <a:solidFill>
            <a:srgbClr val="2F6FB5"/>
          </a:solidFill>
          <a:ln>
            <a:noFill/>
          </a:ln>
        </p:spPr>
      </p:sp>
      <p:pic>
        <p:nvPicPr>
          <p:cNvPr id="707" name="G"/>
          <p:cNvPicPr>
            <a:picLocks noChangeAspect="1"/>
          </p:cNvPicPr>
          <p:nvPr/>
        </p:nvPicPr>
        <p:blipFill>
          <a:blip r:embed="rIdM11"/>
          <a:stretch>
            <a:fillRect/>
          </a:stretch>
        </p:blipFill>
        <p:spPr>
          <a:xfrm>
            <a:off x="7799832" y="2395728"/>
            <a:ext cx="91440" cy="91440"/>
          </a:xfrm>
          <a:prstGeom prst="rect">
            <a:avLst/>
          </a:prstGeom>
        </p:spPr>
      </p:pic>
      <p:sp>
        <p:nvSpPr>
          <p:cNvPr id="708" name="T"/>
          <p:cNvSpPr txBox="1"/>
          <p:nvPr/>
        </p:nvSpPr>
        <p:spPr>
          <a:xfrm>
            <a:off x="7971232" y="2350008"/>
            <a:ext cx="2286000" cy="182880"/>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Aceh</a:t>
            </a:r>
            <a:r>
              <a:rPr lang="id-ID" sz="760" dirty="0">
                <a:solidFill>
                  <a:srgbClr val="1A1A1A"/>
                </a:solidFill>
                <a:latin typeface="Roboto"/>
                <a:ea typeface="Roboto"/>
                <a:cs typeface="Roboto"/>
              </a:rPr>
              <a:t>, Aceh Selatan</a:t>
            </a:r>
            <a:endParaRPr lang="id-ID" sz="760"/>
          </a:p>
        </p:txBody>
      </p:sp>
      <p:sp>
        <p:nvSpPr>
          <p:cNvPr id="721" name="K"/>
          <p:cNvSpPr/>
          <p:nvPr/>
        </p:nvSpPr>
        <p:spPr>
          <a:xfrm>
            <a:off x="9846642" y="2359152"/>
            <a:ext cx="1613532" cy="164592"/>
          </a:xfrm>
          <a:prstGeom prst="roundRect">
            <a:avLst>
              <a:gd name="adj" fmla="val 50000"/>
            </a:avLst>
          </a:prstGeom>
          <a:solidFill>
            <a:srgbClr val="FBE7D6"/>
          </a:solidFill>
          <a:ln>
            <a:noFill/>
          </a:ln>
        </p:spPr>
      </p:sp>
      <p:pic>
        <p:nvPicPr>
          <p:cNvPr id="722" name="G"/>
          <p:cNvPicPr>
            <a:picLocks noChangeAspect="1"/>
          </p:cNvPicPr>
          <p:nvPr/>
        </p:nvPicPr>
        <p:blipFill>
          <a:blip r:embed="rIdM8"/>
          <a:stretch>
            <a:fillRect/>
          </a:stretch>
        </p:blipFill>
        <p:spPr>
          <a:xfrm>
            <a:off x="9904249" y="2392070"/>
            <a:ext cx="98755" cy="98755"/>
          </a:xfrm>
          <a:prstGeom prst="rect">
            <a:avLst/>
          </a:prstGeom>
        </p:spPr>
      </p:pic>
      <p:sp>
        <p:nvSpPr>
          <p:cNvPr id="723" name="T"/>
          <p:cNvSpPr txBox="1"/>
          <p:nvPr/>
        </p:nvSpPr>
        <p:spPr>
          <a:xfrm>
            <a:off x="10003004" y="2359152"/>
            <a:ext cx="1457170" cy="164592"/>
          </a:xfrm>
          <a:prstGeom prst="rect">
            <a:avLst/>
          </a:prstGeom>
          <a:noFill/>
        </p:spPr>
        <p:txBody>
          <a:bodyPr wrap="none" lIns="0" tIns="0" rIns="0" bIns="0" anchor="ctr"/>
          <a:lstStyle/>
          <a:p>
            <a:pPr algn="ctr">
              <a:buNone/>
            </a:pPr>
            <a:r>
              <a:rPr lang="id-ID" sz="700" b="1" dirty="0">
                <a:solidFill>
                  <a:srgbClr val="D9600B"/>
                </a:solidFill>
                <a:latin typeface="Roboto"/>
                <a:ea typeface="Roboto"/>
                <a:cs typeface="Roboto"/>
              </a:rPr>
              <a:t>Air terpantau sudah mulai surut</a:t>
            </a:r>
            <a:endParaRPr lang="id-ID" sz="700"/>
          </a:p>
        </p:txBody>
      </p:sp>
      <p:sp>
        <p:nvSpPr>
          <p:cNvPr id="724" name="K"/>
          <p:cNvSpPr/>
          <p:nvPr/>
        </p:nvSpPr>
        <p:spPr>
          <a:xfrm>
            <a:off x="10931642" y="2551176"/>
            <a:ext cx="528532" cy="164592"/>
          </a:xfrm>
          <a:prstGeom prst="roundRect">
            <a:avLst>
              <a:gd name="adj" fmla="val 50000"/>
            </a:avLst>
          </a:prstGeom>
          <a:solidFill>
            <a:srgbClr val="F7F8FA"/>
          </a:solidFill>
          <a:ln>
            <a:noFill/>
          </a:ln>
        </p:spPr>
      </p:sp>
      <p:pic>
        <p:nvPicPr>
          <p:cNvPr id="725" name="G"/>
          <p:cNvPicPr>
            <a:picLocks noChangeAspect="1"/>
          </p:cNvPicPr>
          <p:nvPr/>
        </p:nvPicPr>
        <p:blipFill>
          <a:blip r:embed="rIdM10"/>
          <a:stretch>
            <a:fillRect/>
          </a:stretch>
        </p:blipFill>
        <p:spPr>
          <a:xfrm>
            <a:off x="10989249" y="2584094"/>
            <a:ext cx="98755" cy="98755"/>
          </a:xfrm>
          <a:prstGeom prst="rect">
            <a:avLst/>
          </a:prstGeom>
        </p:spPr>
      </p:pic>
      <p:sp>
        <p:nvSpPr>
          <p:cNvPr id="726" name="T"/>
          <p:cNvSpPr txBox="1"/>
          <p:nvPr/>
        </p:nvSpPr>
        <p:spPr>
          <a:xfrm>
            <a:off x="11088004" y="2551176"/>
            <a:ext cx="372170" cy="164592"/>
          </a:xfrm>
          <a:prstGeom prst="rect">
            <a:avLst/>
          </a:prstGeom>
          <a:noFill/>
        </p:spPr>
        <p:txBody>
          <a:bodyPr wrap="none" lIns="0" tIns="0" rIns="0" bIns="0" anchor="ctr"/>
          <a:lstStyle/>
          <a:p>
            <a:pPr algn="ctr">
              <a:buNone/>
            </a:pPr>
            <a:r>
              <a:rPr lang="id-ID" sz="700" b="1" dirty="0">
                <a:solidFill>
                  <a:srgbClr val="5B7A99"/>
                </a:solidFill>
                <a:latin typeface="Roboto"/>
                <a:ea typeface="Roboto"/>
                <a:cs typeface="Roboto"/>
              </a:rPr>
              <a:t>±81 KK</a:t>
            </a:r>
            <a:endParaRPr lang="id-ID" sz="700"/>
          </a:p>
        </p:txBody>
      </p:sp>
      <p:sp>
        <p:nvSpPr>
          <p:cNvPr id="727" name="K"/>
          <p:cNvSpPr/>
          <p:nvPr/>
        </p:nvSpPr>
        <p:spPr>
          <a:xfrm>
            <a:off x="10218045" y="2551176"/>
            <a:ext cx="658732" cy="164592"/>
          </a:xfrm>
          <a:prstGeom prst="roundRect">
            <a:avLst>
              <a:gd name="adj" fmla="val 50000"/>
            </a:avLst>
          </a:prstGeom>
          <a:solidFill>
            <a:srgbClr val="F7F8FA"/>
          </a:solidFill>
          <a:ln>
            <a:noFill/>
          </a:ln>
        </p:spPr>
      </p:sp>
      <p:pic>
        <p:nvPicPr>
          <p:cNvPr id="728" name="G"/>
          <p:cNvPicPr>
            <a:picLocks noChangeAspect="1"/>
          </p:cNvPicPr>
          <p:nvPr/>
        </p:nvPicPr>
        <p:blipFill>
          <a:blip r:embed="rIdM13"/>
          <a:stretch>
            <a:fillRect/>
          </a:stretch>
        </p:blipFill>
        <p:spPr>
          <a:xfrm>
            <a:off x="10275652" y="2584094"/>
            <a:ext cx="98755" cy="98755"/>
          </a:xfrm>
          <a:prstGeom prst="rect">
            <a:avLst/>
          </a:prstGeom>
        </p:spPr>
      </p:pic>
      <p:sp>
        <p:nvSpPr>
          <p:cNvPr id="729" name="T"/>
          <p:cNvSpPr txBox="1"/>
          <p:nvPr/>
        </p:nvSpPr>
        <p:spPr>
          <a:xfrm>
            <a:off x="10374407" y="2551176"/>
            <a:ext cx="502370" cy="164592"/>
          </a:xfrm>
          <a:prstGeom prst="rect">
            <a:avLst/>
          </a:prstGeom>
          <a:noFill/>
        </p:spPr>
        <p:txBody>
          <a:bodyPr wrap="none" lIns="0" tIns="0" rIns="0" bIns="0" anchor="ctr"/>
          <a:lstStyle/>
          <a:p>
            <a:pPr algn="ctr">
              <a:buNone/>
            </a:pPr>
            <a:r>
              <a:rPr lang="id-ID" sz="700" b="1" dirty="0">
                <a:solidFill>
                  <a:srgbClr val="5B7A99"/>
                </a:solidFill>
                <a:latin typeface="Roboto"/>
                <a:ea typeface="Roboto"/>
                <a:cs typeface="Roboto"/>
              </a:rPr>
              <a:t>±60 rumah</a:t>
            </a:r>
            <a:endParaRPr lang="id-ID" sz="700"/>
          </a:p>
        </p:txBody>
      </p:sp>
      <p:sp>
        <p:nvSpPr>
          <p:cNvPr id="730" name="K"/>
          <p:cNvSpPr/>
          <p:nvPr/>
        </p:nvSpPr>
        <p:spPr>
          <a:xfrm>
            <a:off x="9287448" y="2551176"/>
            <a:ext cx="875732" cy="164592"/>
          </a:xfrm>
          <a:prstGeom prst="roundRect">
            <a:avLst>
              <a:gd name="adj" fmla="val 50000"/>
            </a:avLst>
          </a:prstGeom>
          <a:solidFill>
            <a:srgbClr val="F7F8FA"/>
          </a:solidFill>
          <a:ln>
            <a:noFill/>
          </a:ln>
        </p:spPr>
      </p:sp>
      <p:pic>
        <p:nvPicPr>
          <p:cNvPr id="731" name="G"/>
          <p:cNvPicPr>
            <a:picLocks noChangeAspect="1"/>
          </p:cNvPicPr>
          <p:nvPr/>
        </p:nvPicPr>
        <p:blipFill>
          <a:blip r:embed="rIdM9"/>
          <a:stretch>
            <a:fillRect/>
          </a:stretch>
        </p:blipFill>
        <p:spPr>
          <a:xfrm>
            <a:off x="9345055" y="2584094"/>
            <a:ext cx="98755" cy="98755"/>
          </a:xfrm>
          <a:prstGeom prst="rect">
            <a:avLst/>
          </a:prstGeom>
        </p:spPr>
      </p:pic>
      <p:sp>
        <p:nvSpPr>
          <p:cNvPr id="732" name="T"/>
          <p:cNvSpPr txBox="1"/>
          <p:nvPr/>
        </p:nvSpPr>
        <p:spPr>
          <a:xfrm>
            <a:off x="9443810" y="2551176"/>
            <a:ext cx="719370" cy="164592"/>
          </a:xfrm>
          <a:prstGeom prst="rect">
            <a:avLst/>
          </a:prstGeom>
          <a:noFill/>
        </p:spPr>
        <p:txBody>
          <a:bodyPr wrap="none" lIns="0" tIns="0" rIns="0" bIns="0" anchor="ctr"/>
          <a:lstStyle/>
          <a:p>
            <a:pPr algn="ctr">
              <a:buNone/>
            </a:pPr>
            <a:r>
              <a:rPr lang="id-ID" sz="700" b="1" dirty="0">
                <a:solidFill>
                  <a:srgbClr val="5B7A99"/>
                </a:solidFill>
                <a:latin typeface="Roboto"/>
                <a:ea typeface="Roboto"/>
                <a:cs typeface="Roboto"/>
              </a:rPr>
              <a:t>±173 mengungsi</a:t>
            </a:r>
            <a:endParaRPr lang="id-ID" sz="700"/>
          </a:p>
        </p:txBody>
      </p:sp>
      <p:sp>
        <p:nvSpPr>
          <p:cNvPr id="733" name="K"/>
          <p:cNvSpPr/>
          <p:nvPr/>
        </p:nvSpPr>
        <p:spPr>
          <a:xfrm>
            <a:off x="7589520" y="2752344"/>
            <a:ext cx="146304" cy="146304"/>
          </a:xfrm>
          <a:prstGeom prst="ellipse">
            <a:avLst/>
          </a:prstGeom>
          <a:solidFill>
            <a:srgbClr val="D9600B"/>
          </a:solidFill>
          <a:ln>
            <a:noFill/>
          </a:ln>
        </p:spPr>
      </p:sp>
      <p:pic>
        <p:nvPicPr>
          <p:cNvPr id="734" name="G"/>
          <p:cNvPicPr>
            <a:picLocks noChangeAspect="1"/>
          </p:cNvPicPr>
          <p:nvPr/>
        </p:nvPicPr>
        <p:blipFill>
          <a:blip r:embed="rIdM2"/>
          <a:stretch>
            <a:fillRect/>
          </a:stretch>
        </p:blipFill>
        <p:spPr>
          <a:xfrm>
            <a:off x="7615854" y="2778678"/>
            <a:ext cx="93634" cy="93634"/>
          </a:xfrm>
          <a:prstGeom prst="rect">
            <a:avLst/>
          </a:prstGeom>
        </p:spPr>
      </p:pic>
      <p:sp>
        <p:nvSpPr>
          <p:cNvPr id="735" name="K"/>
          <p:cNvSpPr/>
          <p:nvPr/>
        </p:nvSpPr>
        <p:spPr>
          <a:xfrm>
            <a:off x="7772400" y="2752344"/>
            <a:ext cx="146304" cy="146304"/>
          </a:xfrm>
          <a:prstGeom prst="ellipse">
            <a:avLst/>
          </a:prstGeom>
          <a:solidFill>
            <a:srgbClr val="2F6FB5"/>
          </a:solidFill>
          <a:ln>
            <a:noFill/>
          </a:ln>
        </p:spPr>
      </p:sp>
      <p:pic>
        <p:nvPicPr>
          <p:cNvPr id="736" name="G"/>
          <p:cNvPicPr>
            <a:picLocks noChangeAspect="1"/>
          </p:cNvPicPr>
          <p:nvPr/>
        </p:nvPicPr>
        <p:blipFill>
          <a:blip r:embed="rIdM11"/>
          <a:stretch>
            <a:fillRect/>
          </a:stretch>
        </p:blipFill>
        <p:spPr>
          <a:xfrm>
            <a:off x="7799832" y="2779776"/>
            <a:ext cx="91440" cy="91440"/>
          </a:xfrm>
          <a:prstGeom prst="rect">
            <a:avLst/>
          </a:prstGeom>
        </p:spPr>
      </p:pic>
      <p:sp>
        <p:nvSpPr>
          <p:cNvPr id="737" name="T"/>
          <p:cNvSpPr txBox="1"/>
          <p:nvPr/>
        </p:nvSpPr>
        <p:spPr>
          <a:xfrm>
            <a:off x="7971232" y="2734056"/>
            <a:ext cx="2286000" cy="182880"/>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Aceh</a:t>
            </a:r>
            <a:r>
              <a:rPr lang="id-ID" sz="760" dirty="0">
                <a:solidFill>
                  <a:srgbClr val="1A1A1A"/>
                </a:solidFill>
                <a:latin typeface="Roboto"/>
                <a:ea typeface="Roboto"/>
                <a:cs typeface="Roboto"/>
              </a:rPr>
              <a:t>, Kota Subulussalam</a:t>
            </a:r>
            <a:endParaRPr lang="id-ID" sz="760"/>
          </a:p>
        </p:txBody>
      </p:sp>
      <p:sp>
        <p:nvSpPr>
          <p:cNvPr id="747" name="K"/>
          <p:cNvSpPr/>
          <p:nvPr/>
        </p:nvSpPr>
        <p:spPr>
          <a:xfrm>
            <a:off x="10497642" y="2743200"/>
            <a:ext cx="962532" cy="164592"/>
          </a:xfrm>
          <a:prstGeom prst="roundRect">
            <a:avLst>
              <a:gd name="adj" fmla="val 50000"/>
            </a:avLst>
          </a:prstGeom>
          <a:solidFill>
            <a:srgbClr val="FBE7D6"/>
          </a:solidFill>
          <a:ln>
            <a:noFill/>
          </a:ln>
        </p:spPr>
      </p:sp>
      <p:pic>
        <p:nvPicPr>
          <p:cNvPr id="748" name="G"/>
          <p:cNvPicPr>
            <a:picLocks noChangeAspect="1"/>
          </p:cNvPicPr>
          <p:nvPr/>
        </p:nvPicPr>
        <p:blipFill>
          <a:blip r:embed="rIdM8"/>
          <a:stretch>
            <a:fillRect/>
          </a:stretch>
        </p:blipFill>
        <p:spPr>
          <a:xfrm>
            <a:off x="10555249" y="2776118"/>
            <a:ext cx="98755" cy="98755"/>
          </a:xfrm>
          <a:prstGeom prst="rect">
            <a:avLst/>
          </a:prstGeom>
        </p:spPr>
      </p:pic>
      <p:sp>
        <p:nvSpPr>
          <p:cNvPr id="749" name="T"/>
          <p:cNvSpPr txBox="1"/>
          <p:nvPr/>
        </p:nvSpPr>
        <p:spPr>
          <a:xfrm>
            <a:off x="10654004" y="2743200"/>
            <a:ext cx="806170" cy="164592"/>
          </a:xfrm>
          <a:prstGeom prst="rect">
            <a:avLst/>
          </a:prstGeom>
          <a:noFill/>
        </p:spPr>
        <p:txBody>
          <a:bodyPr wrap="none" lIns="0" tIns="0" rIns="0" bIns="0" anchor="ctr"/>
          <a:lstStyle/>
          <a:p>
            <a:pPr algn="ctr">
              <a:buNone/>
            </a:pPr>
            <a:r>
              <a:rPr lang="id-ID" sz="700" b="1" dirty="0">
                <a:solidFill>
                  <a:srgbClr val="D9600B"/>
                </a:solidFill>
                <a:latin typeface="Roboto"/>
                <a:ea typeface="Roboto"/>
                <a:cs typeface="Roboto"/>
              </a:rPr>
              <a:t>Dalam penanganan</a:t>
            </a:r>
            <a:endParaRPr lang="id-ID" sz="700"/>
          </a:p>
        </p:txBody>
      </p:sp>
      <p:sp>
        <p:nvSpPr>
          <p:cNvPr id="750" name="K"/>
          <p:cNvSpPr/>
          <p:nvPr/>
        </p:nvSpPr>
        <p:spPr>
          <a:xfrm>
            <a:off x="10801442" y="2935224"/>
            <a:ext cx="658732" cy="164592"/>
          </a:xfrm>
          <a:prstGeom prst="roundRect">
            <a:avLst>
              <a:gd name="adj" fmla="val 50000"/>
            </a:avLst>
          </a:prstGeom>
          <a:solidFill>
            <a:srgbClr val="F7F8FA"/>
          </a:solidFill>
          <a:ln>
            <a:noFill/>
          </a:ln>
        </p:spPr>
      </p:sp>
      <p:pic>
        <p:nvPicPr>
          <p:cNvPr id="751" name="G"/>
          <p:cNvPicPr>
            <a:picLocks noChangeAspect="1"/>
          </p:cNvPicPr>
          <p:nvPr/>
        </p:nvPicPr>
        <p:blipFill>
          <a:blip r:embed="rIdM10"/>
          <a:stretch>
            <a:fillRect/>
          </a:stretch>
        </p:blipFill>
        <p:spPr>
          <a:xfrm>
            <a:off x="10859049" y="2968142"/>
            <a:ext cx="98755" cy="98755"/>
          </a:xfrm>
          <a:prstGeom prst="rect">
            <a:avLst/>
          </a:prstGeom>
        </p:spPr>
      </p:pic>
      <p:sp>
        <p:nvSpPr>
          <p:cNvPr id="752" name="T"/>
          <p:cNvSpPr txBox="1"/>
          <p:nvPr/>
        </p:nvSpPr>
        <p:spPr>
          <a:xfrm>
            <a:off x="10957804" y="2935224"/>
            <a:ext cx="502370" cy="164592"/>
          </a:xfrm>
          <a:prstGeom prst="rect">
            <a:avLst/>
          </a:prstGeom>
          <a:noFill/>
        </p:spPr>
        <p:txBody>
          <a:bodyPr wrap="none" lIns="0" tIns="0" rIns="0" bIns="0" anchor="ctr"/>
          <a:lstStyle/>
          <a:p>
            <a:pPr algn="ctr">
              <a:buNone/>
            </a:pPr>
            <a:r>
              <a:rPr lang="id-ID" sz="700" b="1" dirty="0">
                <a:solidFill>
                  <a:srgbClr val="5B7A99"/>
                </a:solidFill>
                <a:latin typeface="Roboto"/>
                <a:ea typeface="Roboto"/>
                <a:cs typeface="Roboto"/>
              </a:rPr>
              <a:t>±2.245 KK</a:t>
            </a:r>
            <a:endParaRPr lang="id-ID" sz="700"/>
          </a:p>
        </p:txBody>
      </p:sp>
      <p:sp>
        <p:nvSpPr>
          <p:cNvPr id="753" name="K"/>
          <p:cNvSpPr/>
          <p:nvPr/>
        </p:nvSpPr>
        <p:spPr>
          <a:xfrm>
            <a:off x="9957645" y="2935224"/>
            <a:ext cx="788932" cy="164592"/>
          </a:xfrm>
          <a:prstGeom prst="roundRect">
            <a:avLst>
              <a:gd name="adj" fmla="val 50000"/>
            </a:avLst>
          </a:prstGeom>
          <a:solidFill>
            <a:srgbClr val="F7F8FA"/>
          </a:solidFill>
          <a:ln>
            <a:noFill/>
          </a:ln>
        </p:spPr>
      </p:sp>
      <p:pic>
        <p:nvPicPr>
          <p:cNvPr id="754" name="G"/>
          <p:cNvPicPr>
            <a:picLocks noChangeAspect="1"/>
          </p:cNvPicPr>
          <p:nvPr/>
        </p:nvPicPr>
        <p:blipFill>
          <a:blip r:embed="rIdM13"/>
          <a:stretch>
            <a:fillRect/>
          </a:stretch>
        </p:blipFill>
        <p:spPr>
          <a:xfrm>
            <a:off x="10015252" y="2968142"/>
            <a:ext cx="98755" cy="98755"/>
          </a:xfrm>
          <a:prstGeom prst="rect">
            <a:avLst/>
          </a:prstGeom>
        </p:spPr>
      </p:pic>
      <p:sp>
        <p:nvSpPr>
          <p:cNvPr id="755" name="T"/>
          <p:cNvSpPr txBox="1"/>
          <p:nvPr/>
        </p:nvSpPr>
        <p:spPr>
          <a:xfrm>
            <a:off x="10114007" y="2935224"/>
            <a:ext cx="632570" cy="164592"/>
          </a:xfrm>
          <a:prstGeom prst="rect">
            <a:avLst/>
          </a:prstGeom>
          <a:noFill/>
        </p:spPr>
        <p:txBody>
          <a:bodyPr wrap="none" lIns="0" tIns="0" rIns="0" bIns="0" anchor="ctr"/>
          <a:lstStyle/>
          <a:p>
            <a:pPr algn="ctr">
              <a:buNone/>
            </a:pPr>
            <a:r>
              <a:rPr lang="id-ID" sz="700" b="1" dirty="0">
                <a:solidFill>
                  <a:srgbClr val="5B7A99"/>
                </a:solidFill>
                <a:latin typeface="Roboto"/>
                <a:ea typeface="Roboto"/>
                <a:cs typeface="Roboto"/>
              </a:rPr>
              <a:t>±2.245 rumah</a:t>
            </a:r>
            <a:endParaRPr lang="id-ID" sz="700"/>
          </a:p>
        </p:txBody>
      </p:sp>
      <p:sp>
        <p:nvSpPr>
          <p:cNvPr id="756" name="K"/>
          <p:cNvSpPr/>
          <p:nvPr/>
        </p:nvSpPr>
        <p:spPr>
          <a:xfrm>
            <a:off x="7589520" y="3136392"/>
            <a:ext cx="146304" cy="146304"/>
          </a:xfrm>
          <a:prstGeom prst="ellipse">
            <a:avLst/>
          </a:prstGeom>
          <a:solidFill>
            <a:srgbClr val="051C2C"/>
          </a:solidFill>
          <a:ln>
            <a:noFill/>
          </a:ln>
        </p:spPr>
      </p:sp>
      <p:pic>
        <p:nvPicPr>
          <p:cNvPr id="757" name="G"/>
          <p:cNvPicPr>
            <a:picLocks noChangeAspect="1"/>
          </p:cNvPicPr>
          <p:nvPr/>
        </p:nvPicPr>
        <p:blipFill>
          <a:blip r:embed="rIdM5"/>
          <a:stretch>
            <a:fillRect/>
          </a:stretch>
        </p:blipFill>
        <p:spPr>
          <a:xfrm>
            <a:off x="7615854" y="3162726"/>
            <a:ext cx="93634" cy="93634"/>
          </a:xfrm>
          <a:prstGeom prst="rect">
            <a:avLst/>
          </a:prstGeom>
        </p:spPr>
      </p:pic>
      <p:sp>
        <p:nvSpPr>
          <p:cNvPr id="758" name="K"/>
          <p:cNvSpPr/>
          <p:nvPr/>
        </p:nvSpPr>
        <p:spPr>
          <a:xfrm>
            <a:off x="7772400" y="3136392"/>
            <a:ext cx="146304" cy="146304"/>
          </a:xfrm>
          <a:prstGeom prst="ellipse">
            <a:avLst/>
          </a:prstGeom>
          <a:solidFill>
            <a:srgbClr val="2F6FB5"/>
          </a:solidFill>
          <a:ln>
            <a:noFill/>
          </a:ln>
        </p:spPr>
      </p:sp>
      <p:pic>
        <p:nvPicPr>
          <p:cNvPr id="759" name="G"/>
          <p:cNvPicPr>
            <a:picLocks noChangeAspect="1"/>
          </p:cNvPicPr>
          <p:nvPr/>
        </p:nvPicPr>
        <p:blipFill>
          <a:blip r:embed="rIdM11"/>
          <a:stretch>
            <a:fillRect/>
          </a:stretch>
        </p:blipFill>
        <p:spPr>
          <a:xfrm>
            <a:off x="7799832" y="3163824"/>
            <a:ext cx="91440" cy="91440"/>
          </a:xfrm>
          <a:prstGeom prst="rect">
            <a:avLst/>
          </a:prstGeom>
        </p:spPr>
      </p:pic>
      <p:sp>
        <p:nvSpPr>
          <p:cNvPr id="760" name="T"/>
          <p:cNvSpPr txBox="1"/>
          <p:nvPr/>
        </p:nvSpPr>
        <p:spPr>
          <a:xfrm>
            <a:off x="7971232" y="3118104"/>
            <a:ext cx="2286000" cy="182880"/>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Sumatera Utara</a:t>
            </a:r>
            <a:r>
              <a:rPr lang="id-ID" sz="760" dirty="0">
                <a:solidFill>
                  <a:srgbClr val="1A1A1A"/>
                </a:solidFill>
                <a:latin typeface="Roboto"/>
                <a:ea typeface="Roboto"/>
                <a:cs typeface="Roboto"/>
              </a:rPr>
              <a:t>, Mandailing Natal</a:t>
            </a:r>
            <a:endParaRPr lang="id-ID" sz="760"/>
          </a:p>
        </p:txBody>
      </p:sp>
      <p:sp>
        <p:nvSpPr>
          <p:cNvPr id="770" name="K"/>
          <p:cNvSpPr/>
          <p:nvPr/>
        </p:nvSpPr>
        <p:spPr>
          <a:xfrm>
            <a:off x="10410842" y="3127248"/>
            <a:ext cx="1049332" cy="164592"/>
          </a:xfrm>
          <a:prstGeom prst="roundRect">
            <a:avLst>
              <a:gd name="adj" fmla="val 50000"/>
            </a:avLst>
          </a:prstGeom>
          <a:solidFill>
            <a:srgbClr val="E6EAF0"/>
          </a:solidFill>
          <a:ln>
            <a:noFill/>
          </a:ln>
        </p:spPr>
      </p:sp>
      <p:pic>
        <p:nvPicPr>
          <p:cNvPr id="771" name="G"/>
          <p:cNvPicPr>
            <a:picLocks noChangeAspect="1"/>
          </p:cNvPicPr>
          <p:nvPr/>
        </p:nvPicPr>
        <p:blipFill>
          <a:blip r:embed="rIdM14"/>
          <a:stretch>
            <a:fillRect/>
          </a:stretch>
        </p:blipFill>
        <p:spPr>
          <a:xfrm>
            <a:off x="10468449" y="3160166"/>
            <a:ext cx="98755" cy="98755"/>
          </a:xfrm>
          <a:prstGeom prst="rect">
            <a:avLst/>
          </a:prstGeom>
        </p:spPr>
      </p:pic>
      <p:sp>
        <p:nvSpPr>
          <p:cNvPr id="772" name="T"/>
          <p:cNvSpPr txBox="1"/>
          <p:nvPr/>
        </p:nvSpPr>
        <p:spPr>
          <a:xfrm>
            <a:off x="10567204" y="3127248"/>
            <a:ext cx="892970" cy="164592"/>
          </a:xfrm>
          <a:prstGeom prst="rect">
            <a:avLst/>
          </a:prstGeom>
          <a:noFill/>
        </p:spPr>
        <p:txBody>
          <a:bodyPr wrap="none" lIns="0" tIns="0" rIns="0" bIns="0" anchor="ctr"/>
          <a:lstStyle/>
          <a:p>
            <a:pPr algn="ctr">
              <a:buNone/>
            </a:pPr>
            <a:r>
              <a:rPr lang="id-ID" sz="700" b="1" dirty="0">
                <a:solidFill>
                  <a:srgbClr val="051C2C"/>
                </a:solidFill>
                <a:latin typeface="Roboto"/>
                <a:ea typeface="Roboto"/>
                <a:cs typeface="Roboto"/>
              </a:rPr>
              <a:t>Banjir sudah surut</a:t>
            </a:r>
            <a:endParaRPr lang="id-ID" sz="700"/>
          </a:p>
        </p:txBody>
      </p:sp>
      <p:sp>
        <p:nvSpPr>
          <p:cNvPr id="773" name="K"/>
          <p:cNvSpPr/>
          <p:nvPr/>
        </p:nvSpPr>
        <p:spPr>
          <a:xfrm>
            <a:off x="10888242" y="3319272"/>
            <a:ext cx="571932" cy="164592"/>
          </a:xfrm>
          <a:prstGeom prst="roundRect">
            <a:avLst>
              <a:gd name="adj" fmla="val 50000"/>
            </a:avLst>
          </a:prstGeom>
          <a:solidFill>
            <a:srgbClr val="F7F8FA"/>
          </a:solidFill>
          <a:ln>
            <a:noFill/>
          </a:ln>
        </p:spPr>
      </p:sp>
      <p:pic>
        <p:nvPicPr>
          <p:cNvPr id="774" name="G"/>
          <p:cNvPicPr>
            <a:picLocks noChangeAspect="1"/>
          </p:cNvPicPr>
          <p:nvPr/>
        </p:nvPicPr>
        <p:blipFill>
          <a:blip r:embed="rIdM10"/>
          <a:stretch>
            <a:fillRect/>
          </a:stretch>
        </p:blipFill>
        <p:spPr>
          <a:xfrm>
            <a:off x="10945849" y="3352190"/>
            <a:ext cx="98755" cy="98755"/>
          </a:xfrm>
          <a:prstGeom prst="rect">
            <a:avLst/>
          </a:prstGeom>
        </p:spPr>
      </p:pic>
      <p:sp>
        <p:nvSpPr>
          <p:cNvPr id="775" name="T"/>
          <p:cNvSpPr txBox="1"/>
          <p:nvPr/>
        </p:nvSpPr>
        <p:spPr>
          <a:xfrm>
            <a:off x="11044604" y="3319272"/>
            <a:ext cx="415570" cy="164592"/>
          </a:xfrm>
          <a:prstGeom prst="rect">
            <a:avLst/>
          </a:prstGeom>
          <a:noFill/>
        </p:spPr>
        <p:txBody>
          <a:bodyPr wrap="none" lIns="0" tIns="0" rIns="0" bIns="0" anchor="ctr"/>
          <a:lstStyle/>
          <a:p>
            <a:pPr algn="ctr">
              <a:buNone/>
            </a:pPr>
            <a:r>
              <a:rPr lang="id-ID" sz="700" b="1" dirty="0">
                <a:solidFill>
                  <a:srgbClr val="5B7A99"/>
                </a:solidFill>
                <a:latin typeface="Roboto"/>
                <a:ea typeface="Roboto"/>
                <a:cs typeface="Roboto"/>
              </a:rPr>
              <a:t>±287 KK</a:t>
            </a:r>
            <a:endParaRPr lang="id-ID" sz="700"/>
          </a:p>
        </p:txBody>
      </p:sp>
      <p:sp>
        <p:nvSpPr>
          <p:cNvPr id="776" name="K"/>
          <p:cNvSpPr/>
          <p:nvPr/>
        </p:nvSpPr>
        <p:spPr>
          <a:xfrm>
            <a:off x="10131245" y="3319272"/>
            <a:ext cx="702132" cy="164592"/>
          </a:xfrm>
          <a:prstGeom prst="roundRect">
            <a:avLst>
              <a:gd name="adj" fmla="val 50000"/>
            </a:avLst>
          </a:prstGeom>
          <a:solidFill>
            <a:srgbClr val="F7F8FA"/>
          </a:solidFill>
          <a:ln>
            <a:noFill/>
          </a:ln>
        </p:spPr>
      </p:sp>
      <p:pic>
        <p:nvPicPr>
          <p:cNvPr id="777" name="G"/>
          <p:cNvPicPr>
            <a:picLocks noChangeAspect="1"/>
          </p:cNvPicPr>
          <p:nvPr/>
        </p:nvPicPr>
        <p:blipFill>
          <a:blip r:embed="rIdM13"/>
          <a:stretch>
            <a:fillRect/>
          </a:stretch>
        </p:blipFill>
        <p:spPr>
          <a:xfrm>
            <a:off x="10188852" y="3352190"/>
            <a:ext cx="98755" cy="98755"/>
          </a:xfrm>
          <a:prstGeom prst="rect">
            <a:avLst/>
          </a:prstGeom>
        </p:spPr>
      </p:pic>
      <p:sp>
        <p:nvSpPr>
          <p:cNvPr id="778" name="T"/>
          <p:cNvSpPr txBox="1"/>
          <p:nvPr/>
        </p:nvSpPr>
        <p:spPr>
          <a:xfrm>
            <a:off x="10287607" y="3319272"/>
            <a:ext cx="545770" cy="164592"/>
          </a:xfrm>
          <a:prstGeom prst="rect">
            <a:avLst/>
          </a:prstGeom>
          <a:noFill/>
        </p:spPr>
        <p:txBody>
          <a:bodyPr wrap="none" lIns="0" tIns="0" rIns="0" bIns="0" anchor="ctr"/>
          <a:lstStyle/>
          <a:p>
            <a:pPr algn="ctr">
              <a:buNone/>
            </a:pPr>
            <a:r>
              <a:rPr lang="id-ID" sz="700" b="1" dirty="0">
                <a:solidFill>
                  <a:srgbClr val="5B7A99"/>
                </a:solidFill>
                <a:latin typeface="Roboto"/>
                <a:ea typeface="Roboto"/>
                <a:cs typeface="Roboto"/>
              </a:rPr>
              <a:t>±287 rumah</a:t>
            </a:r>
            <a:endParaRPr lang="id-ID" sz="700"/>
          </a:p>
        </p:txBody>
      </p:sp>
      <p:sp>
        <p:nvSpPr>
          <p:cNvPr id="779" name="K"/>
          <p:cNvSpPr/>
          <p:nvPr/>
        </p:nvSpPr>
        <p:spPr>
          <a:xfrm>
            <a:off x="7589520" y="3520440"/>
            <a:ext cx="146304" cy="146304"/>
          </a:xfrm>
          <a:prstGeom prst="ellipse">
            <a:avLst/>
          </a:prstGeom>
          <a:solidFill>
            <a:srgbClr val="051C2C"/>
          </a:solidFill>
          <a:ln>
            <a:noFill/>
          </a:ln>
        </p:spPr>
      </p:sp>
      <p:pic>
        <p:nvPicPr>
          <p:cNvPr id="780" name="G"/>
          <p:cNvPicPr>
            <a:picLocks noChangeAspect="1"/>
          </p:cNvPicPr>
          <p:nvPr/>
        </p:nvPicPr>
        <p:blipFill>
          <a:blip r:embed="rIdM5"/>
          <a:stretch>
            <a:fillRect/>
          </a:stretch>
        </p:blipFill>
        <p:spPr>
          <a:xfrm>
            <a:off x="7615854" y="3546774"/>
            <a:ext cx="93634" cy="93634"/>
          </a:xfrm>
          <a:prstGeom prst="rect">
            <a:avLst/>
          </a:prstGeom>
        </p:spPr>
      </p:pic>
      <p:sp>
        <p:nvSpPr>
          <p:cNvPr id="781" name="K"/>
          <p:cNvSpPr/>
          <p:nvPr/>
        </p:nvSpPr>
        <p:spPr>
          <a:xfrm>
            <a:off x="7772400" y="3520440"/>
            <a:ext cx="146304" cy="146304"/>
          </a:xfrm>
          <a:prstGeom prst="ellipse">
            <a:avLst/>
          </a:prstGeom>
          <a:solidFill>
            <a:srgbClr val="2F6FB5"/>
          </a:solidFill>
          <a:ln>
            <a:noFill/>
          </a:ln>
        </p:spPr>
      </p:sp>
      <p:pic>
        <p:nvPicPr>
          <p:cNvPr id="782" name="G"/>
          <p:cNvPicPr>
            <a:picLocks noChangeAspect="1"/>
          </p:cNvPicPr>
          <p:nvPr/>
        </p:nvPicPr>
        <p:blipFill>
          <a:blip r:embed="rIdM11"/>
          <a:stretch>
            <a:fillRect/>
          </a:stretch>
        </p:blipFill>
        <p:spPr>
          <a:xfrm>
            <a:off x="7799832" y="3547872"/>
            <a:ext cx="91440" cy="91440"/>
          </a:xfrm>
          <a:prstGeom prst="rect">
            <a:avLst/>
          </a:prstGeom>
        </p:spPr>
      </p:pic>
      <p:sp>
        <p:nvSpPr>
          <p:cNvPr id="783" name="T"/>
          <p:cNvSpPr txBox="1"/>
          <p:nvPr/>
        </p:nvSpPr>
        <p:spPr>
          <a:xfrm>
            <a:off x="7971232" y="3502152"/>
            <a:ext cx="2286000" cy="182880"/>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Sumatera Utara</a:t>
            </a:r>
            <a:r>
              <a:rPr lang="id-ID" sz="760" dirty="0">
                <a:solidFill>
                  <a:srgbClr val="1A1A1A"/>
                </a:solidFill>
                <a:latin typeface="Roboto"/>
                <a:ea typeface="Roboto"/>
                <a:cs typeface="Roboto"/>
              </a:rPr>
              <a:t>, Deli Serdang</a:t>
            </a:r>
            <a:endParaRPr lang="id-ID" sz="760"/>
          </a:p>
        </p:txBody>
      </p:sp>
      <p:sp>
        <p:nvSpPr>
          <p:cNvPr id="784" name="K"/>
          <p:cNvSpPr/>
          <p:nvPr/>
        </p:nvSpPr>
        <p:spPr>
          <a:xfrm>
            <a:off x="10801442" y="3511296"/>
            <a:ext cx="658732" cy="164592"/>
          </a:xfrm>
          <a:prstGeom prst="roundRect">
            <a:avLst>
              <a:gd name="adj" fmla="val 50000"/>
            </a:avLst>
          </a:prstGeom>
          <a:solidFill>
            <a:srgbClr val="F7F8FA"/>
          </a:solidFill>
          <a:ln>
            <a:noFill/>
          </a:ln>
        </p:spPr>
      </p:sp>
      <p:pic>
        <p:nvPicPr>
          <p:cNvPr id="785" name="G"/>
          <p:cNvPicPr>
            <a:picLocks noChangeAspect="1"/>
          </p:cNvPicPr>
          <p:nvPr/>
        </p:nvPicPr>
        <p:blipFill>
          <a:blip r:embed="rIdM10"/>
          <a:stretch>
            <a:fillRect/>
          </a:stretch>
        </p:blipFill>
        <p:spPr>
          <a:xfrm>
            <a:off x="10859049" y="3544214"/>
            <a:ext cx="98755" cy="98755"/>
          </a:xfrm>
          <a:prstGeom prst="rect">
            <a:avLst/>
          </a:prstGeom>
        </p:spPr>
      </p:pic>
      <p:sp>
        <p:nvSpPr>
          <p:cNvPr id="786" name="T"/>
          <p:cNvSpPr txBox="1"/>
          <p:nvPr/>
        </p:nvSpPr>
        <p:spPr>
          <a:xfrm>
            <a:off x="10957804" y="3511296"/>
            <a:ext cx="502370" cy="164592"/>
          </a:xfrm>
          <a:prstGeom prst="rect">
            <a:avLst/>
          </a:prstGeom>
          <a:noFill/>
        </p:spPr>
        <p:txBody>
          <a:bodyPr wrap="none" lIns="0" tIns="0" rIns="0" bIns="0" anchor="ctr"/>
          <a:lstStyle/>
          <a:p>
            <a:pPr algn="ctr">
              <a:buNone/>
            </a:pPr>
            <a:r>
              <a:rPr lang="id-ID" sz="700" b="1" dirty="0">
                <a:solidFill>
                  <a:srgbClr val="5B7A99"/>
                </a:solidFill>
                <a:latin typeface="Roboto"/>
                <a:ea typeface="Roboto"/>
                <a:cs typeface="Roboto"/>
              </a:rPr>
              <a:t>±7.615 KK</a:t>
            </a:r>
            <a:endParaRPr lang="id-ID" sz="700"/>
          </a:p>
        </p:txBody>
      </p:sp>
      <p:sp>
        <p:nvSpPr>
          <p:cNvPr id="787" name="K"/>
          <p:cNvSpPr/>
          <p:nvPr/>
        </p:nvSpPr>
        <p:spPr>
          <a:xfrm>
            <a:off x="9957645" y="3511296"/>
            <a:ext cx="788932" cy="164592"/>
          </a:xfrm>
          <a:prstGeom prst="roundRect">
            <a:avLst>
              <a:gd name="adj" fmla="val 50000"/>
            </a:avLst>
          </a:prstGeom>
          <a:solidFill>
            <a:srgbClr val="F7F8FA"/>
          </a:solidFill>
          <a:ln>
            <a:noFill/>
          </a:ln>
        </p:spPr>
      </p:sp>
      <p:pic>
        <p:nvPicPr>
          <p:cNvPr id="788" name="G"/>
          <p:cNvPicPr>
            <a:picLocks noChangeAspect="1"/>
          </p:cNvPicPr>
          <p:nvPr/>
        </p:nvPicPr>
        <p:blipFill>
          <a:blip r:embed="rIdM13"/>
          <a:stretch>
            <a:fillRect/>
          </a:stretch>
        </p:blipFill>
        <p:spPr>
          <a:xfrm>
            <a:off x="10015252" y="3544214"/>
            <a:ext cx="98755" cy="98755"/>
          </a:xfrm>
          <a:prstGeom prst="rect">
            <a:avLst/>
          </a:prstGeom>
        </p:spPr>
      </p:pic>
      <p:sp>
        <p:nvSpPr>
          <p:cNvPr id="789" name="T"/>
          <p:cNvSpPr txBox="1"/>
          <p:nvPr/>
        </p:nvSpPr>
        <p:spPr>
          <a:xfrm>
            <a:off x="10114007" y="3511296"/>
            <a:ext cx="632570" cy="164592"/>
          </a:xfrm>
          <a:prstGeom prst="rect">
            <a:avLst/>
          </a:prstGeom>
          <a:noFill/>
        </p:spPr>
        <p:txBody>
          <a:bodyPr wrap="none" lIns="0" tIns="0" rIns="0" bIns="0" anchor="ctr"/>
          <a:lstStyle/>
          <a:p>
            <a:pPr algn="ctr">
              <a:buNone/>
            </a:pPr>
            <a:r>
              <a:rPr lang="id-ID" sz="700" b="1" dirty="0">
                <a:solidFill>
                  <a:srgbClr val="5B7A99"/>
                </a:solidFill>
                <a:latin typeface="Roboto"/>
                <a:ea typeface="Roboto"/>
                <a:cs typeface="Roboto"/>
              </a:rPr>
              <a:t>±7.327 rumah</a:t>
            </a:r>
            <a:endParaRPr lang="id-ID" sz="700"/>
          </a:p>
        </p:txBody>
      </p:sp>
      <p:sp>
        <p:nvSpPr>
          <p:cNvPr id="790" name="K"/>
          <p:cNvSpPr/>
          <p:nvPr/>
        </p:nvSpPr>
        <p:spPr>
          <a:xfrm>
            <a:off x="9330848" y="3511296"/>
            <a:ext cx="571932" cy="164592"/>
          </a:xfrm>
          <a:prstGeom prst="roundRect">
            <a:avLst>
              <a:gd name="adj" fmla="val 50000"/>
            </a:avLst>
          </a:prstGeom>
          <a:solidFill>
            <a:srgbClr val="E6EAF0"/>
          </a:solidFill>
          <a:ln>
            <a:noFill/>
          </a:ln>
        </p:spPr>
      </p:sp>
      <p:pic>
        <p:nvPicPr>
          <p:cNvPr id="791" name="G"/>
          <p:cNvPicPr>
            <a:picLocks noChangeAspect="1"/>
          </p:cNvPicPr>
          <p:nvPr/>
        </p:nvPicPr>
        <p:blipFill>
          <a:blip r:embed="rIdM14"/>
          <a:stretch>
            <a:fillRect/>
          </a:stretch>
        </p:blipFill>
        <p:spPr>
          <a:xfrm>
            <a:off x="9388455" y="3544214"/>
            <a:ext cx="98755" cy="98755"/>
          </a:xfrm>
          <a:prstGeom prst="rect">
            <a:avLst/>
          </a:prstGeom>
        </p:spPr>
      </p:pic>
      <p:sp>
        <p:nvSpPr>
          <p:cNvPr id="792" name="T"/>
          <p:cNvSpPr txBox="1"/>
          <p:nvPr/>
        </p:nvSpPr>
        <p:spPr>
          <a:xfrm>
            <a:off x="9487210" y="3511296"/>
            <a:ext cx="415570" cy="164592"/>
          </a:xfrm>
          <a:prstGeom prst="rect">
            <a:avLst/>
          </a:prstGeom>
          <a:noFill/>
        </p:spPr>
        <p:txBody>
          <a:bodyPr wrap="none" lIns="0" tIns="0" rIns="0" bIns="0" anchor="ctr"/>
          <a:lstStyle/>
          <a:p>
            <a:pPr algn="ctr">
              <a:buNone/>
            </a:pPr>
            <a:r>
              <a:rPr lang="id-ID" sz="700" b="1" dirty="0">
                <a:solidFill>
                  <a:srgbClr val="051C2C"/>
                </a:solidFill>
                <a:latin typeface="Roboto"/>
                <a:ea typeface="Roboto"/>
                <a:cs typeface="Roboto"/>
              </a:rPr>
              <a:t>Selesai</a:t>
            </a:r>
            <a:endParaRPr lang="id-ID" sz="700"/>
          </a:p>
        </p:txBody>
      </p:sp>
      <p:sp>
        <p:nvSpPr>
          <p:cNvPr id="793" name="K"/>
          <p:cNvSpPr/>
          <p:nvPr/>
        </p:nvSpPr>
        <p:spPr>
          <a:xfrm>
            <a:off x="7589520" y="3712464"/>
            <a:ext cx="146304" cy="146304"/>
          </a:xfrm>
          <a:prstGeom prst="ellipse">
            <a:avLst/>
          </a:prstGeom>
          <a:solidFill>
            <a:srgbClr val="D9600B"/>
          </a:solidFill>
          <a:ln>
            <a:noFill/>
          </a:ln>
        </p:spPr>
      </p:sp>
      <p:pic>
        <p:nvPicPr>
          <p:cNvPr id="794" name="G"/>
          <p:cNvPicPr>
            <a:picLocks noChangeAspect="1"/>
          </p:cNvPicPr>
          <p:nvPr/>
        </p:nvPicPr>
        <p:blipFill>
          <a:blip r:embed="rIdM2"/>
          <a:stretch>
            <a:fillRect/>
          </a:stretch>
        </p:blipFill>
        <p:spPr>
          <a:xfrm>
            <a:off x="7615854" y="3738798"/>
            <a:ext cx="93634" cy="93634"/>
          </a:xfrm>
          <a:prstGeom prst="rect">
            <a:avLst/>
          </a:prstGeom>
        </p:spPr>
      </p:pic>
      <p:sp>
        <p:nvSpPr>
          <p:cNvPr id="795" name="K"/>
          <p:cNvSpPr/>
          <p:nvPr/>
        </p:nvSpPr>
        <p:spPr>
          <a:xfrm>
            <a:off x="7772400" y="3712464"/>
            <a:ext cx="146304" cy="146304"/>
          </a:xfrm>
          <a:prstGeom prst="ellipse">
            <a:avLst/>
          </a:prstGeom>
          <a:solidFill>
            <a:srgbClr val="2F6FB5"/>
          </a:solidFill>
          <a:ln>
            <a:noFill/>
          </a:ln>
        </p:spPr>
      </p:sp>
      <p:pic>
        <p:nvPicPr>
          <p:cNvPr id="796" name="G"/>
          <p:cNvPicPr>
            <a:picLocks noChangeAspect="1"/>
          </p:cNvPicPr>
          <p:nvPr/>
        </p:nvPicPr>
        <p:blipFill>
          <a:blip r:embed="rIdM11"/>
          <a:stretch>
            <a:fillRect/>
          </a:stretch>
        </p:blipFill>
        <p:spPr>
          <a:xfrm>
            <a:off x="7799832" y="3739896"/>
            <a:ext cx="91440" cy="91440"/>
          </a:xfrm>
          <a:prstGeom prst="rect">
            <a:avLst/>
          </a:prstGeom>
        </p:spPr>
      </p:pic>
      <p:sp>
        <p:nvSpPr>
          <p:cNvPr id="797" name="T"/>
          <p:cNvSpPr txBox="1"/>
          <p:nvPr/>
        </p:nvSpPr>
        <p:spPr>
          <a:xfrm>
            <a:off x="7971232" y="3694176"/>
            <a:ext cx="2286000" cy="182880"/>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Sumatera Utara</a:t>
            </a:r>
            <a:r>
              <a:rPr lang="id-ID" sz="760" dirty="0">
                <a:solidFill>
                  <a:srgbClr val="1A1A1A"/>
                </a:solidFill>
                <a:latin typeface="Roboto"/>
                <a:ea typeface="Roboto"/>
                <a:cs typeface="Roboto"/>
              </a:rPr>
              <a:t>, Langkat</a:t>
            </a:r>
            <a:endParaRPr lang="id-ID" sz="760"/>
          </a:p>
        </p:txBody>
      </p:sp>
      <p:sp>
        <p:nvSpPr>
          <p:cNvPr id="798" name="K"/>
          <p:cNvSpPr/>
          <p:nvPr/>
        </p:nvSpPr>
        <p:spPr>
          <a:xfrm>
            <a:off x="10888242" y="3703320"/>
            <a:ext cx="571932" cy="164592"/>
          </a:xfrm>
          <a:prstGeom prst="roundRect">
            <a:avLst>
              <a:gd name="adj" fmla="val 50000"/>
            </a:avLst>
          </a:prstGeom>
          <a:solidFill>
            <a:srgbClr val="F7F8FA"/>
          </a:solidFill>
          <a:ln>
            <a:noFill/>
          </a:ln>
        </p:spPr>
      </p:sp>
      <p:pic>
        <p:nvPicPr>
          <p:cNvPr id="799" name="G"/>
          <p:cNvPicPr>
            <a:picLocks noChangeAspect="1"/>
          </p:cNvPicPr>
          <p:nvPr/>
        </p:nvPicPr>
        <p:blipFill>
          <a:blip r:embed="rIdM10"/>
          <a:stretch>
            <a:fillRect/>
          </a:stretch>
        </p:blipFill>
        <p:spPr>
          <a:xfrm>
            <a:off x="10945849" y="3736238"/>
            <a:ext cx="98755" cy="98755"/>
          </a:xfrm>
          <a:prstGeom prst="rect">
            <a:avLst/>
          </a:prstGeom>
        </p:spPr>
      </p:pic>
      <p:sp>
        <p:nvSpPr>
          <p:cNvPr id="800" name="T"/>
          <p:cNvSpPr txBox="1"/>
          <p:nvPr/>
        </p:nvSpPr>
        <p:spPr>
          <a:xfrm>
            <a:off x="11044604" y="3703320"/>
            <a:ext cx="415570" cy="164592"/>
          </a:xfrm>
          <a:prstGeom prst="rect">
            <a:avLst/>
          </a:prstGeom>
          <a:noFill/>
        </p:spPr>
        <p:txBody>
          <a:bodyPr wrap="none" lIns="0" tIns="0" rIns="0" bIns="0" anchor="ctr"/>
          <a:lstStyle/>
          <a:p>
            <a:pPr algn="ctr">
              <a:buNone/>
            </a:pPr>
            <a:r>
              <a:rPr lang="id-ID" sz="700" b="1" dirty="0">
                <a:solidFill>
                  <a:srgbClr val="5B7A99"/>
                </a:solidFill>
                <a:latin typeface="Roboto"/>
                <a:ea typeface="Roboto"/>
                <a:cs typeface="Roboto"/>
              </a:rPr>
              <a:t>±310 KK</a:t>
            </a:r>
            <a:endParaRPr lang="id-ID" sz="700"/>
          </a:p>
        </p:txBody>
      </p:sp>
      <p:sp>
        <p:nvSpPr>
          <p:cNvPr id="801" name="K"/>
          <p:cNvSpPr/>
          <p:nvPr/>
        </p:nvSpPr>
        <p:spPr>
          <a:xfrm>
            <a:off x="9870845" y="3703320"/>
            <a:ext cx="962532" cy="164592"/>
          </a:xfrm>
          <a:prstGeom prst="roundRect">
            <a:avLst>
              <a:gd name="adj" fmla="val 50000"/>
            </a:avLst>
          </a:prstGeom>
          <a:solidFill>
            <a:srgbClr val="FBE7D6"/>
          </a:solidFill>
          <a:ln>
            <a:noFill/>
          </a:ln>
        </p:spPr>
      </p:sp>
      <p:pic>
        <p:nvPicPr>
          <p:cNvPr id="802" name="G"/>
          <p:cNvPicPr>
            <a:picLocks noChangeAspect="1"/>
          </p:cNvPicPr>
          <p:nvPr/>
        </p:nvPicPr>
        <p:blipFill>
          <a:blip r:embed="rIdM8"/>
          <a:stretch>
            <a:fillRect/>
          </a:stretch>
        </p:blipFill>
        <p:spPr>
          <a:xfrm>
            <a:off x="9928452" y="3736238"/>
            <a:ext cx="98755" cy="98755"/>
          </a:xfrm>
          <a:prstGeom prst="rect">
            <a:avLst/>
          </a:prstGeom>
        </p:spPr>
      </p:pic>
      <p:sp>
        <p:nvSpPr>
          <p:cNvPr id="803" name="T"/>
          <p:cNvSpPr txBox="1"/>
          <p:nvPr/>
        </p:nvSpPr>
        <p:spPr>
          <a:xfrm>
            <a:off x="10027207" y="3703320"/>
            <a:ext cx="806170" cy="164592"/>
          </a:xfrm>
          <a:prstGeom prst="rect">
            <a:avLst/>
          </a:prstGeom>
          <a:noFill/>
        </p:spPr>
        <p:txBody>
          <a:bodyPr wrap="none" lIns="0" tIns="0" rIns="0" bIns="0" anchor="ctr"/>
          <a:lstStyle/>
          <a:p>
            <a:pPr algn="ctr">
              <a:buNone/>
            </a:pPr>
            <a:r>
              <a:rPr lang="id-ID" sz="700" b="1" dirty="0">
                <a:solidFill>
                  <a:srgbClr val="D9600B"/>
                </a:solidFill>
                <a:latin typeface="Roboto"/>
                <a:ea typeface="Roboto"/>
                <a:cs typeface="Roboto"/>
              </a:rPr>
              <a:t>Dalam penanganan</a:t>
            </a:r>
            <a:endParaRPr lang="id-ID" sz="700"/>
          </a:p>
        </p:txBody>
      </p:sp>
      <p:sp>
        <p:nvSpPr>
          <p:cNvPr id="804" name="K"/>
          <p:cNvSpPr/>
          <p:nvPr/>
        </p:nvSpPr>
        <p:spPr>
          <a:xfrm>
            <a:off x="7589520" y="3904488"/>
            <a:ext cx="146304" cy="146304"/>
          </a:xfrm>
          <a:prstGeom prst="ellipse">
            <a:avLst/>
          </a:prstGeom>
          <a:solidFill>
            <a:srgbClr val="051C2C"/>
          </a:solidFill>
          <a:ln>
            <a:noFill/>
          </a:ln>
        </p:spPr>
      </p:sp>
      <p:pic>
        <p:nvPicPr>
          <p:cNvPr id="805" name="G"/>
          <p:cNvPicPr>
            <a:picLocks noChangeAspect="1"/>
          </p:cNvPicPr>
          <p:nvPr/>
        </p:nvPicPr>
        <p:blipFill>
          <a:blip r:embed="rIdM5"/>
          <a:stretch>
            <a:fillRect/>
          </a:stretch>
        </p:blipFill>
        <p:spPr>
          <a:xfrm>
            <a:off x="7615854" y="3930822"/>
            <a:ext cx="93634" cy="93634"/>
          </a:xfrm>
          <a:prstGeom prst="rect">
            <a:avLst/>
          </a:prstGeom>
        </p:spPr>
      </p:pic>
      <p:sp>
        <p:nvSpPr>
          <p:cNvPr id="806" name="K"/>
          <p:cNvSpPr/>
          <p:nvPr/>
        </p:nvSpPr>
        <p:spPr>
          <a:xfrm>
            <a:off x="7772400" y="3904488"/>
            <a:ext cx="146304" cy="146304"/>
          </a:xfrm>
          <a:prstGeom prst="ellipse">
            <a:avLst/>
          </a:prstGeom>
          <a:solidFill>
            <a:srgbClr val="0E7490"/>
          </a:solidFill>
          <a:ln>
            <a:noFill/>
          </a:ln>
        </p:spPr>
      </p:sp>
      <p:pic>
        <p:nvPicPr>
          <p:cNvPr id="807" name="G"/>
          <p:cNvPicPr>
            <a:picLocks noChangeAspect="1"/>
          </p:cNvPicPr>
          <p:nvPr/>
        </p:nvPicPr>
        <p:blipFill>
          <a:blip r:embed="rIdM15"/>
          <a:stretch>
            <a:fillRect/>
          </a:stretch>
        </p:blipFill>
        <p:spPr>
          <a:xfrm>
            <a:off x="7799832" y="3931920"/>
            <a:ext cx="91440" cy="91440"/>
          </a:xfrm>
          <a:prstGeom prst="rect">
            <a:avLst/>
          </a:prstGeom>
        </p:spPr>
      </p:pic>
      <p:sp>
        <p:nvSpPr>
          <p:cNvPr id="808" name="T"/>
          <p:cNvSpPr txBox="1"/>
          <p:nvPr/>
        </p:nvSpPr>
        <p:spPr>
          <a:xfrm>
            <a:off x="7971232" y="3886200"/>
            <a:ext cx="2286000" cy="182880"/>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Aceh</a:t>
            </a:r>
            <a:r>
              <a:rPr lang="id-ID" sz="760" dirty="0">
                <a:solidFill>
                  <a:srgbClr val="1A1A1A"/>
                </a:solidFill>
                <a:latin typeface="Roboto"/>
                <a:ea typeface="Roboto"/>
                <a:cs typeface="Roboto"/>
              </a:rPr>
              <a:t>, Gayo Lues</a:t>
            </a:r>
            <a:endParaRPr lang="id-ID" sz="760"/>
          </a:p>
        </p:txBody>
      </p:sp>
      <p:sp>
        <p:nvSpPr>
          <p:cNvPr id="809" name="K"/>
          <p:cNvSpPr/>
          <p:nvPr/>
        </p:nvSpPr>
        <p:spPr>
          <a:xfrm>
            <a:off x="10541042" y="3895344"/>
            <a:ext cx="919132" cy="164592"/>
          </a:xfrm>
          <a:prstGeom prst="roundRect">
            <a:avLst>
              <a:gd name="adj" fmla="val 50000"/>
            </a:avLst>
          </a:prstGeom>
          <a:solidFill>
            <a:srgbClr val="E6EAF0"/>
          </a:solidFill>
          <a:ln>
            <a:noFill/>
          </a:ln>
        </p:spPr>
      </p:sp>
      <p:pic>
        <p:nvPicPr>
          <p:cNvPr id="810" name="G"/>
          <p:cNvPicPr>
            <a:picLocks noChangeAspect="1"/>
          </p:cNvPicPr>
          <p:nvPr/>
        </p:nvPicPr>
        <p:blipFill>
          <a:blip r:embed="rIdM14"/>
          <a:stretch>
            <a:fillRect/>
          </a:stretch>
        </p:blipFill>
        <p:spPr>
          <a:xfrm>
            <a:off x="10598649" y="3928262"/>
            <a:ext cx="98755" cy="98755"/>
          </a:xfrm>
          <a:prstGeom prst="rect">
            <a:avLst/>
          </a:prstGeom>
        </p:spPr>
      </p:pic>
      <p:sp>
        <p:nvSpPr>
          <p:cNvPr id="811" name="T"/>
          <p:cNvSpPr txBox="1"/>
          <p:nvPr/>
        </p:nvSpPr>
        <p:spPr>
          <a:xfrm>
            <a:off x="10697404" y="3895344"/>
            <a:ext cx="762770" cy="164592"/>
          </a:xfrm>
          <a:prstGeom prst="rect">
            <a:avLst/>
          </a:prstGeom>
          <a:noFill/>
        </p:spPr>
        <p:txBody>
          <a:bodyPr wrap="none" lIns="0" tIns="0" rIns="0" bIns="0" anchor="ctr"/>
          <a:lstStyle/>
          <a:p>
            <a:pPr algn="ctr">
              <a:buNone/>
            </a:pPr>
            <a:r>
              <a:rPr lang="id-ID" sz="700" b="1" dirty="0">
                <a:solidFill>
                  <a:srgbClr val="051C2C"/>
                </a:solidFill>
                <a:latin typeface="Roboto"/>
                <a:ea typeface="Roboto"/>
                <a:cs typeface="Roboto"/>
              </a:rPr>
              <a:t>Air sudah surut</a:t>
            </a:r>
            <a:endParaRPr lang="id-ID" sz="700"/>
          </a:p>
        </p:txBody>
      </p:sp>
      <p:sp>
        <p:nvSpPr>
          <p:cNvPr id="812" name="K"/>
          <p:cNvSpPr/>
          <p:nvPr/>
        </p:nvSpPr>
        <p:spPr>
          <a:xfrm>
            <a:off x="9914245" y="3895344"/>
            <a:ext cx="571932" cy="164592"/>
          </a:xfrm>
          <a:prstGeom prst="roundRect">
            <a:avLst>
              <a:gd name="adj" fmla="val 50000"/>
            </a:avLst>
          </a:prstGeom>
          <a:solidFill>
            <a:srgbClr val="F7F8FA"/>
          </a:solidFill>
          <a:ln>
            <a:noFill/>
          </a:ln>
        </p:spPr>
      </p:sp>
      <p:pic>
        <p:nvPicPr>
          <p:cNvPr id="813" name="G"/>
          <p:cNvPicPr>
            <a:picLocks noChangeAspect="1"/>
          </p:cNvPicPr>
          <p:nvPr/>
        </p:nvPicPr>
        <p:blipFill>
          <a:blip r:embed="rIdM10"/>
          <a:stretch>
            <a:fillRect/>
          </a:stretch>
        </p:blipFill>
        <p:spPr>
          <a:xfrm>
            <a:off x="9971852" y="3928262"/>
            <a:ext cx="98755" cy="98755"/>
          </a:xfrm>
          <a:prstGeom prst="rect">
            <a:avLst/>
          </a:prstGeom>
        </p:spPr>
      </p:pic>
      <p:sp>
        <p:nvSpPr>
          <p:cNvPr id="814" name="T"/>
          <p:cNvSpPr txBox="1"/>
          <p:nvPr/>
        </p:nvSpPr>
        <p:spPr>
          <a:xfrm>
            <a:off x="10070607" y="3895344"/>
            <a:ext cx="415570" cy="164592"/>
          </a:xfrm>
          <a:prstGeom prst="rect">
            <a:avLst/>
          </a:prstGeom>
          <a:noFill/>
        </p:spPr>
        <p:txBody>
          <a:bodyPr wrap="none" lIns="0" tIns="0" rIns="0" bIns="0" anchor="ctr"/>
          <a:lstStyle/>
          <a:p>
            <a:pPr algn="ctr">
              <a:buNone/>
            </a:pPr>
            <a:r>
              <a:rPr lang="id-ID" sz="700" b="1" dirty="0">
                <a:solidFill>
                  <a:srgbClr val="1A1A1A"/>
                </a:solidFill>
                <a:latin typeface="Roboto"/>
                <a:ea typeface="Roboto"/>
                <a:cs typeface="Roboto"/>
              </a:rPr>
              <a:t>±370 KK</a:t>
            </a:r>
            <a:endParaRPr lang="id-ID" sz="700"/>
          </a:p>
        </p:txBody>
      </p:sp>
      <p:sp>
        <p:nvSpPr>
          <p:cNvPr id="815" name="K"/>
          <p:cNvSpPr/>
          <p:nvPr/>
        </p:nvSpPr>
        <p:spPr>
          <a:xfrm>
            <a:off x="8723248" y="3895344"/>
            <a:ext cx="1136132" cy="164592"/>
          </a:xfrm>
          <a:prstGeom prst="roundRect">
            <a:avLst>
              <a:gd name="adj" fmla="val 50000"/>
            </a:avLst>
          </a:prstGeom>
          <a:solidFill>
            <a:srgbClr val="F7F8FA"/>
          </a:solidFill>
          <a:ln>
            <a:noFill/>
          </a:ln>
        </p:spPr>
      </p:sp>
      <p:pic>
        <p:nvPicPr>
          <p:cNvPr id="816" name="G"/>
          <p:cNvPicPr>
            <a:picLocks noChangeAspect="1"/>
          </p:cNvPicPr>
          <p:nvPr/>
        </p:nvPicPr>
        <p:blipFill>
          <a:blip r:embed="rIdM13"/>
          <a:stretch>
            <a:fillRect/>
          </a:stretch>
        </p:blipFill>
        <p:spPr>
          <a:xfrm>
            <a:off x="8780855" y="3928262"/>
            <a:ext cx="98755" cy="98755"/>
          </a:xfrm>
          <a:prstGeom prst="rect">
            <a:avLst/>
          </a:prstGeom>
        </p:spPr>
      </p:pic>
      <p:sp>
        <p:nvSpPr>
          <p:cNvPr id="817" name="T"/>
          <p:cNvSpPr txBox="1"/>
          <p:nvPr/>
        </p:nvSpPr>
        <p:spPr>
          <a:xfrm>
            <a:off x="8879610" y="3895344"/>
            <a:ext cx="979770" cy="164592"/>
          </a:xfrm>
          <a:prstGeom prst="rect">
            <a:avLst/>
          </a:prstGeom>
          <a:noFill/>
        </p:spPr>
        <p:txBody>
          <a:bodyPr wrap="none" lIns="0" tIns="0" rIns="0" bIns="0" anchor="ctr"/>
          <a:lstStyle/>
          <a:p>
            <a:pPr algn="ctr">
              <a:buNone/>
            </a:pPr>
            <a:r>
              <a:rPr lang="id-ID" sz="700" b="1" dirty="0">
                <a:solidFill>
                  <a:srgbClr val="1A1A1A"/>
                </a:solidFill>
                <a:latin typeface="Roboto"/>
                <a:ea typeface="Roboto"/>
                <a:cs typeface="Roboto"/>
              </a:rPr>
              <a:t>±370 rumah terdampak</a:t>
            </a:r>
            <a:endParaRPr lang="id-ID" sz="700"/>
          </a:p>
        </p:txBody>
      </p:sp>
      <p:sp>
        <p:nvSpPr>
          <p:cNvPr id="818" name="K"/>
          <p:cNvSpPr/>
          <p:nvPr/>
        </p:nvSpPr>
        <p:spPr>
          <a:xfrm>
            <a:off x="7589520" y="4096512"/>
            <a:ext cx="146304" cy="146304"/>
          </a:xfrm>
          <a:prstGeom prst="ellipse">
            <a:avLst/>
          </a:prstGeom>
          <a:solidFill>
            <a:srgbClr val="D9600B"/>
          </a:solidFill>
          <a:ln>
            <a:noFill/>
          </a:ln>
        </p:spPr>
      </p:sp>
      <p:pic>
        <p:nvPicPr>
          <p:cNvPr id="819" name="G"/>
          <p:cNvPicPr>
            <a:picLocks noChangeAspect="1"/>
          </p:cNvPicPr>
          <p:nvPr/>
        </p:nvPicPr>
        <p:blipFill>
          <a:blip r:embed="rIdM2"/>
          <a:stretch>
            <a:fillRect/>
          </a:stretch>
        </p:blipFill>
        <p:spPr>
          <a:xfrm>
            <a:off x="7615854" y="4122846"/>
            <a:ext cx="93634" cy="93634"/>
          </a:xfrm>
          <a:prstGeom prst="rect">
            <a:avLst/>
          </a:prstGeom>
        </p:spPr>
      </p:pic>
      <p:sp>
        <p:nvSpPr>
          <p:cNvPr id="820" name="K"/>
          <p:cNvSpPr/>
          <p:nvPr/>
        </p:nvSpPr>
        <p:spPr>
          <a:xfrm>
            <a:off x="7772400" y="4096512"/>
            <a:ext cx="146304" cy="146304"/>
          </a:xfrm>
          <a:prstGeom prst="ellipse">
            <a:avLst/>
          </a:prstGeom>
          <a:solidFill>
            <a:srgbClr val="0E7490"/>
          </a:solidFill>
          <a:ln>
            <a:noFill/>
          </a:ln>
        </p:spPr>
      </p:sp>
      <p:pic>
        <p:nvPicPr>
          <p:cNvPr id="821" name="G"/>
          <p:cNvPicPr>
            <a:picLocks noChangeAspect="1"/>
          </p:cNvPicPr>
          <p:nvPr/>
        </p:nvPicPr>
        <p:blipFill>
          <a:blip r:embed="rIdM15"/>
          <a:stretch>
            <a:fillRect/>
          </a:stretch>
        </p:blipFill>
        <p:spPr>
          <a:xfrm>
            <a:off x="7799832" y="4123944"/>
            <a:ext cx="91440" cy="91440"/>
          </a:xfrm>
          <a:prstGeom prst="rect">
            <a:avLst/>
          </a:prstGeom>
        </p:spPr>
      </p:pic>
      <p:sp>
        <p:nvSpPr>
          <p:cNvPr id="822" name="T"/>
          <p:cNvSpPr txBox="1"/>
          <p:nvPr/>
        </p:nvSpPr>
        <p:spPr>
          <a:xfrm>
            <a:off x="7971232" y="4078224"/>
            <a:ext cx="2286000" cy="182880"/>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Kalimantan Selatan</a:t>
            </a:r>
            <a:r>
              <a:rPr lang="id-ID" sz="760" dirty="0">
                <a:solidFill>
                  <a:srgbClr val="1A1A1A"/>
                </a:solidFill>
                <a:latin typeface="Roboto"/>
                <a:ea typeface="Roboto"/>
                <a:cs typeface="Roboto"/>
              </a:rPr>
              <a:t>, Banjar</a:t>
            </a:r>
            <a:endParaRPr lang="id-ID" sz="760"/>
          </a:p>
        </p:txBody>
      </p:sp>
      <p:sp>
        <p:nvSpPr>
          <p:cNvPr id="823" name="K"/>
          <p:cNvSpPr/>
          <p:nvPr/>
        </p:nvSpPr>
        <p:spPr>
          <a:xfrm>
            <a:off x="10497642" y="4087368"/>
            <a:ext cx="962532" cy="164592"/>
          </a:xfrm>
          <a:prstGeom prst="roundRect">
            <a:avLst>
              <a:gd name="adj" fmla="val 50000"/>
            </a:avLst>
          </a:prstGeom>
          <a:solidFill>
            <a:srgbClr val="FBE7D6"/>
          </a:solidFill>
          <a:ln>
            <a:noFill/>
          </a:ln>
        </p:spPr>
      </p:sp>
      <p:pic>
        <p:nvPicPr>
          <p:cNvPr id="824" name="G"/>
          <p:cNvPicPr>
            <a:picLocks noChangeAspect="1"/>
          </p:cNvPicPr>
          <p:nvPr/>
        </p:nvPicPr>
        <p:blipFill>
          <a:blip r:embed="rIdM8"/>
          <a:stretch>
            <a:fillRect/>
          </a:stretch>
        </p:blipFill>
        <p:spPr>
          <a:xfrm>
            <a:off x="10555249" y="4120286"/>
            <a:ext cx="98755" cy="98755"/>
          </a:xfrm>
          <a:prstGeom prst="rect">
            <a:avLst/>
          </a:prstGeom>
        </p:spPr>
      </p:pic>
      <p:sp>
        <p:nvSpPr>
          <p:cNvPr id="825" name="T"/>
          <p:cNvSpPr txBox="1"/>
          <p:nvPr/>
        </p:nvSpPr>
        <p:spPr>
          <a:xfrm>
            <a:off x="10654004" y="4087368"/>
            <a:ext cx="806170" cy="164592"/>
          </a:xfrm>
          <a:prstGeom prst="rect">
            <a:avLst/>
          </a:prstGeom>
          <a:noFill/>
        </p:spPr>
        <p:txBody>
          <a:bodyPr wrap="none" lIns="0" tIns="0" rIns="0" bIns="0" anchor="ctr"/>
          <a:lstStyle/>
          <a:p>
            <a:pPr algn="ctr">
              <a:buNone/>
            </a:pPr>
            <a:r>
              <a:rPr lang="id-ID" sz="700" b="1" dirty="0">
                <a:solidFill>
                  <a:srgbClr val="D9600B"/>
                </a:solidFill>
                <a:latin typeface="Roboto"/>
                <a:ea typeface="Roboto"/>
                <a:cs typeface="Roboto"/>
              </a:rPr>
              <a:t>Dalam penanganan</a:t>
            </a:r>
            <a:endParaRPr lang="id-ID" sz="700"/>
          </a:p>
        </p:txBody>
      </p:sp>
      <p:sp>
        <p:nvSpPr>
          <p:cNvPr id="826" name="K"/>
          <p:cNvSpPr/>
          <p:nvPr/>
        </p:nvSpPr>
        <p:spPr>
          <a:xfrm>
            <a:off x="9914245" y="4087368"/>
            <a:ext cx="528532" cy="164592"/>
          </a:xfrm>
          <a:prstGeom prst="roundRect">
            <a:avLst>
              <a:gd name="adj" fmla="val 50000"/>
            </a:avLst>
          </a:prstGeom>
          <a:solidFill>
            <a:srgbClr val="F7F8FA"/>
          </a:solidFill>
          <a:ln>
            <a:noFill/>
          </a:ln>
        </p:spPr>
      </p:sp>
      <p:pic>
        <p:nvPicPr>
          <p:cNvPr id="827" name="G"/>
          <p:cNvPicPr>
            <a:picLocks noChangeAspect="1"/>
          </p:cNvPicPr>
          <p:nvPr/>
        </p:nvPicPr>
        <p:blipFill>
          <a:blip r:embed="rIdM10"/>
          <a:stretch>
            <a:fillRect/>
          </a:stretch>
        </p:blipFill>
        <p:spPr>
          <a:xfrm>
            <a:off x="9971852" y="4120286"/>
            <a:ext cx="98755" cy="98755"/>
          </a:xfrm>
          <a:prstGeom prst="rect">
            <a:avLst/>
          </a:prstGeom>
        </p:spPr>
      </p:pic>
      <p:sp>
        <p:nvSpPr>
          <p:cNvPr id="828" name="T"/>
          <p:cNvSpPr txBox="1"/>
          <p:nvPr/>
        </p:nvSpPr>
        <p:spPr>
          <a:xfrm>
            <a:off x="10070607" y="4087368"/>
            <a:ext cx="372170" cy="164592"/>
          </a:xfrm>
          <a:prstGeom prst="rect">
            <a:avLst/>
          </a:prstGeom>
          <a:noFill/>
        </p:spPr>
        <p:txBody>
          <a:bodyPr wrap="none" lIns="0" tIns="0" rIns="0" bIns="0" anchor="ctr"/>
          <a:lstStyle/>
          <a:p>
            <a:pPr algn="ctr">
              <a:buNone/>
            </a:pPr>
            <a:r>
              <a:rPr lang="id-ID" sz="700" b="1" dirty="0">
                <a:solidFill>
                  <a:srgbClr val="1A1A1A"/>
                </a:solidFill>
                <a:latin typeface="Roboto"/>
                <a:ea typeface="Roboto"/>
                <a:cs typeface="Roboto"/>
              </a:rPr>
              <a:t>±45 KK</a:t>
            </a:r>
            <a:endParaRPr lang="id-ID" sz="700"/>
          </a:p>
        </p:txBody>
      </p:sp>
      <p:sp>
        <p:nvSpPr>
          <p:cNvPr id="836" name="T"/>
          <p:cNvSpPr txBox="1"/>
          <p:nvPr/>
        </p:nvSpPr>
        <p:spPr>
          <a:xfrm>
            <a:off x="7498080" y="4379976"/>
            <a:ext cx="868680" cy="182880"/>
          </a:xfrm>
          <a:prstGeom prst="rect">
            <a:avLst/>
          </a:prstGeom>
          <a:noFill/>
        </p:spPr>
        <p:txBody>
          <a:bodyPr wrap="square" lIns="0" tIns="0" rIns="0" bIns="0" anchor="ctr"/>
          <a:lstStyle/>
          <a:p>
            <a:pPr algn="l">
              <a:buNone/>
            </a:pPr>
            <a:r>
              <a:rPr lang="id-ID" sz="700" b="1" spc="100" dirty="0">
                <a:solidFill>
                  <a:srgbClr val="6B7280"/>
                </a:solidFill>
                <a:latin typeface="Roboto"/>
                <a:ea typeface="Roboto"/>
                <a:cs typeface="Roboto"/>
              </a:rPr>
              <a:t>KETERANGAN</a:t>
            </a:r>
            <a:endParaRPr lang="id-ID" sz="650"/>
          </a:p>
        </p:txBody>
      </p:sp>
      <p:sp>
        <p:nvSpPr>
          <p:cNvPr id="837" name="K"/>
          <p:cNvSpPr/>
          <p:nvPr/>
        </p:nvSpPr>
        <p:spPr>
          <a:xfrm>
            <a:off x="8412480" y="4407408"/>
            <a:ext cx="128016" cy="128016"/>
          </a:xfrm>
          <a:prstGeom prst="ellipse">
            <a:avLst/>
          </a:prstGeom>
          <a:solidFill>
            <a:srgbClr val="051C2C"/>
          </a:solidFill>
          <a:ln>
            <a:noFill/>
          </a:ln>
        </p:spPr>
      </p:sp>
      <p:pic>
        <p:nvPicPr>
          <p:cNvPr id="838" name="G"/>
          <p:cNvPicPr>
            <a:picLocks noChangeAspect="1"/>
          </p:cNvPicPr>
          <p:nvPr/>
        </p:nvPicPr>
        <p:blipFill>
          <a:blip r:embed="rIdM5"/>
          <a:stretch>
            <a:fillRect/>
          </a:stretch>
        </p:blipFill>
        <p:spPr>
          <a:xfrm>
            <a:off x="8439912" y="4434840"/>
            <a:ext cx="73152" cy="73152"/>
          </a:xfrm>
          <a:prstGeom prst="rect">
            <a:avLst/>
          </a:prstGeom>
        </p:spPr>
      </p:pic>
      <p:sp>
        <p:nvSpPr>
          <p:cNvPr id="839" name="T"/>
          <p:cNvSpPr txBox="1"/>
          <p:nvPr/>
        </p:nvSpPr>
        <p:spPr>
          <a:xfrm>
            <a:off x="8586216" y="4379976"/>
            <a:ext cx="1000000" cy="182880"/>
          </a:xfrm>
          <a:prstGeom prst="rect">
            <a:avLst/>
          </a:prstGeom>
          <a:noFill/>
        </p:spPr>
        <p:txBody>
          <a:bodyPr wrap="square" lIns="0" tIns="0" rIns="0" bIns="0" anchor="ctr"/>
          <a:lstStyle/>
          <a:p>
            <a:pPr algn="l">
              <a:buNone/>
            </a:pPr>
            <a:r>
              <a:rPr lang="id-ID" sz="700" dirty="0">
                <a:solidFill>
                  <a:srgbClr val="2E3440"/>
                </a:solidFill>
                <a:latin typeface="Roboto"/>
                <a:ea typeface="Roboto"/>
                <a:cs typeface="Roboto"/>
              </a:rPr>
              <a:t>selesai</a:t>
            </a:r>
            <a:endParaRPr lang="id-ID" sz="700"/>
          </a:p>
        </p:txBody>
      </p:sp>
      <p:sp>
        <p:nvSpPr>
          <p:cNvPr id="840" name="K"/>
          <p:cNvSpPr/>
          <p:nvPr/>
        </p:nvSpPr>
        <p:spPr>
          <a:xfrm>
            <a:off x="9189720" y="4407408"/>
            <a:ext cx="128016" cy="128016"/>
          </a:xfrm>
          <a:prstGeom prst="ellipse">
            <a:avLst/>
          </a:prstGeom>
          <a:solidFill>
            <a:srgbClr val="D9600B"/>
          </a:solidFill>
          <a:ln>
            <a:noFill/>
          </a:ln>
        </p:spPr>
      </p:sp>
      <p:pic>
        <p:nvPicPr>
          <p:cNvPr id="841" name="G"/>
          <p:cNvPicPr>
            <a:picLocks noChangeAspect="1"/>
          </p:cNvPicPr>
          <p:nvPr/>
        </p:nvPicPr>
        <p:blipFill>
          <a:blip r:embed="rIdM2"/>
          <a:stretch>
            <a:fillRect/>
          </a:stretch>
        </p:blipFill>
        <p:spPr>
          <a:xfrm>
            <a:off x="9217152" y="4434840"/>
            <a:ext cx="73152" cy="73152"/>
          </a:xfrm>
          <a:prstGeom prst="rect">
            <a:avLst/>
          </a:prstGeom>
        </p:spPr>
      </p:pic>
      <p:sp>
        <p:nvSpPr>
          <p:cNvPr id="842" name="T"/>
          <p:cNvSpPr txBox="1"/>
          <p:nvPr/>
        </p:nvSpPr>
        <p:spPr>
          <a:xfrm>
            <a:off x="9363456" y="4379976"/>
            <a:ext cx="1000000" cy="182880"/>
          </a:xfrm>
          <a:prstGeom prst="rect">
            <a:avLst/>
          </a:prstGeom>
          <a:noFill/>
        </p:spPr>
        <p:txBody>
          <a:bodyPr wrap="square" lIns="0" tIns="0" rIns="0" bIns="0" anchor="ctr"/>
          <a:lstStyle/>
          <a:p>
            <a:pPr algn="l">
              <a:buNone/>
            </a:pPr>
            <a:r>
              <a:rPr lang="id-ID" sz="700" dirty="0">
                <a:solidFill>
                  <a:srgbClr val="2E3440"/>
                </a:solidFill>
                <a:latin typeface="Roboto"/>
                <a:ea typeface="Roboto"/>
                <a:cs typeface="Roboto"/>
              </a:rPr>
              <a:t>dalam penanganan</a:t>
            </a:r>
            <a:endParaRPr lang="id-ID" sz="700"/>
          </a:p>
        </p:txBody>
      </p:sp>
      <p:sp>
        <p:nvSpPr>
          <p:cNvPr id="843" name="K"/>
          <p:cNvSpPr/>
          <p:nvPr/>
        </p:nvSpPr>
        <p:spPr>
          <a:xfrm>
            <a:off x="7406640" y="4636008"/>
            <a:ext cx="4236415" cy="1719072"/>
          </a:xfrm>
          <a:prstGeom prst="roundRect">
            <a:avLst>
              <a:gd name="adj" fmla="val 8027"/>
            </a:avLst>
          </a:prstGeom>
          <a:solidFill>
            <a:srgbClr val="FFFFFF"/>
          </a:solidFill>
          <a:ln w="9525">
            <a:solidFill>
              <a:srgbClr val="BFC5CC"/>
            </a:solidFill>
          </a:ln>
        </p:spPr>
      </p:sp>
      <p:sp>
        <p:nvSpPr>
          <p:cNvPr id="844" name="K"/>
          <p:cNvSpPr/>
          <p:nvPr/>
        </p:nvSpPr>
        <p:spPr>
          <a:xfrm>
            <a:off x="7406640" y="4636008"/>
            <a:ext cx="4236415" cy="365760"/>
          </a:xfrm>
          <a:prstGeom prst="roundRect">
            <a:avLst>
              <a:gd name="adj" fmla="val 16000"/>
            </a:avLst>
          </a:prstGeom>
          <a:solidFill>
            <a:srgbClr val="FBE7DC"/>
          </a:solidFill>
          <a:ln>
            <a:noFill/>
          </a:ln>
        </p:spPr>
      </p:sp>
      <p:sp>
        <p:nvSpPr>
          <p:cNvPr id="845" name="K"/>
          <p:cNvSpPr/>
          <p:nvPr/>
        </p:nvSpPr>
        <p:spPr>
          <a:xfrm>
            <a:off x="7406640" y="4855464"/>
            <a:ext cx="4236415" cy="146304"/>
          </a:xfrm>
          <a:prstGeom prst="rect">
            <a:avLst/>
          </a:prstGeom>
          <a:solidFill>
            <a:srgbClr val="FBE7DC"/>
          </a:solidFill>
          <a:ln>
            <a:noFill/>
          </a:ln>
        </p:spPr>
      </p:sp>
      <p:sp>
        <p:nvSpPr>
          <p:cNvPr id="846" name="K"/>
          <p:cNvSpPr/>
          <p:nvPr/>
        </p:nvSpPr>
        <p:spPr>
          <a:xfrm>
            <a:off x="7534656" y="4672584"/>
            <a:ext cx="292608" cy="292608"/>
          </a:xfrm>
          <a:prstGeom prst="ellipse">
            <a:avLst/>
          </a:prstGeom>
          <a:solidFill>
            <a:srgbClr val="9A3412"/>
          </a:solidFill>
          <a:ln>
            <a:noFill/>
          </a:ln>
        </p:spPr>
      </p:sp>
      <p:pic>
        <p:nvPicPr>
          <p:cNvPr id="847" name="G"/>
          <p:cNvPicPr>
            <a:picLocks noChangeAspect="1"/>
          </p:cNvPicPr>
          <p:nvPr/>
        </p:nvPicPr>
        <p:blipFill>
          <a:blip r:embed="rIdM18"/>
          <a:stretch>
            <a:fillRect/>
          </a:stretch>
        </p:blipFill>
        <p:spPr>
          <a:xfrm>
            <a:off x="7589520" y="4727448"/>
            <a:ext cx="182880" cy="182880"/>
          </a:xfrm>
          <a:prstGeom prst="rect">
            <a:avLst/>
          </a:prstGeom>
        </p:spPr>
      </p:pic>
      <p:sp>
        <p:nvSpPr>
          <p:cNvPr id="848" name="T"/>
          <p:cNvSpPr txBox="1"/>
          <p:nvPr/>
        </p:nvSpPr>
        <p:spPr>
          <a:xfrm>
            <a:off x="7909560" y="4636008"/>
            <a:ext cx="3136415" cy="365760"/>
          </a:xfrm>
          <a:prstGeom prst="rect">
            <a:avLst/>
          </a:prstGeom>
          <a:noFill/>
        </p:spPr>
        <p:txBody>
          <a:bodyPr wrap="square" lIns="0" tIns="0" rIns="0" bIns="0" anchor="ctr"/>
          <a:lstStyle/>
          <a:p>
            <a:pPr algn="l">
              <a:buNone/>
            </a:pPr>
            <a:r>
              <a:rPr lang="id-ID" sz="1100" b="1" dirty="0">
                <a:solidFill>
                  <a:srgbClr val="1A1A1A"/>
                </a:solidFill>
                <a:latin typeface="Roboto"/>
                <a:ea typeface="Roboto"/>
                <a:cs typeface="Roboto"/>
              </a:rPr>
              <a:t>Gunung api</a:t>
            </a:r>
            <a:endParaRPr lang="id-ID" sz="1100"/>
          </a:p>
        </p:txBody>
      </p:sp>
      <p:sp>
        <p:nvSpPr>
          <p:cNvPr id="849" name="T"/>
          <p:cNvSpPr txBox="1"/>
          <p:nvPr/>
        </p:nvSpPr>
        <p:spPr>
          <a:xfrm>
            <a:off x="11002975" y="4636008"/>
            <a:ext cx="512064" cy="365760"/>
          </a:xfrm>
          <a:prstGeom prst="rect">
            <a:avLst/>
          </a:prstGeom>
          <a:noFill/>
        </p:spPr>
        <p:txBody>
          <a:bodyPr wrap="square" lIns="0" tIns="0" rIns="0" bIns="0" anchor="ctr"/>
          <a:lstStyle/>
          <a:p>
            <a:pPr algn="r">
              <a:buNone/>
            </a:pPr>
            <a:r>
              <a:rPr lang="id-ID" sz="1800" b="1" dirty="0">
                <a:solidFill>
                  <a:srgbClr val="9A3412"/>
                </a:solidFill>
                <a:latin typeface="Roboto"/>
                <a:ea typeface="Roboto"/>
                <a:cs typeface="Roboto"/>
              </a:rPr>
              <a:t>3</a:t>
            </a:r>
            <a:endParaRPr lang="id-ID" sz="1800"/>
          </a:p>
        </p:txBody>
      </p:sp>
      <p:sp>
        <p:nvSpPr>
          <p:cNvPr id="850" name="K"/>
          <p:cNvSpPr/>
          <p:nvPr/>
        </p:nvSpPr>
        <p:spPr>
          <a:xfrm>
            <a:off x="7534656" y="5056632"/>
            <a:ext cx="2278000" cy="182880"/>
          </a:xfrm>
          <a:prstGeom prst="roundRect">
            <a:avLst>
              <a:gd name="adj" fmla="val 50000"/>
            </a:avLst>
          </a:prstGeom>
          <a:solidFill>
            <a:srgbClr val="E6EAF0"/>
          </a:solidFill>
          <a:ln>
            <a:noFill/>
          </a:ln>
        </p:spPr>
      </p:sp>
      <p:pic>
        <p:nvPicPr>
          <p:cNvPr id="851" name="G"/>
          <p:cNvPicPr>
            <a:picLocks noChangeAspect="1"/>
          </p:cNvPicPr>
          <p:nvPr/>
        </p:nvPicPr>
        <p:blipFill>
          <a:blip r:embed="rIdM14"/>
          <a:stretch>
            <a:fillRect/>
          </a:stretch>
        </p:blipFill>
        <p:spPr>
          <a:xfrm>
            <a:off x="7589520" y="5093208"/>
            <a:ext cx="109728" cy="109728"/>
          </a:xfrm>
          <a:prstGeom prst="rect">
            <a:avLst/>
          </a:prstGeom>
        </p:spPr>
      </p:pic>
      <p:sp>
        <p:nvSpPr>
          <p:cNvPr id="852" name="T"/>
          <p:cNvSpPr txBox="1"/>
          <p:nvPr/>
        </p:nvSpPr>
        <p:spPr>
          <a:xfrm>
            <a:off x="7744968" y="5056632"/>
            <a:ext cx="2049400" cy="182880"/>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Status PVMBG Sabtu, 31 Oktober 2026, 07.00 WIB</a:t>
            </a:r>
            <a:endParaRPr lang="id-ID" sz="680"/>
          </a:p>
        </p:txBody>
      </p:sp>
      <p:sp>
        <p:nvSpPr>
          <p:cNvPr id="853" name="K"/>
          <p:cNvSpPr/>
          <p:nvPr/>
        </p:nvSpPr>
        <p:spPr>
          <a:xfrm>
            <a:off x="7534656" y="5303520"/>
            <a:ext cx="953947" cy="237744"/>
          </a:xfrm>
          <a:prstGeom prst="roundRect">
            <a:avLst>
              <a:gd name="adj" fmla="val 20000"/>
            </a:avLst>
          </a:prstGeom>
          <a:solidFill>
            <a:srgbClr val="F8DDE0"/>
          </a:solidFill>
          <a:ln>
            <a:noFill/>
          </a:ln>
        </p:spPr>
      </p:sp>
      <p:pic>
        <p:nvPicPr>
          <p:cNvPr id="854" name="G"/>
          <p:cNvPicPr>
            <a:picLocks noChangeAspect="1"/>
          </p:cNvPicPr>
          <p:nvPr/>
        </p:nvPicPr>
        <p:blipFill>
          <a:blip r:embed="rIdM19"/>
          <a:stretch>
            <a:fillRect/>
          </a:stretch>
        </p:blipFill>
        <p:spPr>
          <a:xfrm>
            <a:off x="7598664" y="5353812"/>
            <a:ext cx="137160" cy="137160"/>
          </a:xfrm>
          <a:prstGeom prst="rect">
            <a:avLst/>
          </a:prstGeom>
        </p:spPr>
      </p:pic>
      <p:sp>
        <p:nvSpPr>
          <p:cNvPr id="855" name="T"/>
          <p:cNvSpPr txBox="1"/>
          <p:nvPr/>
        </p:nvSpPr>
        <p:spPr>
          <a:xfrm>
            <a:off x="7772400" y="5303520"/>
            <a:ext cx="693947" cy="237744"/>
          </a:xfrm>
          <a:prstGeom prst="rect">
            <a:avLst/>
          </a:prstGeom>
          <a:noFill/>
        </p:spPr>
        <p:txBody>
          <a:bodyPr wrap="none" lIns="0" tIns="0" rIns="0" bIns="0" anchor="ctr"/>
          <a:lstStyle/>
          <a:p>
            <a:pPr algn="l">
              <a:buNone/>
            </a:pPr>
            <a:r>
              <a:rPr lang="id-ID" sz="800" b="1" dirty="0">
                <a:solidFill>
                  <a:srgbClr val="C8102E"/>
                </a:solidFill>
                <a:latin typeface="Roboto"/>
                <a:ea typeface="Roboto"/>
                <a:cs typeface="Roboto"/>
              </a:rPr>
              <a:t>0</a:t>
            </a:r>
            <a:r>
              <a:rPr lang="id-ID" sz="800" dirty="0">
                <a:solidFill>
                  <a:srgbClr val="2E3440"/>
                </a:solidFill>
                <a:latin typeface="Roboto"/>
                <a:ea typeface="Roboto"/>
                <a:cs typeface="Roboto"/>
              </a:rPr>
              <a:t>  Awas</a:t>
            </a:r>
            <a:endParaRPr lang="id-ID" sz="800"/>
          </a:p>
        </p:txBody>
      </p:sp>
      <p:sp>
        <p:nvSpPr>
          <p:cNvPr id="856" name="K"/>
          <p:cNvSpPr/>
          <p:nvPr/>
        </p:nvSpPr>
        <p:spPr>
          <a:xfrm>
            <a:off x="8543467" y="5303520"/>
            <a:ext cx="953947" cy="237744"/>
          </a:xfrm>
          <a:prstGeom prst="roundRect">
            <a:avLst>
              <a:gd name="adj" fmla="val 20000"/>
            </a:avLst>
          </a:prstGeom>
          <a:solidFill>
            <a:srgbClr val="FBE7D6"/>
          </a:solidFill>
          <a:ln>
            <a:noFill/>
          </a:ln>
        </p:spPr>
      </p:sp>
      <p:pic>
        <p:nvPicPr>
          <p:cNvPr id="857" name="G"/>
          <p:cNvPicPr>
            <a:picLocks noChangeAspect="1"/>
          </p:cNvPicPr>
          <p:nvPr/>
        </p:nvPicPr>
        <p:blipFill>
          <a:blip r:embed="rIdM20"/>
          <a:stretch>
            <a:fillRect/>
          </a:stretch>
        </p:blipFill>
        <p:spPr>
          <a:xfrm>
            <a:off x="8607475" y="5353812"/>
            <a:ext cx="137160" cy="137160"/>
          </a:xfrm>
          <a:prstGeom prst="rect">
            <a:avLst/>
          </a:prstGeom>
        </p:spPr>
      </p:pic>
      <p:sp>
        <p:nvSpPr>
          <p:cNvPr id="858" name="T"/>
          <p:cNvSpPr txBox="1"/>
          <p:nvPr/>
        </p:nvSpPr>
        <p:spPr>
          <a:xfrm>
            <a:off x="8781211" y="5303520"/>
            <a:ext cx="693947" cy="237744"/>
          </a:xfrm>
          <a:prstGeom prst="rect">
            <a:avLst/>
          </a:prstGeom>
          <a:noFill/>
        </p:spPr>
        <p:txBody>
          <a:bodyPr wrap="none" lIns="0" tIns="0" rIns="0" bIns="0" anchor="ctr"/>
          <a:lstStyle/>
          <a:p>
            <a:pPr algn="l">
              <a:buNone/>
            </a:pPr>
            <a:r>
              <a:rPr lang="id-ID" sz="800" b="1" dirty="0">
                <a:solidFill>
                  <a:srgbClr val="D9600B"/>
                </a:solidFill>
                <a:latin typeface="Roboto"/>
                <a:ea typeface="Roboto"/>
                <a:cs typeface="Roboto"/>
              </a:rPr>
              <a:t>3</a:t>
            </a:r>
            <a:r>
              <a:rPr lang="id-ID" sz="800" dirty="0">
                <a:solidFill>
                  <a:srgbClr val="2E3440"/>
                </a:solidFill>
                <a:latin typeface="Roboto"/>
                <a:ea typeface="Roboto"/>
                <a:cs typeface="Roboto"/>
              </a:rPr>
              <a:t>  Siaga</a:t>
            </a:r>
            <a:endParaRPr lang="id-ID" sz="800"/>
          </a:p>
        </p:txBody>
      </p:sp>
      <p:sp>
        <p:nvSpPr>
          <p:cNvPr id="859" name="K"/>
          <p:cNvSpPr/>
          <p:nvPr/>
        </p:nvSpPr>
        <p:spPr>
          <a:xfrm>
            <a:off x="9552278" y="5303520"/>
            <a:ext cx="953947" cy="237744"/>
          </a:xfrm>
          <a:prstGeom prst="roundRect">
            <a:avLst>
              <a:gd name="adj" fmla="val 20000"/>
            </a:avLst>
          </a:prstGeom>
          <a:solidFill>
            <a:srgbClr val="F4ECDC"/>
          </a:solidFill>
          <a:ln>
            <a:noFill/>
          </a:ln>
        </p:spPr>
      </p:sp>
      <p:pic>
        <p:nvPicPr>
          <p:cNvPr id="860" name="G"/>
          <p:cNvPicPr>
            <a:picLocks noChangeAspect="1"/>
          </p:cNvPicPr>
          <p:nvPr/>
        </p:nvPicPr>
        <p:blipFill>
          <a:blip r:embed="rIdM21"/>
          <a:stretch>
            <a:fillRect/>
          </a:stretch>
        </p:blipFill>
        <p:spPr>
          <a:xfrm>
            <a:off x="9616286" y="5353812"/>
            <a:ext cx="137160" cy="137160"/>
          </a:xfrm>
          <a:prstGeom prst="rect">
            <a:avLst/>
          </a:prstGeom>
        </p:spPr>
      </p:pic>
      <p:sp>
        <p:nvSpPr>
          <p:cNvPr id="861" name="T"/>
          <p:cNvSpPr txBox="1"/>
          <p:nvPr/>
        </p:nvSpPr>
        <p:spPr>
          <a:xfrm>
            <a:off x="9790022" y="5303520"/>
            <a:ext cx="693947" cy="237744"/>
          </a:xfrm>
          <a:prstGeom prst="rect">
            <a:avLst/>
          </a:prstGeom>
          <a:noFill/>
        </p:spPr>
        <p:txBody>
          <a:bodyPr wrap="none" lIns="0" tIns="0" rIns="0" bIns="0" anchor="ctr"/>
          <a:lstStyle/>
          <a:p>
            <a:pPr algn="l">
              <a:buNone/>
            </a:pPr>
            <a:r>
              <a:rPr lang="id-ID" sz="800" b="1" dirty="0">
                <a:solidFill>
                  <a:srgbClr val="B08A3E"/>
                </a:solidFill>
                <a:latin typeface="Roboto"/>
                <a:ea typeface="Roboto"/>
                <a:cs typeface="Roboto"/>
              </a:rPr>
              <a:t>24</a:t>
            </a:r>
            <a:r>
              <a:rPr lang="id-ID" sz="800" dirty="0">
                <a:solidFill>
                  <a:srgbClr val="2E3440"/>
                </a:solidFill>
                <a:latin typeface="Roboto"/>
                <a:ea typeface="Roboto"/>
                <a:cs typeface="Roboto"/>
              </a:rPr>
              <a:t>  Waspada</a:t>
            </a:r>
            <a:endParaRPr lang="id-ID" sz="800"/>
          </a:p>
        </p:txBody>
      </p:sp>
      <p:sp>
        <p:nvSpPr>
          <p:cNvPr id="862" name="K"/>
          <p:cNvSpPr/>
          <p:nvPr/>
        </p:nvSpPr>
        <p:spPr>
          <a:xfrm>
            <a:off x="10561089" y="5303520"/>
            <a:ext cx="953947" cy="237744"/>
          </a:xfrm>
          <a:prstGeom prst="roundRect">
            <a:avLst>
              <a:gd name="adj" fmla="val 20000"/>
            </a:avLst>
          </a:prstGeom>
          <a:solidFill>
            <a:srgbClr val="E3EAF1"/>
          </a:solidFill>
          <a:ln>
            <a:noFill/>
          </a:ln>
        </p:spPr>
      </p:sp>
      <p:pic>
        <p:nvPicPr>
          <p:cNvPr id="863" name="G"/>
          <p:cNvPicPr>
            <a:picLocks noChangeAspect="1"/>
          </p:cNvPicPr>
          <p:nvPr/>
        </p:nvPicPr>
        <p:blipFill>
          <a:blip r:embed="rIdM22"/>
          <a:stretch>
            <a:fillRect/>
          </a:stretch>
        </p:blipFill>
        <p:spPr>
          <a:xfrm>
            <a:off x="10625097" y="5353812"/>
            <a:ext cx="137160" cy="137160"/>
          </a:xfrm>
          <a:prstGeom prst="rect">
            <a:avLst/>
          </a:prstGeom>
        </p:spPr>
      </p:pic>
      <p:sp>
        <p:nvSpPr>
          <p:cNvPr id="864" name="T"/>
          <p:cNvSpPr txBox="1"/>
          <p:nvPr/>
        </p:nvSpPr>
        <p:spPr>
          <a:xfrm>
            <a:off x="10798833" y="5303520"/>
            <a:ext cx="693947" cy="237744"/>
          </a:xfrm>
          <a:prstGeom prst="rect">
            <a:avLst/>
          </a:prstGeom>
          <a:noFill/>
        </p:spPr>
        <p:txBody>
          <a:bodyPr wrap="none" lIns="0" tIns="0" rIns="0" bIns="0" anchor="ctr"/>
          <a:lstStyle/>
          <a:p>
            <a:pPr algn="l">
              <a:buNone/>
            </a:pPr>
            <a:r>
              <a:rPr lang="id-ID" sz="800" b="1" dirty="0">
                <a:solidFill>
                  <a:srgbClr val="5B7A99"/>
                </a:solidFill>
                <a:latin typeface="Roboto"/>
                <a:ea typeface="Roboto"/>
                <a:cs typeface="Roboto"/>
              </a:rPr>
              <a:t>42</a:t>
            </a:r>
            <a:r>
              <a:rPr lang="id-ID" sz="800" dirty="0">
                <a:solidFill>
                  <a:srgbClr val="2E3440"/>
                </a:solidFill>
                <a:latin typeface="Roboto"/>
                <a:ea typeface="Roboto"/>
                <a:cs typeface="Roboto"/>
              </a:rPr>
              <a:t>  Normal</a:t>
            </a:r>
            <a:endParaRPr lang="id-ID" sz="800"/>
          </a:p>
        </p:txBody>
      </p:sp>
      <p:sp>
        <p:nvSpPr>
          <p:cNvPr id="865" name="K"/>
          <p:cNvSpPr/>
          <p:nvPr/>
        </p:nvSpPr>
        <p:spPr>
          <a:xfrm>
            <a:off x="7534656" y="5632704"/>
            <a:ext cx="3980383" cy="188976"/>
          </a:xfrm>
          <a:prstGeom prst="roundRect">
            <a:avLst>
              <a:gd name="adj" fmla="val 12000"/>
            </a:avLst>
          </a:prstGeom>
          <a:solidFill>
            <a:srgbClr val="F7F8FA"/>
          </a:solidFill>
          <a:ln>
            <a:noFill/>
          </a:ln>
        </p:spPr>
      </p:sp>
      <p:sp>
        <p:nvSpPr>
          <p:cNvPr id="866" name="K"/>
          <p:cNvSpPr/>
          <p:nvPr/>
        </p:nvSpPr>
        <p:spPr>
          <a:xfrm>
            <a:off x="7598664" y="5635752"/>
            <a:ext cx="182880" cy="182880"/>
          </a:xfrm>
          <a:prstGeom prst="ellipse">
            <a:avLst/>
          </a:prstGeom>
          <a:solidFill>
            <a:srgbClr val="D9600B"/>
          </a:solidFill>
          <a:ln>
            <a:noFill/>
          </a:ln>
        </p:spPr>
      </p:sp>
      <p:pic>
        <p:nvPicPr>
          <p:cNvPr id="867" name="G"/>
          <p:cNvPicPr>
            <a:picLocks noChangeAspect="1"/>
          </p:cNvPicPr>
          <p:nvPr/>
        </p:nvPicPr>
        <p:blipFill>
          <a:blip r:embed="rIdM18"/>
          <a:stretch>
            <a:fillRect/>
          </a:stretch>
        </p:blipFill>
        <p:spPr>
          <a:xfrm>
            <a:off x="7630668" y="5667756"/>
            <a:ext cx="118872" cy="118872"/>
          </a:xfrm>
          <a:prstGeom prst="rect">
            <a:avLst/>
          </a:prstGeom>
        </p:spPr>
      </p:pic>
      <p:sp>
        <p:nvSpPr>
          <p:cNvPr id="868" name="T"/>
          <p:cNvSpPr txBox="1"/>
          <p:nvPr/>
        </p:nvSpPr>
        <p:spPr>
          <a:xfrm>
            <a:off x="7836408" y="5612892"/>
            <a:ext cx="1300000" cy="228600"/>
          </a:xfrm>
          <a:prstGeom prst="rect">
            <a:avLst/>
          </a:prstGeom>
          <a:noFill/>
        </p:spPr>
        <p:txBody>
          <a:bodyPr wrap="none" lIns="0" tIns="0" rIns="0" bIns="0" anchor="ctr"/>
          <a:lstStyle/>
          <a:p>
            <a:pPr algn="l">
              <a:buNone/>
            </a:pPr>
            <a:r>
              <a:rPr lang="id-ID" sz="880" b="1" dirty="0">
                <a:solidFill>
                  <a:srgbClr val="1A1A1A"/>
                </a:solidFill>
                <a:latin typeface="Roboto"/>
                <a:ea typeface="Roboto"/>
                <a:cs typeface="Roboto"/>
              </a:rPr>
              <a:t>Gn. Anak Krakatau</a:t>
            </a:r>
            <a:endParaRPr lang="id-ID" sz="880"/>
          </a:p>
        </p:txBody>
      </p:sp>
      <p:sp>
        <p:nvSpPr>
          <p:cNvPr id="869" name="K"/>
          <p:cNvSpPr/>
          <p:nvPr/>
        </p:nvSpPr>
        <p:spPr>
          <a:xfrm>
            <a:off x="10820095" y="5644896"/>
            <a:ext cx="630936" cy="164592"/>
          </a:xfrm>
          <a:prstGeom prst="roundRect">
            <a:avLst>
              <a:gd name="adj" fmla="val 50000"/>
            </a:avLst>
          </a:prstGeom>
          <a:solidFill>
            <a:srgbClr val="FBE7D6"/>
          </a:solidFill>
          <a:ln>
            <a:noFill/>
          </a:ln>
        </p:spPr>
      </p:sp>
      <p:sp>
        <p:nvSpPr>
          <p:cNvPr id="870" name="T"/>
          <p:cNvSpPr txBox="1"/>
          <p:nvPr/>
        </p:nvSpPr>
        <p:spPr>
          <a:xfrm>
            <a:off x="10820095" y="5644896"/>
            <a:ext cx="630936" cy="164592"/>
          </a:xfrm>
          <a:prstGeom prst="rect">
            <a:avLst/>
          </a:prstGeom>
          <a:noFill/>
        </p:spPr>
        <p:txBody>
          <a:bodyPr wrap="square" lIns="0" tIns="0" rIns="0" bIns="0" anchor="ctr"/>
          <a:lstStyle/>
          <a:p>
            <a:pPr algn="ctr">
              <a:buNone/>
            </a:pPr>
            <a:r>
              <a:rPr lang="id-ID" sz="700" b="1" dirty="0">
                <a:solidFill>
                  <a:srgbClr val="D9600B"/>
                </a:solidFill>
                <a:latin typeface="Roboto"/>
                <a:ea typeface="Roboto"/>
                <a:cs typeface="Roboto"/>
              </a:rPr>
              <a:t>Siaga (III)</a:t>
            </a:r>
            <a:endParaRPr lang="id-ID" sz="620"/>
          </a:p>
        </p:txBody>
      </p:sp>
      <p:sp>
        <p:nvSpPr>
          <p:cNvPr id="871" name="K"/>
          <p:cNvSpPr/>
          <p:nvPr/>
        </p:nvSpPr>
        <p:spPr>
          <a:xfrm>
            <a:off x="8914656" y="5644896"/>
            <a:ext cx="692000" cy="164592"/>
          </a:xfrm>
          <a:prstGeom prst="roundRect">
            <a:avLst>
              <a:gd name="adj" fmla="val 50000"/>
            </a:avLst>
          </a:prstGeom>
          <a:solidFill>
            <a:srgbClr val="FFFFFF"/>
          </a:solidFill>
          <a:ln w="9525">
            <a:solidFill>
              <a:srgbClr val="F2C9A8"/>
            </a:solidFill>
          </a:ln>
        </p:spPr>
      </p:sp>
      <p:pic>
        <p:nvPicPr>
          <p:cNvPr id="872" name="G"/>
          <p:cNvPicPr>
            <a:picLocks noChangeAspect="1"/>
          </p:cNvPicPr>
          <p:nvPr/>
        </p:nvPicPr>
        <p:blipFill>
          <a:blip r:embed="rIdM23"/>
          <a:stretch>
            <a:fillRect/>
          </a:stretch>
        </p:blipFill>
        <p:spPr>
          <a:xfrm>
            <a:off x="8955804" y="5672328"/>
            <a:ext cx="109728" cy="109728"/>
          </a:xfrm>
          <a:prstGeom prst="rect">
            <a:avLst/>
          </a:prstGeom>
        </p:spPr>
      </p:pic>
      <p:sp>
        <p:nvSpPr>
          <p:cNvPr id="873" name="T"/>
          <p:cNvSpPr txBox="1"/>
          <p:nvPr/>
        </p:nvSpPr>
        <p:spPr>
          <a:xfrm>
            <a:off x="9088392" y="5644896"/>
            <a:ext cx="512000" cy="164592"/>
          </a:xfrm>
          <a:prstGeom prst="rect">
            <a:avLst/>
          </a:prstGeom>
          <a:noFill/>
        </p:spPr>
        <p:txBody>
          <a:bodyPr wrap="none" lIns="0" tIns="0" rIns="0" bIns="0" anchor="ctr"/>
          <a:lstStyle/>
          <a:p>
            <a:pPr algn="l">
              <a:buNone/>
            </a:pPr>
            <a:r>
              <a:rPr lang="id-ID" sz="700" dirty="0">
                <a:solidFill>
                  <a:srgbClr val="2E3440"/>
                </a:solidFill>
                <a:latin typeface="Roboto"/>
                <a:ea typeface="Roboto"/>
                <a:cs typeface="Roboto"/>
              </a:rPr>
              <a:t>radius </a:t>
            </a:r>
            <a:r>
              <a:rPr lang="id-ID" sz="700" b="1" dirty="0">
                <a:solidFill>
                  <a:srgbClr val="D9600B"/>
                </a:solidFill>
                <a:latin typeface="Roboto"/>
                <a:ea typeface="Roboto"/>
                <a:cs typeface="Roboto"/>
              </a:rPr>
              <a:t>5 km</a:t>
            </a:r>
            <a:endParaRPr lang="id-ID" sz="650"/>
          </a:p>
        </p:txBody>
      </p:sp>
      <p:sp>
        <p:nvSpPr>
          <p:cNvPr id="874" name="K"/>
          <p:cNvSpPr/>
          <p:nvPr/>
        </p:nvSpPr>
        <p:spPr>
          <a:xfrm>
            <a:off x="7534656" y="5858256"/>
            <a:ext cx="3980383" cy="188976"/>
          </a:xfrm>
          <a:prstGeom prst="roundRect">
            <a:avLst>
              <a:gd name="adj" fmla="val 12000"/>
            </a:avLst>
          </a:prstGeom>
          <a:solidFill>
            <a:srgbClr val="F7F8FA"/>
          </a:solidFill>
          <a:ln>
            <a:noFill/>
          </a:ln>
        </p:spPr>
      </p:sp>
      <p:sp>
        <p:nvSpPr>
          <p:cNvPr id="875" name="K"/>
          <p:cNvSpPr/>
          <p:nvPr/>
        </p:nvSpPr>
        <p:spPr>
          <a:xfrm>
            <a:off x="7598664" y="5861304"/>
            <a:ext cx="182880" cy="182880"/>
          </a:xfrm>
          <a:prstGeom prst="ellipse">
            <a:avLst/>
          </a:prstGeom>
          <a:solidFill>
            <a:srgbClr val="D9600B"/>
          </a:solidFill>
          <a:ln>
            <a:noFill/>
          </a:ln>
        </p:spPr>
      </p:sp>
      <p:pic>
        <p:nvPicPr>
          <p:cNvPr id="876" name="G"/>
          <p:cNvPicPr>
            <a:picLocks noChangeAspect="1"/>
          </p:cNvPicPr>
          <p:nvPr/>
        </p:nvPicPr>
        <p:blipFill>
          <a:blip r:embed="rIdM18"/>
          <a:stretch>
            <a:fillRect/>
          </a:stretch>
        </p:blipFill>
        <p:spPr>
          <a:xfrm>
            <a:off x="7630668" y="5893308"/>
            <a:ext cx="118872" cy="118872"/>
          </a:xfrm>
          <a:prstGeom prst="rect">
            <a:avLst/>
          </a:prstGeom>
        </p:spPr>
      </p:pic>
      <p:sp>
        <p:nvSpPr>
          <p:cNvPr id="877" name="T"/>
          <p:cNvSpPr txBox="1"/>
          <p:nvPr/>
        </p:nvSpPr>
        <p:spPr>
          <a:xfrm>
            <a:off x="7836408" y="5838444"/>
            <a:ext cx="1300000" cy="228600"/>
          </a:xfrm>
          <a:prstGeom prst="rect">
            <a:avLst/>
          </a:prstGeom>
          <a:noFill/>
        </p:spPr>
        <p:txBody>
          <a:bodyPr wrap="none" lIns="0" tIns="0" rIns="0" bIns="0" anchor="ctr"/>
          <a:lstStyle/>
          <a:p>
            <a:pPr algn="l">
              <a:buNone/>
            </a:pPr>
            <a:r>
              <a:rPr lang="id-ID" sz="880" b="1" dirty="0">
                <a:solidFill>
                  <a:srgbClr val="1A1A1A"/>
                </a:solidFill>
                <a:latin typeface="Roboto"/>
                <a:ea typeface="Roboto"/>
                <a:cs typeface="Roboto"/>
              </a:rPr>
              <a:t>Gn. Merapi</a:t>
            </a:r>
            <a:endParaRPr lang="id-ID" sz="880"/>
          </a:p>
        </p:txBody>
      </p:sp>
      <p:sp>
        <p:nvSpPr>
          <p:cNvPr id="878" name="K"/>
          <p:cNvSpPr/>
          <p:nvPr/>
        </p:nvSpPr>
        <p:spPr>
          <a:xfrm>
            <a:off x="10820095" y="5870448"/>
            <a:ext cx="630936" cy="164592"/>
          </a:xfrm>
          <a:prstGeom prst="roundRect">
            <a:avLst>
              <a:gd name="adj" fmla="val 50000"/>
            </a:avLst>
          </a:prstGeom>
          <a:solidFill>
            <a:srgbClr val="FBE7D6"/>
          </a:solidFill>
          <a:ln>
            <a:noFill/>
          </a:ln>
        </p:spPr>
      </p:sp>
      <p:sp>
        <p:nvSpPr>
          <p:cNvPr id="879" name="T"/>
          <p:cNvSpPr txBox="1"/>
          <p:nvPr/>
        </p:nvSpPr>
        <p:spPr>
          <a:xfrm>
            <a:off x="10820095" y="5870448"/>
            <a:ext cx="630936" cy="164592"/>
          </a:xfrm>
          <a:prstGeom prst="rect">
            <a:avLst/>
          </a:prstGeom>
          <a:noFill/>
        </p:spPr>
        <p:txBody>
          <a:bodyPr wrap="square" lIns="0" tIns="0" rIns="0" bIns="0" anchor="ctr"/>
          <a:lstStyle/>
          <a:p>
            <a:pPr algn="ctr">
              <a:buNone/>
            </a:pPr>
            <a:r>
              <a:rPr lang="id-ID" sz="700" b="1" dirty="0">
                <a:solidFill>
                  <a:srgbClr val="D9600B"/>
                </a:solidFill>
                <a:latin typeface="Roboto"/>
                <a:ea typeface="Roboto"/>
                <a:cs typeface="Roboto"/>
              </a:rPr>
              <a:t>Siaga (III)</a:t>
            </a:r>
            <a:endParaRPr lang="id-ID" sz="620"/>
          </a:p>
        </p:txBody>
      </p:sp>
      <p:sp>
        <p:nvSpPr>
          <p:cNvPr id="880" name="K"/>
          <p:cNvSpPr/>
          <p:nvPr/>
        </p:nvSpPr>
        <p:spPr>
          <a:xfrm>
            <a:off x="8914656" y="5870448"/>
            <a:ext cx="692000" cy="164592"/>
          </a:xfrm>
          <a:prstGeom prst="roundRect">
            <a:avLst>
              <a:gd name="adj" fmla="val 50000"/>
            </a:avLst>
          </a:prstGeom>
          <a:solidFill>
            <a:srgbClr val="FFFFFF"/>
          </a:solidFill>
          <a:ln w="9525">
            <a:solidFill>
              <a:srgbClr val="F2C9A8"/>
            </a:solidFill>
          </a:ln>
        </p:spPr>
      </p:sp>
      <p:pic>
        <p:nvPicPr>
          <p:cNvPr id="881" name="G"/>
          <p:cNvPicPr>
            <a:picLocks noChangeAspect="1"/>
          </p:cNvPicPr>
          <p:nvPr/>
        </p:nvPicPr>
        <p:blipFill>
          <a:blip r:embed="rIdM23"/>
          <a:stretch>
            <a:fillRect/>
          </a:stretch>
        </p:blipFill>
        <p:spPr>
          <a:xfrm>
            <a:off x="8955804" y="5897880"/>
            <a:ext cx="109728" cy="109728"/>
          </a:xfrm>
          <a:prstGeom prst="rect">
            <a:avLst/>
          </a:prstGeom>
        </p:spPr>
      </p:pic>
      <p:sp>
        <p:nvSpPr>
          <p:cNvPr id="882" name="T"/>
          <p:cNvSpPr txBox="1"/>
          <p:nvPr/>
        </p:nvSpPr>
        <p:spPr>
          <a:xfrm>
            <a:off x="9088392" y="5870448"/>
            <a:ext cx="512000" cy="164592"/>
          </a:xfrm>
          <a:prstGeom prst="rect">
            <a:avLst/>
          </a:prstGeom>
          <a:noFill/>
        </p:spPr>
        <p:txBody>
          <a:bodyPr wrap="none" lIns="0" tIns="0" rIns="0" bIns="0" anchor="ctr"/>
          <a:lstStyle/>
          <a:p>
            <a:pPr algn="l">
              <a:buNone/>
            </a:pPr>
            <a:r>
              <a:rPr lang="id-ID" sz="700" dirty="0">
                <a:solidFill>
                  <a:srgbClr val="2E3440"/>
                </a:solidFill>
                <a:latin typeface="Roboto"/>
                <a:ea typeface="Roboto"/>
                <a:cs typeface="Roboto"/>
              </a:rPr>
              <a:t>radius </a:t>
            </a:r>
            <a:r>
              <a:rPr lang="id-ID" sz="700" b="1" dirty="0">
                <a:solidFill>
                  <a:srgbClr val="D9600B"/>
                </a:solidFill>
                <a:latin typeface="Roboto"/>
                <a:ea typeface="Roboto"/>
                <a:cs typeface="Roboto"/>
              </a:rPr>
              <a:t>3 km</a:t>
            </a:r>
            <a:endParaRPr lang="id-ID" sz="650"/>
          </a:p>
        </p:txBody>
      </p:sp>
      <p:sp>
        <p:nvSpPr>
          <p:cNvPr id="883" name="K"/>
          <p:cNvSpPr/>
          <p:nvPr/>
        </p:nvSpPr>
        <p:spPr>
          <a:xfrm>
            <a:off x="9652376" y="5870448"/>
            <a:ext cx="692000" cy="164592"/>
          </a:xfrm>
          <a:prstGeom prst="roundRect">
            <a:avLst>
              <a:gd name="adj" fmla="val 50000"/>
            </a:avLst>
          </a:prstGeom>
          <a:solidFill>
            <a:srgbClr val="FFFFFF"/>
          </a:solidFill>
          <a:ln w="9525">
            <a:solidFill>
              <a:srgbClr val="F2C9A8"/>
            </a:solidFill>
          </a:ln>
        </p:spPr>
      </p:sp>
      <p:pic>
        <p:nvPicPr>
          <p:cNvPr id="884" name="G"/>
          <p:cNvPicPr>
            <a:picLocks noChangeAspect="1"/>
          </p:cNvPicPr>
          <p:nvPr/>
        </p:nvPicPr>
        <p:blipFill>
          <a:blip r:embed="rIdM24"/>
          <a:stretch>
            <a:fillRect/>
          </a:stretch>
        </p:blipFill>
        <p:spPr>
          <a:xfrm>
            <a:off x="9693524" y="5897880"/>
            <a:ext cx="109728" cy="109728"/>
          </a:xfrm>
          <a:prstGeom prst="rect">
            <a:avLst/>
          </a:prstGeom>
        </p:spPr>
      </p:pic>
      <p:sp>
        <p:nvSpPr>
          <p:cNvPr id="885" name="T"/>
          <p:cNvSpPr txBox="1"/>
          <p:nvPr/>
        </p:nvSpPr>
        <p:spPr>
          <a:xfrm>
            <a:off x="9826112" y="5870448"/>
            <a:ext cx="512000" cy="164592"/>
          </a:xfrm>
          <a:prstGeom prst="rect">
            <a:avLst/>
          </a:prstGeom>
          <a:noFill/>
        </p:spPr>
        <p:txBody>
          <a:bodyPr wrap="none" lIns="0" tIns="0" rIns="0" bIns="0" anchor="ctr"/>
          <a:lstStyle/>
          <a:p>
            <a:pPr algn="l">
              <a:buNone/>
            </a:pPr>
            <a:r>
              <a:rPr lang="id-ID" sz="700" dirty="0">
                <a:solidFill>
                  <a:srgbClr val="2E3440"/>
                </a:solidFill>
                <a:latin typeface="Roboto"/>
                <a:ea typeface="Roboto"/>
                <a:cs typeface="Roboto"/>
              </a:rPr>
              <a:t>sektor </a:t>
            </a:r>
            <a:r>
              <a:rPr lang="id-ID" sz="700" b="1" dirty="0">
                <a:solidFill>
                  <a:srgbClr val="D9600B"/>
                </a:solidFill>
                <a:latin typeface="Roboto"/>
                <a:ea typeface="Roboto"/>
                <a:cs typeface="Roboto"/>
              </a:rPr>
              <a:t>7 km</a:t>
            </a:r>
            <a:endParaRPr lang="id-ID" sz="650"/>
          </a:p>
        </p:txBody>
      </p:sp>
      <p:sp>
        <p:nvSpPr>
          <p:cNvPr id="886" name="K"/>
          <p:cNvSpPr/>
          <p:nvPr/>
        </p:nvSpPr>
        <p:spPr>
          <a:xfrm>
            <a:off x="7534656" y="6083808"/>
            <a:ext cx="3980383" cy="188976"/>
          </a:xfrm>
          <a:prstGeom prst="roundRect">
            <a:avLst>
              <a:gd name="adj" fmla="val 12000"/>
            </a:avLst>
          </a:prstGeom>
          <a:solidFill>
            <a:srgbClr val="F7F8FA"/>
          </a:solidFill>
          <a:ln>
            <a:noFill/>
          </a:ln>
        </p:spPr>
      </p:sp>
      <p:sp>
        <p:nvSpPr>
          <p:cNvPr id="887" name="K"/>
          <p:cNvSpPr/>
          <p:nvPr/>
        </p:nvSpPr>
        <p:spPr>
          <a:xfrm>
            <a:off x="7598664" y="6086856"/>
            <a:ext cx="182880" cy="182880"/>
          </a:xfrm>
          <a:prstGeom prst="ellipse">
            <a:avLst/>
          </a:prstGeom>
          <a:solidFill>
            <a:srgbClr val="D9600B"/>
          </a:solidFill>
          <a:ln>
            <a:noFill/>
          </a:ln>
        </p:spPr>
      </p:sp>
      <p:pic>
        <p:nvPicPr>
          <p:cNvPr id="888" name="G"/>
          <p:cNvPicPr>
            <a:picLocks noChangeAspect="1"/>
          </p:cNvPicPr>
          <p:nvPr/>
        </p:nvPicPr>
        <p:blipFill>
          <a:blip r:embed="rIdM18"/>
          <a:stretch>
            <a:fillRect/>
          </a:stretch>
        </p:blipFill>
        <p:spPr>
          <a:xfrm>
            <a:off x="7630668" y="6118860"/>
            <a:ext cx="118872" cy="118872"/>
          </a:xfrm>
          <a:prstGeom prst="rect">
            <a:avLst/>
          </a:prstGeom>
        </p:spPr>
      </p:pic>
      <p:sp>
        <p:nvSpPr>
          <p:cNvPr id="889" name="T"/>
          <p:cNvSpPr txBox="1"/>
          <p:nvPr/>
        </p:nvSpPr>
        <p:spPr>
          <a:xfrm>
            <a:off x="7836408" y="6063996"/>
            <a:ext cx="1300000" cy="228600"/>
          </a:xfrm>
          <a:prstGeom prst="rect">
            <a:avLst/>
          </a:prstGeom>
          <a:noFill/>
        </p:spPr>
        <p:txBody>
          <a:bodyPr wrap="none" lIns="0" tIns="0" rIns="0" bIns="0" anchor="ctr"/>
          <a:lstStyle/>
          <a:p>
            <a:pPr algn="l">
              <a:buNone/>
            </a:pPr>
            <a:r>
              <a:rPr lang="id-ID" sz="880" b="1" dirty="0">
                <a:solidFill>
                  <a:srgbClr val="1A1A1A"/>
                </a:solidFill>
                <a:latin typeface="Roboto"/>
                <a:ea typeface="Roboto"/>
                <a:cs typeface="Roboto"/>
              </a:rPr>
              <a:t>Gn. Semeru</a:t>
            </a:r>
            <a:endParaRPr lang="id-ID" sz="880"/>
          </a:p>
        </p:txBody>
      </p:sp>
      <p:sp>
        <p:nvSpPr>
          <p:cNvPr id="890" name="K"/>
          <p:cNvSpPr/>
          <p:nvPr/>
        </p:nvSpPr>
        <p:spPr>
          <a:xfrm>
            <a:off x="10820095" y="6096000"/>
            <a:ext cx="630936" cy="164592"/>
          </a:xfrm>
          <a:prstGeom prst="roundRect">
            <a:avLst>
              <a:gd name="adj" fmla="val 50000"/>
            </a:avLst>
          </a:prstGeom>
          <a:solidFill>
            <a:srgbClr val="FBE7D6"/>
          </a:solidFill>
          <a:ln>
            <a:noFill/>
          </a:ln>
        </p:spPr>
      </p:sp>
      <p:sp>
        <p:nvSpPr>
          <p:cNvPr id="891" name="T"/>
          <p:cNvSpPr txBox="1"/>
          <p:nvPr/>
        </p:nvSpPr>
        <p:spPr>
          <a:xfrm>
            <a:off x="10820095" y="6096000"/>
            <a:ext cx="630936" cy="164592"/>
          </a:xfrm>
          <a:prstGeom prst="rect">
            <a:avLst/>
          </a:prstGeom>
          <a:noFill/>
        </p:spPr>
        <p:txBody>
          <a:bodyPr wrap="square" lIns="0" tIns="0" rIns="0" bIns="0" anchor="ctr"/>
          <a:lstStyle/>
          <a:p>
            <a:pPr algn="ctr">
              <a:buNone/>
            </a:pPr>
            <a:r>
              <a:rPr lang="id-ID" sz="700" b="1" dirty="0">
                <a:solidFill>
                  <a:srgbClr val="D9600B"/>
                </a:solidFill>
                <a:latin typeface="Roboto"/>
                <a:ea typeface="Roboto"/>
                <a:cs typeface="Roboto"/>
              </a:rPr>
              <a:t>Siaga (III)</a:t>
            </a:r>
            <a:endParaRPr lang="id-ID" sz="620"/>
          </a:p>
        </p:txBody>
      </p:sp>
      <p:sp>
        <p:nvSpPr>
          <p:cNvPr id="892" name="K"/>
          <p:cNvSpPr/>
          <p:nvPr/>
        </p:nvSpPr>
        <p:spPr>
          <a:xfrm>
            <a:off x="8914656" y="6096000"/>
            <a:ext cx="692000" cy="164592"/>
          </a:xfrm>
          <a:prstGeom prst="roundRect">
            <a:avLst>
              <a:gd name="adj" fmla="val 50000"/>
            </a:avLst>
          </a:prstGeom>
          <a:solidFill>
            <a:srgbClr val="FFFFFF"/>
          </a:solidFill>
          <a:ln w="9525">
            <a:solidFill>
              <a:srgbClr val="F2C9A8"/>
            </a:solidFill>
          </a:ln>
        </p:spPr>
      </p:sp>
      <p:pic>
        <p:nvPicPr>
          <p:cNvPr id="893" name="G"/>
          <p:cNvPicPr>
            <a:picLocks noChangeAspect="1"/>
          </p:cNvPicPr>
          <p:nvPr/>
        </p:nvPicPr>
        <p:blipFill>
          <a:blip r:embed="rIdM23"/>
          <a:stretch>
            <a:fillRect/>
          </a:stretch>
        </p:blipFill>
        <p:spPr>
          <a:xfrm>
            <a:off x="8955804" y="6123432"/>
            <a:ext cx="109728" cy="109728"/>
          </a:xfrm>
          <a:prstGeom prst="rect">
            <a:avLst/>
          </a:prstGeom>
        </p:spPr>
      </p:pic>
      <p:sp>
        <p:nvSpPr>
          <p:cNvPr id="894" name="T"/>
          <p:cNvSpPr txBox="1"/>
          <p:nvPr/>
        </p:nvSpPr>
        <p:spPr>
          <a:xfrm>
            <a:off x="9088392" y="6096000"/>
            <a:ext cx="512000" cy="164592"/>
          </a:xfrm>
          <a:prstGeom prst="rect">
            <a:avLst/>
          </a:prstGeom>
          <a:noFill/>
        </p:spPr>
        <p:txBody>
          <a:bodyPr wrap="none" lIns="0" tIns="0" rIns="0" bIns="0" anchor="ctr"/>
          <a:lstStyle/>
          <a:p>
            <a:pPr algn="l">
              <a:buNone/>
            </a:pPr>
            <a:r>
              <a:rPr lang="id-ID" sz="700" dirty="0">
                <a:solidFill>
                  <a:srgbClr val="2E3440"/>
                </a:solidFill>
                <a:latin typeface="Roboto"/>
                <a:ea typeface="Roboto"/>
                <a:cs typeface="Roboto"/>
              </a:rPr>
              <a:t>radius </a:t>
            </a:r>
            <a:r>
              <a:rPr lang="id-ID" sz="700" b="1" dirty="0">
                <a:solidFill>
                  <a:srgbClr val="D9600B"/>
                </a:solidFill>
                <a:latin typeface="Roboto"/>
                <a:ea typeface="Roboto"/>
                <a:cs typeface="Roboto"/>
              </a:rPr>
              <a:t>5 km</a:t>
            </a:r>
            <a:endParaRPr lang="id-ID" sz="650"/>
          </a:p>
        </p:txBody>
      </p:sp>
      <p:sp>
        <p:nvSpPr>
          <p:cNvPr id="895" name="K"/>
          <p:cNvSpPr/>
          <p:nvPr/>
        </p:nvSpPr>
        <p:spPr>
          <a:xfrm>
            <a:off x="9652376" y="6096000"/>
            <a:ext cx="734000" cy="164592"/>
          </a:xfrm>
          <a:prstGeom prst="roundRect">
            <a:avLst>
              <a:gd name="adj" fmla="val 50000"/>
            </a:avLst>
          </a:prstGeom>
          <a:solidFill>
            <a:srgbClr val="FFFFFF"/>
          </a:solidFill>
          <a:ln w="9525">
            <a:solidFill>
              <a:srgbClr val="F2C9A8"/>
            </a:solidFill>
          </a:ln>
        </p:spPr>
      </p:sp>
      <p:pic>
        <p:nvPicPr>
          <p:cNvPr id="896" name="G"/>
          <p:cNvPicPr>
            <a:picLocks noChangeAspect="1"/>
          </p:cNvPicPr>
          <p:nvPr/>
        </p:nvPicPr>
        <p:blipFill>
          <a:blip r:embed="rIdM24"/>
          <a:stretch>
            <a:fillRect/>
          </a:stretch>
        </p:blipFill>
        <p:spPr>
          <a:xfrm>
            <a:off x="9693524" y="6123432"/>
            <a:ext cx="109728" cy="109728"/>
          </a:xfrm>
          <a:prstGeom prst="rect">
            <a:avLst/>
          </a:prstGeom>
        </p:spPr>
      </p:pic>
      <p:sp>
        <p:nvSpPr>
          <p:cNvPr id="897" name="T"/>
          <p:cNvSpPr txBox="1"/>
          <p:nvPr/>
        </p:nvSpPr>
        <p:spPr>
          <a:xfrm>
            <a:off x="9826112" y="6096000"/>
            <a:ext cx="554000" cy="164592"/>
          </a:xfrm>
          <a:prstGeom prst="rect">
            <a:avLst/>
          </a:prstGeom>
          <a:noFill/>
        </p:spPr>
        <p:txBody>
          <a:bodyPr wrap="none" lIns="0" tIns="0" rIns="0" bIns="0" anchor="ctr"/>
          <a:lstStyle/>
          <a:p>
            <a:pPr algn="l">
              <a:buNone/>
            </a:pPr>
            <a:r>
              <a:rPr lang="id-ID" sz="700" dirty="0">
                <a:solidFill>
                  <a:srgbClr val="2E3440"/>
                </a:solidFill>
                <a:latin typeface="Roboto"/>
                <a:ea typeface="Roboto"/>
                <a:cs typeface="Roboto"/>
              </a:rPr>
              <a:t>sektor </a:t>
            </a:r>
            <a:r>
              <a:rPr lang="id-ID" sz="700" b="1" dirty="0">
                <a:solidFill>
                  <a:srgbClr val="D9600B"/>
                </a:solidFill>
                <a:latin typeface="Roboto"/>
                <a:ea typeface="Roboto"/>
                <a:cs typeface="Roboto"/>
              </a:rPr>
              <a:t>13 km</a:t>
            </a:r>
            <a:endParaRPr lang="id-ID" sz="6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48640" y="502920"/>
            <a:ext cx="1005840" cy="1005840"/>
          </a:xfrm>
          <a:prstGeom prst="ellipse">
            <a:avLst/>
          </a:prstGeom>
          <a:solidFill>
            <a:srgbClr val="FFFFFF"/>
          </a:solidFill>
          <a:ln/>
          <a:effectLst>
            <a:outerShdw sx="100000" sy="100000" kx="0" ky="0" algn="bl" rotWithShape="0" blurRad="101600" dist="25400" dir="5400000">
              <a:srgbClr val="000000">
                <a:alpha val="25000"/>
              </a:srgbClr>
            </a:outerShdw>
          </a:effectLst>
        </p:spPr>
      </p:sp>
      <p:pic>
        <p:nvPicPr>
          <p:cNvPr id="4" name="Image 1" descr="preencoded.png">    </p:cNvPr>
          <p:cNvPicPr>
            <a:picLocks noChangeAspect="1"/>
          </p:cNvPicPr>
          <p:nvPr/>
        </p:nvPicPr>
        <p:blipFill>
          <a:blip r:embed="rId2"/>
          <a:stretch>
            <a:fillRect/>
          </a:stretch>
        </p:blipFill>
        <p:spPr>
          <a:xfrm>
            <a:off x="780143" y="663854"/>
            <a:ext cx="542834" cy="683971"/>
          </a:xfrm>
          <a:prstGeom prst="rect">
            <a:avLst/>
          </a:prstGeom>
        </p:spPr>
      </p:pic>
      <p:sp>
        <p:nvSpPr>
          <p:cNvPr id="5" name="Text 1"/>
          <p:cNvSpPr txBox="1"/>
          <p:nvPr/>
        </p:nvSpPr>
        <p:spPr>
          <a:xfrm>
            <a:off x="548640" y="2468880"/>
            <a:ext cx="7315200" cy="1005840"/>
          </a:xfrm>
          <a:prstGeom prst="rect">
            <a:avLst/>
          </a:prstGeom>
          <a:noFill/>
          <a:ln/>
        </p:spPr>
        <p:txBody>
          <a:bodyPr wrap="square" lIns="0" tIns="0" rIns="0" bIns="0" rtlCol="0" anchor="b"/>
          <a:lstStyle/>
          <a:p>
            <a:pPr indent="0" marL="0">
              <a:buNone/>
            </a:pPr>
            <a:r>
              <a:rPr lang="en-US" sz="5400" b="1" dirty="0">
                <a:solidFill>
                  <a:srgbClr val="FFFFFF"/>
                </a:solidFill>
                <a:latin typeface="Roboto" pitchFamily="34" charset="0"/>
                <a:ea typeface="Roboto" pitchFamily="34" charset="-122"/>
                <a:cs typeface="Roboto" pitchFamily="34" charset="-120"/>
              </a:rPr>
              <a:t>Terima kasih</a:t>
            </a:r>
            <a:endParaRPr lang="en-US" sz="5400" dirty="0"/>
          </a:p>
        </p:txBody>
      </p:sp>
      <p:sp>
        <p:nvSpPr>
          <p:cNvPr id="6" name="Shape 2"/>
          <p:cNvSpPr/>
          <p:nvPr/>
        </p:nvSpPr>
        <p:spPr>
          <a:xfrm>
            <a:off x="548640" y="3657600"/>
            <a:ext cx="4754880" cy="0"/>
          </a:xfrm>
          <a:prstGeom prst="line">
            <a:avLst/>
          </a:prstGeom>
          <a:noFill/>
          <a:ln w="25400">
            <a:solidFill>
              <a:srgbClr val="F28C28"/>
            </a:solidFill>
            <a:prstDash val="solid"/>
          </a:ln>
        </p:spPr>
      </p:sp>
      <p:sp>
        <p:nvSpPr>
          <p:cNvPr id="7" name="Text 3"/>
          <p:cNvSpPr txBox="1"/>
          <p:nvPr/>
        </p:nvSpPr>
        <p:spPr>
          <a:xfrm>
            <a:off x="548640" y="3840480"/>
            <a:ext cx="7315200" cy="365760"/>
          </a:xfrm>
          <a:prstGeom prst="rect">
            <a:avLst/>
          </a:prstGeom>
          <a:noFill/>
          <a:ln/>
        </p:spPr>
        <p:txBody>
          <a:bodyPr wrap="square" lIns="0" tIns="0" rIns="0" bIns="0" rtlCol="0" anchor="t"/>
          <a:lstStyle/>
          <a:p>
            <a:pPr indent="0" marL="0">
              <a:buNone/>
            </a:pPr>
            <a:r>
              <a:rPr lang="en-US" sz="1800" b="1" dirty="0">
                <a:solidFill>
                  <a:srgbClr val="FFFFFF"/>
                </a:solidFill>
                <a:latin typeface="Roboto" pitchFamily="34" charset="0"/>
                <a:ea typeface="Roboto" pitchFamily="34" charset="-122"/>
                <a:cs typeface="Roboto" pitchFamily="34" charset="-120"/>
              </a:rPr>
              <a:t>Badan Nasional Penanggulangan Bencana</a:t>
            </a:r>
            <a:endParaRPr lang="en-US" sz="1800" dirty="0"/>
          </a:p>
        </p:txBody>
      </p:sp>
      <p:sp>
        <p:nvSpPr>
          <p:cNvPr id="8" name="Text 4"/>
          <p:cNvSpPr txBox="1"/>
          <p:nvPr/>
        </p:nvSpPr>
        <p:spPr>
          <a:xfrm>
            <a:off x="548640" y="4251960"/>
            <a:ext cx="9144000" cy="320040"/>
          </a:xfrm>
          <a:prstGeom prst="rect">
            <a:avLst/>
          </a:prstGeom>
          <a:noFill/>
          <a:ln/>
        </p:spPr>
        <p:txBody>
          <a:bodyPr wrap="square" lIns="0" tIns="0" rIns="0" bIns="0" rtlCol="0" anchor="t"/>
          <a:lstStyle/>
          <a:p>
            <a:pPr indent="0" marL="0">
              <a:buNone/>
            </a:pPr>
            <a:r>
              <a:rPr lang="en-US" sz="1300" dirty="0">
                <a:solidFill>
                  <a:srgbClr val="C9D1E3"/>
                </a:solidFill>
                <a:latin typeface="Roboto" pitchFamily="34" charset="0"/>
                <a:ea typeface="Roboto" pitchFamily="34" charset="-122"/>
                <a:cs typeface="Roboto" pitchFamily="34" charset="-120"/>
              </a:rPr>
              <a:t>Laporan Kejadian Bencana Harian, 30–31 Oktober 2026</a:t>
            </a:r>
            <a:endParaRPr lang="en-US" sz="1300" dirty="0"/>
          </a:p>
        </p:txBody>
      </p:sp>
      <p:sp>
        <p:nvSpPr>
          <p:cNvPr id="10" name="Text 6"/>
          <p:cNvSpPr txBox="1"/>
          <p:nvPr/>
        </p:nvSpPr>
        <p:spPr>
          <a:xfrm>
            <a:off x="7985455" y="6565392"/>
            <a:ext cx="3931920" cy="182880"/>
          </a:xfrm>
          <a:prstGeom prst="rect">
            <a:avLst/>
          </a:prstGeom>
          <a:noFill/>
          <a:ln/>
        </p:spPr>
        <p:txBody>
          <a:bodyPr wrap="square" lIns="0" tIns="0" rIns="0" bIns="0" rtlCol="0" anchor="t"/>
          <a:lstStyle/>
          <a:p>
            <a:pPr algn="r" indent="0" marL="0">
              <a:buNone/>
            </a:pPr>
            <a:r>
              <a:rPr lang="en-US" sz="700" dirty="0">
                <a:solidFill>
                  <a:srgbClr val="C9D1E3"/>
                </a:solidFill>
                <a:latin typeface="Roboto" pitchFamily="34" charset="0"/>
                <a:ea typeface="Roboto" pitchFamily="34" charset="-122"/>
                <a:cs typeface="Roboto" pitchFamily="34" charset="-120"/>
              </a:rPr>
              <a:t>Foto: DenY Krisbiyantoro, CC BY-SA 4.0</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Badan Nasional Penanggulangan Bencana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Paparan Kepala BNPB kepada Presiden: Karhutla 6 Provinsi Prioritas</dc:title>
  <dc:subject>PptxGenJS Presentation</dc:subject>
  <dc:creator>BNPB</dc:creator>
  <cp:lastModifiedBy>BNPB</cp:lastModifiedBy>
  <cp:revision>1</cp:revision>
  <dcterms:created xsi:type="dcterms:W3CDTF">2026-10-22T07:37:45Z</dcterms:created>
  <dcterms:modified xsi:type="dcterms:W3CDTF">2026-10-22T07:37:45Z</dcterms:modified>
</cp:coreProperties>
</file>