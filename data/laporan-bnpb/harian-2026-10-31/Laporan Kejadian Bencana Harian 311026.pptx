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1" r:id="rId96"/>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96" Type="http://schemas.openxmlformats.org/officeDocument/2006/relationships/slide" Target="slides/slide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Teks lengkap PVMBG, Sabtu, 31 Oktober 2026 pukul 07.00 WIB.</a:t>
            </a:r>
          </a:p>
          <a:p>
            <a:r>
              <a:rPr lang="id-ID" dirty="0"/>
              <a:t>Awas 0, Siaga 3, Waspada 24, Normal 42.</a:t>
            </a:r>
          </a:p>
          <a:p>
            <a:endParaRPr lang="id-ID"/>
          </a:p>
          <a:p>
            <a:r>
              <a:rPr lang="id-ID" dirty="0"/>
              <a:t>Gn. Anak Krakatau (Siaga)</a:t>
            </a:r>
          </a:p>
          <a:p>
            <a:r>
              <a:rPr lang="id-ID" dirty="0"/>
              <a:t>Visual:</a:t>
            </a:r>
          </a:p>
          <a:p>
            <a:r>
              <a:rPr lang="id-ID" dirty="0"/>
              <a:t>- Gunung api terlihat jelas hingga tertutup Kabut 0-III. Teramati asap kawah utama berwarna putih dan kelabu dengan intensitas tipis, sedang hingga tebal tinggi sekitar 50-500 meter dari puncak.</a:t>
            </a:r>
          </a:p>
          <a:p>
            <a:r>
              <a:rPr lang="id-ID" dirty="0"/>
              <a:t>- Cuaca berawan hingga mendung, angin lemah hingga sedang ke arah utara, timur laut dan barat laut. Suhu udara sekitar 25.5-32.2°C. Kelembaban 71-87</a:t>
            </a:r>
          </a:p>
          <a:p>
            <a:r>
              <a:rPr lang="id-ID" dirty="0"/>
              <a:t>Kegempaan:</a:t>
            </a:r>
          </a:p>
          <a:p>
            <a:r>
              <a:rPr lang="id-ID" dirty="0"/>
              <a:t>- 1 kali gempa Letusan/Erupsi dengan amplitudo 50 mm, dan lama gempa 19 detik .</a:t>
            </a:r>
          </a:p>
          <a:p>
            <a:r>
              <a:rPr lang="id-ID" dirty="0"/>
              <a:t>- 33 kali gempa Hembusan dengan amplitudo 8-45 mm, dan lama gempa 18-57 detik .</a:t>
            </a:r>
          </a:p>
          <a:p>
            <a:r>
              <a:rPr lang="id-ID" dirty="0"/>
              <a:t>- 28 kali gempa Low Frequency dengan amplitudo 8-51 mm, dan lama gempa 6-21 detik</a:t>
            </a:r>
          </a:p>
          <a:p>
            <a:r>
              <a:rPr lang="id-ID" dirty="0"/>
              <a:t>- 78 kali gempa Hybrid/Fase Banyak dengan amplitudo 8-56 mm, S-P 1.4-3.1 detik dan lama gempa 3-23 detik</a:t>
            </a:r>
          </a:p>
          <a:p>
            <a:r>
              <a:rPr lang="id-ID" dirty="0"/>
              <a:t>- 8 kali gempa Vulkanik Dangkal dengan amplitudo 8-52 mm, dan lama gempa 3-20 detik</a:t>
            </a:r>
          </a:p>
          <a:p>
            <a:r>
              <a:rPr lang="id-ID" dirty="0"/>
              <a:t>- 2 kali gempa Vulkanik Dalam dengan amplitudo 50-51 mm, S-P 1.5-1.6 detik dan lama gempa 9-13 detik</a:t>
            </a:r>
          </a:p>
          <a:p>
            <a:r>
              <a:rPr lang="id-ID" dirty="0"/>
              <a:t>- 4 kali gempa Tremor Menerus dengan amplitudo 1-25 mm, dominan 5 mm</a:t>
            </a:r>
          </a:p>
          <a:p>
            <a:r>
              <a:rPr lang="id-ID" dirty="0"/>
              <a:t>Rekomendasi:</a:t>
            </a:r>
          </a:p>
          <a:p>
            <a:r>
              <a:rPr lang="id-ID" dirty="0"/>
              <a:t>- Masyarakat di sekitar Gunung Api Anak Krakatau dan pengunjung/wisatawan/pendaki tidak diperbolehkan memasuki dan melakukan kegiatan di dalam wilayah radius 5 km dari pusat erupsi Anak Krakatau.</a:t>
            </a:r>
          </a:p>
          <a:p>
            <a:r>
              <a:rPr lang="id-ID" dirty="0"/>
              <a:t>- Masyarakat di sekitar Gunung Api Anak Krakatau dan pengunjung/wisatawan tidak diperbolehkan memasuki dan melakukan kegiatan di dalam wilayah radius 1 km dari pulau baru di sektor barat laut dan tenggara Gunung Api Anak Krakatau.</a:t>
            </a:r>
          </a:p>
          <a:p>
            <a:r>
              <a:rPr lang="id-ID" dirty="0"/>
              <a:t>- Meningkatkan kewaspadaan terhadap ancaman bahaya lontaran batu pijar, hujan abu lebat, aliran lava, dan potensi erupsi sekunder yang ditimbulkan oleh kontak panas lava, baik dengan air laut maupun air hujan dalam radius 5 km dari pusat erupsi Anak Krakatau.</a:t>
            </a:r>
          </a:p>
          <a:p>
            <a:r>
              <a:rPr lang="id-ID" dirty="0"/>
              <a:t>- Masyarakat di wilayah pantai Provinsi Banten dan Lampung harap tenang dan jangan mempercayai isu-isu tentang erupsi Gunungapi Anak Krakatau yang akan menyebabkan tsunami, serta dapat melakukan kegiatan seperti biasa dengan senantiasa mengikuti arahan BPBD setempat.</a:t>
            </a:r>
          </a:p>
          <a:p>
            <a:r>
              <a:rPr lang="id-ID" dirty="0"/>
              <a:t>- Untuk mengetahui informasi dapat menghubungi Pusat Vulkanologi dan Mitigasi Bencana Geologi, Badan Geologi (022) 7272606 di Bandung (Provinsi Jawa Barat) atau Pos Pengamatan Gunungapi Krakatau (0254) 651449 atau 085846324506 di Pasauran (Provinsi Banten).</a:t>
            </a:r>
          </a:p>
          <a:p>
            <a:endParaRPr lang="id-ID"/>
          </a:p>
          <a:p>
            <a:r>
              <a:rPr lang="id-ID" dirty="0"/>
              <a:t>Gn. Merapi (Siaga)</a:t>
            </a:r>
          </a:p>
          <a:p>
            <a:r>
              <a:rPr lang="id-ID" dirty="0"/>
              <a:t>Visual:</a:t>
            </a:r>
          </a:p>
          <a:p>
            <a:r>
              <a:rPr lang="id-ID" dirty="0"/>
              <a:t>- Gunung api tertutup Kabut 0-II hingga tertutup Kabut 0-III. Asap kawah nihil. Cuaca berawan hingga mendung, angin tenang ke arah barat</a:t>
            </a:r>
          </a:p>
          <a:p>
            <a:r>
              <a:rPr lang="id-ID" dirty="0"/>
              <a:t>- Teramati 1 kali guguran lava ke arah Kali Krasak dengan jarak luncur maksimum 2000 meter</a:t>
            </a:r>
          </a:p>
          <a:p>
            <a:r>
              <a:rPr lang="id-ID" dirty="0"/>
              <a:t>- Suhu udara sekitar 18-26°C. Kelembaban 79-100%. Tekanan udara 876.3-921 mmHg. Intensitas curah hujan 6 mm per hari</a:t>
            </a:r>
          </a:p>
          <a:p>
            <a:r>
              <a:rPr lang="id-ID" dirty="0"/>
              <a:t>Kegempaan:</a:t>
            </a:r>
          </a:p>
          <a:p>
            <a:r>
              <a:rPr lang="id-ID" dirty="0"/>
              <a:t>- 84 kali gempa Guguran dengan amplitudo 42 mm dan lama gempa 30.2-204.36 detik .</a:t>
            </a:r>
          </a:p>
          <a:p>
            <a:r>
              <a:rPr lang="id-ID" dirty="0"/>
              <a:t>- 2 kali Tremor Non-Harmonik dengan amplitudo 32-41 mm, dan lama gempa 45.74-53.04 detik.</a:t>
            </a:r>
          </a:p>
          <a:p>
            <a:r>
              <a:rPr lang="id-ID" dirty="0"/>
              <a:t>- 56 kali gempa Hybrid/Fase Banyak dengan amplitudo 2-41 mm, S-P 0.5-0.7 detik dan lama gempa 12.89-55.83 detik</a:t>
            </a:r>
          </a:p>
          <a:p>
            <a:r>
              <a:rPr lang="id-ID" dirty="0"/>
              <a:t>- 3 kali gempa Vulkanik Dangkal dengan amplitudo 3-33 mm, dan lama gempa 14.64-24.39 detik</a:t>
            </a:r>
          </a:p>
          <a:p>
            <a:r>
              <a:rPr lang="id-ID" dirty="0"/>
              <a:t>- 1 kali gempa Tektonik Jauh dengan amplitudo 16 mm, S-P tidak teramati dan lama gempa 75.68 detik</a:t>
            </a:r>
          </a:p>
          <a:p>
            <a:r>
              <a:rPr lang="id-ID" dirty="0"/>
              <a:t>Rekomendasi:</a:t>
            </a:r>
          </a:p>
          <a:p>
            <a:r>
              <a:rPr lang="id-ID" dirty="0"/>
              <a:t>- Potensi bahaya saat ini berupa guguran lava dan awanpanas pada sektor selatan-barat daya meliputi Sungai Boyong sejauh maksimal 5 km, Sungai Bedog, Krasak, Bebeng sejauh maksimal 7 km. Pada sektor tenggara meliputi Sungai Woro sejauh maksimal 3 km dan Sungai Gendol 5 km. Sedangkan lontaran material vulkanik bila terjadi letusan eksplosif dapat menjangkau radius 3 km dari puncak.</a:t>
            </a:r>
          </a:p>
          <a:p>
            <a:endParaRPr lang="id-ID"/>
          </a:p>
          <a:p>
            <a:r>
              <a:rPr lang="id-ID" dirty="0"/>
              <a:t>Gn. Semeru (Siaga)</a:t>
            </a:r>
          </a:p>
          <a:p>
            <a:r>
              <a:rPr lang="id-ID" dirty="0"/>
              <a:t>Visual:</a:t>
            </a:r>
          </a:p>
          <a:p>
            <a:r>
              <a:rPr lang="id-ID" dirty="0"/>
              <a:t>- Gunung api tertutup Kabut 0-II hingga tertutup Kabut 0-III. Asap kawah tidak teramati. Cuaca cerah hingga hujan, angin lemah ke arah utara, barat daya dan barat</a:t>
            </a:r>
          </a:p>
          <a:p>
            <a:r>
              <a:rPr lang="id-ID" dirty="0"/>
              <a:t>- Suhu udara sekitar 20-26°C. Intensitas curah hujan 32 mm per hari</a:t>
            </a:r>
          </a:p>
          <a:p>
            <a:r>
              <a:rPr lang="id-ID" dirty="0"/>
              <a:t>Kegempaan:</a:t>
            </a:r>
          </a:p>
          <a:p>
            <a:r>
              <a:rPr lang="id-ID" dirty="0"/>
              <a:t>- 88 kali gempa Letusan/Erupsi dengan amplitudo 10-25 mm, dan lama gempa 59-172 detik .</a:t>
            </a:r>
          </a:p>
          <a:p>
            <a:r>
              <a:rPr lang="id-ID" dirty="0"/>
              <a:t>- 8 kali gempa Guguran dengan amplitudo 2-6 mm dan lama gempa 38-65 detik .</a:t>
            </a:r>
          </a:p>
          <a:p>
            <a:r>
              <a:rPr lang="id-ID" dirty="0"/>
              <a:t>- 10 kali gempa Hembusan dengan amplitudo 2-8 mm, dan lama gempa 30-66 detik .</a:t>
            </a:r>
          </a:p>
          <a:p>
            <a:r>
              <a:rPr lang="id-ID" dirty="0"/>
              <a:t>- 2 kali Harmonik dengan amplitudo 9-26 mm, dan lama gempa 257-317 detik</a:t>
            </a:r>
          </a:p>
          <a:p>
            <a:r>
              <a:rPr lang="id-ID" dirty="0"/>
              <a:t>- 4 kali gempa Tektonik Jauh dengan amplitudo 7-25 mm, S-P 16-57 detik dan lama gempa 58-96 detik</a:t>
            </a:r>
          </a:p>
          <a:p>
            <a:r>
              <a:rPr lang="id-ID" dirty="0"/>
              <a:t>- 1 kali gempa Getaran Banjir dengan amplitudo 50 mm, dan lama gempa 13524 detik</a:t>
            </a:r>
          </a:p>
          <a:p>
            <a:r>
              <a:rPr lang="id-ID" dirty="0"/>
              <a:t>Rekomendasi:</a:t>
            </a:r>
          </a:p>
          <a:p>
            <a:r>
              <a:rPr lang="id-ID" dirty="0"/>
              <a:t>- Tidak melakukan aktivitas apapun di sektor tenggara di sepanjang Besuk Kobokan, sejauh 13 km dari puncak (pusat erupsi). Di luar jarak tersebut, masyarakat tidak melakukan aktivitas pada jarak 500 meter dari tepi sungai (sempadan sungai) di sepanjang Besuk Kobokan karena berpotensi terlanda perluasan awan panas dan aliran lahar hingga jarak 17 km dari puncak.</a:t>
            </a:r>
          </a:p>
          <a:p>
            <a:r>
              <a:rPr lang="id-ID" dirty="0"/>
              <a:t>- Tidak beraktivitas dalam radius 5 Km dari kawah/puncak Gunung Api Semeru karena rawan terhadap bahaya lontaran batu (pijar).</a:t>
            </a:r>
          </a:p>
          <a:p>
            <a:r>
              <a:rPr lang="id-ID" dirty="0"/>
              <a:t>- Mewaspadai potensi awan panas, guguran lava, dan lahar di sepanjang aliran sungai/lembah yang berhulu di puncak Gunung Api Semeru, terutama sepanjang Besuk Kobokan, Besuk Bang, Besuk Kembar, dan Besuk Sat serta potensi lahar pada sungai-sungai kecil yang merupakan anak sungai dari Besuk Kobokan.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TIH">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
    <p:bg>
      <p:bgPr>
        <a:solidFill>
          <a:srgbClr val="051C2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image" Target="../media/image-2-1.png"/><Relationship Id="rId33" Type="http://schemas.openxmlformats.org/officeDocument/2006/relationships/slideLayout" Target="../slideLayouts/slideLayout2.xml"/><Relationship Id="rId34" Type="http://schemas.openxmlformats.org/officeDocument/2006/relationships/notesSlide" Target="../notesSlides/notesSlide2.xml"/><Relationship Id="rIdM1" Type="http://schemas.openxmlformats.org/officeDocument/2006/relationships/image" Target="../media/h-tpl\ppt\media\image-2-2.png"/><Relationship Id="rIdM2" Type="http://schemas.openxmlformats.org/officeDocument/2006/relationships/image" Target="../media/h-tpl\ppt\media\image-2-3.png"/><Relationship Id="rIdM3" Type="http://schemas.openxmlformats.org/officeDocument/2006/relationships/image" Target="../media/h-tpl\ppt\media\image-2-4.png"/><Relationship Id="rIdM4" Type="http://schemas.openxmlformats.org/officeDocument/2006/relationships/image" Target="../media/h-tpl\ppt\media\image-2-5.png"/><Relationship Id="rIdM5" Type="http://schemas.openxmlformats.org/officeDocument/2006/relationships/image" Target="../media/h-tpl\ppt\media\image-2-6.png"/><Relationship Id="rIdM6" Type="http://schemas.openxmlformats.org/officeDocument/2006/relationships/image" Target="../media/h-tpl\ppt\media\image-2-7.png"/><Relationship Id="rIdM7" Type="http://schemas.openxmlformats.org/officeDocument/2006/relationships/image" Target="../media/h-ik\awas-slate.png"/><Relationship Id="rIdM8" Type="http://schemas.openxmlformats.org/officeDocument/2006/relationships/image" Target="../media/h-ik\awas-merah.png"/><Relationship Id="rIdM9" Type="http://schemas.openxmlformats.org/officeDocument/2006/relationships/image" Target="../media/h-peta.png"/><Relationship Id="rIdM10" Type="http://schemas.openxmlformats.org/officeDocument/2006/relationships/image" Target="../media/h-tpl\ppt\media\image-2-10.png"/><Relationship Id="rIdM11" Type="http://schemas.openxmlformats.org/officeDocument/2006/relationships/image" Target="../media/h-tpl\ppt\media\image-2-11.png"/><Relationship Id="rIdM12" Type="http://schemas.openxmlformats.org/officeDocument/2006/relationships/image" Target="../media/h-tpl\ppt\media\image-2-12.png"/><Relationship Id="rIdM13" Type="http://schemas.openxmlformats.org/officeDocument/2006/relationships/image" Target="../media/h-tpl\ppt\media\image-2-13.png"/><Relationship Id="rIdM14" Type="http://schemas.openxmlformats.org/officeDocument/2006/relationships/image" Target="../media/h-ik\banjir-putih.png"/><Relationship Id="rIdM15" Type="http://schemas.openxmlformats.org/officeDocument/2006/relationships/image" Target="../media/h-ik\orang-slate.png"/><Relationship Id="rIdM16" Type="http://schemas.openxmlformats.org/officeDocument/2006/relationships/image" Target="../media/h-ik\angin-putih.png"/><Relationship Id="rIdM17" Type="http://schemas.openxmlformats.org/officeDocument/2006/relationships/image" Target="../media/h-ik\gempa-putih.png"/><Relationship Id="rIdM18" Type="http://schemas.openxmlformats.org/officeDocument/2006/relationships/image" Target="../media/h-tpl\ppt\media\image-2-30.png"/><Relationship Id="rIdM19" Type="http://schemas.openxmlformats.org/officeDocument/2006/relationships/image" Target="../media/h-tpl\ppt\media\image-2-31.png"/></Relationships>
</file>

<file path=ppt/slides/_rels/slide3.xml.rels><?xml version="1.0" encoding="UTF-8" standalone="yes"?><Relationships xmlns="http://schemas.openxmlformats.org/package/2006/relationships"><Relationship Id="rId1" Type="http://schemas.openxmlformats.org/officeDocument/2006/relationships/image" Target="../media/image-3-1.png"/><Relationship Id="rId45" Type="http://schemas.openxmlformats.org/officeDocument/2006/relationships/slideLayout" Target="../slideLayouts/slideLayout2.xml"/><Relationship Id="rId46" Type="http://schemas.openxmlformats.org/officeDocument/2006/relationships/notesSlide" Target="../notesSlides/notesSlide3.xml"/><Relationship Id="rIdM1" Type="http://schemas.openxmlformats.org/officeDocument/2006/relationships/image" Target="../media/h-ik\banjir-putih.png"/><Relationship Id="rIdM2" Type="http://schemas.openxmlformats.org/officeDocument/2006/relationships/image" Target="../media/h-ik\banjir-navy.png"/><Relationship Id="rIdM3" Type="http://schemas.openxmlformats.org/officeDocument/2006/relationships/image" Target="../media/h-tpl\ppt\media\image-2-11.png"/><Relationship Id="rIdM4" Type="http://schemas.openxmlformats.org/officeDocument/2006/relationships/image" Target="../media/h-ik\awas-oranye.png"/><Relationship Id="rIdM5" Type="http://schemas.openxmlformats.org/officeDocument/2006/relationships/image" Target="../media/h-ik\orang-slate.png"/><Relationship Id="rIdM6" Type="http://schemas.openxmlformats.org/officeDocument/2006/relationships/image" Target="../media/h-tpl\ppt\media\image-2-12.png"/><Relationship Id="rIdM7" Type="http://schemas.openxmlformats.org/officeDocument/2006/relationships/image" Target="../media/h-tpl\ppt\media\image-2-10.png"/><Relationship Id="rIdM8" Type="http://schemas.openxmlformats.org/officeDocument/2006/relationships/image" Target="../media/h-ik\kalender-navy.png"/><Relationship Id="rIdM9" Type="http://schemas.openxmlformats.org/officeDocument/2006/relationships/image" Target="../media/h-ik\awas-putih.png"/><Relationship Id="rIdM10" Type="http://schemas.openxmlformats.org/officeDocument/2006/relationships/image" Target="../media/h-ik\gunung-putih.png"/><Relationship Id="rIdM11" Type="http://schemas.openxmlformats.org/officeDocument/2006/relationships/image" Target="../media/h-ik\awas-merah.png"/><Relationship Id="rIdM12" Type="http://schemas.openxmlformats.org/officeDocument/2006/relationships/image" Target="../media/h-ik\gunung-oranye.png"/><Relationship Id="rIdM13" Type="http://schemas.openxmlformats.org/officeDocument/2006/relationships/image" Target="../media/h-ik\mata-kering.png"/><Relationship Id="rIdM14" Type="http://schemas.openxmlformats.org/officeDocument/2006/relationships/image" Target="../media/h-ik\cek-slate.png"/><Relationship Id="rIdM15" Type="http://schemas.openxmlformats.org/officeDocument/2006/relationships/image" Target="../media/h-ik\banjir-slate.png"/><Relationship Id="rIdM16" Type="http://schemas.openxmlformats.org/officeDocument/2006/relationships/image" Target="../media/h-ik\awas-navy.png"/><Relationship Id="rIdM17" Type="http://schemas.openxmlformats.org/officeDocument/2006/relationships/image" Target="../media/h-ik\radius-oranye.png"/><Relationship Id="rIdM18" Type="http://schemas.openxmlformats.org/officeDocument/2006/relationships/image" Target="../media/h-ik\arah-oranye.png"/></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6.xml.rels><?xml version="1.0" encoding="UTF-8" standalone="yes"?><Relationships xmlns="http://schemas.openxmlformats.org/package/2006/relationships"><Relationship Id="rId1" Type="http://schemas.openxmlformats.org/officeDocument/2006/relationships/image" Target="../media/image-3-1.png"/><Relationship Id="rId45" Type="http://schemas.openxmlformats.org/officeDocument/2006/relationships/slideLayout" Target="../slideLayouts/slideLayout2.xml"/><Relationship Id="rIdM1" Type="http://schemas.openxmlformats.org/officeDocument/2006/relationships/image" Target="../media/h-tpl\ppt\media\image-2-12.png"/><Relationship Id="rIdM2" Type="http://schemas.openxmlformats.org/officeDocument/2006/relationships/image" Target="../media/h-tpl\ppt\media\image-2-11.png"/><Relationship Id="rIdM3" Type="http://schemas.openxmlformats.org/officeDocument/2006/relationships/image" Target="../media/h-tpl\ppt\media\image-3-4.png"/><Relationship Id="rIdM4" Type="http://schemas.openxmlformats.org/officeDocument/2006/relationships/image" Target="../media/h-tpl\ppt\media\image-2-13.png"/><Relationship Id="rIdM5" Type="http://schemas.openxmlformats.org/officeDocument/2006/relationships/image" Target="../media/h-tpl\ppt\media\image-2-10.png"/><Relationship Id="rIdM6" Type="http://schemas.openxmlformats.org/officeDocument/2006/relationships/image" Target="../media/h-ik\gempa-putih.png"/><Relationship Id="rIdM7" Type="http://schemas.openxmlformats.org/officeDocument/2006/relationships/image" Target="../media/h-ik\gempa-slate.png"/><Relationship Id="rIdM8" Type="http://schemas.openxmlformats.org/officeDocument/2006/relationships/image" Target="../media/h-ik\tenda-slate.png"/><Relationship Id="rIdM9" Type="http://schemas.openxmlformats.org/officeDocument/2006/relationships/image" Target="../media/h-ik\orang-slate.png"/><Relationship Id="rIdM10" Type="http://schemas.openxmlformats.org/officeDocument/2006/relationships/image" Target="../media/h-ik\banjir-putih.png"/><Relationship Id="rIdM11" Type="http://schemas.openxmlformats.org/officeDocument/2006/relationships/image" Target="../media/h-ik\banjir-navy.png"/><Relationship Id="rIdM12" Type="http://schemas.openxmlformats.org/officeDocument/2006/relationships/image" Target="../media/h-ik\awas-oranye.png"/><Relationship Id="rIdM13" Type="http://schemas.openxmlformats.org/officeDocument/2006/relationships/image" Target="../media/h-ik\rumah-slate.png"/><Relationship Id="rIdM14" Type="http://schemas.openxmlformats.org/officeDocument/2006/relationships/image" Target="../media/h-ik\kalender-navy.png"/><Relationship Id="rIdM15" Type="http://schemas.openxmlformats.org/officeDocument/2006/relationships/image" Target="../media/h-ik\angin-putih.png"/><Relationship Id="rIdM16" Type="http://schemas.openxmlformats.org/officeDocument/2006/relationships/image" Target="../media/h-ik\angin-slate.png"/><Relationship Id="rIdM17" Type="http://schemas.openxmlformats.org/officeDocument/2006/relationships/image" Target="../media/h-ik\awas-putih.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309360" y="0"/>
            <a:ext cx="5882335" cy="6858000"/>
          </a:xfrm>
          <a:prstGeom prst="rect">
            <a:avLst/>
          </a:prstGeom>
        </p:spPr>
      </p:pic>
      <p:sp>
        <p:nvSpPr>
          <p:cNvPr id="3" name="Shape 0"/>
          <p:cNvSpPr/>
          <p:nvPr/>
        </p:nvSpPr>
        <p:spPr>
          <a:xfrm>
            <a:off x="548640" y="457200"/>
            <a:ext cx="1005840" cy="1005840"/>
          </a:xfrm>
          <a:prstGeom prst="ellipse">
            <a:avLst/>
          </a:prstGeom>
          <a:solidFill>
            <a:srgbClr val="FFFFFF"/>
          </a:solidFill>
          <a:ln/>
          <a:effectLst>
            <a:outerShdw sx="100000" sy="100000" kx="0" ky="0" algn="bl" rotWithShape="0" blurRad="101600" dist="25400" dir="5400000">
              <a:srgbClr val="000000">
                <a:alpha val="25000"/>
              </a:srgbClr>
            </a:outerShdw>
          </a:effectLst>
        </p:spPr>
      </p:sp>
      <p:pic>
        <p:nvPicPr>
          <p:cNvPr id="4" name="Image 1" descr="preencoded.png">    </p:cNvPr>
          <p:cNvPicPr>
            <a:picLocks noChangeAspect="1"/>
          </p:cNvPicPr>
          <p:nvPr/>
        </p:nvPicPr>
        <p:blipFill>
          <a:blip r:embed="rId2"/>
          <a:stretch>
            <a:fillRect/>
          </a:stretch>
        </p:blipFill>
        <p:spPr>
          <a:xfrm>
            <a:off x="780143" y="618134"/>
            <a:ext cx="542834" cy="683971"/>
          </a:xfrm>
          <a:prstGeom prst="rect">
            <a:avLst/>
          </a:prstGeom>
        </p:spPr>
      </p:pic>
      <p:sp>
        <p:nvSpPr>
          <p:cNvPr id="5" name="Shape 1"/>
          <p:cNvSpPr/>
          <p:nvPr/>
        </p:nvSpPr>
        <p:spPr>
          <a:xfrm>
            <a:off x="9128455" y="457200"/>
            <a:ext cx="2514600" cy="868680"/>
          </a:xfrm>
          <a:prstGeom prst="roundRect">
            <a:avLst>
              <a:gd name="adj" fmla="val 12632"/>
            </a:avLst>
          </a:prstGeom>
          <a:solidFill>
            <a:srgbClr val="FFFFFF"/>
          </a:solidFill>
          <a:ln/>
          <a:effectLst>
            <a:outerShdw sx="100000" sy="100000" kx="0" ky="0" algn="bl" rotWithShape="0" blurRad="76200" dist="12700" dir="5400000">
              <a:srgbClr val="000000">
                <a:alpha val="20000"/>
              </a:srgbClr>
            </a:outerShdw>
          </a:effectLst>
        </p:spPr>
      </p:sp>
      <p:pic>
        <p:nvPicPr>
          <p:cNvPr id="6" name="Image 2" descr="img/berakhlak.png">    </p:cNvPr>
          <p:cNvPicPr>
            <a:picLocks noChangeAspect="1"/>
          </p:cNvPicPr>
          <p:nvPr/>
        </p:nvPicPr>
        <p:blipFill>
          <a:blip r:embed="rId3"/>
          <a:stretch>
            <a:fillRect/>
          </a:stretch>
        </p:blipFill>
        <p:spPr>
          <a:xfrm>
            <a:off x="9265615" y="530352"/>
            <a:ext cx="2240280" cy="852561"/>
          </a:xfrm>
          <a:prstGeom prst="rect">
            <a:avLst/>
          </a:prstGeom>
        </p:spPr>
      </p:pic>
      <p:sp>
        <p:nvSpPr>
          <p:cNvPr id="7" name="Text 2"/>
          <p:cNvSpPr txBox="1"/>
          <p:nvPr/>
        </p:nvSpPr>
        <p:spPr>
          <a:xfrm>
            <a:off x="548640" y="1783080"/>
            <a:ext cx="5669280" cy="1188720"/>
          </a:xfrm>
          <a:prstGeom prst="rect">
            <a:avLst/>
          </a:prstGeom>
          <a:noFill/>
          <a:ln/>
        </p:spPr>
        <p:txBody>
          <a:bodyPr wrap="square" lIns="0" tIns="0" rIns="0" bIns="0" rtlCol="0" anchor="t"/>
          <a:lstStyle/>
          <a:p>
            <a:pPr indent="0" marL="0">
              <a:lnSpc>
                <a:spcPct val="95000"/>
              </a:lnSpc>
              <a:buNone/>
            </a:pPr>
            <a:r>
              <a:rPr lang="en-US" sz="3400" b="1" dirty="0">
                <a:solidFill>
                  <a:srgbClr val="1A1A1A"/>
                </a:solidFill>
                <a:latin typeface="Roboto" pitchFamily="34" charset="0"/>
                <a:ea typeface="Roboto" pitchFamily="34" charset="-122"/>
                <a:cs typeface="Roboto" pitchFamily="34" charset="-120"/>
              </a:rPr>
              <a:t>Laporan Kejadian Bencana Harian</a:t>
            </a:r>
            <a:endParaRPr lang="en-US" sz="3400" dirty="0"/>
          </a:p>
        </p:txBody>
      </p:sp>
      <p:sp>
        <p:nvSpPr>
          <p:cNvPr id="8" name="Text 3"/>
          <p:cNvSpPr txBox="1"/>
          <p:nvPr/>
        </p:nvSpPr>
        <p:spPr>
          <a:xfrm>
            <a:off x="548640" y="3017520"/>
            <a:ext cx="5669280" cy="329184"/>
          </a:xfrm>
          <a:prstGeom prst="rect">
            <a:avLst/>
          </a:prstGeom>
          <a:noFill/>
          <a:ln/>
        </p:spPr>
        <p:txBody>
          <a:bodyPr wrap="square" lIns="0" tIns="0" rIns="0" bIns="0" rtlCol="0" anchor="t"/>
          <a:lstStyle/>
          <a:p>
            <a:pPr indent="0" marL="0">
              <a:buNone/>
            </a:pPr>
            <a:r>
              <a:rPr lang="en-US" sz="1600" b="1" dirty="0">
                <a:solidFill>
                  <a:srgbClr val="00499D"/>
                </a:solidFill>
                <a:latin typeface="Roboto" pitchFamily="34" charset="0"/>
                <a:ea typeface="Roboto" pitchFamily="34" charset="-122"/>
                <a:cs typeface="Roboto" pitchFamily="34" charset="-120"/>
              </a:rPr>
              <a:t>Badan Nasional Penanggulangan Bencana</a:t>
            </a:r>
            <a:endParaRPr lang="en-US" sz="1600" dirty="0"/>
          </a:p>
        </p:txBody>
      </p:sp>
      <p:sp>
        <p:nvSpPr>
          <p:cNvPr id="9" name="Shape 4"/>
          <p:cNvSpPr/>
          <p:nvPr/>
        </p:nvSpPr>
        <p:spPr>
          <a:xfrm>
            <a:off x="548640" y="3493008"/>
            <a:ext cx="4206240" cy="384048"/>
          </a:xfrm>
          <a:prstGeom prst="roundRect">
            <a:avLst>
              <a:gd name="adj" fmla="val 50000"/>
            </a:avLst>
          </a:prstGeom>
          <a:solidFill>
            <a:srgbClr val="FBE7D6"/>
          </a:solidFill>
          <a:ln/>
        </p:spPr>
      </p:sp>
      <p:sp>
        <p:nvSpPr>
          <p:cNvPr id="10" name="Shape 5"/>
          <p:cNvSpPr/>
          <p:nvPr/>
        </p:nvSpPr>
        <p:spPr>
          <a:xfrm>
            <a:off x="612648" y="3547872"/>
            <a:ext cx="274320" cy="274320"/>
          </a:xfrm>
          <a:prstGeom prst="ellipse">
            <a:avLst/>
          </a:prstGeom>
          <a:solidFill>
            <a:srgbClr val="D9600B"/>
          </a:solidFill>
          <a:ln/>
        </p:spPr>
      </p:sp>
      <p:pic>
        <p:nvPicPr>
          <p:cNvPr id="11" name="Image 3" descr="preencoded.png">    </p:cNvPr>
          <p:cNvPicPr>
            <a:picLocks noChangeAspect="1"/>
          </p:cNvPicPr>
          <p:nvPr/>
        </p:nvPicPr>
        <p:blipFill>
          <a:blip r:embed="rId4"/>
          <a:stretch>
            <a:fillRect/>
          </a:stretch>
        </p:blipFill>
        <p:spPr>
          <a:xfrm>
            <a:off x="672084" y="3607308"/>
            <a:ext cx="155448" cy="155448"/>
          </a:xfrm>
          <a:prstGeom prst="rect">
            <a:avLst/>
          </a:prstGeom>
        </p:spPr>
      </p:pic>
      <p:sp>
        <p:nvSpPr>
          <p:cNvPr id="12" name="Text 6"/>
          <p:cNvSpPr txBox="1"/>
          <p:nvPr/>
        </p:nvSpPr>
        <p:spPr>
          <a:xfrm>
            <a:off x="960120" y="3493008"/>
            <a:ext cx="3749040" cy="384048"/>
          </a:xfrm>
          <a:prstGeom prst="rect">
            <a:avLst/>
          </a:prstGeom>
          <a:noFill/>
          <a:ln/>
        </p:spPr>
        <p:txBody>
          <a:bodyPr wrap="square" lIns="0" tIns="0" rIns="0" bIns="0" rtlCol="0" anchor="ctr"/>
          <a:lstStyle/>
          <a:p>
            <a:pPr indent="0" marL="0">
              <a:buNone/>
            </a:pPr>
            <a:r>
              <a:rPr lang="en-US" sz="850" b="1" spc="100" kern="0" dirty="0">
                <a:solidFill>
                  <a:srgbClr val="D9600B"/>
                </a:solidFill>
                <a:latin typeface="Roboto" pitchFamily="34" charset="0"/>
                <a:ea typeface="Roboto" pitchFamily="34" charset="-122"/>
                <a:cs typeface="Roboto" pitchFamily="34" charset="-120"/>
              </a:rPr>
              <a:t>PERIODE   </a:t>
            </a:r>
            <a:pPr indent="0" marL="0">
              <a:buNone/>
            </a:pPr>
            <a:r>
              <a:rPr lang="en-US" sz="1050" b="1" dirty="0">
                <a:solidFill>
                  <a:srgbClr val="1A1A1A"/>
                </a:solidFill>
                <a:latin typeface="Roboto" pitchFamily="34" charset="0"/>
                <a:ea typeface="Roboto" pitchFamily="34" charset="-122"/>
                <a:cs typeface="Roboto" pitchFamily="34" charset="-120"/>
              </a:rPr>
              <a:t>30 Okt 2026, 07.00  –  31 Okt 2026, 07.00 WIB</a:t>
            </a:r>
            <a:endParaRPr lang="en-US" sz="1200" dirty="0"/>
          </a:p>
        </p:txBody>
      </p:sp>
      <p:sp>
        <p:nvSpPr>
          <p:cNvPr id="13" name="Shape 7"/>
          <p:cNvSpPr/>
          <p:nvPr/>
        </p:nvSpPr>
        <p:spPr>
          <a:xfrm>
            <a:off x="548640" y="4206240"/>
            <a:ext cx="5120640" cy="0"/>
          </a:xfrm>
          <a:prstGeom prst="line">
            <a:avLst/>
          </a:prstGeom>
          <a:noFill/>
          <a:ln w="9525">
            <a:solidFill>
              <a:srgbClr val="1A1A1A"/>
            </a:solidFill>
            <a:prstDash val="solid"/>
          </a:ln>
        </p:spPr>
      </p:sp>
      <p:sp>
        <p:nvSpPr>
          <p:cNvPr id="14" name="Text 8"/>
          <p:cNvSpPr txBox="1"/>
          <p:nvPr/>
        </p:nvSpPr>
        <p:spPr>
          <a:xfrm>
            <a:off x="548640" y="4315968"/>
            <a:ext cx="5486400" cy="201168"/>
          </a:xfrm>
          <a:prstGeom prst="rect">
            <a:avLst/>
          </a:prstGeom>
          <a:noFill/>
          <a:ln/>
        </p:spPr>
        <p:txBody>
          <a:bodyPr wrap="square" lIns="0" tIns="0" rIns="0" bIns="0" rtlCol="0" anchor="t"/>
          <a:lstStyle/>
          <a:p>
            <a:pPr indent="0" marL="0">
              <a:buNone/>
            </a:pPr>
            <a:r>
              <a:rPr lang="en-US" sz="900" b="1" spc="100" kern="0" dirty="0">
                <a:solidFill>
                  <a:srgbClr val="D9600B"/>
                </a:solidFill>
                <a:latin typeface="Roboto" pitchFamily="34" charset="0"/>
                <a:ea typeface="Roboto" pitchFamily="34" charset="-122"/>
                <a:cs typeface="Roboto" pitchFamily="34" charset="-120"/>
              </a:rPr>
              <a:t>DISAMPAIKAN OLEH</a:t>
            </a:r>
            <a:endParaRPr lang="en-US" sz="900" dirty="0"/>
          </a:p>
        </p:txBody>
      </p:sp>
      <p:sp>
        <p:nvSpPr>
          <p:cNvPr id="15" name="Text 9"/>
          <p:cNvSpPr txBox="1"/>
          <p:nvPr/>
        </p:nvSpPr>
        <p:spPr>
          <a:xfrm>
            <a:off x="548640" y="4526280"/>
            <a:ext cx="5669280" cy="320040"/>
          </a:xfrm>
          <a:prstGeom prst="rect">
            <a:avLst/>
          </a:prstGeom>
          <a:noFill/>
          <a:ln/>
        </p:spPr>
        <p:txBody>
          <a:bodyPr wrap="square" lIns="0" tIns="0" rIns="0" bIns="0" rtlCol="0" anchor="t"/>
          <a:lstStyle/>
          <a:p>
            <a:pPr indent="0" marL="0">
              <a:buNone/>
            </a:pPr>
            <a:r>
              <a:rPr lang="en-US" sz="1400" b="1" dirty="0">
                <a:solidFill>
                  <a:srgbClr val="1A1A1A"/>
                </a:solidFill>
                <a:latin typeface="Roboto" pitchFamily="34" charset="0"/>
                <a:ea typeface="Roboto" pitchFamily="34" charset="-122"/>
                <a:cs typeface="Roboto" pitchFamily="34" charset="-120"/>
              </a:rPr>
              <a:t>Letnan Jenderal TNI Kristomei Sianturi, S.Sos., M.Si., M.Si. (Han)</a:t>
            </a:r>
            <a:endParaRPr lang="en-US" sz="1400" dirty="0"/>
          </a:p>
        </p:txBody>
      </p:sp>
      <p:sp>
        <p:nvSpPr>
          <p:cNvPr id="16" name="Text 10"/>
          <p:cNvSpPr txBox="1"/>
          <p:nvPr/>
        </p:nvSpPr>
        <p:spPr>
          <a:xfrm>
            <a:off x="548640" y="4828032"/>
            <a:ext cx="5669280" cy="274320"/>
          </a:xfrm>
          <a:prstGeom prst="rect">
            <a:avLst/>
          </a:prstGeom>
          <a:noFill/>
          <a:ln/>
        </p:spPr>
        <p:txBody>
          <a:bodyPr wrap="square" lIns="0" tIns="0" rIns="0" bIns="0" rtlCol="0" anchor="t"/>
          <a:lstStyle/>
          <a:p>
            <a:pPr indent="0" marL="0">
              <a:buNone/>
            </a:pPr>
            <a:r>
              <a:rPr lang="en-US" sz="1200" dirty="0">
                <a:solidFill>
                  <a:srgbClr val="6B7280"/>
                </a:solidFill>
                <a:latin typeface="Roboto" pitchFamily="34" charset="0"/>
                <a:ea typeface="Roboto" pitchFamily="34" charset="-122"/>
                <a:cs typeface="Roboto" pitchFamily="34" charset="-120"/>
              </a:rPr>
              <a:t>Kepala Badan Nasional Penanggulangan Bencana</a:t>
            </a:r>
            <a:endParaRPr lang="en-US" sz="1200" dirty="0"/>
          </a:p>
        </p:txBody>
      </p:sp>
      <p:sp>
        <p:nvSpPr>
          <p:cNvPr id="17" name="Shape 11"/>
          <p:cNvSpPr/>
          <p:nvPr/>
        </p:nvSpPr>
        <p:spPr>
          <a:xfrm>
            <a:off x="548640" y="5303520"/>
            <a:ext cx="2926080" cy="384048"/>
          </a:xfrm>
          <a:prstGeom prst="roundRect">
            <a:avLst>
              <a:gd name="adj" fmla="val 50000"/>
            </a:avLst>
          </a:prstGeom>
          <a:solidFill>
            <a:srgbClr val="051C2C"/>
          </a:solidFill>
          <a:ln/>
        </p:spPr>
      </p:sp>
      <p:sp>
        <p:nvSpPr>
          <p:cNvPr id="18" name="Text 12"/>
          <p:cNvSpPr txBox="1"/>
          <p:nvPr/>
        </p:nvSpPr>
        <p:spPr>
          <a:xfrm>
            <a:off x="548640" y="5303520"/>
            <a:ext cx="292608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Roboto" pitchFamily="34" charset="0"/>
                <a:ea typeface="Roboto" pitchFamily="34" charset="-122"/>
                <a:cs typeface="Roboto" pitchFamily="34" charset="-120"/>
              </a:rPr>
              <a:t>Sabtu, 31 Oktober 2026</a:t>
            </a:r>
            <a:endParaRPr lang="en-US" sz="1100" dirty="0"/>
          </a:p>
        </p:txBody>
      </p:sp>
      <p:sp>
        <p:nvSpPr>
          <p:cNvPr id="19" name="Text 13"/>
          <p:cNvSpPr txBox="1"/>
          <p:nvPr/>
        </p:nvSpPr>
        <p:spPr>
          <a:xfrm>
            <a:off x="7985455" y="6565392"/>
            <a:ext cx="3931920" cy="182880"/>
          </a:xfrm>
          <a:prstGeom prst="rect">
            <a:avLst/>
          </a:prstGeom>
          <a:noFill/>
          <a:ln/>
        </p:spPr>
        <p:txBody>
          <a:bodyPr wrap="square" lIns="0" tIns="0" rIns="0" bIns="0" rtlCol="0" anchor="t"/>
          <a:lstStyle/>
          <a:p>
            <a:pPr algn="r" indent="0" marL="0">
              <a:buNone/>
            </a:pPr>
            <a:r>
              <a:rPr lang="en-US" sz="700" dirty="0">
                <a:solidFill>
                  <a:srgbClr val="FFFFFF"/>
                </a:solidFill>
                <a:latin typeface="Roboto" pitchFamily="34" charset="0"/>
                <a:ea typeface="Roboto" pitchFamily="34" charset="-122"/>
                <a:cs typeface="Roboto" pitchFamily="34" charset="-120"/>
              </a:rPr>
              <a:t>Foto: DenY Krisbiyantoro, CC BY-SA 4.0</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1"/>
          <p:cNvSpPr/>
          <p:nvPr/>
        </p:nvSpPr>
        <p:spPr>
          <a:xfrm>
            <a:off x="548640" y="1207008"/>
            <a:ext cx="11094415" cy="0"/>
          </a:xfrm>
          <a:prstGeom prst="line">
            <a:avLst/>
          </a:prstGeom>
          <a:noFill/>
          <a:ln w="9525">
            <a:solidFill>
              <a:srgbClr val="1A1A1A"/>
            </a:solidFill>
            <a:prstDash val="solid"/>
          </a:ln>
        </p:spPr>
      </p:sp>
      <p:sp>
        <p:nvSpPr>
          <p:cNvPr id="4" name="Shape 2"/>
          <p:cNvSpPr/>
          <p:nvPr/>
        </p:nvSpPr>
        <p:spPr>
          <a:xfrm>
            <a:off x="548640" y="6446520"/>
            <a:ext cx="11094415" cy="0"/>
          </a:xfrm>
          <a:prstGeom prst="line">
            <a:avLst/>
          </a:prstGeom>
          <a:noFill/>
          <a:ln w="9525">
            <a:solidFill>
              <a:srgbClr val="1A1A1A"/>
            </a:solidFill>
            <a:prstDash val="solid"/>
          </a:ln>
        </p:spPr>
      </p:sp>
      <p:pic>
        <p:nvPicPr>
          <p:cNvPr id="5" name="Image 0" descr="preencoded.png">    </p:cNvPr>
          <p:cNvPicPr>
            <a:picLocks noChangeAspect="1"/>
          </p:cNvPicPr>
          <p:nvPr/>
        </p:nvPicPr>
        <p:blipFill>
          <a:blip r:embed="rId1"/>
          <a:stretch>
            <a:fillRect/>
          </a:stretch>
        </p:blipFill>
        <p:spPr>
          <a:xfrm>
            <a:off x="11295583" y="365760"/>
            <a:ext cx="347472" cy="438912"/>
          </a:xfrm>
          <a:prstGeom prst="rect">
            <a:avLst/>
          </a:prstGeom>
        </p:spPr>
      </p:pic>
      <p:sp>
        <p:nvSpPr>
          <p:cNvPr id="6" name="Text 3"/>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7" name="Text 4"/>
          <p:cNvSpPr txBox="1"/>
          <p:nvPr/>
        </p:nvSpPr>
        <p:spPr>
          <a:xfrm>
            <a:off x="10728655" y="6510528"/>
            <a:ext cx="914400" cy="201168"/>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2</a:t>
            </a:r>
            <a:endParaRPr lang="en-US" sz="850" dirty="0"/>
          </a:p>
        </p:txBody>
      </p:sp>
      <p:sp>
        <p:nvSpPr>
          <p:cNvPr id="579" name="T"/>
          <p:cNvSpPr txBox="1"/>
          <p:nvPr/>
        </p:nvSpPr>
        <p:spPr>
          <a:xfrm>
            <a:off x="548640" y="292608"/>
            <a:ext cx="10454335" cy="822960"/>
          </a:xfrm>
          <a:prstGeom prst="rect">
            <a:avLst/>
          </a:prstGeom>
          <a:noFill/>
        </p:spPr>
        <p:txBody>
          <a:bodyPr wrap="square" lIns="0" tIns="0" rIns="0" bIns="0" anchor="b"/>
          <a:lstStyle/>
          <a:p>
            <a:pPr algn="l">
              <a:buNone/>
            </a:pPr>
            <a:r>
              <a:rPr lang="id-ID" sz="2000" b="1" dirty="0">
                <a:solidFill>
                  <a:srgbClr val="1A1A1A"/>
                </a:solidFill>
                <a:latin typeface="Roboto"/>
                <a:ea typeface="Roboto"/>
                <a:cs typeface="Roboto"/>
              </a:rPr>
              <a:t>Laporan 30–31 Oktober 2026: </a:t>
            </a:r>
            <a:r>
              <a:rPr lang="id-ID" sz="2000" b="1" dirty="0">
                <a:solidFill>
                  <a:srgbClr val="D9600B"/>
                </a:solidFill>
                <a:latin typeface="Roboto"/>
                <a:ea typeface="Roboto"/>
                <a:cs typeface="Roboto"/>
              </a:rPr>
              <a:t>25</a:t>
            </a:r>
            <a:r>
              <a:rPr lang="id-ID" sz="2000" b="1" dirty="0">
                <a:solidFill>
                  <a:srgbClr val="1A1A1A"/>
                </a:solidFill>
                <a:latin typeface="Roboto"/>
                <a:ea typeface="Roboto"/>
                <a:cs typeface="Roboto"/>
              </a:rPr>
              <a:t> kejadian menonjol di </a:t>
            </a:r>
            <a:r>
              <a:rPr lang="id-ID" sz="2000" b="1" dirty="0">
                <a:solidFill>
                  <a:srgbClr val="D9600B"/>
                </a:solidFill>
                <a:latin typeface="Roboto"/>
                <a:ea typeface="Roboto"/>
                <a:cs typeface="Roboto"/>
              </a:rPr>
              <a:t>19 provinsi</a:t>
            </a:r>
            <a:r>
              <a:rPr lang="id-ID" sz="2000" b="1" dirty="0">
                <a:solidFill>
                  <a:srgbClr val="1A1A1A"/>
                </a:solidFill>
                <a:latin typeface="Roboto"/>
                <a:ea typeface="Roboto"/>
                <a:cs typeface="Roboto"/>
              </a:rPr>
              <a:t>, terdiri atas </a:t>
            </a:r>
            <a:r>
              <a:rPr lang="id-ID" sz="2000" b="1" dirty="0">
                <a:solidFill>
                  <a:srgbClr val="D9600B"/>
                </a:solidFill>
                <a:latin typeface="Roboto"/>
                <a:ea typeface="Roboto"/>
                <a:cs typeface="Roboto"/>
              </a:rPr>
              <a:t>17</a:t>
            </a:r>
            <a:r>
              <a:rPr lang="id-ID" sz="2000" b="1" dirty="0">
                <a:solidFill>
                  <a:srgbClr val="1A1A1A"/>
                </a:solidFill>
                <a:latin typeface="Roboto"/>
                <a:ea typeface="Roboto"/>
                <a:cs typeface="Roboto"/>
              </a:rPr>
              <a:t> karhutla</a:t>
            </a:r>
            <a:r>
              <a:rPr lang="id-ID" sz="2000" b="1" dirty="0">
                <a:solidFill>
                  <a:srgbClr val="1A1A1A"/>
                </a:solidFill>
                <a:latin typeface="Roboto"/>
                <a:ea typeface="Roboto"/>
                <a:cs typeface="Roboto"/>
              </a:rPr>
              <a:t> dan </a:t>
            </a:r>
            <a:r>
              <a:rPr lang="id-ID" sz="2000" b="1" dirty="0">
                <a:solidFill>
                  <a:srgbClr val="D9600B"/>
                </a:solidFill>
                <a:latin typeface="Roboto"/>
                <a:ea typeface="Roboto"/>
                <a:cs typeface="Roboto"/>
              </a:rPr>
              <a:t>8</a:t>
            </a:r>
            <a:r>
              <a:rPr lang="id-ID" sz="2000" b="1" dirty="0">
                <a:solidFill>
                  <a:srgbClr val="1A1A1A"/>
                </a:solidFill>
                <a:latin typeface="Roboto"/>
                <a:ea typeface="Roboto"/>
                <a:cs typeface="Roboto"/>
              </a:rPr>
              <a:t> bencana lainnya</a:t>
            </a:r>
            <a:endParaRPr lang="id-ID" sz="2000"/>
          </a:p>
        </p:txBody>
      </p:sp>
      <p:sp>
        <p:nvSpPr>
          <p:cNvPr id="301" name="K"/>
          <p:cNvSpPr/>
          <p:nvPr/>
        </p:nvSpPr>
        <p:spPr>
          <a:xfrm>
            <a:off x="548640" y="1280160"/>
            <a:ext cx="8579267" cy="932688"/>
          </a:xfrm>
          <a:prstGeom prst="roundRect">
            <a:avLst>
              <a:gd name="adj" fmla="val 7843"/>
            </a:avLst>
          </a:prstGeom>
          <a:solidFill>
            <a:srgbClr val="F3F5F8"/>
          </a:solidFill>
          <a:ln>
            <a:noFill/>
          </a:ln>
        </p:spPr>
      </p:sp>
      <p:sp>
        <p:nvSpPr>
          <p:cNvPr id="302" name="K"/>
          <p:cNvSpPr/>
          <p:nvPr/>
        </p:nvSpPr>
        <p:spPr>
          <a:xfrm>
            <a:off x="658368" y="1335024"/>
            <a:ext cx="1525219" cy="182880"/>
          </a:xfrm>
          <a:prstGeom prst="roundRect">
            <a:avLst>
              <a:gd name="adj" fmla="val 50000"/>
            </a:avLst>
          </a:prstGeom>
          <a:solidFill>
            <a:srgbClr val="051C2C"/>
          </a:solidFill>
          <a:ln>
            <a:noFill/>
          </a:ln>
        </p:spPr>
      </p:sp>
      <p:pic>
        <p:nvPicPr>
          <p:cNvPr id="303" name="G"/>
          <p:cNvPicPr>
            <a:picLocks noChangeAspect="1"/>
          </p:cNvPicPr>
          <p:nvPr/>
        </p:nvPicPr>
        <p:blipFill>
          <a:blip r:embed="rIdM1"/>
          <a:stretch>
            <a:fillRect/>
          </a:stretch>
        </p:blipFill>
        <p:spPr>
          <a:xfrm>
            <a:off x="731520" y="1371600"/>
            <a:ext cx="109728" cy="109728"/>
          </a:xfrm>
          <a:prstGeom prst="rect">
            <a:avLst/>
          </a:prstGeom>
        </p:spPr>
      </p:pic>
      <p:sp>
        <p:nvSpPr>
          <p:cNvPr id="304" name="T"/>
          <p:cNvSpPr txBox="1"/>
          <p:nvPr/>
        </p:nvSpPr>
        <p:spPr>
          <a:xfrm>
            <a:off x="896112" y="1335024"/>
            <a:ext cx="1265219" cy="182880"/>
          </a:xfrm>
          <a:prstGeom prst="rect">
            <a:avLst/>
          </a:prstGeom>
          <a:noFill/>
        </p:spPr>
        <p:txBody>
          <a:bodyPr wrap="none" lIns="0" tIns="0" rIns="0" bIns="0" anchor="ctr"/>
          <a:lstStyle/>
          <a:p>
            <a:pPr algn="l">
              <a:buNone/>
            </a:pPr>
            <a:r>
              <a:rPr lang="id-ID" sz="700" b="1" spc="100" dirty="0">
                <a:solidFill>
                  <a:srgbClr val="FFFFFF"/>
                </a:solidFill>
                <a:latin typeface="Roboto"/>
                <a:ea typeface="Roboto"/>
                <a:cs typeface="Roboto"/>
              </a:rPr>
              <a:t>KEJADIAN BENCANA</a:t>
            </a:r>
            <a:endParaRPr lang="id-ID" sz="660"/>
          </a:p>
        </p:txBody>
      </p:sp>
      <p:sp>
        <p:nvSpPr>
          <p:cNvPr id="305" name="K"/>
          <p:cNvSpPr/>
          <p:nvPr/>
        </p:nvSpPr>
        <p:spPr>
          <a:xfrm>
            <a:off x="9402227" y="1280160"/>
            <a:ext cx="2240829" cy="932688"/>
          </a:xfrm>
          <a:prstGeom prst="roundRect">
            <a:avLst>
              <a:gd name="adj" fmla="val 7843"/>
            </a:avLst>
          </a:prstGeom>
          <a:solidFill>
            <a:srgbClr val="FCF1F2"/>
          </a:solidFill>
          <a:ln>
            <a:noFill/>
          </a:ln>
        </p:spPr>
      </p:sp>
      <p:sp>
        <p:nvSpPr>
          <p:cNvPr id="306" name="K"/>
          <p:cNvSpPr/>
          <p:nvPr/>
        </p:nvSpPr>
        <p:spPr>
          <a:xfrm>
            <a:off x="9511955" y="1335024"/>
            <a:ext cx="1453896" cy="182880"/>
          </a:xfrm>
          <a:prstGeom prst="roundRect">
            <a:avLst>
              <a:gd name="adj" fmla="val 50000"/>
            </a:avLst>
          </a:prstGeom>
          <a:solidFill>
            <a:srgbClr val="C8102E"/>
          </a:solidFill>
          <a:ln>
            <a:noFill/>
          </a:ln>
        </p:spPr>
      </p:sp>
      <p:pic>
        <p:nvPicPr>
          <p:cNvPr id="307" name="G"/>
          <p:cNvPicPr>
            <a:picLocks noChangeAspect="1"/>
          </p:cNvPicPr>
          <p:nvPr/>
        </p:nvPicPr>
        <p:blipFill>
          <a:blip r:embed="rIdM2"/>
          <a:stretch>
            <a:fillRect/>
          </a:stretch>
        </p:blipFill>
        <p:spPr>
          <a:xfrm>
            <a:off x="9585107" y="1371600"/>
            <a:ext cx="109728" cy="109728"/>
          </a:xfrm>
          <a:prstGeom prst="rect">
            <a:avLst/>
          </a:prstGeom>
        </p:spPr>
      </p:pic>
      <p:sp>
        <p:nvSpPr>
          <p:cNvPr id="308" name="T"/>
          <p:cNvSpPr txBox="1"/>
          <p:nvPr/>
        </p:nvSpPr>
        <p:spPr>
          <a:xfrm>
            <a:off x="9749699" y="1335024"/>
            <a:ext cx="1193896" cy="182880"/>
          </a:xfrm>
          <a:prstGeom prst="rect">
            <a:avLst/>
          </a:prstGeom>
          <a:noFill/>
        </p:spPr>
        <p:txBody>
          <a:bodyPr wrap="none" lIns="0" tIns="0" rIns="0" bIns="0" anchor="ctr"/>
          <a:lstStyle/>
          <a:p>
            <a:pPr algn="l">
              <a:buNone/>
            </a:pPr>
            <a:r>
              <a:rPr lang="id-ID" sz="700" b="1" spc="100" dirty="0">
                <a:solidFill>
                  <a:srgbClr val="FFFFFF"/>
                </a:solidFill>
                <a:latin typeface="Roboto"/>
                <a:ea typeface="Roboto"/>
                <a:cs typeface="Roboto"/>
              </a:rPr>
              <a:t>PERLU PERHATIAN</a:t>
            </a:r>
            <a:endParaRPr lang="id-ID" sz="660"/>
          </a:p>
        </p:txBody>
      </p:sp>
      <p:sp>
        <p:nvSpPr>
          <p:cNvPr id="309" name="K"/>
          <p:cNvSpPr/>
          <p:nvPr/>
        </p:nvSpPr>
        <p:spPr>
          <a:xfrm>
            <a:off x="658368" y="1591056"/>
            <a:ext cx="1598810" cy="512064"/>
          </a:xfrm>
          <a:prstGeom prst="roundRect">
            <a:avLst>
              <a:gd name="adj" fmla="val 14286"/>
            </a:avLst>
          </a:prstGeom>
          <a:solidFill>
            <a:srgbClr val="FFFFFF"/>
          </a:solidFill>
          <a:ln w="9525">
            <a:solidFill>
              <a:srgbClr val="BFC5CC"/>
            </a:solidFill>
          </a:ln>
        </p:spPr>
      </p:sp>
      <p:sp>
        <p:nvSpPr>
          <p:cNvPr id="310" name="K"/>
          <p:cNvSpPr/>
          <p:nvPr/>
        </p:nvSpPr>
        <p:spPr>
          <a:xfrm>
            <a:off x="768096" y="1682496"/>
            <a:ext cx="329184" cy="329184"/>
          </a:xfrm>
          <a:prstGeom prst="ellipse">
            <a:avLst/>
          </a:prstGeom>
          <a:solidFill>
            <a:srgbClr val="E6EAF0"/>
          </a:solidFill>
          <a:ln>
            <a:noFill/>
          </a:ln>
        </p:spPr>
      </p:sp>
      <p:pic>
        <p:nvPicPr>
          <p:cNvPr id="311" name="G"/>
          <p:cNvPicPr>
            <a:picLocks noChangeAspect="1"/>
          </p:cNvPicPr>
          <p:nvPr/>
        </p:nvPicPr>
        <p:blipFill>
          <a:blip r:embed="rIdM3"/>
          <a:stretch>
            <a:fillRect/>
          </a:stretch>
        </p:blipFill>
        <p:spPr>
          <a:xfrm>
            <a:off x="841248" y="1755648"/>
            <a:ext cx="182880" cy="182880"/>
          </a:xfrm>
          <a:prstGeom prst="rect">
            <a:avLst/>
          </a:prstGeom>
        </p:spPr>
      </p:pic>
      <p:sp>
        <p:nvSpPr>
          <p:cNvPr id="312" name="T"/>
          <p:cNvSpPr txBox="1"/>
          <p:nvPr/>
        </p:nvSpPr>
        <p:spPr>
          <a:xfrm>
            <a:off x="1170432" y="1627632"/>
            <a:ext cx="1050170" cy="274320"/>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35</a:t>
            </a:r>
            <a:endParaRPr lang="id-ID" sz="1700"/>
          </a:p>
        </p:txBody>
      </p:sp>
      <p:sp>
        <p:nvSpPr>
          <p:cNvPr id="313" name="T"/>
          <p:cNvSpPr txBox="1"/>
          <p:nvPr/>
        </p:nvSpPr>
        <p:spPr>
          <a:xfrm>
            <a:off x="11704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laporan kejadian</a:t>
            </a:r>
            <a:endParaRPr lang="id-ID" sz="750"/>
          </a:p>
        </p:txBody>
      </p:sp>
      <p:sp>
        <p:nvSpPr>
          <p:cNvPr id="314" name="K"/>
          <p:cNvSpPr/>
          <p:nvPr/>
        </p:nvSpPr>
        <p:spPr>
          <a:xfrm>
            <a:off x="2348618" y="1591056"/>
            <a:ext cx="1598810" cy="512064"/>
          </a:xfrm>
          <a:prstGeom prst="roundRect">
            <a:avLst>
              <a:gd name="adj" fmla="val 14286"/>
            </a:avLst>
          </a:prstGeom>
          <a:solidFill>
            <a:srgbClr val="FFFFFF"/>
          </a:solidFill>
          <a:ln w="9525">
            <a:solidFill>
              <a:srgbClr val="BFC5CC"/>
            </a:solidFill>
          </a:ln>
        </p:spPr>
      </p:sp>
      <p:sp>
        <p:nvSpPr>
          <p:cNvPr id="315" name="K"/>
          <p:cNvSpPr/>
          <p:nvPr/>
        </p:nvSpPr>
        <p:spPr>
          <a:xfrm>
            <a:off x="2458346" y="1682496"/>
            <a:ext cx="329184" cy="329184"/>
          </a:xfrm>
          <a:prstGeom prst="ellipse">
            <a:avLst/>
          </a:prstGeom>
          <a:solidFill>
            <a:srgbClr val="E6EAF0"/>
          </a:solidFill>
          <a:ln>
            <a:noFill/>
          </a:ln>
        </p:spPr>
      </p:sp>
      <p:pic>
        <p:nvPicPr>
          <p:cNvPr id="316" name="G"/>
          <p:cNvPicPr>
            <a:picLocks noChangeAspect="1"/>
          </p:cNvPicPr>
          <p:nvPr/>
        </p:nvPicPr>
        <p:blipFill>
          <a:blip r:embed="rIdM4"/>
          <a:stretch>
            <a:fillRect/>
          </a:stretch>
        </p:blipFill>
        <p:spPr>
          <a:xfrm>
            <a:off x="2531498" y="1755648"/>
            <a:ext cx="182880" cy="182880"/>
          </a:xfrm>
          <a:prstGeom prst="rect">
            <a:avLst/>
          </a:prstGeom>
        </p:spPr>
      </p:pic>
      <p:sp>
        <p:nvSpPr>
          <p:cNvPr id="317" name="T"/>
          <p:cNvSpPr txBox="1"/>
          <p:nvPr/>
        </p:nvSpPr>
        <p:spPr>
          <a:xfrm>
            <a:off x="2860682" y="1627632"/>
            <a:ext cx="1050170" cy="274320"/>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25</a:t>
            </a:r>
            <a:endParaRPr lang="id-ID" sz="1700"/>
          </a:p>
        </p:txBody>
      </p:sp>
      <p:sp>
        <p:nvSpPr>
          <p:cNvPr id="318" name="T"/>
          <p:cNvSpPr txBox="1"/>
          <p:nvPr/>
        </p:nvSpPr>
        <p:spPr>
          <a:xfrm>
            <a:off x="286068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kejadian menonjol</a:t>
            </a:r>
            <a:endParaRPr lang="id-ID" sz="750"/>
          </a:p>
        </p:txBody>
      </p:sp>
      <p:sp>
        <p:nvSpPr>
          <p:cNvPr id="319" name="K"/>
          <p:cNvSpPr/>
          <p:nvPr/>
        </p:nvSpPr>
        <p:spPr>
          <a:xfrm>
            <a:off x="4038868" y="1591056"/>
            <a:ext cx="1598810" cy="512064"/>
          </a:xfrm>
          <a:prstGeom prst="roundRect">
            <a:avLst>
              <a:gd name="adj" fmla="val 14286"/>
            </a:avLst>
          </a:prstGeom>
          <a:solidFill>
            <a:srgbClr val="FFFFFF"/>
          </a:solidFill>
          <a:ln w="9525">
            <a:solidFill>
              <a:srgbClr val="BFC5CC"/>
            </a:solidFill>
          </a:ln>
        </p:spPr>
      </p:sp>
      <p:sp>
        <p:nvSpPr>
          <p:cNvPr id="320" name="K"/>
          <p:cNvSpPr/>
          <p:nvPr/>
        </p:nvSpPr>
        <p:spPr>
          <a:xfrm>
            <a:off x="4148596" y="1682496"/>
            <a:ext cx="329184" cy="329184"/>
          </a:xfrm>
          <a:prstGeom prst="ellipse">
            <a:avLst/>
          </a:prstGeom>
          <a:solidFill>
            <a:srgbClr val="FBE7D6"/>
          </a:solidFill>
          <a:ln>
            <a:noFill/>
          </a:ln>
        </p:spPr>
      </p:sp>
      <p:pic>
        <p:nvPicPr>
          <p:cNvPr id="321" name="G"/>
          <p:cNvPicPr>
            <a:picLocks noChangeAspect="1"/>
          </p:cNvPicPr>
          <p:nvPr/>
        </p:nvPicPr>
        <p:blipFill>
          <a:blip r:embed="rIdM5"/>
          <a:stretch>
            <a:fillRect/>
          </a:stretch>
        </p:blipFill>
        <p:spPr>
          <a:xfrm>
            <a:off x="4221748" y="1755648"/>
            <a:ext cx="182880" cy="182880"/>
          </a:xfrm>
          <a:prstGeom prst="rect">
            <a:avLst/>
          </a:prstGeom>
        </p:spPr>
      </p:pic>
      <p:sp>
        <p:nvSpPr>
          <p:cNvPr id="322" name="T"/>
          <p:cNvSpPr txBox="1"/>
          <p:nvPr/>
        </p:nvSpPr>
        <p:spPr>
          <a:xfrm>
            <a:off x="4550932" y="1627632"/>
            <a:ext cx="1050170" cy="274320"/>
          </a:xfrm>
          <a:prstGeom prst="rect">
            <a:avLst/>
          </a:prstGeom>
          <a:noFill/>
        </p:spPr>
        <p:txBody>
          <a:bodyPr wrap="square" lIns="0" tIns="0" rIns="0" bIns="0" anchor="ctr"/>
          <a:lstStyle/>
          <a:p>
            <a:pPr algn="l">
              <a:buNone/>
            </a:pPr>
            <a:r>
              <a:rPr lang="id-ID" sz="1700" b="1" dirty="0">
                <a:solidFill>
                  <a:srgbClr val="D9600B"/>
                </a:solidFill>
                <a:latin typeface="Roboto"/>
                <a:ea typeface="Roboto"/>
                <a:cs typeface="Roboto"/>
              </a:rPr>
              <a:t>17</a:t>
            </a:r>
            <a:endParaRPr lang="id-ID" sz="1700"/>
          </a:p>
        </p:txBody>
      </p:sp>
      <p:sp>
        <p:nvSpPr>
          <p:cNvPr id="323" name="T"/>
          <p:cNvSpPr txBox="1"/>
          <p:nvPr/>
        </p:nvSpPr>
        <p:spPr>
          <a:xfrm>
            <a:off x="45509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karhutla</a:t>
            </a:r>
            <a:endParaRPr lang="id-ID" sz="750"/>
          </a:p>
        </p:txBody>
      </p:sp>
      <p:sp>
        <p:nvSpPr>
          <p:cNvPr id="324" name="K"/>
          <p:cNvSpPr/>
          <p:nvPr/>
        </p:nvSpPr>
        <p:spPr>
          <a:xfrm>
            <a:off x="5729118" y="1591056"/>
            <a:ext cx="1598810" cy="512064"/>
          </a:xfrm>
          <a:prstGeom prst="roundRect">
            <a:avLst>
              <a:gd name="adj" fmla="val 14286"/>
            </a:avLst>
          </a:prstGeom>
          <a:solidFill>
            <a:srgbClr val="FFFFFF"/>
          </a:solidFill>
          <a:ln w="9525">
            <a:solidFill>
              <a:srgbClr val="BFC5CC"/>
            </a:solidFill>
          </a:ln>
        </p:spPr>
      </p:sp>
      <p:sp>
        <p:nvSpPr>
          <p:cNvPr id="325" name="K"/>
          <p:cNvSpPr/>
          <p:nvPr/>
        </p:nvSpPr>
        <p:spPr>
          <a:xfrm>
            <a:off x="5838846" y="1682496"/>
            <a:ext cx="329184" cy="329184"/>
          </a:xfrm>
          <a:prstGeom prst="ellipse">
            <a:avLst/>
          </a:prstGeom>
          <a:solidFill>
            <a:srgbClr val="F4ECDC"/>
          </a:solidFill>
          <a:ln>
            <a:noFill/>
          </a:ln>
        </p:spPr>
      </p:sp>
      <p:pic>
        <p:nvPicPr>
          <p:cNvPr id="326" name="G"/>
          <p:cNvPicPr>
            <a:picLocks noChangeAspect="1"/>
          </p:cNvPicPr>
          <p:nvPr/>
        </p:nvPicPr>
        <p:blipFill>
          <a:blip r:embed="rIdM6"/>
          <a:stretch>
            <a:fillRect/>
          </a:stretch>
        </p:blipFill>
        <p:spPr>
          <a:xfrm>
            <a:off x="5911998" y="1755648"/>
            <a:ext cx="182880" cy="182880"/>
          </a:xfrm>
          <a:prstGeom prst="rect">
            <a:avLst/>
          </a:prstGeom>
        </p:spPr>
      </p:pic>
      <p:sp>
        <p:nvSpPr>
          <p:cNvPr id="327" name="T"/>
          <p:cNvSpPr txBox="1"/>
          <p:nvPr/>
        </p:nvSpPr>
        <p:spPr>
          <a:xfrm>
            <a:off x="6241182" y="1627632"/>
            <a:ext cx="1050170" cy="274320"/>
          </a:xfrm>
          <a:prstGeom prst="rect">
            <a:avLst/>
          </a:prstGeom>
          <a:noFill/>
        </p:spPr>
        <p:txBody>
          <a:bodyPr wrap="square" lIns="0" tIns="0" rIns="0" bIns="0" anchor="ctr"/>
          <a:lstStyle/>
          <a:p>
            <a:pPr algn="l">
              <a:buNone/>
            </a:pPr>
            <a:r>
              <a:rPr lang="id-ID" sz="1700" b="1" dirty="0">
                <a:solidFill>
                  <a:srgbClr val="B08A3E"/>
                </a:solidFill>
                <a:latin typeface="Roboto"/>
                <a:ea typeface="Roboto"/>
                <a:cs typeface="Roboto"/>
              </a:rPr>
              <a:t>0</a:t>
            </a:r>
            <a:endParaRPr lang="id-ID" sz="1700"/>
          </a:p>
        </p:txBody>
      </p:sp>
      <p:sp>
        <p:nvSpPr>
          <p:cNvPr id="328" name="T"/>
          <p:cNvSpPr txBox="1"/>
          <p:nvPr/>
        </p:nvSpPr>
        <p:spPr>
          <a:xfrm>
            <a:off x="624118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kekeringan</a:t>
            </a:r>
            <a:endParaRPr lang="id-ID" sz="750"/>
          </a:p>
        </p:txBody>
      </p:sp>
      <p:sp>
        <p:nvSpPr>
          <p:cNvPr id="329" name="K"/>
          <p:cNvSpPr/>
          <p:nvPr/>
        </p:nvSpPr>
        <p:spPr>
          <a:xfrm>
            <a:off x="7419368" y="1591056"/>
            <a:ext cx="1598810" cy="512064"/>
          </a:xfrm>
          <a:prstGeom prst="roundRect">
            <a:avLst>
              <a:gd name="adj" fmla="val 14286"/>
            </a:avLst>
          </a:prstGeom>
          <a:solidFill>
            <a:srgbClr val="FFFFFF"/>
          </a:solidFill>
          <a:ln w="9525">
            <a:solidFill>
              <a:srgbClr val="BFC5CC"/>
            </a:solidFill>
          </a:ln>
        </p:spPr>
      </p:sp>
      <p:sp>
        <p:nvSpPr>
          <p:cNvPr id="330" name="K"/>
          <p:cNvSpPr/>
          <p:nvPr/>
        </p:nvSpPr>
        <p:spPr>
          <a:xfrm>
            <a:off x="7529096" y="1682496"/>
            <a:ext cx="329184" cy="329184"/>
          </a:xfrm>
          <a:prstGeom prst="ellipse">
            <a:avLst/>
          </a:prstGeom>
          <a:solidFill>
            <a:srgbClr val="E3EAF1"/>
          </a:solidFill>
          <a:ln>
            <a:noFill/>
          </a:ln>
        </p:spPr>
      </p:sp>
      <p:pic>
        <p:nvPicPr>
          <p:cNvPr id="331" name="G"/>
          <p:cNvPicPr>
            <a:picLocks noChangeAspect="1"/>
          </p:cNvPicPr>
          <p:nvPr/>
        </p:nvPicPr>
        <p:blipFill>
          <a:blip r:embed="rIdM7"/>
          <a:stretch>
            <a:fillRect/>
          </a:stretch>
        </p:blipFill>
        <p:spPr>
          <a:xfrm>
            <a:off x="7602248" y="1755648"/>
            <a:ext cx="182880" cy="182880"/>
          </a:xfrm>
          <a:prstGeom prst="rect">
            <a:avLst/>
          </a:prstGeom>
        </p:spPr>
      </p:pic>
      <p:sp>
        <p:nvSpPr>
          <p:cNvPr id="332" name="T"/>
          <p:cNvSpPr txBox="1"/>
          <p:nvPr/>
        </p:nvSpPr>
        <p:spPr>
          <a:xfrm>
            <a:off x="7931432" y="1627632"/>
            <a:ext cx="1050170" cy="274320"/>
          </a:xfrm>
          <a:prstGeom prst="rect">
            <a:avLst/>
          </a:prstGeom>
          <a:noFill/>
        </p:spPr>
        <p:txBody>
          <a:bodyPr wrap="square" lIns="0" tIns="0" rIns="0" bIns="0" anchor="ctr"/>
          <a:lstStyle/>
          <a:p>
            <a:pPr algn="l">
              <a:buNone/>
            </a:pPr>
            <a:r>
              <a:rPr lang="id-ID" sz="1700" b="1" dirty="0">
                <a:solidFill>
                  <a:srgbClr val="5B7A99"/>
                </a:solidFill>
                <a:latin typeface="Roboto"/>
                <a:ea typeface="Roboto"/>
                <a:cs typeface="Roboto"/>
              </a:rPr>
              <a:t>8</a:t>
            </a:r>
            <a:endParaRPr lang="id-ID" sz="1700"/>
          </a:p>
        </p:txBody>
      </p:sp>
      <p:sp>
        <p:nvSpPr>
          <p:cNvPr id="333" name="T"/>
          <p:cNvSpPr txBox="1"/>
          <p:nvPr/>
        </p:nvSpPr>
        <p:spPr>
          <a:xfrm>
            <a:off x="7931432" y="1892808"/>
            <a:ext cx="1050170"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bencana lainnya</a:t>
            </a:r>
            <a:endParaRPr lang="id-ID" sz="750"/>
          </a:p>
        </p:txBody>
      </p:sp>
      <p:sp>
        <p:nvSpPr>
          <p:cNvPr id="334" name="K"/>
          <p:cNvSpPr/>
          <p:nvPr/>
        </p:nvSpPr>
        <p:spPr>
          <a:xfrm>
            <a:off x="9511955" y="1591056"/>
            <a:ext cx="2021373" cy="512064"/>
          </a:xfrm>
          <a:prstGeom prst="roundRect">
            <a:avLst>
              <a:gd name="adj" fmla="val 14286"/>
            </a:avLst>
          </a:prstGeom>
          <a:solidFill>
            <a:srgbClr val="FFFFFF"/>
          </a:solidFill>
          <a:ln w="9525">
            <a:solidFill>
              <a:srgbClr val="BFC5CC"/>
            </a:solidFill>
          </a:ln>
        </p:spPr>
      </p:sp>
      <p:sp>
        <p:nvSpPr>
          <p:cNvPr id="335" name="K"/>
          <p:cNvSpPr/>
          <p:nvPr/>
        </p:nvSpPr>
        <p:spPr>
          <a:xfrm>
            <a:off x="9621683" y="1682496"/>
            <a:ext cx="329184" cy="329184"/>
          </a:xfrm>
          <a:prstGeom prst="ellipse">
            <a:avLst/>
          </a:prstGeom>
          <a:solidFill>
            <a:srgbClr val="F8DDE0"/>
          </a:solidFill>
          <a:ln>
            <a:noFill/>
          </a:ln>
        </p:spPr>
      </p:sp>
      <p:pic>
        <p:nvPicPr>
          <p:cNvPr id="336" name="G"/>
          <p:cNvPicPr>
            <a:picLocks noChangeAspect="1"/>
          </p:cNvPicPr>
          <p:nvPr/>
        </p:nvPicPr>
        <p:blipFill>
          <a:blip r:embed="rIdM8"/>
          <a:stretch>
            <a:fillRect/>
          </a:stretch>
        </p:blipFill>
        <p:spPr>
          <a:xfrm>
            <a:off x="9694835" y="1755648"/>
            <a:ext cx="182880" cy="182880"/>
          </a:xfrm>
          <a:prstGeom prst="rect">
            <a:avLst/>
          </a:prstGeom>
        </p:spPr>
      </p:pic>
      <p:sp>
        <p:nvSpPr>
          <p:cNvPr id="337" name="T"/>
          <p:cNvSpPr txBox="1"/>
          <p:nvPr/>
        </p:nvSpPr>
        <p:spPr>
          <a:xfrm>
            <a:off x="10024019" y="1627632"/>
            <a:ext cx="1472733" cy="274320"/>
          </a:xfrm>
          <a:prstGeom prst="rect">
            <a:avLst/>
          </a:prstGeom>
          <a:noFill/>
        </p:spPr>
        <p:txBody>
          <a:bodyPr wrap="square" lIns="0" tIns="0" rIns="0" bIns="0" anchor="ctr"/>
          <a:lstStyle/>
          <a:p>
            <a:pPr algn="l">
              <a:buNone/>
            </a:pPr>
            <a:r>
              <a:rPr lang="id-ID" sz="1700" b="1" dirty="0">
                <a:solidFill>
                  <a:srgbClr val="C8102E"/>
                </a:solidFill>
                <a:latin typeface="Roboto"/>
                <a:ea typeface="Roboto"/>
                <a:cs typeface="Roboto"/>
              </a:rPr>
              <a:t>11</a:t>
            </a:r>
            <a:endParaRPr lang="id-ID" sz="1700"/>
          </a:p>
        </p:txBody>
      </p:sp>
      <p:sp>
        <p:nvSpPr>
          <p:cNvPr id="338" name="T"/>
          <p:cNvSpPr txBox="1"/>
          <p:nvPr/>
        </p:nvSpPr>
        <p:spPr>
          <a:xfrm>
            <a:off x="10024019" y="1892808"/>
            <a:ext cx="1472733" cy="155448"/>
          </a:xfrm>
          <a:prstGeom prst="rect">
            <a:avLst/>
          </a:prstGeom>
          <a:noFill/>
        </p:spPr>
        <p:txBody>
          <a:bodyPr wrap="square" lIns="0" tIns="0" rIns="0" bIns="0" anchor="t"/>
          <a:lstStyle/>
          <a:p>
            <a:pPr algn="l">
              <a:buNone/>
            </a:pPr>
            <a:r>
              <a:rPr lang="id-ID" sz="750" dirty="0">
                <a:solidFill>
                  <a:srgbClr val="2E3440"/>
                </a:solidFill>
                <a:latin typeface="Roboto"/>
                <a:ea typeface="Roboto"/>
                <a:cs typeface="Roboto"/>
              </a:rPr>
              <a:t>kejadian perlu perhatian</a:t>
            </a:r>
            <a:endParaRPr lang="id-ID" sz="750"/>
          </a:p>
        </p:txBody>
      </p:sp>
      <p:pic>
        <p:nvPicPr>
          <p:cNvPr id="339" name="G"/>
          <p:cNvPicPr>
            <a:picLocks noChangeAspect="1"/>
          </p:cNvPicPr>
          <p:nvPr/>
        </p:nvPicPr>
        <p:blipFill>
          <a:blip r:embed="rIdM9"/>
          <a:stretch>
            <a:fillRect/>
          </a:stretch>
        </p:blipFill>
        <p:spPr>
          <a:xfrm>
            <a:off x="502920" y="2331720"/>
            <a:ext cx="7680960" cy="2880360"/>
          </a:xfrm>
          <a:prstGeom prst="rect">
            <a:avLst/>
          </a:prstGeom>
        </p:spPr>
      </p:pic>
      <p:sp>
        <p:nvSpPr>
          <p:cNvPr id="340" name="K"/>
          <p:cNvSpPr/>
          <p:nvPr/>
        </p:nvSpPr>
        <p:spPr>
          <a:xfrm>
            <a:off x="7871081" y="4351809"/>
            <a:ext cx="219456" cy="219456"/>
          </a:xfrm>
          <a:prstGeom prst="ellipse">
            <a:avLst/>
          </a:prstGeom>
          <a:solidFill>
            <a:srgbClr val="D9600B"/>
          </a:solidFill>
          <a:ln w="19050">
            <a:solidFill>
              <a:srgbClr val="FFFFFF"/>
            </a:solidFill>
          </a:ln>
        </p:spPr>
      </p:sp>
      <p:sp>
        <p:nvSpPr>
          <p:cNvPr id="341" name="T"/>
          <p:cNvSpPr txBox="1"/>
          <p:nvPr/>
        </p:nvSpPr>
        <p:spPr>
          <a:xfrm>
            <a:off x="7871081" y="4351809"/>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42" name="K"/>
          <p:cNvSpPr/>
          <p:nvPr/>
        </p:nvSpPr>
        <p:spPr>
          <a:xfrm>
            <a:off x="8004400" y="4300785"/>
            <a:ext cx="137160" cy="137160"/>
          </a:xfrm>
          <a:prstGeom prst="ellipse">
            <a:avLst/>
          </a:prstGeom>
          <a:solidFill>
            <a:srgbClr val="C8102E"/>
          </a:solidFill>
          <a:ln w="12700">
            <a:solidFill>
              <a:srgbClr val="FFFFFF"/>
            </a:solidFill>
          </a:ln>
        </p:spPr>
      </p:sp>
      <p:sp>
        <p:nvSpPr>
          <p:cNvPr id="343" name="T"/>
          <p:cNvSpPr txBox="1"/>
          <p:nvPr/>
        </p:nvSpPr>
        <p:spPr>
          <a:xfrm>
            <a:off x="8004400" y="4300785"/>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44" name="T"/>
          <p:cNvSpPr txBox="1"/>
          <p:nvPr/>
        </p:nvSpPr>
        <p:spPr>
          <a:xfrm>
            <a:off x="6353177" y="4388385"/>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Papua Selatan</a:t>
            </a:r>
            <a:endParaRPr lang="id-ID" sz="750"/>
          </a:p>
        </p:txBody>
      </p:sp>
      <p:sp>
        <p:nvSpPr>
          <p:cNvPr id="345" name="K"/>
          <p:cNvSpPr/>
          <p:nvPr/>
        </p:nvSpPr>
        <p:spPr>
          <a:xfrm>
            <a:off x="3475300" y="3529117"/>
            <a:ext cx="219456" cy="219456"/>
          </a:xfrm>
          <a:prstGeom prst="ellipse">
            <a:avLst/>
          </a:prstGeom>
          <a:solidFill>
            <a:srgbClr val="D9600B"/>
          </a:solidFill>
          <a:ln w="19050">
            <a:solidFill>
              <a:srgbClr val="FFFFFF"/>
            </a:solidFill>
          </a:ln>
        </p:spPr>
      </p:sp>
      <p:sp>
        <p:nvSpPr>
          <p:cNvPr id="346" name="T"/>
          <p:cNvSpPr txBox="1"/>
          <p:nvPr/>
        </p:nvSpPr>
        <p:spPr>
          <a:xfrm>
            <a:off x="3475300" y="352911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47" name="K"/>
          <p:cNvSpPr/>
          <p:nvPr/>
        </p:nvSpPr>
        <p:spPr>
          <a:xfrm>
            <a:off x="3608619" y="3478093"/>
            <a:ext cx="137160" cy="137160"/>
          </a:xfrm>
          <a:prstGeom prst="ellipse">
            <a:avLst/>
          </a:prstGeom>
          <a:solidFill>
            <a:srgbClr val="C8102E"/>
          </a:solidFill>
          <a:ln w="12700">
            <a:solidFill>
              <a:srgbClr val="FFFFFF"/>
            </a:solidFill>
          </a:ln>
        </p:spPr>
      </p:sp>
      <p:sp>
        <p:nvSpPr>
          <p:cNvPr id="348" name="T"/>
          <p:cNvSpPr txBox="1"/>
          <p:nvPr/>
        </p:nvSpPr>
        <p:spPr>
          <a:xfrm>
            <a:off x="3608619" y="3478093"/>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49" name="T"/>
          <p:cNvSpPr txBox="1"/>
          <p:nvPr/>
        </p:nvSpPr>
        <p:spPr>
          <a:xfrm>
            <a:off x="3749620" y="3565693"/>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Kal. Tengah</a:t>
            </a:r>
            <a:endParaRPr lang="id-ID" sz="750"/>
          </a:p>
        </p:txBody>
      </p:sp>
      <p:sp>
        <p:nvSpPr>
          <p:cNvPr id="350" name="K"/>
          <p:cNvSpPr/>
          <p:nvPr/>
        </p:nvSpPr>
        <p:spPr>
          <a:xfrm>
            <a:off x="4675098" y="3427152"/>
            <a:ext cx="219456" cy="219456"/>
          </a:xfrm>
          <a:prstGeom prst="ellipse">
            <a:avLst/>
          </a:prstGeom>
          <a:solidFill>
            <a:srgbClr val="D9600B"/>
          </a:solidFill>
          <a:ln w="19050">
            <a:solidFill>
              <a:srgbClr val="FFFFFF"/>
            </a:solidFill>
          </a:ln>
        </p:spPr>
      </p:sp>
      <p:sp>
        <p:nvSpPr>
          <p:cNvPr id="351" name="T"/>
          <p:cNvSpPr txBox="1"/>
          <p:nvPr/>
        </p:nvSpPr>
        <p:spPr>
          <a:xfrm>
            <a:off x="4675098" y="3427152"/>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52" name="K"/>
          <p:cNvSpPr/>
          <p:nvPr/>
        </p:nvSpPr>
        <p:spPr>
          <a:xfrm>
            <a:off x="4808417" y="3376129"/>
            <a:ext cx="137160" cy="137160"/>
          </a:xfrm>
          <a:prstGeom prst="ellipse">
            <a:avLst/>
          </a:prstGeom>
          <a:solidFill>
            <a:srgbClr val="C8102E"/>
          </a:solidFill>
          <a:ln w="12700">
            <a:solidFill>
              <a:srgbClr val="FFFFFF"/>
            </a:solidFill>
          </a:ln>
        </p:spPr>
      </p:sp>
      <p:sp>
        <p:nvSpPr>
          <p:cNvPr id="353" name="T"/>
          <p:cNvSpPr txBox="1"/>
          <p:nvPr/>
        </p:nvSpPr>
        <p:spPr>
          <a:xfrm>
            <a:off x="4808417" y="3376129"/>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54" name="T"/>
          <p:cNvSpPr txBox="1"/>
          <p:nvPr/>
        </p:nvSpPr>
        <p:spPr>
          <a:xfrm>
            <a:off x="4949418" y="3463728"/>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Sul. Tengah</a:t>
            </a:r>
            <a:endParaRPr lang="id-ID" sz="750"/>
          </a:p>
        </p:txBody>
      </p:sp>
      <p:sp>
        <p:nvSpPr>
          <p:cNvPr id="355" name="K"/>
          <p:cNvSpPr/>
          <p:nvPr/>
        </p:nvSpPr>
        <p:spPr>
          <a:xfrm>
            <a:off x="3980367" y="3183193"/>
            <a:ext cx="219456" cy="219456"/>
          </a:xfrm>
          <a:prstGeom prst="ellipse">
            <a:avLst/>
          </a:prstGeom>
          <a:solidFill>
            <a:srgbClr val="D9600B"/>
          </a:solidFill>
          <a:ln w="19050">
            <a:solidFill>
              <a:srgbClr val="FFFFFF"/>
            </a:solidFill>
          </a:ln>
        </p:spPr>
      </p:sp>
      <p:sp>
        <p:nvSpPr>
          <p:cNvPr id="356" name="T"/>
          <p:cNvSpPr txBox="1"/>
          <p:nvPr/>
        </p:nvSpPr>
        <p:spPr>
          <a:xfrm>
            <a:off x="3980367" y="318319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57" name="K"/>
          <p:cNvSpPr/>
          <p:nvPr/>
        </p:nvSpPr>
        <p:spPr>
          <a:xfrm>
            <a:off x="4113686" y="3132169"/>
            <a:ext cx="137160" cy="137160"/>
          </a:xfrm>
          <a:prstGeom prst="ellipse">
            <a:avLst/>
          </a:prstGeom>
          <a:solidFill>
            <a:srgbClr val="C8102E"/>
          </a:solidFill>
          <a:ln w="12700">
            <a:solidFill>
              <a:srgbClr val="FFFFFF"/>
            </a:solidFill>
          </a:ln>
        </p:spPr>
      </p:sp>
      <p:sp>
        <p:nvSpPr>
          <p:cNvPr id="358" name="T"/>
          <p:cNvSpPr txBox="1"/>
          <p:nvPr/>
        </p:nvSpPr>
        <p:spPr>
          <a:xfrm>
            <a:off x="4113686" y="3132169"/>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59" name="T"/>
          <p:cNvSpPr txBox="1"/>
          <p:nvPr/>
        </p:nvSpPr>
        <p:spPr>
          <a:xfrm>
            <a:off x="4254687" y="3219769"/>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Kal. Timur</a:t>
            </a:r>
            <a:endParaRPr lang="id-ID" sz="750"/>
          </a:p>
        </p:txBody>
      </p:sp>
      <p:sp>
        <p:nvSpPr>
          <p:cNvPr id="360" name="K"/>
          <p:cNvSpPr/>
          <p:nvPr/>
        </p:nvSpPr>
        <p:spPr>
          <a:xfrm>
            <a:off x="4881742" y="3897704"/>
            <a:ext cx="219456" cy="219456"/>
          </a:xfrm>
          <a:prstGeom prst="ellipse">
            <a:avLst/>
          </a:prstGeom>
          <a:solidFill>
            <a:srgbClr val="D9600B"/>
          </a:solidFill>
          <a:ln w="19050">
            <a:solidFill>
              <a:srgbClr val="FFFFFF"/>
            </a:solidFill>
          </a:ln>
        </p:spPr>
      </p:sp>
      <p:sp>
        <p:nvSpPr>
          <p:cNvPr id="361" name="T"/>
          <p:cNvSpPr txBox="1"/>
          <p:nvPr/>
        </p:nvSpPr>
        <p:spPr>
          <a:xfrm>
            <a:off x="4881742" y="3897704"/>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62" name="K"/>
          <p:cNvSpPr/>
          <p:nvPr/>
        </p:nvSpPr>
        <p:spPr>
          <a:xfrm>
            <a:off x="5015062" y="3846681"/>
            <a:ext cx="137160" cy="137160"/>
          </a:xfrm>
          <a:prstGeom prst="ellipse">
            <a:avLst/>
          </a:prstGeom>
          <a:solidFill>
            <a:srgbClr val="C8102E"/>
          </a:solidFill>
          <a:ln w="12700">
            <a:solidFill>
              <a:srgbClr val="FFFFFF"/>
            </a:solidFill>
          </a:ln>
        </p:spPr>
      </p:sp>
      <p:sp>
        <p:nvSpPr>
          <p:cNvPr id="363" name="T"/>
          <p:cNvSpPr txBox="1"/>
          <p:nvPr/>
        </p:nvSpPr>
        <p:spPr>
          <a:xfrm>
            <a:off x="5015062" y="3846681"/>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64" name="T"/>
          <p:cNvSpPr txBox="1"/>
          <p:nvPr/>
        </p:nvSpPr>
        <p:spPr>
          <a:xfrm>
            <a:off x="5156062" y="3934280"/>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Sul. Tenggara</a:t>
            </a:r>
            <a:endParaRPr lang="id-ID" sz="750"/>
          </a:p>
        </p:txBody>
      </p:sp>
      <p:sp>
        <p:nvSpPr>
          <p:cNvPr id="365" name="K"/>
          <p:cNvSpPr/>
          <p:nvPr/>
        </p:nvSpPr>
        <p:spPr>
          <a:xfrm>
            <a:off x="6160213" y="3796350"/>
            <a:ext cx="219456" cy="219456"/>
          </a:xfrm>
          <a:prstGeom prst="ellipse">
            <a:avLst/>
          </a:prstGeom>
          <a:solidFill>
            <a:srgbClr val="D9600B"/>
          </a:solidFill>
          <a:ln w="19050">
            <a:solidFill>
              <a:srgbClr val="FFFFFF"/>
            </a:solidFill>
          </a:ln>
        </p:spPr>
      </p:sp>
      <p:sp>
        <p:nvSpPr>
          <p:cNvPr id="366" name="T"/>
          <p:cNvSpPr txBox="1"/>
          <p:nvPr/>
        </p:nvSpPr>
        <p:spPr>
          <a:xfrm>
            <a:off x="6160213" y="3796350"/>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67" name="K"/>
          <p:cNvSpPr/>
          <p:nvPr/>
        </p:nvSpPr>
        <p:spPr>
          <a:xfrm>
            <a:off x="6293533" y="3745326"/>
            <a:ext cx="137160" cy="137160"/>
          </a:xfrm>
          <a:prstGeom prst="ellipse">
            <a:avLst/>
          </a:prstGeom>
          <a:solidFill>
            <a:srgbClr val="C8102E"/>
          </a:solidFill>
          <a:ln w="12700">
            <a:solidFill>
              <a:srgbClr val="FFFFFF"/>
            </a:solidFill>
          </a:ln>
        </p:spPr>
      </p:sp>
      <p:sp>
        <p:nvSpPr>
          <p:cNvPr id="368" name="T"/>
          <p:cNvSpPr txBox="1"/>
          <p:nvPr/>
        </p:nvSpPr>
        <p:spPr>
          <a:xfrm>
            <a:off x="6293533" y="3745326"/>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69" name="T"/>
          <p:cNvSpPr txBox="1"/>
          <p:nvPr/>
        </p:nvSpPr>
        <p:spPr>
          <a:xfrm>
            <a:off x="6434533" y="3832926"/>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Maluku</a:t>
            </a:r>
            <a:endParaRPr lang="id-ID" sz="750"/>
          </a:p>
        </p:txBody>
      </p:sp>
      <p:sp>
        <p:nvSpPr>
          <p:cNvPr id="370" name="K"/>
          <p:cNvSpPr/>
          <p:nvPr/>
        </p:nvSpPr>
        <p:spPr>
          <a:xfrm>
            <a:off x="4602013" y="3996297"/>
            <a:ext cx="219456" cy="219456"/>
          </a:xfrm>
          <a:prstGeom prst="ellipse">
            <a:avLst/>
          </a:prstGeom>
          <a:solidFill>
            <a:srgbClr val="D9600B"/>
          </a:solidFill>
          <a:ln w="19050">
            <a:solidFill>
              <a:srgbClr val="FFFFFF"/>
            </a:solidFill>
          </a:ln>
        </p:spPr>
      </p:sp>
      <p:sp>
        <p:nvSpPr>
          <p:cNvPr id="371" name="T"/>
          <p:cNvSpPr txBox="1"/>
          <p:nvPr/>
        </p:nvSpPr>
        <p:spPr>
          <a:xfrm>
            <a:off x="4602013" y="399629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72" name="K"/>
          <p:cNvSpPr/>
          <p:nvPr/>
        </p:nvSpPr>
        <p:spPr>
          <a:xfrm>
            <a:off x="4735332" y="3945274"/>
            <a:ext cx="137160" cy="137160"/>
          </a:xfrm>
          <a:prstGeom prst="ellipse">
            <a:avLst/>
          </a:prstGeom>
          <a:solidFill>
            <a:srgbClr val="C8102E"/>
          </a:solidFill>
          <a:ln w="12700">
            <a:solidFill>
              <a:srgbClr val="FFFFFF"/>
            </a:solidFill>
          </a:ln>
        </p:spPr>
      </p:sp>
      <p:sp>
        <p:nvSpPr>
          <p:cNvPr id="373" name="T"/>
          <p:cNvSpPr txBox="1"/>
          <p:nvPr/>
        </p:nvSpPr>
        <p:spPr>
          <a:xfrm>
            <a:off x="4735332" y="3945274"/>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74" name="T"/>
          <p:cNvSpPr txBox="1"/>
          <p:nvPr/>
        </p:nvSpPr>
        <p:spPr>
          <a:xfrm>
            <a:off x="3980221" y="4243185"/>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Sul. Selatan</a:t>
            </a:r>
            <a:endParaRPr lang="id-ID" sz="750"/>
          </a:p>
        </p:txBody>
      </p:sp>
      <p:sp>
        <p:nvSpPr>
          <p:cNvPr id="375" name="K"/>
          <p:cNvSpPr/>
          <p:nvPr/>
        </p:nvSpPr>
        <p:spPr>
          <a:xfrm>
            <a:off x="6864057" y="3707344"/>
            <a:ext cx="219456" cy="219456"/>
          </a:xfrm>
          <a:prstGeom prst="ellipse">
            <a:avLst/>
          </a:prstGeom>
          <a:solidFill>
            <a:srgbClr val="D9600B"/>
          </a:solidFill>
          <a:ln w="19050">
            <a:solidFill>
              <a:srgbClr val="FFFFFF"/>
            </a:solidFill>
          </a:ln>
        </p:spPr>
      </p:sp>
      <p:sp>
        <p:nvSpPr>
          <p:cNvPr id="376" name="T"/>
          <p:cNvSpPr txBox="1"/>
          <p:nvPr/>
        </p:nvSpPr>
        <p:spPr>
          <a:xfrm>
            <a:off x="6864057" y="3707344"/>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77" name="T"/>
          <p:cNvSpPr txBox="1"/>
          <p:nvPr/>
        </p:nvSpPr>
        <p:spPr>
          <a:xfrm>
            <a:off x="7138377" y="3743920"/>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Papua Barat</a:t>
            </a:r>
            <a:endParaRPr lang="id-ID" sz="750"/>
          </a:p>
        </p:txBody>
      </p:sp>
      <p:sp>
        <p:nvSpPr>
          <p:cNvPr id="378" name="K"/>
          <p:cNvSpPr/>
          <p:nvPr/>
        </p:nvSpPr>
        <p:spPr>
          <a:xfrm>
            <a:off x="4974100" y="3145397"/>
            <a:ext cx="219456" cy="219456"/>
          </a:xfrm>
          <a:prstGeom prst="ellipse">
            <a:avLst/>
          </a:prstGeom>
          <a:solidFill>
            <a:srgbClr val="D9600B"/>
          </a:solidFill>
          <a:ln w="19050">
            <a:solidFill>
              <a:srgbClr val="FFFFFF"/>
            </a:solidFill>
          </a:ln>
        </p:spPr>
      </p:sp>
      <p:sp>
        <p:nvSpPr>
          <p:cNvPr id="379" name="T"/>
          <p:cNvSpPr txBox="1"/>
          <p:nvPr/>
        </p:nvSpPr>
        <p:spPr>
          <a:xfrm>
            <a:off x="4974100" y="314539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80" name="T"/>
          <p:cNvSpPr txBox="1"/>
          <p:nvPr/>
        </p:nvSpPr>
        <p:spPr>
          <a:xfrm>
            <a:off x="5248420" y="3181973"/>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Gorontalo</a:t>
            </a:r>
            <a:endParaRPr lang="id-ID" sz="750"/>
          </a:p>
        </p:txBody>
      </p:sp>
      <p:sp>
        <p:nvSpPr>
          <p:cNvPr id="381" name="K"/>
          <p:cNvSpPr/>
          <p:nvPr/>
        </p:nvSpPr>
        <p:spPr>
          <a:xfrm>
            <a:off x="4767899" y="4701217"/>
            <a:ext cx="219456" cy="219456"/>
          </a:xfrm>
          <a:prstGeom prst="ellipse">
            <a:avLst/>
          </a:prstGeom>
          <a:solidFill>
            <a:srgbClr val="D9600B"/>
          </a:solidFill>
          <a:ln w="19050">
            <a:solidFill>
              <a:srgbClr val="FFFFFF"/>
            </a:solidFill>
          </a:ln>
        </p:spPr>
      </p:sp>
      <p:sp>
        <p:nvSpPr>
          <p:cNvPr id="382" name="T"/>
          <p:cNvSpPr txBox="1"/>
          <p:nvPr/>
        </p:nvSpPr>
        <p:spPr>
          <a:xfrm>
            <a:off x="4767899" y="4701217"/>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83" name="K"/>
          <p:cNvSpPr/>
          <p:nvPr/>
        </p:nvSpPr>
        <p:spPr>
          <a:xfrm>
            <a:off x="4707732" y="4825393"/>
            <a:ext cx="155448" cy="155448"/>
          </a:xfrm>
          <a:prstGeom prst="ellipse">
            <a:avLst/>
          </a:prstGeom>
          <a:solidFill>
            <a:srgbClr val="5B7A99"/>
          </a:solidFill>
          <a:ln w="12700">
            <a:solidFill>
              <a:srgbClr val="FFFFFF"/>
            </a:solidFill>
          </a:ln>
        </p:spPr>
      </p:sp>
      <p:sp>
        <p:nvSpPr>
          <p:cNvPr id="384" name="T"/>
          <p:cNvSpPr txBox="1"/>
          <p:nvPr/>
        </p:nvSpPr>
        <p:spPr>
          <a:xfrm>
            <a:off x="4707732" y="4825393"/>
            <a:ext cx="155448" cy="155448"/>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1</a:t>
            </a:r>
            <a:endParaRPr lang="id-ID" sz="650"/>
          </a:p>
        </p:txBody>
      </p:sp>
      <p:sp>
        <p:nvSpPr>
          <p:cNvPr id="385" name="T"/>
          <p:cNvSpPr txBox="1"/>
          <p:nvPr/>
        </p:nvSpPr>
        <p:spPr>
          <a:xfrm>
            <a:off x="5042219" y="4737793"/>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NTT</a:t>
            </a:r>
            <a:endParaRPr lang="id-ID" sz="750"/>
          </a:p>
        </p:txBody>
      </p:sp>
      <p:sp>
        <p:nvSpPr>
          <p:cNvPr id="386" name="K"/>
          <p:cNvSpPr/>
          <p:nvPr/>
        </p:nvSpPr>
        <p:spPr>
          <a:xfrm>
            <a:off x="3804910" y="3755423"/>
            <a:ext cx="219456" cy="219456"/>
          </a:xfrm>
          <a:prstGeom prst="ellipse">
            <a:avLst/>
          </a:prstGeom>
          <a:solidFill>
            <a:srgbClr val="D9600B"/>
          </a:solidFill>
          <a:ln w="19050">
            <a:solidFill>
              <a:srgbClr val="FFFFFF"/>
            </a:solidFill>
          </a:ln>
        </p:spPr>
      </p:sp>
      <p:sp>
        <p:nvSpPr>
          <p:cNvPr id="387" name="T"/>
          <p:cNvSpPr txBox="1"/>
          <p:nvPr/>
        </p:nvSpPr>
        <p:spPr>
          <a:xfrm>
            <a:off x="3804910" y="375542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88" name="K"/>
          <p:cNvSpPr/>
          <p:nvPr/>
        </p:nvSpPr>
        <p:spPr>
          <a:xfrm>
            <a:off x="3744742" y="3879598"/>
            <a:ext cx="155448" cy="155448"/>
          </a:xfrm>
          <a:prstGeom prst="ellipse">
            <a:avLst/>
          </a:prstGeom>
          <a:solidFill>
            <a:srgbClr val="0E7490"/>
          </a:solidFill>
          <a:ln w="12700">
            <a:solidFill>
              <a:srgbClr val="FFFFFF"/>
            </a:solidFill>
          </a:ln>
        </p:spPr>
      </p:sp>
      <p:sp>
        <p:nvSpPr>
          <p:cNvPr id="389" name="T"/>
          <p:cNvSpPr txBox="1"/>
          <p:nvPr/>
        </p:nvSpPr>
        <p:spPr>
          <a:xfrm>
            <a:off x="3744742" y="3879598"/>
            <a:ext cx="155448" cy="155448"/>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1</a:t>
            </a:r>
            <a:endParaRPr lang="id-ID" sz="650"/>
          </a:p>
        </p:txBody>
      </p:sp>
      <p:sp>
        <p:nvSpPr>
          <p:cNvPr id="390" name="K"/>
          <p:cNvSpPr/>
          <p:nvPr/>
        </p:nvSpPr>
        <p:spPr>
          <a:xfrm>
            <a:off x="3938229" y="3704399"/>
            <a:ext cx="137160" cy="137160"/>
          </a:xfrm>
          <a:prstGeom prst="ellipse">
            <a:avLst/>
          </a:prstGeom>
          <a:solidFill>
            <a:srgbClr val="C8102E"/>
          </a:solidFill>
          <a:ln w="12700">
            <a:solidFill>
              <a:srgbClr val="FFFFFF"/>
            </a:solidFill>
          </a:ln>
        </p:spPr>
      </p:sp>
      <p:sp>
        <p:nvSpPr>
          <p:cNvPr id="391" name="T"/>
          <p:cNvSpPr txBox="1"/>
          <p:nvPr/>
        </p:nvSpPr>
        <p:spPr>
          <a:xfrm>
            <a:off x="3938229" y="3704399"/>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92" name="T"/>
          <p:cNvSpPr txBox="1"/>
          <p:nvPr/>
        </p:nvSpPr>
        <p:spPr>
          <a:xfrm>
            <a:off x="3183118" y="4053334"/>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Kal. Selatan</a:t>
            </a:r>
            <a:endParaRPr lang="id-ID" sz="750"/>
          </a:p>
        </p:txBody>
      </p:sp>
      <p:sp>
        <p:nvSpPr>
          <p:cNvPr id="393" name="K"/>
          <p:cNvSpPr/>
          <p:nvPr/>
        </p:nvSpPr>
        <p:spPr>
          <a:xfrm>
            <a:off x="4218300" y="4705510"/>
            <a:ext cx="219456" cy="219456"/>
          </a:xfrm>
          <a:prstGeom prst="ellipse">
            <a:avLst/>
          </a:prstGeom>
          <a:solidFill>
            <a:srgbClr val="D9600B"/>
          </a:solidFill>
          <a:ln w="19050">
            <a:solidFill>
              <a:srgbClr val="FFFFFF"/>
            </a:solidFill>
          </a:ln>
        </p:spPr>
      </p:sp>
      <p:sp>
        <p:nvSpPr>
          <p:cNvPr id="394" name="T"/>
          <p:cNvSpPr txBox="1"/>
          <p:nvPr/>
        </p:nvSpPr>
        <p:spPr>
          <a:xfrm>
            <a:off x="4218300" y="4705510"/>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395" name="K"/>
          <p:cNvSpPr/>
          <p:nvPr/>
        </p:nvSpPr>
        <p:spPr>
          <a:xfrm>
            <a:off x="4351619" y="4654486"/>
            <a:ext cx="137160" cy="137160"/>
          </a:xfrm>
          <a:prstGeom prst="ellipse">
            <a:avLst/>
          </a:prstGeom>
          <a:solidFill>
            <a:srgbClr val="C8102E"/>
          </a:solidFill>
          <a:ln w="12700">
            <a:solidFill>
              <a:srgbClr val="FFFFFF"/>
            </a:solidFill>
          </a:ln>
        </p:spPr>
      </p:sp>
      <p:sp>
        <p:nvSpPr>
          <p:cNvPr id="396" name="T"/>
          <p:cNvSpPr txBox="1"/>
          <p:nvPr/>
        </p:nvSpPr>
        <p:spPr>
          <a:xfrm>
            <a:off x="4351619" y="4654486"/>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397" name="T"/>
          <p:cNvSpPr txBox="1"/>
          <p:nvPr/>
        </p:nvSpPr>
        <p:spPr>
          <a:xfrm>
            <a:off x="4492620" y="4742086"/>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NTB</a:t>
            </a:r>
            <a:endParaRPr lang="id-ID" sz="750"/>
          </a:p>
        </p:txBody>
      </p:sp>
      <p:sp>
        <p:nvSpPr>
          <p:cNvPr id="398" name="K"/>
          <p:cNvSpPr/>
          <p:nvPr/>
        </p:nvSpPr>
        <p:spPr>
          <a:xfrm>
            <a:off x="3096361" y="3272093"/>
            <a:ext cx="219456" cy="219456"/>
          </a:xfrm>
          <a:prstGeom prst="ellipse">
            <a:avLst/>
          </a:prstGeom>
          <a:solidFill>
            <a:srgbClr val="D9600B"/>
          </a:solidFill>
          <a:ln w="19050">
            <a:solidFill>
              <a:srgbClr val="FFFFFF"/>
            </a:solidFill>
          </a:ln>
        </p:spPr>
      </p:sp>
      <p:sp>
        <p:nvSpPr>
          <p:cNvPr id="399" name="T"/>
          <p:cNvSpPr txBox="1"/>
          <p:nvPr/>
        </p:nvSpPr>
        <p:spPr>
          <a:xfrm>
            <a:off x="3096361" y="327209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0" name="T"/>
          <p:cNvSpPr txBox="1"/>
          <p:nvPr/>
        </p:nvSpPr>
        <p:spPr>
          <a:xfrm>
            <a:off x="1578457" y="3308669"/>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Kal. Barat</a:t>
            </a:r>
            <a:endParaRPr lang="id-ID" sz="750"/>
          </a:p>
        </p:txBody>
      </p:sp>
      <p:sp>
        <p:nvSpPr>
          <p:cNvPr id="401" name="K"/>
          <p:cNvSpPr/>
          <p:nvPr/>
        </p:nvSpPr>
        <p:spPr>
          <a:xfrm>
            <a:off x="1927738" y="3798728"/>
            <a:ext cx="219456" cy="219456"/>
          </a:xfrm>
          <a:prstGeom prst="ellipse">
            <a:avLst/>
          </a:prstGeom>
          <a:solidFill>
            <a:srgbClr val="D9600B"/>
          </a:solidFill>
          <a:ln w="19050">
            <a:solidFill>
              <a:srgbClr val="FFFFFF"/>
            </a:solidFill>
          </a:ln>
        </p:spPr>
      </p:sp>
      <p:sp>
        <p:nvSpPr>
          <p:cNvPr id="402" name="T"/>
          <p:cNvSpPr txBox="1"/>
          <p:nvPr/>
        </p:nvSpPr>
        <p:spPr>
          <a:xfrm>
            <a:off x="1927738" y="3798728"/>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3" name="T"/>
          <p:cNvSpPr txBox="1"/>
          <p:nvPr/>
        </p:nvSpPr>
        <p:spPr>
          <a:xfrm>
            <a:off x="409834" y="3835304"/>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Sum. Selatan</a:t>
            </a:r>
            <a:endParaRPr lang="id-ID" sz="750"/>
          </a:p>
        </p:txBody>
      </p:sp>
      <p:sp>
        <p:nvSpPr>
          <p:cNvPr id="404" name="K"/>
          <p:cNvSpPr/>
          <p:nvPr/>
        </p:nvSpPr>
        <p:spPr>
          <a:xfrm>
            <a:off x="1684296" y="3544753"/>
            <a:ext cx="219456" cy="219456"/>
          </a:xfrm>
          <a:prstGeom prst="ellipse">
            <a:avLst/>
          </a:prstGeom>
          <a:solidFill>
            <a:srgbClr val="D9600B"/>
          </a:solidFill>
          <a:ln w="19050">
            <a:solidFill>
              <a:srgbClr val="FFFFFF"/>
            </a:solidFill>
          </a:ln>
        </p:spPr>
      </p:sp>
      <p:sp>
        <p:nvSpPr>
          <p:cNvPr id="405" name="T"/>
          <p:cNvSpPr txBox="1"/>
          <p:nvPr/>
        </p:nvSpPr>
        <p:spPr>
          <a:xfrm>
            <a:off x="1684296" y="3544753"/>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6" name="T"/>
          <p:cNvSpPr txBox="1"/>
          <p:nvPr/>
        </p:nvSpPr>
        <p:spPr>
          <a:xfrm>
            <a:off x="166392" y="3581329"/>
            <a:ext cx="1463040" cy="146304"/>
          </a:xfrm>
          <a:prstGeom prst="rect">
            <a:avLst/>
          </a:prstGeom>
          <a:noFill/>
        </p:spPr>
        <p:txBody>
          <a:bodyPr wrap="square" lIns="0" tIns="0" rIns="0" bIns="0" anchor="ctr"/>
          <a:lstStyle/>
          <a:p>
            <a:pPr algn="r">
              <a:buNone/>
            </a:pPr>
            <a:r>
              <a:rPr lang="id-ID" sz="750" b="1" dirty="0">
                <a:solidFill>
                  <a:srgbClr val="1A1A1A"/>
                </a:solidFill>
                <a:latin typeface="Roboto"/>
                <a:ea typeface="Roboto"/>
                <a:cs typeface="Roboto"/>
              </a:rPr>
              <a:t>Jambi</a:t>
            </a:r>
            <a:endParaRPr lang="id-ID" sz="750"/>
          </a:p>
        </p:txBody>
      </p:sp>
      <p:sp>
        <p:nvSpPr>
          <p:cNvPr id="407" name="K"/>
          <p:cNvSpPr/>
          <p:nvPr/>
        </p:nvSpPr>
        <p:spPr>
          <a:xfrm>
            <a:off x="1526329" y="3185000"/>
            <a:ext cx="219456" cy="219456"/>
          </a:xfrm>
          <a:prstGeom prst="ellipse">
            <a:avLst/>
          </a:prstGeom>
          <a:solidFill>
            <a:srgbClr val="D9600B"/>
          </a:solidFill>
          <a:ln w="19050">
            <a:solidFill>
              <a:srgbClr val="FFFFFF"/>
            </a:solidFill>
          </a:ln>
        </p:spPr>
      </p:sp>
      <p:sp>
        <p:nvSpPr>
          <p:cNvPr id="408" name="T"/>
          <p:cNvSpPr txBox="1"/>
          <p:nvPr/>
        </p:nvSpPr>
        <p:spPr>
          <a:xfrm>
            <a:off x="1526329" y="3185000"/>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09" name="T"/>
          <p:cNvSpPr txBox="1"/>
          <p:nvPr/>
        </p:nvSpPr>
        <p:spPr>
          <a:xfrm>
            <a:off x="1800649" y="3221576"/>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Riau</a:t>
            </a:r>
            <a:endParaRPr lang="id-ID" sz="750"/>
          </a:p>
        </p:txBody>
      </p:sp>
      <p:sp>
        <p:nvSpPr>
          <p:cNvPr id="410" name="K"/>
          <p:cNvSpPr/>
          <p:nvPr/>
        </p:nvSpPr>
        <p:spPr>
          <a:xfrm>
            <a:off x="2069993" y="4083051"/>
            <a:ext cx="219456" cy="219456"/>
          </a:xfrm>
          <a:prstGeom prst="ellipse">
            <a:avLst/>
          </a:prstGeom>
          <a:solidFill>
            <a:srgbClr val="D9600B"/>
          </a:solidFill>
          <a:ln w="19050">
            <a:solidFill>
              <a:srgbClr val="FFFFFF"/>
            </a:solidFill>
          </a:ln>
        </p:spPr>
      </p:sp>
      <p:sp>
        <p:nvSpPr>
          <p:cNvPr id="411" name="T"/>
          <p:cNvSpPr txBox="1"/>
          <p:nvPr/>
        </p:nvSpPr>
        <p:spPr>
          <a:xfrm>
            <a:off x="2069993" y="4083051"/>
            <a:ext cx="219456" cy="21945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1</a:t>
            </a:r>
            <a:endParaRPr lang="id-ID" sz="850"/>
          </a:p>
        </p:txBody>
      </p:sp>
      <p:sp>
        <p:nvSpPr>
          <p:cNvPr id="412" name="T"/>
          <p:cNvSpPr txBox="1"/>
          <p:nvPr/>
        </p:nvSpPr>
        <p:spPr>
          <a:xfrm>
            <a:off x="2344313" y="4119627"/>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Lampung</a:t>
            </a:r>
            <a:endParaRPr lang="id-ID" sz="750"/>
          </a:p>
        </p:txBody>
      </p:sp>
      <p:sp>
        <p:nvSpPr>
          <p:cNvPr id="413" name="K"/>
          <p:cNvSpPr/>
          <p:nvPr/>
        </p:nvSpPr>
        <p:spPr>
          <a:xfrm>
            <a:off x="695709" y="2520018"/>
            <a:ext cx="265176" cy="265176"/>
          </a:xfrm>
          <a:prstGeom prst="ellipse">
            <a:avLst/>
          </a:prstGeom>
          <a:solidFill>
            <a:srgbClr val="0E7490"/>
          </a:solidFill>
          <a:ln w="19050">
            <a:solidFill>
              <a:srgbClr val="FFFFFF"/>
            </a:solidFill>
          </a:ln>
        </p:spPr>
      </p:sp>
      <p:sp>
        <p:nvSpPr>
          <p:cNvPr id="414" name="T"/>
          <p:cNvSpPr txBox="1"/>
          <p:nvPr/>
        </p:nvSpPr>
        <p:spPr>
          <a:xfrm>
            <a:off x="695709" y="2520018"/>
            <a:ext cx="265176" cy="26517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3</a:t>
            </a:r>
            <a:endParaRPr lang="id-ID" sz="850"/>
          </a:p>
        </p:txBody>
      </p:sp>
      <p:sp>
        <p:nvSpPr>
          <p:cNvPr id="415" name="K"/>
          <p:cNvSpPr/>
          <p:nvPr/>
        </p:nvSpPr>
        <p:spPr>
          <a:xfrm>
            <a:off x="871091" y="2472652"/>
            <a:ext cx="137160" cy="137160"/>
          </a:xfrm>
          <a:prstGeom prst="ellipse">
            <a:avLst/>
          </a:prstGeom>
          <a:solidFill>
            <a:srgbClr val="C8102E"/>
          </a:solidFill>
          <a:ln w="12700">
            <a:solidFill>
              <a:srgbClr val="FFFFFF"/>
            </a:solidFill>
          </a:ln>
        </p:spPr>
      </p:sp>
      <p:sp>
        <p:nvSpPr>
          <p:cNvPr id="416" name="T"/>
          <p:cNvSpPr txBox="1"/>
          <p:nvPr/>
        </p:nvSpPr>
        <p:spPr>
          <a:xfrm>
            <a:off x="871091" y="2472652"/>
            <a:ext cx="137160" cy="13716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700"/>
          </a:p>
        </p:txBody>
      </p:sp>
      <p:sp>
        <p:nvSpPr>
          <p:cNvPr id="417" name="T"/>
          <p:cNvSpPr txBox="1"/>
          <p:nvPr/>
        </p:nvSpPr>
        <p:spPr>
          <a:xfrm>
            <a:off x="1015749" y="2579454"/>
            <a:ext cx="1463040" cy="146304"/>
          </a:xfrm>
          <a:prstGeom prst="rect">
            <a:avLst/>
          </a:prstGeom>
          <a:noFill/>
        </p:spPr>
        <p:txBody>
          <a:bodyPr wrap="square" lIns="0" tIns="0" rIns="0" bIns="0" anchor="ctr"/>
          <a:lstStyle/>
          <a:p>
            <a:pPr algn="l">
              <a:buNone/>
            </a:pPr>
            <a:r>
              <a:rPr lang="id-ID" sz="750" b="1" dirty="0">
                <a:solidFill>
                  <a:srgbClr val="1A1A1A"/>
                </a:solidFill>
                <a:latin typeface="Roboto"/>
                <a:ea typeface="Roboto"/>
                <a:cs typeface="Roboto"/>
              </a:rPr>
              <a:t>Aceh</a:t>
            </a:r>
            <a:endParaRPr lang="id-ID" sz="750"/>
          </a:p>
        </p:txBody>
      </p:sp>
      <p:sp>
        <p:nvSpPr>
          <p:cNvPr id="418" name="K"/>
          <p:cNvSpPr/>
          <p:nvPr/>
        </p:nvSpPr>
        <p:spPr>
          <a:xfrm>
            <a:off x="1066519" y="2852005"/>
            <a:ext cx="265176" cy="265176"/>
          </a:xfrm>
          <a:prstGeom prst="ellipse">
            <a:avLst/>
          </a:prstGeom>
          <a:solidFill>
            <a:srgbClr val="2F6FB5"/>
          </a:solidFill>
          <a:ln w="19050">
            <a:solidFill>
              <a:srgbClr val="FFFFFF"/>
            </a:solidFill>
          </a:ln>
        </p:spPr>
      </p:sp>
      <p:sp>
        <p:nvSpPr>
          <p:cNvPr id="419" name="T"/>
          <p:cNvSpPr txBox="1"/>
          <p:nvPr/>
        </p:nvSpPr>
        <p:spPr>
          <a:xfrm>
            <a:off x="1066519" y="2852005"/>
            <a:ext cx="265176" cy="265176"/>
          </a:xfrm>
          <a:prstGeom prst="rect">
            <a:avLst/>
          </a:prstGeom>
          <a:noFill/>
        </p:spPr>
        <p:txBody>
          <a:bodyPr wrap="square" lIns="0" tIns="0" rIns="0" bIns="0" anchor="ctr"/>
          <a:lstStyle/>
          <a:p>
            <a:pPr algn="ctr">
              <a:buNone/>
            </a:pPr>
            <a:r>
              <a:rPr lang="id-ID" sz="850" b="1" dirty="0">
                <a:solidFill>
                  <a:srgbClr val="FFFFFF"/>
                </a:solidFill>
                <a:latin typeface="Roboto"/>
                <a:ea typeface="Roboto"/>
                <a:cs typeface="Roboto"/>
              </a:rPr>
              <a:t>3</a:t>
            </a:r>
            <a:endParaRPr lang="id-ID" sz="850"/>
          </a:p>
        </p:txBody>
      </p:sp>
      <p:sp>
        <p:nvSpPr>
          <p:cNvPr id="420" name="T"/>
          <p:cNvSpPr txBox="1"/>
          <p:nvPr/>
        </p:nvSpPr>
        <p:spPr>
          <a:xfrm>
            <a:off x="467587" y="3144613"/>
            <a:ext cx="1463040" cy="146304"/>
          </a:xfrm>
          <a:prstGeom prst="rect">
            <a:avLst/>
          </a:prstGeom>
          <a:noFill/>
        </p:spPr>
        <p:txBody>
          <a:bodyPr wrap="square" lIns="0" tIns="0" rIns="0" bIns="0" anchor="ctr"/>
          <a:lstStyle/>
          <a:p>
            <a:pPr algn="ctr">
              <a:buNone/>
            </a:pPr>
            <a:r>
              <a:rPr lang="id-ID" sz="750" b="1" dirty="0">
                <a:solidFill>
                  <a:srgbClr val="1A1A1A"/>
                </a:solidFill>
                <a:latin typeface="Roboto"/>
                <a:ea typeface="Roboto"/>
                <a:cs typeface="Roboto"/>
              </a:rPr>
              <a:t>Sum. Utara</a:t>
            </a:r>
            <a:endParaRPr lang="id-ID" sz="750"/>
          </a:p>
        </p:txBody>
      </p:sp>
      <p:sp>
        <p:nvSpPr>
          <p:cNvPr id="421" name="K"/>
          <p:cNvSpPr/>
          <p:nvPr/>
        </p:nvSpPr>
        <p:spPr>
          <a:xfrm>
            <a:off x="1371600" y="5216652"/>
            <a:ext cx="128016" cy="128016"/>
          </a:xfrm>
          <a:prstGeom prst="rect">
            <a:avLst/>
          </a:prstGeom>
          <a:solidFill>
            <a:srgbClr val="D9600B"/>
          </a:solidFill>
          <a:ln>
            <a:noFill/>
          </a:ln>
        </p:spPr>
      </p:sp>
      <p:sp>
        <p:nvSpPr>
          <p:cNvPr id="422" name="T"/>
          <p:cNvSpPr txBox="1"/>
          <p:nvPr/>
        </p:nvSpPr>
        <p:spPr>
          <a:xfrm>
            <a:off x="1554480"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karhutla</a:t>
            </a:r>
            <a:endParaRPr lang="id-ID" sz="750"/>
          </a:p>
        </p:txBody>
      </p:sp>
      <p:sp>
        <p:nvSpPr>
          <p:cNvPr id="423" name="K"/>
          <p:cNvSpPr/>
          <p:nvPr/>
        </p:nvSpPr>
        <p:spPr>
          <a:xfrm>
            <a:off x="2199080" y="5207508"/>
            <a:ext cx="146304" cy="146304"/>
          </a:xfrm>
          <a:prstGeom prst="ellipse">
            <a:avLst/>
          </a:prstGeom>
          <a:solidFill>
            <a:srgbClr val="5B7A99"/>
          </a:solidFill>
          <a:ln>
            <a:noFill/>
          </a:ln>
        </p:spPr>
      </p:sp>
      <p:sp>
        <p:nvSpPr>
          <p:cNvPr id="424" name="T"/>
          <p:cNvSpPr txBox="1"/>
          <p:nvPr/>
        </p:nvSpPr>
        <p:spPr>
          <a:xfrm>
            <a:off x="2400248"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gempa bumi</a:t>
            </a:r>
            <a:endParaRPr lang="id-ID" sz="750"/>
          </a:p>
        </p:txBody>
      </p:sp>
      <p:sp>
        <p:nvSpPr>
          <p:cNvPr id="425" name="K"/>
          <p:cNvSpPr/>
          <p:nvPr/>
        </p:nvSpPr>
        <p:spPr>
          <a:xfrm>
            <a:off x="3148848" y="5207508"/>
            <a:ext cx="146304" cy="146304"/>
          </a:xfrm>
          <a:prstGeom prst="ellipse">
            <a:avLst/>
          </a:prstGeom>
          <a:solidFill>
            <a:srgbClr val="2F6FB5"/>
          </a:solidFill>
          <a:ln>
            <a:noFill/>
          </a:ln>
        </p:spPr>
      </p:sp>
      <p:sp>
        <p:nvSpPr>
          <p:cNvPr id="426" name="T"/>
          <p:cNvSpPr txBox="1"/>
          <p:nvPr/>
        </p:nvSpPr>
        <p:spPr>
          <a:xfrm>
            <a:off x="3350016"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banjir</a:t>
            </a:r>
            <a:endParaRPr lang="id-ID" sz="750"/>
          </a:p>
        </p:txBody>
      </p:sp>
      <p:sp>
        <p:nvSpPr>
          <p:cNvPr id="427" name="K"/>
          <p:cNvSpPr/>
          <p:nvPr/>
        </p:nvSpPr>
        <p:spPr>
          <a:xfrm>
            <a:off x="3890616" y="5207508"/>
            <a:ext cx="146304" cy="146304"/>
          </a:xfrm>
          <a:prstGeom prst="ellipse">
            <a:avLst/>
          </a:prstGeom>
          <a:solidFill>
            <a:srgbClr val="0E7490"/>
          </a:solidFill>
          <a:ln>
            <a:noFill/>
          </a:ln>
        </p:spPr>
      </p:sp>
      <p:sp>
        <p:nvSpPr>
          <p:cNvPr id="428" name="T"/>
          <p:cNvSpPr txBox="1"/>
          <p:nvPr/>
        </p:nvSpPr>
        <p:spPr>
          <a:xfrm>
            <a:off x="4091784"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angin kencang</a:t>
            </a:r>
            <a:endParaRPr lang="id-ID" sz="750"/>
          </a:p>
        </p:txBody>
      </p:sp>
      <p:sp>
        <p:nvSpPr>
          <p:cNvPr id="429" name="K"/>
          <p:cNvSpPr/>
          <p:nvPr/>
        </p:nvSpPr>
        <p:spPr>
          <a:xfrm>
            <a:off x="4996384" y="5207508"/>
            <a:ext cx="146304" cy="146304"/>
          </a:xfrm>
          <a:prstGeom prst="ellipse">
            <a:avLst/>
          </a:prstGeom>
          <a:solidFill>
            <a:srgbClr val="C8102E"/>
          </a:solidFill>
          <a:ln>
            <a:noFill/>
          </a:ln>
        </p:spPr>
      </p:sp>
      <p:sp>
        <p:nvSpPr>
          <p:cNvPr id="430" name="T"/>
          <p:cNvSpPr txBox="1"/>
          <p:nvPr/>
        </p:nvSpPr>
        <p:spPr>
          <a:xfrm>
            <a:off x="4996384" y="5207508"/>
            <a:ext cx="146304" cy="146304"/>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a:t>
            </a:r>
            <a:endParaRPr lang="id-ID" sz="750"/>
          </a:p>
        </p:txBody>
      </p:sp>
      <p:sp>
        <p:nvSpPr>
          <p:cNvPr id="431" name="T"/>
          <p:cNvSpPr txBox="1"/>
          <p:nvPr/>
        </p:nvSpPr>
        <p:spPr>
          <a:xfrm>
            <a:off x="5197552" y="5184648"/>
            <a:ext cx="1100000" cy="192024"/>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perlu perhatian</a:t>
            </a:r>
            <a:endParaRPr lang="id-ID" sz="750"/>
          </a:p>
        </p:txBody>
      </p:sp>
      <p:sp>
        <p:nvSpPr>
          <p:cNvPr id="432" name="K"/>
          <p:cNvSpPr/>
          <p:nvPr/>
        </p:nvSpPr>
        <p:spPr>
          <a:xfrm>
            <a:off x="8503920" y="2331720"/>
            <a:ext cx="3139135" cy="3017520"/>
          </a:xfrm>
          <a:prstGeom prst="roundRect">
            <a:avLst>
              <a:gd name="adj" fmla="val 3000"/>
            </a:avLst>
          </a:prstGeom>
          <a:solidFill>
            <a:srgbClr val="FFFFFF"/>
          </a:solidFill>
          <a:ln w="9525">
            <a:solidFill>
              <a:srgbClr val="BFC5CC"/>
            </a:solidFill>
          </a:ln>
        </p:spPr>
      </p:sp>
      <p:sp>
        <p:nvSpPr>
          <p:cNvPr id="433" name="T"/>
          <p:cNvSpPr txBox="1"/>
          <p:nvPr/>
        </p:nvSpPr>
        <p:spPr>
          <a:xfrm>
            <a:off x="8668512" y="2441448"/>
            <a:ext cx="2864815" cy="182880"/>
          </a:xfrm>
          <a:prstGeom prst="rect">
            <a:avLst/>
          </a:prstGeom>
          <a:noFill/>
        </p:spPr>
        <p:txBody>
          <a:bodyPr wrap="square" lIns="0" tIns="0" rIns="0" bIns="0" anchor="t"/>
          <a:lstStyle/>
          <a:p>
            <a:pPr algn="l">
              <a:buNone/>
            </a:pPr>
            <a:r>
              <a:rPr lang="id-ID" sz="750" b="1" spc="100" dirty="0">
                <a:solidFill>
                  <a:srgbClr val="051C2C"/>
                </a:solidFill>
                <a:latin typeface="Roboto"/>
                <a:ea typeface="Roboto"/>
                <a:cs typeface="Roboto"/>
              </a:rPr>
              <a:t>STATUS PENANGANAN</a:t>
            </a:r>
            <a:endParaRPr lang="id-ID" sz="750"/>
          </a:p>
        </p:txBody>
      </p:sp>
      <p:sp>
        <p:nvSpPr>
          <p:cNvPr id="434" name="K"/>
          <p:cNvSpPr/>
          <p:nvPr/>
        </p:nvSpPr>
        <p:spPr>
          <a:xfrm>
            <a:off x="8668512" y="2697480"/>
            <a:ext cx="674388" cy="201168"/>
          </a:xfrm>
          <a:prstGeom prst="rect">
            <a:avLst/>
          </a:prstGeom>
          <a:solidFill>
            <a:srgbClr val="051C2C"/>
          </a:solidFill>
          <a:ln>
            <a:noFill/>
          </a:ln>
        </p:spPr>
      </p:sp>
      <p:sp>
        <p:nvSpPr>
          <p:cNvPr id="435" name="T"/>
          <p:cNvSpPr txBox="1"/>
          <p:nvPr/>
        </p:nvSpPr>
        <p:spPr>
          <a:xfrm>
            <a:off x="8668512" y="2697480"/>
            <a:ext cx="674388" cy="201168"/>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24%</a:t>
            </a:r>
            <a:endParaRPr lang="id-ID" sz="750"/>
          </a:p>
        </p:txBody>
      </p:sp>
      <p:sp>
        <p:nvSpPr>
          <p:cNvPr id="436" name="K"/>
          <p:cNvSpPr/>
          <p:nvPr/>
        </p:nvSpPr>
        <p:spPr>
          <a:xfrm>
            <a:off x="9342900" y="2697480"/>
            <a:ext cx="2135563" cy="201168"/>
          </a:xfrm>
          <a:prstGeom prst="rect">
            <a:avLst/>
          </a:prstGeom>
          <a:solidFill>
            <a:srgbClr val="D9600B"/>
          </a:solidFill>
          <a:ln>
            <a:noFill/>
          </a:ln>
        </p:spPr>
      </p:sp>
      <p:sp>
        <p:nvSpPr>
          <p:cNvPr id="437" name="T"/>
          <p:cNvSpPr txBox="1"/>
          <p:nvPr/>
        </p:nvSpPr>
        <p:spPr>
          <a:xfrm>
            <a:off x="9342900" y="2697480"/>
            <a:ext cx="2135563" cy="201168"/>
          </a:xfrm>
          <a:prstGeom prst="rect">
            <a:avLst/>
          </a:prstGeom>
          <a:noFill/>
        </p:spPr>
        <p:txBody>
          <a:bodyPr wrap="square" lIns="0" tIns="0" rIns="0" bIns="0" anchor="ctr"/>
          <a:lstStyle/>
          <a:p>
            <a:pPr algn="ctr">
              <a:buNone/>
            </a:pPr>
            <a:r>
              <a:rPr lang="id-ID" sz="750" b="1" dirty="0">
                <a:solidFill>
                  <a:srgbClr val="FFFFFF"/>
                </a:solidFill>
                <a:latin typeface="Roboto"/>
                <a:ea typeface="Roboto"/>
                <a:cs typeface="Roboto"/>
              </a:rPr>
              <a:t>76%</a:t>
            </a:r>
            <a:endParaRPr lang="id-ID" sz="750"/>
          </a:p>
        </p:txBody>
      </p:sp>
      <p:sp>
        <p:nvSpPr>
          <p:cNvPr id="438" name="K"/>
          <p:cNvSpPr/>
          <p:nvPr/>
        </p:nvSpPr>
        <p:spPr>
          <a:xfrm>
            <a:off x="8668512" y="2971800"/>
            <a:ext cx="1368400" cy="512064"/>
          </a:xfrm>
          <a:prstGeom prst="roundRect">
            <a:avLst>
              <a:gd name="adj" fmla="val 9000"/>
            </a:avLst>
          </a:prstGeom>
          <a:solidFill>
            <a:srgbClr val="E6EAF0"/>
          </a:solidFill>
          <a:ln>
            <a:noFill/>
          </a:ln>
        </p:spPr>
      </p:sp>
      <p:sp>
        <p:nvSpPr>
          <p:cNvPr id="439" name="K"/>
          <p:cNvSpPr/>
          <p:nvPr/>
        </p:nvSpPr>
        <p:spPr>
          <a:xfrm>
            <a:off x="8778240" y="3063240"/>
            <a:ext cx="329184" cy="329184"/>
          </a:xfrm>
          <a:prstGeom prst="ellipse">
            <a:avLst/>
          </a:prstGeom>
          <a:solidFill>
            <a:srgbClr val="051C2C"/>
          </a:solidFill>
          <a:ln>
            <a:noFill/>
          </a:ln>
        </p:spPr>
      </p:sp>
      <p:pic>
        <p:nvPicPr>
          <p:cNvPr id="440" name="G"/>
          <p:cNvPicPr>
            <a:picLocks noChangeAspect="1"/>
          </p:cNvPicPr>
          <p:nvPr/>
        </p:nvPicPr>
        <p:blipFill>
          <a:blip r:embed="rIdM10"/>
          <a:stretch>
            <a:fillRect/>
          </a:stretch>
        </p:blipFill>
        <p:spPr>
          <a:xfrm>
            <a:off x="8860536" y="3145536"/>
            <a:ext cx="164592" cy="164592"/>
          </a:xfrm>
          <a:prstGeom prst="rect">
            <a:avLst/>
          </a:prstGeom>
        </p:spPr>
      </p:pic>
      <p:sp>
        <p:nvSpPr>
          <p:cNvPr id="441" name="T"/>
          <p:cNvSpPr txBox="1"/>
          <p:nvPr/>
        </p:nvSpPr>
        <p:spPr>
          <a:xfrm>
            <a:off x="9180576" y="2990088"/>
            <a:ext cx="819760" cy="292608"/>
          </a:xfrm>
          <a:prstGeom prst="rect">
            <a:avLst/>
          </a:prstGeom>
          <a:noFill/>
        </p:spPr>
        <p:txBody>
          <a:bodyPr wrap="square" lIns="0" tIns="0" rIns="0" bIns="0" anchor="ctr"/>
          <a:lstStyle/>
          <a:p>
            <a:pPr algn="l">
              <a:buNone/>
            </a:pPr>
            <a:r>
              <a:rPr lang="id-ID" sz="1700" b="1" dirty="0">
                <a:solidFill>
                  <a:srgbClr val="051C2C"/>
                </a:solidFill>
                <a:latin typeface="Roboto"/>
                <a:ea typeface="Roboto"/>
                <a:cs typeface="Roboto"/>
              </a:rPr>
              <a:t>6</a:t>
            </a:r>
            <a:r>
              <a:rPr lang="id-ID" sz="1700" dirty="0">
                <a:solidFill>
                  <a:srgbClr val="2E3440"/>
                </a:solidFill>
                <a:latin typeface="Roboto"/>
                <a:ea typeface="Roboto"/>
                <a:cs typeface="Roboto"/>
              </a:rPr>
              <a:t>  / 25</a:t>
            </a:r>
            <a:endParaRPr lang="id-ID" sz="1700"/>
          </a:p>
        </p:txBody>
      </p:sp>
      <p:sp>
        <p:nvSpPr>
          <p:cNvPr id="442" name="T"/>
          <p:cNvSpPr txBox="1"/>
          <p:nvPr/>
        </p:nvSpPr>
        <p:spPr>
          <a:xfrm>
            <a:off x="9180576" y="3273552"/>
            <a:ext cx="840000" cy="164592"/>
          </a:xfrm>
          <a:prstGeom prst="rect">
            <a:avLst/>
          </a:prstGeom>
          <a:noFill/>
        </p:spPr>
        <p:txBody>
          <a:bodyPr wrap="square" lIns="0" tIns="0" rIns="0" bIns="0" anchor="t"/>
          <a:lstStyle/>
          <a:p>
            <a:pPr algn="l">
              <a:buNone/>
            </a:pPr>
            <a:r>
              <a:rPr lang="id-ID" sz="700" b="1" dirty="0">
                <a:solidFill>
                  <a:srgbClr val="051C2C"/>
                </a:solidFill>
                <a:latin typeface="Roboto"/>
                <a:ea typeface="Roboto"/>
                <a:cs typeface="Roboto"/>
              </a:rPr>
              <a:t>selesai</a:t>
            </a:r>
            <a:endParaRPr lang="id-ID" sz="680"/>
          </a:p>
        </p:txBody>
      </p:sp>
      <p:sp>
        <p:nvSpPr>
          <p:cNvPr id="443" name="K"/>
          <p:cNvSpPr/>
          <p:nvPr/>
        </p:nvSpPr>
        <p:spPr>
          <a:xfrm>
            <a:off x="10110064" y="2971800"/>
            <a:ext cx="1368400" cy="512064"/>
          </a:xfrm>
          <a:prstGeom prst="roundRect">
            <a:avLst>
              <a:gd name="adj" fmla="val 9000"/>
            </a:avLst>
          </a:prstGeom>
          <a:solidFill>
            <a:srgbClr val="FBE7D6"/>
          </a:solidFill>
          <a:ln>
            <a:noFill/>
          </a:ln>
        </p:spPr>
      </p:sp>
      <p:sp>
        <p:nvSpPr>
          <p:cNvPr id="444" name="K"/>
          <p:cNvSpPr/>
          <p:nvPr/>
        </p:nvSpPr>
        <p:spPr>
          <a:xfrm>
            <a:off x="10219792" y="3063240"/>
            <a:ext cx="329184" cy="329184"/>
          </a:xfrm>
          <a:prstGeom prst="ellipse">
            <a:avLst/>
          </a:prstGeom>
          <a:solidFill>
            <a:srgbClr val="D9600B"/>
          </a:solidFill>
          <a:ln>
            <a:noFill/>
          </a:ln>
        </p:spPr>
      </p:sp>
      <p:pic>
        <p:nvPicPr>
          <p:cNvPr id="445" name="G"/>
          <p:cNvPicPr>
            <a:picLocks noChangeAspect="1"/>
          </p:cNvPicPr>
          <p:nvPr/>
        </p:nvPicPr>
        <p:blipFill>
          <a:blip r:embed="rIdM11"/>
          <a:stretch>
            <a:fillRect/>
          </a:stretch>
        </p:blipFill>
        <p:spPr>
          <a:xfrm>
            <a:off x="10302088" y="3145536"/>
            <a:ext cx="164592" cy="164592"/>
          </a:xfrm>
          <a:prstGeom prst="rect">
            <a:avLst/>
          </a:prstGeom>
        </p:spPr>
      </p:pic>
      <p:sp>
        <p:nvSpPr>
          <p:cNvPr id="446" name="T"/>
          <p:cNvSpPr txBox="1"/>
          <p:nvPr/>
        </p:nvSpPr>
        <p:spPr>
          <a:xfrm>
            <a:off x="10622128" y="2990088"/>
            <a:ext cx="819760" cy="292608"/>
          </a:xfrm>
          <a:prstGeom prst="rect">
            <a:avLst/>
          </a:prstGeom>
          <a:noFill/>
        </p:spPr>
        <p:txBody>
          <a:bodyPr wrap="square" lIns="0" tIns="0" rIns="0" bIns="0" anchor="ctr"/>
          <a:lstStyle/>
          <a:p>
            <a:pPr algn="l">
              <a:buNone/>
            </a:pPr>
            <a:r>
              <a:rPr lang="id-ID" sz="1700" b="1" dirty="0">
                <a:solidFill>
                  <a:srgbClr val="D9600B"/>
                </a:solidFill>
                <a:latin typeface="Roboto"/>
                <a:ea typeface="Roboto"/>
                <a:cs typeface="Roboto"/>
              </a:rPr>
              <a:t>19</a:t>
            </a:r>
            <a:r>
              <a:rPr lang="id-ID" sz="1700" dirty="0">
                <a:solidFill>
                  <a:srgbClr val="2E3440"/>
                </a:solidFill>
                <a:latin typeface="Roboto"/>
                <a:ea typeface="Roboto"/>
                <a:cs typeface="Roboto"/>
              </a:rPr>
              <a:t>  / 25</a:t>
            </a:r>
            <a:endParaRPr lang="id-ID" sz="1700"/>
          </a:p>
        </p:txBody>
      </p:sp>
      <p:sp>
        <p:nvSpPr>
          <p:cNvPr id="447" name="T"/>
          <p:cNvSpPr txBox="1"/>
          <p:nvPr/>
        </p:nvSpPr>
        <p:spPr>
          <a:xfrm>
            <a:off x="10622128" y="3273552"/>
            <a:ext cx="840000" cy="164592"/>
          </a:xfrm>
          <a:prstGeom prst="rect">
            <a:avLst/>
          </a:prstGeom>
          <a:noFill/>
        </p:spPr>
        <p:txBody>
          <a:bodyPr wrap="square" lIns="0" tIns="0" rIns="0" bIns="0" anchor="t"/>
          <a:lstStyle/>
          <a:p>
            <a:pPr algn="l">
              <a:buNone/>
            </a:pPr>
            <a:r>
              <a:rPr lang="id-ID" sz="700" b="1" dirty="0">
                <a:solidFill>
                  <a:srgbClr val="D9600B"/>
                </a:solidFill>
                <a:latin typeface="Roboto"/>
                <a:ea typeface="Roboto"/>
                <a:cs typeface="Roboto"/>
              </a:rPr>
              <a:t>dalam penanganan</a:t>
            </a:r>
            <a:endParaRPr lang="id-ID" sz="680"/>
          </a:p>
        </p:txBody>
      </p:sp>
      <p:cxnSp>
        <p:nvCxnSpPr>
          <p:cNvPr id="448" name="L"/>
          <p:cNvCxnSpPr/>
          <p:nvPr/>
        </p:nvCxnSpPr>
        <p:spPr>
          <a:xfrm>
            <a:off x="8668512" y="3557016"/>
            <a:ext cx="2809951" cy="0"/>
          </a:xfrm>
          <a:prstGeom prst="line">
            <a:avLst/>
          </a:prstGeom>
          <a:ln w="9525">
            <a:solidFill>
              <a:srgbClr val="E5E7EB"/>
            </a:solidFill>
          </a:ln>
        </p:spPr>
      </p:cxnSp>
      <p:sp>
        <p:nvSpPr>
          <p:cNvPr id="449" name="T"/>
          <p:cNvSpPr txBox="1"/>
          <p:nvPr/>
        </p:nvSpPr>
        <p:spPr>
          <a:xfrm>
            <a:off x="8668512" y="3621024"/>
            <a:ext cx="2864815" cy="182880"/>
          </a:xfrm>
          <a:prstGeom prst="rect">
            <a:avLst/>
          </a:prstGeom>
          <a:noFill/>
        </p:spPr>
        <p:txBody>
          <a:bodyPr wrap="square" lIns="0" tIns="0" rIns="0" bIns="0" anchor="t"/>
          <a:lstStyle/>
          <a:p>
            <a:pPr algn="l">
              <a:buNone/>
            </a:pPr>
            <a:r>
              <a:rPr lang="id-ID" sz="750" b="1" spc="100" dirty="0">
                <a:solidFill>
                  <a:srgbClr val="C8102E"/>
                </a:solidFill>
                <a:latin typeface="Roboto"/>
                <a:ea typeface="Roboto"/>
                <a:cs typeface="Roboto"/>
              </a:rPr>
              <a:t>BENCANA DALAM PENANGANAN (19)</a:t>
            </a:r>
            <a:endParaRPr lang="id-ID" sz="750"/>
          </a:p>
        </p:txBody>
      </p:sp>
      <p:sp>
        <p:nvSpPr>
          <p:cNvPr id="450" name="K"/>
          <p:cNvSpPr/>
          <p:nvPr/>
        </p:nvSpPr>
        <p:spPr>
          <a:xfrm>
            <a:off x="8668512" y="3840480"/>
            <a:ext cx="106146" cy="106146"/>
          </a:xfrm>
          <a:prstGeom prst="ellipse">
            <a:avLst/>
          </a:prstGeom>
          <a:solidFill>
            <a:srgbClr val="D9600B"/>
          </a:solidFill>
          <a:ln>
            <a:noFill/>
          </a:ln>
        </p:spPr>
      </p:sp>
      <p:pic>
        <p:nvPicPr>
          <p:cNvPr id="451" name="G"/>
          <p:cNvPicPr>
            <a:picLocks noChangeAspect="1"/>
          </p:cNvPicPr>
          <p:nvPr/>
        </p:nvPicPr>
        <p:blipFill>
          <a:blip r:embed="rIdM12"/>
          <a:stretch>
            <a:fillRect/>
          </a:stretch>
        </p:blipFill>
        <p:spPr>
          <a:xfrm>
            <a:off x="8688679" y="3860647"/>
            <a:ext cx="65810" cy="65810"/>
          </a:xfrm>
          <a:prstGeom prst="rect">
            <a:avLst/>
          </a:prstGeom>
        </p:spPr>
      </p:pic>
      <p:sp>
        <p:nvSpPr>
          <p:cNvPr id="452" name="K"/>
          <p:cNvSpPr/>
          <p:nvPr/>
        </p:nvSpPr>
        <p:spPr>
          <a:xfrm>
            <a:off x="8742814" y="3819250"/>
            <a:ext cx="58380" cy="58380"/>
          </a:xfrm>
          <a:prstGeom prst="ellipse">
            <a:avLst/>
          </a:prstGeom>
          <a:solidFill>
            <a:srgbClr val="C8102E"/>
          </a:solidFill>
          <a:ln w="6350">
            <a:solidFill>
              <a:srgbClr val="FFFFFF"/>
            </a:solidFill>
          </a:ln>
        </p:spPr>
      </p:sp>
      <p:sp>
        <p:nvSpPr>
          <p:cNvPr id="453" name="T"/>
          <p:cNvSpPr txBox="1"/>
          <p:nvPr/>
        </p:nvSpPr>
        <p:spPr>
          <a:xfrm>
            <a:off x="8742814" y="3819250"/>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54" name="T"/>
          <p:cNvSpPr txBox="1"/>
          <p:nvPr/>
        </p:nvSpPr>
        <p:spPr>
          <a:xfrm>
            <a:off x="8869680" y="3811257"/>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Papua Selatan</a:t>
            </a:r>
            <a:endParaRPr lang="id-ID" sz="760"/>
          </a:p>
        </p:txBody>
      </p:sp>
      <p:sp>
        <p:nvSpPr>
          <p:cNvPr id="455" name="K"/>
          <p:cNvSpPr/>
          <p:nvPr/>
        </p:nvSpPr>
        <p:spPr>
          <a:xfrm>
            <a:off x="10470000" y="3840480"/>
            <a:ext cx="1070000" cy="106146"/>
          </a:xfrm>
          <a:prstGeom prst="roundRect">
            <a:avLst>
              <a:gd name="adj" fmla="val 50000"/>
            </a:avLst>
          </a:prstGeom>
          <a:solidFill>
            <a:srgbClr val="FBE7D6"/>
          </a:solidFill>
          <a:ln>
            <a:noFill/>
          </a:ln>
        </p:spPr>
      </p:sp>
      <p:pic>
        <p:nvPicPr>
          <p:cNvPr id="456" name="G"/>
          <p:cNvPicPr>
            <a:picLocks noChangeAspect="1"/>
          </p:cNvPicPr>
          <p:nvPr/>
        </p:nvPicPr>
        <p:blipFill>
          <a:blip r:embed="rIdM13"/>
          <a:stretch>
            <a:fillRect/>
          </a:stretch>
        </p:blipFill>
        <p:spPr>
          <a:xfrm>
            <a:off x="10520000" y="3857463"/>
            <a:ext cx="72179" cy="72179"/>
          </a:xfrm>
          <a:prstGeom prst="rect">
            <a:avLst/>
          </a:prstGeom>
        </p:spPr>
      </p:pic>
      <p:sp>
        <p:nvSpPr>
          <p:cNvPr id="457" name="T"/>
          <p:cNvSpPr txBox="1"/>
          <p:nvPr/>
        </p:nvSpPr>
        <p:spPr>
          <a:xfrm>
            <a:off x="10650000" y="3840480"/>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58" name="T"/>
          <p:cNvSpPr txBox="1"/>
          <p:nvPr/>
        </p:nvSpPr>
        <p:spPr>
          <a:xfrm>
            <a:off x="10800000" y="3840480"/>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549</a:t>
            </a:r>
            <a:endParaRPr lang="id-ID" sz="720"/>
          </a:p>
        </p:txBody>
      </p:sp>
      <p:sp>
        <p:nvSpPr>
          <p:cNvPr id="459" name="T"/>
          <p:cNvSpPr txBox="1"/>
          <p:nvPr/>
        </p:nvSpPr>
        <p:spPr>
          <a:xfrm>
            <a:off x="11201600" y="3840480"/>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60" name="L"/>
          <p:cNvCxnSpPr/>
          <p:nvPr/>
        </p:nvCxnSpPr>
        <p:spPr>
          <a:xfrm>
            <a:off x="8668512" y="3959895"/>
            <a:ext cx="2809951" cy="0"/>
          </a:xfrm>
          <a:prstGeom prst="line">
            <a:avLst/>
          </a:prstGeom>
          <a:ln w="9525">
            <a:solidFill>
              <a:srgbClr val="F1F2F4"/>
            </a:solidFill>
          </a:ln>
        </p:spPr>
      </p:cxnSp>
      <p:sp>
        <p:nvSpPr>
          <p:cNvPr id="461" name="K"/>
          <p:cNvSpPr/>
          <p:nvPr/>
        </p:nvSpPr>
        <p:spPr>
          <a:xfrm>
            <a:off x="8668512" y="3973163"/>
            <a:ext cx="106146" cy="106146"/>
          </a:xfrm>
          <a:prstGeom prst="ellipse">
            <a:avLst/>
          </a:prstGeom>
          <a:solidFill>
            <a:srgbClr val="D9600B"/>
          </a:solidFill>
          <a:ln>
            <a:noFill/>
          </a:ln>
        </p:spPr>
      </p:sp>
      <p:pic>
        <p:nvPicPr>
          <p:cNvPr id="462" name="G"/>
          <p:cNvPicPr>
            <a:picLocks noChangeAspect="1"/>
          </p:cNvPicPr>
          <p:nvPr/>
        </p:nvPicPr>
        <p:blipFill>
          <a:blip r:embed="rIdM12"/>
          <a:stretch>
            <a:fillRect/>
          </a:stretch>
        </p:blipFill>
        <p:spPr>
          <a:xfrm>
            <a:off x="8688679" y="3993330"/>
            <a:ext cx="65810" cy="65810"/>
          </a:xfrm>
          <a:prstGeom prst="rect">
            <a:avLst/>
          </a:prstGeom>
        </p:spPr>
      </p:pic>
      <p:sp>
        <p:nvSpPr>
          <p:cNvPr id="463" name="K"/>
          <p:cNvSpPr/>
          <p:nvPr/>
        </p:nvSpPr>
        <p:spPr>
          <a:xfrm>
            <a:off x="8742814" y="3951933"/>
            <a:ext cx="58380" cy="58380"/>
          </a:xfrm>
          <a:prstGeom prst="ellipse">
            <a:avLst/>
          </a:prstGeom>
          <a:solidFill>
            <a:srgbClr val="C8102E"/>
          </a:solidFill>
          <a:ln w="6350">
            <a:solidFill>
              <a:srgbClr val="FFFFFF"/>
            </a:solidFill>
          </a:ln>
        </p:spPr>
      </p:sp>
      <p:sp>
        <p:nvSpPr>
          <p:cNvPr id="464" name="T"/>
          <p:cNvSpPr txBox="1"/>
          <p:nvPr/>
        </p:nvSpPr>
        <p:spPr>
          <a:xfrm>
            <a:off x="8742814" y="3951933"/>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65" name="T"/>
          <p:cNvSpPr txBox="1"/>
          <p:nvPr/>
        </p:nvSpPr>
        <p:spPr>
          <a:xfrm>
            <a:off x="8869680" y="3943940"/>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Tengah</a:t>
            </a:r>
            <a:endParaRPr lang="id-ID" sz="760"/>
          </a:p>
        </p:txBody>
      </p:sp>
      <p:sp>
        <p:nvSpPr>
          <p:cNvPr id="466" name="K"/>
          <p:cNvSpPr/>
          <p:nvPr/>
        </p:nvSpPr>
        <p:spPr>
          <a:xfrm>
            <a:off x="10470000" y="3973163"/>
            <a:ext cx="1070000" cy="106146"/>
          </a:xfrm>
          <a:prstGeom prst="roundRect">
            <a:avLst>
              <a:gd name="adj" fmla="val 50000"/>
            </a:avLst>
          </a:prstGeom>
          <a:solidFill>
            <a:srgbClr val="FBE7D6"/>
          </a:solidFill>
          <a:ln>
            <a:noFill/>
          </a:ln>
        </p:spPr>
      </p:sp>
      <p:pic>
        <p:nvPicPr>
          <p:cNvPr id="467" name="G"/>
          <p:cNvPicPr>
            <a:picLocks noChangeAspect="1"/>
          </p:cNvPicPr>
          <p:nvPr/>
        </p:nvPicPr>
        <p:blipFill>
          <a:blip r:embed="rIdM13"/>
          <a:stretch>
            <a:fillRect/>
          </a:stretch>
        </p:blipFill>
        <p:spPr>
          <a:xfrm>
            <a:off x="10520000" y="3990146"/>
            <a:ext cx="72179" cy="72179"/>
          </a:xfrm>
          <a:prstGeom prst="rect">
            <a:avLst/>
          </a:prstGeom>
        </p:spPr>
      </p:pic>
      <p:sp>
        <p:nvSpPr>
          <p:cNvPr id="468" name="T"/>
          <p:cNvSpPr txBox="1"/>
          <p:nvPr/>
        </p:nvSpPr>
        <p:spPr>
          <a:xfrm>
            <a:off x="10650000" y="3973163"/>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69" name="T"/>
          <p:cNvSpPr txBox="1"/>
          <p:nvPr/>
        </p:nvSpPr>
        <p:spPr>
          <a:xfrm>
            <a:off x="10800000" y="3973163"/>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467</a:t>
            </a:r>
            <a:endParaRPr lang="id-ID" sz="720"/>
          </a:p>
        </p:txBody>
      </p:sp>
      <p:sp>
        <p:nvSpPr>
          <p:cNvPr id="470" name="T"/>
          <p:cNvSpPr txBox="1"/>
          <p:nvPr/>
        </p:nvSpPr>
        <p:spPr>
          <a:xfrm>
            <a:off x="11201600" y="3973163"/>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71" name="L"/>
          <p:cNvCxnSpPr/>
          <p:nvPr/>
        </p:nvCxnSpPr>
        <p:spPr>
          <a:xfrm>
            <a:off x="8668512" y="4092578"/>
            <a:ext cx="2809951" cy="0"/>
          </a:xfrm>
          <a:prstGeom prst="line">
            <a:avLst/>
          </a:prstGeom>
          <a:ln w="9525">
            <a:solidFill>
              <a:srgbClr val="F1F2F4"/>
            </a:solidFill>
          </a:ln>
        </p:spPr>
      </p:cxnSp>
      <p:sp>
        <p:nvSpPr>
          <p:cNvPr id="472" name="K"/>
          <p:cNvSpPr/>
          <p:nvPr/>
        </p:nvSpPr>
        <p:spPr>
          <a:xfrm>
            <a:off x="8668512" y="4105846"/>
            <a:ext cx="106146" cy="106146"/>
          </a:xfrm>
          <a:prstGeom prst="ellipse">
            <a:avLst/>
          </a:prstGeom>
          <a:solidFill>
            <a:srgbClr val="D9600B"/>
          </a:solidFill>
          <a:ln>
            <a:noFill/>
          </a:ln>
        </p:spPr>
      </p:sp>
      <p:pic>
        <p:nvPicPr>
          <p:cNvPr id="473" name="G"/>
          <p:cNvPicPr>
            <a:picLocks noChangeAspect="1"/>
          </p:cNvPicPr>
          <p:nvPr/>
        </p:nvPicPr>
        <p:blipFill>
          <a:blip r:embed="rIdM12"/>
          <a:stretch>
            <a:fillRect/>
          </a:stretch>
        </p:blipFill>
        <p:spPr>
          <a:xfrm>
            <a:off x="8688679" y="4126013"/>
            <a:ext cx="65810" cy="65810"/>
          </a:xfrm>
          <a:prstGeom prst="rect">
            <a:avLst/>
          </a:prstGeom>
        </p:spPr>
      </p:pic>
      <p:sp>
        <p:nvSpPr>
          <p:cNvPr id="474" name="K"/>
          <p:cNvSpPr/>
          <p:nvPr/>
        </p:nvSpPr>
        <p:spPr>
          <a:xfrm>
            <a:off x="8742814" y="4084616"/>
            <a:ext cx="58380" cy="58380"/>
          </a:xfrm>
          <a:prstGeom prst="ellipse">
            <a:avLst/>
          </a:prstGeom>
          <a:solidFill>
            <a:srgbClr val="C8102E"/>
          </a:solidFill>
          <a:ln w="6350">
            <a:solidFill>
              <a:srgbClr val="FFFFFF"/>
            </a:solidFill>
          </a:ln>
        </p:spPr>
      </p:sp>
      <p:sp>
        <p:nvSpPr>
          <p:cNvPr id="475" name="T"/>
          <p:cNvSpPr txBox="1"/>
          <p:nvPr/>
        </p:nvSpPr>
        <p:spPr>
          <a:xfrm>
            <a:off x="8742814" y="4084616"/>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76" name="T"/>
          <p:cNvSpPr txBox="1"/>
          <p:nvPr/>
        </p:nvSpPr>
        <p:spPr>
          <a:xfrm>
            <a:off x="8869680" y="4076623"/>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Sulawesi Tengah</a:t>
            </a:r>
            <a:endParaRPr lang="id-ID" sz="760"/>
          </a:p>
        </p:txBody>
      </p:sp>
      <p:sp>
        <p:nvSpPr>
          <p:cNvPr id="477" name="K"/>
          <p:cNvSpPr/>
          <p:nvPr/>
        </p:nvSpPr>
        <p:spPr>
          <a:xfrm>
            <a:off x="10470000" y="4105846"/>
            <a:ext cx="1070000" cy="106146"/>
          </a:xfrm>
          <a:prstGeom prst="roundRect">
            <a:avLst>
              <a:gd name="adj" fmla="val 50000"/>
            </a:avLst>
          </a:prstGeom>
          <a:solidFill>
            <a:srgbClr val="FBE7D6"/>
          </a:solidFill>
          <a:ln>
            <a:noFill/>
          </a:ln>
        </p:spPr>
      </p:sp>
      <p:pic>
        <p:nvPicPr>
          <p:cNvPr id="478" name="G"/>
          <p:cNvPicPr>
            <a:picLocks noChangeAspect="1"/>
          </p:cNvPicPr>
          <p:nvPr/>
        </p:nvPicPr>
        <p:blipFill>
          <a:blip r:embed="rIdM13"/>
          <a:stretch>
            <a:fillRect/>
          </a:stretch>
        </p:blipFill>
        <p:spPr>
          <a:xfrm>
            <a:off x="10520000" y="4122829"/>
            <a:ext cx="72179" cy="72179"/>
          </a:xfrm>
          <a:prstGeom prst="rect">
            <a:avLst/>
          </a:prstGeom>
        </p:spPr>
      </p:pic>
      <p:sp>
        <p:nvSpPr>
          <p:cNvPr id="479" name="T"/>
          <p:cNvSpPr txBox="1"/>
          <p:nvPr/>
        </p:nvSpPr>
        <p:spPr>
          <a:xfrm>
            <a:off x="10650000" y="4105846"/>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80" name="T"/>
          <p:cNvSpPr txBox="1"/>
          <p:nvPr/>
        </p:nvSpPr>
        <p:spPr>
          <a:xfrm>
            <a:off x="10800000" y="4105846"/>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393</a:t>
            </a:r>
            <a:endParaRPr lang="id-ID" sz="720"/>
          </a:p>
        </p:txBody>
      </p:sp>
      <p:sp>
        <p:nvSpPr>
          <p:cNvPr id="481" name="T"/>
          <p:cNvSpPr txBox="1"/>
          <p:nvPr/>
        </p:nvSpPr>
        <p:spPr>
          <a:xfrm>
            <a:off x="11201600" y="4105846"/>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82" name="L"/>
          <p:cNvCxnSpPr/>
          <p:nvPr/>
        </p:nvCxnSpPr>
        <p:spPr>
          <a:xfrm>
            <a:off x="8668512" y="4225261"/>
            <a:ext cx="2809951" cy="0"/>
          </a:xfrm>
          <a:prstGeom prst="line">
            <a:avLst/>
          </a:prstGeom>
          <a:ln w="9525">
            <a:solidFill>
              <a:srgbClr val="F1F2F4"/>
            </a:solidFill>
          </a:ln>
        </p:spPr>
      </p:cxnSp>
      <p:sp>
        <p:nvSpPr>
          <p:cNvPr id="483" name="K"/>
          <p:cNvSpPr/>
          <p:nvPr/>
        </p:nvSpPr>
        <p:spPr>
          <a:xfrm>
            <a:off x="8668512" y="4238529"/>
            <a:ext cx="106146" cy="106146"/>
          </a:xfrm>
          <a:prstGeom prst="ellipse">
            <a:avLst/>
          </a:prstGeom>
          <a:solidFill>
            <a:srgbClr val="D9600B"/>
          </a:solidFill>
          <a:ln>
            <a:noFill/>
          </a:ln>
        </p:spPr>
      </p:sp>
      <p:pic>
        <p:nvPicPr>
          <p:cNvPr id="484" name="G"/>
          <p:cNvPicPr>
            <a:picLocks noChangeAspect="1"/>
          </p:cNvPicPr>
          <p:nvPr/>
        </p:nvPicPr>
        <p:blipFill>
          <a:blip r:embed="rIdM12"/>
          <a:stretch>
            <a:fillRect/>
          </a:stretch>
        </p:blipFill>
        <p:spPr>
          <a:xfrm>
            <a:off x="8688679" y="4258696"/>
            <a:ext cx="65810" cy="65810"/>
          </a:xfrm>
          <a:prstGeom prst="rect">
            <a:avLst/>
          </a:prstGeom>
        </p:spPr>
      </p:pic>
      <p:sp>
        <p:nvSpPr>
          <p:cNvPr id="485" name="K"/>
          <p:cNvSpPr/>
          <p:nvPr/>
        </p:nvSpPr>
        <p:spPr>
          <a:xfrm>
            <a:off x="8742814" y="4217299"/>
            <a:ext cx="58380" cy="58380"/>
          </a:xfrm>
          <a:prstGeom prst="ellipse">
            <a:avLst/>
          </a:prstGeom>
          <a:solidFill>
            <a:srgbClr val="C8102E"/>
          </a:solidFill>
          <a:ln w="6350">
            <a:solidFill>
              <a:srgbClr val="FFFFFF"/>
            </a:solidFill>
          </a:ln>
        </p:spPr>
      </p:sp>
      <p:sp>
        <p:nvSpPr>
          <p:cNvPr id="486" name="T"/>
          <p:cNvSpPr txBox="1"/>
          <p:nvPr/>
        </p:nvSpPr>
        <p:spPr>
          <a:xfrm>
            <a:off x="8742814" y="4217299"/>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87" name="T"/>
          <p:cNvSpPr txBox="1"/>
          <p:nvPr/>
        </p:nvSpPr>
        <p:spPr>
          <a:xfrm>
            <a:off x="8869680" y="4209306"/>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Timur</a:t>
            </a:r>
            <a:endParaRPr lang="id-ID" sz="760"/>
          </a:p>
        </p:txBody>
      </p:sp>
      <p:sp>
        <p:nvSpPr>
          <p:cNvPr id="488" name="K"/>
          <p:cNvSpPr/>
          <p:nvPr/>
        </p:nvSpPr>
        <p:spPr>
          <a:xfrm>
            <a:off x="10470000" y="4238529"/>
            <a:ext cx="1070000" cy="106146"/>
          </a:xfrm>
          <a:prstGeom prst="roundRect">
            <a:avLst>
              <a:gd name="adj" fmla="val 50000"/>
            </a:avLst>
          </a:prstGeom>
          <a:solidFill>
            <a:srgbClr val="FBE7D6"/>
          </a:solidFill>
          <a:ln>
            <a:noFill/>
          </a:ln>
        </p:spPr>
      </p:sp>
      <p:pic>
        <p:nvPicPr>
          <p:cNvPr id="489" name="G"/>
          <p:cNvPicPr>
            <a:picLocks noChangeAspect="1"/>
          </p:cNvPicPr>
          <p:nvPr/>
        </p:nvPicPr>
        <p:blipFill>
          <a:blip r:embed="rIdM13"/>
          <a:stretch>
            <a:fillRect/>
          </a:stretch>
        </p:blipFill>
        <p:spPr>
          <a:xfrm>
            <a:off x="10520000" y="4255512"/>
            <a:ext cx="72179" cy="72179"/>
          </a:xfrm>
          <a:prstGeom prst="rect">
            <a:avLst/>
          </a:prstGeom>
        </p:spPr>
      </p:pic>
      <p:sp>
        <p:nvSpPr>
          <p:cNvPr id="490" name="T"/>
          <p:cNvSpPr txBox="1"/>
          <p:nvPr/>
        </p:nvSpPr>
        <p:spPr>
          <a:xfrm>
            <a:off x="10650000" y="4238529"/>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491" name="T"/>
          <p:cNvSpPr txBox="1"/>
          <p:nvPr/>
        </p:nvSpPr>
        <p:spPr>
          <a:xfrm>
            <a:off x="10800000" y="4238529"/>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320</a:t>
            </a:r>
            <a:endParaRPr lang="id-ID" sz="720"/>
          </a:p>
        </p:txBody>
      </p:sp>
      <p:sp>
        <p:nvSpPr>
          <p:cNvPr id="492" name="T"/>
          <p:cNvSpPr txBox="1"/>
          <p:nvPr/>
        </p:nvSpPr>
        <p:spPr>
          <a:xfrm>
            <a:off x="11201600" y="4238529"/>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493" name="L"/>
          <p:cNvCxnSpPr/>
          <p:nvPr/>
        </p:nvCxnSpPr>
        <p:spPr>
          <a:xfrm>
            <a:off x="8668512" y="4357944"/>
            <a:ext cx="2809951" cy="0"/>
          </a:xfrm>
          <a:prstGeom prst="line">
            <a:avLst/>
          </a:prstGeom>
          <a:ln w="9525">
            <a:solidFill>
              <a:srgbClr val="F1F2F4"/>
            </a:solidFill>
          </a:ln>
        </p:spPr>
      </p:cxnSp>
      <p:sp>
        <p:nvSpPr>
          <p:cNvPr id="494" name="K"/>
          <p:cNvSpPr/>
          <p:nvPr/>
        </p:nvSpPr>
        <p:spPr>
          <a:xfrm>
            <a:off x="8668512" y="4371212"/>
            <a:ext cx="106146" cy="106146"/>
          </a:xfrm>
          <a:prstGeom prst="ellipse">
            <a:avLst/>
          </a:prstGeom>
          <a:solidFill>
            <a:srgbClr val="D9600B"/>
          </a:solidFill>
          <a:ln>
            <a:noFill/>
          </a:ln>
        </p:spPr>
      </p:sp>
      <p:pic>
        <p:nvPicPr>
          <p:cNvPr id="495" name="G"/>
          <p:cNvPicPr>
            <a:picLocks noChangeAspect="1"/>
          </p:cNvPicPr>
          <p:nvPr/>
        </p:nvPicPr>
        <p:blipFill>
          <a:blip r:embed="rIdM12"/>
          <a:stretch>
            <a:fillRect/>
          </a:stretch>
        </p:blipFill>
        <p:spPr>
          <a:xfrm>
            <a:off x="8688679" y="4391379"/>
            <a:ext cx="65810" cy="65810"/>
          </a:xfrm>
          <a:prstGeom prst="rect">
            <a:avLst/>
          </a:prstGeom>
        </p:spPr>
      </p:pic>
      <p:sp>
        <p:nvSpPr>
          <p:cNvPr id="496" name="K"/>
          <p:cNvSpPr/>
          <p:nvPr/>
        </p:nvSpPr>
        <p:spPr>
          <a:xfrm>
            <a:off x="8742814" y="4349982"/>
            <a:ext cx="58380" cy="58380"/>
          </a:xfrm>
          <a:prstGeom prst="ellipse">
            <a:avLst/>
          </a:prstGeom>
          <a:solidFill>
            <a:srgbClr val="C8102E"/>
          </a:solidFill>
          <a:ln w="6350">
            <a:solidFill>
              <a:srgbClr val="FFFFFF"/>
            </a:solidFill>
          </a:ln>
        </p:spPr>
      </p:sp>
      <p:sp>
        <p:nvSpPr>
          <p:cNvPr id="497" name="T"/>
          <p:cNvSpPr txBox="1"/>
          <p:nvPr/>
        </p:nvSpPr>
        <p:spPr>
          <a:xfrm>
            <a:off x="8742814" y="4349982"/>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498" name="T"/>
          <p:cNvSpPr txBox="1"/>
          <p:nvPr/>
        </p:nvSpPr>
        <p:spPr>
          <a:xfrm>
            <a:off x="8869680" y="4341989"/>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Sulawesi Tenggara</a:t>
            </a:r>
            <a:endParaRPr lang="id-ID" sz="760"/>
          </a:p>
        </p:txBody>
      </p:sp>
      <p:sp>
        <p:nvSpPr>
          <p:cNvPr id="499" name="K"/>
          <p:cNvSpPr/>
          <p:nvPr/>
        </p:nvSpPr>
        <p:spPr>
          <a:xfrm>
            <a:off x="10470000" y="4371212"/>
            <a:ext cx="1070000" cy="106146"/>
          </a:xfrm>
          <a:prstGeom prst="roundRect">
            <a:avLst>
              <a:gd name="adj" fmla="val 50000"/>
            </a:avLst>
          </a:prstGeom>
          <a:solidFill>
            <a:srgbClr val="FBE7D6"/>
          </a:solidFill>
          <a:ln>
            <a:noFill/>
          </a:ln>
        </p:spPr>
      </p:sp>
      <p:pic>
        <p:nvPicPr>
          <p:cNvPr id="500" name="G"/>
          <p:cNvPicPr>
            <a:picLocks noChangeAspect="1"/>
          </p:cNvPicPr>
          <p:nvPr/>
        </p:nvPicPr>
        <p:blipFill>
          <a:blip r:embed="rIdM13"/>
          <a:stretch>
            <a:fillRect/>
          </a:stretch>
        </p:blipFill>
        <p:spPr>
          <a:xfrm>
            <a:off x="10520000" y="4388195"/>
            <a:ext cx="72179" cy="72179"/>
          </a:xfrm>
          <a:prstGeom prst="rect">
            <a:avLst/>
          </a:prstGeom>
        </p:spPr>
      </p:pic>
      <p:sp>
        <p:nvSpPr>
          <p:cNvPr id="501" name="T"/>
          <p:cNvSpPr txBox="1"/>
          <p:nvPr/>
        </p:nvSpPr>
        <p:spPr>
          <a:xfrm>
            <a:off x="10650000" y="4371212"/>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02" name="T"/>
          <p:cNvSpPr txBox="1"/>
          <p:nvPr/>
        </p:nvSpPr>
        <p:spPr>
          <a:xfrm>
            <a:off x="10800000" y="4371212"/>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282</a:t>
            </a:r>
            <a:endParaRPr lang="id-ID" sz="720"/>
          </a:p>
        </p:txBody>
      </p:sp>
      <p:sp>
        <p:nvSpPr>
          <p:cNvPr id="503" name="T"/>
          <p:cNvSpPr txBox="1"/>
          <p:nvPr/>
        </p:nvSpPr>
        <p:spPr>
          <a:xfrm>
            <a:off x="11201600" y="4371212"/>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04" name="L"/>
          <p:cNvCxnSpPr/>
          <p:nvPr/>
        </p:nvCxnSpPr>
        <p:spPr>
          <a:xfrm>
            <a:off x="8668512" y="4490627"/>
            <a:ext cx="2809951" cy="0"/>
          </a:xfrm>
          <a:prstGeom prst="line">
            <a:avLst/>
          </a:prstGeom>
          <a:ln w="9525">
            <a:solidFill>
              <a:srgbClr val="F1F2F4"/>
            </a:solidFill>
          </a:ln>
        </p:spPr>
      </p:cxnSp>
      <p:sp>
        <p:nvSpPr>
          <p:cNvPr id="505" name="K"/>
          <p:cNvSpPr/>
          <p:nvPr/>
        </p:nvSpPr>
        <p:spPr>
          <a:xfrm>
            <a:off x="8668512" y="4503895"/>
            <a:ext cx="106146" cy="106146"/>
          </a:xfrm>
          <a:prstGeom prst="ellipse">
            <a:avLst/>
          </a:prstGeom>
          <a:solidFill>
            <a:srgbClr val="D9600B"/>
          </a:solidFill>
          <a:ln>
            <a:noFill/>
          </a:ln>
        </p:spPr>
      </p:sp>
      <p:pic>
        <p:nvPicPr>
          <p:cNvPr id="506" name="G"/>
          <p:cNvPicPr>
            <a:picLocks noChangeAspect="1"/>
          </p:cNvPicPr>
          <p:nvPr/>
        </p:nvPicPr>
        <p:blipFill>
          <a:blip r:embed="rIdM12"/>
          <a:stretch>
            <a:fillRect/>
          </a:stretch>
        </p:blipFill>
        <p:spPr>
          <a:xfrm>
            <a:off x="8688679" y="4524062"/>
            <a:ext cx="65810" cy="65810"/>
          </a:xfrm>
          <a:prstGeom prst="rect">
            <a:avLst/>
          </a:prstGeom>
        </p:spPr>
      </p:pic>
      <p:sp>
        <p:nvSpPr>
          <p:cNvPr id="507" name="K"/>
          <p:cNvSpPr/>
          <p:nvPr/>
        </p:nvSpPr>
        <p:spPr>
          <a:xfrm>
            <a:off x="8742814" y="4482665"/>
            <a:ext cx="58380" cy="58380"/>
          </a:xfrm>
          <a:prstGeom prst="ellipse">
            <a:avLst/>
          </a:prstGeom>
          <a:solidFill>
            <a:srgbClr val="C8102E"/>
          </a:solidFill>
          <a:ln w="6350">
            <a:solidFill>
              <a:srgbClr val="FFFFFF"/>
            </a:solidFill>
          </a:ln>
        </p:spPr>
      </p:sp>
      <p:sp>
        <p:nvSpPr>
          <p:cNvPr id="508" name="T"/>
          <p:cNvSpPr txBox="1"/>
          <p:nvPr/>
        </p:nvSpPr>
        <p:spPr>
          <a:xfrm>
            <a:off x="8742814" y="4482665"/>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09" name="T"/>
          <p:cNvSpPr txBox="1"/>
          <p:nvPr/>
        </p:nvSpPr>
        <p:spPr>
          <a:xfrm>
            <a:off x="8869680" y="4474672"/>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Maluku</a:t>
            </a:r>
            <a:endParaRPr lang="id-ID" sz="760"/>
          </a:p>
        </p:txBody>
      </p:sp>
      <p:sp>
        <p:nvSpPr>
          <p:cNvPr id="510" name="K"/>
          <p:cNvSpPr/>
          <p:nvPr/>
        </p:nvSpPr>
        <p:spPr>
          <a:xfrm>
            <a:off x="10470000" y="4503895"/>
            <a:ext cx="1070000" cy="106146"/>
          </a:xfrm>
          <a:prstGeom prst="roundRect">
            <a:avLst>
              <a:gd name="adj" fmla="val 50000"/>
            </a:avLst>
          </a:prstGeom>
          <a:solidFill>
            <a:srgbClr val="FBE7D6"/>
          </a:solidFill>
          <a:ln>
            <a:noFill/>
          </a:ln>
        </p:spPr>
      </p:sp>
      <p:pic>
        <p:nvPicPr>
          <p:cNvPr id="511" name="G"/>
          <p:cNvPicPr>
            <a:picLocks noChangeAspect="1"/>
          </p:cNvPicPr>
          <p:nvPr/>
        </p:nvPicPr>
        <p:blipFill>
          <a:blip r:embed="rIdM13"/>
          <a:stretch>
            <a:fillRect/>
          </a:stretch>
        </p:blipFill>
        <p:spPr>
          <a:xfrm>
            <a:off x="10520000" y="4520878"/>
            <a:ext cx="72179" cy="72179"/>
          </a:xfrm>
          <a:prstGeom prst="rect">
            <a:avLst/>
          </a:prstGeom>
        </p:spPr>
      </p:pic>
      <p:sp>
        <p:nvSpPr>
          <p:cNvPr id="512" name="T"/>
          <p:cNvSpPr txBox="1"/>
          <p:nvPr/>
        </p:nvSpPr>
        <p:spPr>
          <a:xfrm>
            <a:off x="10650000" y="4503895"/>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13" name="T"/>
          <p:cNvSpPr txBox="1"/>
          <p:nvPr/>
        </p:nvSpPr>
        <p:spPr>
          <a:xfrm>
            <a:off x="10800000" y="4503895"/>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104</a:t>
            </a:r>
            <a:endParaRPr lang="id-ID" sz="720"/>
          </a:p>
        </p:txBody>
      </p:sp>
      <p:sp>
        <p:nvSpPr>
          <p:cNvPr id="514" name="T"/>
          <p:cNvSpPr txBox="1"/>
          <p:nvPr/>
        </p:nvSpPr>
        <p:spPr>
          <a:xfrm>
            <a:off x="11201600" y="4503895"/>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15" name="L"/>
          <p:cNvCxnSpPr/>
          <p:nvPr/>
        </p:nvCxnSpPr>
        <p:spPr>
          <a:xfrm>
            <a:off x="8668512" y="4623310"/>
            <a:ext cx="2809951" cy="0"/>
          </a:xfrm>
          <a:prstGeom prst="line">
            <a:avLst/>
          </a:prstGeom>
          <a:ln w="9525">
            <a:solidFill>
              <a:srgbClr val="F1F2F4"/>
            </a:solidFill>
          </a:ln>
        </p:spPr>
      </p:cxnSp>
      <p:sp>
        <p:nvSpPr>
          <p:cNvPr id="516" name="K"/>
          <p:cNvSpPr/>
          <p:nvPr/>
        </p:nvSpPr>
        <p:spPr>
          <a:xfrm>
            <a:off x="8668512" y="4636578"/>
            <a:ext cx="106146" cy="106146"/>
          </a:xfrm>
          <a:prstGeom prst="ellipse">
            <a:avLst/>
          </a:prstGeom>
          <a:solidFill>
            <a:srgbClr val="D9600B"/>
          </a:solidFill>
          <a:ln>
            <a:noFill/>
          </a:ln>
        </p:spPr>
      </p:sp>
      <p:pic>
        <p:nvPicPr>
          <p:cNvPr id="517" name="G"/>
          <p:cNvPicPr>
            <a:picLocks noChangeAspect="1"/>
          </p:cNvPicPr>
          <p:nvPr/>
        </p:nvPicPr>
        <p:blipFill>
          <a:blip r:embed="rIdM12"/>
          <a:stretch>
            <a:fillRect/>
          </a:stretch>
        </p:blipFill>
        <p:spPr>
          <a:xfrm>
            <a:off x="8688679" y="4656745"/>
            <a:ext cx="65810" cy="65810"/>
          </a:xfrm>
          <a:prstGeom prst="rect">
            <a:avLst/>
          </a:prstGeom>
        </p:spPr>
      </p:pic>
      <p:sp>
        <p:nvSpPr>
          <p:cNvPr id="518" name="K"/>
          <p:cNvSpPr/>
          <p:nvPr/>
        </p:nvSpPr>
        <p:spPr>
          <a:xfrm>
            <a:off x="8742814" y="4615348"/>
            <a:ext cx="58380" cy="58380"/>
          </a:xfrm>
          <a:prstGeom prst="ellipse">
            <a:avLst/>
          </a:prstGeom>
          <a:solidFill>
            <a:srgbClr val="C8102E"/>
          </a:solidFill>
          <a:ln w="6350">
            <a:solidFill>
              <a:srgbClr val="FFFFFF"/>
            </a:solidFill>
          </a:ln>
        </p:spPr>
      </p:sp>
      <p:sp>
        <p:nvSpPr>
          <p:cNvPr id="519" name="T"/>
          <p:cNvSpPr txBox="1"/>
          <p:nvPr/>
        </p:nvSpPr>
        <p:spPr>
          <a:xfrm>
            <a:off x="8742814" y="4615348"/>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20" name="T"/>
          <p:cNvSpPr txBox="1"/>
          <p:nvPr/>
        </p:nvSpPr>
        <p:spPr>
          <a:xfrm>
            <a:off x="8869680" y="4607355"/>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Sulawesi Selatan</a:t>
            </a:r>
            <a:endParaRPr lang="id-ID" sz="760"/>
          </a:p>
        </p:txBody>
      </p:sp>
      <p:sp>
        <p:nvSpPr>
          <p:cNvPr id="521" name="K"/>
          <p:cNvSpPr/>
          <p:nvPr/>
        </p:nvSpPr>
        <p:spPr>
          <a:xfrm>
            <a:off x="10470000" y="4636578"/>
            <a:ext cx="1070000" cy="106146"/>
          </a:xfrm>
          <a:prstGeom prst="roundRect">
            <a:avLst>
              <a:gd name="adj" fmla="val 50000"/>
            </a:avLst>
          </a:prstGeom>
          <a:solidFill>
            <a:srgbClr val="FBE7D6"/>
          </a:solidFill>
          <a:ln>
            <a:noFill/>
          </a:ln>
        </p:spPr>
      </p:sp>
      <p:pic>
        <p:nvPicPr>
          <p:cNvPr id="522" name="G"/>
          <p:cNvPicPr>
            <a:picLocks noChangeAspect="1"/>
          </p:cNvPicPr>
          <p:nvPr/>
        </p:nvPicPr>
        <p:blipFill>
          <a:blip r:embed="rIdM13"/>
          <a:stretch>
            <a:fillRect/>
          </a:stretch>
        </p:blipFill>
        <p:spPr>
          <a:xfrm>
            <a:off x="10520000" y="4653561"/>
            <a:ext cx="72179" cy="72179"/>
          </a:xfrm>
          <a:prstGeom prst="rect">
            <a:avLst/>
          </a:prstGeom>
        </p:spPr>
      </p:pic>
      <p:sp>
        <p:nvSpPr>
          <p:cNvPr id="523" name="T"/>
          <p:cNvSpPr txBox="1"/>
          <p:nvPr/>
        </p:nvSpPr>
        <p:spPr>
          <a:xfrm>
            <a:off x="10650000" y="4636578"/>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24" name="T"/>
          <p:cNvSpPr txBox="1"/>
          <p:nvPr/>
        </p:nvSpPr>
        <p:spPr>
          <a:xfrm>
            <a:off x="10800000" y="4636578"/>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101</a:t>
            </a:r>
            <a:endParaRPr lang="id-ID" sz="720"/>
          </a:p>
        </p:txBody>
      </p:sp>
      <p:sp>
        <p:nvSpPr>
          <p:cNvPr id="525" name="T"/>
          <p:cNvSpPr txBox="1"/>
          <p:nvPr/>
        </p:nvSpPr>
        <p:spPr>
          <a:xfrm>
            <a:off x="11201600" y="4636578"/>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26" name="L"/>
          <p:cNvCxnSpPr/>
          <p:nvPr/>
        </p:nvCxnSpPr>
        <p:spPr>
          <a:xfrm>
            <a:off x="8668512" y="4755993"/>
            <a:ext cx="2809951" cy="0"/>
          </a:xfrm>
          <a:prstGeom prst="line">
            <a:avLst/>
          </a:prstGeom>
          <a:ln w="9525">
            <a:solidFill>
              <a:srgbClr val="F1F2F4"/>
            </a:solidFill>
          </a:ln>
        </p:spPr>
      </p:cxnSp>
      <p:sp>
        <p:nvSpPr>
          <p:cNvPr id="527" name="K"/>
          <p:cNvSpPr/>
          <p:nvPr/>
        </p:nvSpPr>
        <p:spPr>
          <a:xfrm>
            <a:off x="8668512" y="4769261"/>
            <a:ext cx="106146" cy="106146"/>
          </a:xfrm>
          <a:prstGeom prst="ellipse">
            <a:avLst/>
          </a:prstGeom>
          <a:solidFill>
            <a:srgbClr val="D9600B"/>
          </a:solidFill>
          <a:ln>
            <a:noFill/>
          </a:ln>
        </p:spPr>
      </p:sp>
      <p:pic>
        <p:nvPicPr>
          <p:cNvPr id="528" name="G"/>
          <p:cNvPicPr>
            <a:picLocks noChangeAspect="1"/>
          </p:cNvPicPr>
          <p:nvPr/>
        </p:nvPicPr>
        <p:blipFill>
          <a:blip r:embed="rIdM12"/>
          <a:stretch>
            <a:fillRect/>
          </a:stretch>
        </p:blipFill>
        <p:spPr>
          <a:xfrm>
            <a:off x="8688679" y="4789428"/>
            <a:ext cx="65810" cy="65810"/>
          </a:xfrm>
          <a:prstGeom prst="rect">
            <a:avLst/>
          </a:prstGeom>
        </p:spPr>
      </p:pic>
      <p:sp>
        <p:nvSpPr>
          <p:cNvPr id="529" name="K"/>
          <p:cNvSpPr/>
          <p:nvPr/>
        </p:nvSpPr>
        <p:spPr>
          <a:xfrm>
            <a:off x="8742814" y="4748031"/>
            <a:ext cx="58380" cy="58380"/>
          </a:xfrm>
          <a:prstGeom prst="ellipse">
            <a:avLst/>
          </a:prstGeom>
          <a:solidFill>
            <a:srgbClr val="C8102E"/>
          </a:solidFill>
          <a:ln w="6350">
            <a:solidFill>
              <a:srgbClr val="FFFFFF"/>
            </a:solidFill>
          </a:ln>
        </p:spPr>
      </p:sp>
      <p:sp>
        <p:nvSpPr>
          <p:cNvPr id="530" name="T"/>
          <p:cNvSpPr txBox="1"/>
          <p:nvPr/>
        </p:nvSpPr>
        <p:spPr>
          <a:xfrm>
            <a:off x="8742814" y="4748031"/>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31" name="T"/>
          <p:cNvSpPr txBox="1"/>
          <p:nvPr/>
        </p:nvSpPr>
        <p:spPr>
          <a:xfrm>
            <a:off x="8869680" y="4740038"/>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Karhutla lainnya</a:t>
            </a:r>
            <a:r>
              <a:rPr lang="id-ID" sz="760" dirty="0">
                <a:solidFill>
                  <a:srgbClr val="2E3440"/>
                </a:solidFill>
                <a:latin typeface="Roboto"/>
                <a:ea typeface="Roboto"/>
                <a:cs typeface="Roboto"/>
              </a:rPr>
              <a:t>, 7 provinsi</a:t>
            </a:r>
            <a:endParaRPr lang="id-ID" sz="760"/>
          </a:p>
        </p:txBody>
      </p:sp>
      <p:sp>
        <p:nvSpPr>
          <p:cNvPr id="532" name="K"/>
          <p:cNvSpPr/>
          <p:nvPr/>
        </p:nvSpPr>
        <p:spPr>
          <a:xfrm>
            <a:off x="10470000" y="4769261"/>
            <a:ext cx="1070000" cy="106146"/>
          </a:xfrm>
          <a:prstGeom prst="roundRect">
            <a:avLst>
              <a:gd name="adj" fmla="val 50000"/>
            </a:avLst>
          </a:prstGeom>
          <a:solidFill>
            <a:srgbClr val="FBE7D6"/>
          </a:solidFill>
          <a:ln>
            <a:noFill/>
          </a:ln>
        </p:spPr>
      </p:sp>
      <p:pic>
        <p:nvPicPr>
          <p:cNvPr id="533" name="G"/>
          <p:cNvPicPr>
            <a:picLocks noChangeAspect="1"/>
          </p:cNvPicPr>
          <p:nvPr/>
        </p:nvPicPr>
        <p:blipFill>
          <a:blip r:embed="rIdM13"/>
          <a:stretch>
            <a:fillRect/>
          </a:stretch>
        </p:blipFill>
        <p:spPr>
          <a:xfrm>
            <a:off x="10520000" y="4786244"/>
            <a:ext cx="72179" cy="72179"/>
          </a:xfrm>
          <a:prstGeom prst="rect">
            <a:avLst/>
          </a:prstGeom>
        </p:spPr>
      </p:pic>
      <p:sp>
        <p:nvSpPr>
          <p:cNvPr id="534" name="T"/>
          <p:cNvSpPr txBox="1"/>
          <p:nvPr/>
        </p:nvSpPr>
        <p:spPr>
          <a:xfrm>
            <a:off x="10650000" y="4769261"/>
            <a:ext cx="26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sisa</a:t>
            </a:r>
            <a:endParaRPr lang="id-ID" sz="720"/>
          </a:p>
        </p:txBody>
      </p:sp>
      <p:sp>
        <p:nvSpPr>
          <p:cNvPr id="535" name="T"/>
          <p:cNvSpPr txBox="1"/>
          <p:nvPr/>
        </p:nvSpPr>
        <p:spPr>
          <a:xfrm>
            <a:off x="10800000" y="4769261"/>
            <a:ext cx="380000" cy="106146"/>
          </a:xfrm>
          <a:prstGeom prst="rect">
            <a:avLst/>
          </a:prstGeom>
          <a:noFill/>
        </p:spPr>
        <p:txBody>
          <a:bodyPr wrap="none" lIns="0" tIns="0" rIns="0" bIns="0" anchor="ctr"/>
          <a:lstStyle/>
          <a:p>
            <a:pPr algn="r">
              <a:buNone/>
            </a:pPr>
            <a:r>
              <a:rPr lang="id-ID" sz="720" b="1" dirty="0">
                <a:solidFill>
                  <a:srgbClr val="D9600B"/>
                </a:solidFill>
                <a:latin typeface="Roboto"/>
                <a:ea typeface="Roboto"/>
                <a:cs typeface="Roboto"/>
              </a:rPr>
              <a:t>± 288</a:t>
            </a:r>
            <a:endParaRPr lang="id-ID" sz="720"/>
          </a:p>
        </p:txBody>
      </p:sp>
      <p:sp>
        <p:nvSpPr>
          <p:cNvPr id="536" name="T"/>
          <p:cNvSpPr txBox="1"/>
          <p:nvPr/>
        </p:nvSpPr>
        <p:spPr>
          <a:xfrm>
            <a:off x="11201600" y="4769261"/>
            <a:ext cx="200000" cy="106146"/>
          </a:xfrm>
          <a:prstGeom prst="rect">
            <a:avLst/>
          </a:prstGeom>
          <a:noFill/>
        </p:spPr>
        <p:txBody>
          <a:bodyPr wrap="none" lIns="0" tIns="0" rIns="0" bIns="0" anchor="ctr"/>
          <a:lstStyle/>
          <a:p>
            <a:pPr algn="l">
              <a:buNone/>
            </a:pPr>
            <a:r>
              <a:rPr lang="id-ID" sz="720" b="1" dirty="0">
                <a:solidFill>
                  <a:srgbClr val="D9600B"/>
                </a:solidFill>
                <a:latin typeface="Roboto"/>
                <a:ea typeface="Roboto"/>
                <a:cs typeface="Roboto"/>
              </a:rPr>
              <a:t>ha</a:t>
            </a:r>
            <a:endParaRPr lang="id-ID" sz="720"/>
          </a:p>
        </p:txBody>
      </p:sp>
      <p:cxnSp>
        <p:nvCxnSpPr>
          <p:cNvPr id="537" name="L"/>
          <p:cNvCxnSpPr/>
          <p:nvPr/>
        </p:nvCxnSpPr>
        <p:spPr>
          <a:xfrm>
            <a:off x="8668512" y="4888676"/>
            <a:ext cx="2809951" cy="0"/>
          </a:xfrm>
          <a:prstGeom prst="line">
            <a:avLst/>
          </a:prstGeom>
          <a:ln w="9525">
            <a:solidFill>
              <a:srgbClr val="F1F2F4"/>
            </a:solidFill>
          </a:ln>
        </p:spPr>
      </p:cxnSp>
      <p:sp>
        <p:nvSpPr>
          <p:cNvPr id="538" name="K"/>
          <p:cNvSpPr/>
          <p:nvPr/>
        </p:nvSpPr>
        <p:spPr>
          <a:xfrm>
            <a:off x="8668512" y="4901944"/>
            <a:ext cx="106146" cy="106146"/>
          </a:xfrm>
          <a:prstGeom prst="ellipse">
            <a:avLst/>
          </a:prstGeom>
          <a:solidFill>
            <a:srgbClr val="2F6FB5"/>
          </a:solidFill>
          <a:ln>
            <a:noFill/>
          </a:ln>
        </p:spPr>
      </p:sp>
      <p:pic>
        <p:nvPicPr>
          <p:cNvPr id="539" name="G"/>
          <p:cNvPicPr>
            <a:picLocks noChangeAspect="1"/>
          </p:cNvPicPr>
          <p:nvPr/>
        </p:nvPicPr>
        <p:blipFill>
          <a:blip r:embed="rIdM14"/>
          <a:stretch>
            <a:fillRect/>
          </a:stretch>
        </p:blipFill>
        <p:spPr>
          <a:xfrm>
            <a:off x="8688679" y="4922111"/>
            <a:ext cx="65810" cy="65810"/>
          </a:xfrm>
          <a:prstGeom prst="rect">
            <a:avLst/>
          </a:prstGeom>
        </p:spPr>
      </p:pic>
      <p:sp>
        <p:nvSpPr>
          <p:cNvPr id="540" name="K"/>
          <p:cNvSpPr/>
          <p:nvPr/>
        </p:nvSpPr>
        <p:spPr>
          <a:xfrm>
            <a:off x="8742814" y="4880714"/>
            <a:ext cx="58380" cy="58380"/>
          </a:xfrm>
          <a:prstGeom prst="ellipse">
            <a:avLst/>
          </a:prstGeom>
          <a:solidFill>
            <a:srgbClr val="C8102E"/>
          </a:solidFill>
          <a:ln w="6350">
            <a:solidFill>
              <a:srgbClr val="FFFFFF"/>
            </a:solidFill>
          </a:ln>
        </p:spPr>
      </p:sp>
      <p:sp>
        <p:nvSpPr>
          <p:cNvPr id="541" name="T"/>
          <p:cNvSpPr txBox="1"/>
          <p:nvPr/>
        </p:nvSpPr>
        <p:spPr>
          <a:xfrm>
            <a:off x="8742814" y="4880714"/>
            <a:ext cx="58380" cy="58380"/>
          </a:xfrm>
          <a:prstGeom prst="rect">
            <a:avLst/>
          </a:prstGeom>
          <a:noFill/>
        </p:spPr>
        <p:txBody>
          <a:bodyPr wrap="square" lIns="0" tIns="0" rIns="0" bIns="0" anchor="ctr"/>
          <a:lstStyle/>
          <a:p>
            <a:pPr algn="ctr">
              <a:buNone/>
            </a:pPr>
            <a:r>
              <a:rPr lang="id-ID" sz="700" b="1" dirty="0">
                <a:solidFill>
                  <a:srgbClr val="FFFFFF"/>
                </a:solidFill>
                <a:latin typeface="Roboto"/>
                <a:ea typeface="Roboto"/>
                <a:cs typeface="Roboto"/>
              </a:rPr>
              <a:t>!</a:t>
            </a:r>
            <a:endParaRPr lang="id-ID" sz="500"/>
          </a:p>
        </p:txBody>
      </p:sp>
      <p:sp>
        <p:nvSpPr>
          <p:cNvPr id="542" name="T"/>
          <p:cNvSpPr txBox="1"/>
          <p:nvPr/>
        </p:nvSpPr>
        <p:spPr>
          <a:xfrm>
            <a:off x="8869680" y="4872721"/>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Banjir</a:t>
            </a:r>
            <a:r>
              <a:rPr lang="id-ID" sz="760" dirty="0">
                <a:solidFill>
                  <a:srgbClr val="2E3440"/>
                </a:solidFill>
                <a:latin typeface="Roboto"/>
                <a:ea typeface="Roboto"/>
                <a:cs typeface="Roboto"/>
              </a:rPr>
              <a:t>, 3 kab/kota di 2 provinsi</a:t>
            </a:r>
            <a:endParaRPr lang="id-ID" sz="760"/>
          </a:p>
        </p:txBody>
      </p:sp>
      <p:sp>
        <p:nvSpPr>
          <p:cNvPr id="543" name="K"/>
          <p:cNvSpPr/>
          <p:nvPr/>
        </p:nvSpPr>
        <p:spPr>
          <a:xfrm>
            <a:off x="10470000" y="4901944"/>
            <a:ext cx="1070000" cy="106146"/>
          </a:xfrm>
          <a:prstGeom prst="roundRect">
            <a:avLst>
              <a:gd name="adj" fmla="val 50000"/>
            </a:avLst>
          </a:prstGeom>
          <a:solidFill>
            <a:srgbClr val="DCE7F5"/>
          </a:solidFill>
          <a:ln>
            <a:noFill/>
          </a:ln>
        </p:spPr>
      </p:sp>
      <p:pic>
        <p:nvPicPr>
          <p:cNvPr id="544" name="G"/>
          <p:cNvPicPr>
            <a:picLocks noChangeAspect="1"/>
          </p:cNvPicPr>
          <p:nvPr/>
        </p:nvPicPr>
        <p:blipFill>
          <a:blip r:embed="rIdM15"/>
          <a:stretch>
            <a:fillRect/>
          </a:stretch>
        </p:blipFill>
        <p:spPr>
          <a:xfrm>
            <a:off x="10520000" y="4918927"/>
            <a:ext cx="72179" cy="72179"/>
          </a:xfrm>
          <a:prstGeom prst="rect">
            <a:avLst/>
          </a:prstGeom>
        </p:spPr>
      </p:pic>
      <p:sp>
        <p:nvSpPr>
          <p:cNvPr id="545" name="T"/>
          <p:cNvSpPr txBox="1"/>
          <p:nvPr/>
        </p:nvSpPr>
        <p:spPr>
          <a:xfrm>
            <a:off x="10680000" y="4901944"/>
            <a:ext cx="500000" cy="106146"/>
          </a:xfrm>
          <a:prstGeom prst="rect">
            <a:avLst/>
          </a:prstGeom>
          <a:noFill/>
        </p:spPr>
        <p:txBody>
          <a:bodyPr wrap="none" lIns="0" tIns="0" rIns="0" bIns="0" anchor="ctr"/>
          <a:lstStyle/>
          <a:p>
            <a:pPr algn="r">
              <a:buNone/>
            </a:pPr>
            <a:r>
              <a:rPr lang="id-ID" sz="720" b="1" dirty="0">
                <a:solidFill>
                  <a:srgbClr val="2F6FB5"/>
                </a:solidFill>
                <a:latin typeface="Roboto"/>
                <a:ea typeface="Roboto"/>
                <a:cs typeface="Roboto"/>
              </a:rPr>
              <a:t>2.636</a:t>
            </a:r>
            <a:endParaRPr lang="id-ID" sz="720"/>
          </a:p>
        </p:txBody>
      </p:sp>
      <p:sp>
        <p:nvSpPr>
          <p:cNvPr id="546" name="T"/>
          <p:cNvSpPr txBox="1"/>
          <p:nvPr/>
        </p:nvSpPr>
        <p:spPr>
          <a:xfrm>
            <a:off x="11201600" y="4901944"/>
            <a:ext cx="300000" cy="106146"/>
          </a:xfrm>
          <a:prstGeom prst="rect">
            <a:avLst/>
          </a:prstGeom>
          <a:noFill/>
        </p:spPr>
        <p:txBody>
          <a:bodyPr wrap="none" lIns="0" tIns="0" rIns="0" bIns="0" anchor="ctr"/>
          <a:lstStyle/>
          <a:p>
            <a:pPr algn="l">
              <a:buNone/>
            </a:pPr>
            <a:r>
              <a:rPr lang="id-ID" sz="720" b="1" dirty="0">
                <a:solidFill>
                  <a:srgbClr val="2F6FB5"/>
                </a:solidFill>
                <a:latin typeface="Roboto"/>
                <a:ea typeface="Roboto"/>
                <a:cs typeface="Roboto"/>
              </a:rPr>
              <a:t>KK</a:t>
            </a:r>
            <a:endParaRPr lang="id-ID" sz="720"/>
          </a:p>
        </p:txBody>
      </p:sp>
      <p:cxnSp>
        <p:nvCxnSpPr>
          <p:cNvPr id="547" name="L"/>
          <p:cNvCxnSpPr/>
          <p:nvPr/>
        </p:nvCxnSpPr>
        <p:spPr>
          <a:xfrm>
            <a:off x="8668512" y="5021359"/>
            <a:ext cx="2809951" cy="0"/>
          </a:xfrm>
          <a:prstGeom prst="line">
            <a:avLst/>
          </a:prstGeom>
          <a:ln w="9525">
            <a:solidFill>
              <a:srgbClr val="F1F2F4"/>
            </a:solidFill>
          </a:ln>
        </p:spPr>
      </p:cxnSp>
      <p:sp>
        <p:nvSpPr>
          <p:cNvPr id="548" name="K"/>
          <p:cNvSpPr/>
          <p:nvPr/>
        </p:nvSpPr>
        <p:spPr>
          <a:xfrm>
            <a:off x="8668512" y="5034627"/>
            <a:ext cx="106146" cy="106146"/>
          </a:xfrm>
          <a:prstGeom prst="ellipse">
            <a:avLst/>
          </a:prstGeom>
          <a:solidFill>
            <a:srgbClr val="0E7490"/>
          </a:solidFill>
          <a:ln>
            <a:noFill/>
          </a:ln>
        </p:spPr>
      </p:sp>
      <p:pic>
        <p:nvPicPr>
          <p:cNvPr id="549" name="G"/>
          <p:cNvPicPr>
            <a:picLocks noChangeAspect="1"/>
          </p:cNvPicPr>
          <p:nvPr/>
        </p:nvPicPr>
        <p:blipFill>
          <a:blip r:embed="rIdM16"/>
          <a:stretch>
            <a:fillRect/>
          </a:stretch>
        </p:blipFill>
        <p:spPr>
          <a:xfrm>
            <a:off x="8688679" y="5054794"/>
            <a:ext cx="65810" cy="65810"/>
          </a:xfrm>
          <a:prstGeom prst="rect">
            <a:avLst/>
          </a:prstGeom>
        </p:spPr>
      </p:pic>
      <p:sp>
        <p:nvSpPr>
          <p:cNvPr id="550" name="T"/>
          <p:cNvSpPr txBox="1"/>
          <p:nvPr/>
        </p:nvSpPr>
        <p:spPr>
          <a:xfrm>
            <a:off x="8869680" y="5005404"/>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Selatan</a:t>
            </a:r>
            <a:r>
              <a:rPr lang="id-ID" sz="760" dirty="0">
                <a:solidFill>
                  <a:srgbClr val="2E3440"/>
                </a:solidFill>
                <a:latin typeface="Roboto"/>
                <a:ea typeface="Roboto"/>
                <a:cs typeface="Roboto"/>
              </a:rPr>
              <a:t>, Banjar</a:t>
            </a:r>
            <a:endParaRPr lang="id-ID" sz="760"/>
          </a:p>
        </p:txBody>
      </p:sp>
      <p:sp>
        <p:nvSpPr>
          <p:cNvPr id="551" name="K"/>
          <p:cNvSpPr/>
          <p:nvPr/>
        </p:nvSpPr>
        <p:spPr>
          <a:xfrm>
            <a:off x="10470000" y="5034627"/>
            <a:ext cx="1070000" cy="106146"/>
          </a:xfrm>
          <a:prstGeom prst="roundRect">
            <a:avLst>
              <a:gd name="adj" fmla="val 50000"/>
            </a:avLst>
          </a:prstGeom>
          <a:solidFill>
            <a:srgbClr val="D5EEF2"/>
          </a:solidFill>
          <a:ln>
            <a:noFill/>
          </a:ln>
        </p:spPr>
      </p:sp>
      <p:pic>
        <p:nvPicPr>
          <p:cNvPr id="552" name="G"/>
          <p:cNvPicPr>
            <a:picLocks noChangeAspect="1"/>
          </p:cNvPicPr>
          <p:nvPr/>
        </p:nvPicPr>
        <p:blipFill>
          <a:blip r:embed="rIdM15"/>
          <a:stretch>
            <a:fillRect/>
          </a:stretch>
        </p:blipFill>
        <p:spPr>
          <a:xfrm>
            <a:off x="10520000" y="5051610"/>
            <a:ext cx="72179" cy="72179"/>
          </a:xfrm>
          <a:prstGeom prst="rect">
            <a:avLst/>
          </a:prstGeom>
        </p:spPr>
      </p:pic>
      <p:sp>
        <p:nvSpPr>
          <p:cNvPr id="553" name="T"/>
          <p:cNvSpPr txBox="1"/>
          <p:nvPr/>
        </p:nvSpPr>
        <p:spPr>
          <a:xfrm>
            <a:off x="10680000" y="5034627"/>
            <a:ext cx="500000" cy="106146"/>
          </a:xfrm>
          <a:prstGeom prst="rect">
            <a:avLst/>
          </a:prstGeom>
          <a:noFill/>
        </p:spPr>
        <p:txBody>
          <a:bodyPr wrap="none" lIns="0" tIns="0" rIns="0" bIns="0" anchor="ctr"/>
          <a:lstStyle/>
          <a:p>
            <a:pPr algn="r">
              <a:buNone/>
            </a:pPr>
            <a:r>
              <a:rPr lang="id-ID" sz="720" b="1" dirty="0">
                <a:solidFill>
                  <a:srgbClr val="0E7490"/>
                </a:solidFill>
                <a:latin typeface="Roboto"/>
                <a:ea typeface="Roboto"/>
                <a:cs typeface="Roboto"/>
              </a:rPr>
              <a:t>45</a:t>
            </a:r>
            <a:endParaRPr lang="id-ID" sz="720"/>
          </a:p>
        </p:txBody>
      </p:sp>
      <p:sp>
        <p:nvSpPr>
          <p:cNvPr id="554" name="T"/>
          <p:cNvSpPr txBox="1"/>
          <p:nvPr/>
        </p:nvSpPr>
        <p:spPr>
          <a:xfrm>
            <a:off x="11201600" y="5034627"/>
            <a:ext cx="300000" cy="106146"/>
          </a:xfrm>
          <a:prstGeom prst="rect">
            <a:avLst/>
          </a:prstGeom>
          <a:noFill/>
        </p:spPr>
        <p:txBody>
          <a:bodyPr wrap="none" lIns="0" tIns="0" rIns="0" bIns="0" anchor="ctr"/>
          <a:lstStyle/>
          <a:p>
            <a:pPr algn="l">
              <a:buNone/>
            </a:pPr>
            <a:r>
              <a:rPr lang="id-ID" sz="720" b="1" dirty="0">
                <a:solidFill>
                  <a:srgbClr val="0E7490"/>
                </a:solidFill>
                <a:latin typeface="Roboto"/>
                <a:ea typeface="Roboto"/>
                <a:cs typeface="Roboto"/>
              </a:rPr>
              <a:t>KK</a:t>
            </a:r>
            <a:endParaRPr lang="id-ID" sz="720"/>
          </a:p>
        </p:txBody>
      </p:sp>
      <p:cxnSp>
        <p:nvCxnSpPr>
          <p:cNvPr id="555" name="L"/>
          <p:cNvCxnSpPr/>
          <p:nvPr/>
        </p:nvCxnSpPr>
        <p:spPr>
          <a:xfrm>
            <a:off x="8668512" y="5154042"/>
            <a:ext cx="2809951" cy="0"/>
          </a:xfrm>
          <a:prstGeom prst="line">
            <a:avLst/>
          </a:prstGeom>
          <a:ln w="9525">
            <a:solidFill>
              <a:srgbClr val="F1F2F4"/>
            </a:solidFill>
          </a:ln>
        </p:spPr>
      </p:cxnSp>
      <p:sp>
        <p:nvSpPr>
          <p:cNvPr id="556" name="K"/>
          <p:cNvSpPr/>
          <p:nvPr/>
        </p:nvSpPr>
        <p:spPr>
          <a:xfrm>
            <a:off x="8668512" y="5167310"/>
            <a:ext cx="106146" cy="106146"/>
          </a:xfrm>
          <a:prstGeom prst="ellipse">
            <a:avLst/>
          </a:prstGeom>
          <a:solidFill>
            <a:srgbClr val="5B7A99"/>
          </a:solidFill>
          <a:ln>
            <a:noFill/>
          </a:ln>
        </p:spPr>
      </p:sp>
      <p:pic>
        <p:nvPicPr>
          <p:cNvPr id="557" name="G"/>
          <p:cNvPicPr>
            <a:picLocks noChangeAspect="1"/>
          </p:cNvPicPr>
          <p:nvPr/>
        </p:nvPicPr>
        <p:blipFill>
          <a:blip r:embed="rIdM17"/>
          <a:stretch>
            <a:fillRect/>
          </a:stretch>
        </p:blipFill>
        <p:spPr>
          <a:xfrm>
            <a:off x="8688679" y="5187477"/>
            <a:ext cx="65810" cy="65810"/>
          </a:xfrm>
          <a:prstGeom prst="rect">
            <a:avLst/>
          </a:prstGeom>
        </p:spPr>
      </p:pic>
      <p:sp>
        <p:nvSpPr>
          <p:cNvPr id="558" name="T"/>
          <p:cNvSpPr txBox="1"/>
          <p:nvPr/>
        </p:nvSpPr>
        <p:spPr>
          <a:xfrm>
            <a:off x="8869680" y="5138087"/>
            <a:ext cx="1758391" cy="164592"/>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Nusa Tenggara Timur</a:t>
            </a:r>
            <a:endParaRPr lang="id-ID" sz="760"/>
          </a:p>
        </p:txBody>
      </p:sp>
      <p:sp>
        <p:nvSpPr>
          <p:cNvPr id="559" name="K"/>
          <p:cNvSpPr/>
          <p:nvPr/>
        </p:nvSpPr>
        <p:spPr>
          <a:xfrm>
            <a:off x="10470000" y="5167310"/>
            <a:ext cx="1070000" cy="106146"/>
          </a:xfrm>
          <a:prstGeom prst="roundRect">
            <a:avLst>
              <a:gd name="adj" fmla="val 50000"/>
            </a:avLst>
          </a:prstGeom>
          <a:solidFill>
            <a:srgbClr val="E3EAF1"/>
          </a:solidFill>
          <a:ln>
            <a:noFill/>
          </a:ln>
        </p:spPr>
      </p:sp>
      <p:pic>
        <p:nvPicPr>
          <p:cNvPr id="560" name="G"/>
          <p:cNvPicPr>
            <a:picLocks noChangeAspect="1"/>
          </p:cNvPicPr>
          <p:nvPr/>
        </p:nvPicPr>
        <p:blipFill>
          <a:blip r:embed="rIdM15"/>
          <a:stretch>
            <a:fillRect/>
          </a:stretch>
        </p:blipFill>
        <p:spPr>
          <a:xfrm>
            <a:off x="10520000" y="5184293"/>
            <a:ext cx="72179" cy="72179"/>
          </a:xfrm>
          <a:prstGeom prst="rect">
            <a:avLst/>
          </a:prstGeom>
        </p:spPr>
      </p:pic>
      <p:sp>
        <p:nvSpPr>
          <p:cNvPr id="561" name="T"/>
          <p:cNvSpPr txBox="1"/>
          <p:nvPr/>
        </p:nvSpPr>
        <p:spPr>
          <a:xfrm>
            <a:off x="10680000" y="5167310"/>
            <a:ext cx="500000" cy="106146"/>
          </a:xfrm>
          <a:prstGeom prst="rect">
            <a:avLst/>
          </a:prstGeom>
          <a:noFill/>
        </p:spPr>
        <p:txBody>
          <a:bodyPr wrap="none" lIns="0" tIns="0" rIns="0" bIns="0" anchor="ctr"/>
          <a:lstStyle/>
          <a:p>
            <a:pPr algn="r">
              <a:buNone/>
            </a:pPr>
            <a:r>
              <a:rPr lang="id-ID" sz="720" b="1" dirty="0">
                <a:solidFill>
                  <a:srgbClr val="5B7A99"/>
                </a:solidFill>
                <a:latin typeface="Roboto"/>
                <a:ea typeface="Roboto"/>
                <a:cs typeface="Roboto"/>
              </a:rPr>
              <a:t>17.707</a:t>
            </a:r>
            <a:endParaRPr lang="id-ID" sz="720"/>
          </a:p>
        </p:txBody>
      </p:sp>
      <p:sp>
        <p:nvSpPr>
          <p:cNvPr id="562" name="T"/>
          <p:cNvSpPr txBox="1"/>
          <p:nvPr/>
        </p:nvSpPr>
        <p:spPr>
          <a:xfrm>
            <a:off x="11201600" y="5167310"/>
            <a:ext cx="300000" cy="106146"/>
          </a:xfrm>
          <a:prstGeom prst="rect">
            <a:avLst/>
          </a:prstGeom>
          <a:noFill/>
        </p:spPr>
        <p:txBody>
          <a:bodyPr wrap="none" lIns="0" tIns="0" rIns="0" bIns="0" anchor="ctr"/>
          <a:lstStyle/>
          <a:p>
            <a:pPr algn="l">
              <a:buNone/>
            </a:pPr>
            <a:r>
              <a:rPr lang="id-ID" sz="720" b="1" dirty="0">
                <a:solidFill>
                  <a:srgbClr val="5B7A99"/>
                </a:solidFill>
                <a:latin typeface="Roboto"/>
                <a:ea typeface="Roboto"/>
                <a:cs typeface="Roboto"/>
              </a:rPr>
              <a:t>KK</a:t>
            </a:r>
            <a:endParaRPr lang="id-ID" sz="720"/>
          </a:p>
        </p:txBody>
      </p:sp>
      <p:sp>
        <p:nvSpPr>
          <p:cNvPr id="563" name="K"/>
          <p:cNvSpPr/>
          <p:nvPr/>
        </p:nvSpPr>
        <p:spPr>
          <a:xfrm>
            <a:off x="548640" y="5468112"/>
            <a:ext cx="11094415" cy="822960"/>
          </a:xfrm>
          <a:prstGeom prst="roundRect">
            <a:avLst>
              <a:gd name="adj" fmla="val 8889"/>
            </a:avLst>
          </a:prstGeom>
          <a:solidFill>
            <a:srgbClr val="FDF4EC"/>
          </a:solidFill>
          <a:ln>
            <a:noFill/>
          </a:ln>
        </p:spPr>
      </p:sp>
      <p:sp>
        <p:nvSpPr>
          <p:cNvPr id="564" name="T"/>
          <p:cNvSpPr txBox="1"/>
          <p:nvPr/>
        </p:nvSpPr>
        <p:spPr>
          <a:xfrm>
            <a:off x="694944" y="5541264"/>
            <a:ext cx="3657600" cy="182880"/>
          </a:xfrm>
          <a:prstGeom prst="rect">
            <a:avLst/>
          </a:prstGeom>
          <a:noFill/>
        </p:spPr>
        <p:txBody>
          <a:bodyPr wrap="square" lIns="0" tIns="0" rIns="0" bIns="0" anchor="t"/>
          <a:lstStyle/>
          <a:p>
            <a:pPr algn="l">
              <a:buNone/>
            </a:pPr>
            <a:r>
              <a:rPr lang="id-ID" sz="750" b="1" spc="100" dirty="0">
                <a:solidFill>
                  <a:srgbClr val="D9600B"/>
                </a:solidFill>
                <a:latin typeface="Roboto"/>
                <a:ea typeface="Roboto"/>
                <a:cs typeface="Roboto"/>
              </a:rPr>
              <a:t>YANG AKAN DILAKUKAN BNPB</a:t>
            </a:r>
            <a:endParaRPr lang="id-ID" sz="750"/>
          </a:p>
        </p:txBody>
      </p:sp>
      <p:sp>
        <p:nvSpPr>
          <p:cNvPr id="565" name="K"/>
          <p:cNvSpPr/>
          <p:nvPr/>
        </p:nvSpPr>
        <p:spPr>
          <a:xfrm>
            <a:off x="694944" y="5806440"/>
            <a:ext cx="365760" cy="365760"/>
          </a:xfrm>
          <a:prstGeom prst="ellipse">
            <a:avLst/>
          </a:prstGeom>
          <a:solidFill>
            <a:srgbClr val="D9600B"/>
          </a:solidFill>
          <a:ln>
            <a:noFill/>
          </a:ln>
        </p:spPr>
      </p:sp>
      <p:pic>
        <p:nvPicPr>
          <p:cNvPr id="566" name="G"/>
          <p:cNvPicPr>
            <a:picLocks noChangeAspect="1"/>
          </p:cNvPicPr>
          <p:nvPr/>
        </p:nvPicPr>
        <p:blipFill>
          <a:blip r:embed="rIdM18"/>
          <a:stretch>
            <a:fillRect/>
          </a:stretch>
        </p:blipFill>
        <p:spPr>
          <a:xfrm>
            <a:off x="777240" y="5888736"/>
            <a:ext cx="201168" cy="201168"/>
          </a:xfrm>
          <a:prstGeom prst="rect">
            <a:avLst/>
          </a:prstGeom>
        </p:spPr>
      </p:pic>
      <p:sp>
        <p:nvSpPr>
          <p:cNvPr id="567" name="T"/>
          <p:cNvSpPr txBox="1"/>
          <p:nvPr/>
        </p:nvSpPr>
        <p:spPr>
          <a:xfrm>
            <a:off x="1152144"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Pemadaman prioritas</a:t>
            </a:r>
            <a:endParaRPr lang="id-ID" sz="950"/>
          </a:p>
        </p:txBody>
      </p:sp>
      <p:sp>
        <p:nvSpPr>
          <p:cNvPr id="568" name="T"/>
          <p:cNvSpPr txBox="1"/>
          <p:nvPr/>
        </p:nvSpPr>
        <p:spPr>
          <a:xfrm>
            <a:off x="1152144"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Papua Selatan ±549 ha dan Kal. Tengah ±467 ha belum padam</a:t>
            </a:r>
            <a:endParaRPr lang="id-ID" sz="820"/>
          </a:p>
          <a:p>
            <a:pPr algn="l">
              <a:buNone/>
            </a:pPr>
            <a:r>
              <a:rPr lang="id-ID" sz="820" dirty="0">
                <a:solidFill>
                  <a:srgbClr val="2E3440"/>
                </a:solidFill>
                <a:latin typeface="Roboto"/>
                <a:ea typeface="Roboto"/>
                <a:cs typeface="Roboto"/>
              </a:rPr>
              <a:t>•  Patroli, pendinginan: Sulteng, Kaltim, Sultra</a:t>
            </a:r>
            <a:endParaRPr lang="id-ID" sz="820"/>
          </a:p>
        </p:txBody>
      </p:sp>
      <p:cxnSp>
        <p:nvCxnSpPr>
          <p:cNvPr id="569" name="L"/>
          <p:cNvCxnSpPr/>
          <p:nvPr/>
        </p:nvCxnSpPr>
        <p:spPr>
          <a:xfrm>
            <a:off x="4222394" y="5797296"/>
            <a:ext cx="0" cy="457200"/>
          </a:xfrm>
          <a:prstGeom prst="line">
            <a:avLst/>
          </a:prstGeom>
          <a:ln w="9525">
            <a:solidFill>
              <a:srgbClr val="F2D3BA"/>
            </a:solidFill>
          </a:ln>
        </p:spPr>
      </p:cxnSp>
      <p:sp>
        <p:nvSpPr>
          <p:cNvPr id="570" name="K"/>
          <p:cNvSpPr/>
          <p:nvPr/>
        </p:nvSpPr>
        <p:spPr>
          <a:xfrm>
            <a:off x="4295546" y="5806440"/>
            <a:ext cx="365760" cy="365760"/>
          </a:xfrm>
          <a:prstGeom prst="ellipse">
            <a:avLst/>
          </a:prstGeom>
          <a:solidFill>
            <a:srgbClr val="D9600B"/>
          </a:solidFill>
          <a:ln>
            <a:noFill/>
          </a:ln>
        </p:spPr>
      </p:sp>
      <p:pic>
        <p:nvPicPr>
          <p:cNvPr id="571" name="G"/>
          <p:cNvPicPr>
            <a:picLocks noChangeAspect="1"/>
          </p:cNvPicPr>
          <p:nvPr/>
        </p:nvPicPr>
        <p:blipFill>
          <a:blip r:embed="rIdM19"/>
          <a:stretch>
            <a:fillRect/>
          </a:stretch>
        </p:blipFill>
        <p:spPr>
          <a:xfrm>
            <a:off x="4377842" y="5888736"/>
            <a:ext cx="201168" cy="201168"/>
          </a:xfrm>
          <a:prstGeom prst="rect">
            <a:avLst/>
          </a:prstGeom>
        </p:spPr>
      </p:pic>
      <p:sp>
        <p:nvSpPr>
          <p:cNvPr id="572" name="T"/>
          <p:cNvSpPr txBox="1"/>
          <p:nvPr/>
        </p:nvSpPr>
        <p:spPr>
          <a:xfrm>
            <a:off x="4752746"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Keselamatan warga</a:t>
            </a:r>
            <a:endParaRPr lang="id-ID" sz="950"/>
          </a:p>
        </p:txBody>
      </p:sp>
      <p:sp>
        <p:nvSpPr>
          <p:cNvPr id="573" name="T"/>
          <p:cNvSpPr txBox="1"/>
          <p:nvPr/>
        </p:nvSpPr>
        <p:spPr>
          <a:xfrm>
            <a:off x="4752746"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Masker dan layanan ISPA: Pekanbaru, Pangkalan Bun</a:t>
            </a:r>
            <a:endParaRPr lang="id-ID" sz="820"/>
          </a:p>
          <a:p>
            <a:pPr algn="l">
              <a:buNone/>
            </a:pPr>
            <a:r>
              <a:rPr lang="id-ID" sz="820" dirty="0">
                <a:solidFill>
                  <a:srgbClr val="2E3440"/>
                </a:solidFill>
                <a:latin typeface="Roboto"/>
                <a:ea typeface="Roboto"/>
                <a:cs typeface="Roboto"/>
              </a:rPr>
              <a:t>•  Pengungsi: gempa NTT ±27.307, banjir Aceh ±173 jiwa</a:t>
            </a:r>
            <a:endParaRPr lang="id-ID" sz="820"/>
          </a:p>
        </p:txBody>
      </p:sp>
      <p:cxnSp>
        <p:nvCxnSpPr>
          <p:cNvPr id="574" name="L"/>
          <p:cNvCxnSpPr/>
          <p:nvPr/>
        </p:nvCxnSpPr>
        <p:spPr>
          <a:xfrm>
            <a:off x="7822996" y="5797296"/>
            <a:ext cx="0" cy="457200"/>
          </a:xfrm>
          <a:prstGeom prst="line">
            <a:avLst/>
          </a:prstGeom>
          <a:ln w="9525">
            <a:solidFill>
              <a:srgbClr val="F2D3BA"/>
            </a:solidFill>
          </a:ln>
        </p:spPr>
      </p:cxnSp>
      <p:sp>
        <p:nvSpPr>
          <p:cNvPr id="575" name="K"/>
          <p:cNvSpPr/>
          <p:nvPr/>
        </p:nvSpPr>
        <p:spPr>
          <a:xfrm>
            <a:off x="7896148" y="5806440"/>
            <a:ext cx="365760" cy="365760"/>
          </a:xfrm>
          <a:prstGeom prst="ellipse">
            <a:avLst/>
          </a:prstGeom>
          <a:solidFill>
            <a:srgbClr val="D9600B"/>
          </a:solidFill>
          <a:ln>
            <a:noFill/>
          </a:ln>
        </p:spPr>
      </p:sp>
      <p:pic>
        <p:nvPicPr>
          <p:cNvPr id="576" name="G"/>
          <p:cNvPicPr>
            <a:picLocks noChangeAspect="1"/>
          </p:cNvPicPr>
          <p:nvPr/>
        </p:nvPicPr>
        <p:blipFill>
          <a:blip r:embed="rIdM2"/>
          <a:stretch>
            <a:fillRect/>
          </a:stretch>
        </p:blipFill>
        <p:spPr>
          <a:xfrm>
            <a:off x="7978444" y="5888736"/>
            <a:ext cx="201168" cy="201168"/>
          </a:xfrm>
          <a:prstGeom prst="rect">
            <a:avLst/>
          </a:prstGeom>
        </p:spPr>
      </p:pic>
      <p:sp>
        <p:nvSpPr>
          <p:cNvPr id="577" name="T"/>
          <p:cNvSpPr txBox="1"/>
          <p:nvPr/>
        </p:nvSpPr>
        <p:spPr>
          <a:xfrm>
            <a:off x="8353348" y="5733288"/>
            <a:ext cx="3014472" cy="201168"/>
          </a:xfrm>
          <a:prstGeom prst="rect">
            <a:avLst/>
          </a:prstGeom>
          <a:noFill/>
        </p:spPr>
        <p:txBody>
          <a:bodyPr wrap="square" lIns="0" tIns="0" rIns="0" bIns="0" anchor="t"/>
          <a:lstStyle/>
          <a:p>
            <a:pPr algn="l">
              <a:buNone/>
            </a:pPr>
            <a:r>
              <a:rPr lang="id-ID" sz="950" b="1" dirty="0">
                <a:solidFill>
                  <a:srgbClr val="1A1A1A"/>
                </a:solidFill>
                <a:latin typeface="Roboto"/>
                <a:ea typeface="Roboto"/>
                <a:cs typeface="Roboto"/>
              </a:rPr>
              <a:t>Pemulihan</a:t>
            </a:r>
            <a:endParaRPr lang="id-ID" sz="950"/>
          </a:p>
        </p:txBody>
      </p:sp>
      <p:sp>
        <p:nvSpPr>
          <p:cNvPr id="578" name="T"/>
          <p:cNvSpPr txBox="1"/>
          <p:nvPr/>
        </p:nvSpPr>
        <p:spPr>
          <a:xfrm>
            <a:off x="8353348" y="5952744"/>
            <a:ext cx="3014472" cy="320040"/>
          </a:xfrm>
          <a:prstGeom prst="rect">
            <a:avLst/>
          </a:prstGeom>
          <a:noFill/>
        </p:spPr>
        <p:txBody>
          <a:bodyPr wrap="none" lIns="0" tIns="0" rIns="0" bIns="0" anchor="t"/>
          <a:lstStyle/>
          <a:p>
            <a:pPr algn="l">
              <a:buNone/>
            </a:pPr>
            <a:r>
              <a:rPr lang="id-ID" sz="820" dirty="0">
                <a:solidFill>
                  <a:srgbClr val="2E3440"/>
                </a:solidFill>
                <a:latin typeface="Roboto"/>
                <a:ea typeface="Roboto"/>
                <a:cs typeface="Roboto"/>
              </a:rPr>
              <a:t>•  Banjir Aceh: pendampingan berlanjut</a:t>
            </a:r>
            <a:endParaRPr lang="id-ID" sz="82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1"/>
          <p:cNvSpPr/>
          <p:nvPr/>
        </p:nvSpPr>
        <p:spPr>
          <a:xfrm>
            <a:off x="548640" y="1207008"/>
            <a:ext cx="11094415" cy="0"/>
          </a:xfrm>
          <a:prstGeom prst="line">
            <a:avLst/>
          </a:prstGeom>
          <a:noFill/>
          <a:ln w="9525">
            <a:solidFill>
              <a:srgbClr val="1A1A1A"/>
            </a:solidFill>
            <a:prstDash val="solid"/>
          </a:ln>
        </p:spPr>
      </p:sp>
      <p:sp>
        <p:nvSpPr>
          <p:cNvPr id="4" name="Shape 2"/>
          <p:cNvSpPr/>
          <p:nvPr/>
        </p:nvSpPr>
        <p:spPr>
          <a:xfrm>
            <a:off x="548640" y="6446520"/>
            <a:ext cx="11094415" cy="0"/>
          </a:xfrm>
          <a:prstGeom prst="line">
            <a:avLst/>
          </a:prstGeom>
          <a:noFill/>
          <a:ln w="9525">
            <a:solidFill>
              <a:srgbClr val="1A1A1A"/>
            </a:solidFill>
            <a:prstDash val="solid"/>
          </a:ln>
        </p:spPr>
      </p:sp>
      <p:pic>
        <p:nvPicPr>
          <p:cNvPr id="5" name="Image 0" descr="preencoded.png">    </p:cNvPr>
          <p:cNvPicPr>
            <a:picLocks noChangeAspect="1"/>
          </p:cNvPicPr>
          <p:nvPr/>
        </p:nvPicPr>
        <p:blipFill>
          <a:blip r:embed="rId1"/>
          <a:stretch>
            <a:fillRect/>
          </a:stretch>
        </p:blipFill>
        <p:spPr>
          <a:xfrm>
            <a:off x="11295583" y="365760"/>
            <a:ext cx="347472" cy="438912"/>
          </a:xfrm>
          <a:prstGeom prst="rect">
            <a:avLst/>
          </a:prstGeom>
        </p:spPr>
      </p:pic>
      <p:sp>
        <p:nvSpPr>
          <p:cNvPr id="6" name="Text 3"/>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7" name="Text 4"/>
          <p:cNvSpPr txBox="1"/>
          <p:nvPr/>
        </p:nvSpPr>
        <p:spPr>
          <a:xfrm>
            <a:off x="10728655" y="6510528"/>
            <a:ext cx="914400" cy="201168"/>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3</a:t>
            </a:r>
            <a:endParaRPr lang="en-US" sz="850" dirty="0"/>
          </a:p>
        </p:txBody>
      </p:sp>
      <p:sp>
        <p:nvSpPr>
          <p:cNvPr id="582" name="T"/>
          <p:cNvSpPr txBox="1"/>
          <p:nvPr/>
        </p:nvSpPr>
        <p:spPr>
          <a:xfrm>
            <a:off x="548640" y="292608"/>
            <a:ext cx="10454335" cy="822960"/>
          </a:xfrm>
          <a:prstGeom prst="rect">
            <a:avLst/>
          </a:prstGeom>
          <a:noFill/>
        </p:spPr>
        <p:txBody>
          <a:bodyPr wrap="square" lIns="0" tIns="0" rIns="0" bIns="0" anchor="b"/>
          <a:lstStyle/>
          <a:p>
            <a:pPr algn="l">
              <a:buNone/>
            </a:pPr>
            <a:r>
              <a:rPr lang="id-ID" sz="2200" b="1" dirty="0">
                <a:solidFill>
                  <a:srgbClr val="1A1A1A"/>
                </a:solidFill>
                <a:latin typeface="Roboto"/>
                <a:ea typeface="Roboto"/>
                <a:cs typeface="Roboto"/>
              </a:rPr>
              <a:t>Kejadian baru: </a:t>
            </a:r>
            <a:r>
              <a:rPr lang="id-ID" sz="2200" b="1" dirty="0">
                <a:solidFill>
                  <a:srgbClr val="D9600B"/>
                </a:solidFill>
                <a:latin typeface="Roboto"/>
                <a:ea typeface="Roboto"/>
                <a:cs typeface="Roboto"/>
              </a:rPr>
              <a:t>3</a:t>
            </a:r>
            <a:r>
              <a:rPr lang="id-ID" sz="2200" b="1" dirty="0">
                <a:solidFill>
                  <a:srgbClr val="1A1A1A"/>
                </a:solidFill>
                <a:latin typeface="Roboto"/>
                <a:ea typeface="Roboto"/>
                <a:cs typeface="Roboto"/>
              </a:rPr>
              <a:t> dari </a:t>
            </a:r>
            <a:r>
              <a:rPr lang="id-ID" sz="2200" b="1" dirty="0">
                <a:solidFill>
                  <a:srgbClr val="D9600B"/>
                </a:solidFill>
                <a:latin typeface="Roboto"/>
                <a:ea typeface="Roboto"/>
                <a:cs typeface="Roboto"/>
              </a:rPr>
              <a:t>25</a:t>
            </a:r>
            <a:r>
              <a:rPr lang="id-ID" sz="2200" b="1" dirty="0">
                <a:solidFill>
                  <a:srgbClr val="1A1A1A"/>
                </a:solidFill>
                <a:latin typeface="Roboto"/>
                <a:ea typeface="Roboto"/>
                <a:cs typeface="Roboto"/>
              </a:rPr>
              <a:t> kejadian menonjol</a:t>
            </a:r>
            <a:r>
              <a:rPr lang="id-ID" sz="2200" b="1" dirty="0">
                <a:solidFill>
                  <a:srgbClr val="1A1A1A"/>
                </a:solidFill>
                <a:latin typeface="Roboto"/>
                <a:ea typeface="Roboto"/>
                <a:cs typeface="Roboto"/>
              </a:rPr>
              <a:t> (2 karhutla dan 1 banjir)</a:t>
            </a:r>
            <a:r>
              <a:rPr lang="id-ID" sz="2200" b="1" dirty="0">
                <a:solidFill>
                  <a:srgbClr val="1A1A1A"/>
                </a:solidFill>
                <a:latin typeface="Roboto"/>
                <a:ea typeface="Roboto"/>
                <a:cs typeface="Roboto"/>
              </a:rPr>
              <a:t>; </a:t>
            </a:r>
            <a:r>
              <a:rPr lang="id-ID" sz="2200" b="1" dirty="0">
                <a:solidFill>
                  <a:srgbClr val="D9600B"/>
                </a:solidFill>
                <a:latin typeface="Roboto"/>
                <a:ea typeface="Roboto"/>
                <a:cs typeface="Roboto"/>
              </a:rPr>
              <a:t>3 gunung api</a:t>
            </a:r>
            <a:r>
              <a:rPr lang="id-ID" sz="2200" b="1" dirty="0">
                <a:solidFill>
                  <a:srgbClr val="1A1A1A"/>
                </a:solidFill>
                <a:latin typeface="Roboto"/>
                <a:ea typeface="Roboto"/>
                <a:cs typeface="Roboto"/>
              </a:rPr>
              <a:t> berstatus Siaga</a:t>
            </a:r>
            <a:endParaRPr lang="id-ID" sz="2200"/>
          </a:p>
        </p:txBody>
      </p:sp>
      <p:sp>
        <p:nvSpPr>
          <p:cNvPr id="318" name="K"/>
          <p:cNvSpPr/>
          <p:nvPr/>
        </p:nvSpPr>
        <p:spPr>
          <a:xfrm>
            <a:off x="548640" y="1325880"/>
            <a:ext cx="6720840" cy="1666600"/>
          </a:xfrm>
          <a:prstGeom prst="roundRect">
            <a:avLst>
              <a:gd name="adj" fmla="val 6035"/>
            </a:avLst>
          </a:prstGeom>
          <a:solidFill>
            <a:srgbClr val="FFFFFF"/>
          </a:solidFill>
          <a:ln w="9525">
            <a:solidFill>
              <a:srgbClr val="BFC5CC"/>
            </a:solidFill>
          </a:ln>
        </p:spPr>
      </p:sp>
      <p:sp>
        <p:nvSpPr>
          <p:cNvPr id="319" name="K"/>
          <p:cNvSpPr/>
          <p:nvPr/>
        </p:nvSpPr>
        <p:spPr>
          <a:xfrm>
            <a:off x="548640" y="1325880"/>
            <a:ext cx="6720840" cy="457200"/>
          </a:xfrm>
          <a:prstGeom prst="roundRect">
            <a:avLst>
              <a:gd name="adj" fmla="val 16000"/>
            </a:avLst>
          </a:prstGeom>
          <a:solidFill>
            <a:srgbClr val="FBE7D6"/>
          </a:solidFill>
          <a:ln>
            <a:noFill/>
          </a:ln>
        </p:spPr>
      </p:sp>
      <p:sp>
        <p:nvSpPr>
          <p:cNvPr id="320" name="K"/>
          <p:cNvSpPr/>
          <p:nvPr/>
        </p:nvSpPr>
        <p:spPr>
          <a:xfrm>
            <a:off x="548640" y="1600200"/>
            <a:ext cx="6720840" cy="182880"/>
          </a:xfrm>
          <a:prstGeom prst="rect">
            <a:avLst/>
          </a:prstGeom>
          <a:solidFill>
            <a:srgbClr val="FBE7D6"/>
          </a:solidFill>
          <a:ln>
            <a:noFill/>
          </a:ln>
        </p:spPr>
      </p:sp>
      <p:sp>
        <p:nvSpPr>
          <p:cNvPr id="321" name="K"/>
          <p:cNvSpPr/>
          <p:nvPr/>
        </p:nvSpPr>
        <p:spPr>
          <a:xfrm>
            <a:off x="676656" y="1408176"/>
            <a:ext cx="292608" cy="292608"/>
          </a:xfrm>
          <a:prstGeom prst="ellipse">
            <a:avLst/>
          </a:prstGeom>
          <a:solidFill>
            <a:srgbClr val="D9600B"/>
          </a:solidFill>
          <a:ln>
            <a:noFill/>
          </a:ln>
        </p:spPr>
      </p:sp>
      <p:pic>
        <p:nvPicPr>
          <p:cNvPr id="322" name="G"/>
          <p:cNvPicPr>
            <a:picLocks noChangeAspect="1"/>
          </p:cNvPicPr>
          <p:nvPr/>
        </p:nvPicPr>
        <p:blipFill>
          <a:blip r:embed="rIdM6"/>
          <a:stretch>
            <a:fillRect/>
          </a:stretch>
        </p:blipFill>
        <p:spPr>
          <a:xfrm>
            <a:off x="731520" y="1463040"/>
            <a:ext cx="182880" cy="182880"/>
          </a:xfrm>
          <a:prstGeom prst="rect">
            <a:avLst/>
          </a:prstGeom>
        </p:spPr>
      </p:pic>
      <p:sp>
        <p:nvSpPr>
          <p:cNvPr id="323" name="T"/>
          <p:cNvSpPr txBox="1"/>
          <p:nvPr/>
        </p:nvSpPr>
        <p:spPr>
          <a:xfrm>
            <a:off x="1051560" y="1325880"/>
            <a:ext cx="5620840" cy="45720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Karhutla</a:t>
            </a:r>
            <a:endParaRPr lang="id-ID" sz="1100"/>
          </a:p>
        </p:txBody>
      </p:sp>
      <p:sp>
        <p:nvSpPr>
          <p:cNvPr id="324" name="T"/>
          <p:cNvSpPr txBox="1"/>
          <p:nvPr/>
        </p:nvSpPr>
        <p:spPr>
          <a:xfrm>
            <a:off x="6629400" y="1325880"/>
            <a:ext cx="512064" cy="457200"/>
          </a:xfrm>
          <a:prstGeom prst="rect">
            <a:avLst/>
          </a:prstGeom>
          <a:noFill/>
        </p:spPr>
        <p:txBody>
          <a:bodyPr wrap="square" lIns="0" tIns="0" rIns="0" bIns="0" anchor="ctr"/>
          <a:lstStyle/>
          <a:p>
            <a:pPr algn="r">
              <a:buNone/>
            </a:pPr>
            <a:r>
              <a:rPr lang="id-ID" sz="1800" b="1" dirty="0">
                <a:solidFill>
                  <a:srgbClr val="D9600B"/>
                </a:solidFill>
                <a:latin typeface="Roboto"/>
                <a:ea typeface="Roboto"/>
                <a:cs typeface="Roboto"/>
              </a:rPr>
              <a:t>2</a:t>
            </a:r>
            <a:endParaRPr lang="id-ID" sz="1800"/>
          </a:p>
        </p:txBody>
      </p:sp>
      <p:sp>
        <p:nvSpPr>
          <p:cNvPr id="325" name="T"/>
          <p:cNvSpPr txBox="1"/>
          <p:nvPr/>
        </p:nvSpPr>
        <p:spPr>
          <a:xfrm>
            <a:off x="676656" y="1856232"/>
            <a:ext cx="21945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LOKASI</a:t>
            </a:r>
            <a:endParaRPr lang="id-ID" sz="650"/>
          </a:p>
        </p:txBody>
      </p:sp>
      <p:sp>
        <p:nvSpPr>
          <p:cNvPr id="326" name="T"/>
          <p:cNvSpPr txBox="1"/>
          <p:nvPr/>
        </p:nvSpPr>
        <p:spPr>
          <a:xfrm>
            <a:off x="3291840" y="1856232"/>
            <a:ext cx="12801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TERBAKAR 1 JAN–30 OKT</a:t>
            </a:r>
            <a:endParaRPr lang="id-ID" sz="650"/>
          </a:p>
        </p:txBody>
      </p:sp>
      <p:sp>
        <p:nvSpPr>
          <p:cNvPr id="327" name="T"/>
          <p:cNvSpPr txBox="1"/>
          <p:nvPr/>
        </p:nvSpPr>
        <p:spPr>
          <a:xfrm>
            <a:off x="4617720" y="1856232"/>
            <a:ext cx="2523744" cy="164592"/>
          </a:xfrm>
          <a:prstGeom prst="rect">
            <a:avLst/>
          </a:prstGeom>
          <a:noFill/>
        </p:spPr>
        <p:txBody>
          <a:bodyPr wrap="square" lIns="0" tIns="0" rIns="0" bIns="0" anchor="t"/>
          <a:lstStyle/>
          <a:p>
            <a:pPr algn="ctr">
              <a:buNone/>
            </a:pPr>
            <a:r>
              <a:rPr lang="id-ID" sz="700" b="1" spc="60" dirty="0">
                <a:solidFill>
                  <a:srgbClr val="6B7280"/>
                </a:solidFill>
                <a:latin typeface="Roboto"/>
                <a:ea typeface="Roboto"/>
                <a:cs typeface="Roboto"/>
              </a:rPr>
              <a:t>FIRESPOT DAN SISA 30 OKT</a:t>
            </a:r>
            <a:endParaRPr lang="id-ID" sz="650"/>
          </a:p>
        </p:txBody>
      </p:sp>
      <p:cxnSp>
        <p:nvCxnSpPr>
          <p:cNvPr id="328" name="L"/>
          <p:cNvCxnSpPr/>
          <p:nvPr/>
        </p:nvCxnSpPr>
        <p:spPr>
          <a:xfrm>
            <a:off x="676656" y="2039112"/>
            <a:ext cx="6464808" cy="0"/>
          </a:xfrm>
          <a:prstGeom prst="line">
            <a:avLst/>
          </a:prstGeom>
          <a:ln w="9525">
            <a:solidFill>
              <a:srgbClr val="1A1A1A"/>
            </a:solidFill>
          </a:ln>
        </p:spPr>
      </p:cxnSp>
      <p:sp>
        <p:nvSpPr>
          <p:cNvPr id="329" name="K"/>
          <p:cNvSpPr/>
          <p:nvPr/>
        </p:nvSpPr>
        <p:spPr>
          <a:xfrm>
            <a:off x="676656" y="2148528"/>
            <a:ext cx="237744" cy="237744"/>
          </a:xfrm>
          <a:prstGeom prst="ellipse">
            <a:avLst/>
          </a:prstGeom>
          <a:solidFill>
            <a:srgbClr val="051C2C"/>
          </a:solidFill>
          <a:ln>
            <a:noFill/>
          </a:ln>
        </p:spPr>
      </p:sp>
      <p:pic>
        <p:nvPicPr>
          <p:cNvPr id="330" name="G"/>
          <p:cNvPicPr>
            <a:picLocks noChangeAspect="1"/>
          </p:cNvPicPr>
          <p:nvPr/>
        </p:nvPicPr>
        <p:blipFill>
          <a:blip r:embed="rIdM7"/>
          <a:stretch>
            <a:fillRect/>
          </a:stretch>
        </p:blipFill>
        <p:spPr>
          <a:xfrm>
            <a:off x="719449" y="2191321"/>
            <a:ext cx="152156" cy="152156"/>
          </a:xfrm>
          <a:prstGeom prst="rect">
            <a:avLst/>
          </a:prstGeom>
        </p:spPr>
      </p:pic>
      <p:sp>
        <p:nvSpPr>
          <p:cNvPr id="331" name="T"/>
          <p:cNvSpPr txBox="1"/>
          <p:nvPr/>
        </p:nvSpPr>
        <p:spPr>
          <a:xfrm>
            <a:off x="990000" y="2057400"/>
            <a:ext cx="2073240" cy="420000"/>
          </a:xfrm>
          <a:prstGeom prst="rect">
            <a:avLst/>
          </a:prstGeom>
          <a:noFill/>
        </p:spPr>
        <p:txBody>
          <a:bodyPr wrap="none" lIns="0" tIns="0" rIns="0" bIns="0" anchor="ctr"/>
          <a:lstStyle/>
          <a:p>
            <a:pPr algn="l">
              <a:buNone/>
            </a:pPr>
            <a:r>
              <a:rPr lang="id-ID" sz="920" b="1" dirty="0">
                <a:solidFill>
                  <a:srgbClr val="1A1A1A"/>
                </a:solidFill>
                <a:latin typeface="Roboto"/>
                <a:ea typeface="Roboto"/>
                <a:cs typeface="Roboto"/>
              </a:rPr>
              <a:t>Sulawesi Selatan</a:t>
            </a:r>
            <a:r>
              <a:rPr lang="id-ID" sz="920" dirty="0">
                <a:solidFill>
                  <a:srgbClr val="1A1A1A"/>
                </a:solidFill>
                <a:latin typeface="Roboto"/>
                <a:ea typeface="Roboto"/>
                <a:cs typeface="Roboto"/>
              </a:rPr>
              <a:t>, Sinjai</a:t>
            </a:r>
            <a:endParaRPr lang="id-ID" sz="920"/>
          </a:p>
        </p:txBody>
      </p:sp>
      <p:sp>
        <p:nvSpPr>
          <p:cNvPr id="332" name="K"/>
          <p:cNvSpPr/>
          <p:nvPr/>
        </p:nvSpPr>
        <p:spPr>
          <a:xfrm>
            <a:off x="4739006" y="2142400"/>
            <a:ext cx="1051800" cy="250000"/>
          </a:xfrm>
          <a:prstGeom prst="roundRect">
            <a:avLst>
              <a:gd name="adj" fmla="val 50000"/>
            </a:avLst>
          </a:prstGeom>
          <a:solidFill>
            <a:srgbClr val="E6EAF0"/>
          </a:solidFill>
          <a:ln>
            <a:noFill/>
          </a:ln>
        </p:spPr>
      </p:sp>
      <p:pic>
        <p:nvPicPr>
          <p:cNvPr id="333" name="G"/>
          <p:cNvPicPr>
            <a:picLocks noChangeAspect="1"/>
          </p:cNvPicPr>
          <p:nvPr/>
        </p:nvPicPr>
        <p:blipFill>
          <a:blip r:embed="rIdM8"/>
          <a:stretch>
            <a:fillRect/>
          </a:stretch>
        </p:blipFill>
        <p:spPr>
          <a:xfrm>
            <a:off x="4826506" y="2192400"/>
            <a:ext cx="150000" cy="150000"/>
          </a:xfrm>
          <a:prstGeom prst="rect">
            <a:avLst/>
          </a:prstGeom>
        </p:spPr>
      </p:pic>
      <p:sp>
        <p:nvSpPr>
          <p:cNvPr id="334" name="T"/>
          <p:cNvSpPr txBox="1"/>
          <p:nvPr/>
        </p:nvSpPr>
        <p:spPr>
          <a:xfrm>
            <a:off x="4976506" y="2142400"/>
            <a:ext cx="814300" cy="250000"/>
          </a:xfrm>
          <a:prstGeom prst="rect">
            <a:avLst/>
          </a:prstGeom>
          <a:noFill/>
        </p:spPr>
        <p:txBody>
          <a:bodyPr wrap="none" lIns="0" tIns="0" rIns="0" bIns="0" anchor="ctr"/>
          <a:lstStyle/>
          <a:p>
            <a:pPr algn="ctr">
              <a:buNone/>
            </a:pPr>
            <a:r>
              <a:rPr lang="id-ID" sz="760" b="1" dirty="0">
                <a:solidFill>
                  <a:srgbClr val="051C2C"/>
                </a:solidFill>
                <a:latin typeface="Roboto"/>
                <a:ea typeface="Roboto"/>
                <a:cs typeface="Roboto"/>
              </a:rPr>
              <a:t>Api sudah padam</a:t>
            </a:r>
            <a:endParaRPr lang="id-ID" sz="760"/>
          </a:p>
        </p:txBody>
      </p:sp>
      <p:sp>
        <p:nvSpPr>
          <p:cNvPr id="335" name="T"/>
          <p:cNvSpPr txBox="1"/>
          <p:nvPr/>
        </p:nvSpPr>
        <p:spPr>
          <a:xfrm>
            <a:off x="3291840" y="2057400"/>
            <a:ext cx="820000" cy="420000"/>
          </a:xfrm>
          <a:prstGeom prst="rect">
            <a:avLst/>
          </a:prstGeom>
          <a:noFill/>
        </p:spPr>
        <p:txBody>
          <a:bodyPr wrap="none" lIns="0" tIns="0" rIns="0" bIns="0" anchor="ctr"/>
          <a:lstStyle/>
          <a:p>
            <a:pPr algn="r">
              <a:buNone/>
            </a:pPr>
            <a:r>
              <a:rPr lang="id-ID" sz="901" b="1" dirty="0">
                <a:solidFill>
                  <a:srgbClr val="1A1A1A"/>
                </a:solidFill>
                <a:latin typeface="Roboto"/>
                <a:ea typeface="Roboto"/>
                <a:cs typeface="Roboto"/>
              </a:rPr>
              <a:t>± 20</a:t>
            </a:r>
            <a:endParaRPr lang="id-ID" sz="901"/>
          </a:p>
        </p:txBody>
      </p:sp>
      <p:sp>
        <p:nvSpPr>
          <p:cNvPr id="336" name="T"/>
          <p:cNvSpPr txBox="1"/>
          <p:nvPr/>
        </p:nvSpPr>
        <p:spPr>
          <a:xfrm>
            <a:off x="4138870" y="2057400"/>
            <a:ext cx="900000" cy="420000"/>
          </a:xfrm>
          <a:prstGeom prst="rect">
            <a:avLst/>
          </a:prstGeom>
          <a:noFill/>
        </p:spPr>
        <p:txBody>
          <a:bodyPr wrap="none" lIns="0" tIns="0" rIns="0" bIns="0" anchor="ctr"/>
          <a:lstStyle/>
          <a:p>
            <a:pPr algn="l">
              <a:buNone/>
            </a:pPr>
            <a:r>
              <a:rPr lang="id-ID" sz="901" b="1" dirty="0">
                <a:solidFill>
                  <a:srgbClr val="1A1A1A"/>
                </a:solidFill>
                <a:latin typeface="Roboto"/>
                <a:ea typeface="Roboto"/>
                <a:cs typeface="Roboto"/>
              </a:rPr>
              <a:t>ha</a:t>
            </a:r>
            <a:endParaRPr lang="id-ID" sz="901"/>
          </a:p>
        </p:txBody>
      </p:sp>
      <p:cxnSp>
        <p:nvCxnSpPr>
          <p:cNvPr id="337" name="L"/>
          <p:cNvCxnSpPr/>
          <p:nvPr/>
        </p:nvCxnSpPr>
        <p:spPr>
          <a:xfrm>
            <a:off x="676656" y="2477400"/>
            <a:ext cx="6464808" cy="0"/>
          </a:xfrm>
          <a:prstGeom prst="line">
            <a:avLst/>
          </a:prstGeom>
          <a:ln w="9525">
            <a:solidFill>
              <a:srgbClr val="EEF0F3"/>
            </a:solidFill>
          </a:ln>
        </p:spPr>
      </p:cxnSp>
      <p:sp>
        <p:nvSpPr>
          <p:cNvPr id="338" name="K"/>
          <p:cNvSpPr/>
          <p:nvPr/>
        </p:nvSpPr>
        <p:spPr>
          <a:xfrm>
            <a:off x="676656" y="2568528"/>
            <a:ext cx="237744" cy="237744"/>
          </a:xfrm>
          <a:prstGeom prst="ellipse">
            <a:avLst/>
          </a:prstGeom>
          <a:solidFill>
            <a:srgbClr val="051C2C"/>
          </a:solidFill>
          <a:ln>
            <a:noFill/>
          </a:ln>
        </p:spPr>
      </p:sp>
      <p:pic>
        <p:nvPicPr>
          <p:cNvPr id="339" name="G"/>
          <p:cNvPicPr>
            <a:picLocks noChangeAspect="1"/>
          </p:cNvPicPr>
          <p:nvPr/>
        </p:nvPicPr>
        <p:blipFill>
          <a:blip r:embed="rIdM7"/>
          <a:stretch>
            <a:fillRect/>
          </a:stretch>
        </p:blipFill>
        <p:spPr>
          <a:xfrm>
            <a:off x="719449" y="2611321"/>
            <a:ext cx="152156" cy="152156"/>
          </a:xfrm>
          <a:prstGeom prst="rect">
            <a:avLst/>
          </a:prstGeom>
        </p:spPr>
      </p:pic>
      <p:sp>
        <p:nvSpPr>
          <p:cNvPr id="340" name="T"/>
          <p:cNvSpPr txBox="1"/>
          <p:nvPr/>
        </p:nvSpPr>
        <p:spPr>
          <a:xfrm>
            <a:off x="990000" y="2477400"/>
            <a:ext cx="2073240" cy="420000"/>
          </a:xfrm>
          <a:prstGeom prst="rect">
            <a:avLst/>
          </a:prstGeom>
          <a:noFill/>
        </p:spPr>
        <p:txBody>
          <a:bodyPr wrap="none" lIns="0" tIns="0" rIns="0" bIns="0" anchor="ctr"/>
          <a:lstStyle/>
          <a:p>
            <a:pPr algn="l">
              <a:buNone/>
            </a:pPr>
            <a:r>
              <a:rPr lang="id-ID" sz="920" b="1" dirty="0">
                <a:solidFill>
                  <a:srgbClr val="1A1A1A"/>
                </a:solidFill>
                <a:latin typeface="Roboto"/>
                <a:ea typeface="Roboto"/>
                <a:cs typeface="Roboto"/>
              </a:rPr>
              <a:t>Maluku</a:t>
            </a:r>
            <a:r>
              <a:rPr lang="id-ID" sz="920" dirty="0">
                <a:solidFill>
                  <a:srgbClr val="1A1A1A"/>
                </a:solidFill>
                <a:latin typeface="Roboto"/>
                <a:ea typeface="Roboto"/>
                <a:cs typeface="Roboto"/>
              </a:rPr>
              <a:t>, Kota Tual</a:t>
            </a:r>
            <a:endParaRPr lang="id-ID" sz="920"/>
          </a:p>
        </p:txBody>
      </p:sp>
      <p:sp>
        <p:nvSpPr>
          <p:cNvPr id="341" name="K"/>
          <p:cNvSpPr/>
          <p:nvPr/>
        </p:nvSpPr>
        <p:spPr>
          <a:xfrm>
            <a:off x="4739006" y="2562400"/>
            <a:ext cx="1051800" cy="250000"/>
          </a:xfrm>
          <a:prstGeom prst="roundRect">
            <a:avLst>
              <a:gd name="adj" fmla="val 50000"/>
            </a:avLst>
          </a:prstGeom>
          <a:solidFill>
            <a:srgbClr val="E6EAF0"/>
          </a:solidFill>
          <a:ln>
            <a:noFill/>
          </a:ln>
        </p:spPr>
      </p:sp>
      <p:pic>
        <p:nvPicPr>
          <p:cNvPr id="342" name="G"/>
          <p:cNvPicPr>
            <a:picLocks noChangeAspect="1"/>
          </p:cNvPicPr>
          <p:nvPr/>
        </p:nvPicPr>
        <p:blipFill>
          <a:blip r:embed="rIdM8"/>
          <a:stretch>
            <a:fillRect/>
          </a:stretch>
        </p:blipFill>
        <p:spPr>
          <a:xfrm>
            <a:off x="4826506" y="2612400"/>
            <a:ext cx="150000" cy="150000"/>
          </a:xfrm>
          <a:prstGeom prst="rect">
            <a:avLst/>
          </a:prstGeom>
        </p:spPr>
      </p:pic>
      <p:sp>
        <p:nvSpPr>
          <p:cNvPr id="343" name="T"/>
          <p:cNvSpPr txBox="1"/>
          <p:nvPr/>
        </p:nvSpPr>
        <p:spPr>
          <a:xfrm>
            <a:off x="4976506" y="2562400"/>
            <a:ext cx="814300" cy="250000"/>
          </a:xfrm>
          <a:prstGeom prst="rect">
            <a:avLst/>
          </a:prstGeom>
          <a:noFill/>
        </p:spPr>
        <p:txBody>
          <a:bodyPr wrap="none" lIns="0" tIns="0" rIns="0" bIns="0" anchor="ctr"/>
          <a:lstStyle/>
          <a:p>
            <a:pPr algn="ctr">
              <a:buNone/>
            </a:pPr>
            <a:r>
              <a:rPr lang="id-ID" sz="760" b="1" dirty="0">
                <a:solidFill>
                  <a:srgbClr val="051C2C"/>
                </a:solidFill>
                <a:latin typeface="Roboto"/>
                <a:ea typeface="Roboto"/>
                <a:cs typeface="Roboto"/>
              </a:rPr>
              <a:t>Api sudah padam</a:t>
            </a:r>
            <a:endParaRPr lang="id-ID" sz="760"/>
          </a:p>
        </p:txBody>
      </p:sp>
      <p:sp>
        <p:nvSpPr>
          <p:cNvPr id="344" name="T"/>
          <p:cNvSpPr txBox="1"/>
          <p:nvPr/>
        </p:nvSpPr>
        <p:spPr>
          <a:xfrm>
            <a:off x="3291840" y="2477400"/>
            <a:ext cx="820000" cy="420000"/>
          </a:xfrm>
          <a:prstGeom prst="rect">
            <a:avLst/>
          </a:prstGeom>
          <a:noFill/>
        </p:spPr>
        <p:txBody>
          <a:bodyPr wrap="none" lIns="0" tIns="0" rIns="0" bIns="0" anchor="ctr"/>
          <a:lstStyle/>
          <a:p>
            <a:pPr algn="r">
              <a:buNone/>
            </a:pPr>
            <a:r>
              <a:rPr lang="id-ID" sz="901" b="1" dirty="0">
                <a:solidFill>
                  <a:srgbClr val="1A1A1A"/>
                </a:solidFill>
                <a:latin typeface="Roboto"/>
                <a:ea typeface="Roboto"/>
                <a:cs typeface="Roboto"/>
              </a:rPr>
              <a:t>± 222</a:t>
            </a:r>
            <a:endParaRPr lang="id-ID" sz="901"/>
          </a:p>
        </p:txBody>
      </p:sp>
      <p:sp>
        <p:nvSpPr>
          <p:cNvPr id="345" name="T"/>
          <p:cNvSpPr txBox="1"/>
          <p:nvPr/>
        </p:nvSpPr>
        <p:spPr>
          <a:xfrm>
            <a:off x="4138870" y="2477400"/>
            <a:ext cx="900000" cy="420000"/>
          </a:xfrm>
          <a:prstGeom prst="rect">
            <a:avLst/>
          </a:prstGeom>
          <a:noFill/>
        </p:spPr>
        <p:txBody>
          <a:bodyPr wrap="none" lIns="0" tIns="0" rIns="0" bIns="0" anchor="ctr"/>
          <a:lstStyle/>
          <a:p>
            <a:pPr algn="l">
              <a:buNone/>
            </a:pPr>
            <a:r>
              <a:rPr lang="id-ID" sz="901" b="1" dirty="0">
                <a:solidFill>
                  <a:srgbClr val="1A1A1A"/>
                </a:solidFill>
                <a:latin typeface="Roboto"/>
                <a:ea typeface="Roboto"/>
                <a:cs typeface="Roboto"/>
              </a:rPr>
              <a:t>ha</a:t>
            </a:r>
            <a:endParaRPr lang="id-ID" sz="901"/>
          </a:p>
        </p:txBody>
      </p:sp>
      <p:sp>
        <p:nvSpPr>
          <p:cNvPr id="346" name="K"/>
          <p:cNvSpPr/>
          <p:nvPr/>
        </p:nvSpPr>
        <p:spPr>
          <a:xfrm>
            <a:off x="548640" y="3083920"/>
            <a:ext cx="6720840" cy="2923688"/>
          </a:xfrm>
          <a:prstGeom prst="roundRect">
            <a:avLst>
              <a:gd name="adj" fmla="val 4000"/>
            </a:avLst>
          </a:prstGeom>
          <a:solidFill>
            <a:srgbClr val="FFFFFF"/>
          </a:solidFill>
          <a:ln w="9525">
            <a:solidFill>
              <a:srgbClr val="BFC5CC"/>
            </a:solidFill>
          </a:ln>
        </p:spPr>
      </p:sp>
      <p:sp>
        <p:nvSpPr>
          <p:cNvPr id="347" name="K"/>
          <p:cNvSpPr/>
          <p:nvPr/>
        </p:nvSpPr>
        <p:spPr>
          <a:xfrm>
            <a:off x="548640" y="3083920"/>
            <a:ext cx="6720840" cy="365760"/>
          </a:xfrm>
          <a:prstGeom prst="roundRect">
            <a:avLst>
              <a:gd name="adj" fmla="val 16000"/>
            </a:avLst>
          </a:prstGeom>
          <a:solidFill>
            <a:srgbClr val="E3EAF1"/>
          </a:solidFill>
          <a:ln>
            <a:noFill/>
          </a:ln>
        </p:spPr>
      </p:sp>
      <p:sp>
        <p:nvSpPr>
          <p:cNvPr id="348" name="K"/>
          <p:cNvSpPr/>
          <p:nvPr/>
        </p:nvSpPr>
        <p:spPr>
          <a:xfrm>
            <a:off x="548640" y="3303376"/>
            <a:ext cx="6720840" cy="146304"/>
          </a:xfrm>
          <a:prstGeom prst="rect">
            <a:avLst/>
          </a:prstGeom>
          <a:solidFill>
            <a:srgbClr val="E3EAF1"/>
          </a:solidFill>
          <a:ln>
            <a:noFill/>
          </a:ln>
        </p:spPr>
      </p:sp>
      <p:sp>
        <p:nvSpPr>
          <p:cNvPr id="349" name="K"/>
          <p:cNvSpPr/>
          <p:nvPr/>
        </p:nvSpPr>
        <p:spPr>
          <a:xfrm>
            <a:off x="676656" y="3120496"/>
            <a:ext cx="292608" cy="292608"/>
          </a:xfrm>
          <a:prstGeom prst="ellipse">
            <a:avLst/>
          </a:prstGeom>
          <a:solidFill>
            <a:srgbClr val="5B7A99"/>
          </a:solidFill>
          <a:ln>
            <a:noFill/>
          </a:ln>
        </p:spPr>
      </p:sp>
      <p:pic>
        <p:nvPicPr>
          <p:cNvPr id="350" name="G"/>
          <p:cNvPicPr>
            <a:picLocks noChangeAspect="1"/>
          </p:cNvPicPr>
          <p:nvPr/>
        </p:nvPicPr>
        <p:blipFill>
          <a:blip r:embed="rIdM9"/>
          <a:stretch>
            <a:fillRect/>
          </a:stretch>
        </p:blipFill>
        <p:spPr>
          <a:xfrm>
            <a:off x="731520" y="3175360"/>
            <a:ext cx="182880" cy="182880"/>
          </a:xfrm>
          <a:prstGeom prst="rect">
            <a:avLst/>
          </a:prstGeom>
        </p:spPr>
      </p:pic>
      <p:sp>
        <p:nvSpPr>
          <p:cNvPr id="351" name="T"/>
          <p:cNvSpPr txBox="1"/>
          <p:nvPr/>
        </p:nvSpPr>
        <p:spPr>
          <a:xfrm>
            <a:off x="1051560" y="3083920"/>
            <a:ext cx="5620840" cy="36576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Bencana lainnya</a:t>
            </a:r>
            <a:endParaRPr lang="id-ID" sz="1100"/>
          </a:p>
        </p:txBody>
      </p:sp>
      <p:sp>
        <p:nvSpPr>
          <p:cNvPr id="352" name="T"/>
          <p:cNvSpPr txBox="1"/>
          <p:nvPr/>
        </p:nvSpPr>
        <p:spPr>
          <a:xfrm>
            <a:off x="6629400" y="3083920"/>
            <a:ext cx="512064" cy="365760"/>
          </a:xfrm>
          <a:prstGeom prst="rect">
            <a:avLst/>
          </a:prstGeom>
          <a:noFill/>
        </p:spPr>
        <p:txBody>
          <a:bodyPr wrap="square" lIns="0" tIns="0" rIns="0" bIns="0" anchor="ctr"/>
          <a:lstStyle/>
          <a:p>
            <a:pPr algn="r">
              <a:buNone/>
            </a:pPr>
            <a:r>
              <a:rPr lang="id-ID" sz="1800" b="1" dirty="0">
                <a:solidFill>
                  <a:srgbClr val="5B7A99"/>
                </a:solidFill>
                <a:latin typeface="Roboto"/>
                <a:ea typeface="Roboto"/>
                <a:cs typeface="Roboto"/>
              </a:rPr>
              <a:t>1</a:t>
            </a:r>
            <a:endParaRPr lang="id-ID" sz="1800"/>
          </a:p>
        </p:txBody>
      </p:sp>
      <p:sp>
        <p:nvSpPr>
          <p:cNvPr id="301" name="K"/>
          <p:cNvSpPr/>
          <p:nvPr/>
        </p:nvSpPr>
        <p:spPr>
          <a:xfrm>
            <a:off x="713232" y="3495400"/>
            <a:ext cx="6391656" cy="182880"/>
          </a:xfrm>
          <a:prstGeom prst="roundRect">
            <a:avLst>
              <a:gd name="adj" fmla="val 30000"/>
            </a:avLst>
          </a:prstGeom>
          <a:solidFill>
            <a:srgbClr val="F3F5F8"/>
          </a:solidFill>
          <a:ln>
            <a:noFill/>
          </a:ln>
        </p:spPr>
      </p:sp>
      <p:sp>
        <p:nvSpPr>
          <p:cNvPr id="302" name="K"/>
          <p:cNvSpPr/>
          <p:nvPr/>
        </p:nvSpPr>
        <p:spPr>
          <a:xfrm>
            <a:off x="758952" y="3513688"/>
            <a:ext cx="146304" cy="146304"/>
          </a:xfrm>
          <a:prstGeom prst="ellipse">
            <a:avLst/>
          </a:prstGeom>
          <a:solidFill>
            <a:srgbClr val="2F6FB5"/>
          </a:solidFill>
          <a:ln>
            <a:noFill/>
          </a:ln>
        </p:spPr>
      </p:sp>
      <p:pic>
        <p:nvPicPr>
          <p:cNvPr id="303" name="G"/>
          <p:cNvPicPr>
            <a:picLocks noChangeAspect="1"/>
          </p:cNvPicPr>
          <p:nvPr/>
        </p:nvPicPr>
        <p:blipFill>
          <a:blip r:embed="rIdM1"/>
          <a:stretch>
            <a:fillRect/>
          </a:stretch>
        </p:blipFill>
        <p:spPr>
          <a:xfrm>
            <a:off x="786384" y="3541120"/>
            <a:ext cx="91440" cy="91440"/>
          </a:xfrm>
          <a:prstGeom prst="rect">
            <a:avLst/>
          </a:prstGeom>
        </p:spPr>
      </p:pic>
      <p:sp>
        <p:nvSpPr>
          <p:cNvPr id="307" name="T"/>
          <p:cNvSpPr txBox="1"/>
          <p:nvPr/>
        </p:nvSpPr>
        <p:spPr>
          <a:xfrm>
            <a:off x="950976" y="3495400"/>
            <a:ext cx="1600000" cy="182880"/>
          </a:xfrm>
          <a:prstGeom prst="rect">
            <a:avLst/>
          </a:prstGeom>
          <a:noFill/>
        </p:spPr>
        <p:txBody>
          <a:bodyPr wrap="none" lIns="0" tIns="0" rIns="0" bIns="0" anchor="ctr"/>
          <a:lstStyle/>
          <a:p>
            <a:pPr algn="l">
              <a:buNone/>
            </a:pPr>
            <a:r>
              <a:rPr lang="id-ID" sz="820" b="1" dirty="0">
                <a:solidFill>
                  <a:srgbClr val="1A1A1A"/>
                </a:solidFill>
                <a:latin typeface="Roboto"/>
                <a:ea typeface="Roboto"/>
                <a:cs typeface="Roboto"/>
              </a:rPr>
              <a:t>Banjir</a:t>
            </a:r>
            <a:endParaRPr lang="id-ID" sz="820"/>
          </a:p>
        </p:txBody>
      </p:sp>
      <p:sp>
        <p:nvSpPr>
          <p:cNvPr id="304" name="K"/>
          <p:cNvSpPr/>
          <p:nvPr/>
        </p:nvSpPr>
        <p:spPr>
          <a:xfrm>
            <a:off x="1397232" y="3522832"/>
            <a:ext cx="669214" cy="128016"/>
          </a:xfrm>
          <a:prstGeom prst="roundRect">
            <a:avLst>
              <a:gd name="adj" fmla="val 50000"/>
            </a:avLst>
          </a:prstGeom>
          <a:solidFill>
            <a:srgbClr val="DCE7F5"/>
          </a:solidFill>
          <a:ln>
            <a:noFill/>
          </a:ln>
        </p:spPr>
      </p:sp>
      <p:pic>
        <p:nvPicPr>
          <p:cNvPr id="305" name="G"/>
          <p:cNvPicPr>
            <a:picLocks noChangeAspect="1"/>
          </p:cNvPicPr>
          <p:nvPr/>
        </p:nvPicPr>
        <p:blipFill>
          <a:blip r:embed="rIdM2"/>
          <a:stretch>
            <a:fillRect/>
          </a:stretch>
        </p:blipFill>
        <p:spPr>
          <a:xfrm>
            <a:off x="1442037" y="3548435"/>
            <a:ext cx="76809" cy="76809"/>
          </a:xfrm>
          <a:prstGeom prst="rect">
            <a:avLst/>
          </a:prstGeom>
        </p:spPr>
      </p:pic>
      <p:sp>
        <p:nvSpPr>
          <p:cNvPr id="306" name="T"/>
          <p:cNvSpPr txBox="1"/>
          <p:nvPr/>
        </p:nvSpPr>
        <p:spPr>
          <a:xfrm>
            <a:off x="1518847" y="3522832"/>
            <a:ext cx="547599" cy="128016"/>
          </a:xfrm>
          <a:prstGeom prst="rect">
            <a:avLst/>
          </a:prstGeom>
          <a:noFill/>
        </p:spPr>
        <p:txBody>
          <a:bodyPr wrap="none" lIns="0" tIns="0" rIns="0" bIns="0" anchor="ctr"/>
          <a:lstStyle/>
          <a:p>
            <a:pPr algn="ctr">
              <a:buNone/>
            </a:pPr>
            <a:r>
              <a:rPr lang="id-ID" sz="700" b="1" dirty="0">
                <a:solidFill>
                  <a:srgbClr val="2F6FB5"/>
                </a:solidFill>
                <a:latin typeface="Roboto"/>
                <a:ea typeface="Roboto"/>
                <a:cs typeface="Roboto"/>
              </a:rPr>
              <a:t>1 kejadian</a:t>
            </a:r>
            <a:endParaRPr lang="id-ID" sz="700"/>
          </a:p>
        </p:txBody>
      </p:sp>
      <p:sp>
        <p:nvSpPr>
          <p:cNvPr id="308" name="K"/>
          <p:cNvSpPr/>
          <p:nvPr/>
        </p:nvSpPr>
        <p:spPr>
          <a:xfrm>
            <a:off x="731520" y="3714856"/>
            <a:ext cx="146304" cy="146304"/>
          </a:xfrm>
          <a:prstGeom prst="ellipse">
            <a:avLst/>
          </a:prstGeom>
          <a:solidFill>
            <a:srgbClr val="D9600B"/>
          </a:solidFill>
          <a:ln>
            <a:noFill/>
          </a:ln>
        </p:spPr>
      </p:sp>
      <p:pic>
        <p:nvPicPr>
          <p:cNvPr id="309" name="G"/>
          <p:cNvPicPr>
            <a:picLocks noChangeAspect="1"/>
          </p:cNvPicPr>
          <p:nvPr/>
        </p:nvPicPr>
        <p:blipFill>
          <a:blip r:embed="rIdM3"/>
          <a:stretch>
            <a:fillRect/>
          </a:stretch>
        </p:blipFill>
        <p:spPr>
          <a:xfrm>
            <a:off x="757854" y="3741190"/>
            <a:ext cx="93634" cy="93634"/>
          </a:xfrm>
          <a:prstGeom prst="rect">
            <a:avLst/>
          </a:prstGeom>
        </p:spPr>
      </p:pic>
      <p:sp>
        <p:nvSpPr>
          <p:cNvPr id="310" name="T"/>
          <p:cNvSpPr txBox="1"/>
          <p:nvPr/>
        </p:nvSpPr>
        <p:spPr>
          <a:xfrm>
            <a:off x="932688" y="3696568"/>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Langkat</a:t>
            </a:r>
            <a:endParaRPr lang="id-ID" sz="760"/>
          </a:p>
        </p:txBody>
      </p:sp>
      <p:sp>
        <p:nvSpPr>
          <p:cNvPr id="311" name="K"/>
          <p:cNvSpPr/>
          <p:nvPr/>
        </p:nvSpPr>
        <p:spPr>
          <a:xfrm>
            <a:off x="6124067" y="3705712"/>
            <a:ext cx="962532" cy="164592"/>
          </a:xfrm>
          <a:prstGeom prst="roundRect">
            <a:avLst>
              <a:gd name="adj" fmla="val 50000"/>
            </a:avLst>
          </a:prstGeom>
          <a:solidFill>
            <a:srgbClr val="FBE7D6"/>
          </a:solidFill>
          <a:ln>
            <a:noFill/>
          </a:ln>
        </p:spPr>
      </p:sp>
      <p:pic>
        <p:nvPicPr>
          <p:cNvPr id="312" name="G"/>
          <p:cNvPicPr>
            <a:picLocks noChangeAspect="1"/>
          </p:cNvPicPr>
          <p:nvPr/>
        </p:nvPicPr>
        <p:blipFill>
          <a:blip r:embed="rIdM4"/>
          <a:stretch>
            <a:fillRect/>
          </a:stretch>
        </p:blipFill>
        <p:spPr>
          <a:xfrm>
            <a:off x="6181674" y="3738630"/>
            <a:ext cx="98755" cy="98755"/>
          </a:xfrm>
          <a:prstGeom prst="rect">
            <a:avLst/>
          </a:prstGeom>
        </p:spPr>
      </p:pic>
      <p:sp>
        <p:nvSpPr>
          <p:cNvPr id="313" name="T"/>
          <p:cNvSpPr txBox="1"/>
          <p:nvPr/>
        </p:nvSpPr>
        <p:spPr>
          <a:xfrm>
            <a:off x="6280429" y="3705712"/>
            <a:ext cx="806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Dalam penanganan</a:t>
            </a:r>
            <a:endParaRPr lang="id-ID" sz="700"/>
          </a:p>
        </p:txBody>
      </p:sp>
      <p:sp>
        <p:nvSpPr>
          <p:cNvPr id="314" name="K"/>
          <p:cNvSpPr/>
          <p:nvPr/>
        </p:nvSpPr>
        <p:spPr>
          <a:xfrm>
            <a:off x="932688" y="3888592"/>
            <a:ext cx="6080760" cy="320040"/>
          </a:xfrm>
          <a:prstGeom prst="roundRect">
            <a:avLst>
              <a:gd name="adj" fmla="val 14000"/>
            </a:avLst>
          </a:prstGeom>
          <a:solidFill>
            <a:srgbClr val="F7F8FA"/>
          </a:solidFill>
          <a:ln>
            <a:noFill/>
          </a:ln>
        </p:spPr>
      </p:sp>
      <p:pic>
        <p:nvPicPr>
          <p:cNvPr id="315" name="G"/>
          <p:cNvPicPr>
            <a:picLocks noChangeAspect="1"/>
          </p:cNvPicPr>
          <p:nvPr/>
        </p:nvPicPr>
        <p:blipFill>
          <a:blip r:embed="rIdM5"/>
          <a:stretch>
            <a:fillRect/>
          </a:stretch>
        </p:blipFill>
        <p:spPr>
          <a:xfrm>
            <a:off x="996696" y="3934312"/>
            <a:ext cx="118872" cy="118872"/>
          </a:xfrm>
          <a:prstGeom prst="rect">
            <a:avLst/>
          </a:prstGeom>
        </p:spPr>
      </p:pic>
      <p:sp>
        <p:nvSpPr>
          <p:cNvPr id="316" name="T"/>
          <p:cNvSpPr txBox="1"/>
          <p:nvPr/>
        </p:nvSpPr>
        <p:spPr>
          <a:xfrm>
            <a:off x="1152144" y="3906880"/>
            <a:ext cx="5840760"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±310</a:t>
            </a:r>
            <a:endParaRPr lang="id-ID" sz="950"/>
          </a:p>
        </p:txBody>
      </p:sp>
      <p:sp>
        <p:nvSpPr>
          <p:cNvPr id="317" name="T"/>
          <p:cNvSpPr txBox="1"/>
          <p:nvPr/>
        </p:nvSpPr>
        <p:spPr>
          <a:xfrm>
            <a:off x="996696" y="4071472"/>
            <a:ext cx="5980760"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353" name="K"/>
          <p:cNvSpPr/>
          <p:nvPr/>
        </p:nvSpPr>
        <p:spPr>
          <a:xfrm>
            <a:off x="548640" y="6080760"/>
            <a:ext cx="6720840" cy="274320"/>
          </a:xfrm>
          <a:prstGeom prst="roundRect">
            <a:avLst>
              <a:gd name="adj" fmla="val 30000"/>
            </a:avLst>
          </a:prstGeom>
          <a:solidFill>
            <a:srgbClr val="F7F8FA"/>
          </a:solidFill>
          <a:ln>
            <a:noFill/>
          </a:ln>
        </p:spPr>
      </p:sp>
      <p:sp>
        <p:nvSpPr>
          <p:cNvPr id="354" name="T"/>
          <p:cNvSpPr txBox="1"/>
          <p:nvPr/>
        </p:nvSpPr>
        <p:spPr>
          <a:xfrm>
            <a:off x="676656" y="6080760"/>
            <a:ext cx="868680" cy="274320"/>
          </a:xfrm>
          <a:prstGeom prst="rect">
            <a:avLst/>
          </a:prstGeom>
          <a:noFill/>
        </p:spPr>
        <p:txBody>
          <a:bodyPr wrap="square" lIns="0" tIns="0" rIns="0" bIns="0" anchor="ctr"/>
          <a:lstStyle/>
          <a:p>
            <a:pPr algn="l">
              <a:buNone/>
            </a:pPr>
            <a:r>
              <a:rPr lang="id-ID" sz="700" b="1" spc="100" dirty="0">
                <a:solidFill>
                  <a:srgbClr val="1A1A1A"/>
                </a:solidFill>
                <a:latin typeface="Roboto"/>
                <a:ea typeface="Roboto"/>
                <a:cs typeface="Roboto"/>
              </a:rPr>
              <a:t>KETERANGAN</a:t>
            </a:r>
            <a:endParaRPr lang="id-ID" sz="680"/>
          </a:p>
        </p:txBody>
      </p:sp>
      <p:sp>
        <p:nvSpPr>
          <p:cNvPr id="355" name="K"/>
          <p:cNvSpPr/>
          <p:nvPr/>
        </p:nvSpPr>
        <p:spPr>
          <a:xfrm>
            <a:off x="1648640" y="6140196"/>
            <a:ext cx="155448" cy="155448"/>
          </a:xfrm>
          <a:prstGeom prst="ellipse">
            <a:avLst/>
          </a:prstGeom>
          <a:solidFill>
            <a:srgbClr val="051C2C"/>
          </a:solidFill>
          <a:ln>
            <a:noFill/>
          </a:ln>
        </p:spPr>
      </p:sp>
      <p:pic>
        <p:nvPicPr>
          <p:cNvPr id="356" name="G"/>
          <p:cNvPicPr>
            <a:picLocks noChangeAspect="1"/>
          </p:cNvPicPr>
          <p:nvPr/>
        </p:nvPicPr>
        <p:blipFill>
          <a:blip r:embed="rIdM7"/>
          <a:stretch>
            <a:fillRect/>
          </a:stretch>
        </p:blipFill>
        <p:spPr>
          <a:xfrm>
            <a:off x="1680644" y="6172200"/>
            <a:ext cx="91440" cy="91440"/>
          </a:xfrm>
          <a:prstGeom prst="rect">
            <a:avLst/>
          </a:prstGeom>
        </p:spPr>
      </p:pic>
      <p:sp>
        <p:nvSpPr>
          <p:cNvPr id="357" name="T"/>
          <p:cNvSpPr txBox="1"/>
          <p:nvPr/>
        </p:nvSpPr>
        <p:spPr>
          <a:xfrm>
            <a:off x="1858952" y="6080760"/>
            <a:ext cx="1064362" cy="274320"/>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selesai</a:t>
            </a:r>
            <a:endParaRPr lang="id-ID" sz="750"/>
          </a:p>
        </p:txBody>
      </p:sp>
      <p:sp>
        <p:nvSpPr>
          <p:cNvPr id="358" name="K"/>
          <p:cNvSpPr/>
          <p:nvPr/>
        </p:nvSpPr>
        <p:spPr>
          <a:xfrm>
            <a:off x="2548640" y="6140196"/>
            <a:ext cx="155448" cy="155448"/>
          </a:xfrm>
          <a:prstGeom prst="ellipse">
            <a:avLst/>
          </a:prstGeom>
          <a:solidFill>
            <a:srgbClr val="D9600B"/>
          </a:solidFill>
          <a:ln>
            <a:noFill/>
          </a:ln>
        </p:spPr>
      </p:sp>
      <p:pic>
        <p:nvPicPr>
          <p:cNvPr id="359" name="G"/>
          <p:cNvPicPr>
            <a:picLocks noChangeAspect="1"/>
          </p:cNvPicPr>
          <p:nvPr/>
        </p:nvPicPr>
        <p:blipFill>
          <a:blip r:embed="rIdM3"/>
          <a:stretch>
            <a:fillRect/>
          </a:stretch>
        </p:blipFill>
        <p:spPr>
          <a:xfrm>
            <a:off x="2580644" y="6172200"/>
            <a:ext cx="91440" cy="91440"/>
          </a:xfrm>
          <a:prstGeom prst="rect">
            <a:avLst/>
          </a:prstGeom>
        </p:spPr>
      </p:pic>
      <p:sp>
        <p:nvSpPr>
          <p:cNvPr id="360" name="T"/>
          <p:cNvSpPr txBox="1"/>
          <p:nvPr/>
        </p:nvSpPr>
        <p:spPr>
          <a:xfrm>
            <a:off x="2758952" y="6080760"/>
            <a:ext cx="1064362" cy="274320"/>
          </a:xfrm>
          <a:prstGeom prst="rect">
            <a:avLst/>
          </a:prstGeom>
          <a:noFill/>
        </p:spPr>
        <p:txBody>
          <a:bodyPr wrap="square" lIns="0" tIns="0" rIns="0" bIns="0" anchor="ctr"/>
          <a:lstStyle/>
          <a:p>
            <a:pPr algn="l">
              <a:buNone/>
            </a:pPr>
            <a:r>
              <a:rPr lang="id-ID" sz="750" dirty="0">
                <a:solidFill>
                  <a:srgbClr val="1A1A1A"/>
                </a:solidFill>
                <a:latin typeface="Roboto"/>
                <a:ea typeface="Roboto"/>
                <a:cs typeface="Roboto"/>
              </a:rPr>
              <a:t>dalam penanganan</a:t>
            </a:r>
            <a:endParaRPr lang="id-ID" sz="750"/>
          </a:p>
        </p:txBody>
      </p:sp>
      <p:sp>
        <p:nvSpPr>
          <p:cNvPr id="361" name="T"/>
          <p:cNvSpPr txBox="1"/>
          <p:nvPr/>
        </p:nvSpPr>
        <p:spPr>
          <a:xfrm>
            <a:off x="3848640" y="6080760"/>
            <a:ext cx="3292824" cy="274320"/>
          </a:xfrm>
          <a:prstGeom prst="rect">
            <a:avLst/>
          </a:prstGeom>
          <a:noFill/>
        </p:spPr>
        <p:txBody>
          <a:bodyPr wrap="square" lIns="0" tIns="0" rIns="0" bIns="0" anchor="ctr"/>
          <a:lstStyle/>
          <a:p>
            <a:pPr algn="r">
              <a:buNone/>
            </a:pPr>
            <a:r>
              <a:rPr lang="id-ID" sz="700" dirty="0">
                <a:solidFill>
                  <a:srgbClr val="2E3440"/>
                </a:solidFill>
                <a:latin typeface="Roboto"/>
                <a:ea typeface="Roboto"/>
                <a:cs typeface="Roboto"/>
              </a:rPr>
              <a:t>Pengkinian kejadian sebelumnya: halaman 4</a:t>
            </a:r>
            <a:endParaRPr lang="id-ID" sz="700"/>
          </a:p>
        </p:txBody>
      </p:sp>
      <p:sp>
        <p:nvSpPr>
          <p:cNvPr id="362" name="K"/>
          <p:cNvSpPr/>
          <p:nvPr/>
        </p:nvSpPr>
        <p:spPr>
          <a:xfrm>
            <a:off x="7406640" y="1325880"/>
            <a:ext cx="4236415" cy="4681728"/>
          </a:xfrm>
          <a:prstGeom prst="roundRect">
            <a:avLst>
              <a:gd name="adj" fmla="val 3000"/>
            </a:avLst>
          </a:prstGeom>
          <a:solidFill>
            <a:srgbClr val="FFFFFF"/>
          </a:solidFill>
          <a:ln w="9525">
            <a:solidFill>
              <a:srgbClr val="BFC5CC"/>
            </a:solidFill>
          </a:ln>
        </p:spPr>
      </p:sp>
      <p:sp>
        <p:nvSpPr>
          <p:cNvPr id="363" name="K"/>
          <p:cNvSpPr/>
          <p:nvPr/>
        </p:nvSpPr>
        <p:spPr>
          <a:xfrm>
            <a:off x="7406640" y="1325880"/>
            <a:ext cx="4236415" cy="365760"/>
          </a:xfrm>
          <a:prstGeom prst="roundRect">
            <a:avLst>
              <a:gd name="adj" fmla="val 16000"/>
            </a:avLst>
          </a:prstGeom>
          <a:solidFill>
            <a:srgbClr val="FBE7DC"/>
          </a:solidFill>
          <a:ln>
            <a:noFill/>
          </a:ln>
        </p:spPr>
      </p:sp>
      <p:sp>
        <p:nvSpPr>
          <p:cNvPr id="364" name="K"/>
          <p:cNvSpPr/>
          <p:nvPr/>
        </p:nvSpPr>
        <p:spPr>
          <a:xfrm>
            <a:off x="7406640" y="1545336"/>
            <a:ext cx="4236415" cy="146304"/>
          </a:xfrm>
          <a:prstGeom prst="rect">
            <a:avLst/>
          </a:prstGeom>
          <a:solidFill>
            <a:srgbClr val="FBE7DC"/>
          </a:solidFill>
          <a:ln>
            <a:noFill/>
          </a:ln>
        </p:spPr>
      </p:sp>
      <p:sp>
        <p:nvSpPr>
          <p:cNvPr id="365" name="K"/>
          <p:cNvSpPr/>
          <p:nvPr/>
        </p:nvSpPr>
        <p:spPr>
          <a:xfrm>
            <a:off x="7534656" y="1362456"/>
            <a:ext cx="292608" cy="292608"/>
          </a:xfrm>
          <a:prstGeom prst="ellipse">
            <a:avLst/>
          </a:prstGeom>
          <a:solidFill>
            <a:srgbClr val="9A3412"/>
          </a:solidFill>
          <a:ln>
            <a:noFill/>
          </a:ln>
        </p:spPr>
      </p:sp>
      <p:pic>
        <p:nvPicPr>
          <p:cNvPr id="366" name="G"/>
          <p:cNvPicPr>
            <a:picLocks noChangeAspect="1"/>
          </p:cNvPicPr>
          <p:nvPr/>
        </p:nvPicPr>
        <p:blipFill>
          <a:blip r:embed="rIdM10"/>
          <a:stretch>
            <a:fillRect/>
          </a:stretch>
        </p:blipFill>
        <p:spPr>
          <a:xfrm>
            <a:off x="7589520" y="1417320"/>
            <a:ext cx="182880" cy="182880"/>
          </a:xfrm>
          <a:prstGeom prst="rect">
            <a:avLst/>
          </a:prstGeom>
        </p:spPr>
      </p:pic>
      <p:sp>
        <p:nvSpPr>
          <p:cNvPr id="367" name="T"/>
          <p:cNvSpPr txBox="1"/>
          <p:nvPr/>
        </p:nvSpPr>
        <p:spPr>
          <a:xfrm>
            <a:off x="7909560" y="1325880"/>
            <a:ext cx="3136415" cy="36576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Gunung api</a:t>
            </a:r>
            <a:endParaRPr lang="id-ID" sz="1100"/>
          </a:p>
        </p:txBody>
      </p:sp>
      <p:sp>
        <p:nvSpPr>
          <p:cNvPr id="368" name="T"/>
          <p:cNvSpPr txBox="1"/>
          <p:nvPr/>
        </p:nvSpPr>
        <p:spPr>
          <a:xfrm>
            <a:off x="11002975" y="1325880"/>
            <a:ext cx="512064" cy="365760"/>
          </a:xfrm>
          <a:prstGeom prst="rect">
            <a:avLst/>
          </a:prstGeom>
          <a:noFill/>
        </p:spPr>
        <p:txBody>
          <a:bodyPr wrap="square" lIns="0" tIns="0" rIns="0" bIns="0" anchor="ctr"/>
          <a:lstStyle/>
          <a:p>
            <a:pPr algn="r">
              <a:buNone/>
            </a:pPr>
            <a:r>
              <a:rPr lang="id-ID" sz="1800" b="1" dirty="0">
                <a:solidFill>
                  <a:srgbClr val="9A3412"/>
                </a:solidFill>
                <a:latin typeface="Roboto"/>
                <a:ea typeface="Roboto"/>
                <a:cs typeface="Roboto"/>
              </a:rPr>
              <a:t>3</a:t>
            </a:r>
            <a:endParaRPr lang="id-ID" sz="1800"/>
          </a:p>
        </p:txBody>
      </p:sp>
      <p:sp>
        <p:nvSpPr>
          <p:cNvPr id="369" name="K"/>
          <p:cNvSpPr/>
          <p:nvPr/>
        </p:nvSpPr>
        <p:spPr>
          <a:xfrm>
            <a:off x="7534656" y="1746504"/>
            <a:ext cx="2278000" cy="182880"/>
          </a:xfrm>
          <a:prstGeom prst="roundRect">
            <a:avLst>
              <a:gd name="adj" fmla="val 50000"/>
            </a:avLst>
          </a:prstGeom>
          <a:solidFill>
            <a:srgbClr val="E6EAF0"/>
          </a:solidFill>
          <a:ln>
            <a:noFill/>
          </a:ln>
        </p:spPr>
      </p:sp>
      <p:pic>
        <p:nvPicPr>
          <p:cNvPr id="370" name="G"/>
          <p:cNvPicPr>
            <a:picLocks noChangeAspect="1"/>
          </p:cNvPicPr>
          <p:nvPr/>
        </p:nvPicPr>
        <p:blipFill>
          <a:blip r:embed="rIdM8"/>
          <a:stretch>
            <a:fillRect/>
          </a:stretch>
        </p:blipFill>
        <p:spPr>
          <a:xfrm>
            <a:off x="7589520" y="1783080"/>
            <a:ext cx="109728" cy="109728"/>
          </a:xfrm>
          <a:prstGeom prst="rect">
            <a:avLst/>
          </a:prstGeom>
        </p:spPr>
      </p:pic>
      <p:sp>
        <p:nvSpPr>
          <p:cNvPr id="371" name="T"/>
          <p:cNvSpPr txBox="1"/>
          <p:nvPr/>
        </p:nvSpPr>
        <p:spPr>
          <a:xfrm>
            <a:off x="7744968" y="1746504"/>
            <a:ext cx="2049400" cy="182880"/>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Status PVMBG Sabtu, 31 Oktober 2026, 07.00 WIB</a:t>
            </a:r>
            <a:endParaRPr lang="id-ID" sz="680"/>
          </a:p>
        </p:txBody>
      </p:sp>
      <p:sp>
        <p:nvSpPr>
          <p:cNvPr id="372" name="K"/>
          <p:cNvSpPr/>
          <p:nvPr/>
        </p:nvSpPr>
        <p:spPr>
          <a:xfrm>
            <a:off x="7534656" y="2011680"/>
            <a:ext cx="953947" cy="384048"/>
          </a:xfrm>
          <a:prstGeom prst="roundRect">
            <a:avLst>
              <a:gd name="adj" fmla="val 12000"/>
            </a:avLst>
          </a:prstGeom>
          <a:solidFill>
            <a:srgbClr val="F8DDE0"/>
          </a:solidFill>
          <a:ln>
            <a:noFill/>
          </a:ln>
        </p:spPr>
      </p:sp>
      <p:pic>
        <p:nvPicPr>
          <p:cNvPr id="373" name="G"/>
          <p:cNvPicPr>
            <a:picLocks noChangeAspect="1"/>
          </p:cNvPicPr>
          <p:nvPr/>
        </p:nvPicPr>
        <p:blipFill>
          <a:blip r:embed="rIdM11"/>
          <a:stretch>
            <a:fillRect/>
          </a:stretch>
        </p:blipFill>
        <p:spPr>
          <a:xfrm>
            <a:off x="7626096" y="2103120"/>
            <a:ext cx="201168" cy="201168"/>
          </a:xfrm>
          <a:prstGeom prst="rect">
            <a:avLst/>
          </a:prstGeom>
        </p:spPr>
      </p:pic>
      <p:sp>
        <p:nvSpPr>
          <p:cNvPr id="374" name="T"/>
          <p:cNvSpPr txBox="1"/>
          <p:nvPr/>
        </p:nvSpPr>
        <p:spPr>
          <a:xfrm>
            <a:off x="7946136" y="2029968"/>
            <a:ext cx="505891" cy="228600"/>
          </a:xfrm>
          <a:prstGeom prst="rect">
            <a:avLst/>
          </a:prstGeom>
          <a:noFill/>
        </p:spPr>
        <p:txBody>
          <a:bodyPr wrap="square" lIns="0" tIns="0" rIns="0" bIns="0" anchor="ctr"/>
          <a:lstStyle/>
          <a:p>
            <a:pPr algn="l">
              <a:buNone/>
            </a:pPr>
            <a:r>
              <a:rPr lang="id-ID" sz="1400" b="1" dirty="0">
                <a:solidFill>
                  <a:srgbClr val="C8102E"/>
                </a:solidFill>
                <a:latin typeface="Roboto"/>
                <a:ea typeface="Roboto"/>
                <a:cs typeface="Roboto"/>
              </a:rPr>
              <a:t>0</a:t>
            </a:r>
            <a:endParaRPr lang="id-ID" sz="1400"/>
          </a:p>
        </p:txBody>
      </p:sp>
      <p:sp>
        <p:nvSpPr>
          <p:cNvPr id="375" name="T"/>
          <p:cNvSpPr txBox="1"/>
          <p:nvPr/>
        </p:nvSpPr>
        <p:spPr>
          <a:xfrm>
            <a:off x="7946136" y="2249424"/>
            <a:ext cx="505891" cy="128016"/>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Awas</a:t>
            </a:r>
            <a:r>
              <a:rPr lang="id-ID" sz="700" dirty="0">
                <a:solidFill>
                  <a:srgbClr val="2E3440"/>
                </a:solidFill>
                <a:latin typeface="Roboto"/>
                <a:ea typeface="Roboto"/>
                <a:cs typeface="Roboto"/>
              </a:rPr>
              <a:t> (IV)</a:t>
            </a:r>
            <a:endParaRPr lang="id-ID" sz="620"/>
          </a:p>
        </p:txBody>
      </p:sp>
      <p:sp>
        <p:nvSpPr>
          <p:cNvPr id="376" name="K"/>
          <p:cNvSpPr/>
          <p:nvPr/>
        </p:nvSpPr>
        <p:spPr>
          <a:xfrm>
            <a:off x="8543467" y="2011680"/>
            <a:ext cx="953947" cy="384048"/>
          </a:xfrm>
          <a:prstGeom prst="roundRect">
            <a:avLst>
              <a:gd name="adj" fmla="val 12000"/>
            </a:avLst>
          </a:prstGeom>
          <a:solidFill>
            <a:srgbClr val="FBE7D6"/>
          </a:solidFill>
          <a:ln>
            <a:noFill/>
          </a:ln>
        </p:spPr>
      </p:sp>
      <p:pic>
        <p:nvPicPr>
          <p:cNvPr id="377" name="G"/>
          <p:cNvPicPr>
            <a:picLocks noChangeAspect="1"/>
          </p:cNvPicPr>
          <p:nvPr/>
        </p:nvPicPr>
        <p:blipFill>
          <a:blip r:embed="rIdM12"/>
          <a:stretch>
            <a:fillRect/>
          </a:stretch>
        </p:blipFill>
        <p:spPr>
          <a:xfrm>
            <a:off x="8634907" y="2103120"/>
            <a:ext cx="201168" cy="201168"/>
          </a:xfrm>
          <a:prstGeom prst="rect">
            <a:avLst/>
          </a:prstGeom>
        </p:spPr>
      </p:pic>
      <p:sp>
        <p:nvSpPr>
          <p:cNvPr id="378" name="T"/>
          <p:cNvSpPr txBox="1"/>
          <p:nvPr/>
        </p:nvSpPr>
        <p:spPr>
          <a:xfrm>
            <a:off x="8954947" y="2029968"/>
            <a:ext cx="505891" cy="228600"/>
          </a:xfrm>
          <a:prstGeom prst="rect">
            <a:avLst/>
          </a:prstGeom>
          <a:noFill/>
        </p:spPr>
        <p:txBody>
          <a:bodyPr wrap="square" lIns="0" tIns="0" rIns="0" bIns="0" anchor="ctr"/>
          <a:lstStyle/>
          <a:p>
            <a:pPr algn="l">
              <a:buNone/>
            </a:pPr>
            <a:r>
              <a:rPr lang="id-ID" sz="1400" b="1" dirty="0">
                <a:solidFill>
                  <a:srgbClr val="D9600B"/>
                </a:solidFill>
                <a:latin typeface="Roboto"/>
                <a:ea typeface="Roboto"/>
                <a:cs typeface="Roboto"/>
              </a:rPr>
              <a:t>3</a:t>
            </a:r>
            <a:endParaRPr lang="id-ID" sz="1400"/>
          </a:p>
        </p:txBody>
      </p:sp>
      <p:sp>
        <p:nvSpPr>
          <p:cNvPr id="379" name="T"/>
          <p:cNvSpPr txBox="1"/>
          <p:nvPr/>
        </p:nvSpPr>
        <p:spPr>
          <a:xfrm>
            <a:off x="8954947" y="2249424"/>
            <a:ext cx="505891" cy="128016"/>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Siaga</a:t>
            </a:r>
            <a:r>
              <a:rPr lang="id-ID" sz="700" dirty="0">
                <a:solidFill>
                  <a:srgbClr val="2E3440"/>
                </a:solidFill>
                <a:latin typeface="Roboto"/>
                <a:ea typeface="Roboto"/>
                <a:cs typeface="Roboto"/>
              </a:rPr>
              <a:t> (III)</a:t>
            </a:r>
            <a:endParaRPr lang="id-ID" sz="620"/>
          </a:p>
        </p:txBody>
      </p:sp>
      <p:sp>
        <p:nvSpPr>
          <p:cNvPr id="380" name="K"/>
          <p:cNvSpPr/>
          <p:nvPr/>
        </p:nvSpPr>
        <p:spPr>
          <a:xfrm>
            <a:off x="9552278" y="2011680"/>
            <a:ext cx="953947" cy="384048"/>
          </a:xfrm>
          <a:prstGeom prst="roundRect">
            <a:avLst>
              <a:gd name="adj" fmla="val 12000"/>
            </a:avLst>
          </a:prstGeom>
          <a:solidFill>
            <a:srgbClr val="F4ECDC"/>
          </a:solidFill>
          <a:ln>
            <a:noFill/>
          </a:ln>
        </p:spPr>
      </p:sp>
      <p:pic>
        <p:nvPicPr>
          <p:cNvPr id="381" name="G"/>
          <p:cNvPicPr>
            <a:picLocks noChangeAspect="1"/>
          </p:cNvPicPr>
          <p:nvPr/>
        </p:nvPicPr>
        <p:blipFill>
          <a:blip r:embed="rIdM13"/>
          <a:stretch>
            <a:fillRect/>
          </a:stretch>
        </p:blipFill>
        <p:spPr>
          <a:xfrm>
            <a:off x="9643718" y="2103120"/>
            <a:ext cx="201168" cy="201168"/>
          </a:xfrm>
          <a:prstGeom prst="rect">
            <a:avLst/>
          </a:prstGeom>
        </p:spPr>
      </p:pic>
      <p:sp>
        <p:nvSpPr>
          <p:cNvPr id="382" name="T"/>
          <p:cNvSpPr txBox="1"/>
          <p:nvPr/>
        </p:nvSpPr>
        <p:spPr>
          <a:xfrm>
            <a:off x="9963758" y="2029968"/>
            <a:ext cx="505891" cy="228600"/>
          </a:xfrm>
          <a:prstGeom prst="rect">
            <a:avLst/>
          </a:prstGeom>
          <a:noFill/>
        </p:spPr>
        <p:txBody>
          <a:bodyPr wrap="square" lIns="0" tIns="0" rIns="0" bIns="0" anchor="ctr"/>
          <a:lstStyle/>
          <a:p>
            <a:pPr algn="l">
              <a:buNone/>
            </a:pPr>
            <a:r>
              <a:rPr lang="id-ID" sz="1400" b="1" dirty="0">
                <a:solidFill>
                  <a:srgbClr val="B08A3E"/>
                </a:solidFill>
                <a:latin typeface="Roboto"/>
                <a:ea typeface="Roboto"/>
                <a:cs typeface="Roboto"/>
              </a:rPr>
              <a:t>24</a:t>
            </a:r>
            <a:endParaRPr lang="id-ID" sz="1400"/>
          </a:p>
        </p:txBody>
      </p:sp>
      <p:sp>
        <p:nvSpPr>
          <p:cNvPr id="383" name="T"/>
          <p:cNvSpPr txBox="1"/>
          <p:nvPr/>
        </p:nvSpPr>
        <p:spPr>
          <a:xfrm>
            <a:off x="9963758" y="2249424"/>
            <a:ext cx="505891" cy="128016"/>
          </a:xfrm>
          <a:prstGeom prst="rect">
            <a:avLst/>
          </a:prstGeom>
          <a:noFill/>
        </p:spPr>
        <p:txBody>
          <a:bodyPr wrap="none" lIns="0" tIns="0" rIns="0" bIns="0" anchor="ctr"/>
          <a:lstStyle/>
          <a:p>
            <a:pPr algn="l">
              <a:buNone/>
            </a:pPr>
            <a:r>
              <a:rPr lang="id-ID" sz="700" b="1" dirty="0">
                <a:solidFill>
                  <a:srgbClr val="B08A3E"/>
                </a:solidFill>
                <a:latin typeface="Roboto"/>
                <a:ea typeface="Roboto"/>
                <a:cs typeface="Roboto"/>
              </a:rPr>
              <a:t>Waspada</a:t>
            </a:r>
            <a:r>
              <a:rPr lang="id-ID" sz="700" dirty="0">
                <a:solidFill>
                  <a:srgbClr val="2E3440"/>
                </a:solidFill>
                <a:latin typeface="Roboto"/>
                <a:ea typeface="Roboto"/>
                <a:cs typeface="Roboto"/>
              </a:rPr>
              <a:t> (II)</a:t>
            </a:r>
            <a:endParaRPr lang="id-ID" sz="620"/>
          </a:p>
        </p:txBody>
      </p:sp>
      <p:sp>
        <p:nvSpPr>
          <p:cNvPr id="384" name="K"/>
          <p:cNvSpPr/>
          <p:nvPr/>
        </p:nvSpPr>
        <p:spPr>
          <a:xfrm>
            <a:off x="10561089" y="2011680"/>
            <a:ext cx="953947" cy="384048"/>
          </a:xfrm>
          <a:prstGeom prst="roundRect">
            <a:avLst>
              <a:gd name="adj" fmla="val 12000"/>
            </a:avLst>
          </a:prstGeom>
          <a:solidFill>
            <a:srgbClr val="E3EAF1"/>
          </a:solidFill>
          <a:ln>
            <a:noFill/>
          </a:ln>
        </p:spPr>
      </p:sp>
      <p:pic>
        <p:nvPicPr>
          <p:cNvPr id="385" name="G"/>
          <p:cNvPicPr>
            <a:picLocks noChangeAspect="1"/>
          </p:cNvPicPr>
          <p:nvPr/>
        </p:nvPicPr>
        <p:blipFill>
          <a:blip r:embed="rIdM14"/>
          <a:stretch>
            <a:fillRect/>
          </a:stretch>
        </p:blipFill>
        <p:spPr>
          <a:xfrm>
            <a:off x="10652529" y="2103120"/>
            <a:ext cx="201168" cy="201168"/>
          </a:xfrm>
          <a:prstGeom prst="rect">
            <a:avLst/>
          </a:prstGeom>
        </p:spPr>
      </p:pic>
      <p:sp>
        <p:nvSpPr>
          <p:cNvPr id="386" name="T"/>
          <p:cNvSpPr txBox="1"/>
          <p:nvPr/>
        </p:nvSpPr>
        <p:spPr>
          <a:xfrm>
            <a:off x="10972569" y="2029968"/>
            <a:ext cx="505891" cy="228600"/>
          </a:xfrm>
          <a:prstGeom prst="rect">
            <a:avLst/>
          </a:prstGeom>
          <a:noFill/>
        </p:spPr>
        <p:txBody>
          <a:bodyPr wrap="square" lIns="0" tIns="0" rIns="0" bIns="0" anchor="ctr"/>
          <a:lstStyle/>
          <a:p>
            <a:pPr algn="l">
              <a:buNone/>
            </a:pPr>
            <a:r>
              <a:rPr lang="id-ID" sz="1400" b="1" dirty="0">
                <a:solidFill>
                  <a:srgbClr val="5B7A99"/>
                </a:solidFill>
                <a:latin typeface="Roboto"/>
                <a:ea typeface="Roboto"/>
                <a:cs typeface="Roboto"/>
              </a:rPr>
              <a:t>42</a:t>
            </a:r>
            <a:endParaRPr lang="id-ID" sz="1400"/>
          </a:p>
        </p:txBody>
      </p:sp>
      <p:sp>
        <p:nvSpPr>
          <p:cNvPr id="387" name="T"/>
          <p:cNvSpPr txBox="1"/>
          <p:nvPr/>
        </p:nvSpPr>
        <p:spPr>
          <a:xfrm>
            <a:off x="10972569" y="2249424"/>
            <a:ext cx="505891" cy="128016"/>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Normal</a:t>
            </a:r>
            <a:r>
              <a:rPr lang="id-ID" sz="700" dirty="0">
                <a:solidFill>
                  <a:srgbClr val="2E3440"/>
                </a:solidFill>
                <a:latin typeface="Roboto"/>
                <a:ea typeface="Roboto"/>
                <a:cs typeface="Roboto"/>
              </a:rPr>
              <a:t> (I)</a:t>
            </a:r>
            <a:endParaRPr lang="id-ID" sz="620"/>
          </a:p>
        </p:txBody>
      </p:sp>
      <p:sp>
        <p:nvSpPr>
          <p:cNvPr id="388" name="K"/>
          <p:cNvSpPr/>
          <p:nvPr/>
        </p:nvSpPr>
        <p:spPr>
          <a:xfrm>
            <a:off x="7406640" y="6080760"/>
            <a:ext cx="4236415" cy="274320"/>
          </a:xfrm>
          <a:prstGeom prst="roundRect">
            <a:avLst>
              <a:gd name="adj" fmla="val 30000"/>
            </a:avLst>
          </a:prstGeom>
          <a:solidFill>
            <a:srgbClr val="F7F8FA"/>
          </a:solidFill>
          <a:ln>
            <a:noFill/>
          </a:ln>
        </p:spPr>
      </p:sp>
      <p:sp>
        <p:nvSpPr>
          <p:cNvPr id="389" name="T"/>
          <p:cNvSpPr txBox="1"/>
          <p:nvPr/>
        </p:nvSpPr>
        <p:spPr>
          <a:xfrm>
            <a:off x="7534656" y="6080760"/>
            <a:ext cx="868680" cy="274320"/>
          </a:xfrm>
          <a:prstGeom prst="rect">
            <a:avLst/>
          </a:prstGeom>
          <a:noFill/>
        </p:spPr>
        <p:txBody>
          <a:bodyPr wrap="square" lIns="0" tIns="0" rIns="0" bIns="0" anchor="ctr"/>
          <a:lstStyle/>
          <a:p>
            <a:pPr algn="l">
              <a:buNone/>
            </a:pPr>
            <a:r>
              <a:rPr lang="id-ID" sz="700" b="1" spc="100" dirty="0">
                <a:solidFill>
                  <a:srgbClr val="1A1A1A"/>
                </a:solidFill>
                <a:latin typeface="Roboto"/>
                <a:ea typeface="Roboto"/>
                <a:cs typeface="Roboto"/>
              </a:rPr>
              <a:t>KETERANGAN</a:t>
            </a:r>
            <a:endParaRPr lang="id-ID" sz="680"/>
          </a:p>
        </p:txBody>
      </p:sp>
      <p:sp>
        <p:nvSpPr>
          <p:cNvPr id="390" name="K"/>
          <p:cNvSpPr/>
          <p:nvPr/>
        </p:nvSpPr>
        <p:spPr>
          <a:xfrm>
            <a:off x="8467344" y="6140196"/>
            <a:ext cx="155448" cy="155448"/>
          </a:xfrm>
          <a:prstGeom prst="ellipse">
            <a:avLst/>
          </a:prstGeom>
          <a:solidFill>
            <a:srgbClr val="C8102E"/>
          </a:solidFill>
          <a:ln>
            <a:noFill/>
          </a:ln>
        </p:spPr>
      </p:sp>
      <p:sp>
        <p:nvSpPr>
          <p:cNvPr id="391" name="T"/>
          <p:cNvSpPr txBox="1"/>
          <p:nvPr/>
        </p:nvSpPr>
        <p:spPr>
          <a:xfrm>
            <a:off x="8677656" y="6080760"/>
            <a:ext cx="350000" cy="274320"/>
          </a:xfrm>
          <a:prstGeom prst="rect">
            <a:avLst/>
          </a:prstGeom>
          <a:noFill/>
        </p:spPr>
        <p:txBody>
          <a:bodyPr wrap="none" lIns="0" tIns="0" rIns="0" bIns="0" anchor="ctr"/>
          <a:lstStyle/>
          <a:p>
            <a:pPr algn="l">
              <a:buNone/>
            </a:pPr>
            <a:r>
              <a:rPr lang="id-ID" sz="750" dirty="0">
                <a:solidFill>
                  <a:srgbClr val="1A1A1A"/>
                </a:solidFill>
                <a:latin typeface="Roboto"/>
                <a:ea typeface="Roboto"/>
                <a:cs typeface="Roboto"/>
              </a:rPr>
              <a:t>ancaman</a:t>
            </a:r>
            <a:endParaRPr lang="id-ID" sz="750"/>
          </a:p>
        </p:txBody>
      </p:sp>
      <p:sp>
        <p:nvSpPr>
          <p:cNvPr id="392" name="K"/>
          <p:cNvSpPr/>
          <p:nvPr/>
        </p:nvSpPr>
        <p:spPr>
          <a:xfrm>
            <a:off x="9164816" y="6140196"/>
            <a:ext cx="155448" cy="155448"/>
          </a:xfrm>
          <a:prstGeom prst="ellipse">
            <a:avLst/>
          </a:prstGeom>
          <a:solidFill>
            <a:srgbClr val="5B7A99"/>
          </a:solidFill>
          <a:ln>
            <a:noFill/>
          </a:ln>
        </p:spPr>
      </p:sp>
      <p:sp>
        <p:nvSpPr>
          <p:cNvPr id="393" name="T"/>
          <p:cNvSpPr txBox="1"/>
          <p:nvPr/>
        </p:nvSpPr>
        <p:spPr>
          <a:xfrm>
            <a:off x="9375128" y="6080760"/>
            <a:ext cx="850000" cy="274320"/>
          </a:xfrm>
          <a:prstGeom prst="rect">
            <a:avLst/>
          </a:prstGeom>
          <a:noFill/>
        </p:spPr>
        <p:txBody>
          <a:bodyPr wrap="none" lIns="0" tIns="0" rIns="0" bIns="0" anchor="ctr"/>
          <a:lstStyle/>
          <a:p>
            <a:pPr algn="l">
              <a:buNone/>
            </a:pPr>
            <a:r>
              <a:rPr lang="id-ID" sz="750" dirty="0">
                <a:solidFill>
                  <a:srgbClr val="1A1A1A"/>
                </a:solidFill>
                <a:latin typeface="Roboto"/>
                <a:ea typeface="Roboto"/>
                <a:cs typeface="Roboto"/>
              </a:rPr>
              <a:t>kawasan dihindari</a:t>
            </a:r>
            <a:endParaRPr lang="id-ID" sz="750"/>
          </a:p>
        </p:txBody>
      </p:sp>
      <p:sp>
        <p:nvSpPr>
          <p:cNvPr id="394" name="K"/>
          <p:cNvSpPr/>
          <p:nvPr/>
        </p:nvSpPr>
        <p:spPr>
          <a:xfrm>
            <a:off x="10362288" y="6140196"/>
            <a:ext cx="155448" cy="155448"/>
          </a:xfrm>
          <a:prstGeom prst="ellipse">
            <a:avLst/>
          </a:prstGeom>
          <a:solidFill>
            <a:srgbClr val="051C2C"/>
          </a:solidFill>
          <a:ln>
            <a:noFill/>
          </a:ln>
        </p:spPr>
      </p:sp>
      <p:sp>
        <p:nvSpPr>
          <p:cNvPr id="395" name="T"/>
          <p:cNvSpPr txBox="1"/>
          <p:nvPr/>
        </p:nvSpPr>
        <p:spPr>
          <a:xfrm>
            <a:off x="10572600" y="6080760"/>
            <a:ext cx="350000" cy="274320"/>
          </a:xfrm>
          <a:prstGeom prst="rect">
            <a:avLst/>
          </a:prstGeom>
          <a:noFill/>
        </p:spPr>
        <p:txBody>
          <a:bodyPr wrap="none" lIns="0" tIns="0" rIns="0" bIns="0" anchor="ctr"/>
          <a:lstStyle/>
          <a:p>
            <a:pPr algn="l">
              <a:buNone/>
            </a:pPr>
            <a:r>
              <a:rPr lang="id-ID" sz="750" dirty="0">
                <a:solidFill>
                  <a:srgbClr val="1A1A1A"/>
                </a:solidFill>
                <a:latin typeface="Roboto"/>
                <a:ea typeface="Roboto"/>
                <a:cs typeface="Roboto"/>
              </a:rPr>
              <a:t>imbauan</a:t>
            </a:r>
            <a:endParaRPr lang="id-ID" sz="750"/>
          </a:p>
        </p:txBody>
      </p:sp>
      <p:sp>
        <p:nvSpPr>
          <p:cNvPr id="516" name="K"/>
          <p:cNvSpPr/>
          <p:nvPr/>
        </p:nvSpPr>
        <p:spPr>
          <a:xfrm>
            <a:off x="7534656" y="2514600"/>
            <a:ext cx="3980383" cy="1219200"/>
          </a:xfrm>
          <a:prstGeom prst="roundRect">
            <a:avLst>
              <a:gd name="adj" fmla="val 7381"/>
            </a:avLst>
          </a:prstGeom>
          <a:solidFill>
            <a:srgbClr val="F7F8FA"/>
          </a:solidFill>
          <a:ln>
            <a:noFill/>
          </a:ln>
        </p:spPr>
      </p:sp>
      <p:sp>
        <p:nvSpPr>
          <p:cNvPr id="517" name="K"/>
          <p:cNvSpPr/>
          <p:nvPr/>
        </p:nvSpPr>
        <p:spPr>
          <a:xfrm>
            <a:off x="7607808" y="2583688"/>
            <a:ext cx="182880" cy="182880"/>
          </a:xfrm>
          <a:prstGeom prst="ellipse">
            <a:avLst/>
          </a:prstGeom>
          <a:solidFill>
            <a:srgbClr val="D9600B"/>
          </a:solidFill>
          <a:ln>
            <a:noFill/>
          </a:ln>
        </p:spPr>
      </p:sp>
      <p:pic>
        <p:nvPicPr>
          <p:cNvPr id="518" name="G"/>
          <p:cNvPicPr>
            <a:picLocks noChangeAspect="1"/>
          </p:cNvPicPr>
          <p:nvPr/>
        </p:nvPicPr>
        <p:blipFill>
          <a:blip r:embed="rIdM10"/>
          <a:stretch>
            <a:fillRect/>
          </a:stretch>
        </p:blipFill>
        <p:spPr>
          <a:xfrm>
            <a:off x="7639812" y="2615692"/>
            <a:ext cx="118872" cy="118872"/>
          </a:xfrm>
          <a:prstGeom prst="rect">
            <a:avLst/>
          </a:prstGeom>
        </p:spPr>
      </p:pic>
      <p:sp>
        <p:nvSpPr>
          <p:cNvPr id="519" name="T"/>
          <p:cNvSpPr txBox="1"/>
          <p:nvPr/>
        </p:nvSpPr>
        <p:spPr>
          <a:xfrm>
            <a:off x="7854696" y="2574544"/>
            <a:ext cx="2880383" cy="201168"/>
          </a:xfrm>
          <a:prstGeom prst="rect">
            <a:avLst/>
          </a:prstGeom>
          <a:noFill/>
        </p:spPr>
        <p:txBody>
          <a:bodyPr wrap="none" lIns="0" tIns="0" rIns="0" bIns="0" anchor="ctr"/>
          <a:lstStyle/>
          <a:p>
            <a:pPr algn="l">
              <a:buNone/>
            </a:pPr>
            <a:r>
              <a:rPr lang="id-ID" sz="950" b="1" dirty="0">
                <a:solidFill>
                  <a:srgbClr val="1A1A1A"/>
                </a:solidFill>
                <a:latin typeface="Roboto"/>
                <a:ea typeface="Roboto"/>
                <a:cs typeface="Roboto"/>
              </a:rPr>
              <a:t>Gn. Anak Krakatau</a:t>
            </a:r>
            <a:endParaRPr lang="id-ID" sz="950"/>
          </a:p>
        </p:txBody>
      </p:sp>
      <p:sp>
        <p:nvSpPr>
          <p:cNvPr id="520" name="K"/>
          <p:cNvSpPr/>
          <p:nvPr/>
        </p:nvSpPr>
        <p:spPr>
          <a:xfrm>
            <a:off x="10710367" y="2592832"/>
            <a:ext cx="731520" cy="164592"/>
          </a:xfrm>
          <a:prstGeom prst="roundRect">
            <a:avLst>
              <a:gd name="adj" fmla="val 50000"/>
            </a:avLst>
          </a:prstGeom>
          <a:solidFill>
            <a:srgbClr val="FBE7D6"/>
          </a:solidFill>
          <a:ln>
            <a:noFill/>
          </a:ln>
        </p:spPr>
      </p:sp>
      <p:sp>
        <p:nvSpPr>
          <p:cNvPr id="521" name="T"/>
          <p:cNvSpPr txBox="1"/>
          <p:nvPr/>
        </p:nvSpPr>
        <p:spPr>
          <a:xfrm>
            <a:off x="10710367" y="2592832"/>
            <a:ext cx="731520"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Level III</a:t>
            </a:r>
            <a:endParaRPr lang="id-ID" sz="620"/>
          </a:p>
        </p:txBody>
      </p:sp>
      <p:sp>
        <p:nvSpPr>
          <p:cNvPr id="522" name="K"/>
          <p:cNvSpPr/>
          <p:nvPr/>
        </p:nvSpPr>
        <p:spPr>
          <a:xfrm>
            <a:off x="7607808" y="2826512"/>
            <a:ext cx="1092000" cy="164592"/>
          </a:xfrm>
          <a:prstGeom prst="roundRect">
            <a:avLst>
              <a:gd name="adj" fmla="val 50000"/>
            </a:avLst>
          </a:prstGeom>
          <a:solidFill>
            <a:srgbClr val="FFFFFF"/>
          </a:solidFill>
          <a:ln w="9525">
            <a:solidFill>
              <a:srgbClr val="F2C9A8"/>
            </a:solidFill>
          </a:ln>
        </p:spPr>
      </p:sp>
      <p:pic>
        <p:nvPicPr>
          <p:cNvPr id="523" name="G"/>
          <p:cNvPicPr>
            <a:picLocks noChangeAspect="1"/>
          </p:cNvPicPr>
          <p:nvPr/>
        </p:nvPicPr>
        <p:blipFill>
          <a:blip r:embed="rIdM17"/>
          <a:stretch>
            <a:fillRect/>
          </a:stretch>
        </p:blipFill>
        <p:spPr>
          <a:xfrm>
            <a:off x="7653528" y="2853944"/>
            <a:ext cx="109728" cy="109728"/>
          </a:xfrm>
          <a:prstGeom prst="rect">
            <a:avLst/>
          </a:prstGeom>
        </p:spPr>
      </p:pic>
      <p:sp>
        <p:nvSpPr>
          <p:cNvPr id="524" name="T"/>
          <p:cNvSpPr txBox="1"/>
          <p:nvPr/>
        </p:nvSpPr>
        <p:spPr>
          <a:xfrm>
            <a:off x="7799832" y="2826512"/>
            <a:ext cx="882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5 km</a:t>
            </a:r>
            <a:r>
              <a:rPr lang="id-ID" sz="700" dirty="0">
                <a:solidFill>
                  <a:srgbClr val="2E3440"/>
                </a:solidFill>
                <a:latin typeface="Roboto"/>
                <a:ea typeface="Roboto"/>
                <a:cs typeface="Roboto"/>
              </a:rPr>
              <a:t>  radius bahaya</a:t>
            </a:r>
            <a:endParaRPr lang="id-ID" sz="700"/>
          </a:p>
        </p:txBody>
      </p:sp>
      <p:sp>
        <p:nvSpPr>
          <p:cNvPr id="489" name="K"/>
          <p:cNvSpPr/>
          <p:nvPr/>
        </p:nvSpPr>
        <p:spPr>
          <a:xfrm>
            <a:off x="7607808" y="3074416"/>
            <a:ext cx="696480" cy="155448"/>
          </a:xfrm>
          <a:prstGeom prst="roundRect">
            <a:avLst>
              <a:gd name="adj" fmla="val 50000"/>
            </a:avLst>
          </a:prstGeom>
          <a:solidFill>
            <a:srgbClr val="F8DDE0"/>
          </a:solidFill>
          <a:ln>
            <a:noFill/>
          </a:ln>
        </p:spPr>
      </p:sp>
      <p:pic>
        <p:nvPicPr>
          <p:cNvPr id="490" name="G"/>
          <p:cNvPicPr>
            <a:picLocks noChangeAspect="1"/>
          </p:cNvPicPr>
          <p:nvPr/>
        </p:nvPicPr>
        <p:blipFill>
          <a:blip r:embed="rIdM11"/>
          <a:stretch>
            <a:fillRect/>
          </a:stretch>
        </p:blipFill>
        <p:spPr>
          <a:xfrm>
            <a:off x="7653528" y="3101848"/>
            <a:ext cx="100584" cy="100584"/>
          </a:xfrm>
          <a:prstGeom prst="rect">
            <a:avLst/>
          </a:prstGeom>
        </p:spPr>
      </p:pic>
      <p:sp>
        <p:nvSpPr>
          <p:cNvPr id="491" name="T"/>
          <p:cNvSpPr txBox="1"/>
          <p:nvPr/>
        </p:nvSpPr>
        <p:spPr>
          <a:xfrm>
            <a:off x="7790688" y="3074416"/>
            <a:ext cx="49531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Aliran lava</a:t>
            </a:r>
            <a:endParaRPr lang="id-ID" sz="620"/>
          </a:p>
        </p:txBody>
      </p:sp>
      <p:sp>
        <p:nvSpPr>
          <p:cNvPr id="492" name="K"/>
          <p:cNvSpPr/>
          <p:nvPr/>
        </p:nvSpPr>
        <p:spPr>
          <a:xfrm>
            <a:off x="8350008" y="3074416"/>
            <a:ext cx="1013920" cy="155448"/>
          </a:xfrm>
          <a:prstGeom prst="roundRect">
            <a:avLst>
              <a:gd name="adj" fmla="val 50000"/>
            </a:avLst>
          </a:prstGeom>
          <a:solidFill>
            <a:srgbClr val="F8DDE0"/>
          </a:solidFill>
          <a:ln>
            <a:noFill/>
          </a:ln>
        </p:spPr>
      </p:sp>
      <p:pic>
        <p:nvPicPr>
          <p:cNvPr id="493" name="G"/>
          <p:cNvPicPr>
            <a:picLocks noChangeAspect="1"/>
          </p:cNvPicPr>
          <p:nvPr/>
        </p:nvPicPr>
        <p:blipFill>
          <a:blip r:embed="rIdM11"/>
          <a:stretch>
            <a:fillRect/>
          </a:stretch>
        </p:blipFill>
        <p:spPr>
          <a:xfrm>
            <a:off x="8395728" y="3101848"/>
            <a:ext cx="100584" cy="100584"/>
          </a:xfrm>
          <a:prstGeom prst="rect">
            <a:avLst/>
          </a:prstGeom>
        </p:spPr>
      </p:pic>
      <p:sp>
        <p:nvSpPr>
          <p:cNvPr id="494" name="T"/>
          <p:cNvSpPr txBox="1"/>
          <p:nvPr/>
        </p:nvSpPr>
        <p:spPr>
          <a:xfrm>
            <a:off x="8532888" y="3074416"/>
            <a:ext cx="81275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Lontaran batu pijar</a:t>
            </a:r>
            <a:endParaRPr lang="id-ID" sz="620"/>
          </a:p>
        </p:txBody>
      </p:sp>
      <p:sp>
        <p:nvSpPr>
          <p:cNvPr id="495" name="K"/>
          <p:cNvSpPr/>
          <p:nvPr/>
        </p:nvSpPr>
        <p:spPr>
          <a:xfrm>
            <a:off x="9409648" y="3074416"/>
            <a:ext cx="617120" cy="155448"/>
          </a:xfrm>
          <a:prstGeom prst="roundRect">
            <a:avLst>
              <a:gd name="adj" fmla="val 50000"/>
            </a:avLst>
          </a:prstGeom>
          <a:solidFill>
            <a:srgbClr val="F8DDE0"/>
          </a:solidFill>
          <a:ln>
            <a:noFill/>
          </a:ln>
        </p:spPr>
      </p:sp>
      <p:pic>
        <p:nvPicPr>
          <p:cNvPr id="496" name="G"/>
          <p:cNvPicPr>
            <a:picLocks noChangeAspect="1"/>
          </p:cNvPicPr>
          <p:nvPr/>
        </p:nvPicPr>
        <p:blipFill>
          <a:blip r:embed="rIdM11"/>
          <a:stretch>
            <a:fillRect/>
          </a:stretch>
        </p:blipFill>
        <p:spPr>
          <a:xfrm>
            <a:off x="9455368" y="3101848"/>
            <a:ext cx="100584" cy="100584"/>
          </a:xfrm>
          <a:prstGeom prst="rect">
            <a:avLst/>
          </a:prstGeom>
        </p:spPr>
      </p:pic>
      <p:sp>
        <p:nvSpPr>
          <p:cNvPr id="497" name="T"/>
          <p:cNvSpPr txBox="1"/>
          <p:nvPr/>
        </p:nvSpPr>
        <p:spPr>
          <a:xfrm>
            <a:off x="9592528" y="3074416"/>
            <a:ext cx="41595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Hujan abu</a:t>
            </a:r>
            <a:endParaRPr lang="id-ID" sz="620"/>
          </a:p>
        </p:txBody>
      </p:sp>
      <p:sp>
        <p:nvSpPr>
          <p:cNvPr id="498" name="K"/>
          <p:cNvSpPr/>
          <p:nvPr/>
        </p:nvSpPr>
        <p:spPr>
          <a:xfrm>
            <a:off x="10072488" y="3074416"/>
            <a:ext cx="855200" cy="155448"/>
          </a:xfrm>
          <a:prstGeom prst="roundRect">
            <a:avLst>
              <a:gd name="adj" fmla="val 50000"/>
            </a:avLst>
          </a:prstGeom>
          <a:solidFill>
            <a:srgbClr val="F8DDE0"/>
          </a:solidFill>
          <a:ln>
            <a:noFill/>
          </a:ln>
        </p:spPr>
      </p:sp>
      <p:pic>
        <p:nvPicPr>
          <p:cNvPr id="499" name="G"/>
          <p:cNvPicPr>
            <a:picLocks noChangeAspect="1"/>
          </p:cNvPicPr>
          <p:nvPr/>
        </p:nvPicPr>
        <p:blipFill>
          <a:blip r:embed="rIdM11"/>
          <a:stretch>
            <a:fillRect/>
          </a:stretch>
        </p:blipFill>
        <p:spPr>
          <a:xfrm>
            <a:off x="10118208" y="3101848"/>
            <a:ext cx="100584" cy="100584"/>
          </a:xfrm>
          <a:prstGeom prst="rect">
            <a:avLst/>
          </a:prstGeom>
        </p:spPr>
      </p:pic>
      <p:sp>
        <p:nvSpPr>
          <p:cNvPr id="500" name="T"/>
          <p:cNvSpPr txBox="1"/>
          <p:nvPr/>
        </p:nvSpPr>
        <p:spPr>
          <a:xfrm>
            <a:off x="10255368" y="3074416"/>
            <a:ext cx="65403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Erupsi sekunder</a:t>
            </a:r>
            <a:endParaRPr lang="id-ID" sz="620"/>
          </a:p>
        </p:txBody>
      </p:sp>
      <p:sp>
        <p:nvSpPr>
          <p:cNvPr id="501" name="K"/>
          <p:cNvSpPr/>
          <p:nvPr/>
        </p:nvSpPr>
        <p:spPr>
          <a:xfrm>
            <a:off x="7607808" y="3275584"/>
            <a:ext cx="775840" cy="155448"/>
          </a:xfrm>
          <a:prstGeom prst="roundRect">
            <a:avLst>
              <a:gd name="adj" fmla="val 50000"/>
            </a:avLst>
          </a:prstGeom>
          <a:solidFill>
            <a:srgbClr val="E3EAF1"/>
          </a:solidFill>
          <a:ln>
            <a:noFill/>
          </a:ln>
        </p:spPr>
      </p:sp>
      <p:pic>
        <p:nvPicPr>
          <p:cNvPr id="502" name="G"/>
          <p:cNvPicPr>
            <a:picLocks noChangeAspect="1"/>
          </p:cNvPicPr>
          <p:nvPr/>
        </p:nvPicPr>
        <p:blipFill>
          <a:blip r:embed="rIdM15"/>
          <a:stretch>
            <a:fillRect/>
          </a:stretch>
        </p:blipFill>
        <p:spPr>
          <a:xfrm>
            <a:off x="7653528" y="3303016"/>
            <a:ext cx="100584" cy="100584"/>
          </a:xfrm>
          <a:prstGeom prst="rect">
            <a:avLst/>
          </a:prstGeom>
        </p:spPr>
      </p:pic>
      <p:sp>
        <p:nvSpPr>
          <p:cNvPr id="503" name="T"/>
          <p:cNvSpPr txBox="1"/>
          <p:nvPr/>
        </p:nvSpPr>
        <p:spPr>
          <a:xfrm>
            <a:off x="7790688" y="3275584"/>
            <a:ext cx="57467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Sektor BL, Tg</a:t>
            </a:r>
            <a:endParaRPr lang="id-ID" sz="620"/>
          </a:p>
        </p:txBody>
      </p:sp>
      <p:sp>
        <p:nvSpPr>
          <p:cNvPr id="504" name="K"/>
          <p:cNvSpPr/>
          <p:nvPr/>
        </p:nvSpPr>
        <p:spPr>
          <a:xfrm>
            <a:off x="8429368" y="3275584"/>
            <a:ext cx="1410720" cy="155448"/>
          </a:xfrm>
          <a:prstGeom prst="roundRect">
            <a:avLst>
              <a:gd name="adj" fmla="val 50000"/>
            </a:avLst>
          </a:prstGeom>
          <a:solidFill>
            <a:srgbClr val="E3EAF1"/>
          </a:solidFill>
          <a:ln>
            <a:noFill/>
          </a:ln>
        </p:spPr>
      </p:sp>
      <p:pic>
        <p:nvPicPr>
          <p:cNvPr id="505" name="G"/>
          <p:cNvPicPr>
            <a:picLocks noChangeAspect="1"/>
          </p:cNvPicPr>
          <p:nvPr/>
        </p:nvPicPr>
        <p:blipFill>
          <a:blip r:embed="rIdM15"/>
          <a:stretch>
            <a:fillRect/>
          </a:stretch>
        </p:blipFill>
        <p:spPr>
          <a:xfrm>
            <a:off x="8475088" y="3303016"/>
            <a:ext cx="100584" cy="100584"/>
          </a:xfrm>
          <a:prstGeom prst="rect">
            <a:avLst/>
          </a:prstGeom>
        </p:spPr>
      </p:pic>
      <p:sp>
        <p:nvSpPr>
          <p:cNvPr id="506" name="T"/>
          <p:cNvSpPr txBox="1"/>
          <p:nvPr/>
        </p:nvSpPr>
        <p:spPr>
          <a:xfrm>
            <a:off x="8612248" y="3275584"/>
            <a:ext cx="120955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1 km dari pulau baru (BL, Tg)</a:t>
            </a:r>
            <a:endParaRPr lang="id-ID" sz="620"/>
          </a:p>
        </p:txBody>
      </p:sp>
      <p:sp>
        <p:nvSpPr>
          <p:cNvPr id="507" name="K"/>
          <p:cNvSpPr/>
          <p:nvPr/>
        </p:nvSpPr>
        <p:spPr>
          <a:xfrm>
            <a:off x="9885808" y="3275584"/>
            <a:ext cx="1410720" cy="155448"/>
          </a:xfrm>
          <a:prstGeom prst="roundRect">
            <a:avLst>
              <a:gd name="adj" fmla="val 50000"/>
            </a:avLst>
          </a:prstGeom>
          <a:solidFill>
            <a:srgbClr val="E6EAF0"/>
          </a:solidFill>
          <a:ln>
            <a:noFill/>
          </a:ln>
        </p:spPr>
      </p:sp>
      <p:pic>
        <p:nvPicPr>
          <p:cNvPr id="508" name="G"/>
          <p:cNvPicPr>
            <a:picLocks noChangeAspect="1"/>
          </p:cNvPicPr>
          <p:nvPr/>
        </p:nvPicPr>
        <p:blipFill>
          <a:blip r:embed="rIdM16"/>
          <a:stretch>
            <a:fillRect/>
          </a:stretch>
        </p:blipFill>
        <p:spPr>
          <a:xfrm>
            <a:off x="9931528" y="3303016"/>
            <a:ext cx="100584" cy="100584"/>
          </a:xfrm>
          <a:prstGeom prst="rect">
            <a:avLst/>
          </a:prstGeom>
        </p:spPr>
      </p:pic>
      <p:sp>
        <p:nvSpPr>
          <p:cNvPr id="509" name="T"/>
          <p:cNvSpPr txBox="1"/>
          <p:nvPr/>
        </p:nvSpPr>
        <p:spPr>
          <a:xfrm>
            <a:off x="10068688" y="3275584"/>
            <a:ext cx="1209552" cy="155448"/>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Larangan wisata dan pendakian</a:t>
            </a:r>
            <a:endParaRPr lang="id-ID" sz="620"/>
          </a:p>
        </p:txBody>
      </p:sp>
      <p:sp>
        <p:nvSpPr>
          <p:cNvPr id="510" name="K"/>
          <p:cNvSpPr/>
          <p:nvPr/>
        </p:nvSpPr>
        <p:spPr>
          <a:xfrm>
            <a:off x="7607808" y="3476752"/>
            <a:ext cx="1013920" cy="155448"/>
          </a:xfrm>
          <a:prstGeom prst="roundRect">
            <a:avLst>
              <a:gd name="adj" fmla="val 50000"/>
            </a:avLst>
          </a:prstGeom>
          <a:solidFill>
            <a:srgbClr val="E6EAF0"/>
          </a:solidFill>
          <a:ln>
            <a:noFill/>
          </a:ln>
        </p:spPr>
      </p:sp>
      <p:pic>
        <p:nvPicPr>
          <p:cNvPr id="511" name="G"/>
          <p:cNvPicPr>
            <a:picLocks noChangeAspect="1"/>
          </p:cNvPicPr>
          <p:nvPr/>
        </p:nvPicPr>
        <p:blipFill>
          <a:blip r:embed="rIdM16"/>
          <a:stretch>
            <a:fillRect/>
          </a:stretch>
        </p:blipFill>
        <p:spPr>
          <a:xfrm>
            <a:off x="7653528" y="3504184"/>
            <a:ext cx="100584" cy="100584"/>
          </a:xfrm>
          <a:prstGeom prst="rect">
            <a:avLst/>
          </a:prstGeom>
        </p:spPr>
      </p:pic>
      <p:sp>
        <p:nvSpPr>
          <p:cNvPr id="512" name="T"/>
          <p:cNvSpPr txBox="1"/>
          <p:nvPr/>
        </p:nvSpPr>
        <p:spPr>
          <a:xfrm>
            <a:off x="7790688" y="3476752"/>
            <a:ext cx="812752" cy="155448"/>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Abaikan isu tsunami</a:t>
            </a:r>
            <a:endParaRPr lang="id-ID" sz="620"/>
          </a:p>
        </p:txBody>
      </p:sp>
      <p:sp>
        <p:nvSpPr>
          <p:cNvPr id="513" name="K"/>
          <p:cNvSpPr/>
          <p:nvPr/>
        </p:nvSpPr>
        <p:spPr>
          <a:xfrm>
            <a:off x="8667448" y="3476752"/>
            <a:ext cx="934560" cy="155448"/>
          </a:xfrm>
          <a:prstGeom prst="roundRect">
            <a:avLst>
              <a:gd name="adj" fmla="val 50000"/>
            </a:avLst>
          </a:prstGeom>
          <a:solidFill>
            <a:srgbClr val="E6EAF0"/>
          </a:solidFill>
          <a:ln>
            <a:noFill/>
          </a:ln>
        </p:spPr>
      </p:sp>
      <p:pic>
        <p:nvPicPr>
          <p:cNvPr id="514" name="G"/>
          <p:cNvPicPr>
            <a:picLocks noChangeAspect="1"/>
          </p:cNvPicPr>
          <p:nvPr/>
        </p:nvPicPr>
        <p:blipFill>
          <a:blip r:embed="rIdM16"/>
          <a:stretch>
            <a:fillRect/>
          </a:stretch>
        </p:blipFill>
        <p:spPr>
          <a:xfrm>
            <a:off x="8713168" y="3504184"/>
            <a:ext cx="100584" cy="100584"/>
          </a:xfrm>
          <a:prstGeom prst="rect">
            <a:avLst/>
          </a:prstGeom>
        </p:spPr>
      </p:pic>
      <p:sp>
        <p:nvSpPr>
          <p:cNvPr id="515" name="T"/>
          <p:cNvSpPr txBox="1"/>
          <p:nvPr/>
        </p:nvSpPr>
        <p:spPr>
          <a:xfrm>
            <a:off x="8850328" y="3476752"/>
            <a:ext cx="733392" cy="155448"/>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Ikuti arahan BPBD</a:t>
            </a:r>
            <a:endParaRPr lang="id-ID" sz="620"/>
          </a:p>
        </p:txBody>
      </p:sp>
      <p:sp>
        <p:nvSpPr>
          <p:cNvPr id="540" name="K"/>
          <p:cNvSpPr/>
          <p:nvPr/>
        </p:nvSpPr>
        <p:spPr>
          <a:xfrm>
            <a:off x="7534656" y="3806952"/>
            <a:ext cx="3980383" cy="1018032"/>
          </a:xfrm>
          <a:prstGeom prst="roundRect">
            <a:avLst>
              <a:gd name="adj" fmla="val 8840"/>
            </a:avLst>
          </a:prstGeom>
          <a:solidFill>
            <a:srgbClr val="F7F8FA"/>
          </a:solidFill>
          <a:ln>
            <a:noFill/>
          </a:ln>
        </p:spPr>
      </p:sp>
      <p:sp>
        <p:nvSpPr>
          <p:cNvPr id="541" name="K"/>
          <p:cNvSpPr/>
          <p:nvPr/>
        </p:nvSpPr>
        <p:spPr>
          <a:xfrm>
            <a:off x="7607808" y="3876040"/>
            <a:ext cx="182880" cy="182880"/>
          </a:xfrm>
          <a:prstGeom prst="ellipse">
            <a:avLst/>
          </a:prstGeom>
          <a:solidFill>
            <a:srgbClr val="D9600B"/>
          </a:solidFill>
          <a:ln>
            <a:noFill/>
          </a:ln>
        </p:spPr>
      </p:sp>
      <p:pic>
        <p:nvPicPr>
          <p:cNvPr id="542" name="G"/>
          <p:cNvPicPr>
            <a:picLocks noChangeAspect="1"/>
          </p:cNvPicPr>
          <p:nvPr/>
        </p:nvPicPr>
        <p:blipFill>
          <a:blip r:embed="rIdM10"/>
          <a:stretch>
            <a:fillRect/>
          </a:stretch>
        </p:blipFill>
        <p:spPr>
          <a:xfrm>
            <a:off x="7639812" y="3908044"/>
            <a:ext cx="118872" cy="118872"/>
          </a:xfrm>
          <a:prstGeom prst="rect">
            <a:avLst/>
          </a:prstGeom>
        </p:spPr>
      </p:pic>
      <p:sp>
        <p:nvSpPr>
          <p:cNvPr id="543" name="T"/>
          <p:cNvSpPr txBox="1"/>
          <p:nvPr/>
        </p:nvSpPr>
        <p:spPr>
          <a:xfrm>
            <a:off x="7854696" y="3866896"/>
            <a:ext cx="2880383" cy="201168"/>
          </a:xfrm>
          <a:prstGeom prst="rect">
            <a:avLst/>
          </a:prstGeom>
          <a:noFill/>
        </p:spPr>
        <p:txBody>
          <a:bodyPr wrap="none" lIns="0" tIns="0" rIns="0" bIns="0" anchor="ctr"/>
          <a:lstStyle/>
          <a:p>
            <a:pPr algn="l">
              <a:buNone/>
            </a:pPr>
            <a:r>
              <a:rPr lang="id-ID" sz="950" b="1" dirty="0">
                <a:solidFill>
                  <a:srgbClr val="1A1A1A"/>
                </a:solidFill>
                <a:latin typeface="Roboto"/>
                <a:ea typeface="Roboto"/>
                <a:cs typeface="Roboto"/>
              </a:rPr>
              <a:t>Gn. Merapi</a:t>
            </a:r>
            <a:endParaRPr lang="id-ID" sz="950"/>
          </a:p>
        </p:txBody>
      </p:sp>
      <p:sp>
        <p:nvSpPr>
          <p:cNvPr id="544" name="K"/>
          <p:cNvSpPr/>
          <p:nvPr/>
        </p:nvSpPr>
        <p:spPr>
          <a:xfrm>
            <a:off x="10710367" y="3885184"/>
            <a:ext cx="731520" cy="164592"/>
          </a:xfrm>
          <a:prstGeom prst="roundRect">
            <a:avLst>
              <a:gd name="adj" fmla="val 50000"/>
            </a:avLst>
          </a:prstGeom>
          <a:solidFill>
            <a:srgbClr val="FBE7D6"/>
          </a:solidFill>
          <a:ln>
            <a:noFill/>
          </a:ln>
        </p:spPr>
      </p:sp>
      <p:sp>
        <p:nvSpPr>
          <p:cNvPr id="545" name="T"/>
          <p:cNvSpPr txBox="1"/>
          <p:nvPr/>
        </p:nvSpPr>
        <p:spPr>
          <a:xfrm>
            <a:off x="10710367" y="3885184"/>
            <a:ext cx="731520"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Level III</a:t>
            </a:r>
            <a:endParaRPr lang="id-ID" sz="620"/>
          </a:p>
        </p:txBody>
      </p:sp>
      <p:sp>
        <p:nvSpPr>
          <p:cNvPr id="546" name="K"/>
          <p:cNvSpPr/>
          <p:nvPr/>
        </p:nvSpPr>
        <p:spPr>
          <a:xfrm>
            <a:off x="7607808" y="4118864"/>
            <a:ext cx="1092000" cy="164592"/>
          </a:xfrm>
          <a:prstGeom prst="roundRect">
            <a:avLst>
              <a:gd name="adj" fmla="val 50000"/>
            </a:avLst>
          </a:prstGeom>
          <a:solidFill>
            <a:srgbClr val="FFFFFF"/>
          </a:solidFill>
          <a:ln w="9525">
            <a:solidFill>
              <a:srgbClr val="F2C9A8"/>
            </a:solidFill>
          </a:ln>
        </p:spPr>
      </p:sp>
      <p:pic>
        <p:nvPicPr>
          <p:cNvPr id="547" name="G"/>
          <p:cNvPicPr>
            <a:picLocks noChangeAspect="1"/>
          </p:cNvPicPr>
          <p:nvPr/>
        </p:nvPicPr>
        <p:blipFill>
          <a:blip r:embed="rIdM17"/>
          <a:stretch>
            <a:fillRect/>
          </a:stretch>
        </p:blipFill>
        <p:spPr>
          <a:xfrm>
            <a:off x="7653528" y="4146296"/>
            <a:ext cx="109728" cy="109728"/>
          </a:xfrm>
          <a:prstGeom prst="rect">
            <a:avLst/>
          </a:prstGeom>
        </p:spPr>
      </p:pic>
      <p:sp>
        <p:nvSpPr>
          <p:cNvPr id="548" name="T"/>
          <p:cNvSpPr txBox="1"/>
          <p:nvPr/>
        </p:nvSpPr>
        <p:spPr>
          <a:xfrm>
            <a:off x="7799832" y="4118864"/>
            <a:ext cx="882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3 km</a:t>
            </a:r>
            <a:r>
              <a:rPr lang="id-ID" sz="700" dirty="0">
                <a:solidFill>
                  <a:srgbClr val="2E3440"/>
                </a:solidFill>
                <a:latin typeface="Roboto"/>
                <a:ea typeface="Roboto"/>
                <a:cs typeface="Roboto"/>
              </a:rPr>
              <a:t>  radius bahaya</a:t>
            </a:r>
            <a:endParaRPr lang="id-ID" sz="700"/>
          </a:p>
        </p:txBody>
      </p:sp>
      <p:sp>
        <p:nvSpPr>
          <p:cNvPr id="549" name="K"/>
          <p:cNvSpPr/>
          <p:nvPr/>
        </p:nvSpPr>
        <p:spPr>
          <a:xfrm>
            <a:off x="8745528" y="4118864"/>
            <a:ext cx="1136000" cy="164592"/>
          </a:xfrm>
          <a:prstGeom prst="roundRect">
            <a:avLst>
              <a:gd name="adj" fmla="val 50000"/>
            </a:avLst>
          </a:prstGeom>
          <a:solidFill>
            <a:srgbClr val="FFFFFF"/>
          </a:solidFill>
          <a:ln w="9525">
            <a:solidFill>
              <a:srgbClr val="F2C9A8"/>
            </a:solidFill>
          </a:ln>
        </p:spPr>
      </p:sp>
      <p:pic>
        <p:nvPicPr>
          <p:cNvPr id="550" name="G"/>
          <p:cNvPicPr>
            <a:picLocks noChangeAspect="1"/>
          </p:cNvPicPr>
          <p:nvPr/>
        </p:nvPicPr>
        <p:blipFill>
          <a:blip r:embed="rIdM18"/>
          <a:stretch>
            <a:fillRect/>
          </a:stretch>
        </p:blipFill>
        <p:spPr>
          <a:xfrm>
            <a:off x="8791248" y="4146296"/>
            <a:ext cx="109728" cy="109728"/>
          </a:xfrm>
          <a:prstGeom prst="rect">
            <a:avLst/>
          </a:prstGeom>
        </p:spPr>
      </p:pic>
      <p:sp>
        <p:nvSpPr>
          <p:cNvPr id="551" name="T"/>
          <p:cNvSpPr txBox="1"/>
          <p:nvPr/>
        </p:nvSpPr>
        <p:spPr>
          <a:xfrm>
            <a:off x="8937552" y="4118864"/>
            <a:ext cx="926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7 km</a:t>
            </a:r>
            <a:r>
              <a:rPr lang="id-ID" sz="700" dirty="0">
                <a:solidFill>
                  <a:srgbClr val="2E3440"/>
                </a:solidFill>
                <a:latin typeface="Roboto"/>
                <a:ea typeface="Roboto"/>
                <a:cs typeface="Roboto"/>
              </a:rPr>
              <a:t>  sektor terjauh</a:t>
            </a:r>
            <a:endParaRPr lang="id-ID" sz="700"/>
          </a:p>
        </p:txBody>
      </p:sp>
      <p:sp>
        <p:nvSpPr>
          <p:cNvPr id="525" name="K"/>
          <p:cNvSpPr/>
          <p:nvPr/>
        </p:nvSpPr>
        <p:spPr>
          <a:xfrm>
            <a:off x="7607808" y="4366768"/>
            <a:ext cx="656800" cy="155448"/>
          </a:xfrm>
          <a:prstGeom prst="roundRect">
            <a:avLst>
              <a:gd name="adj" fmla="val 50000"/>
            </a:avLst>
          </a:prstGeom>
          <a:solidFill>
            <a:srgbClr val="F8DDE0"/>
          </a:solidFill>
          <a:ln>
            <a:noFill/>
          </a:ln>
        </p:spPr>
      </p:sp>
      <p:pic>
        <p:nvPicPr>
          <p:cNvPr id="526" name="G"/>
          <p:cNvPicPr>
            <a:picLocks noChangeAspect="1"/>
          </p:cNvPicPr>
          <p:nvPr/>
        </p:nvPicPr>
        <p:blipFill>
          <a:blip r:embed="rIdM11"/>
          <a:stretch>
            <a:fillRect/>
          </a:stretch>
        </p:blipFill>
        <p:spPr>
          <a:xfrm>
            <a:off x="7653528" y="4394200"/>
            <a:ext cx="100584" cy="100584"/>
          </a:xfrm>
          <a:prstGeom prst="rect">
            <a:avLst/>
          </a:prstGeom>
        </p:spPr>
      </p:pic>
      <p:sp>
        <p:nvSpPr>
          <p:cNvPr id="527" name="T"/>
          <p:cNvSpPr txBox="1"/>
          <p:nvPr/>
        </p:nvSpPr>
        <p:spPr>
          <a:xfrm>
            <a:off x="7790688" y="4366768"/>
            <a:ext cx="45563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Awan panas</a:t>
            </a:r>
            <a:endParaRPr lang="id-ID" sz="620"/>
          </a:p>
        </p:txBody>
      </p:sp>
      <p:sp>
        <p:nvSpPr>
          <p:cNvPr id="528" name="K"/>
          <p:cNvSpPr/>
          <p:nvPr/>
        </p:nvSpPr>
        <p:spPr>
          <a:xfrm>
            <a:off x="8310328" y="4366768"/>
            <a:ext cx="736160" cy="155448"/>
          </a:xfrm>
          <a:prstGeom prst="roundRect">
            <a:avLst>
              <a:gd name="adj" fmla="val 50000"/>
            </a:avLst>
          </a:prstGeom>
          <a:solidFill>
            <a:srgbClr val="F8DDE0"/>
          </a:solidFill>
          <a:ln>
            <a:noFill/>
          </a:ln>
        </p:spPr>
      </p:sp>
      <p:pic>
        <p:nvPicPr>
          <p:cNvPr id="529" name="G"/>
          <p:cNvPicPr>
            <a:picLocks noChangeAspect="1"/>
          </p:cNvPicPr>
          <p:nvPr/>
        </p:nvPicPr>
        <p:blipFill>
          <a:blip r:embed="rIdM11"/>
          <a:stretch>
            <a:fillRect/>
          </a:stretch>
        </p:blipFill>
        <p:spPr>
          <a:xfrm>
            <a:off x="8356048" y="4394200"/>
            <a:ext cx="100584" cy="100584"/>
          </a:xfrm>
          <a:prstGeom prst="rect">
            <a:avLst/>
          </a:prstGeom>
        </p:spPr>
      </p:pic>
      <p:sp>
        <p:nvSpPr>
          <p:cNvPr id="530" name="T"/>
          <p:cNvSpPr txBox="1"/>
          <p:nvPr/>
        </p:nvSpPr>
        <p:spPr>
          <a:xfrm>
            <a:off x="8493208" y="4366768"/>
            <a:ext cx="53499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Guguran lava</a:t>
            </a:r>
            <a:endParaRPr lang="id-ID" sz="620"/>
          </a:p>
        </p:txBody>
      </p:sp>
      <p:sp>
        <p:nvSpPr>
          <p:cNvPr id="531" name="K"/>
          <p:cNvSpPr/>
          <p:nvPr/>
        </p:nvSpPr>
        <p:spPr>
          <a:xfrm>
            <a:off x="9092208" y="4366768"/>
            <a:ext cx="934560" cy="155448"/>
          </a:xfrm>
          <a:prstGeom prst="roundRect">
            <a:avLst>
              <a:gd name="adj" fmla="val 50000"/>
            </a:avLst>
          </a:prstGeom>
          <a:solidFill>
            <a:srgbClr val="F8DDE0"/>
          </a:solidFill>
          <a:ln>
            <a:noFill/>
          </a:ln>
        </p:spPr>
      </p:sp>
      <p:pic>
        <p:nvPicPr>
          <p:cNvPr id="532" name="G"/>
          <p:cNvPicPr>
            <a:picLocks noChangeAspect="1"/>
          </p:cNvPicPr>
          <p:nvPr/>
        </p:nvPicPr>
        <p:blipFill>
          <a:blip r:embed="rIdM11"/>
          <a:stretch>
            <a:fillRect/>
          </a:stretch>
        </p:blipFill>
        <p:spPr>
          <a:xfrm>
            <a:off x="9137928" y="4394200"/>
            <a:ext cx="100584" cy="100584"/>
          </a:xfrm>
          <a:prstGeom prst="rect">
            <a:avLst/>
          </a:prstGeom>
        </p:spPr>
      </p:pic>
      <p:sp>
        <p:nvSpPr>
          <p:cNvPr id="533" name="T"/>
          <p:cNvSpPr txBox="1"/>
          <p:nvPr/>
        </p:nvSpPr>
        <p:spPr>
          <a:xfrm>
            <a:off x="9275088" y="4366768"/>
            <a:ext cx="73339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Lontaran material</a:t>
            </a:r>
            <a:endParaRPr lang="id-ID" sz="620"/>
          </a:p>
        </p:txBody>
      </p:sp>
      <p:sp>
        <p:nvSpPr>
          <p:cNvPr id="534" name="K"/>
          <p:cNvSpPr/>
          <p:nvPr/>
        </p:nvSpPr>
        <p:spPr>
          <a:xfrm>
            <a:off x="10072488" y="4366768"/>
            <a:ext cx="855200" cy="155448"/>
          </a:xfrm>
          <a:prstGeom prst="roundRect">
            <a:avLst>
              <a:gd name="adj" fmla="val 50000"/>
            </a:avLst>
          </a:prstGeom>
          <a:solidFill>
            <a:srgbClr val="E3EAF1"/>
          </a:solidFill>
          <a:ln>
            <a:noFill/>
          </a:ln>
        </p:spPr>
      </p:sp>
      <p:pic>
        <p:nvPicPr>
          <p:cNvPr id="535" name="G"/>
          <p:cNvPicPr>
            <a:picLocks noChangeAspect="1"/>
          </p:cNvPicPr>
          <p:nvPr/>
        </p:nvPicPr>
        <p:blipFill>
          <a:blip r:embed="rIdM15"/>
          <a:stretch>
            <a:fillRect/>
          </a:stretch>
        </p:blipFill>
        <p:spPr>
          <a:xfrm>
            <a:off x="10118208" y="4394200"/>
            <a:ext cx="100584" cy="100584"/>
          </a:xfrm>
          <a:prstGeom prst="rect">
            <a:avLst/>
          </a:prstGeom>
        </p:spPr>
      </p:pic>
      <p:sp>
        <p:nvSpPr>
          <p:cNvPr id="536" name="T"/>
          <p:cNvSpPr txBox="1"/>
          <p:nvPr/>
        </p:nvSpPr>
        <p:spPr>
          <a:xfrm>
            <a:off x="10255368" y="4366768"/>
            <a:ext cx="65403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Sektor S-BD, Tg</a:t>
            </a:r>
            <a:endParaRPr lang="id-ID" sz="620"/>
          </a:p>
        </p:txBody>
      </p:sp>
      <p:sp>
        <p:nvSpPr>
          <p:cNvPr id="537" name="K"/>
          <p:cNvSpPr/>
          <p:nvPr/>
        </p:nvSpPr>
        <p:spPr>
          <a:xfrm>
            <a:off x="7607808" y="4567936"/>
            <a:ext cx="2244000" cy="155448"/>
          </a:xfrm>
          <a:prstGeom prst="roundRect">
            <a:avLst>
              <a:gd name="adj" fmla="val 50000"/>
            </a:avLst>
          </a:prstGeom>
          <a:solidFill>
            <a:srgbClr val="E3EAF1"/>
          </a:solidFill>
          <a:ln>
            <a:noFill/>
          </a:ln>
        </p:spPr>
      </p:sp>
      <p:pic>
        <p:nvPicPr>
          <p:cNvPr id="538" name="G"/>
          <p:cNvPicPr>
            <a:picLocks noChangeAspect="1"/>
          </p:cNvPicPr>
          <p:nvPr/>
        </p:nvPicPr>
        <p:blipFill>
          <a:blip r:embed="rIdM15"/>
          <a:stretch>
            <a:fillRect/>
          </a:stretch>
        </p:blipFill>
        <p:spPr>
          <a:xfrm>
            <a:off x="7653528" y="4595368"/>
            <a:ext cx="100584" cy="100584"/>
          </a:xfrm>
          <a:prstGeom prst="rect">
            <a:avLst/>
          </a:prstGeom>
        </p:spPr>
      </p:pic>
      <p:sp>
        <p:nvSpPr>
          <p:cNvPr id="539" name="T"/>
          <p:cNvSpPr txBox="1"/>
          <p:nvPr/>
        </p:nvSpPr>
        <p:spPr>
          <a:xfrm>
            <a:off x="7790688" y="4567936"/>
            <a:ext cx="204283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Sungai Boyong, Bedog, Krasak, Bebeng, Woro, Gendol</a:t>
            </a:r>
            <a:endParaRPr lang="id-ID" sz="620"/>
          </a:p>
        </p:txBody>
      </p:sp>
      <p:sp>
        <p:nvSpPr>
          <p:cNvPr id="570" name="K"/>
          <p:cNvSpPr/>
          <p:nvPr/>
        </p:nvSpPr>
        <p:spPr>
          <a:xfrm>
            <a:off x="7534656" y="4898136"/>
            <a:ext cx="3980383" cy="1018032"/>
          </a:xfrm>
          <a:prstGeom prst="roundRect">
            <a:avLst>
              <a:gd name="adj" fmla="val 8840"/>
            </a:avLst>
          </a:prstGeom>
          <a:solidFill>
            <a:srgbClr val="F7F8FA"/>
          </a:solidFill>
          <a:ln>
            <a:noFill/>
          </a:ln>
        </p:spPr>
      </p:sp>
      <p:sp>
        <p:nvSpPr>
          <p:cNvPr id="571" name="K"/>
          <p:cNvSpPr/>
          <p:nvPr/>
        </p:nvSpPr>
        <p:spPr>
          <a:xfrm>
            <a:off x="7607808" y="4967224"/>
            <a:ext cx="182880" cy="182880"/>
          </a:xfrm>
          <a:prstGeom prst="ellipse">
            <a:avLst/>
          </a:prstGeom>
          <a:solidFill>
            <a:srgbClr val="D9600B"/>
          </a:solidFill>
          <a:ln>
            <a:noFill/>
          </a:ln>
        </p:spPr>
      </p:sp>
      <p:pic>
        <p:nvPicPr>
          <p:cNvPr id="572" name="G"/>
          <p:cNvPicPr>
            <a:picLocks noChangeAspect="1"/>
          </p:cNvPicPr>
          <p:nvPr/>
        </p:nvPicPr>
        <p:blipFill>
          <a:blip r:embed="rIdM10"/>
          <a:stretch>
            <a:fillRect/>
          </a:stretch>
        </p:blipFill>
        <p:spPr>
          <a:xfrm>
            <a:off x="7639812" y="4999228"/>
            <a:ext cx="118872" cy="118872"/>
          </a:xfrm>
          <a:prstGeom prst="rect">
            <a:avLst/>
          </a:prstGeom>
        </p:spPr>
      </p:pic>
      <p:sp>
        <p:nvSpPr>
          <p:cNvPr id="573" name="T"/>
          <p:cNvSpPr txBox="1"/>
          <p:nvPr/>
        </p:nvSpPr>
        <p:spPr>
          <a:xfrm>
            <a:off x="7854696" y="4958080"/>
            <a:ext cx="2880383" cy="201168"/>
          </a:xfrm>
          <a:prstGeom prst="rect">
            <a:avLst/>
          </a:prstGeom>
          <a:noFill/>
        </p:spPr>
        <p:txBody>
          <a:bodyPr wrap="none" lIns="0" tIns="0" rIns="0" bIns="0" anchor="ctr"/>
          <a:lstStyle/>
          <a:p>
            <a:pPr algn="l">
              <a:buNone/>
            </a:pPr>
            <a:r>
              <a:rPr lang="id-ID" sz="950" b="1" dirty="0">
                <a:solidFill>
                  <a:srgbClr val="1A1A1A"/>
                </a:solidFill>
                <a:latin typeface="Roboto"/>
                <a:ea typeface="Roboto"/>
                <a:cs typeface="Roboto"/>
              </a:rPr>
              <a:t>Gn. Semeru</a:t>
            </a:r>
            <a:endParaRPr lang="id-ID" sz="950"/>
          </a:p>
        </p:txBody>
      </p:sp>
      <p:sp>
        <p:nvSpPr>
          <p:cNvPr id="574" name="K"/>
          <p:cNvSpPr/>
          <p:nvPr/>
        </p:nvSpPr>
        <p:spPr>
          <a:xfrm>
            <a:off x="10710367" y="4976368"/>
            <a:ext cx="731520" cy="164592"/>
          </a:xfrm>
          <a:prstGeom prst="roundRect">
            <a:avLst>
              <a:gd name="adj" fmla="val 50000"/>
            </a:avLst>
          </a:prstGeom>
          <a:solidFill>
            <a:srgbClr val="FBE7D6"/>
          </a:solidFill>
          <a:ln>
            <a:noFill/>
          </a:ln>
        </p:spPr>
      </p:sp>
      <p:sp>
        <p:nvSpPr>
          <p:cNvPr id="575" name="T"/>
          <p:cNvSpPr txBox="1"/>
          <p:nvPr/>
        </p:nvSpPr>
        <p:spPr>
          <a:xfrm>
            <a:off x="10710367" y="4976368"/>
            <a:ext cx="731520" cy="164592"/>
          </a:xfrm>
          <a:prstGeom prst="rect">
            <a:avLst/>
          </a:prstGeom>
          <a:noFill/>
        </p:spPr>
        <p:txBody>
          <a:bodyPr wrap="square" lIns="0" tIns="0" rIns="0" bIns="0" anchor="ctr"/>
          <a:lstStyle/>
          <a:p>
            <a:pPr algn="ctr">
              <a:buNone/>
            </a:pPr>
            <a:r>
              <a:rPr lang="id-ID" sz="700" b="1" dirty="0">
                <a:solidFill>
                  <a:srgbClr val="D9600B"/>
                </a:solidFill>
                <a:latin typeface="Roboto"/>
                <a:ea typeface="Roboto"/>
                <a:cs typeface="Roboto"/>
              </a:rPr>
              <a:t>Siaga  Level III</a:t>
            </a:r>
            <a:endParaRPr lang="id-ID" sz="620"/>
          </a:p>
        </p:txBody>
      </p:sp>
      <p:sp>
        <p:nvSpPr>
          <p:cNvPr id="576" name="K"/>
          <p:cNvSpPr/>
          <p:nvPr/>
        </p:nvSpPr>
        <p:spPr>
          <a:xfrm>
            <a:off x="7607808" y="5210048"/>
            <a:ext cx="1092000" cy="164592"/>
          </a:xfrm>
          <a:prstGeom prst="roundRect">
            <a:avLst>
              <a:gd name="adj" fmla="val 50000"/>
            </a:avLst>
          </a:prstGeom>
          <a:solidFill>
            <a:srgbClr val="FFFFFF"/>
          </a:solidFill>
          <a:ln w="9525">
            <a:solidFill>
              <a:srgbClr val="F2C9A8"/>
            </a:solidFill>
          </a:ln>
        </p:spPr>
      </p:sp>
      <p:pic>
        <p:nvPicPr>
          <p:cNvPr id="577" name="G"/>
          <p:cNvPicPr>
            <a:picLocks noChangeAspect="1"/>
          </p:cNvPicPr>
          <p:nvPr/>
        </p:nvPicPr>
        <p:blipFill>
          <a:blip r:embed="rIdM17"/>
          <a:stretch>
            <a:fillRect/>
          </a:stretch>
        </p:blipFill>
        <p:spPr>
          <a:xfrm>
            <a:off x="7653528" y="5237480"/>
            <a:ext cx="109728" cy="109728"/>
          </a:xfrm>
          <a:prstGeom prst="rect">
            <a:avLst/>
          </a:prstGeom>
        </p:spPr>
      </p:pic>
      <p:sp>
        <p:nvSpPr>
          <p:cNvPr id="578" name="T"/>
          <p:cNvSpPr txBox="1"/>
          <p:nvPr/>
        </p:nvSpPr>
        <p:spPr>
          <a:xfrm>
            <a:off x="7799832" y="5210048"/>
            <a:ext cx="882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5 km</a:t>
            </a:r>
            <a:r>
              <a:rPr lang="id-ID" sz="700" dirty="0">
                <a:solidFill>
                  <a:srgbClr val="2E3440"/>
                </a:solidFill>
                <a:latin typeface="Roboto"/>
                <a:ea typeface="Roboto"/>
                <a:cs typeface="Roboto"/>
              </a:rPr>
              <a:t>  radius bahaya</a:t>
            </a:r>
            <a:endParaRPr lang="id-ID" sz="700"/>
          </a:p>
        </p:txBody>
      </p:sp>
      <p:sp>
        <p:nvSpPr>
          <p:cNvPr id="579" name="K"/>
          <p:cNvSpPr/>
          <p:nvPr/>
        </p:nvSpPr>
        <p:spPr>
          <a:xfrm>
            <a:off x="8745528" y="5210048"/>
            <a:ext cx="1180000" cy="164592"/>
          </a:xfrm>
          <a:prstGeom prst="roundRect">
            <a:avLst>
              <a:gd name="adj" fmla="val 50000"/>
            </a:avLst>
          </a:prstGeom>
          <a:solidFill>
            <a:srgbClr val="FFFFFF"/>
          </a:solidFill>
          <a:ln w="9525">
            <a:solidFill>
              <a:srgbClr val="F2C9A8"/>
            </a:solidFill>
          </a:ln>
        </p:spPr>
      </p:sp>
      <p:pic>
        <p:nvPicPr>
          <p:cNvPr id="580" name="G"/>
          <p:cNvPicPr>
            <a:picLocks noChangeAspect="1"/>
          </p:cNvPicPr>
          <p:nvPr/>
        </p:nvPicPr>
        <p:blipFill>
          <a:blip r:embed="rIdM18"/>
          <a:stretch>
            <a:fillRect/>
          </a:stretch>
        </p:blipFill>
        <p:spPr>
          <a:xfrm>
            <a:off x="8791248" y="5237480"/>
            <a:ext cx="109728" cy="109728"/>
          </a:xfrm>
          <a:prstGeom prst="rect">
            <a:avLst/>
          </a:prstGeom>
        </p:spPr>
      </p:pic>
      <p:sp>
        <p:nvSpPr>
          <p:cNvPr id="581" name="T"/>
          <p:cNvSpPr txBox="1"/>
          <p:nvPr/>
        </p:nvSpPr>
        <p:spPr>
          <a:xfrm>
            <a:off x="8937552" y="5210048"/>
            <a:ext cx="970000" cy="164592"/>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13 km</a:t>
            </a:r>
            <a:r>
              <a:rPr lang="id-ID" sz="700" dirty="0">
                <a:solidFill>
                  <a:srgbClr val="2E3440"/>
                </a:solidFill>
                <a:latin typeface="Roboto"/>
                <a:ea typeface="Roboto"/>
                <a:cs typeface="Roboto"/>
              </a:rPr>
              <a:t>  sektor terjauh</a:t>
            </a:r>
            <a:endParaRPr lang="id-ID" sz="700"/>
          </a:p>
        </p:txBody>
      </p:sp>
      <p:sp>
        <p:nvSpPr>
          <p:cNvPr id="552" name="K"/>
          <p:cNvSpPr/>
          <p:nvPr/>
        </p:nvSpPr>
        <p:spPr>
          <a:xfrm>
            <a:off x="7607808" y="5457952"/>
            <a:ext cx="656800" cy="155448"/>
          </a:xfrm>
          <a:prstGeom prst="roundRect">
            <a:avLst>
              <a:gd name="adj" fmla="val 50000"/>
            </a:avLst>
          </a:prstGeom>
          <a:solidFill>
            <a:srgbClr val="F8DDE0"/>
          </a:solidFill>
          <a:ln>
            <a:noFill/>
          </a:ln>
        </p:spPr>
      </p:sp>
      <p:pic>
        <p:nvPicPr>
          <p:cNvPr id="553" name="G"/>
          <p:cNvPicPr>
            <a:picLocks noChangeAspect="1"/>
          </p:cNvPicPr>
          <p:nvPr/>
        </p:nvPicPr>
        <p:blipFill>
          <a:blip r:embed="rIdM11"/>
          <a:stretch>
            <a:fillRect/>
          </a:stretch>
        </p:blipFill>
        <p:spPr>
          <a:xfrm>
            <a:off x="7653528" y="5485384"/>
            <a:ext cx="100584" cy="100584"/>
          </a:xfrm>
          <a:prstGeom prst="rect">
            <a:avLst/>
          </a:prstGeom>
        </p:spPr>
      </p:pic>
      <p:sp>
        <p:nvSpPr>
          <p:cNvPr id="554" name="T"/>
          <p:cNvSpPr txBox="1"/>
          <p:nvPr/>
        </p:nvSpPr>
        <p:spPr>
          <a:xfrm>
            <a:off x="7790688" y="5457952"/>
            <a:ext cx="45563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Awan panas</a:t>
            </a:r>
            <a:endParaRPr lang="id-ID" sz="620"/>
          </a:p>
        </p:txBody>
      </p:sp>
      <p:sp>
        <p:nvSpPr>
          <p:cNvPr id="555" name="K"/>
          <p:cNvSpPr/>
          <p:nvPr/>
        </p:nvSpPr>
        <p:spPr>
          <a:xfrm>
            <a:off x="8310328" y="5457952"/>
            <a:ext cx="736160" cy="155448"/>
          </a:xfrm>
          <a:prstGeom prst="roundRect">
            <a:avLst>
              <a:gd name="adj" fmla="val 50000"/>
            </a:avLst>
          </a:prstGeom>
          <a:solidFill>
            <a:srgbClr val="F8DDE0"/>
          </a:solidFill>
          <a:ln>
            <a:noFill/>
          </a:ln>
        </p:spPr>
      </p:sp>
      <p:pic>
        <p:nvPicPr>
          <p:cNvPr id="556" name="G"/>
          <p:cNvPicPr>
            <a:picLocks noChangeAspect="1"/>
          </p:cNvPicPr>
          <p:nvPr/>
        </p:nvPicPr>
        <p:blipFill>
          <a:blip r:embed="rIdM11"/>
          <a:stretch>
            <a:fillRect/>
          </a:stretch>
        </p:blipFill>
        <p:spPr>
          <a:xfrm>
            <a:off x="8356048" y="5485384"/>
            <a:ext cx="100584" cy="100584"/>
          </a:xfrm>
          <a:prstGeom prst="rect">
            <a:avLst/>
          </a:prstGeom>
        </p:spPr>
      </p:pic>
      <p:sp>
        <p:nvSpPr>
          <p:cNvPr id="557" name="T"/>
          <p:cNvSpPr txBox="1"/>
          <p:nvPr/>
        </p:nvSpPr>
        <p:spPr>
          <a:xfrm>
            <a:off x="8493208" y="5457952"/>
            <a:ext cx="53499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Guguran lava</a:t>
            </a:r>
            <a:endParaRPr lang="id-ID" sz="620"/>
          </a:p>
        </p:txBody>
      </p:sp>
      <p:sp>
        <p:nvSpPr>
          <p:cNvPr id="558" name="K"/>
          <p:cNvSpPr/>
          <p:nvPr/>
        </p:nvSpPr>
        <p:spPr>
          <a:xfrm>
            <a:off x="9092208" y="5457952"/>
            <a:ext cx="1013920" cy="155448"/>
          </a:xfrm>
          <a:prstGeom prst="roundRect">
            <a:avLst>
              <a:gd name="adj" fmla="val 50000"/>
            </a:avLst>
          </a:prstGeom>
          <a:solidFill>
            <a:srgbClr val="F8DDE0"/>
          </a:solidFill>
          <a:ln>
            <a:noFill/>
          </a:ln>
        </p:spPr>
      </p:sp>
      <p:pic>
        <p:nvPicPr>
          <p:cNvPr id="559" name="G"/>
          <p:cNvPicPr>
            <a:picLocks noChangeAspect="1"/>
          </p:cNvPicPr>
          <p:nvPr/>
        </p:nvPicPr>
        <p:blipFill>
          <a:blip r:embed="rIdM11"/>
          <a:stretch>
            <a:fillRect/>
          </a:stretch>
        </p:blipFill>
        <p:spPr>
          <a:xfrm>
            <a:off x="9137928" y="5485384"/>
            <a:ext cx="100584" cy="100584"/>
          </a:xfrm>
          <a:prstGeom prst="rect">
            <a:avLst/>
          </a:prstGeom>
        </p:spPr>
      </p:pic>
      <p:sp>
        <p:nvSpPr>
          <p:cNvPr id="560" name="T"/>
          <p:cNvSpPr txBox="1"/>
          <p:nvPr/>
        </p:nvSpPr>
        <p:spPr>
          <a:xfrm>
            <a:off x="9275088" y="5457952"/>
            <a:ext cx="81275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Lontaran batu pijar</a:t>
            </a:r>
            <a:endParaRPr lang="id-ID" sz="620"/>
          </a:p>
        </p:txBody>
      </p:sp>
      <p:sp>
        <p:nvSpPr>
          <p:cNvPr id="561" name="K"/>
          <p:cNvSpPr/>
          <p:nvPr/>
        </p:nvSpPr>
        <p:spPr>
          <a:xfrm>
            <a:off x="10151848" y="5457952"/>
            <a:ext cx="458400" cy="155448"/>
          </a:xfrm>
          <a:prstGeom prst="roundRect">
            <a:avLst>
              <a:gd name="adj" fmla="val 50000"/>
            </a:avLst>
          </a:prstGeom>
          <a:solidFill>
            <a:srgbClr val="F8DDE0"/>
          </a:solidFill>
          <a:ln>
            <a:noFill/>
          </a:ln>
        </p:spPr>
      </p:sp>
      <p:pic>
        <p:nvPicPr>
          <p:cNvPr id="562" name="G"/>
          <p:cNvPicPr>
            <a:picLocks noChangeAspect="1"/>
          </p:cNvPicPr>
          <p:nvPr/>
        </p:nvPicPr>
        <p:blipFill>
          <a:blip r:embed="rIdM11"/>
          <a:stretch>
            <a:fillRect/>
          </a:stretch>
        </p:blipFill>
        <p:spPr>
          <a:xfrm>
            <a:off x="10197568" y="5485384"/>
            <a:ext cx="100584" cy="100584"/>
          </a:xfrm>
          <a:prstGeom prst="rect">
            <a:avLst/>
          </a:prstGeom>
        </p:spPr>
      </p:pic>
      <p:sp>
        <p:nvSpPr>
          <p:cNvPr id="563" name="T"/>
          <p:cNvSpPr txBox="1"/>
          <p:nvPr/>
        </p:nvSpPr>
        <p:spPr>
          <a:xfrm>
            <a:off x="10334728" y="5457952"/>
            <a:ext cx="257232" cy="155448"/>
          </a:xfrm>
          <a:prstGeom prst="rect">
            <a:avLst/>
          </a:prstGeom>
          <a:noFill/>
        </p:spPr>
        <p:txBody>
          <a:bodyPr wrap="none" lIns="0" tIns="0" rIns="0" bIns="0" anchor="ctr"/>
          <a:lstStyle/>
          <a:p>
            <a:pPr algn="l">
              <a:buNone/>
            </a:pPr>
            <a:r>
              <a:rPr lang="id-ID" sz="700" b="1" dirty="0">
                <a:solidFill>
                  <a:srgbClr val="C8102E"/>
                </a:solidFill>
                <a:latin typeface="Roboto"/>
                <a:ea typeface="Roboto"/>
                <a:cs typeface="Roboto"/>
              </a:rPr>
              <a:t>Lahar</a:t>
            </a:r>
            <a:endParaRPr lang="id-ID" sz="620"/>
          </a:p>
        </p:txBody>
      </p:sp>
      <p:sp>
        <p:nvSpPr>
          <p:cNvPr id="564" name="K"/>
          <p:cNvSpPr/>
          <p:nvPr/>
        </p:nvSpPr>
        <p:spPr>
          <a:xfrm>
            <a:off x="10655968" y="5457952"/>
            <a:ext cx="617120" cy="155448"/>
          </a:xfrm>
          <a:prstGeom prst="roundRect">
            <a:avLst>
              <a:gd name="adj" fmla="val 50000"/>
            </a:avLst>
          </a:prstGeom>
          <a:solidFill>
            <a:srgbClr val="E3EAF1"/>
          </a:solidFill>
          <a:ln>
            <a:noFill/>
          </a:ln>
        </p:spPr>
      </p:sp>
      <p:pic>
        <p:nvPicPr>
          <p:cNvPr id="565" name="G"/>
          <p:cNvPicPr>
            <a:picLocks noChangeAspect="1"/>
          </p:cNvPicPr>
          <p:nvPr/>
        </p:nvPicPr>
        <p:blipFill>
          <a:blip r:embed="rIdM15"/>
          <a:stretch>
            <a:fillRect/>
          </a:stretch>
        </p:blipFill>
        <p:spPr>
          <a:xfrm>
            <a:off x="10701688" y="5485384"/>
            <a:ext cx="100584" cy="100584"/>
          </a:xfrm>
          <a:prstGeom prst="rect">
            <a:avLst/>
          </a:prstGeom>
        </p:spPr>
      </p:pic>
      <p:sp>
        <p:nvSpPr>
          <p:cNvPr id="566" name="T"/>
          <p:cNvSpPr txBox="1"/>
          <p:nvPr/>
        </p:nvSpPr>
        <p:spPr>
          <a:xfrm>
            <a:off x="10838848" y="5457952"/>
            <a:ext cx="41595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Sektor Tg</a:t>
            </a:r>
            <a:endParaRPr lang="id-ID" sz="620"/>
          </a:p>
        </p:txBody>
      </p:sp>
      <p:sp>
        <p:nvSpPr>
          <p:cNvPr id="567" name="K"/>
          <p:cNvSpPr/>
          <p:nvPr/>
        </p:nvSpPr>
        <p:spPr>
          <a:xfrm>
            <a:off x="7607808" y="5659120"/>
            <a:ext cx="1529760" cy="155448"/>
          </a:xfrm>
          <a:prstGeom prst="roundRect">
            <a:avLst>
              <a:gd name="adj" fmla="val 50000"/>
            </a:avLst>
          </a:prstGeom>
          <a:solidFill>
            <a:srgbClr val="E3EAF1"/>
          </a:solidFill>
          <a:ln>
            <a:noFill/>
          </a:ln>
        </p:spPr>
      </p:sp>
      <p:pic>
        <p:nvPicPr>
          <p:cNvPr id="568" name="G"/>
          <p:cNvPicPr>
            <a:picLocks noChangeAspect="1"/>
          </p:cNvPicPr>
          <p:nvPr/>
        </p:nvPicPr>
        <p:blipFill>
          <a:blip r:embed="rIdM15"/>
          <a:stretch>
            <a:fillRect/>
          </a:stretch>
        </p:blipFill>
        <p:spPr>
          <a:xfrm>
            <a:off x="7653528" y="5686552"/>
            <a:ext cx="100584" cy="100584"/>
          </a:xfrm>
          <a:prstGeom prst="rect">
            <a:avLst/>
          </a:prstGeom>
        </p:spPr>
      </p:pic>
      <p:sp>
        <p:nvSpPr>
          <p:cNvPr id="569" name="T"/>
          <p:cNvSpPr txBox="1"/>
          <p:nvPr/>
        </p:nvSpPr>
        <p:spPr>
          <a:xfrm>
            <a:off x="7790688" y="5659120"/>
            <a:ext cx="1328592" cy="155448"/>
          </a:xfrm>
          <a:prstGeom prst="rect">
            <a:avLst/>
          </a:prstGeom>
          <a:noFill/>
        </p:spPr>
        <p:txBody>
          <a:bodyPr wrap="none" lIns="0" tIns="0" rIns="0" bIns="0" anchor="ctr"/>
          <a:lstStyle/>
          <a:p>
            <a:pPr algn="l">
              <a:buNone/>
            </a:pPr>
            <a:r>
              <a:rPr lang="id-ID" sz="700" b="1" dirty="0">
                <a:solidFill>
                  <a:srgbClr val="5B7A99"/>
                </a:solidFill>
                <a:latin typeface="Roboto"/>
                <a:ea typeface="Roboto"/>
                <a:cs typeface="Roboto"/>
              </a:rPr>
              <a:t>Besuk Kobokan, Bang, Kembar, Sat</a:t>
            </a:r>
            <a:endParaRPr lang="id-ID" sz="62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548640" y="502920"/>
            <a:ext cx="1005840" cy="1005840"/>
          </a:xfrm>
          <a:prstGeom prst="ellipse">
            <a:avLst/>
          </a:prstGeom>
          <a:solidFill>
            <a:srgbClr val="FFFFFF"/>
          </a:solidFill>
          <a:ln/>
          <a:effectLst>
            <a:outerShdw sx="100000" sy="100000" kx="0" ky="0" algn="bl" rotWithShape="0" blurRad="101600" dist="25400" dir="5400000">
              <a:srgbClr val="000000">
                <a:alpha val="25000"/>
              </a:srgbClr>
            </a:outerShdw>
          </a:effectLst>
        </p:spPr>
      </p:sp>
      <p:pic>
        <p:nvPicPr>
          <p:cNvPr id="4" name="Image 1" descr="preencoded.png">    </p:cNvPr>
          <p:cNvPicPr>
            <a:picLocks noChangeAspect="1"/>
          </p:cNvPicPr>
          <p:nvPr/>
        </p:nvPicPr>
        <p:blipFill>
          <a:blip r:embed="rId2"/>
          <a:stretch>
            <a:fillRect/>
          </a:stretch>
        </p:blipFill>
        <p:spPr>
          <a:xfrm>
            <a:off x="780143" y="663854"/>
            <a:ext cx="542834" cy="683971"/>
          </a:xfrm>
          <a:prstGeom prst="rect">
            <a:avLst/>
          </a:prstGeom>
        </p:spPr>
      </p:pic>
      <p:sp>
        <p:nvSpPr>
          <p:cNvPr id="5" name="Text 1"/>
          <p:cNvSpPr txBox="1"/>
          <p:nvPr/>
        </p:nvSpPr>
        <p:spPr>
          <a:xfrm>
            <a:off x="548640" y="2468880"/>
            <a:ext cx="7315200" cy="1005840"/>
          </a:xfrm>
          <a:prstGeom prst="rect">
            <a:avLst/>
          </a:prstGeom>
          <a:noFill/>
          <a:ln/>
        </p:spPr>
        <p:txBody>
          <a:bodyPr wrap="square" lIns="0" tIns="0" rIns="0" bIns="0" rtlCol="0" anchor="b"/>
          <a:lstStyle/>
          <a:p>
            <a:pPr indent="0" marL="0">
              <a:buNone/>
            </a:pPr>
            <a:r>
              <a:rPr lang="en-US" sz="5400" b="1" dirty="0">
                <a:solidFill>
                  <a:srgbClr val="FFFFFF"/>
                </a:solidFill>
                <a:latin typeface="Roboto" pitchFamily="34" charset="0"/>
                <a:ea typeface="Roboto" pitchFamily="34" charset="-122"/>
                <a:cs typeface="Roboto" pitchFamily="34" charset="-120"/>
              </a:rPr>
              <a:t>Terima kasih</a:t>
            </a:r>
            <a:endParaRPr lang="en-US" sz="5400" dirty="0"/>
          </a:p>
        </p:txBody>
      </p:sp>
      <p:sp>
        <p:nvSpPr>
          <p:cNvPr id="6" name="Shape 2"/>
          <p:cNvSpPr/>
          <p:nvPr/>
        </p:nvSpPr>
        <p:spPr>
          <a:xfrm>
            <a:off x="548640" y="3657600"/>
            <a:ext cx="4754880" cy="0"/>
          </a:xfrm>
          <a:prstGeom prst="line">
            <a:avLst/>
          </a:prstGeom>
          <a:noFill/>
          <a:ln w="25400">
            <a:solidFill>
              <a:srgbClr val="F28C28"/>
            </a:solidFill>
            <a:prstDash val="solid"/>
          </a:ln>
        </p:spPr>
      </p:sp>
      <p:sp>
        <p:nvSpPr>
          <p:cNvPr id="7" name="Text 3"/>
          <p:cNvSpPr txBox="1"/>
          <p:nvPr/>
        </p:nvSpPr>
        <p:spPr>
          <a:xfrm>
            <a:off x="548640" y="3840480"/>
            <a:ext cx="7315200" cy="365760"/>
          </a:xfrm>
          <a:prstGeom prst="rect">
            <a:avLst/>
          </a:prstGeom>
          <a:noFill/>
          <a:ln/>
        </p:spPr>
        <p:txBody>
          <a:bodyPr wrap="square" lIns="0" tIns="0" rIns="0" bIns="0" rtlCol="0" anchor="t"/>
          <a:lstStyle/>
          <a:p>
            <a:pPr indent="0" marL="0">
              <a:buNone/>
            </a:pPr>
            <a:r>
              <a:rPr lang="en-US" sz="1800" b="1" dirty="0">
                <a:solidFill>
                  <a:srgbClr val="FFFFFF"/>
                </a:solidFill>
                <a:latin typeface="Roboto" pitchFamily="34" charset="0"/>
                <a:ea typeface="Roboto" pitchFamily="34" charset="-122"/>
                <a:cs typeface="Roboto" pitchFamily="34" charset="-120"/>
              </a:rPr>
              <a:t>Badan Nasional Penanggulangan Bencana</a:t>
            </a:r>
            <a:endParaRPr lang="en-US" sz="1800" dirty="0"/>
          </a:p>
        </p:txBody>
      </p:sp>
      <p:sp>
        <p:nvSpPr>
          <p:cNvPr id="8" name="Text 4"/>
          <p:cNvSpPr txBox="1"/>
          <p:nvPr/>
        </p:nvSpPr>
        <p:spPr>
          <a:xfrm>
            <a:off x="548640" y="4251960"/>
            <a:ext cx="9144000" cy="320040"/>
          </a:xfrm>
          <a:prstGeom prst="rect">
            <a:avLst/>
          </a:prstGeom>
          <a:noFill/>
          <a:ln/>
        </p:spPr>
        <p:txBody>
          <a:bodyPr wrap="square" lIns="0" tIns="0" rIns="0" bIns="0" rtlCol="0" anchor="t"/>
          <a:lstStyle/>
          <a:p>
            <a:pPr indent="0" marL="0">
              <a:buNone/>
            </a:pPr>
            <a:r>
              <a:rPr lang="en-US" sz="1300" dirty="0">
                <a:solidFill>
                  <a:srgbClr val="C9D1E3"/>
                </a:solidFill>
                <a:latin typeface="Roboto" pitchFamily="34" charset="0"/>
                <a:ea typeface="Roboto" pitchFamily="34" charset="-122"/>
                <a:cs typeface="Roboto" pitchFamily="34" charset="-120"/>
              </a:rPr>
              <a:t>Laporan Kejadian Bencana Harian, 30–31 Oktober 2026</a:t>
            </a:r>
            <a:endParaRPr lang="en-US" sz="1300" dirty="0"/>
          </a:p>
        </p:txBody>
      </p:sp>
      <p:sp>
        <p:nvSpPr>
          <p:cNvPr id="10" name="Text 6"/>
          <p:cNvSpPr txBox="1"/>
          <p:nvPr/>
        </p:nvSpPr>
        <p:spPr>
          <a:xfrm>
            <a:off x="7985455" y="6565392"/>
            <a:ext cx="3931920" cy="182880"/>
          </a:xfrm>
          <a:prstGeom prst="rect">
            <a:avLst/>
          </a:prstGeom>
          <a:noFill/>
          <a:ln/>
        </p:spPr>
        <p:txBody>
          <a:bodyPr wrap="square" lIns="0" tIns="0" rIns="0" bIns="0" rtlCol="0" anchor="t"/>
          <a:lstStyle/>
          <a:p>
            <a:pPr algn="r" indent="0" marL="0">
              <a:buNone/>
            </a:pPr>
            <a:r>
              <a:rPr lang="en-US" sz="700" dirty="0">
                <a:solidFill>
                  <a:srgbClr val="C9D1E3"/>
                </a:solidFill>
                <a:latin typeface="Roboto" pitchFamily="34" charset="0"/>
                <a:ea typeface="Roboto" pitchFamily="34" charset="-122"/>
                <a:cs typeface="Roboto" pitchFamily="34" charset="-120"/>
              </a:rPr>
              <a:t>Foto: DenY Krisbiyantoro, CC BY-SA 4.0</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1"/>
          <p:cNvSpPr/>
          <p:nvPr/>
        </p:nvSpPr>
        <p:spPr>
          <a:xfrm>
            <a:off x="548640" y="1207008"/>
            <a:ext cx="11094415" cy="0"/>
          </a:xfrm>
          <a:prstGeom prst="line">
            <a:avLst/>
          </a:prstGeom>
          <a:noFill/>
          <a:ln w="9525">
            <a:solidFill>
              <a:srgbClr val="1A1A1A"/>
            </a:solidFill>
            <a:prstDash val="solid"/>
          </a:ln>
        </p:spPr>
      </p:sp>
      <p:sp>
        <p:nvSpPr>
          <p:cNvPr id="4" name="Shape 2"/>
          <p:cNvSpPr/>
          <p:nvPr/>
        </p:nvSpPr>
        <p:spPr>
          <a:xfrm>
            <a:off x="548640" y="6446520"/>
            <a:ext cx="11094415" cy="0"/>
          </a:xfrm>
          <a:prstGeom prst="line">
            <a:avLst/>
          </a:prstGeom>
          <a:noFill/>
          <a:ln w="9525">
            <a:solidFill>
              <a:srgbClr val="1A1A1A"/>
            </a:solidFill>
            <a:prstDash val="solid"/>
          </a:ln>
        </p:spPr>
      </p:sp>
      <p:pic>
        <p:nvPicPr>
          <p:cNvPr id="5" name="Image 0" descr="preencoded.png">    </p:cNvPr>
          <p:cNvPicPr>
            <a:picLocks noChangeAspect="1"/>
          </p:cNvPicPr>
          <p:nvPr/>
        </p:nvPicPr>
        <p:blipFill>
          <a:blip r:embed="rId1"/>
          <a:stretch>
            <a:fillRect/>
          </a:stretch>
        </p:blipFill>
        <p:spPr>
          <a:xfrm>
            <a:off x="11295583" y="365760"/>
            <a:ext cx="347472" cy="438912"/>
          </a:xfrm>
          <a:prstGeom prst="rect">
            <a:avLst/>
          </a:prstGeom>
        </p:spPr>
      </p:pic>
      <p:sp>
        <p:nvSpPr>
          <p:cNvPr id="6" name="Text 3"/>
          <p:cNvSpPr txBox="1"/>
          <p:nvPr/>
        </p:nvSpPr>
        <p:spPr>
          <a:xfrm>
            <a:off x="548640" y="6510528"/>
            <a:ext cx="5486400" cy="201168"/>
          </a:xfrm>
          <a:prstGeom prst="rect">
            <a:avLst/>
          </a:prstGeom>
          <a:noFill/>
          <a:ln/>
        </p:spPr>
        <p:txBody>
          <a:bodyPr wrap="square" lIns="0" tIns="0" rIns="0" bIns="0" rtlCol="0" anchor="t"/>
          <a:lstStyle/>
          <a:p>
            <a:pPr indent="0" marL="0">
              <a:buNone/>
            </a:pPr>
            <a:r>
              <a:rPr lang="en-US" sz="850" dirty="0">
                <a:solidFill>
                  <a:srgbClr val="1A1A1A"/>
                </a:solidFill>
                <a:latin typeface="Roboto" pitchFamily="34" charset="0"/>
                <a:ea typeface="Roboto" pitchFamily="34" charset="-122"/>
                <a:cs typeface="Roboto" pitchFamily="34" charset="-120"/>
              </a:rPr>
              <a:t>Badan Nasional Penanggulangan Bencana  |  Copyright 2026</a:t>
            </a:r>
            <a:endParaRPr lang="en-US" sz="850" dirty="0"/>
          </a:p>
        </p:txBody>
      </p:sp>
      <p:sp>
        <p:nvSpPr>
          <p:cNvPr id="7" name="Text 4"/>
          <p:cNvSpPr txBox="1"/>
          <p:nvPr/>
        </p:nvSpPr>
        <p:spPr>
          <a:xfrm>
            <a:off x="10728655" y="6510528"/>
            <a:ext cx="914400" cy="201168"/>
          </a:xfrm>
          <a:prstGeom prst="rect">
            <a:avLst/>
          </a:prstGeom>
          <a:noFill/>
          <a:ln/>
        </p:spPr>
        <p:txBody>
          <a:bodyPr wrap="square" lIns="0" tIns="0" rIns="0" bIns="0" rtlCol="0" anchor="t"/>
          <a:lstStyle/>
          <a:p>
            <a:pPr algn="r" indent="0" marL="0">
              <a:buNone/>
            </a:pPr>
            <a:r>
              <a:rPr lang="en-US" sz="850" b="1" dirty="0">
                <a:solidFill>
                  <a:srgbClr val="1A1A1A"/>
                </a:solidFill>
                <a:latin typeface="Roboto" pitchFamily="34" charset="0"/>
                <a:ea typeface="Roboto" pitchFamily="34" charset="-122"/>
                <a:cs typeface="Roboto" pitchFamily="34" charset="-120"/>
              </a:rPr>
              <a:t>4</a:t>
            </a:r>
            <a:endParaRPr lang="en-US" sz="850" dirty="0"/>
          </a:p>
        </p:txBody>
      </p:sp>
      <p:sp>
        <p:nvSpPr>
          <p:cNvPr id="655" name="T"/>
          <p:cNvSpPr txBox="1"/>
          <p:nvPr/>
        </p:nvSpPr>
        <p:spPr>
          <a:xfrm>
            <a:off x="548640" y="292608"/>
            <a:ext cx="10454335" cy="822960"/>
          </a:xfrm>
          <a:prstGeom prst="rect">
            <a:avLst/>
          </a:prstGeom>
          <a:noFill/>
        </p:spPr>
        <p:txBody>
          <a:bodyPr wrap="square" lIns="0" tIns="0" rIns="0" bIns="0" anchor="b"/>
          <a:lstStyle/>
          <a:p>
            <a:pPr algn="l">
              <a:buNone/>
            </a:pPr>
            <a:r>
              <a:rPr lang="id-ID" sz="2200" b="1" dirty="0">
                <a:solidFill>
                  <a:srgbClr val="1A1A1A"/>
                </a:solidFill>
                <a:latin typeface="Roboto"/>
                <a:ea typeface="Roboto"/>
                <a:cs typeface="Roboto"/>
              </a:rPr>
              <a:t>Pengkinian kejadian sebelumnya: </a:t>
            </a:r>
            <a:r>
              <a:rPr lang="id-ID" sz="2200" b="1" dirty="0">
                <a:solidFill>
                  <a:srgbClr val="D9600B"/>
                </a:solidFill>
                <a:latin typeface="Roboto"/>
                <a:ea typeface="Roboto"/>
                <a:cs typeface="Roboto"/>
              </a:rPr>
              <a:t>17</a:t>
            </a:r>
            <a:r>
              <a:rPr lang="id-ID" sz="2200" b="1" dirty="0">
                <a:solidFill>
                  <a:srgbClr val="1A1A1A"/>
                </a:solidFill>
                <a:latin typeface="Roboto"/>
                <a:ea typeface="Roboto"/>
                <a:cs typeface="Roboto"/>
              </a:rPr>
              <a:t> karhutla</a:t>
            </a:r>
            <a:r>
              <a:rPr lang="id-ID" sz="2200" b="1" dirty="0">
                <a:solidFill>
                  <a:srgbClr val="1A1A1A"/>
                </a:solidFill>
                <a:latin typeface="Roboto"/>
                <a:ea typeface="Roboto"/>
                <a:cs typeface="Roboto"/>
              </a:rPr>
              <a:t> dan </a:t>
            </a:r>
            <a:r>
              <a:rPr lang="id-ID" sz="2200" b="1" dirty="0">
                <a:solidFill>
                  <a:srgbClr val="D9600B"/>
                </a:solidFill>
                <a:latin typeface="Roboto"/>
                <a:ea typeface="Roboto"/>
                <a:cs typeface="Roboto"/>
              </a:rPr>
              <a:t>7</a:t>
            </a:r>
            <a:r>
              <a:rPr lang="id-ID" sz="2200" b="1" dirty="0">
                <a:solidFill>
                  <a:srgbClr val="1A1A1A"/>
                </a:solidFill>
                <a:latin typeface="Roboto"/>
                <a:ea typeface="Roboto"/>
                <a:cs typeface="Roboto"/>
              </a:rPr>
              <a:t> bencana lainnya</a:t>
            </a:r>
            <a:endParaRPr lang="id-ID" sz="2200"/>
          </a:p>
        </p:txBody>
      </p:sp>
      <p:sp>
        <p:nvSpPr>
          <p:cNvPr id="301" name="K"/>
          <p:cNvSpPr/>
          <p:nvPr/>
        </p:nvSpPr>
        <p:spPr>
          <a:xfrm>
            <a:off x="548640" y="1325880"/>
            <a:ext cx="6720840" cy="5029200"/>
          </a:xfrm>
          <a:prstGeom prst="roundRect">
            <a:avLst>
              <a:gd name="adj" fmla="val 2000"/>
            </a:avLst>
          </a:prstGeom>
          <a:solidFill>
            <a:srgbClr val="FFFFFF"/>
          </a:solidFill>
          <a:ln w="9525">
            <a:solidFill>
              <a:srgbClr val="BFC5CC"/>
            </a:solidFill>
          </a:ln>
        </p:spPr>
      </p:sp>
      <p:sp>
        <p:nvSpPr>
          <p:cNvPr id="302" name="K"/>
          <p:cNvSpPr/>
          <p:nvPr/>
        </p:nvSpPr>
        <p:spPr>
          <a:xfrm>
            <a:off x="548640" y="1325880"/>
            <a:ext cx="6720840" cy="457200"/>
          </a:xfrm>
          <a:prstGeom prst="roundRect">
            <a:avLst>
              <a:gd name="adj" fmla="val 16000"/>
            </a:avLst>
          </a:prstGeom>
          <a:solidFill>
            <a:srgbClr val="FBE7D6"/>
          </a:solidFill>
          <a:ln>
            <a:noFill/>
          </a:ln>
        </p:spPr>
      </p:sp>
      <p:sp>
        <p:nvSpPr>
          <p:cNvPr id="303" name="K"/>
          <p:cNvSpPr/>
          <p:nvPr/>
        </p:nvSpPr>
        <p:spPr>
          <a:xfrm>
            <a:off x="548640" y="1600200"/>
            <a:ext cx="6720840" cy="182880"/>
          </a:xfrm>
          <a:prstGeom prst="rect">
            <a:avLst/>
          </a:prstGeom>
          <a:solidFill>
            <a:srgbClr val="FBE7D6"/>
          </a:solidFill>
          <a:ln>
            <a:noFill/>
          </a:ln>
        </p:spPr>
      </p:sp>
      <p:sp>
        <p:nvSpPr>
          <p:cNvPr id="304" name="K"/>
          <p:cNvSpPr/>
          <p:nvPr/>
        </p:nvSpPr>
        <p:spPr>
          <a:xfrm>
            <a:off x="676656" y="1408176"/>
            <a:ext cx="292608" cy="292608"/>
          </a:xfrm>
          <a:prstGeom prst="ellipse">
            <a:avLst/>
          </a:prstGeom>
          <a:solidFill>
            <a:srgbClr val="D9600B"/>
          </a:solidFill>
          <a:ln>
            <a:noFill/>
          </a:ln>
        </p:spPr>
      </p:sp>
      <p:pic>
        <p:nvPicPr>
          <p:cNvPr id="305" name="G"/>
          <p:cNvPicPr>
            <a:picLocks noChangeAspect="1"/>
          </p:cNvPicPr>
          <p:nvPr/>
        </p:nvPicPr>
        <p:blipFill>
          <a:blip r:embed="rIdM1"/>
          <a:stretch>
            <a:fillRect/>
          </a:stretch>
        </p:blipFill>
        <p:spPr>
          <a:xfrm>
            <a:off x="731520" y="1463040"/>
            <a:ext cx="182880" cy="182880"/>
          </a:xfrm>
          <a:prstGeom prst="rect">
            <a:avLst/>
          </a:prstGeom>
        </p:spPr>
      </p:pic>
      <p:sp>
        <p:nvSpPr>
          <p:cNvPr id="306" name="T"/>
          <p:cNvSpPr txBox="1"/>
          <p:nvPr/>
        </p:nvSpPr>
        <p:spPr>
          <a:xfrm>
            <a:off x="1051560" y="1325880"/>
            <a:ext cx="5620840" cy="45720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Karhutla</a:t>
            </a:r>
            <a:endParaRPr lang="id-ID" sz="1100"/>
          </a:p>
        </p:txBody>
      </p:sp>
      <p:sp>
        <p:nvSpPr>
          <p:cNvPr id="307" name="T"/>
          <p:cNvSpPr txBox="1"/>
          <p:nvPr/>
        </p:nvSpPr>
        <p:spPr>
          <a:xfrm>
            <a:off x="6629400" y="1325880"/>
            <a:ext cx="512064" cy="457200"/>
          </a:xfrm>
          <a:prstGeom prst="rect">
            <a:avLst/>
          </a:prstGeom>
          <a:noFill/>
        </p:spPr>
        <p:txBody>
          <a:bodyPr wrap="square" lIns="0" tIns="0" rIns="0" bIns="0" anchor="ctr"/>
          <a:lstStyle/>
          <a:p>
            <a:pPr algn="r">
              <a:buNone/>
            </a:pPr>
            <a:r>
              <a:rPr lang="id-ID" sz="1800" b="1" dirty="0">
                <a:solidFill>
                  <a:srgbClr val="D9600B"/>
                </a:solidFill>
                <a:latin typeface="Roboto"/>
                <a:ea typeface="Roboto"/>
                <a:cs typeface="Roboto"/>
              </a:rPr>
              <a:t>17</a:t>
            </a:r>
            <a:endParaRPr lang="id-ID" sz="1800"/>
          </a:p>
        </p:txBody>
      </p:sp>
      <p:sp>
        <p:nvSpPr>
          <p:cNvPr id="308" name="T"/>
          <p:cNvSpPr txBox="1"/>
          <p:nvPr/>
        </p:nvSpPr>
        <p:spPr>
          <a:xfrm>
            <a:off x="676656" y="1856232"/>
            <a:ext cx="21945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LOKASI</a:t>
            </a:r>
            <a:endParaRPr lang="id-ID" sz="650"/>
          </a:p>
        </p:txBody>
      </p:sp>
      <p:sp>
        <p:nvSpPr>
          <p:cNvPr id="309" name="T"/>
          <p:cNvSpPr txBox="1"/>
          <p:nvPr/>
        </p:nvSpPr>
        <p:spPr>
          <a:xfrm>
            <a:off x="3291840" y="1856232"/>
            <a:ext cx="1280160" cy="164592"/>
          </a:xfrm>
          <a:prstGeom prst="rect">
            <a:avLst/>
          </a:prstGeom>
          <a:noFill/>
        </p:spPr>
        <p:txBody>
          <a:bodyPr wrap="square" lIns="0" tIns="0" rIns="0" bIns="0" anchor="t"/>
          <a:lstStyle/>
          <a:p>
            <a:pPr algn="l">
              <a:buNone/>
            </a:pPr>
            <a:r>
              <a:rPr lang="id-ID" sz="700" b="1" spc="60" dirty="0">
                <a:solidFill>
                  <a:srgbClr val="6B7280"/>
                </a:solidFill>
                <a:latin typeface="Roboto"/>
                <a:ea typeface="Roboto"/>
                <a:cs typeface="Roboto"/>
              </a:rPr>
              <a:t>TERBAKAR 1 JAN–30 OKT</a:t>
            </a:r>
            <a:endParaRPr lang="id-ID" sz="650"/>
          </a:p>
        </p:txBody>
      </p:sp>
      <p:sp>
        <p:nvSpPr>
          <p:cNvPr id="310" name="T"/>
          <p:cNvSpPr txBox="1"/>
          <p:nvPr/>
        </p:nvSpPr>
        <p:spPr>
          <a:xfrm>
            <a:off x="4617720" y="1856232"/>
            <a:ext cx="2523744" cy="164592"/>
          </a:xfrm>
          <a:prstGeom prst="rect">
            <a:avLst/>
          </a:prstGeom>
          <a:noFill/>
        </p:spPr>
        <p:txBody>
          <a:bodyPr wrap="square" lIns="0" tIns="0" rIns="0" bIns="0" anchor="t"/>
          <a:lstStyle/>
          <a:p>
            <a:pPr algn="ctr">
              <a:buNone/>
            </a:pPr>
            <a:r>
              <a:rPr lang="id-ID" sz="700" b="1" spc="60" dirty="0">
                <a:solidFill>
                  <a:srgbClr val="6B7280"/>
                </a:solidFill>
                <a:latin typeface="Roboto"/>
                <a:ea typeface="Roboto"/>
                <a:cs typeface="Roboto"/>
              </a:rPr>
              <a:t>FIRESPOT DAN SISA 30 OKT</a:t>
            </a:r>
            <a:endParaRPr lang="id-ID" sz="650"/>
          </a:p>
        </p:txBody>
      </p:sp>
      <p:cxnSp>
        <p:nvCxnSpPr>
          <p:cNvPr id="311" name="L"/>
          <p:cNvCxnSpPr/>
          <p:nvPr/>
        </p:nvCxnSpPr>
        <p:spPr>
          <a:xfrm>
            <a:off x="676656" y="2039112"/>
            <a:ext cx="6464808" cy="0"/>
          </a:xfrm>
          <a:prstGeom prst="line">
            <a:avLst/>
          </a:prstGeom>
          <a:ln w="9525">
            <a:solidFill>
              <a:srgbClr val="1A1A1A"/>
            </a:solidFill>
          </a:ln>
        </p:spPr>
      </p:cxnSp>
      <p:sp>
        <p:nvSpPr>
          <p:cNvPr id="312" name="K"/>
          <p:cNvSpPr/>
          <p:nvPr/>
        </p:nvSpPr>
        <p:spPr>
          <a:xfrm>
            <a:off x="676656" y="2106842"/>
            <a:ext cx="148326" cy="148326"/>
          </a:xfrm>
          <a:prstGeom prst="ellipse">
            <a:avLst/>
          </a:prstGeom>
          <a:solidFill>
            <a:srgbClr val="D9600B"/>
          </a:solidFill>
          <a:ln>
            <a:noFill/>
          </a:ln>
        </p:spPr>
      </p:sp>
      <p:pic>
        <p:nvPicPr>
          <p:cNvPr id="313" name="G"/>
          <p:cNvPicPr>
            <a:picLocks noChangeAspect="1"/>
          </p:cNvPicPr>
          <p:nvPr/>
        </p:nvPicPr>
        <p:blipFill>
          <a:blip r:embed="rIdM2"/>
          <a:stretch>
            <a:fillRect/>
          </a:stretch>
        </p:blipFill>
        <p:spPr>
          <a:xfrm>
            <a:off x="703354" y="2133541"/>
            <a:ext cx="94928" cy="94928"/>
          </a:xfrm>
          <a:prstGeom prst="rect">
            <a:avLst/>
          </a:prstGeom>
        </p:spPr>
      </p:pic>
      <p:sp>
        <p:nvSpPr>
          <p:cNvPr id="314" name="T"/>
          <p:cNvSpPr txBox="1"/>
          <p:nvPr/>
        </p:nvSpPr>
        <p:spPr>
          <a:xfrm>
            <a:off x="990000" y="2057400"/>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Papua Selatan</a:t>
            </a:r>
            <a:endParaRPr lang="id-ID" sz="756"/>
          </a:p>
          <a:p>
            <a:pPr algn="l">
              <a:buNone/>
            </a:pPr>
            <a:r>
              <a:rPr lang="id-ID" sz="756" dirty="0">
                <a:solidFill>
                  <a:srgbClr val="6B7280"/>
                </a:solidFill>
                <a:latin typeface="Roboto"/>
                <a:ea typeface="Roboto"/>
                <a:cs typeface="Roboto"/>
              </a:rPr>
              <a:t>Laporan pertama 28 Okt</a:t>
            </a:r>
            <a:endParaRPr lang="id-ID" sz="756"/>
          </a:p>
        </p:txBody>
      </p:sp>
      <p:sp>
        <p:nvSpPr>
          <p:cNvPr id="315" name="T"/>
          <p:cNvSpPr txBox="1"/>
          <p:nvPr/>
        </p:nvSpPr>
        <p:spPr>
          <a:xfrm>
            <a:off x="3291840" y="2057400"/>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298.227</a:t>
            </a:r>
            <a:endParaRPr lang="id-ID" sz="740"/>
          </a:p>
        </p:txBody>
      </p:sp>
      <p:sp>
        <p:nvSpPr>
          <p:cNvPr id="316" name="T"/>
          <p:cNvSpPr txBox="1"/>
          <p:nvPr/>
        </p:nvSpPr>
        <p:spPr>
          <a:xfrm>
            <a:off x="4134040" y="2057400"/>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17" name="K"/>
          <p:cNvSpPr/>
          <p:nvPr/>
        </p:nvSpPr>
        <p:spPr>
          <a:xfrm>
            <a:off x="4739006" y="2099426"/>
            <a:ext cx="1152584" cy="163159"/>
          </a:xfrm>
          <a:prstGeom prst="roundRect">
            <a:avLst>
              <a:gd name="adj" fmla="val 50000"/>
            </a:avLst>
          </a:prstGeom>
          <a:solidFill>
            <a:srgbClr val="E6EAF0"/>
          </a:solidFill>
          <a:ln>
            <a:noFill/>
          </a:ln>
        </p:spPr>
      </p:sp>
      <p:pic>
        <p:nvPicPr>
          <p:cNvPr id="318" name="G"/>
          <p:cNvPicPr>
            <a:picLocks noChangeAspect="1"/>
          </p:cNvPicPr>
          <p:nvPr/>
        </p:nvPicPr>
        <p:blipFill>
          <a:blip r:embed="rIdM3"/>
          <a:stretch>
            <a:fillRect/>
          </a:stretch>
        </p:blipFill>
        <p:spPr>
          <a:xfrm>
            <a:off x="4812158" y="2130426"/>
            <a:ext cx="101158" cy="101158"/>
          </a:xfrm>
          <a:prstGeom prst="rect">
            <a:avLst/>
          </a:prstGeom>
        </p:spPr>
      </p:pic>
      <p:sp>
        <p:nvSpPr>
          <p:cNvPr id="319" name="T"/>
          <p:cNvSpPr txBox="1"/>
          <p:nvPr/>
        </p:nvSpPr>
        <p:spPr>
          <a:xfrm>
            <a:off x="4995894" y="2099426"/>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88</a:t>
            </a:r>
            <a:endParaRPr lang="id-ID" sz="625"/>
          </a:p>
        </p:txBody>
      </p:sp>
      <p:sp>
        <p:nvSpPr>
          <p:cNvPr id="320" name="T"/>
          <p:cNvSpPr txBox="1"/>
          <p:nvPr/>
        </p:nvSpPr>
        <p:spPr>
          <a:xfrm>
            <a:off x="5374644" y="2099426"/>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21" name="K"/>
          <p:cNvSpPr/>
          <p:nvPr/>
        </p:nvSpPr>
        <p:spPr>
          <a:xfrm>
            <a:off x="5964742" y="2099426"/>
            <a:ext cx="1155436" cy="163159"/>
          </a:xfrm>
          <a:prstGeom prst="roundRect">
            <a:avLst>
              <a:gd name="adj" fmla="val 50000"/>
            </a:avLst>
          </a:prstGeom>
          <a:solidFill>
            <a:srgbClr val="FBE7D6"/>
          </a:solidFill>
          <a:ln>
            <a:noFill/>
          </a:ln>
        </p:spPr>
      </p:sp>
      <p:pic>
        <p:nvPicPr>
          <p:cNvPr id="322" name="G"/>
          <p:cNvPicPr>
            <a:picLocks noChangeAspect="1"/>
          </p:cNvPicPr>
          <p:nvPr/>
        </p:nvPicPr>
        <p:blipFill>
          <a:blip r:embed="rIdM4"/>
          <a:stretch>
            <a:fillRect/>
          </a:stretch>
        </p:blipFill>
        <p:spPr>
          <a:xfrm>
            <a:off x="6037894" y="2130426"/>
            <a:ext cx="101158" cy="101158"/>
          </a:xfrm>
          <a:prstGeom prst="rect">
            <a:avLst/>
          </a:prstGeom>
        </p:spPr>
      </p:pic>
      <p:sp>
        <p:nvSpPr>
          <p:cNvPr id="323" name="T"/>
          <p:cNvSpPr txBox="1"/>
          <p:nvPr/>
        </p:nvSpPr>
        <p:spPr>
          <a:xfrm>
            <a:off x="6211630" y="2099426"/>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24" name="T"/>
          <p:cNvSpPr txBox="1"/>
          <p:nvPr/>
        </p:nvSpPr>
        <p:spPr>
          <a:xfrm>
            <a:off x="6481630" y="2099426"/>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549</a:t>
            </a:r>
            <a:endParaRPr lang="id-ID" sz="625"/>
          </a:p>
        </p:txBody>
      </p:sp>
      <p:sp>
        <p:nvSpPr>
          <p:cNvPr id="325" name="T"/>
          <p:cNvSpPr txBox="1"/>
          <p:nvPr/>
        </p:nvSpPr>
        <p:spPr>
          <a:xfrm>
            <a:off x="6920380" y="2099426"/>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26" name="L"/>
          <p:cNvCxnSpPr/>
          <p:nvPr/>
        </p:nvCxnSpPr>
        <p:spPr>
          <a:xfrm>
            <a:off x="676656" y="2304611"/>
            <a:ext cx="6464808" cy="0"/>
          </a:xfrm>
          <a:prstGeom prst="line">
            <a:avLst/>
          </a:prstGeom>
          <a:ln w="9525">
            <a:solidFill>
              <a:srgbClr val="EEF0F3"/>
            </a:solidFill>
          </a:ln>
        </p:spPr>
      </p:cxnSp>
      <p:sp>
        <p:nvSpPr>
          <p:cNvPr id="327" name="K"/>
          <p:cNvSpPr/>
          <p:nvPr/>
        </p:nvSpPr>
        <p:spPr>
          <a:xfrm>
            <a:off x="676656" y="2354053"/>
            <a:ext cx="148326" cy="148326"/>
          </a:xfrm>
          <a:prstGeom prst="ellipse">
            <a:avLst/>
          </a:prstGeom>
          <a:solidFill>
            <a:srgbClr val="D9600B"/>
          </a:solidFill>
          <a:ln>
            <a:noFill/>
          </a:ln>
        </p:spPr>
      </p:sp>
      <p:pic>
        <p:nvPicPr>
          <p:cNvPr id="328" name="G"/>
          <p:cNvPicPr>
            <a:picLocks noChangeAspect="1"/>
          </p:cNvPicPr>
          <p:nvPr/>
        </p:nvPicPr>
        <p:blipFill>
          <a:blip r:embed="rIdM2"/>
          <a:stretch>
            <a:fillRect/>
          </a:stretch>
        </p:blipFill>
        <p:spPr>
          <a:xfrm>
            <a:off x="703354" y="2380752"/>
            <a:ext cx="94928" cy="94928"/>
          </a:xfrm>
          <a:prstGeom prst="rect">
            <a:avLst/>
          </a:prstGeom>
        </p:spPr>
      </p:pic>
      <p:sp>
        <p:nvSpPr>
          <p:cNvPr id="329" name="T"/>
          <p:cNvSpPr txBox="1"/>
          <p:nvPr/>
        </p:nvSpPr>
        <p:spPr>
          <a:xfrm>
            <a:off x="990000" y="2304611"/>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Kalimantan Tengah</a:t>
            </a:r>
            <a:endParaRPr lang="id-ID" sz="756"/>
          </a:p>
          <a:p>
            <a:pPr algn="l">
              <a:buNone/>
            </a:pPr>
            <a:r>
              <a:rPr lang="id-ID" sz="756" dirty="0">
                <a:solidFill>
                  <a:srgbClr val="6B7280"/>
                </a:solidFill>
                <a:latin typeface="Roboto"/>
                <a:ea typeface="Roboto"/>
                <a:cs typeface="Roboto"/>
              </a:rPr>
              <a:t>Laporan pertama 17 Jan</a:t>
            </a:r>
            <a:endParaRPr lang="id-ID" sz="756"/>
          </a:p>
        </p:txBody>
      </p:sp>
      <p:sp>
        <p:nvSpPr>
          <p:cNvPr id="330" name="T"/>
          <p:cNvSpPr txBox="1"/>
          <p:nvPr/>
        </p:nvSpPr>
        <p:spPr>
          <a:xfrm>
            <a:off x="3291840" y="2304611"/>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690.422</a:t>
            </a:r>
            <a:endParaRPr lang="id-ID" sz="740"/>
          </a:p>
        </p:txBody>
      </p:sp>
      <p:sp>
        <p:nvSpPr>
          <p:cNvPr id="331" name="T"/>
          <p:cNvSpPr txBox="1"/>
          <p:nvPr/>
        </p:nvSpPr>
        <p:spPr>
          <a:xfrm>
            <a:off x="4134040" y="2304611"/>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32" name="K"/>
          <p:cNvSpPr/>
          <p:nvPr/>
        </p:nvSpPr>
        <p:spPr>
          <a:xfrm>
            <a:off x="4739006" y="2346637"/>
            <a:ext cx="1152584" cy="163159"/>
          </a:xfrm>
          <a:prstGeom prst="roundRect">
            <a:avLst>
              <a:gd name="adj" fmla="val 50000"/>
            </a:avLst>
          </a:prstGeom>
          <a:solidFill>
            <a:srgbClr val="E6EAF0"/>
          </a:solidFill>
          <a:ln>
            <a:noFill/>
          </a:ln>
        </p:spPr>
      </p:sp>
      <p:pic>
        <p:nvPicPr>
          <p:cNvPr id="333" name="G"/>
          <p:cNvPicPr>
            <a:picLocks noChangeAspect="1"/>
          </p:cNvPicPr>
          <p:nvPr/>
        </p:nvPicPr>
        <p:blipFill>
          <a:blip r:embed="rIdM3"/>
          <a:stretch>
            <a:fillRect/>
          </a:stretch>
        </p:blipFill>
        <p:spPr>
          <a:xfrm>
            <a:off x="4812158" y="2377637"/>
            <a:ext cx="101158" cy="101158"/>
          </a:xfrm>
          <a:prstGeom prst="rect">
            <a:avLst/>
          </a:prstGeom>
        </p:spPr>
      </p:pic>
      <p:sp>
        <p:nvSpPr>
          <p:cNvPr id="334" name="T"/>
          <p:cNvSpPr txBox="1"/>
          <p:nvPr/>
        </p:nvSpPr>
        <p:spPr>
          <a:xfrm>
            <a:off x="4995894" y="2346637"/>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649</a:t>
            </a:r>
            <a:endParaRPr lang="id-ID" sz="625"/>
          </a:p>
        </p:txBody>
      </p:sp>
      <p:sp>
        <p:nvSpPr>
          <p:cNvPr id="335" name="T"/>
          <p:cNvSpPr txBox="1"/>
          <p:nvPr/>
        </p:nvSpPr>
        <p:spPr>
          <a:xfrm>
            <a:off x="5374644" y="2346637"/>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36" name="K"/>
          <p:cNvSpPr/>
          <p:nvPr/>
        </p:nvSpPr>
        <p:spPr>
          <a:xfrm>
            <a:off x="5964742" y="2346637"/>
            <a:ext cx="1155436" cy="163159"/>
          </a:xfrm>
          <a:prstGeom prst="roundRect">
            <a:avLst>
              <a:gd name="adj" fmla="val 50000"/>
            </a:avLst>
          </a:prstGeom>
          <a:solidFill>
            <a:srgbClr val="FBE7D6"/>
          </a:solidFill>
          <a:ln>
            <a:noFill/>
          </a:ln>
        </p:spPr>
      </p:sp>
      <p:pic>
        <p:nvPicPr>
          <p:cNvPr id="337" name="G"/>
          <p:cNvPicPr>
            <a:picLocks noChangeAspect="1"/>
          </p:cNvPicPr>
          <p:nvPr/>
        </p:nvPicPr>
        <p:blipFill>
          <a:blip r:embed="rIdM4"/>
          <a:stretch>
            <a:fillRect/>
          </a:stretch>
        </p:blipFill>
        <p:spPr>
          <a:xfrm>
            <a:off x="6037894" y="2377637"/>
            <a:ext cx="101158" cy="101158"/>
          </a:xfrm>
          <a:prstGeom prst="rect">
            <a:avLst/>
          </a:prstGeom>
        </p:spPr>
      </p:pic>
      <p:sp>
        <p:nvSpPr>
          <p:cNvPr id="338" name="T"/>
          <p:cNvSpPr txBox="1"/>
          <p:nvPr/>
        </p:nvSpPr>
        <p:spPr>
          <a:xfrm>
            <a:off x="6211630" y="2346637"/>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39" name="T"/>
          <p:cNvSpPr txBox="1"/>
          <p:nvPr/>
        </p:nvSpPr>
        <p:spPr>
          <a:xfrm>
            <a:off x="6481630" y="2346637"/>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467</a:t>
            </a:r>
            <a:endParaRPr lang="id-ID" sz="625"/>
          </a:p>
        </p:txBody>
      </p:sp>
      <p:sp>
        <p:nvSpPr>
          <p:cNvPr id="340" name="T"/>
          <p:cNvSpPr txBox="1"/>
          <p:nvPr/>
        </p:nvSpPr>
        <p:spPr>
          <a:xfrm>
            <a:off x="6920380" y="2346637"/>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41" name="L"/>
          <p:cNvCxnSpPr/>
          <p:nvPr/>
        </p:nvCxnSpPr>
        <p:spPr>
          <a:xfrm>
            <a:off x="676656" y="2551822"/>
            <a:ext cx="6464808" cy="0"/>
          </a:xfrm>
          <a:prstGeom prst="line">
            <a:avLst/>
          </a:prstGeom>
          <a:ln w="9525">
            <a:solidFill>
              <a:srgbClr val="EEF0F3"/>
            </a:solidFill>
          </a:ln>
        </p:spPr>
      </p:cxnSp>
      <p:sp>
        <p:nvSpPr>
          <p:cNvPr id="342" name="K"/>
          <p:cNvSpPr/>
          <p:nvPr/>
        </p:nvSpPr>
        <p:spPr>
          <a:xfrm>
            <a:off x="676656" y="2601264"/>
            <a:ext cx="148326" cy="148326"/>
          </a:xfrm>
          <a:prstGeom prst="ellipse">
            <a:avLst/>
          </a:prstGeom>
          <a:solidFill>
            <a:srgbClr val="D9600B"/>
          </a:solidFill>
          <a:ln>
            <a:noFill/>
          </a:ln>
        </p:spPr>
      </p:sp>
      <p:pic>
        <p:nvPicPr>
          <p:cNvPr id="343" name="G"/>
          <p:cNvPicPr>
            <a:picLocks noChangeAspect="1"/>
          </p:cNvPicPr>
          <p:nvPr/>
        </p:nvPicPr>
        <p:blipFill>
          <a:blip r:embed="rIdM2"/>
          <a:stretch>
            <a:fillRect/>
          </a:stretch>
        </p:blipFill>
        <p:spPr>
          <a:xfrm>
            <a:off x="703354" y="2627963"/>
            <a:ext cx="94928" cy="94928"/>
          </a:xfrm>
          <a:prstGeom prst="rect">
            <a:avLst/>
          </a:prstGeom>
        </p:spPr>
      </p:pic>
      <p:sp>
        <p:nvSpPr>
          <p:cNvPr id="344" name="T"/>
          <p:cNvSpPr txBox="1"/>
          <p:nvPr/>
        </p:nvSpPr>
        <p:spPr>
          <a:xfrm>
            <a:off x="990000" y="2551822"/>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Sulawesi Tengah</a:t>
            </a:r>
            <a:endParaRPr lang="id-ID" sz="756"/>
          </a:p>
          <a:p>
            <a:pPr algn="l">
              <a:buNone/>
            </a:pPr>
            <a:r>
              <a:rPr lang="id-ID" sz="756" dirty="0">
                <a:solidFill>
                  <a:srgbClr val="6B7280"/>
                </a:solidFill>
                <a:latin typeface="Roboto"/>
                <a:ea typeface="Roboto"/>
                <a:cs typeface="Roboto"/>
              </a:rPr>
              <a:t>Laporan pertama 7 Okt</a:t>
            </a:r>
            <a:endParaRPr lang="id-ID" sz="756"/>
          </a:p>
        </p:txBody>
      </p:sp>
      <p:sp>
        <p:nvSpPr>
          <p:cNvPr id="345" name="T"/>
          <p:cNvSpPr txBox="1"/>
          <p:nvPr/>
        </p:nvSpPr>
        <p:spPr>
          <a:xfrm>
            <a:off x="3291840" y="2551822"/>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45.843</a:t>
            </a:r>
            <a:endParaRPr lang="id-ID" sz="740"/>
          </a:p>
        </p:txBody>
      </p:sp>
      <p:sp>
        <p:nvSpPr>
          <p:cNvPr id="346" name="T"/>
          <p:cNvSpPr txBox="1"/>
          <p:nvPr/>
        </p:nvSpPr>
        <p:spPr>
          <a:xfrm>
            <a:off x="4134040" y="2551822"/>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47" name="K"/>
          <p:cNvSpPr/>
          <p:nvPr/>
        </p:nvSpPr>
        <p:spPr>
          <a:xfrm>
            <a:off x="4739006" y="2593848"/>
            <a:ext cx="1152584" cy="163159"/>
          </a:xfrm>
          <a:prstGeom prst="roundRect">
            <a:avLst>
              <a:gd name="adj" fmla="val 50000"/>
            </a:avLst>
          </a:prstGeom>
          <a:solidFill>
            <a:srgbClr val="E6EAF0"/>
          </a:solidFill>
          <a:ln>
            <a:noFill/>
          </a:ln>
        </p:spPr>
      </p:sp>
      <p:pic>
        <p:nvPicPr>
          <p:cNvPr id="348" name="G"/>
          <p:cNvPicPr>
            <a:picLocks noChangeAspect="1"/>
          </p:cNvPicPr>
          <p:nvPr/>
        </p:nvPicPr>
        <p:blipFill>
          <a:blip r:embed="rIdM3"/>
          <a:stretch>
            <a:fillRect/>
          </a:stretch>
        </p:blipFill>
        <p:spPr>
          <a:xfrm>
            <a:off x="4812158" y="2624848"/>
            <a:ext cx="101158" cy="101158"/>
          </a:xfrm>
          <a:prstGeom prst="rect">
            <a:avLst/>
          </a:prstGeom>
        </p:spPr>
      </p:pic>
      <p:sp>
        <p:nvSpPr>
          <p:cNvPr id="349" name="T"/>
          <p:cNvSpPr txBox="1"/>
          <p:nvPr/>
        </p:nvSpPr>
        <p:spPr>
          <a:xfrm>
            <a:off x="4995894" y="2593848"/>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327</a:t>
            </a:r>
            <a:endParaRPr lang="id-ID" sz="625"/>
          </a:p>
        </p:txBody>
      </p:sp>
      <p:sp>
        <p:nvSpPr>
          <p:cNvPr id="350" name="T"/>
          <p:cNvSpPr txBox="1"/>
          <p:nvPr/>
        </p:nvSpPr>
        <p:spPr>
          <a:xfrm>
            <a:off x="5374644" y="2593848"/>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51" name="K"/>
          <p:cNvSpPr/>
          <p:nvPr/>
        </p:nvSpPr>
        <p:spPr>
          <a:xfrm>
            <a:off x="5964742" y="2593848"/>
            <a:ext cx="1155436" cy="163159"/>
          </a:xfrm>
          <a:prstGeom prst="roundRect">
            <a:avLst>
              <a:gd name="adj" fmla="val 50000"/>
            </a:avLst>
          </a:prstGeom>
          <a:solidFill>
            <a:srgbClr val="FBE7D6"/>
          </a:solidFill>
          <a:ln>
            <a:noFill/>
          </a:ln>
        </p:spPr>
      </p:sp>
      <p:pic>
        <p:nvPicPr>
          <p:cNvPr id="352" name="G"/>
          <p:cNvPicPr>
            <a:picLocks noChangeAspect="1"/>
          </p:cNvPicPr>
          <p:nvPr/>
        </p:nvPicPr>
        <p:blipFill>
          <a:blip r:embed="rIdM4"/>
          <a:stretch>
            <a:fillRect/>
          </a:stretch>
        </p:blipFill>
        <p:spPr>
          <a:xfrm>
            <a:off x="6037894" y="2624848"/>
            <a:ext cx="101158" cy="101158"/>
          </a:xfrm>
          <a:prstGeom prst="rect">
            <a:avLst/>
          </a:prstGeom>
        </p:spPr>
      </p:pic>
      <p:sp>
        <p:nvSpPr>
          <p:cNvPr id="353" name="T"/>
          <p:cNvSpPr txBox="1"/>
          <p:nvPr/>
        </p:nvSpPr>
        <p:spPr>
          <a:xfrm>
            <a:off x="6211630" y="2593848"/>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54" name="T"/>
          <p:cNvSpPr txBox="1"/>
          <p:nvPr/>
        </p:nvSpPr>
        <p:spPr>
          <a:xfrm>
            <a:off x="6481630" y="2593848"/>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393</a:t>
            </a:r>
            <a:endParaRPr lang="id-ID" sz="625"/>
          </a:p>
        </p:txBody>
      </p:sp>
      <p:sp>
        <p:nvSpPr>
          <p:cNvPr id="355" name="T"/>
          <p:cNvSpPr txBox="1"/>
          <p:nvPr/>
        </p:nvSpPr>
        <p:spPr>
          <a:xfrm>
            <a:off x="6920380" y="2593848"/>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56" name="L"/>
          <p:cNvCxnSpPr/>
          <p:nvPr/>
        </p:nvCxnSpPr>
        <p:spPr>
          <a:xfrm>
            <a:off x="676656" y="2799033"/>
            <a:ext cx="6464808" cy="0"/>
          </a:xfrm>
          <a:prstGeom prst="line">
            <a:avLst/>
          </a:prstGeom>
          <a:ln w="9525">
            <a:solidFill>
              <a:srgbClr val="EEF0F3"/>
            </a:solidFill>
          </a:ln>
        </p:spPr>
      </p:cxnSp>
      <p:sp>
        <p:nvSpPr>
          <p:cNvPr id="357" name="K"/>
          <p:cNvSpPr/>
          <p:nvPr/>
        </p:nvSpPr>
        <p:spPr>
          <a:xfrm>
            <a:off x="676656" y="2848475"/>
            <a:ext cx="148326" cy="148326"/>
          </a:xfrm>
          <a:prstGeom prst="ellipse">
            <a:avLst/>
          </a:prstGeom>
          <a:solidFill>
            <a:srgbClr val="D9600B"/>
          </a:solidFill>
          <a:ln>
            <a:noFill/>
          </a:ln>
        </p:spPr>
      </p:sp>
      <p:pic>
        <p:nvPicPr>
          <p:cNvPr id="358" name="G"/>
          <p:cNvPicPr>
            <a:picLocks noChangeAspect="1"/>
          </p:cNvPicPr>
          <p:nvPr/>
        </p:nvPicPr>
        <p:blipFill>
          <a:blip r:embed="rIdM2"/>
          <a:stretch>
            <a:fillRect/>
          </a:stretch>
        </p:blipFill>
        <p:spPr>
          <a:xfrm>
            <a:off x="703354" y="2875174"/>
            <a:ext cx="94928" cy="94928"/>
          </a:xfrm>
          <a:prstGeom prst="rect">
            <a:avLst/>
          </a:prstGeom>
        </p:spPr>
      </p:pic>
      <p:sp>
        <p:nvSpPr>
          <p:cNvPr id="359" name="T"/>
          <p:cNvSpPr txBox="1"/>
          <p:nvPr/>
        </p:nvSpPr>
        <p:spPr>
          <a:xfrm>
            <a:off x="990000" y="2799033"/>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Kalimantan Timur</a:t>
            </a:r>
            <a:endParaRPr lang="id-ID" sz="756"/>
          </a:p>
          <a:p>
            <a:pPr algn="l">
              <a:buNone/>
            </a:pPr>
            <a:r>
              <a:rPr lang="id-ID" sz="756" dirty="0">
                <a:solidFill>
                  <a:srgbClr val="6B7280"/>
                </a:solidFill>
                <a:latin typeface="Roboto"/>
                <a:ea typeface="Roboto"/>
                <a:cs typeface="Roboto"/>
              </a:rPr>
              <a:t>Laporan pertama 3 Sep</a:t>
            </a:r>
            <a:endParaRPr lang="id-ID" sz="756"/>
          </a:p>
        </p:txBody>
      </p:sp>
      <p:sp>
        <p:nvSpPr>
          <p:cNvPr id="360" name="T"/>
          <p:cNvSpPr txBox="1"/>
          <p:nvPr/>
        </p:nvSpPr>
        <p:spPr>
          <a:xfrm>
            <a:off x="3291840" y="2799033"/>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128.002</a:t>
            </a:r>
            <a:endParaRPr lang="id-ID" sz="740"/>
          </a:p>
        </p:txBody>
      </p:sp>
      <p:sp>
        <p:nvSpPr>
          <p:cNvPr id="361" name="T"/>
          <p:cNvSpPr txBox="1"/>
          <p:nvPr/>
        </p:nvSpPr>
        <p:spPr>
          <a:xfrm>
            <a:off x="4134040" y="2799033"/>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62" name="K"/>
          <p:cNvSpPr/>
          <p:nvPr/>
        </p:nvSpPr>
        <p:spPr>
          <a:xfrm>
            <a:off x="4739006" y="2841059"/>
            <a:ext cx="1152584" cy="163159"/>
          </a:xfrm>
          <a:prstGeom prst="roundRect">
            <a:avLst>
              <a:gd name="adj" fmla="val 50000"/>
            </a:avLst>
          </a:prstGeom>
          <a:solidFill>
            <a:srgbClr val="E6EAF0"/>
          </a:solidFill>
          <a:ln>
            <a:noFill/>
          </a:ln>
        </p:spPr>
      </p:sp>
      <p:pic>
        <p:nvPicPr>
          <p:cNvPr id="363" name="G"/>
          <p:cNvPicPr>
            <a:picLocks noChangeAspect="1"/>
          </p:cNvPicPr>
          <p:nvPr/>
        </p:nvPicPr>
        <p:blipFill>
          <a:blip r:embed="rIdM3"/>
          <a:stretch>
            <a:fillRect/>
          </a:stretch>
        </p:blipFill>
        <p:spPr>
          <a:xfrm>
            <a:off x="4812158" y="2872059"/>
            <a:ext cx="101158" cy="101158"/>
          </a:xfrm>
          <a:prstGeom prst="rect">
            <a:avLst/>
          </a:prstGeom>
        </p:spPr>
      </p:pic>
      <p:sp>
        <p:nvSpPr>
          <p:cNvPr id="364" name="T"/>
          <p:cNvSpPr txBox="1"/>
          <p:nvPr/>
        </p:nvSpPr>
        <p:spPr>
          <a:xfrm>
            <a:off x="4995894" y="2841059"/>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407</a:t>
            </a:r>
            <a:endParaRPr lang="id-ID" sz="625"/>
          </a:p>
        </p:txBody>
      </p:sp>
      <p:sp>
        <p:nvSpPr>
          <p:cNvPr id="365" name="T"/>
          <p:cNvSpPr txBox="1"/>
          <p:nvPr/>
        </p:nvSpPr>
        <p:spPr>
          <a:xfrm>
            <a:off x="5374644" y="2841059"/>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66" name="K"/>
          <p:cNvSpPr/>
          <p:nvPr/>
        </p:nvSpPr>
        <p:spPr>
          <a:xfrm>
            <a:off x="5964742" y="2841059"/>
            <a:ext cx="1155436" cy="163159"/>
          </a:xfrm>
          <a:prstGeom prst="roundRect">
            <a:avLst>
              <a:gd name="adj" fmla="val 50000"/>
            </a:avLst>
          </a:prstGeom>
          <a:solidFill>
            <a:srgbClr val="FBE7D6"/>
          </a:solidFill>
          <a:ln>
            <a:noFill/>
          </a:ln>
        </p:spPr>
      </p:sp>
      <p:pic>
        <p:nvPicPr>
          <p:cNvPr id="367" name="G"/>
          <p:cNvPicPr>
            <a:picLocks noChangeAspect="1"/>
          </p:cNvPicPr>
          <p:nvPr/>
        </p:nvPicPr>
        <p:blipFill>
          <a:blip r:embed="rIdM4"/>
          <a:stretch>
            <a:fillRect/>
          </a:stretch>
        </p:blipFill>
        <p:spPr>
          <a:xfrm>
            <a:off x="6037894" y="2872059"/>
            <a:ext cx="101158" cy="101158"/>
          </a:xfrm>
          <a:prstGeom prst="rect">
            <a:avLst/>
          </a:prstGeom>
        </p:spPr>
      </p:pic>
      <p:sp>
        <p:nvSpPr>
          <p:cNvPr id="368" name="T"/>
          <p:cNvSpPr txBox="1"/>
          <p:nvPr/>
        </p:nvSpPr>
        <p:spPr>
          <a:xfrm>
            <a:off x="6211630" y="2841059"/>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69" name="T"/>
          <p:cNvSpPr txBox="1"/>
          <p:nvPr/>
        </p:nvSpPr>
        <p:spPr>
          <a:xfrm>
            <a:off x="6481630" y="2841059"/>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320</a:t>
            </a:r>
            <a:endParaRPr lang="id-ID" sz="625"/>
          </a:p>
        </p:txBody>
      </p:sp>
      <p:sp>
        <p:nvSpPr>
          <p:cNvPr id="370" name="T"/>
          <p:cNvSpPr txBox="1"/>
          <p:nvPr/>
        </p:nvSpPr>
        <p:spPr>
          <a:xfrm>
            <a:off x="6920380" y="2841059"/>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71" name="L"/>
          <p:cNvCxnSpPr/>
          <p:nvPr/>
        </p:nvCxnSpPr>
        <p:spPr>
          <a:xfrm>
            <a:off x="676656" y="3046244"/>
            <a:ext cx="6464808" cy="0"/>
          </a:xfrm>
          <a:prstGeom prst="line">
            <a:avLst/>
          </a:prstGeom>
          <a:ln w="9525">
            <a:solidFill>
              <a:srgbClr val="EEF0F3"/>
            </a:solidFill>
          </a:ln>
        </p:spPr>
      </p:cxnSp>
      <p:sp>
        <p:nvSpPr>
          <p:cNvPr id="372" name="K"/>
          <p:cNvSpPr/>
          <p:nvPr/>
        </p:nvSpPr>
        <p:spPr>
          <a:xfrm>
            <a:off x="676656" y="3095686"/>
            <a:ext cx="148326" cy="148326"/>
          </a:xfrm>
          <a:prstGeom prst="ellipse">
            <a:avLst/>
          </a:prstGeom>
          <a:solidFill>
            <a:srgbClr val="D9600B"/>
          </a:solidFill>
          <a:ln>
            <a:noFill/>
          </a:ln>
        </p:spPr>
      </p:sp>
      <p:pic>
        <p:nvPicPr>
          <p:cNvPr id="373" name="G"/>
          <p:cNvPicPr>
            <a:picLocks noChangeAspect="1"/>
          </p:cNvPicPr>
          <p:nvPr/>
        </p:nvPicPr>
        <p:blipFill>
          <a:blip r:embed="rIdM2"/>
          <a:stretch>
            <a:fillRect/>
          </a:stretch>
        </p:blipFill>
        <p:spPr>
          <a:xfrm>
            <a:off x="703354" y="3122385"/>
            <a:ext cx="94928" cy="94928"/>
          </a:xfrm>
          <a:prstGeom prst="rect">
            <a:avLst/>
          </a:prstGeom>
        </p:spPr>
      </p:pic>
      <p:sp>
        <p:nvSpPr>
          <p:cNvPr id="374" name="T"/>
          <p:cNvSpPr txBox="1"/>
          <p:nvPr/>
        </p:nvSpPr>
        <p:spPr>
          <a:xfrm>
            <a:off x="990000" y="3046244"/>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Sulawesi Tenggara</a:t>
            </a:r>
            <a:endParaRPr lang="id-ID" sz="756"/>
          </a:p>
          <a:p>
            <a:pPr algn="l">
              <a:buNone/>
            </a:pPr>
            <a:r>
              <a:rPr lang="id-ID" sz="756" dirty="0">
                <a:solidFill>
                  <a:srgbClr val="6B7280"/>
                </a:solidFill>
                <a:latin typeface="Roboto"/>
                <a:ea typeface="Roboto"/>
                <a:cs typeface="Roboto"/>
              </a:rPr>
              <a:t>Dari data satelit</a:t>
            </a:r>
            <a:endParaRPr lang="id-ID" sz="756"/>
          </a:p>
        </p:txBody>
      </p:sp>
      <p:sp>
        <p:nvSpPr>
          <p:cNvPr id="375" name="T"/>
          <p:cNvSpPr txBox="1"/>
          <p:nvPr/>
        </p:nvSpPr>
        <p:spPr>
          <a:xfrm>
            <a:off x="3291840" y="3046244"/>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29.685</a:t>
            </a:r>
            <a:endParaRPr lang="id-ID" sz="740"/>
          </a:p>
        </p:txBody>
      </p:sp>
      <p:sp>
        <p:nvSpPr>
          <p:cNvPr id="376" name="T"/>
          <p:cNvSpPr txBox="1"/>
          <p:nvPr/>
        </p:nvSpPr>
        <p:spPr>
          <a:xfrm>
            <a:off x="4134040" y="3046244"/>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77" name="K"/>
          <p:cNvSpPr/>
          <p:nvPr/>
        </p:nvSpPr>
        <p:spPr>
          <a:xfrm>
            <a:off x="4739006" y="3088270"/>
            <a:ext cx="1152584" cy="163159"/>
          </a:xfrm>
          <a:prstGeom prst="roundRect">
            <a:avLst>
              <a:gd name="adj" fmla="val 50000"/>
            </a:avLst>
          </a:prstGeom>
          <a:solidFill>
            <a:srgbClr val="E6EAF0"/>
          </a:solidFill>
          <a:ln>
            <a:noFill/>
          </a:ln>
        </p:spPr>
      </p:sp>
      <p:pic>
        <p:nvPicPr>
          <p:cNvPr id="378" name="G"/>
          <p:cNvPicPr>
            <a:picLocks noChangeAspect="1"/>
          </p:cNvPicPr>
          <p:nvPr/>
        </p:nvPicPr>
        <p:blipFill>
          <a:blip r:embed="rIdM3"/>
          <a:stretch>
            <a:fillRect/>
          </a:stretch>
        </p:blipFill>
        <p:spPr>
          <a:xfrm>
            <a:off x="4812158" y="3119270"/>
            <a:ext cx="101158" cy="101158"/>
          </a:xfrm>
          <a:prstGeom prst="rect">
            <a:avLst/>
          </a:prstGeom>
        </p:spPr>
      </p:pic>
      <p:sp>
        <p:nvSpPr>
          <p:cNvPr id="379" name="T"/>
          <p:cNvSpPr txBox="1"/>
          <p:nvPr/>
        </p:nvSpPr>
        <p:spPr>
          <a:xfrm>
            <a:off x="4995894" y="3088270"/>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266</a:t>
            </a:r>
            <a:endParaRPr lang="id-ID" sz="625"/>
          </a:p>
        </p:txBody>
      </p:sp>
      <p:sp>
        <p:nvSpPr>
          <p:cNvPr id="380" name="T"/>
          <p:cNvSpPr txBox="1"/>
          <p:nvPr/>
        </p:nvSpPr>
        <p:spPr>
          <a:xfrm>
            <a:off x="5374644" y="3088270"/>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81" name="K"/>
          <p:cNvSpPr/>
          <p:nvPr/>
        </p:nvSpPr>
        <p:spPr>
          <a:xfrm>
            <a:off x="5964742" y="3088270"/>
            <a:ext cx="1155436" cy="163159"/>
          </a:xfrm>
          <a:prstGeom prst="roundRect">
            <a:avLst>
              <a:gd name="adj" fmla="val 50000"/>
            </a:avLst>
          </a:prstGeom>
          <a:solidFill>
            <a:srgbClr val="FBE7D6"/>
          </a:solidFill>
          <a:ln>
            <a:noFill/>
          </a:ln>
        </p:spPr>
      </p:sp>
      <p:pic>
        <p:nvPicPr>
          <p:cNvPr id="382" name="G"/>
          <p:cNvPicPr>
            <a:picLocks noChangeAspect="1"/>
          </p:cNvPicPr>
          <p:nvPr/>
        </p:nvPicPr>
        <p:blipFill>
          <a:blip r:embed="rIdM4"/>
          <a:stretch>
            <a:fillRect/>
          </a:stretch>
        </p:blipFill>
        <p:spPr>
          <a:xfrm>
            <a:off x="6037894" y="3119270"/>
            <a:ext cx="101158" cy="101158"/>
          </a:xfrm>
          <a:prstGeom prst="rect">
            <a:avLst/>
          </a:prstGeom>
        </p:spPr>
      </p:pic>
      <p:sp>
        <p:nvSpPr>
          <p:cNvPr id="383" name="T"/>
          <p:cNvSpPr txBox="1"/>
          <p:nvPr/>
        </p:nvSpPr>
        <p:spPr>
          <a:xfrm>
            <a:off x="6211630" y="3088270"/>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84" name="T"/>
          <p:cNvSpPr txBox="1"/>
          <p:nvPr/>
        </p:nvSpPr>
        <p:spPr>
          <a:xfrm>
            <a:off x="6481630" y="3088270"/>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282</a:t>
            </a:r>
            <a:endParaRPr lang="id-ID" sz="625"/>
          </a:p>
        </p:txBody>
      </p:sp>
      <p:sp>
        <p:nvSpPr>
          <p:cNvPr id="385" name="T"/>
          <p:cNvSpPr txBox="1"/>
          <p:nvPr/>
        </p:nvSpPr>
        <p:spPr>
          <a:xfrm>
            <a:off x="6920380" y="3088270"/>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386" name="L"/>
          <p:cNvCxnSpPr/>
          <p:nvPr/>
        </p:nvCxnSpPr>
        <p:spPr>
          <a:xfrm>
            <a:off x="676656" y="3293455"/>
            <a:ext cx="6464808" cy="0"/>
          </a:xfrm>
          <a:prstGeom prst="line">
            <a:avLst/>
          </a:prstGeom>
          <a:ln w="9525">
            <a:solidFill>
              <a:srgbClr val="EEF0F3"/>
            </a:solidFill>
          </a:ln>
        </p:spPr>
      </p:cxnSp>
      <p:sp>
        <p:nvSpPr>
          <p:cNvPr id="387" name="K"/>
          <p:cNvSpPr/>
          <p:nvPr/>
        </p:nvSpPr>
        <p:spPr>
          <a:xfrm>
            <a:off x="676656" y="3342897"/>
            <a:ext cx="148326" cy="148326"/>
          </a:xfrm>
          <a:prstGeom prst="ellipse">
            <a:avLst/>
          </a:prstGeom>
          <a:solidFill>
            <a:srgbClr val="D9600B"/>
          </a:solidFill>
          <a:ln>
            <a:noFill/>
          </a:ln>
        </p:spPr>
      </p:sp>
      <p:pic>
        <p:nvPicPr>
          <p:cNvPr id="388" name="G"/>
          <p:cNvPicPr>
            <a:picLocks noChangeAspect="1"/>
          </p:cNvPicPr>
          <p:nvPr/>
        </p:nvPicPr>
        <p:blipFill>
          <a:blip r:embed="rIdM2"/>
          <a:stretch>
            <a:fillRect/>
          </a:stretch>
        </p:blipFill>
        <p:spPr>
          <a:xfrm>
            <a:off x="703354" y="3369596"/>
            <a:ext cx="94928" cy="94928"/>
          </a:xfrm>
          <a:prstGeom prst="rect">
            <a:avLst/>
          </a:prstGeom>
        </p:spPr>
      </p:pic>
      <p:sp>
        <p:nvSpPr>
          <p:cNvPr id="389" name="T"/>
          <p:cNvSpPr txBox="1"/>
          <p:nvPr/>
        </p:nvSpPr>
        <p:spPr>
          <a:xfrm>
            <a:off x="990000" y="3293455"/>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Maluku</a:t>
            </a:r>
            <a:endParaRPr lang="id-ID" sz="756"/>
          </a:p>
          <a:p>
            <a:pPr algn="l">
              <a:buNone/>
            </a:pPr>
            <a:r>
              <a:rPr lang="id-ID" sz="756" dirty="0">
                <a:solidFill>
                  <a:srgbClr val="6B7280"/>
                </a:solidFill>
                <a:latin typeface="Roboto"/>
                <a:ea typeface="Roboto"/>
                <a:cs typeface="Roboto"/>
              </a:rPr>
              <a:t>Laporan pertama 30 Okt</a:t>
            </a:r>
            <a:endParaRPr lang="id-ID" sz="756"/>
          </a:p>
        </p:txBody>
      </p:sp>
      <p:sp>
        <p:nvSpPr>
          <p:cNvPr id="390" name="T"/>
          <p:cNvSpPr txBox="1"/>
          <p:nvPr/>
        </p:nvSpPr>
        <p:spPr>
          <a:xfrm>
            <a:off x="3291840" y="3293455"/>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74.708</a:t>
            </a:r>
            <a:endParaRPr lang="id-ID" sz="740"/>
          </a:p>
        </p:txBody>
      </p:sp>
      <p:sp>
        <p:nvSpPr>
          <p:cNvPr id="391" name="T"/>
          <p:cNvSpPr txBox="1"/>
          <p:nvPr/>
        </p:nvSpPr>
        <p:spPr>
          <a:xfrm>
            <a:off x="4134040" y="3293455"/>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392" name="K"/>
          <p:cNvSpPr/>
          <p:nvPr/>
        </p:nvSpPr>
        <p:spPr>
          <a:xfrm>
            <a:off x="4739006" y="3335481"/>
            <a:ext cx="1152584" cy="163159"/>
          </a:xfrm>
          <a:prstGeom prst="roundRect">
            <a:avLst>
              <a:gd name="adj" fmla="val 50000"/>
            </a:avLst>
          </a:prstGeom>
          <a:solidFill>
            <a:srgbClr val="E6EAF0"/>
          </a:solidFill>
          <a:ln>
            <a:noFill/>
          </a:ln>
        </p:spPr>
      </p:sp>
      <p:pic>
        <p:nvPicPr>
          <p:cNvPr id="393" name="G"/>
          <p:cNvPicPr>
            <a:picLocks noChangeAspect="1"/>
          </p:cNvPicPr>
          <p:nvPr/>
        </p:nvPicPr>
        <p:blipFill>
          <a:blip r:embed="rIdM3"/>
          <a:stretch>
            <a:fillRect/>
          </a:stretch>
        </p:blipFill>
        <p:spPr>
          <a:xfrm>
            <a:off x="4812158" y="3366481"/>
            <a:ext cx="101158" cy="101158"/>
          </a:xfrm>
          <a:prstGeom prst="rect">
            <a:avLst/>
          </a:prstGeom>
        </p:spPr>
      </p:pic>
      <p:sp>
        <p:nvSpPr>
          <p:cNvPr id="394" name="T"/>
          <p:cNvSpPr txBox="1"/>
          <p:nvPr/>
        </p:nvSpPr>
        <p:spPr>
          <a:xfrm>
            <a:off x="4995894" y="3335481"/>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32</a:t>
            </a:r>
            <a:endParaRPr lang="id-ID" sz="625"/>
          </a:p>
        </p:txBody>
      </p:sp>
      <p:sp>
        <p:nvSpPr>
          <p:cNvPr id="395" name="T"/>
          <p:cNvSpPr txBox="1"/>
          <p:nvPr/>
        </p:nvSpPr>
        <p:spPr>
          <a:xfrm>
            <a:off x="5374644" y="3335481"/>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396" name="K"/>
          <p:cNvSpPr/>
          <p:nvPr/>
        </p:nvSpPr>
        <p:spPr>
          <a:xfrm>
            <a:off x="5964742" y="3335481"/>
            <a:ext cx="1155436" cy="163159"/>
          </a:xfrm>
          <a:prstGeom prst="roundRect">
            <a:avLst>
              <a:gd name="adj" fmla="val 50000"/>
            </a:avLst>
          </a:prstGeom>
          <a:solidFill>
            <a:srgbClr val="FBE7D6"/>
          </a:solidFill>
          <a:ln>
            <a:noFill/>
          </a:ln>
        </p:spPr>
      </p:sp>
      <p:pic>
        <p:nvPicPr>
          <p:cNvPr id="397" name="G"/>
          <p:cNvPicPr>
            <a:picLocks noChangeAspect="1"/>
          </p:cNvPicPr>
          <p:nvPr/>
        </p:nvPicPr>
        <p:blipFill>
          <a:blip r:embed="rIdM4"/>
          <a:stretch>
            <a:fillRect/>
          </a:stretch>
        </p:blipFill>
        <p:spPr>
          <a:xfrm>
            <a:off x="6037894" y="3366481"/>
            <a:ext cx="101158" cy="101158"/>
          </a:xfrm>
          <a:prstGeom prst="rect">
            <a:avLst/>
          </a:prstGeom>
        </p:spPr>
      </p:pic>
      <p:sp>
        <p:nvSpPr>
          <p:cNvPr id="398" name="T"/>
          <p:cNvSpPr txBox="1"/>
          <p:nvPr/>
        </p:nvSpPr>
        <p:spPr>
          <a:xfrm>
            <a:off x="6211630" y="3335481"/>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399" name="T"/>
          <p:cNvSpPr txBox="1"/>
          <p:nvPr/>
        </p:nvSpPr>
        <p:spPr>
          <a:xfrm>
            <a:off x="6481630" y="3335481"/>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104</a:t>
            </a:r>
            <a:endParaRPr lang="id-ID" sz="625"/>
          </a:p>
        </p:txBody>
      </p:sp>
      <p:sp>
        <p:nvSpPr>
          <p:cNvPr id="400" name="T"/>
          <p:cNvSpPr txBox="1"/>
          <p:nvPr/>
        </p:nvSpPr>
        <p:spPr>
          <a:xfrm>
            <a:off x="6920380" y="3335481"/>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01" name="L"/>
          <p:cNvCxnSpPr/>
          <p:nvPr/>
        </p:nvCxnSpPr>
        <p:spPr>
          <a:xfrm>
            <a:off x="676656" y="3540666"/>
            <a:ext cx="6464808" cy="0"/>
          </a:xfrm>
          <a:prstGeom prst="line">
            <a:avLst/>
          </a:prstGeom>
          <a:ln w="9525">
            <a:solidFill>
              <a:srgbClr val="EEF0F3"/>
            </a:solidFill>
          </a:ln>
        </p:spPr>
      </p:cxnSp>
      <p:sp>
        <p:nvSpPr>
          <p:cNvPr id="402" name="K"/>
          <p:cNvSpPr/>
          <p:nvPr/>
        </p:nvSpPr>
        <p:spPr>
          <a:xfrm>
            <a:off x="676656" y="3590108"/>
            <a:ext cx="148326" cy="148326"/>
          </a:xfrm>
          <a:prstGeom prst="ellipse">
            <a:avLst/>
          </a:prstGeom>
          <a:solidFill>
            <a:srgbClr val="D9600B"/>
          </a:solidFill>
          <a:ln>
            <a:noFill/>
          </a:ln>
        </p:spPr>
      </p:sp>
      <p:pic>
        <p:nvPicPr>
          <p:cNvPr id="403" name="G"/>
          <p:cNvPicPr>
            <a:picLocks noChangeAspect="1"/>
          </p:cNvPicPr>
          <p:nvPr/>
        </p:nvPicPr>
        <p:blipFill>
          <a:blip r:embed="rIdM2"/>
          <a:stretch>
            <a:fillRect/>
          </a:stretch>
        </p:blipFill>
        <p:spPr>
          <a:xfrm>
            <a:off x="703354" y="3616807"/>
            <a:ext cx="94928" cy="94928"/>
          </a:xfrm>
          <a:prstGeom prst="rect">
            <a:avLst/>
          </a:prstGeom>
        </p:spPr>
      </p:pic>
      <p:sp>
        <p:nvSpPr>
          <p:cNvPr id="404" name="T"/>
          <p:cNvSpPr txBox="1"/>
          <p:nvPr/>
        </p:nvSpPr>
        <p:spPr>
          <a:xfrm>
            <a:off x="990000" y="3540666"/>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Sulawesi Selatan</a:t>
            </a:r>
            <a:endParaRPr lang="id-ID" sz="756"/>
          </a:p>
          <a:p>
            <a:pPr algn="l">
              <a:buNone/>
            </a:pPr>
            <a:r>
              <a:rPr lang="id-ID" sz="756" dirty="0">
                <a:solidFill>
                  <a:srgbClr val="6B7280"/>
                </a:solidFill>
                <a:latin typeface="Roboto"/>
                <a:ea typeface="Roboto"/>
                <a:cs typeface="Roboto"/>
              </a:rPr>
              <a:t>Laporan pertama 8 Okt</a:t>
            </a:r>
            <a:endParaRPr lang="id-ID" sz="756"/>
          </a:p>
        </p:txBody>
      </p:sp>
      <p:sp>
        <p:nvSpPr>
          <p:cNvPr id="405" name="T"/>
          <p:cNvSpPr txBox="1"/>
          <p:nvPr/>
        </p:nvSpPr>
        <p:spPr>
          <a:xfrm>
            <a:off x="3291840" y="3540666"/>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34.155</a:t>
            </a:r>
            <a:endParaRPr lang="id-ID" sz="740"/>
          </a:p>
        </p:txBody>
      </p:sp>
      <p:sp>
        <p:nvSpPr>
          <p:cNvPr id="406" name="T"/>
          <p:cNvSpPr txBox="1"/>
          <p:nvPr/>
        </p:nvSpPr>
        <p:spPr>
          <a:xfrm>
            <a:off x="4134040" y="3540666"/>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07" name="K"/>
          <p:cNvSpPr/>
          <p:nvPr/>
        </p:nvSpPr>
        <p:spPr>
          <a:xfrm>
            <a:off x="4739006" y="3582692"/>
            <a:ext cx="1152584" cy="163159"/>
          </a:xfrm>
          <a:prstGeom prst="roundRect">
            <a:avLst>
              <a:gd name="adj" fmla="val 50000"/>
            </a:avLst>
          </a:prstGeom>
          <a:solidFill>
            <a:srgbClr val="E6EAF0"/>
          </a:solidFill>
          <a:ln>
            <a:noFill/>
          </a:ln>
        </p:spPr>
      </p:sp>
      <p:pic>
        <p:nvPicPr>
          <p:cNvPr id="408" name="G"/>
          <p:cNvPicPr>
            <a:picLocks noChangeAspect="1"/>
          </p:cNvPicPr>
          <p:nvPr/>
        </p:nvPicPr>
        <p:blipFill>
          <a:blip r:embed="rIdM3"/>
          <a:stretch>
            <a:fillRect/>
          </a:stretch>
        </p:blipFill>
        <p:spPr>
          <a:xfrm>
            <a:off x="4812158" y="3613692"/>
            <a:ext cx="101158" cy="101158"/>
          </a:xfrm>
          <a:prstGeom prst="rect">
            <a:avLst/>
          </a:prstGeom>
        </p:spPr>
      </p:pic>
      <p:sp>
        <p:nvSpPr>
          <p:cNvPr id="409" name="T"/>
          <p:cNvSpPr txBox="1"/>
          <p:nvPr/>
        </p:nvSpPr>
        <p:spPr>
          <a:xfrm>
            <a:off x="4995894" y="3582692"/>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101</a:t>
            </a:r>
            <a:endParaRPr lang="id-ID" sz="625"/>
          </a:p>
        </p:txBody>
      </p:sp>
      <p:sp>
        <p:nvSpPr>
          <p:cNvPr id="410" name="T"/>
          <p:cNvSpPr txBox="1"/>
          <p:nvPr/>
        </p:nvSpPr>
        <p:spPr>
          <a:xfrm>
            <a:off x="5374644" y="3582692"/>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11" name="K"/>
          <p:cNvSpPr/>
          <p:nvPr/>
        </p:nvSpPr>
        <p:spPr>
          <a:xfrm>
            <a:off x="5964742" y="3582692"/>
            <a:ext cx="1155436" cy="163159"/>
          </a:xfrm>
          <a:prstGeom prst="roundRect">
            <a:avLst>
              <a:gd name="adj" fmla="val 50000"/>
            </a:avLst>
          </a:prstGeom>
          <a:solidFill>
            <a:srgbClr val="FBE7D6"/>
          </a:solidFill>
          <a:ln>
            <a:noFill/>
          </a:ln>
        </p:spPr>
      </p:sp>
      <p:pic>
        <p:nvPicPr>
          <p:cNvPr id="412" name="G"/>
          <p:cNvPicPr>
            <a:picLocks noChangeAspect="1"/>
          </p:cNvPicPr>
          <p:nvPr/>
        </p:nvPicPr>
        <p:blipFill>
          <a:blip r:embed="rIdM4"/>
          <a:stretch>
            <a:fillRect/>
          </a:stretch>
        </p:blipFill>
        <p:spPr>
          <a:xfrm>
            <a:off x="6037894" y="3613692"/>
            <a:ext cx="101158" cy="101158"/>
          </a:xfrm>
          <a:prstGeom prst="rect">
            <a:avLst/>
          </a:prstGeom>
        </p:spPr>
      </p:pic>
      <p:sp>
        <p:nvSpPr>
          <p:cNvPr id="413" name="T"/>
          <p:cNvSpPr txBox="1"/>
          <p:nvPr/>
        </p:nvSpPr>
        <p:spPr>
          <a:xfrm>
            <a:off x="6211630" y="3582692"/>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14" name="T"/>
          <p:cNvSpPr txBox="1"/>
          <p:nvPr/>
        </p:nvSpPr>
        <p:spPr>
          <a:xfrm>
            <a:off x="6481630" y="3582692"/>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101</a:t>
            </a:r>
            <a:endParaRPr lang="id-ID" sz="625"/>
          </a:p>
        </p:txBody>
      </p:sp>
      <p:sp>
        <p:nvSpPr>
          <p:cNvPr id="415" name="T"/>
          <p:cNvSpPr txBox="1"/>
          <p:nvPr/>
        </p:nvSpPr>
        <p:spPr>
          <a:xfrm>
            <a:off x="6920380" y="3582692"/>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16" name="L"/>
          <p:cNvCxnSpPr/>
          <p:nvPr/>
        </p:nvCxnSpPr>
        <p:spPr>
          <a:xfrm>
            <a:off x="676656" y="3787877"/>
            <a:ext cx="6464808" cy="0"/>
          </a:xfrm>
          <a:prstGeom prst="line">
            <a:avLst/>
          </a:prstGeom>
          <a:ln w="9525">
            <a:solidFill>
              <a:srgbClr val="EEF0F3"/>
            </a:solidFill>
          </a:ln>
        </p:spPr>
      </p:cxnSp>
      <p:sp>
        <p:nvSpPr>
          <p:cNvPr id="417" name="K"/>
          <p:cNvSpPr/>
          <p:nvPr/>
        </p:nvSpPr>
        <p:spPr>
          <a:xfrm>
            <a:off x="676656" y="3837319"/>
            <a:ext cx="148326" cy="148326"/>
          </a:xfrm>
          <a:prstGeom prst="ellipse">
            <a:avLst/>
          </a:prstGeom>
          <a:solidFill>
            <a:srgbClr val="D9600B"/>
          </a:solidFill>
          <a:ln>
            <a:noFill/>
          </a:ln>
        </p:spPr>
      </p:sp>
      <p:pic>
        <p:nvPicPr>
          <p:cNvPr id="418" name="G"/>
          <p:cNvPicPr>
            <a:picLocks noChangeAspect="1"/>
          </p:cNvPicPr>
          <p:nvPr/>
        </p:nvPicPr>
        <p:blipFill>
          <a:blip r:embed="rIdM2"/>
          <a:stretch>
            <a:fillRect/>
          </a:stretch>
        </p:blipFill>
        <p:spPr>
          <a:xfrm>
            <a:off x="703354" y="3864018"/>
            <a:ext cx="94928" cy="94928"/>
          </a:xfrm>
          <a:prstGeom prst="rect">
            <a:avLst/>
          </a:prstGeom>
        </p:spPr>
      </p:pic>
      <p:sp>
        <p:nvSpPr>
          <p:cNvPr id="419" name="T"/>
          <p:cNvSpPr txBox="1"/>
          <p:nvPr/>
        </p:nvSpPr>
        <p:spPr>
          <a:xfrm>
            <a:off x="990000" y="3787877"/>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Papua Barat</a:t>
            </a:r>
            <a:endParaRPr lang="id-ID" sz="756"/>
          </a:p>
          <a:p>
            <a:pPr algn="l">
              <a:buNone/>
            </a:pPr>
            <a:r>
              <a:rPr lang="id-ID" sz="756" dirty="0">
                <a:solidFill>
                  <a:srgbClr val="6B7280"/>
                </a:solidFill>
                <a:latin typeface="Roboto"/>
                <a:ea typeface="Roboto"/>
                <a:cs typeface="Roboto"/>
              </a:rPr>
              <a:t>Dari data satelit</a:t>
            </a:r>
            <a:endParaRPr lang="id-ID" sz="756"/>
          </a:p>
        </p:txBody>
      </p:sp>
      <p:sp>
        <p:nvSpPr>
          <p:cNvPr id="420" name="T"/>
          <p:cNvSpPr txBox="1"/>
          <p:nvPr/>
        </p:nvSpPr>
        <p:spPr>
          <a:xfrm>
            <a:off x="3291840" y="3787877"/>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54.657</a:t>
            </a:r>
            <a:endParaRPr lang="id-ID" sz="740"/>
          </a:p>
        </p:txBody>
      </p:sp>
      <p:sp>
        <p:nvSpPr>
          <p:cNvPr id="421" name="T"/>
          <p:cNvSpPr txBox="1"/>
          <p:nvPr/>
        </p:nvSpPr>
        <p:spPr>
          <a:xfrm>
            <a:off x="4134040" y="3787877"/>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22" name="K"/>
          <p:cNvSpPr/>
          <p:nvPr/>
        </p:nvSpPr>
        <p:spPr>
          <a:xfrm>
            <a:off x="4739006" y="3829903"/>
            <a:ext cx="1152584" cy="163159"/>
          </a:xfrm>
          <a:prstGeom prst="roundRect">
            <a:avLst>
              <a:gd name="adj" fmla="val 50000"/>
            </a:avLst>
          </a:prstGeom>
          <a:solidFill>
            <a:srgbClr val="E6EAF0"/>
          </a:solidFill>
          <a:ln>
            <a:noFill/>
          </a:ln>
        </p:spPr>
      </p:sp>
      <p:pic>
        <p:nvPicPr>
          <p:cNvPr id="423" name="G"/>
          <p:cNvPicPr>
            <a:picLocks noChangeAspect="1"/>
          </p:cNvPicPr>
          <p:nvPr/>
        </p:nvPicPr>
        <p:blipFill>
          <a:blip r:embed="rIdM3"/>
          <a:stretch>
            <a:fillRect/>
          </a:stretch>
        </p:blipFill>
        <p:spPr>
          <a:xfrm>
            <a:off x="4812158" y="3860903"/>
            <a:ext cx="101158" cy="101158"/>
          </a:xfrm>
          <a:prstGeom prst="rect">
            <a:avLst/>
          </a:prstGeom>
        </p:spPr>
      </p:pic>
      <p:sp>
        <p:nvSpPr>
          <p:cNvPr id="424" name="T"/>
          <p:cNvSpPr txBox="1"/>
          <p:nvPr/>
        </p:nvSpPr>
        <p:spPr>
          <a:xfrm>
            <a:off x="4995894" y="3829903"/>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14</a:t>
            </a:r>
            <a:endParaRPr lang="id-ID" sz="625"/>
          </a:p>
        </p:txBody>
      </p:sp>
      <p:sp>
        <p:nvSpPr>
          <p:cNvPr id="425" name="T"/>
          <p:cNvSpPr txBox="1"/>
          <p:nvPr/>
        </p:nvSpPr>
        <p:spPr>
          <a:xfrm>
            <a:off x="5374644" y="3829903"/>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26" name="K"/>
          <p:cNvSpPr/>
          <p:nvPr/>
        </p:nvSpPr>
        <p:spPr>
          <a:xfrm>
            <a:off x="5964742" y="3829903"/>
            <a:ext cx="1155436" cy="163159"/>
          </a:xfrm>
          <a:prstGeom prst="roundRect">
            <a:avLst>
              <a:gd name="adj" fmla="val 50000"/>
            </a:avLst>
          </a:prstGeom>
          <a:solidFill>
            <a:srgbClr val="FBE7D6"/>
          </a:solidFill>
          <a:ln>
            <a:noFill/>
          </a:ln>
        </p:spPr>
      </p:sp>
      <p:pic>
        <p:nvPicPr>
          <p:cNvPr id="427" name="G"/>
          <p:cNvPicPr>
            <a:picLocks noChangeAspect="1"/>
          </p:cNvPicPr>
          <p:nvPr/>
        </p:nvPicPr>
        <p:blipFill>
          <a:blip r:embed="rIdM4"/>
          <a:stretch>
            <a:fillRect/>
          </a:stretch>
        </p:blipFill>
        <p:spPr>
          <a:xfrm>
            <a:off x="6037894" y="3860903"/>
            <a:ext cx="101158" cy="101158"/>
          </a:xfrm>
          <a:prstGeom prst="rect">
            <a:avLst/>
          </a:prstGeom>
        </p:spPr>
      </p:pic>
      <p:sp>
        <p:nvSpPr>
          <p:cNvPr id="428" name="T"/>
          <p:cNvSpPr txBox="1"/>
          <p:nvPr/>
        </p:nvSpPr>
        <p:spPr>
          <a:xfrm>
            <a:off x="6211630" y="3829903"/>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29" name="T"/>
          <p:cNvSpPr txBox="1"/>
          <p:nvPr/>
        </p:nvSpPr>
        <p:spPr>
          <a:xfrm>
            <a:off x="6481630" y="3829903"/>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87</a:t>
            </a:r>
            <a:endParaRPr lang="id-ID" sz="625"/>
          </a:p>
        </p:txBody>
      </p:sp>
      <p:sp>
        <p:nvSpPr>
          <p:cNvPr id="430" name="T"/>
          <p:cNvSpPr txBox="1"/>
          <p:nvPr/>
        </p:nvSpPr>
        <p:spPr>
          <a:xfrm>
            <a:off x="6920380" y="3829903"/>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31" name="L"/>
          <p:cNvCxnSpPr/>
          <p:nvPr/>
        </p:nvCxnSpPr>
        <p:spPr>
          <a:xfrm>
            <a:off x="676656" y="4035088"/>
            <a:ext cx="6464808" cy="0"/>
          </a:xfrm>
          <a:prstGeom prst="line">
            <a:avLst/>
          </a:prstGeom>
          <a:ln w="9525">
            <a:solidFill>
              <a:srgbClr val="EEF0F3"/>
            </a:solidFill>
          </a:ln>
        </p:spPr>
      </p:cxnSp>
      <p:sp>
        <p:nvSpPr>
          <p:cNvPr id="432" name="K"/>
          <p:cNvSpPr/>
          <p:nvPr/>
        </p:nvSpPr>
        <p:spPr>
          <a:xfrm>
            <a:off x="676656" y="4084530"/>
            <a:ext cx="148326" cy="148326"/>
          </a:xfrm>
          <a:prstGeom prst="ellipse">
            <a:avLst/>
          </a:prstGeom>
          <a:solidFill>
            <a:srgbClr val="D9600B"/>
          </a:solidFill>
          <a:ln>
            <a:noFill/>
          </a:ln>
        </p:spPr>
      </p:sp>
      <p:pic>
        <p:nvPicPr>
          <p:cNvPr id="433" name="G"/>
          <p:cNvPicPr>
            <a:picLocks noChangeAspect="1"/>
          </p:cNvPicPr>
          <p:nvPr/>
        </p:nvPicPr>
        <p:blipFill>
          <a:blip r:embed="rIdM2"/>
          <a:stretch>
            <a:fillRect/>
          </a:stretch>
        </p:blipFill>
        <p:spPr>
          <a:xfrm>
            <a:off x="703354" y="4111229"/>
            <a:ext cx="94928" cy="94928"/>
          </a:xfrm>
          <a:prstGeom prst="rect">
            <a:avLst/>
          </a:prstGeom>
        </p:spPr>
      </p:pic>
      <p:sp>
        <p:nvSpPr>
          <p:cNvPr id="434" name="T"/>
          <p:cNvSpPr txBox="1"/>
          <p:nvPr/>
        </p:nvSpPr>
        <p:spPr>
          <a:xfrm>
            <a:off x="990000" y="4035088"/>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Gorontalo</a:t>
            </a:r>
            <a:endParaRPr lang="id-ID" sz="756"/>
          </a:p>
          <a:p>
            <a:pPr algn="l">
              <a:buNone/>
            </a:pPr>
            <a:r>
              <a:rPr lang="id-ID" sz="756" dirty="0">
                <a:solidFill>
                  <a:srgbClr val="6B7280"/>
                </a:solidFill>
                <a:latin typeface="Roboto"/>
                <a:ea typeface="Roboto"/>
                <a:cs typeface="Roboto"/>
              </a:rPr>
              <a:t>Dari data satelit</a:t>
            </a:r>
            <a:endParaRPr lang="id-ID" sz="756"/>
          </a:p>
        </p:txBody>
      </p:sp>
      <p:sp>
        <p:nvSpPr>
          <p:cNvPr id="435" name="T"/>
          <p:cNvSpPr txBox="1"/>
          <p:nvPr/>
        </p:nvSpPr>
        <p:spPr>
          <a:xfrm>
            <a:off x="3291840" y="4035088"/>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10.033</a:t>
            </a:r>
            <a:endParaRPr lang="id-ID" sz="740"/>
          </a:p>
        </p:txBody>
      </p:sp>
      <p:sp>
        <p:nvSpPr>
          <p:cNvPr id="436" name="T"/>
          <p:cNvSpPr txBox="1"/>
          <p:nvPr/>
        </p:nvSpPr>
        <p:spPr>
          <a:xfrm>
            <a:off x="4134040" y="4035088"/>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37" name="K"/>
          <p:cNvSpPr/>
          <p:nvPr/>
        </p:nvSpPr>
        <p:spPr>
          <a:xfrm>
            <a:off x="4739006" y="4077114"/>
            <a:ext cx="1152584" cy="163159"/>
          </a:xfrm>
          <a:prstGeom prst="roundRect">
            <a:avLst>
              <a:gd name="adj" fmla="val 50000"/>
            </a:avLst>
          </a:prstGeom>
          <a:solidFill>
            <a:srgbClr val="E6EAF0"/>
          </a:solidFill>
          <a:ln>
            <a:noFill/>
          </a:ln>
        </p:spPr>
      </p:sp>
      <p:pic>
        <p:nvPicPr>
          <p:cNvPr id="438" name="G"/>
          <p:cNvPicPr>
            <a:picLocks noChangeAspect="1"/>
          </p:cNvPicPr>
          <p:nvPr/>
        </p:nvPicPr>
        <p:blipFill>
          <a:blip r:embed="rIdM3"/>
          <a:stretch>
            <a:fillRect/>
          </a:stretch>
        </p:blipFill>
        <p:spPr>
          <a:xfrm>
            <a:off x="4812158" y="4108114"/>
            <a:ext cx="101158" cy="101158"/>
          </a:xfrm>
          <a:prstGeom prst="rect">
            <a:avLst/>
          </a:prstGeom>
        </p:spPr>
      </p:pic>
      <p:sp>
        <p:nvSpPr>
          <p:cNvPr id="439" name="T"/>
          <p:cNvSpPr txBox="1"/>
          <p:nvPr/>
        </p:nvSpPr>
        <p:spPr>
          <a:xfrm>
            <a:off x="4995894" y="4077114"/>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76</a:t>
            </a:r>
            <a:endParaRPr lang="id-ID" sz="625"/>
          </a:p>
        </p:txBody>
      </p:sp>
      <p:sp>
        <p:nvSpPr>
          <p:cNvPr id="440" name="T"/>
          <p:cNvSpPr txBox="1"/>
          <p:nvPr/>
        </p:nvSpPr>
        <p:spPr>
          <a:xfrm>
            <a:off x="5374644" y="4077114"/>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41" name="K"/>
          <p:cNvSpPr/>
          <p:nvPr/>
        </p:nvSpPr>
        <p:spPr>
          <a:xfrm>
            <a:off x="5964742" y="4077114"/>
            <a:ext cx="1155436" cy="163159"/>
          </a:xfrm>
          <a:prstGeom prst="roundRect">
            <a:avLst>
              <a:gd name="adj" fmla="val 50000"/>
            </a:avLst>
          </a:prstGeom>
          <a:solidFill>
            <a:srgbClr val="FBE7D6"/>
          </a:solidFill>
          <a:ln>
            <a:noFill/>
          </a:ln>
        </p:spPr>
      </p:sp>
      <p:pic>
        <p:nvPicPr>
          <p:cNvPr id="442" name="G"/>
          <p:cNvPicPr>
            <a:picLocks noChangeAspect="1"/>
          </p:cNvPicPr>
          <p:nvPr/>
        </p:nvPicPr>
        <p:blipFill>
          <a:blip r:embed="rIdM4"/>
          <a:stretch>
            <a:fillRect/>
          </a:stretch>
        </p:blipFill>
        <p:spPr>
          <a:xfrm>
            <a:off x="6037894" y="4108114"/>
            <a:ext cx="101158" cy="101158"/>
          </a:xfrm>
          <a:prstGeom prst="rect">
            <a:avLst/>
          </a:prstGeom>
        </p:spPr>
      </p:pic>
      <p:sp>
        <p:nvSpPr>
          <p:cNvPr id="443" name="T"/>
          <p:cNvSpPr txBox="1"/>
          <p:nvPr/>
        </p:nvSpPr>
        <p:spPr>
          <a:xfrm>
            <a:off x="6211630" y="4077114"/>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44" name="T"/>
          <p:cNvSpPr txBox="1"/>
          <p:nvPr/>
        </p:nvSpPr>
        <p:spPr>
          <a:xfrm>
            <a:off x="6481630" y="4077114"/>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68</a:t>
            </a:r>
            <a:endParaRPr lang="id-ID" sz="625"/>
          </a:p>
        </p:txBody>
      </p:sp>
      <p:sp>
        <p:nvSpPr>
          <p:cNvPr id="445" name="T"/>
          <p:cNvSpPr txBox="1"/>
          <p:nvPr/>
        </p:nvSpPr>
        <p:spPr>
          <a:xfrm>
            <a:off x="6920380" y="4077114"/>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46" name="L"/>
          <p:cNvCxnSpPr/>
          <p:nvPr/>
        </p:nvCxnSpPr>
        <p:spPr>
          <a:xfrm>
            <a:off x="676656" y="4282299"/>
            <a:ext cx="6464808" cy="0"/>
          </a:xfrm>
          <a:prstGeom prst="line">
            <a:avLst/>
          </a:prstGeom>
          <a:ln w="9525">
            <a:solidFill>
              <a:srgbClr val="EEF0F3"/>
            </a:solidFill>
          </a:ln>
        </p:spPr>
      </p:cxnSp>
      <p:sp>
        <p:nvSpPr>
          <p:cNvPr id="447" name="K"/>
          <p:cNvSpPr/>
          <p:nvPr/>
        </p:nvSpPr>
        <p:spPr>
          <a:xfrm>
            <a:off x="676656" y="4331741"/>
            <a:ext cx="148326" cy="148326"/>
          </a:xfrm>
          <a:prstGeom prst="ellipse">
            <a:avLst/>
          </a:prstGeom>
          <a:solidFill>
            <a:srgbClr val="D9600B"/>
          </a:solidFill>
          <a:ln>
            <a:noFill/>
          </a:ln>
        </p:spPr>
      </p:sp>
      <p:pic>
        <p:nvPicPr>
          <p:cNvPr id="448" name="G"/>
          <p:cNvPicPr>
            <a:picLocks noChangeAspect="1"/>
          </p:cNvPicPr>
          <p:nvPr/>
        </p:nvPicPr>
        <p:blipFill>
          <a:blip r:embed="rIdM2"/>
          <a:stretch>
            <a:fillRect/>
          </a:stretch>
        </p:blipFill>
        <p:spPr>
          <a:xfrm>
            <a:off x="703354" y="4358440"/>
            <a:ext cx="94928" cy="94928"/>
          </a:xfrm>
          <a:prstGeom prst="rect">
            <a:avLst/>
          </a:prstGeom>
        </p:spPr>
      </p:pic>
      <p:sp>
        <p:nvSpPr>
          <p:cNvPr id="449" name="T"/>
          <p:cNvSpPr txBox="1"/>
          <p:nvPr/>
        </p:nvSpPr>
        <p:spPr>
          <a:xfrm>
            <a:off x="990000" y="4282299"/>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Nusa Tenggara Timur</a:t>
            </a:r>
            <a:endParaRPr lang="id-ID" sz="756"/>
          </a:p>
          <a:p>
            <a:pPr algn="l">
              <a:buNone/>
            </a:pPr>
            <a:r>
              <a:rPr lang="id-ID" sz="756" dirty="0">
                <a:solidFill>
                  <a:srgbClr val="6B7280"/>
                </a:solidFill>
                <a:latin typeface="Roboto"/>
                <a:ea typeface="Roboto"/>
                <a:cs typeface="Roboto"/>
              </a:rPr>
              <a:t>Dari data satelit</a:t>
            </a:r>
            <a:endParaRPr lang="id-ID" sz="756"/>
          </a:p>
        </p:txBody>
      </p:sp>
      <p:sp>
        <p:nvSpPr>
          <p:cNvPr id="450" name="T"/>
          <p:cNvSpPr txBox="1"/>
          <p:nvPr/>
        </p:nvSpPr>
        <p:spPr>
          <a:xfrm>
            <a:off x="3291840" y="4282299"/>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57.367</a:t>
            </a:r>
            <a:endParaRPr lang="id-ID" sz="740"/>
          </a:p>
        </p:txBody>
      </p:sp>
      <p:sp>
        <p:nvSpPr>
          <p:cNvPr id="451" name="T"/>
          <p:cNvSpPr txBox="1"/>
          <p:nvPr/>
        </p:nvSpPr>
        <p:spPr>
          <a:xfrm>
            <a:off x="4134040" y="4282299"/>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52" name="K"/>
          <p:cNvSpPr/>
          <p:nvPr/>
        </p:nvSpPr>
        <p:spPr>
          <a:xfrm>
            <a:off x="4739006" y="4324325"/>
            <a:ext cx="1152584" cy="163159"/>
          </a:xfrm>
          <a:prstGeom prst="roundRect">
            <a:avLst>
              <a:gd name="adj" fmla="val 50000"/>
            </a:avLst>
          </a:prstGeom>
          <a:solidFill>
            <a:srgbClr val="E6EAF0"/>
          </a:solidFill>
          <a:ln>
            <a:noFill/>
          </a:ln>
        </p:spPr>
      </p:sp>
      <p:pic>
        <p:nvPicPr>
          <p:cNvPr id="453" name="G"/>
          <p:cNvPicPr>
            <a:picLocks noChangeAspect="1"/>
          </p:cNvPicPr>
          <p:nvPr/>
        </p:nvPicPr>
        <p:blipFill>
          <a:blip r:embed="rIdM3"/>
          <a:stretch>
            <a:fillRect/>
          </a:stretch>
        </p:blipFill>
        <p:spPr>
          <a:xfrm>
            <a:off x="4812158" y="4355325"/>
            <a:ext cx="101158" cy="101158"/>
          </a:xfrm>
          <a:prstGeom prst="rect">
            <a:avLst/>
          </a:prstGeom>
        </p:spPr>
      </p:pic>
      <p:sp>
        <p:nvSpPr>
          <p:cNvPr id="454" name="T"/>
          <p:cNvSpPr txBox="1"/>
          <p:nvPr/>
        </p:nvSpPr>
        <p:spPr>
          <a:xfrm>
            <a:off x="4995894" y="4324325"/>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53</a:t>
            </a:r>
            <a:endParaRPr lang="id-ID" sz="625"/>
          </a:p>
        </p:txBody>
      </p:sp>
      <p:sp>
        <p:nvSpPr>
          <p:cNvPr id="455" name="T"/>
          <p:cNvSpPr txBox="1"/>
          <p:nvPr/>
        </p:nvSpPr>
        <p:spPr>
          <a:xfrm>
            <a:off x="5374644" y="4324325"/>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56" name="K"/>
          <p:cNvSpPr/>
          <p:nvPr/>
        </p:nvSpPr>
        <p:spPr>
          <a:xfrm>
            <a:off x="5964742" y="4324325"/>
            <a:ext cx="1155436" cy="163159"/>
          </a:xfrm>
          <a:prstGeom prst="roundRect">
            <a:avLst>
              <a:gd name="adj" fmla="val 50000"/>
            </a:avLst>
          </a:prstGeom>
          <a:solidFill>
            <a:srgbClr val="FBE7D6"/>
          </a:solidFill>
          <a:ln>
            <a:noFill/>
          </a:ln>
        </p:spPr>
      </p:sp>
      <p:pic>
        <p:nvPicPr>
          <p:cNvPr id="457" name="G"/>
          <p:cNvPicPr>
            <a:picLocks noChangeAspect="1"/>
          </p:cNvPicPr>
          <p:nvPr/>
        </p:nvPicPr>
        <p:blipFill>
          <a:blip r:embed="rIdM4"/>
          <a:stretch>
            <a:fillRect/>
          </a:stretch>
        </p:blipFill>
        <p:spPr>
          <a:xfrm>
            <a:off x="6037894" y="4355325"/>
            <a:ext cx="101158" cy="101158"/>
          </a:xfrm>
          <a:prstGeom prst="rect">
            <a:avLst/>
          </a:prstGeom>
        </p:spPr>
      </p:pic>
      <p:sp>
        <p:nvSpPr>
          <p:cNvPr id="458" name="T"/>
          <p:cNvSpPr txBox="1"/>
          <p:nvPr/>
        </p:nvSpPr>
        <p:spPr>
          <a:xfrm>
            <a:off x="6211630" y="4324325"/>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59" name="T"/>
          <p:cNvSpPr txBox="1"/>
          <p:nvPr/>
        </p:nvSpPr>
        <p:spPr>
          <a:xfrm>
            <a:off x="6481630" y="4324325"/>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52</a:t>
            </a:r>
            <a:endParaRPr lang="id-ID" sz="625"/>
          </a:p>
        </p:txBody>
      </p:sp>
      <p:sp>
        <p:nvSpPr>
          <p:cNvPr id="460" name="T"/>
          <p:cNvSpPr txBox="1"/>
          <p:nvPr/>
        </p:nvSpPr>
        <p:spPr>
          <a:xfrm>
            <a:off x="6920380" y="4324325"/>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61" name="L"/>
          <p:cNvCxnSpPr/>
          <p:nvPr/>
        </p:nvCxnSpPr>
        <p:spPr>
          <a:xfrm>
            <a:off x="676656" y="4529510"/>
            <a:ext cx="6464808" cy="0"/>
          </a:xfrm>
          <a:prstGeom prst="line">
            <a:avLst/>
          </a:prstGeom>
          <a:ln w="9525">
            <a:solidFill>
              <a:srgbClr val="EEF0F3"/>
            </a:solidFill>
          </a:ln>
        </p:spPr>
      </p:cxnSp>
      <p:sp>
        <p:nvSpPr>
          <p:cNvPr id="462" name="K"/>
          <p:cNvSpPr/>
          <p:nvPr/>
        </p:nvSpPr>
        <p:spPr>
          <a:xfrm>
            <a:off x="676656" y="4578952"/>
            <a:ext cx="148326" cy="148326"/>
          </a:xfrm>
          <a:prstGeom prst="ellipse">
            <a:avLst/>
          </a:prstGeom>
          <a:solidFill>
            <a:srgbClr val="D9600B"/>
          </a:solidFill>
          <a:ln>
            <a:noFill/>
          </a:ln>
        </p:spPr>
      </p:sp>
      <p:pic>
        <p:nvPicPr>
          <p:cNvPr id="463" name="G"/>
          <p:cNvPicPr>
            <a:picLocks noChangeAspect="1"/>
          </p:cNvPicPr>
          <p:nvPr/>
        </p:nvPicPr>
        <p:blipFill>
          <a:blip r:embed="rIdM2"/>
          <a:stretch>
            <a:fillRect/>
          </a:stretch>
        </p:blipFill>
        <p:spPr>
          <a:xfrm>
            <a:off x="703354" y="4605651"/>
            <a:ext cx="94928" cy="94928"/>
          </a:xfrm>
          <a:prstGeom prst="rect">
            <a:avLst/>
          </a:prstGeom>
        </p:spPr>
      </p:pic>
      <p:sp>
        <p:nvSpPr>
          <p:cNvPr id="464" name="T"/>
          <p:cNvSpPr txBox="1"/>
          <p:nvPr/>
        </p:nvSpPr>
        <p:spPr>
          <a:xfrm>
            <a:off x="990000" y="4529510"/>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Kalimantan Selatan</a:t>
            </a:r>
            <a:endParaRPr lang="id-ID" sz="756"/>
          </a:p>
          <a:p>
            <a:pPr algn="l">
              <a:buNone/>
            </a:pPr>
            <a:r>
              <a:rPr lang="id-ID" sz="756" dirty="0">
                <a:solidFill>
                  <a:srgbClr val="6B7280"/>
                </a:solidFill>
                <a:latin typeface="Roboto"/>
                <a:ea typeface="Roboto"/>
                <a:cs typeface="Roboto"/>
              </a:rPr>
              <a:t>Laporan pertama 15 Sep</a:t>
            </a:r>
            <a:endParaRPr lang="id-ID" sz="756"/>
          </a:p>
        </p:txBody>
      </p:sp>
      <p:sp>
        <p:nvSpPr>
          <p:cNvPr id="465" name="T"/>
          <p:cNvSpPr txBox="1"/>
          <p:nvPr/>
        </p:nvSpPr>
        <p:spPr>
          <a:xfrm>
            <a:off x="3291840" y="4529510"/>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105.616</a:t>
            </a:r>
            <a:endParaRPr lang="id-ID" sz="740"/>
          </a:p>
        </p:txBody>
      </p:sp>
      <p:sp>
        <p:nvSpPr>
          <p:cNvPr id="466" name="T"/>
          <p:cNvSpPr txBox="1"/>
          <p:nvPr/>
        </p:nvSpPr>
        <p:spPr>
          <a:xfrm>
            <a:off x="4134040" y="4529510"/>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67" name="K"/>
          <p:cNvSpPr/>
          <p:nvPr/>
        </p:nvSpPr>
        <p:spPr>
          <a:xfrm>
            <a:off x="4739006" y="4571536"/>
            <a:ext cx="1152584" cy="163159"/>
          </a:xfrm>
          <a:prstGeom prst="roundRect">
            <a:avLst>
              <a:gd name="adj" fmla="val 50000"/>
            </a:avLst>
          </a:prstGeom>
          <a:solidFill>
            <a:srgbClr val="E6EAF0"/>
          </a:solidFill>
          <a:ln>
            <a:noFill/>
          </a:ln>
        </p:spPr>
      </p:sp>
      <p:pic>
        <p:nvPicPr>
          <p:cNvPr id="468" name="G"/>
          <p:cNvPicPr>
            <a:picLocks noChangeAspect="1"/>
          </p:cNvPicPr>
          <p:nvPr/>
        </p:nvPicPr>
        <p:blipFill>
          <a:blip r:embed="rIdM3"/>
          <a:stretch>
            <a:fillRect/>
          </a:stretch>
        </p:blipFill>
        <p:spPr>
          <a:xfrm>
            <a:off x="4812158" y="4602536"/>
            <a:ext cx="101158" cy="101158"/>
          </a:xfrm>
          <a:prstGeom prst="rect">
            <a:avLst/>
          </a:prstGeom>
        </p:spPr>
      </p:pic>
      <p:sp>
        <p:nvSpPr>
          <p:cNvPr id="469" name="T"/>
          <p:cNvSpPr txBox="1"/>
          <p:nvPr/>
        </p:nvSpPr>
        <p:spPr>
          <a:xfrm>
            <a:off x="4995894" y="4571536"/>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121</a:t>
            </a:r>
            <a:endParaRPr lang="id-ID" sz="625"/>
          </a:p>
        </p:txBody>
      </p:sp>
      <p:sp>
        <p:nvSpPr>
          <p:cNvPr id="470" name="T"/>
          <p:cNvSpPr txBox="1"/>
          <p:nvPr/>
        </p:nvSpPr>
        <p:spPr>
          <a:xfrm>
            <a:off x="5374644" y="4571536"/>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71" name="K"/>
          <p:cNvSpPr/>
          <p:nvPr/>
        </p:nvSpPr>
        <p:spPr>
          <a:xfrm>
            <a:off x="5964742" y="4571536"/>
            <a:ext cx="1155436" cy="163159"/>
          </a:xfrm>
          <a:prstGeom prst="roundRect">
            <a:avLst>
              <a:gd name="adj" fmla="val 50000"/>
            </a:avLst>
          </a:prstGeom>
          <a:solidFill>
            <a:srgbClr val="FBE7D6"/>
          </a:solidFill>
          <a:ln>
            <a:noFill/>
          </a:ln>
        </p:spPr>
      </p:sp>
      <p:pic>
        <p:nvPicPr>
          <p:cNvPr id="472" name="G"/>
          <p:cNvPicPr>
            <a:picLocks noChangeAspect="1"/>
          </p:cNvPicPr>
          <p:nvPr/>
        </p:nvPicPr>
        <p:blipFill>
          <a:blip r:embed="rIdM4"/>
          <a:stretch>
            <a:fillRect/>
          </a:stretch>
        </p:blipFill>
        <p:spPr>
          <a:xfrm>
            <a:off x="6037894" y="4602536"/>
            <a:ext cx="101158" cy="101158"/>
          </a:xfrm>
          <a:prstGeom prst="rect">
            <a:avLst/>
          </a:prstGeom>
        </p:spPr>
      </p:pic>
      <p:sp>
        <p:nvSpPr>
          <p:cNvPr id="473" name="T"/>
          <p:cNvSpPr txBox="1"/>
          <p:nvPr/>
        </p:nvSpPr>
        <p:spPr>
          <a:xfrm>
            <a:off x="6211630" y="4571536"/>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74" name="T"/>
          <p:cNvSpPr txBox="1"/>
          <p:nvPr/>
        </p:nvSpPr>
        <p:spPr>
          <a:xfrm>
            <a:off x="6481630" y="4571536"/>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33</a:t>
            </a:r>
            <a:endParaRPr lang="id-ID" sz="625"/>
          </a:p>
        </p:txBody>
      </p:sp>
      <p:sp>
        <p:nvSpPr>
          <p:cNvPr id="475" name="T"/>
          <p:cNvSpPr txBox="1"/>
          <p:nvPr/>
        </p:nvSpPr>
        <p:spPr>
          <a:xfrm>
            <a:off x="6920380" y="4571536"/>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76" name="L"/>
          <p:cNvCxnSpPr/>
          <p:nvPr/>
        </p:nvCxnSpPr>
        <p:spPr>
          <a:xfrm>
            <a:off x="676656" y="4776721"/>
            <a:ext cx="6464808" cy="0"/>
          </a:xfrm>
          <a:prstGeom prst="line">
            <a:avLst/>
          </a:prstGeom>
          <a:ln w="9525">
            <a:solidFill>
              <a:srgbClr val="EEF0F3"/>
            </a:solidFill>
          </a:ln>
        </p:spPr>
      </p:cxnSp>
      <p:sp>
        <p:nvSpPr>
          <p:cNvPr id="477" name="K"/>
          <p:cNvSpPr/>
          <p:nvPr/>
        </p:nvSpPr>
        <p:spPr>
          <a:xfrm>
            <a:off x="676656" y="4826163"/>
            <a:ext cx="148326" cy="148326"/>
          </a:xfrm>
          <a:prstGeom prst="ellipse">
            <a:avLst/>
          </a:prstGeom>
          <a:solidFill>
            <a:srgbClr val="D9600B"/>
          </a:solidFill>
          <a:ln>
            <a:noFill/>
          </a:ln>
        </p:spPr>
      </p:sp>
      <p:pic>
        <p:nvPicPr>
          <p:cNvPr id="478" name="G"/>
          <p:cNvPicPr>
            <a:picLocks noChangeAspect="1"/>
          </p:cNvPicPr>
          <p:nvPr/>
        </p:nvPicPr>
        <p:blipFill>
          <a:blip r:embed="rIdM2"/>
          <a:stretch>
            <a:fillRect/>
          </a:stretch>
        </p:blipFill>
        <p:spPr>
          <a:xfrm>
            <a:off x="703354" y="4852862"/>
            <a:ext cx="94928" cy="94928"/>
          </a:xfrm>
          <a:prstGeom prst="rect">
            <a:avLst/>
          </a:prstGeom>
        </p:spPr>
      </p:pic>
      <p:sp>
        <p:nvSpPr>
          <p:cNvPr id="479" name="T"/>
          <p:cNvSpPr txBox="1"/>
          <p:nvPr/>
        </p:nvSpPr>
        <p:spPr>
          <a:xfrm>
            <a:off x="990000" y="4776721"/>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Nusa Tenggara Barat</a:t>
            </a:r>
            <a:endParaRPr lang="id-ID" sz="756"/>
          </a:p>
          <a:p>
            <a:pPr algn="l">
              <a:buNone/>
            </a:pPr>
            <a:r>
              <a:rPr lang="id-ID" sz="756" dirty="0">
                <a:solidFill>
                  <a:srgbClr val="6B7280"/>
                </a:solidFill>
                <a:latin typeface="Roboto"/>
                <a:ea typeface="Roboto"/>
                <a:cs typeface="Roboto"/>
              </a:rPr>
              <a:t>Dari data satelit</a:t>
            </a:r>
            <a:endParaRPr lang="id-ID" sz="756"/>
          </a:p>
        </p:txBody>
      </p:sp>
      <p:sp>
        <p:nvSpPr>
          <p:cNvPr id="480" name="T"/>
          <p:cNvSpPr txBox="1"/>
          <p:nvPr/>
        </p:nvSpPr>
        <p:spPr>
          <a:xfrm>
            <a:off x="3291840" y="4776721"/>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27.357</a:t>
            </a:r>
            <a:endParaRPr lang="id-ID" sz="740"/>
          </a:p>
        </p:txBody>
      </p:sp>
      <p:sp>
        <p:nvSpPr>
          <p:cNvPr id="481" name="T"/>
          <p:cNvSpPr txBox="1"/>
          <p:nvPr/>
        </p:nvSpPr>
        <p:spPr>
          <a:xfrm>
            <a:off x="4134040" y="4776721"/>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82" name="K"/>
          <p:cNvSpPr/>
          <p:nvPr/>
        </p:nvSpPr>
        <p:spPr>
          <a:xfrm>
            <a:off x="4739006" y="4818747"/>
            <a:ext cx="1152584" cy="163159"/>
          </a:xfrm>
          <a:prstGeom prst="roundRect">
            <a:avLst>
              <a:gd name="adj" fmla="val 50000"/>
            </a:avLst>
          </a:prstGeom>
          <a:solidFill>
            <a:srgbClr val="E6EAF0"/>
          </a:solidFill>
          <a:ln>
            <a:noFill/>
          </a:ln>
        </p:spPr>
      </p:sp>
      <p:pic>
        <p:nvPicPr>
          <p:cNvPr id="483" name="G"/>
          <p:cNvPicPr>
            <a:picLocks noChangeAspect="1"/>
          </p:cNvPicPr>
          <p:nvPr/>
        </p:nvPicPr>
        <p:blipFill>
          <a:blip r:embed="rIdM3"/>
          <a:stretch>
            <a:fillRect/>
          </a:stretch>
        </p:blipFill>
        <p:spPr>
          <a:xfrm>
            <a:off x="4812158" y="4849747"/>
            <a:ext cx="101158" cy="101158"/>
          </a:xfrm>
          <a:prstGeom prst="rect">
            <a:avLst/>
          </a:prstGeom>
        </p:spPr>
      </p:pic>
      <p:sp>
        <p:nvSpPr>
          <p:cNvPr id="484" name="T"/>
          <p:cNvSpPr txBox="1"/>
          <p:nvPr/>
        </p:nvSpPr>
        <p:spPr>
          <a:xfrm>
            <a:off x="4995894" y="4818747"/>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46</a:t>
            </a:r>
            <a:endParaRPr lang="id-ID" sz="625"/>
          </a:p>
        </p:txBody>
      </p:sp>
      <p:sp>
        <p:nvSpPr>
          <p:cNvPr id="485" name="T"/>
          <p:cNvSpPr txBox="1"/>
          <p:nvPr/>
        </p:nvSpPr>
        <p:spPr>
          <a:xfrm>
            <a:off x="5374644" y="4818747"/>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486" name="K"/>
          <p:cNvSpPr/>
          <p:nvPr/>
        </p:nvSpPr>
        <p:spPr>
          <a:xfrm>
            <a:off x="5964742" y="4818747"/>
            <a:ext cx="1155436" cy="163159"/>
          </a:xfrm>
          <a:prstGeom prst="roundRect">
            <a:avLst>
              <a:gd name="adj" fmla="val 50000"/>
            </a:avLst>
          </a:prstGeom>
          <a:solidFill>
            <a:srgbClr val="FBE7D6"/>
          </a:solidFill>
          <a:ln>
            <a:noFill/>
          </a:ln>
        </p:spPr>
      </p:sp>
      <p:pic>
        <p:nvPicPr>
          <p:cNvPr id="487" name="G"/>
          <p:cNvPicPr>
            <a:picLocks noChangeAspect="1"/>
          </p:cNvPicPr>
          <p:nvPr/>
        </p:nvPicPr>
        <p:blipFill>
          <a:blip r:embed="rIdM4"/>
          <a:stretch>
            <a:fillRect/>
          </a:stretch>
        </p:blipFill>
        <p:spPr>
          <a:xfrm>
            <a:off x="6037894" y="4849747"/>
            <a:ext cx="101158" cy="101158"/>
          </a:xfrm>
          <a:prstGeom prst="rect">
            <a:avLst/>
          </a:prstGeom>
        </p:spPr>
      </p:pic>
      <p:sp>
        <p:nvSpPr>
          <p:cNvPr id="488" name="T"/>
          <p:cNvSpPr txBox="1"/>
          <p:nvPr/>
        </p:nvSpPr>
        <p:spPr>
          <a:xfrm>
            <a:off x="6211630" y="4818747"/>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489" name="T"/>
          <p:cNvSpPr txBox="1"/>
          <p:nvPr/>
        </p:nvSpPr>
        <p:spPr>
          <a:xfrm>
            <a:off x="6481630" y="4818747"/>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25</a:t>
            </a:r>
            <a:endParaRPr lang="id-ID" sz="625"/>
          </a:p>
        </p:txBody>
      </p:sp>
      <p:sp>
        <p:nvSpPr>
          <p:cNvPr id="490" name="T"/>
          <p:cNvSpPr txBox="1"/>
          <p:nvPr/>
        </p:nvSpPr>
        <p:spPr>
          <a:xfrm>
            <a:off x="6920380" y="4818747"/>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491" name="L"/>
          <p:cNvCxnSpPr/>
          <p:nvPr/>
        </p:nvCxnSpPr>
        <p:spPr>
          <a:xfrm>
            <a:off x="676656" y="5023932"/>
            <a:ext cx="6464808" cy="0"/>
          </a:xfrm>
          <a:prstGeom prst="line">
            <a:avLst/>
          </a:prstGeom>
          <a:ln w="9525">
            <a:solidFill>
              <a:srgbClr val="EEF0F3"/>
            </a:solidFill>
          </a:ln>
        </p:spPr>
      </p:cxnSp>
      <p:sp>
        <p:nvSpPr>
          <p:cNvPr id="492" name="K"/>
          <p:cNvSpPr/>
          <p:nvPr/>
        </p:nvSpPr>
        <p:spPr>
          <a:xfrm>
            <a:off x="676656" y="5073374"/>
            <a:ext cx="148326" cy="148326"/>
          </a:xfrm>
          <a:prstGeom prst="ellipse">
            <a:avLst/>
          </a:prstGeom>
          <a:solidFill>
            <a:srgbClr val="D9600B"/>
          </a:solidFill>
          <a:ln>
            <a:noFill/>
          </a:ln>
        </p:spPr>
      </p:sp>
      <p:pic>
        <p:nvPicPr>
          <p:cNvPr id="493" name="G"/>
          <p:cNvPicPr>
            <a:picLocks noChangeAspect="1"/>
          </p:cNvPicPr>
          <p:nvPr/>
        </p:nvPicPr>
        <p:blipFill>
          <a:blip r:embed="rIdM2"/>
          <a:stretch>
            <a:fillRect/>
          </a:stretch>
        </p:blipFill>
        <p:spPr>
          <a:xfrm>
            <a:off x="703354" y="5100073"/>
            <a:ext cx="94928" cy="94928"/>
          </a:xfrm>
          <a:prstGeom prst="rect">
            <a:avLst/>
          </a:prstGeom>
        </p:spPr>
      </p:pic>
      <p:sp>
        <p:nvSpPr>
          <p:cNvPr id="494" name="T"/>
          <p:cNvSpPr txBox="1"/>
          <p:nvPr/>
        </p:nvSpPr>
        <p:spPr>
          <a:xfrm>
            <a:off x="990000" y="5023932"/>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Kalimantan Barat</a:t>
            </a:r>
            <a:endParaRPr lang="id-ID" sz="756"/>
          </a:p>
          <a:p>
            <a:pPr algn="l">
              <a:buNone/>
            </a:pPr>
            <a:r>
              <a:rPr lang="id-ID" sz="756" dirty="0">
                <a:solidFill>
                  <a:srgbClr val="6B7280"/>
                </a:solidFill>
                <a:latin typeface="Roboto"/>
                <a:ea typeface="Roboto"/>
                <a:cs typeface="Roboto"/>
              </a:rPr>
              <a:t>Laporan pertama 26 Jun</a:t>
            </a:r>
            <a:endParaRPr lang="id-ID" sz="756"/>
          </a:p>
        </p:txBody>
      </p:sp>
      <p:sp>
        <p:nvSpPr>
          <p:cNvPr id="495" name="T"/>
          <p:cNvSpPr txBox="1"/>
          <p:nvPr/>
        </p:nvSpPr>
        <p:spPr>
          <a:xfrm>
            <a:off x="3291840" y="5023932"/>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326.419</a:t>
            </a:r>
            <a:endParaRPr lang="id-ID" sz="740"/>
          </a:p>
        </p:txBody>
      </p:sp>
      <p:sp>
        <p:nvSpPr>
          <p:cNvPr id="496" name="T"/>
          <p:cNvSpPr txBox="1"/>
          <p:nvPr/>
        </p:nvSpPr>
        <p:spPr>
          <a:xfrm>
            <a:off x="4134040" y="5023932"/>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497" name="K"/>
          <p:cNvSpPr/>
          <p:nvPr/>
        </p:nvSpPr>
        <p:spPr>
          <a:xfrm>
            <a:off x="4739006" y="5065958"/>
            <a:ext cx="1152584" cy="163159"/>
          </a:xfrm>
          <a:prstGeom prst="roundRect">
            <a:avLst>
              <a:gd name="adj" fmla="val 50000"/>
            </a:avLst>
          </a:prstGeom>
          <a:solidFill>
            <a:srgbClr val="E6EAF0"/>
          </a:solidFill>
          <a:ln>
            <a:noFill/>
          </a:ln>
        </p:spPr>
      </p:sp>
      <p:pic>
        <p:nvPicPr>
          <p:cNvPr id="498" name="G"/>
          <p:cNvPicPr>
            <a:picLocks noChangeAspect="1"/>
          </p:cNvPicPr>
          <p:nvPr/>
        </p:nvPicPr>
        <p:blipFill>
          <a:blip r:embed="rIdM3"/>
          <a:stretch>
            <a:fillRect/>
          </a:stretch>
        </p:blipFill>
        <p:spPr>
          <a:xfrm>
            <a:off x="4812158" y="5096958"/>
            <a:ext cx="101158" cy="101158"/>
          </a:xfrm>
          <a:prstGeom prst="rect">
            <a:avLst/>
          </a:prstGeom>
        </p:spPr>
      </p:pic>
      <p:sp>
        <p:nvSpPr>
          <p:cNvPr id="499" name="T"/>
          <p:cNvSpPr txBox="1"/>
          <p:nvPr/>
        </p:nvSpPr>
        <p:spPr>
          <a:xfrm>
            <a:off x="4995894" y="5065958"/>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14</a:t>
            </a:r>
            <a:endParaRPr lang="id-ID" sz="625"/>
          </a:p>
        </p:txBody>
      </p:sp>
      <p:sp>
        <p:nvSpPr>
          <p:cNvPr id="500" name="T"/>
          <p:cNvSpPr txBox="1"/>
          <p:nvPr/>
        </p:nvSpPr>
        <p:spPr>
          <a:xfrm>
            <a:off x="5374644" y="5065958"/>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501" name="K"/>
          <p:cNvSpPr/>
          <p:nvPr/>
        </p:nvSpPr>
        <p:spPr>
          <a:xfrm>
            <a:off x="5964742" y="5065958"/>
            <a:ext cx="1155436" cy="163159"/>
          </a:xfrm>
          <a:prstGeom prst="roundRect">
            <a:avLst>
              <a:gd name="adj" fmla="val 50000"/>
            </a:avLst>
          </a:prstGeom>
          <a:solidFill>
            <a:srgbClr val="FBE7D6"/>
          </a:solidFill>
          <a:ln>
            <a:noFill/>
          </a:ln>
        </p:spPr>
      </p:sp>
      <p:pic>
        <p:nvPicPr>
          <p:cNvPr id="502" name="G"/>
          <p:cNvPicPr>
            <a:picLocks noChangeAspect="1"/>
          </p:cNvPicPr>
          <p:nvPr/>
        </p:nvPicPr>
        <p:blipFill>
          <a:blip r:embed="rIdM4"/>
          <a:stretch>
            <a:fillRect/>
          </a:stretch>
        </p:blipFill>
        <p:spPr>
          <a:xfrm>
            <a:off x="6037894" y="5096958"/>
            <a:ext cx="101158" cy="101158"/>
          </a:xfrm>
          <a:prstGeom prst="rect">
            <a:avLst/>
          </a:prstGeom>
        </p:spPr>
      </p:pic>
      <p:sp>
        <p:nvSpPr>
          <p:cNvPr id="503" name="T"/>
          <p:cNvSpPr txBox="1"/>
          <p:nvPr/>
        </p:nvSpPr>
        <p:spPr>
          <a:xfrm>
            <a:off x="6211630" y="5065958"/>
            <a:ext cx="26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sisa</a:t>
            </a:r>
            <a:endParaRPr lang="id-ID" sz="625"/>
          </a:p>
        </p:txBody>
      </p:sp>
      <p:sp>
        <p:nvSpPr>
          <p:cNvPr id="504" name="T"/>
          <p:cNvSpPr txBox="1"/>
          <p:nvPr/>
        </p:nvSpPr>
        <p:spPr>
          <a:xfrm>
            <a:off x="6481630" y="5065958"/>
            <a:ext cx="420000" cy="163159"/>
          </a:xfrm>
          <a:prstGeom prst="rect">
            <a:avLst/>
          </a:prstGeom>
          <a:noFill/>
        </p:spPr>
        <p:txBody>
          <a:bodyPr wrap="none" lIns="0" tIns="0" rIns="0" bIns="0" anchor="ctr"/>
          <a:lstStyle/>
          <a:p>
            <a:pPr algn="r">
              <a:buNone/>
            </a:pPr>
            <a:r>
              <a:rPr lang="id-ID" sz="700" b="1" dirty="0">
                <a:solidFill>
                  <a:srgbClr val="D9600B"/>
                </a:solidFill>
                <a:latin typeface="Roboto"/>
                <a:ea typeface="Roboto"/>
                <a:cs typeface="Roboto"/>
              </a:rPr>
              <a:t>± 23</a:t>
            </a:r>
            <a:endParaRPr lang="id-ID" sz="625"/>
          </a:p>
        </p:txBody>
      </p:sp>
      <p:sp>
        <p:nvSpPr>
          <p:cNvPr id="505" name="T"/>
          <p:cNvSpPr txBox="1"/>
          <p:nvPr/>
        </p:nvSpPr>
        <p:spPr>
          <a:xfrm>
            <a:off x="6920380" y="5065958"/>
            <a:ext cx="180000"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ha</a:t>
            </a:r>
            <a:endParaRPr lang="id-ID" sz="625"/>
          </a:p>
        </p:txBody>
      </p:sp>
      <p:cxnSp>
        <p:nvCxnSpPr>
          <p:cNvPr id="506" name="L"/>
          <p:cNvCxnSpPr/>
          <p:nvPr/>
        </p:nvCxnSpPr>
        <p:spPr>
          <a:xfrm>
            <a:off x="676656" y="5271143"/>
            <a:ext cx="6464808" cy="0"/>
          </a:xfrm>
          <a:prstGeom prst="line">
            <a:avLst/>
          </a:prstGeom>
          <a:ln w="9525">
            <a:solidFill>
              <a:srgbClr val="EEF0F3"/>
            </a:solidFill>
          </a:ln>
        </p:spPr>
      </p:cxnSp>
      <p:sp>
        <p:nvSpPr>
          <p:cNvPr id="507" name="K"/>
          <p:cNvSpPr/>
          <p:nvPr/>
        </p:nvSpPr>
        <p:spPr>
          <a:xfrm>
            <a:off x="676656" y="5320585"/>
            <a:ext cx="148326" cy="148326"/>
          </a:xfrm>
          <a:prstGeom prst="ellipse">
            <a:avLst/>
          </a:prstGeom>
          <a:solidFill>
            <a:srgbClr val="D9600B"/>
          </a:solidFill>
          <a:ln>
            <a:noFill/>
          </a:ln>
        </p:spPr>
      </p:sp>
      <p:pic>
        <p:nvPicPr>
          <p:cNvPr id="508" name="G"/>
          <p:cNvPicPr>
            <a:picLocks noChangeAspect="1"/>
          </p:cNvPicPr>
          <p:nvPr/>
        </p:nvPicPr>
        <p:blipFill>
          <a:blip r:embed="rIdM2"/>
          <a:stretch>
            <a:fillRect/>
          </a:stretch>
        </p:blipFill>
        <p:spPr>
          <a:xfrm>
            <a:off x="703354" y="5347284"/>
            <a:ext cx="94928" cy="94928"/>
          </a:xfrm>
          <a:prstGeom prst="rect">
            <a:avLst/>
          </a:prstGeom>
        </p:spPr>
      </p:pic>
      <p:sp>
        <p:nvSpPr>
          <p:cNvPr id="509" name="T"/>
          <p:cNvSpPr txBox="1"/>
          <p:nvPr/>
        </p:nvSpPr>
        <p:spPr>
          <a:xfrm>
            <a:off x="990000" y="5271143"/>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Sumatera Selatan</a:t>
            </a:r>
            <a:endParaRPr lang="id-ID" sz="756"/>
          </a:p>
          <a:p>
            <a:pPr algn="l">
              <a:buNone/>
            </a:pPr>
            <a:r>
              <a:rPr lang="id-ID" sz="756" dirty="0">
                <a:solidFill>
                  <a:srgbClr val="6B7280"/>
                </a:solidFill>
                <a:latin typeface="Roboto"/>
                <a:ea typeface="Roboto"/>
                <a:cs typeface="Roboto"/>
              </a:rPr>
              <a:t>Laporan pertama 8 Mei</a:t>
            </a:r>
            <a:endParaRPr lang="id-ID" sz="756"/>
          </a:p>
        </p:txBody>
      </p:sp>
      <p:sp>
        <p:nvSpPr>
          <p:cNvPr id="510" name="T"/>
          <p:cNvSpPr txBox="1"/>
          <p:nvPr/>
        </p:nvSpPr>
        <p:spPr>
          <a:xfrm>
            <a:off x="3291840" y="5271143"/>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212.838</a:t>
            </a:r>
            <a:endParaRPr lang="id-ID" sz="740"/>
          </a:p>
        </p:txBody>
      </p:sp>
      <p:sp>
        <p:nvSpPr>
          <p:cNvPr id="511" name="T"/>
          <p:cNvSpPr txBox="1"/>
          <p:nvPr/>
        </p:nvSpPr>
        <p:spPr>
          <a:xfrm>
            <a:off x="4134040" y="5271143"/>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512" name="K"/>
          <p:cNvSpPr/>
          <p:nvPr/>
        </p:nvSpPr>
        <p:spPr>
          <a:xfrm>
            <a:off x="4739006" y="5313169"/>
            <a:ext cx="1152584" cy="163159"/>
          </a:xfrm>
          <a:prstGeom prst="roundRect">
            <a:avLst>
              <a:gd name="adj" fmla="val 50000"/>
            </a:avLst>
          </a:prstGeom>
          <a:solidFill>
            <a:srgbClr val="E6EAF0"/>
          </a:solidFill>
          <a:ln>
            <a:noFill/>
          </a:ln>
        </p:spPr>
      </p:sp>
      <p:pic>
        <p:nvPicPr>
          <p:cNvPr id="513" name="G"/>
          <p:cNvPicPr>
            <a:picLocks noChangeAspect="1"/>
          </p:cNvPicPr>
          <p:nvPr/>
        </p:nvPicPr>
        <p:blipFill>
          <a:blip r:embed="rIdM3"/>
          <a:stretch>
            <a:fillRect/>
          </a:stretch>
        </p:blipFill>
        <p:spPr>
          <a:xfrm>
            <a:off x="4812158" y="5344169"/>
            <a:ext cx="101158" cy="101158"/>
          </a:xfrm>
          <a:prstGeom prst="rect">
            <a:avLst/>
          </a:prstGeom>
        </p:spPr>
      </p:pic>
      <p:sp>
        <p:nvSpPr>
          <p:cNvPr id="514" name="T"/>
          <p:cNvSpPr txBox="1"/>
          <p:nvPr/>
        </p:nvSpPr>
        <p:spPr>
          <a:xfrm>
            <a:off x="4995894" y="5313169"/>
            <a:ext cx="360000" cy="163159"/>
          </a:xfrm>
          <a:prstGeom prst="rect">
            <a:avLst/>
          </a:prstGeom>
          <a:noFill/>
        </p:spPr>
        <p:txBody>
          <a:bodyPr wrap="none" lIns="0" tIns="0" rIns="0" bIns="0" anchor="ctr"/>
          <a:lstStyle/>
          <a:p>
            <a:pPr algn="r">
              <a:buNone/>
            </a:pPr>
            <a:r>
              <a:rPr lang="id-ID" sz="700" b="1" dirty="0">
                <a:solidFill>
                  <a:srgbClr val="051C2C"/>
                </a:solidFill>
                <a:latin typeface="Roboto"/>
                <a:ea typeface="Roboto"/>
                <a:cs typeface="Roboto"/>
              </a:rPr>
              <a:t>20</a:t>
            </a:r>
            <a:endParaRPr lang="id-ID" sz="625"/>
          </a:p>
        </p:txBody>
      </p:sp>
      <p:sp>
        <p:nvSpPr>
          <p:cNvPr id="515" name="T"/>
          <p:cNvSpPr txBox="1"/>
          <p:nvPr/>
        </p:nvSpPr>
        <p:spPr>
          <a:xfrm>
            <a:off x="5374644" y="5313169"/>
            <a:ext cx="480000" cy="163159"/>
          </a:xfrm>
          <a:prstGeom prst="rect">
            <a:avLst/>
          </a:prstGeom>
          <a:noFill/>
        </p:spPr>
        <p:txBody>
          <a:bodyPr wrap="none" lIns="0" tIns="0" rIns="0" bIns="0" anchor="ctr"/>
          <a:lstStyle/>
          <a:p>
            <a:pPr algn="l">
              <a:buNone/>
            </a:pPr>
            <a:r>
              <a:rPr lang="id-ID" sz="700" b="1" dirty="0">
                <a:solidFill>
                  <a:srgbClr val="051C2C"/>
                </a:solidFill>
                <a:latin typeface="Roboto"/>
                <a:ea typeface="Roboto"/>
                <a:cs typeface="Roboto"/>
              </a:rPr>
              <a:t>firespot</a:t>
            </a:r>
            <a:endParaRPr lang="id-ID" sz="625"/>
          </a:p>
        </p:txBody>
      </p:sp>
      <p:sp>
        <p:nvSpPr>
          <p:cNvPr id="516" name="K"/>
          <p:cNvSpPr/>
          <p:nvPr/>
        </p:nvSpPr>
        <p:spPr>
          <a:xfrm>
            <a:off x="5964742" y="5313169"/>
            <a:ext cx="1155436" cy="163159"/>
          </a:xfrm>
          <a:prstGeom prst="roundRect">
            <a:avLst>
              <a:gd name="adj" fmla="val 50000"/>
            </a:avLst>
          </a:prstGeom>
          <a:solidFill>
            <a:srgbClr val="FBE7D6"/>
          </a:solidFill>
          <a:ln>
            <a:noFill/>
          </a:ln>
        </p:spPr>
      </p:sp>
      <p:pic>
        <p:nvPicPr>
          <p:cNvPr id="517" name="G"/>
          <p:cNvPicPr>
            <a:picLocks noChangeAspect="1"/>
          </p:cNvPicPr>
          <p:nvPr/>
        </p:nvPicPr>
        <p:blipFill>
          <a:blip r:embed="rIdM4"/>
          <a:stretch>
            <a:fillRect/>
          </a:stretch>
        </p:blipFill>
        <p:spPr>
          <a:xfrm>
            <a:off x="6037894" y="5344169"/>
            <a:ext cx="101158" cy="101158"/>
          </a:xfrm>
          <a:prstGeom prst="rect">
            <a:avLst/>
          </a:prstGeom>
        </p:spPr>
      </p:pic>
      <p:sp>
        <p:nvSpPr>
          <p:cNvPr id="518" name="T"/>
          <p:cNvSpPr txBox="1"/>
          <p:nvPr/>
        </p:nvSpPr>
        <p:spPr>
          <a:xfrm>
            <a:off x="6211630" y="5313169"/>
            <a:ext cx="899404" cy="163159"/>
          </a:xfrm>
          <a:prstGeom prst="rect">
            <a:avLst/>
          </a:prstGeom>
          <a:noFill/>
        </p:spPr>
        <p:txBody>
          <a:bodyPr wrap="none" lIns="0" tIns="0" rIns="0" bIns="0" anchor="ctr"/>
          <a:lstStyle/>
          <a:p>
            <a:pPr algn="l">
              <a:buNone/>
            </a:pPr>
            <a:r>
              <a:rPr lang="id-ID" sz="700" b="1" dirty="0">
                <a:solidFill>
                  <a:srgbClr val="D9600B"/>
                </a:solidFill>
                <a:latin typeface="Roboto"/>
                <a:ea typeface="Roboto"/>
                <a:cs typeface="Roboto"/>
              </a:rPr>
              <a:t>69 ha baru 30 Okt</a:t>
            </a:r>
            <a:endParaRPr lang="id-ID" sz="625"/>
          </a:p>
        </p:txBody>
      </p:sp>
      <p:cxnSp>
        <p:nvCxnSpPr>
          <p:cNvPr id="519" name="L"/>
          <p:cNvCxnSpPr/>
          <p:nvPr/>
        </p:nvCxnSpPr>
        <p:spPr>
          <a:xfrm>
            <a:off x="676656" y="5518354"/>
            <a:ext cx="6464808" cy="0"/>
          </a:xfrm>
          <a:prstGeom prst="line">
            <a:avLst/>
          </a:prstGeom>
          <a:ln w="9525">
            <a:solidFill>
              <a:srgbClr val="EEF0F3"/>
            </a:solidFill>
          </a:ln>
        </p:spPr>
      </p:cxnSp>
      <p:sp>
        <p:nvSpPr>
          <p:cNvPr id="520" name="K"/>
          <p:cNvSpPr/>
          <p:nvPr/>
        </p:nvSpPr>
        <p:spPr>
          <a:xfrm>
            <a:off x="676656" y="5567796"/>
            <a:ext cx="148326" cy="148326"/>
          </a:xfrm>
          <a:prstGeom prst="ellipse">
            <a:avLst/>
          </a:prstGeom>
          <a:solidFill>
            <a:srgbClr val="051C2C"/>
          </a:solidFill>
          <a:ln>
            <a:noFill/>
          </a:ln>
        </p:spPr>
      </p:sp>
      <p:pic>
        <p:nvPicPr>
          <p:cNvPr id="521" name="G"/>
          <p:cNvPicPr>
            <a:picLocks noChangeAspect="1"/>
          </p:cNvPicPr>
          <p:nvPr/>
        </p:nvPicPr>
        <p:blipFill>
          <a:blip r:embed="rIdM5"/>
          <a:stretch>
            <a:fillRect/>
          </a:stretch>
        </p:blipFill>
        <p:spPr>
          <a:xfrm>
            <a:off x="703354" y="5594495"/>
            <a:ext cx="94928" cy="94928"/>
          </a:xfrm>
          <a:prstGeom prst="rect">
            <a:avLst/>
          </a:prstGeom>
        </p:spPr>
      </p:pic>
      <p:sp>
        <p:nvSpPr>
          <p:cNvPr id="522" name="T"/>
          <p:cNvSpPr txBox="1"/>
          <p:nvPr/>
        </p:nvSpPr>
        <p:spPr>
          <a:xfrm>
            <a:off x="990000" y="5518354"/>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Jambi</a:t>
            </a:r>
            <a:endParaRPr lang="id-ID" sz="756"/>
          </a:p>
          <a:p>
            <a:pPr algn="l">
              <a:buNone/>
            </a:pPr>
            <a:r>
              <a:rPr lang="id-ID" sz="756" dirty="0">
                <a:solidFill>
                  <a:srgbClr val="6B7280"/>
                </a:solidFill>
                <a:latin typeface="Roboto"/>
                <a:ea typeface="Roboto"/>
                <a:cs typeface="Roboto"/>
              </a:rPr>
              <a:t>Laporan pertama 27 Agu</a:t>
            </a:r>
            <a:endParaRPr lang="id-ID" sz="756"/>
          </a:p>
        </p:txBody>
      </p:sp>
      <p:sp>
        <p:nvSpPr>
          <p:cNvPr id="523" name="T"/>
          <p:cNvSpPr txBox="1"/>
          <p:nvPr/>
        </p:nvSpPr>
        <p:spPr>
          <a:xfrm>
            <a:off x="3291840" y="5518354"/>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35.248</a:t>
            </a:r>
            <a:endParaRPr lang="id-ID" sz="740"/>
          </a:p>
        </p:txBody>
      </p:sp>
      <p:sp>
        <p:nvSpPr>
          <p:cNvPr id="524" name="T"/>
          <p:cNvSpPr txBox="1"/>
          <p:nvPr/>
        </p:nvSpPr>
        <p:spPr>
          <a:xfrm>
            <a:off x="4134040" y="5518354"/>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cxnSp>
        <p:nvCxnSpPr>
          <p:cNvPr id="525" name="L"/>
          <p:cNvCxnSpPr/>
          <p:nvPr/>
        </p:nvCxnSpPr>
        <p:spPr>
          <a:xfrm>
            <a:off x="676656" y="5765565"/>
            <a:ext cx="6464808" cy="0"/>
          </a:xfrm>
          <a:prstGeom prst="line">
            <a:avLst/>
          </a:prstGeom>
          <a:ln w="9525">
            <a:solidFill>
              <a:srgbClr val="EEF0F3"/>
            </a:solidFill>
          </a:ln>
        </p:spPr>
      </p:cxnSp>
      <p:sp>
        <p:nvSpPr>
          <p:cNvPr id="526" name="K"/>
          <p:cNvSpPr/>
          <p:nvPr/>
        </p:nvSpPr>
        <p:spPr>
          <a:xfrm>
            <a:off x="676656" y="5815007"/>
            <a:ext cx="148326" cy="148326"/>
          </a:xfrm>
          <a:prstGeom prst="ellipse">
            <a:avLst/>
          </a:prstGeom>
          <a:solidFill>
            <a:srgbClr val="051C2C"/>
          </a:solidFill>
          <a:ln>
            <a:noFill/>
          </a:ln>
        </p:spPr>
      </p:sp>
      <p:pic>
        <p:nvPicPr>
          <p:cNvPr id="527" name="G"/>
          <p:cNvPicPr>
            <a:picLocks noChangeAspect="1"/>
          </p:cNvPicPr>
          <p:nvPr/>
        </p:nvPicPr>
        <p:blipFill>
          <a:blip r:embed="rIdM5"/>
          <a:stretch>
            <a:fillRect/>
          </a:stretch>
        </p:blipFill>
        <p:spPr>
          <a:xfrm>
            <a:off x="703354" y="5841706"/>
            <a:ext cx="94928" cy="94928"/>
          </a:xfrm>
          <a:prstGeom prst="rect">
            <a:avLst/>
          </a:prstGeom>
        </p:spPr>
      </p:pic>
      <p:sp>
        <p:nvSpPr>
          <p:cNvPr id="528" name="T"/>
          <p:cNvSpPr txBox="1"/>
          <p:nvPr/>
        </p:nvSpPr>
        <p:spPr>
          <a:xfrm>
            <a:off x="990000" y="5765565"/>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Riau</a:t>
            </a:r>
            <a:endParaRPr lang="id-ID" sz="756"/>
          </a:p>
          <a:p>
            <a:pPr algn="l">
              <a:buNone/>
            </a:pPr>
            <a:r>
              <a:rPr lang="id-ID" sz="756" dirty="0">
                <a:solidFill>
                  <a:srgbClr val="6B7280"/>
                </a:solidFill>
                <a:latin typeface="Roboto"/>
                <a:ea typeface="Roboto"/>
                <a:cs typeface="Roboto"/>
              </a:rPr>
              <a:t>Laporan pertama 21 Jan</a:t>
            </a:r>
            <a:endParaRPr lang="id-ID" sz="756"/>
          </a:p>
        </p:txBody>
      </p:sp>
      <p:sp>
        <p:nvSpPr>
          <p:cNvPr id="529" name="T"/>
          <p:cNvSpPr txBox="1"/>
          <p:nvPr/>
        </p:nvSpPr>
        <p:spPr>
          <a:xfrm>
            <a:off x="3291840" y="5765565"/>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26.945</a:t>
            </a:r>
            <a:endParaRPr lang="id-ID" sz="740"/>
          </a:p>
        </p:txBody>
      </p:sp>
      <p:sp>
        <p:nvSpPr>
          <p:cNvPr id="530" name="T"/>
          <p:cNvSpPr txBox="1"/>
          <p:nvPr/>
        </p:nvSpPr>
        <p:spPr>
          <a:xfrm>
            <a:off x="4134040" y="5765565"/>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cxnSp>
        <p:nvCxnSpPr>
          <p:cNvPr id="531" name="L"/>
          <p:cNvCxnSpPr/>
          <p:nvPr/>
        </p:nvCxnSpPr>
        <p:spPr>
          <a:xfrm>
            <a:off x="676656" y="6012776"/>
            <a:ext cx="6464808" cy="0"/>
          </a:xfrm>
          <a:prstGeom prst="line">
            <a:avLst/>
          </a:prstGeom>
          <a:ln w="9525">
            <a:solidFill>
              <a:srgbClr val="EEF0F3"/>
            </a:solidFill>
          </a:ln>
        </p:spPr>
      </p:cxnSp>
      <p:sp>
        <p:nvSpPr>
          <p:cNvPr id="532" name="K"/>
          <p:cNvSpPr/>
          <p:nvPr/>
        </p:nvSpPr>
        <p:spPr>
          <a:xfrm>
            <a:off x="676656" y="6062218"/>
            <a:ext cx="148326" cy="148326"/>
          </a:xfrm>
          <a:prstGeom prst="ellipse">
            <a:avLst/>
          </a:prstGeom>
          <a:solidFill>
            <a:srgbClr val="051C2C"/>
          </a:solidFill>
          <a:ln>
            <a:noFill/>
          </a:ln>
        </p:spPr>
      </p:sp>
      <p:pic>
        <p:nvPicPr>
          <p:cNvPr id="533" name="G"/>
          <p:cNvPicPr>
            <a:picLocks noChangeAspect="1"/>
          </p:cNvPicPr>
          <p:nvPr/>
        </p:nvPicPr>
        <p:blipFill>
          <a:blip r:embed="rIdM5"/>
          <a:stretch>
            <a:fillRect/>
          </a:stretch>
        </p:blipFill>
        <p:spPr>
          <a:xfrm>
            <a:off x="703354" y="6088917"/>
            <a:ext cx="94928" cy="94928"/>
          </a:xfrm>
          <a:prstGeom prst="rect">
            <a:avLst/>
          </a:prstGeom>
        </p:spPr>
      </p:pic>
      <p:sp>
        <p:nvSpPr>
          <p:cNvPr id="534" name="T"/>
          <p:cNvSpPr txBox="1"/>
          <p:nvPr/>
        </p:nvSpPr>
        <p:spPr>
          <a:xfrm>
            <a:off x="990000" y="6012776"/>
            <a:ext cx="2073240" cy="247211"/>
          </a:xfrm>
          <a:prstGeom prst="rect">
            <a:avLst/>
          </a:prstGeom>
          <a:noFill/>
        </p:spPr>
        <p:txBody>
          <a:bodyPr wrap="none" lIns="0" tIns="0" rIns="0" bIns="0" anchor="ctr"/>
          <a:lstStyle/>
          <a:p>
            <a:pPr algn="l">
              <a:buNone/>
            </a:pPr>
            <a:r>
              <a:rPr lang="id-ID" sz="756" b="1" dirty="0">
                <a:solidFill>
                  <a:srgbClr val="1A1A1A"/>
                </a:solidFill>
                <a:latin typeface="Roboto"/>
                <a:ea typeface="Roboto"/>
                <a:cs typeface="Roboto"/>
              </a:rPr>
              <a:t>Lampung</a:t>
            </a:r>
            <a:r>
              <a:rPr lang="id-ID" sz="756" dirty="0">
                <a:solidFill>
                  <a:srgbClr val="1A1A1A"/>
                </a:solidFill>
                <a:latin typeface="Roboto"/>
                <a:ea typeface="Roboto"/>
                <a:cs typeface="Roboto"/>
              </a:rPr>
              <a:t>, TN Way Kambas</a:t>
            </a:r>
            <a:endParaRPr lang="id-ID" sz="756"/>
          </a:p>
          <a:p>
            <a:pPr algn="l">
              <a:buNone/>
            </a:pPr>
            <a:r>
              <a:rPr lang="id-ID" sz="756" dirty="0">
                <a:solidFill>
                  <a:srgbClr val="6B7280"/>
                </a:solidFill>
                <a:latin typeface="Roboto"/>
                <a:ea typeface="Roboto"/>
                <a:cs typeface="Roboto"/>
              </a:rPr>
              <a:t>Laporan pertama 7 Okt</a:t>
            </a:r>
            <a:endParaRPr lang="id-ID" sz="756"/>
          </a:p>
        </p:txBody>
      </p:sp>
      <p:sp>
        <p:nvSpPr>
          <p:cNvPr id="535" name="T"/>
          <p:cNvSpPr txBox="1"/>
          <p:nvPr/>
        </p:nvSpPr>
        <p:spPr>
          <a:xfrm>
            <a:off x="3291840" y="6012776"/>
            <a:ext cx="820000" cy="247211"/>
          </a:xfrm>
          <a:prstGeom prst="rect">
            <a:avLst/>
          </a:prstGeom>
          <a:noFill/>
        </p:spPr>
        <p:txBody>
          <a:bodyPr wrap="none" lIns="0" tIns="0" rIns="0" bIns="0" anchor="ctr"/>
          <a:lstStyle/>
          <a:p>
            <a:pPr algn="r">
              <a:buNone/>
            </a:pPr>
            <a:r>
              <a:rPr lang="id-ID" sz="740" b="1" dirty="0">
                <a:solidFill>
                  <a:srgbClr val="1A1A1A"/>
                </a:solidFill>
                <a:latin typeface="Roboto"/>
                <a:ea typeface="Roboto"/>
                <a:cs typeface="Roboto"/>
              </a:rPr>
              <a:t>± 2.306</a:t>
            </a:r>
            <a:endParaRPr lang="id-ID" sz="740"/>
          </a:p>
        </p:txBody>
      </p:sp>
      <p:sp>
        <p:nvSpPr>
          <p:cNvPr id="536" name="T"/>
          <p:cNvSpPr txBox="1"/>
          <p:nvPr/>
        </p:nvSpPr>
        <p:spPr>
          <a:xfrm>
            <a:off x="4134040" y="6012776"/>
            <a:ext cx="900000" cy="247211"/>
          </a:xfrm>
          <a:prstGeom prst="rect">
            <a:avLst/>
          </a:prstGeom>
          <a:noFill/>
        </p:spPr>
        <p:txBody>
          <a:bodyPr wrap="none" lIns="0" tIns="0" rIns="0" bIns="0" anchor="ctr"/>
          <a:lstStyle/>
          <a:p>
            <a:pPr algn="l">
              <a:buNone/>
            </a:pPr>
            <a:r>
              <a:rPr lang="id-ID" sz="740" b="1" dirty="0">
                <a:solidFill>
                  <a:srgbClr val="1A1A1A"/>
                </a:solidFill>
                <a:latin typeface="Roboto"/>
                <a:ea typeface="Roboto"/>
                <a:cs typeface="Roboto"/>
              </a:rPr>
              <a:t>ha</a:t>
            </a:r>
            <a:endParaRPr lang="id-ID" sz="740"/>
          </a:p>
        </p:txBody>
      </p:sp>
      <p:sp>
        <p:nvSpPr>
          <p:cNvPr id="641" name="K"/>
          <p:cNvSpPr/>
          <p:nvPr/>
        </p:nvSpPr>
        <p:spPr>
          <a:xfrm>
            <a:off x="7406640" y="1417320"/>
            <a:ext cx="4236415" cy="4480560"/>
          </a:xfrm>
          <a:prstGeom prst="roundRect">
            <a:avLst>
              <a:gd name="adj" fmla="val 4000"/>
            </a:avLst>
          </a:prstGeom>
          <a:solidFill>
            <a:srgbClr val="FFFFFF"/>
          </a:solidFill>
          <a:ln w="9525">
            <a:solidFill>
              <a:srgbClr val="BFC5CC"/>
            </a:solidFill>
          </a:ln>
        </p:spPr>
      </p:sp>
      <p:sp>
        <p:nvSpPr>
          <p:cNvPr id="642" name="K"/>
          <p:cNvSpPr/>
          <p:nvPr/>
        </p:nvSpPr>
        <p:spPr>
          <a:xfrm>
            <a:off x="7406640" y="1417320"/>
            <a:ext cx="4236415" cy="365760"/>
          </a:xfrm>
          <a:prstGeom prst="roundRect">
            <a:avLst>
              <a:gd name="adj" fmla="val 16000"/>
            </a:avLst>
          </a:prstGeom>
          <a:solidFill>
            <a:srgbClr val="E3EAF1"/>
          </a:solidFill>
          <a:ln>
            <a:noFill/>
          </a:ln>
        </p:spPr>
      </p:sp>
      <p:sp>
        <p:nvSpPr>
          <p:cNvPr id="643" name="K"/>
          <p:cNvSpPr/>
          <p:nvPr/>
        </p:nvSpPr>
        <p:spPr>
          <a:xfrm>
            <a:off x="7406640" y="1636776"/>
            <a:ext cx="4236415" cy="146304"/>
          </a:xfrm>
          <a:prstGeom prst="rect">
            <a:avLst/>
          </a:prstGeom>
          <a:solidFill>
            <a:srgbClr val="E3EAF1"/>
          </a:solidFill>
          <a:ln>
            <a:noFill/>
          </a:ln>
        </p:spPr>
      </p:sp>
      <p:sp>
        <p:nvSpPr>
          <p:cNvPr id="644" name="K"/>
          <p:cNvSpPr/>
          <p:nvPr/>
        </p:nvSpPr>
        <p:spPr>
          <a:xfrm>
            <a:off x="7534656" y="1453896"/>
            <a:ext cx="292608" cy="292608"/>
          </a:xfrm>
          <a:prstGeom prst="ellipse">
            <a:avLst/>
          </a:prstGeom>
          <a:solidFill>
            <a:srgbClr val="5B7A99"/>
          </a:solidFill>
          <a:ln>
            <a:noFill/>
          </a:ln>
        </p:spPr>
      </p:sp>
      <p:pic>
        <p:nvPicPr>
          <p:cNvPr id="645" name="G"/>
          <p:cNvPicPr>
            <a:picLocks noChangeAspect="1"/>
          </p:cNvPicPr>
          <p:nvPr/>
        </p:nvPicPr>
        <p:blipFill>
          <a:blip r:embed="rIdM17"/>
          <a:stretch>
            <a:fillRect/>
          </a:stretch>
        </p:blipFill>
        <p:spPr>
          <a:xfrm>
            <a:off x="7589520" y="1508760"/>
            <a:ext cx="182880" cy="182880"/>
          </a:xfrm>
          <a:prstGeom prst="rect">
            <a:avLst/>
          </a:prstGeom>
        </p:spPr>
      </p:pic>
      <p:sp>
        <p:nvSpPr>
          <p:cNvPr id="646" name="T"/>
          <p:cNvSpPr txBox="1"/>
          <p:nvPr/>
        </p:nvSpPr>
        <p:spPr>
          <a:xfrm>
            <a:off x="7909560" y="1417320"/>
            <a:ext cx="3136415" cy="365760"/>
          </a:xfrm>
          <a:prstGeom prst="rect">
            <a:avLst/>
          </a:prstGeom>
          <a:noFill/>
        </p:spPr>
        <p:txBody>
          <a:bodyPr wrap="square" lIns="0" tIns="0" rIns="0" bIns="0" anchor="ctr"/>
          <a:lstStyle/>
          <a:p>
            <a:pPr algn="l">
              <a:buNone/>
            </a:pPr>
            <a:r>
              <a:rPr lang="id-ID" sz="1100" b="1" dirty="0">
                <a:solidFill>
                  <a:srgbClr val="1A1A1A"/>
                </a:solidFill>
                <a:latin typeface="Roboto"/>
                <a:ea typeface="Roboto"/>
                <a:cs typeface="Roboto"/>
              </a:rPr>
              <a:t>Bencana lainnya</a:t>
            </a:r>
            <a:endParaRPr lang="id-ID" sz="1100"/>
          </a:p>
        </p:txBody>
      </p:sp>
      <p:sp>
        <p:nvSpPr>
          <p:cNvPr id="647" name="T"/>
          <p:cNvSpPr txBox="1"/>
          <p:nvPr/>
        </p:nvSpPr>
        <p:spPr>
          <a:xfrm>
            <a:off x="11002975" y="1417320"/>
            <a:ext cx="512064" cy="365760"/>
          </a:xfrm>
          <a:prstGeom prst="rect">
            <a:avLst/>
          </a:prstGeom>
          <a:noFill/>
        </p:spPr>
        <p:txBody>
          <a:bodyPr wrap="square" lIns="0" tIns="0" rIns="0" bIns="0" anchor="ctr"/>
          <a:lstStyle/>
          <a:p>
            <a:pPr algn="r">
              <a:buNone/>
            </a:pPr>
            <a:r>
              <a:rPr lang="id-ID" sz="1800" b="1" dirty="0">
                <a:solidFill>
                  <a:srgbClr val="5B7A99"/>
                </a:solidFill>
                <a:latin typeface="Roboto"/>
                <a:ea typeface="Roboto"/>
                <a:cs typeface="Roboto"/>
              </a:rPr>
              <a:t>7</a:t>
            </a:r>
            <a:endParaRPr lang="id-ID" sz="1800"/>
          </a:p>
        </p:txBody>
      </p:sp>
      <p:sp>
        <p:nvSpPr>
          <p:cNvPr id="537" name="K"/>
          <p:cNvSpPr/>
          <p:nvPr/>
        </p:nvSpPr>
        <p:spPr>
          <a:xfrm>
            <a:off x="7571232" y="1828800"/>
            <a:ext cx="3907231" cy="182880"/>
          </a:xfrm>
          <a:prstGeom prst="roundRect">
            <a:avLst>
              <a:gd name="adj" fmla="val 30000"/>
            </a:avLst>
          </a:prstGeom>
          <a:solidFill>
            <a:srgbClr val="F3F5F8"/>
          </a:solidFill>
          <a:ln>
            <a:noFill/>
          </a:ln>
        </p:spPr>
      </p:sp>
      <p:sp>
        <p:nvSpPr>
          <p:cNvPr id="538" name="K"/>
          <p:cNvSpPr/>
          <p:nvPr/>
        </p:nvSpPr>
        <p:spPr>
          <a:xfrm>
            <a:off x="7616952" y="1847088"/>
            <a:ext cx="146304" cy="146304"/>
          </a:xfrm>
          <a:prstGeom prst="ellipse">
            <a:avLst/>
          </a:prstGeom>
          <a:solidFill>
            <a:srgbClr val="5B7A99"/>
          </a:solidFill>
          <a:ln>
            <a:noFill/>
          </a:ln>
        </p:spPr>
      </p:sp>
      <p:pic>
        <p:nvPicPr>
          <p:cNvPr id="539" name="G"/>
          <p:cNvPicPr>
            <a:picLocks noChangeAspect="1"/>
          </p:cNvPicPr>
          <p:nvPr/>
        </p:nvPicPr>
        <p:blipFill>
          <a:blip r:embed="rIdM6"/>
          <a:stretch>
            <a:fillRect/>
          </a:stretch>
        </p:blipFill>
        <p:spPr>
          <a:xfrm>
            <a:off x="7644384" y="1874520"/>
            <a:ext cx="91440" cy="91440"/>
          </a:xfrm>
          <a:prstGeom prst="rect">
            <a:avLst/>
          </a:prstGeom>
        </p:spPr>
      </p:pic>
      <p:sp>
        <p:nvSpPr>
          <p:cNvPr id="543" name="T"/>
          <p:cNvSpPr txBox="1"/>
          <p:nvPr/>
        </p:nvSpPr>
        <p:spPr>
          <a:xfrm>
            <a:off x="7808976" y="1828800"/>
            <a:ext cx="1600000" cy="182880"/>
          </a:xfrm>
          <a:prstGeom prst="rect">
            <a:avLst/>
          </a:prstGeom>
          <a:noFill/>
        </p:spPr>
        <p:txBody>
          <a:bodyPr wrap="none" lIns="0" tIns="0" rIns="0" bIns="0" anchor="ctr"/>
          <a:lstStyle/>
          <a:p>
            <a:pPr algn="l">
              <a:buNone/>
            </a:pPr>
            <a:r>
              <a:rPr lang="id-ID" sz="820" b="1" dirty="0">
                <a:solidFill>
                  <a:srgbClr val="1A1A1A"/>
                </a:solidFill>
                <a:latin typeface="Roboto"/>
                <a:ea typeface="Roboto"/>
                <a:cs typeface="Roboto"/>
              </a:rPr>
              <a:t>Gempa bumi</a:t>
            </a:r>
            <a:endParaRPr lang="id-ID" sz="820"/>
          </a:p>
        </p:txBody>
      </p:sp>
      <p:sp>
        <p:nvSpPr>
          <p:cNvPr id="540" name="K"/>
          <p:cNvSpPr/>
          <p:nvPr/>
        </p:nvSpPr>
        <p:spPr>
          <a:xfrm>
            <a:off x="8511232" y="1856232"/>
            <a:ext cx="669214" cy="128016"/>
          </a:xfrm>
          <a:prstGeom prst="roundRect">
            <a:avLst>
              <a:gd name="adj" fmla="val 50000"/>
            </a:avLst>
          </a:prstGeom>
          <a:solidFill>
            <a:srgbClr val="E3EAF1"/>
          </a:solidFill>
          <a:ln>
            <a:noFill/>
          </a:ln>
        </p:spPr>
      </p:sp>
      <p:pic>
        <p:nvPicPr>
          <p:cNvPr id="541" name="G"/>
          <p:cNvPicPr>
            <a:picLocks noChangeAspect="1"/>
          </p:cNvPicPr>
          <p:nvPr/>
        </p:nvPicPr>
        <p:blipFill>
          <a:blip r:embed="rIdM7"/>
          <a:stretch>
            <a:fillRect/>
          </a:stretch>
        </p:blipFill>
        <p:spPr>
          <a:xfrm>
            <a:off x="8556037" y="1881835"/>
            <a:ext cx="76809" cy="76809"/>
          </a:xfrm>
          <a:prstGeom prst="rect">
            <a:avLst/>
          </a:prstGeom>
        </p:spPr>
      </p:pic>
      <p:sp>
        <p:nvSpPr>
          <p:cNvPr id="542" name="T"/>
          <p:cNvSpPr txBox="1"/>
          <p:nvPr/>
        </p:nvSpPr>
        <p:spPr>
          <a:xfrm>
            <a:off x="8632847" y="1856232"/>
            <a:ext cx="547599" cy="128016"/>
          </a:xfrm>
          <a:prstGeom prst="rect">
            <a:avLst/>
          </a:prstGeom>
          <a:noFill/>
        </p:spPr>
        <p:txBody>
          <a:bodyPr wrap="none" lIns="0" tIns="0" rIns="0" bIns="0" anchor="ctr"/>
          <a:lstStyle/>
          <a:p>
            <a:pPr algn="ctr">
              <a:buNone/>
            </a:pPr>
            <a:r>
              <a:rPr lang="id-ID" sz="700" b="1" dirty="0">
                <a:solidFill>
                  <a:srgbClr val="5B7A99"/>
                </a:solidFill>
                <a:latin typeface="Roboto"/>
                <a:ea typeface="Roboto"/>
                <a:cs typeface="Roboto"/>
              </a:rPr>
              <a:t>1 kejadian</a:t>
            </a:r>
            <a:endParaRPr lang="id-ID" sz="700"/>
          </a:p>
        </p:txBody>
      </p:sp>
      <p:sp>
        <p:nvSpPr>
          <p:cNvPr id="544" name="K"/>
          <p:cNvSpPr/>
          <p:nvPr/>
        </p:nvSpPr>
        <p:spPr>
          <a:xfrm>
            <a:off x="7589520" y="2048256"/>
            <a:ext cx="146304" cy="146304"/>
          </a:xfrm>
          <a:prstGeom prst="ellipse">
            <a:avLst/>
          </a:prstGeom>
          <a:solidFill>
            <a:srgbClr val="D9600B"/>
          </a:solidFill>
          <a:ln>
            <a:noFill/>
          </a:ln>
        </p:spPr>
      </p:sp>
      <p:pic>
        <p:nvPicPr>
          <p:cNvPr id="545" name="G"/>
          <p:cNvPicPr>
            <a:picLocks noChangeAspect="1"/>
          </p:cNvPicPr>
          <p:nvPr/>
        </p:nvPicPr>
        <p:blipFill>
          <a:blip r:embed="rIdM2"/>
          <a:stretch>
            <a:fillRect/>
          </a:stretch>
        </p:blipFill>
        <p:spPr>
          <a:xfrm>
            <a:off x="7615854" y="2074590"/>
            <a:ext cx="93634" cy="93634"/>
          </a:xfrm>
          <a:prstGeom prst="rect">
            <a:avLst/>
          </a:prstGeom>
        </p:spPr>
      </p:pic>
      <p:sp>
        <p:nvSpPr>
          <p:cNvPr id="546" name="T"/>
          <p:cNvSpPr txBox="1"/>
          <p:nvPr/>
        </p:nvSpPr>
        <p:spPr>
          <a:xfrm>
            <a:off x="7790688" y="2029968"/>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Nusa Tenggara Timur</a:t>
            </a:r>
            <a:r>
              <a:rPr lang="id-ID" sz="760" dirty="0">
                <a:solidFill>
                  <a:srgbClr val="6B7280"/>
                </a:solidFill>
                <a:latin typeface="Roboto"/>
                <a:ea typeface="Roboto"/>
                <a:cs typeface="Roboto"/>
              </a:rPr>
              <a:t>   Laporan pertama 15 Agu</a:t>
            </a:r>
            <a:endParaRPr lang="id-ID" sz="760"/>
          </a:p>
        </p:txBody>
      </p:sp>
      <p:sp>
        <p:nvSpPr>
          <p:cNvPr id="547" name="K"/>
          <p:cNvSpPr/>
          <p:nvPr/>
        </p:nvSpPr>
        <p:spPr>
          <a:xfrm>
            <a:off x="7790688" y="2221992"/>
            <a:ext cx="1798167" cy="320040"/>
          </a:xfrm>
          <a:prstGeom prst="roundRect">
            <a:avLst>
              <a:gd name="adj" fmla="val 14000"/>
            </a:avLst>
          </a:prstGeom>
          <a:solidFill>
            <a:srgbClr val="F7F8FA"/>
          </a:solidFill>
          <a:ln>
            <a:noFill/>
          </a:ln>
        </p:spPr>
      </p:sp>
      <p:pic>
        <p:nvPicPr>
          <p:cNvPr id="548" name="G"/>
          <p:cNvPicPr>
            <a:picLocks noChangeAspect="1"/>
          </p:cNvPicPr>
          <p:nvPr/>
        </p:nvPicPr>
        <p:blipFill>
          <a:blip r:embed="rIdM8"/>
          <a:stretch>
            <a:fillRect/>
          </a:stretch>
        </p:blipFill>
        <p:spPr>
          <a:xfrm>
            <a:off x="7854696" y="2267712"/>
            <a:ext cx="118872" cy="118872"/>
          </a:xfrm>
          <a:prstGeom prst="rect">
            <a:avLst/>
          </a:prstGeom>
        </p:spPr>
      </p:pic>
      <p:sp>
        <p:nvSpPr>
          <p:cNvPr id="549" name="T"/>
          <p:cNvSpPr txBox="1"/>
          <p:nvPr/>
        </p:nvSpPr>
        <p:spPr>
          <a:xfrm>
            <a:off x="8010144" y="2240280"/>
            <a:ext cx="1558167"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±27.307</a:t>
            </a:r>
            <a:endParaRPr lang="id-ID" sz="950"/>
          </a:p>
        </p:txBody>
      </p:sp>
      <p:sp>
        <p:nvSpPr>
          <p:cNvPr id="550" name="T"/>
          <p:cNvSpPr txBox="1"/>
          <p:nvPr/>
        </p:nvSpPr>
        <p:spPr>
          <a:xfrm>
            <a:off x="7854696" y="2404872"/>
            <a:ext cx="1698167"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jiwa mengungsi</a:t>
            </a:r>
            <a:endParaRPr lang="id-ID" sz="620"/>
          </a:p>
        </p:txBody>
      </p:sp>
      <p:sp>
        <p:nvSpPr>
          <p:cNvPr id="551" name="K"/>
          <p:cNvSpPr/>
          <p:nvPr/>
        </p:nvSpPr>
        <p:spPr>
          <a:xfrm>
            <a:off x="9634575" y="2221992"/>
            <a:ext cx="1798167" cy="320040"/>
          </a:xfrm>
          <a:prstGeom prst="roundRect">
            <a:avLst>
              <a:gd name="adj" fmla="val 14000"/>
            </a:avLst>
          </a:prstGeom>
          <a:solidFill>
            <a:srgbClr val="F7F8FA"/>
          </a:solidFill>
          <a:ln>
            <a:noFill/>
          </a:ln>
        </p:spPr>
      </p:sp>
      <p:pic>
        <p:nvPicPr>
          <p:cNvPr id="552" name="G"/>
          <p:cNvPicPr>
            <a:picLocks noChangeAspect="1"/>
          </p:cNvPicPr>
          <p:nvPr/>
        </p:nvPicPr>
        <p:blipFill>
          <a:blip r:embed="rIdM9"/>
          <a:stretch>
            <a:fillRect/>
          </a:stretch>
        </p:blipFill>
        <p:spPr>
          <a:xfrm>
            <a:off x="9698583" y="2267712"/>
            <a:ext cx="118872" cy="118872"/>
          </a:xfrm>
          <a:prstGeom prst="rect">
            <a:avLst/>
          </a:prstGeom>
        </p:spPr>
      </p:pic>
      <p:sp>
        <p:nvSpPr>
          <p:cNvPr id="553" name="T"/>
          <p:cNvSpPr txBox="1"/>
          <p:nvPr/>
        </p:nvSpPr>
        <p:spPr>
          <a:xfrm>
            <a:off x="9854031" y="2240280"/>
            <a:ext cx="1558167"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±17.707</a:t>
            </a:r>
            <a:endParaRPr lang="id-ID" sz="950"/>
          </a:p>
        </p:txBody>
      </p:sp>
      <p:sp>
        <p:nvSpPr>
          <p:cNvPr id="554" name="T"/>
          <p:cNvSpPr txBox="1"/>
          <p:nvPr/>
        </p:nvSpPr>
        <p:spPr>
          <a:xfrm>
            <a:off x="9698583" y="2404872"/>
            <a:ext cx="1698167"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555" name="K"/>
          <p:cNvSpPr/>
          <p:nvPr/>
        </p:nvSpPr>
        <p:spPr>
          <a:xfrm>
            <a:off x="7571232" y="2624328"/>
            <a:ext cx="3907231" cy="182880"/>
          </a:xfrm>
          <a:prstGeom prst="roundRect">
            <a:avLst>
              <a:gd name="adj" fmla="val 30000"/>
            </a:avLst>
          </a:prstGeom>
          <a:solidFill>
            <a:srgbClr val="F3F5F8"/>
          </a:solidFill>
          <a:ln>
            <a:noFill/>
          </a:ln>
        </p:spPr>
      </p:sp>
      <p:sp>
        <p:nvSpPr>
          <p:cNvPr id="556" name="K"/>
          <p:cNvSpPr/>
          <p:nvPr/>
        </p:nvSpPr>
        <p:spPr>
          <a:xfrm>
            <a:off x="7616952" y="2642616"/>
            <a:ext cx="146304" cy="146304"/>
          </a:xfrm>
          <a:prstGeom prst="ellipse">
            <a:avLst/>
          </a:prstGeom>
          <a:solidFill>
            <a:srgbClr val="2F6FB5"/>
          </a:solidFill>
          <a:ln>
            <a:noFill/>
          </a:ln>
        </p:spPr>
      </p:sp>
      <p:pic>
        <p:nvPicPr>
          <p:cNvPr id="557" name="G"/>
          <p:cNvPicPr>
            <a:picLocks noChangeAspect="1"/>
          </p:cNvPicPr>
          <p:nvPr/>
        </p:nvPicPr>
        <p:blipFill>
          <a:blip r:embed="rIdM10"/>
          <a:stretch>
            <a:fillRect/>
          </a:stretch>
        </p:blipFill>
        <p:spPr>
          <a:xfrm>
            <a:off x="7644384" y="2670048"/>
            <a:ext cx="91440" cy="91440"/>
          </a:xfrm>
          <a:prstGeom prst="rect">
            <a:avLst/>
          </a:prstGeom>
        </p:spPr>
      </p:pic>
      <p:sp>
        <p:nvSpPr>
          <p:cNvPr id="561" name="T"/>
          <p:cNvSpPr txBox="1"/>
          <p:nvPr/>
        </p:nvSpPr>
        <p:spPr>
          <a:xfrm>
            <a:off x="7808976" y="2624328"/>
            <a:ext cx="1600000" cy="182880"/>
          </a:xfrm>
          <a:prstGeom prst="rect">
            <a:avLst/>
          </a:prstGeom>
          <a:noFill/>
        </p:spPr>
        <p:txBody>
          <a:bodyPr wrap="none" lIns="0" tIns="0" rIns="0" bIns="0" anchor="ctr"/>
          <a:lstStyle/>
          <a:p>
            <a:pPr algn="l">
              <a:buNone/>
            </a:pPr>
            <a:r>
              <a:rPr lang="id-ID" sz="820" b="1" dirty="0">
                <a:solidFill>
                  <a:srgbClr val="1A1A1A"/>
                </a:solidFill>
                <a:latin typeface="Roboto"/>
                <a:ea typeface="Roboto"/>
                <a:cs typeface="Roboto"/>
              </a:rPr>
              <a:t>Banjir</a:t>
            </a:r>
            <a:endParaRPr lang="id-ID" sz="820"/>
          </a:p>
        </p:txBody>
      </p:sp>
      <p:sp>
        <p:nvSpPr>
          <p:cNvPr id="558" name="K"/>
          <p:cNvSpPr/>
          <p:nvPr/>
        </p:nvSpPr>
        <p:spPr>
          <a:xfrm>
            <a:off x="8255232" y="2651760"/>
            <a:ext cx="669214" cy="128016"/>
          </a:xfrm>
          <a:prstGeom prst="roundRect">
            <a:avLst>
              <a:gd name="adj" fmla="val 50000"/>
            </a:avLst>
          </a:prstGeom>
          <a:solidFill>
            <a:srgbClr val="DCE7F5"/>
          </a:solidFill>
          <a:ln>
            <a:noFill/>
          </a:ln>
        </p:spPr>
      </p:sp>
      <p:pic>
        <p:nvPicPr>
          <p:cNvPr id="559" name="G"/>
          <p:cNvPicPr>
            <a:picLocks noChangeAspect="1"/>
          </p:cNvPicPr>
          <p:nvPr/>
        </p:nvPicPr>
        <p:blipFill>
          <a:blip r:embed="rIdM11"/>
          <a:stretch>
            <a:fillRect/>
          </a:stretch>
        </p:blipFill>
        <p:spPr>
          <a:xfrm>
            <a:off x="8300037" y="2677363"/>
            <a:ext cx="76809" cy="76809"/>
          </a:xfrm>
          <a:prstGeom prst="rect">
            <a:avLst/>
          </a:prstGeom>
        </p:spPr>
      </p:pic>
      <p:sp>
        <p:nvSpPr>
          <p:cNvPr id="560" name="T"/>
          <p:cNvSpPr txBox="1"/>
          <p:nvPr/>
        </p:nvSpPr>
        <p:spPr>
          <a:xfrm>
            <a:off x="8376847" y="2651760"/>
            <a:ext cx="547599" cy="128016"/>
          </a:xfrm>
          <a:prstGeom prst="rect">
            <a:avLst/>
          </a:prstGeom>
          <a:noFill/>
        </p:spPr>
        <p:txBody>
          <a:bodyPr wrap="none" lIns="0" tIns="0" rIns="0" bIns="0" anchor="ctr"/>
          <a:lstStyle/>
          <a:p>
            <a:pPr algn="ctr">
              <a:buNone/>
            </a:pPr>
            <a:r>
              <a:rPr lang="id-ID" sz="700" b="1" dirty="0">
                <a:solidFill>
                  <a:srgbClr val="2F6FB5"/>
                </a:solidFill>
                <a:latin typeface="Roboto"/>
                <a:ea typeface="Roboto"/>
                <a:cs typeface="Roboto"/>
              </a:rPr>
              <a:t>4 kejadian</a:t>
            </a:r>
            <a:endParaRPr lang="id-ID" sz="700"/>
          </a:p>
        </p:txBody>
      </p:sp>
      <p:sp>
        <p:nvSpPr>
          <p:cNvPr id="562" name="K"/>
          <p:cNvSpPr/>
          <p:nvPr/>
        </p:nvSpPr>
        <p:spPr>
          <a:xfrm>
            <a:off x="7589520" y="2843784"/>
            <a:ext cx="146304" cy="146304"/>
          </a:xfrm>
          <a:prstGeom prst="ellipse">
            <a:avLst/>
          </a:prstGeom>
          <a:solidFill>
            <a:srgbClr val="D9600B"/>
          </a:solidFill>
          <a:ln>
            <a:noFill/>
          </a:ln>
        </p:spPr>
      </p:sp>
      <p:pic>
        <p:nvPicPr>
          <p:cNvPr id="563" name="G"/>
          <p:cNvPicPr>
            <a:picLocks noChangeAspect="1"/>
          </p:cNvPicPr>
          <p:nvPr/>
        </p:nvPicPr>
        <p:blipFill>
          <a:blip r:embed="rIdM2"/>
          <a:stretch>
            <a:fillRect/>
          </a:stretch>
        </p:blipFill>
        <p:spPr>
          <a:xfrm>
            <a:off x="7615854" y="2870118"/>
            <a:ext cx="93634" cy="93634"/>
          </a:xfrm>
          <a:prstGeom prst="rect">
            <a:avLst/>
          </a:prstGeom>
        </p:spPr>
      </p:pic>
      <p:sp>
        <p:nvSpPr>
          <p:cNvPr id="564" name="T"/>
          <p:cNvSpPr txBox="1"/>
          <p:nvPr/>
        </p:nvSpPr>
        <p:spPr>
          <a:xfrm>
            <a:off x="7790688" y="2825496"/>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Aceh Selatan</a:t>
            </a:r>
            <a:r>
              <a:rPr lang="id-ID" sz="760" dirty="0">
                <a:solidFill>
                  <a:srgbClr val="6B7280"/>
                </a:solidFill>
                <a:latin typeface="Roboto"/>
                <a:ea typeface="Roboto"/>
                <a:cs typeface="Roboto"/>
              </a:rPr>
              <a:t>   Laporan pertama 28 Okt</a:t>
            </a:r>
            <a:endParaRPr lang="id-ID" sz="760"/>
          </a:p>
        </p:txBody>
      </p:sp>
      <p:sp>
        <p:nvSpPr>
          <p:cNvPr id="565" name="K"/>
          <p:cNvSpPr/>
          <p:nvPr/>
        </p:nvSpPr>
        <p:spPr>
          <a:xfrm>
            <a:off x="9846642" y="2834640"/>
            <a:ext cx="1613532" cy="164592"/>
          </a:xfrm>
          <a:prstGeom prst="roundRect">
            <a:avLst>
              <a:gd name="adj" fmla="val 50000"/>
            </a:avLst>
          </a:prstGeom>
          <a:solidFill>
            <a:srgbClr val="FBE7D6"/>
          </a:solidFill>
          <a:ln>
            <a:noFill/>
          </a:ln>
        </p:spPr>
      </p:sp>
      <p:pic>
        <p:nvPicPr>
          <p:cNvPr id="566" name="G"/>
          <p:cNvPicPr>
            <a:picLocks noChangeAspect="1"/>
          </p:cNvPicPr>
          <p:nvPr/>
        </p:nvPicPr>
        <p:blipFill>
          <a:blip r:embed="rIdM12"/>
          <a:stretch>
            <a:fillRect/>
          </a:stretch>
        </p:blipFill>
        <p:spPr>
          <a:xfrm>
            <a:off x="9904249" y="2867558"/>
            <a:ext cx="98755" cy="98755"/>
          </a:xfrm>
          <a:prstGeom prst="rect">
            <a:avLst/>
          </a:prstGeom>
        </p:spPr>
      </p:pic>
      <p:sp>
        <p:nvSpPr>
          <p:cNvPr id="567" name="T"/>
          <p:cNvSpPr txBox="1"/>
          <p:nvPr/>
        </p:nvSpPr>
        <p:spPr>
          <a:xfrm>
            <a:off x="10003004" y="2834640"/>
            <a:ext cx="1457170" cy="164592"/>
          </a:xfrm>
          <a:prstGeom prst="rect">
            <a:avLst/>
          </a:prstGeom>
          <a:noFill/>
        </p:spPr>
        <p:txBody>
          <a:bodyPr wrap="none" lIns="0" tIns="0" rIns="0" bIns="0" anchor="ctr"/>
          <a:lstStyle/>
          <a:p>
            <a:pPr algn="ctr">
              <a:buNone/>
            </a:pPr>
            <a:r>
              <a:rPr lang="id-ID" sz="700" b="1" dirty="0">
                <a:solidFill>
                  <a:srgbClr val="D9600B"/>
                </a:solidFill>
                <a:latin typeface="Roboto"/>
                <a:ea typeface="Roboto"/>
                <a:cs typeface="Roboto"/>
              </a:rPr>
              <a:t>Air terpantau sudah mulai surut</a:t>
            </a:r>
            <a:endParaRPr lang="id-ID" sz="700"/>
          </a:p>
        </p:txBody>
      </p:sp>
      <p:sp>
        <p:nvSpPr>
          <p:cNvPr id="568" name="K"/>
          <p:cNvSpPr/>
          <p:nvPr/>
        </p:nvSpPr>
        <p:spPr>
          <a:xfrm>
            <a:off x="7790688" y="3017520"/>
            <a:ext cx="1198778" cy="320040"/>
          </a:xfrm>
          <a:prstGeom prst="roundRect">
            <a:avLst>
              <a:gd name="adj" fmla="val 14000"/>
            </a:avLst>
          </a:prstGeom>
          <a:solidFill>
            <a:srgbClr val="F7F8FA"/>
          </a:solidFill>
          <a:ln>
            <a:noFill/>
          </a:ln>
        </p:spPr>
      </p:sp>
      <p:pic>
        <p:nvPicPr>
          <p:cNvPr id="569" name="G"/>
          <p:cNvPicPr>
            <a:picLocks noChangeAspect="1"/>
          </p:cNvPicPr>
          <p:nvPr/>
        </p:nvPicPr>
        <p:blipFill>
          <a:blip r:embed="rIdM8"/>
          <a:stretch>
            <a:fillRect/>
          </a:stretch>
        </p:blipFill>
        <p:spPr>
          <a:xfrm>
            <a:off x="7854696" y="3063240"/>
            <a:ext cx="118872" cy="118872"/>
          </a:xfrm>
          <a:prstGeom prst="rect">
            <a:avLst/>
          </a:prstGeom>
        </p:spPr>
      </p:pic>
      <p:sp>
        <p:nvSpPr>
          <p:cNvPr id="570" name="T"/>
          <p:cNvSpPr txBox="1"/>
          <p:nvPr/>
        </p:nvSpPr>
        <p:spPr>
          <a:xfrm>
            <a:off x="8010144" y="3035808"/>
            <a:ext cx="958778"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±173</a:t>
            </a:r>
            <a:endParaRPr lang="id-ID" sz="950"/>
          </a:p>
        </p:txBody>
      </p:sp>
      <p:sp>
        <p:nvSpPr>
          <p:cNvPr id="571" name="T"/>
          <p:cNvSpPr txBox="1"/>
          <p:nvPr/>
        </p:nvSpPr>
        <p:spPr>
          <a:xfrm>
            <a:off x="7854696" y="3200400"/>
            <a:ext cx="1098778"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jiwa mengungsi</a:t>
            </a:r>
            <a:endParaRPr lang="id-ID" sz="620"/>
          </a:p>
        </p:txBody>
      </p:sp>
      <p:sp>
        <p:nvSpPr>
          <p:cNvPr id="572" name="K"/>
          <p:cNvSpPr/>
          <p:nvPr/>
        </p:nvSpPr>
        <p:spPr>
          <a:xfrm>
            <a:off x="9035186" y="3017520"/>
            <a:ext cx="1198778" cy="320040"/>
          </a:xfrm>
          <a:prstGeom prst="roundRect">
            <a:avLst>
              <a:gd name="adj" fmla="val 14000"/>
            </a:avLst>
          </a:prstGeom>
          <a:solidFill>
            <a:srgbClr val="F7F8FA"/>
          </a:solidFill>
          <a:ln>
            <a:noFill/>
          </a:ln>
        </p:spPr>
      </p:sp>
      <p:pic>
        <p:nvPicPr>
          <p:cNvPr id="573" name="G"/>
          <p:cNvPicPr>
            <a:picLocks noChangeAspect="1"/>
          </p:cNvPicPr>
          <p:nvPr/>
        </p:nvPicPr>
        <p:blipFill>
          <a:blip r:embed="rIdM13"/>
          <a:stretch>
            <a:fillRect/>
          </a:stretch>
        </p:blipFill>
        <p:spPr>
          <a:xfrm>
            <a:off x="9099194" y="3063240"/>
            <a:ext cx="118872" cy="118872"/>
          </a:xfrm>
          <a:prstGeom prst="rect">
            <a:avLst/>
          </a:prstGeom>
        </p:spPr>
      </p:pic>
      <p:sp>
        <p:nvSpPr>
          <p:cNvPr id="574" name="T"/>
          <p:cNvSpPr txBox="1"/>
          <p:nvPr/>
        </p:nvSpPr>
        <p:spPr>
          <a:xfrm>
            <a:off x="9254642" y="3035808"/>
            <a:ext cx="958778"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±60</a:t>
            </a:r>
            <a:endParaRPr lang="id-ID" sz="950"/>
          </a:p>
        </p:txBody>
      </p:sp>
      <p:sp>
        <p:nvSpPr>
          <p:cNvPr id="575" name="T"/>
          <p:cNvSpPr txBox="1"/>
          <p:nvPr/>
        </p:nvSpPr>
        <p:spPr>
          <a:xfrm>
            <a:off x="9099194" y="3200400"/>
            <a:ext cx="1098778"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rumah terdampak</a:t>
            </a:r>
            <a:endParaRPr lang="id-ID" sz="620"/>
          </a:p>
        </p:txBody>
      </p:sp>
      <p:sp>
        <p:nvSpPr>
          <p:cNvPr id="576" name="K"/>
          <p:cNvSpPr/>
          <p:nvPr/>
        </p:nvSpPr>
        <p:spPr>
          <a:xfrm>
            <a:off x="10279684" y="3017520"/>
            <a:ext cx="1198778" cy="320040"/>
          </a:xfrm>
          <a:prstGeom prst="roundRect">
            <a:avLst>
              <a:gd name="adj" fmla="val 14000"/>
            </a:avLst>
          </a:prstGeom>
          <a:solidFill>
            <a:srgbClr val="F7F8FA"/>
          </a:solidFill>
          <a:ln>
            <a:noFill/>
          </a:ln>
        </p:spPr>
      </p:sp>
      <p:pic>
        <p:nvPicPr>
          <p:cNvPr id="577" name="G"/>
          <p:cNvPicPr>
            <a:picLocks noChangeAspect="1"/>
          </p:cNvPicPr>
          <p:nvPr/>
        </p:nvPicPr>
        <p:blipFill>
          <a:blip r:embed="rIdM9"/>
          <a:stretch>
            <a:fillRect/>
          </a:stretch>
        </p:blipFill>
        <p:spPr>
          <a:xfrm>
            <a:off x="10343692" y="3063240"/>
            <a:ext cx="118872" cy="118872"/>
          </a:xfrm>
          <a:prstGeom prst="rect">
            <a:avLst/>
          </a:prstGeom>
        </p:spPr>
      </p:pic>
      <p:sp>
        <p:nvSpPr>
          <p:cNvPr id="578" name="T"/>
          <p:cNvSpPr txBox="1"/>
          <p:nvPr/>
        </p:nvSpPr>
        <p:spPr>
          <a:xfrm>
            <a:off x="10499140" y="3035808"/>
            <a:ext cx="958778"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±81</a:t>
            </a:r>
            <a:endParaRPr lang="id-ID" sz="950"/>
          </a:p>
        </p:txBody>
      </p:sp>
      <p:sp>
        <p:nvSpPr>
          <p:cNvPr id="579" name="T"/>
          <p:cNvSpPr txBox="1"/>
          <p:nvPr/>
        </p:nvSpPr>
        <p:spPr>
          <a:xfrm>
            <a:off x="10343692" y="3200400"/>
            <a:ext cx="1098778"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580" name="K"/>
          <p:cNvSpPr/>
          <p:nvPr/>
        </p:nvSpPr>
        <p:spPr>
          <a:xfrm>
            <a:off x="7589520" y="3383280"/>
            <a:ext cx="146304" cy="146304"/>
          </a:xfrm>
          <a:prstGeom prst="ellipse">
            <a:avLst/>
          </a:prstGeom>
          <a:solidFill>
            <a:srgbClr val="D9600B"/>
          </a:solidFill>
          <a:ln>
            <a:noFill/>
          </a:ln>
        </p:spPr>
      </p:sp>
      <p:pic>
        <p:nvPicPr>
          <p:cNvPr id="581" name="G"/>
          <p:cNvPicPr>
            <a:picLocks noChangeAspect="1"/>
          </p:cNvPicPr>
          <p:nvPr/>
        </p:nvPicPr>
        <p:blipFill>
          <a:blip r:embed="rIdM2"/>
          <a:stretch>
            <a:fillRect/>
          </a:stretch>
        </p:blipFill>
        <p:spPr>
          <a:xfrm>
            <a:off x="7615854" y="3409614"/>
            <a:ext cx="93634" cy="93634"/>
          </a:xfrm>
          <a:prstGeom prst="rect">
            <a:avLst/>
          </a:prstGeom>
        </p:spPr>
      </p:pic>
      <p:sp>
        <p:nvSpPr>
          <p:cNvPr id="582" name="T"/>
          <p:cNvSpPr txBox="1"/>
          <p:nvPr/>
        </p:nvSpPr>
        <p:spPr>
          <a:xfrm>
            <a:off x="7790688" y="3364992"/>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Kota Subulussalam</a:t>
            </a:r>
            <a:r>
              <a:rPr lang="id-ID" sz="760" dirty="0">
                <a:solidFill>
                  <a:srgbClr val="6B7280"/>
                </a:solidFill>
                <a:latin typeface="Roboto"/>
                <a:ea typeface="Roboto"/>
                <a:cs typeface="Roboto"/>
              </a:rPr>
              <a:t>   Laporan pertama 26 Okt</a:t>
            </a:r>
            <a:endParaRPr lang="id-ID" sz="760"/>
          </a:p>
        </p:txBody>
      </p:sp>
      <p:sp>
        <p:nvSpPr>
          <p:cNvPr id="583" name="K"/>
          <p:cNvSpPr/>
          <p:nvPr/>
        </p:nvSpPr>
        <p:spPr>
          <a:xfrm>
            <a:off x="7790688" y="3557016"/>
            <a:ext cx="1798167" cy="320040"/>
          </a:xfrm>
          <a:prstGeom prst="roundRect">
            <a:avLst>
              <a:gd name="adj" fmla="val 14000"/>
            </a:avLst>
          </a:prstGeom>
          <a:solidFill>
            <a:srgbClr val="F7F8FA"/>
          </a:solidFill>
          <a:ln>
            <a:noFill/>
          </a:ln>
        </p:spPr>
      </p:sp>
      <p:pic>
        <p:nvPicPr>
          <p:cNvPr id="584" name="G"/>
          <p:cNvPicPr>
            <a:picLocks noChangeAspect="1"/>
          </p:cNvPicPr>
          <p:nvPr/>
        </p:nvPicPr>
        <p:blipFill>
          <a:blip r:embed="rIdM13"/>
          <a:stretch>
            <a:fillRect/>
          </a:stretch>
        </p:blipFill>
        <p:spPr>
          <a:xfrm>
            <a:off x="7854696" y="3602736"/>
            <a:ext cx="118872" cy="118872"/>
          </a:xfrm>
          <a:prstGeom prst="rect">
            <a:avLst/>
          </a:prstGeom>
        </p:spPr>
      </p:pic>
      <p:sp>
        <p:nvSpPr>
          <p:cNvPr id="585" name="T"/>
          <p:cNvSpPr txBox="1"/>
          <p:nvPr/>
        </p:nvSpPr>
        <p:spPr>
          <a:xfrm>
            <a:off x="8010144" y="3575304"/>
            <a:ext cx="1558167"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±2.245</a:t>
            </a:r>
            <a:endParaRPr lang="id-ID" sz="950"/>
          </a:p>
        </p:txBody>
      </p:sp>
      <p:sp>
        <p:nvSpPr>
          <p:cNvPr id="586" name="T"/>
          <p:cNvSpPr txBox="1"/>
          <p:nvPr/>
        </p:nvSpPr>
        <p:spPr>
          <a:xfrm>
            <a:off x="7854696" y="3739896"/>
            <a:ext cx="1698167"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rumah terdampak</a:t>
            </a:r>
            <a:endParaRPr lang="id-ID" sz="620"/>
          </a:p>
        </p:txBody>
      </p:sp>
      <p:sp>
        <p:nvSpPr>
          <p:cNvPr id="587" name="K"/>
          <p:cNvSpPr/>
          <p:nvPr/>
        </p:nvSpPr>
        <p:spPr>
          <a:xfrm>
            <a:off x="9634575" y="3557016"/>
            <a:ext cx="1798167" cy="320040"/>
          </a:xfrm>
          <a:prstGeom prst="roundRect">
            <a:avLst>
              <a:gd name="adj" fmla="val 14000"/>
            </a:avLst>
          </a:prstGeom>
          <a:solidFill>
            <a:srgbClr val="F7F8FA"/>
          </a:solidFill>
          <a:ln>
            <a:noFill/>
          </a:ln>
        </p:spPr>
      </p:sp>
      <p:pic>
        <p:nvPicPr>
          <p:cNvPr id="588" name="G"/>
          <p:cNvPicPr>
            <a:picLocks noChangeAspect="1"/>
          </p:cNvPicPr>
          <p:nvPr/>
        </p:nvPicPr>
        <p:blipFill>
          <a:blip r:embed="rIdM9"/>
          <a:stretch>
            <a:fillRect/>
          </a:stretch>
        </p:blipFill>
        <p:spPr>
          <a:xfrm>
            <a:off x="9698583" y="3602736"/>
            <a:ext cx="118872" cy="118872"/>
          </a:xfrm>
          <a:prstGeom prst="rect">
            <a:avLst/>
          </a:prstGeom>
        </p:spPr>
      </p:pic>
      <p:sp>
        <p:nvSpPr>
          <p:cNvPr id="589" name="T"/>
          <p:cNvSpPr txBox="1"/>
          <p:nvPr/>
        </p:nvSpPr>
        <p:spPr>
          <a:xfrm>
            <a:off x="9854031" y="3575304"/>
            <a:ext cx="1558167"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±2.245</a:t>
            </a:r>
            <a:endParaRPr lang="id-ID" sz="950"/>
          </a:p>
        </p:txBody>
      </p:sp>
      <p:sp>
        <p:nvSpPr>
          <p:cNvPr id="590" name="T"/>
          <p:cNvSpPr txBox="1"/>
          <p:nvPr/>
        </p:nvSpPr>
        <p:spPr>
          <a:xfrm>
            <a:off x="9698583" y="3739896"/>
            <a:ext cx="1698167"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591" name="K"/>
          <p:cNvSpPr/>
          <p:nvPr/>
        </p:nvSpPr>
        <p:spPr>
          <a:xfrm>
            <a:off x="7589520" y="3922776"/>
            <a:ext cx="146304" cy="146304"/>
          </a:xfrm>
          <a:prstGeom prst="ellipse">
            <a:avLst/>
          </a:prstGeom>
          <a:solidFill>
            <a:srgbClr val="051C2C"/>
          </a:solidFill>
          <a:ln>
            <a:noFill/>
          </a:ln>
        </p:spPr>
      </p:sp>
      <p:pic>
        <p:nvPicPr>
          <p:cNvPr id="592" name="G"/>
          <p:cNvPicPr>
            <a:picLocks noChangeAspect="1"/>
          </p:cNvPicPr>
          <p:nvPr/>
        </p:nvPicPr>
        <p:blipFill>
          <a:blip r:embed="rIdM5"/>
          <a:stretch>
            <a:fillRect/>
          </a:stretch>
        </p:blipFill>
        <p:spPr>
          <a:xfrm>
            <a:off x="7615854" y="3949110"/>
            <a:ext cx="93634" cy="93634"/>
          </a:xfrm>
          <a:prstGeom prst="rect">
            <a:avLst/>
          </a:prstGeom>
        </p:spPr>
      </p:pic>
      <p:sp>
        <p:nvSpPr>
          <p:cNvPr id="593" name="T"/>
          <p:cNvSpPr txBox="1"/>
          <p:nvPr/>
        </p:nvSpPr>
        <p:spPr>
          <a:xfrm>
            <a:off x="7790688" y="3904488"/>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Mandailing Natal</a:t>
            </a:r>
            <a:r>
              <a:rPr lang="id-ID" sz="760" dirty="0">
                <a:solidFill>
                  <a:srgbClr val="6B7280"/>
                </a:solidFill>
                <a:latin typeface="Roboto"/>
                <a:ea typeface="Roboto"/>
                <a:cs typeface="Roboto"/>
              </a:rPr>
              <a:t>   Laporan pertama 28 Okt</a:t>
            </a:r>
            <a:endParaRPr lang="id-ID" sz="760"/>
          </a:p>
        </p:txBody>
      </p:sp>
      <p:sp>
        <p:nvSpPr>
          <p:cNvPr id="594" name="K"/>
          <p:cNvSpPr/>
          <p:nvPr/>
        </p:nvSpPr>
        <p:spPr>
          <a:xfrm>
            <a:off x="10410842" y="3913632"/>
            <a:ext cx="1049332" cy="164592"/>
          </a:xfrm>
          <a:prstGeom prst="roundRect">
            <a:avLst>
              <a:gd name="adj" fmla="val 50000"/>
            </a:avLst>
          </a:prstGeom>
          <a:solidFill>
            <a:srgbClr val="E6EAF0"/>
          </a:solidFill>
          <a:ln>
            <a:noFill/>
          </a:ln>
        </p:spPr>
      </p:sp>
      <p:pic>
        <p:nvPicPr>
          <p:cNvPr id="595" name="G"/>
          <p:cNvPicPr>
            <a:picLocks noChangeAspect="1"/>
          </p:cNvPicPr>
          <p:nvPr/>
        </p:nvPicPr>
        <p:blipFill>
          <a:blip r:embed="rIdM14"/>
          <a:stretch>
            <a:fillRect/>
          </a:stretch>
        </p:blipFill>
        <p:spPr>
          <a:xfrm>
            <a:off x="10468449" y="3946550"/>
            <a:ext cx="98755" cy="98755"/>
          </a:xfrm>
          <a:prstGeom prst="rect">
            <a:avLst/>
          </a:prstGeom>
        </p:spPr>
      </p:pic>
      <p:sp>
        <p:nvSpPr>
          <p:cNvPr id="596" name="T"/>
          <p:cNvSpPr txBox="1"/>
          <p:nvPr/>
        </p:nvSpPr>
        <p:spPr>
          <a:xfrm>
            <a:off x="10567204" y="3913632"/>
            <a:ext cx="892970" cy="164592"/>
          </a:xfrm>
          <a:prstGeom prst="rect">
            <a:avLst/>
          </a:prstGeom>
          <a:noFill/>
        </p:spPr>
        <p:txBody>
          <a:bodyPr wrap="none" lIns="0" tIns="0" rIns="0" bIns="0" anchor="ctr"/>
          <a:lstStyle/>
          <a:p>
            <a:pPr algn="ctr">
              <a:buNone/>
            </a:pPr>
            <a:r>
              <a:rPr lang="id-ID" sz="700" b="1" dirty="0">
                <a:solidFill>
                  <a:srgbClr val="051C2C"/>
                </a:solidFill>
                <a:latin typeface="Roboto"/>
                <a:ea typeface="Roboto"/>
                <a:cs typeface="Roboto"/>
              </a:rPr>
              <a:t>Banjir sudah surut</a:t>
            </a:r>
            <a:endParaRPr lang="id-ID" sz="700"/>
          </a:p>
        </p:txBody>
      </p:sp>
      <p:sp>
        <p:nvSpPr>
          <p:cNvPr id="597" name="K"/>
          <p:cNvSpPr/>
          <p:nvPr/>
        </p:nvSpPr>
        <p:spPr>
          <a:xfrm>
            <a:off x="7790688" y="4096512"/>
            <a:ext cx="1798167" cy="320040"/>
          </a:xfrm>
          <a:prstGeom prst="roundRect">
            <a:avLst>
              <a:gd name="adj" fmla="val 14000"/>
            </a:avLst>
          </a:prstGeom>
          <a:solidFill>
            <a:srgbClr val="F7F8FA"/>
          </a:solidFill>
          <a:ln>
            <a:noFill/>
          </a:ln>
        </p:spPr>
      </p:sp>
      <p:pic>
        <p:nvPicPr>
          <p:cNvPr id="598" name="G"/>
          <p:cNvPicPr>
            <a:picLocks noChangeAspect="1"/>
          </p:cNvPicPr>
          <p:nvPr/>
        </p:nvPicPr>
        <p:blipFill>
          <a:blip r:embed="rIdM13"/>
          <a:stretch>
            <a:fillRect/>
          </a:stretch>
        </p:blipFill>
        <p:spPr>
          <a:xfrm>
            <a:off x="7854696" y="4142232"/>
            <a:ext cx="118872" cy="118872"/>
          </a:xfrm>
          <a:prstGeom prst="rect">
            <a:avLst/>
          </a:prstGeom>
        </p:spPr>
      </p:pic>
      <p:sp>
        <p:nvSpPr>
          <p:cNvPr id="599" name="T"/>
          <p:cNvSpPr txBox="1"/>
          <p:nvPr/>
        </p:nvSpPr>
        <p:spPr>
          <a:xfrm>
            <a:off x="8010144" y="4114800"/>
            <a:ext cx="1558167"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±287</a:t>
            </a:r>
            <a:endParaRPr lang="id-ID" sz="950"/>
          </a:p>
        </p:txBody>
      </p:sp>
      <p:sp>
        <p:nvSpPr>
          <p:cNvPr id="600" name="T"/>
          <p:cNvSpPr txBox="1"/>
          <p:nvPr/>
        </p:nvSpPr>
        <p:spPr>
          <a:xfrm>
            <a:off x="7854696" y="4279392"/>
            <a:ext cx="1698167"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rumah terdampak</a:t>
            </a:r>
            <a:endParaRPr lang="id-ID" sz="620"/>
          </a:p>
        </p:txBody>
      </p:sp>
      <p:sp>
        <p:nvSpPr>
          <p:cNvPr id="601" name="K"/>
          <p:cNvSpPr/>
          <p:nvPr/>
        </p:nvSpPr>
        <p:spPr>
          <a:xfrm>
            <a:off x="9634575" y="4096512"/>
            <a:ext cx="1798167" cy="320040"/>
          </a:xfrm>
          <a:prstGeom prst="roundRect">
            <a:avLst>
              <a:gd name="adj" fmla="val 14000"/>
            </a:avLst>
          </a:prstGeom>
          <a:solidFill>
            <a:srgbClr val="F7F8FA"/>
          </a:solidFill>
          <a:ln>
            <a:noFill/>
          </a:ln>
        </p:spPr>
      </p:sp>
      <p:pic>
        <p:nvPicPr>
          <p:cNvPr id="602" name="G"/>
          <p:cNvPicPr>
            <a:picLocks noChangeAspect="1"/>
          </p:cNvPicPr>
          <p:nvPr/>
        </p:nvPicPr>
        <p:blipFill>
          <a:blip r:embed="rIdM9"/>
          <a:stretch>
            <a:fillRect/>
          </a:stretch>
        </p:blipFill>
        <p:spPr>
          <a:xfrm>
            <a:off x="9698583" y="4142232"/>
            <a:ext cx="118872" cy="118872"/>
          </a:xfrm>
          <a:prstGeom prst="rect">
            <a:avLst/>
          </a:prstGeom>
        </p:spPr>
      </p:pic>
      <p:sp>
        <p:nvSpPr>
          <p:cNvPr id="603" name="T"/>
          <p:cNvSpPr txBox="1"/>
          <p:nvPr/>
        </p:nvSpPr>
        <p:spPr>
          <a:xfrm>
            <a:off x="9854031" y="4114800"/>
            <a:ext cx="1558167"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±287</a:t>
            </a:r>
            <a:endParaRPr lang="id-ID" sz="950"/>
          </a:p>
        </p:txBody>
      </p:sp>
      <p:sp>
        <p:nvSpPr>
          <p:cNvPr id="604" name="T"/>
          <p:cNvSpPr txBox="1"/>
          <p:nvPr/>
        </p:nvSpPr>
        <p:spPr>
          <a:xfrm>
            <a:off x="9698583" y="4279392"/>
            <a:ext cx="1698167"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605" name="K"/>
          <p:cNvSpPr/>
          <p:nvPr/>
        </p:nvSpPr>
        <p:spPr>
          <a:xfrm>
            <a:off x="7589520" y="4462272"/>
            <a:ext cx="146304" cy="146304"/>
          </a:xfrm>
          <a:prstGeom prst="ellipse">
            <a:avLst/>
          </a:prstGeom>
          <a:solidFill>
            <a:srgbClr val="051C2C"/>
          </a:solidFill>
          <a:ln>
            <a:noFill/>
          </a:ln>
        </p:spPr>
      </p:sp>
      <p:pic>
        <p:nvPicPr>
          <p:cNvPr id="606" name="G"/>
          <p:cNvPicPr>
            <a:picLocks noChangeAspect="1"/>
          </p:cNvPicPr>
          <p:nvPr/>
        </p:nvPicPr>
        <p:blipFill>
          <a:blip r:embed="rIdM5"/>
          <a:stretch>
            <a:fillRect/>
          </a:stretch>
        </p:blipFill>
        <p:spPr>
          <a:xfrm>
            <a:off x="7615854" y="4488606"/>
            <a:ext cx="93634" cy="93634"/>
          </a:xfrm>
          <a:prstGeom prst="rect">
            <a:avLst/>
          </a:prstGeom>
        </p:spPr>
      </p:pic>
      <p:sp>
        <p:nvSpPr>
          <p:cNvPr id="607" name="T"/>
          <p:cNvSpPr txBox="1"/>
          <p:nvPr/>
        </p:nvSpPr>
        <p:spPr>
          <a:xfrm>
            <a:off x="7790688" y="4443984"/>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Sumatera Utara</a:t>
            </a:r>
            <a:r>
              <a:rPr lang="id-ID" sz="760" dirty="0">
                <a:solidFill>
                  <a:srgbClr val="1A1A1A"/>
                </a:solidFill>
                <a:latin typeface="Roboto"/>
                <a:ea typeface="Roboto"/>
                <a:cs typeface="Roboto"/>
              </a:rPr>
              <a:t>, Deli Serdang</a:t>
            </a:r>
            <a:r>
              <a:rPr lang="id-ID" sz="760" dirty="0">
                <a:solidFill>
                  <a:srgbClr val="6B7280"/>
                </a:solidFill>
                <a:latin typeface="Roboto"/>
                <a:ea typeface="Roboto"/>
                <a:cs typeface="Roboto"/>
              </a:rPr>
              <a:t>   Laporan pertama 27 Okt</a:t>
            </a:r>
            <a:endParaRPr lang="id-ID" sz="760"/>
          </a:p>
        </p:txBody>
      </p:sp>
      <p:sp>
        <p:nvSpPr>
          <p:cNvPr id="608" name="K"/>
          <p:cNvSpPr/>
          <p:nvPr/>
        </p:nvSpPr>
        <p:spPr>
          <a:xfrm>
            <a:off x="7790688" y="4636008"/>
            <a:ext cx="1798167" cy="320040"/>
          </a:xfrm>
          <a:prstGeom prst="roundRect">
            <a:avLst>
              <a:gd name="adj" fmla="val 14000"/>
            </a:avLst>
          </a:prstGeom>
          <a:solidFill>
            <a:srgbClr val="F7F8FA"/>
          </a:solidFill>
          <a:ln>
            <a:noFill/>
          </a:ln>
        </p:spPr>
      </p:sp>
      <p:pic>
        <p:nvPicPr>
          <p:cNvPr id="609" name="G"/>
          <p:cNvPicPr>
            <a:picLocks noChangeAspect="1"/>
          </p:cNvPicPr>
          <p:nvPr/>
        </p:nvPicPr>
        <p:blipFill>
          <a:blip r:embed="rIdM13"/>
          <a:stretch>
            <a:fillRect/>
          </a:stretch>
        </p:blipFill>
        <p:spPr>
          <a:xfrm>
            <a:off x="7854696" y="4681728"/>
            <a:ext cx="118872" cy="118872"/>
          </a:xfrm>
          <a:prstGeom prst="rect">
            <a:avLst/>
          </a:prstGeom>
        </p:spPr>
      </p:pic>
      <p:sp>
        <p:nvSpPr>
          <p:cNvPr id="610" name="T"/>
          <p:cNvSpPr txBox="1"/>
          <p:nvPr/>
        </p:nvSpPr>
        <p:spPr>
          <a:xfrm>
            <a:off x="8010144" y="4654296"/>
            <a:ext cx="1558167"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±7.327</a:t>
            </a:r>
            <a:endParaRPr lang="id-ID" sz="950"/>
          </a:p>
        </p:txBody>
      </p:sp>
      <p:sp>
        <p:nvSpPr>
          <p:cNvPr id="611" name="T"/>
          <p:cNvSpPr txBox="1"/>
          <p:nvPr/>
        </p:nvSpPr>
        <p:spPr>
          <a:xfrm>
            <a:off x="7854696" y="4818888"/>
            <a:ext cx="1698167"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rumah terdampak</a:t>
            </a:r>
            <a:endParaRPr lang="id-ID" sz="620"/>
          </a:p>
        </p:txBody>
      </p:sp>
      <p:sp>
        <p:nvSpPr>
          <p:cNvPr id="612" name="K"/>
          <p:cNvSpPr/>
          <p:nvPr/>
        </p:nvSpPr>
        <p:spPr>
          <a:xfrm>
            <a:off x="9634575" y="4636008"/>
            <a:ext cx="1798167" cy="320040"/>
          </a:xfrm>
          <a:prstGeom prst="roundRect">
            <a:avLst>
              <a:gd name="adj" fmla="val 14000"/>
            </a:avLst>
          </a:prstGeom>
          <a:solidFill>
            <a:srgbClr val="F7F8FA"/>
          </a:solidFill>
          <a:ln>
            <a:noFill/>
          </a:ln>
        </p:spPr>
      </p:sp>
      <p:pic>
        <p:nvPicPr>
          <p:cNvPr id="613" name="G"/>
          <p:cNvPicPr>
            <a:picLocks noChangeAspect="1"/>
          </p:cNvPicPr>
          <p:nvPr/>
        </p:nvPicPr>
        <p:blipFill>
          <a:blip r:embed="rIdM9"/>
          <a:stretch>
            <a:fillRect/>
          </a:stretch>
        </p:blipFill>
        <p:spPr>
          <a:xfrm>
            <a:off x="9698583" y="4681728"/>
            <a:ext cx="118872" cy="118872"/>
          </a:xfrm>
          <a:prstGeom prst="rect">
            <a:avLst/>
          </a:prstGeom>
        </p:spPr>
      </p:pic>
      <p:sp>
        <p:nvSpPr>
          <p:cNvPr id="614" name="T"/>
          <p:cNvSpPr txBox="1"/>
          <p:nvPr/>
        </p:nvSpPr>
        <p:spPr>
          <a:xfrm>
            <a:off x="9854031" y="4654296"/>
            <a:ext cx="1558167" cy="164592"/>
          </a:xfrm>
          <a:prstGeom prst="rect">
            <a:avLst/>
          </a:prstGeom>
          <a:noFill/>
        </p:spPr>
        <p:txBody>
          <a:bodyPr wrap="none" lIns="0" tIns="0" rIns="0" bIns="0" anchor="ctr"/>
          <a:lstStyle/>
          <a:p>
            <a:pPr algn="l">
              <a:buNone/>
            </a:pPr>
            <a:r>
              <a:rPr lang="id-ID" sz="950" b="1" dirty="0">
                <a:solidFill>
                  <a:srgbClr val="5B7A99"/>
                </a:solidFill>
                <a:latin typeface="Roboto"/>
                <a:ea typeface="Roboto"/>
                <a:cs typeface="Roboto"/>
              </a:rPr>
              <a:t>±7.615</a:t>
            </a:r>
            <a:endParaRPr lang="id-ID" sz="950"/>
          </a:p>
        </p:txBody>
      </p:sp>
      <p:sp>
        <p:nvSpPr>
          <p:cNvPr id="615" name="T"/>
          <p:cNvSpPr txBox="1"/>
          <p:nvPr/>
        </p:nvSpPr>
        <p:spPr>
          <a:xfrm>
            <a:off x="9698583" y="4818888"/>
            <a:ext cx="1698167" cy="118872"/>
          </a:xfrm>
          <a:prstGeom prst="rect">
            <a:avLst/>
          </a:prstGeom>
          <a:noFill/>
        </p:spPr>
        <p:txBody>
          <a:bodyPr wrap="none" lIns="0" tIns="0" rIns="0" bIns="0" anchor="ctr"/>
          <a:lstStyle/>
          <a:p>
            <a:pPr algn="l">
              <a:buNone/>
            </a:pPr>
            <a:r>
              <a:rPr lang="id-ID" sz="700" dirty="0">
                <a:solidFill>
                  <a:srgbClr val="2E3440"/>
                </a:solidFill>
                <a:latin typeface="Roboto"/>
                <a:ea typeface="Roboto"/>
                <a:cs typeface="Roboto"/>
              </a:rPr>
              <a:t>KK terdampak</a:t>
            </a:r>
            <a:endParaRPr lang="id-ID" sz="620"/>
          </a:p>
        </p:txBody>
      </p:sp>
      <p:sp>
        <p:nvSpPr>
          <p:cNvPr id="616" name="K"/>
          <p:cNvSpPr/>
          <p:nvPr/>
        </p:nvSpPr>
        <p:spPr>
          <a:xfrm>
            <a:off x="7571232" y="5038344"/>
            <a:ext cx="3907231" cy="182880"/>
          </a:xfrm>
          <a:prstGeom prst="roundRect">
            <a:avLst>
              <a:gd name="adj" fmla="val 30000"/>
            </a:avLst>
          </a:prstGeom>
          <a:solidFill>
            <a:srgbClr val="F3F5F8"/>
          </a:solidFill>
          <a:ln>
            <a:noFill/>
          </a:ln>
        </p:spPr>
      </p:sp>
      <p:sp>
        <p:nvSpPr>
          <p:cNvPr id="617" name="K"/>
          <p:cNvSpPr/>
          <p:nvPr/>
        </p:nvSpPr>
        <p:spPr>
          <a:xfrm>
            <a:off x="7616952" y="5056632"/>
            <a:ext cx="146304" cy="146304"/>
          </a:xfrm>
          <a:prstGeom prst="ellipse">
            <a:avLst/>
          </a:prstGeom>
          <a:solidFill>
            <a:srgbClr val="0E7490"/>
          </a:solidFill>
          <a:ln>
            <a:noFill/>
          </a:ln>
        </p:spPr>
      </p:sp>
      <p:pic>
        <p:nvPicPr>
          <p:cNvPr id="618" name="G"/>
          <p:cNvPicPr>
            <a:picLocks noChangeAspect="1"/>
          </p:cNvPicPr>
          <p:nvPr/>
        </p:nvPicPr>
        <p:blipFill>
          <a:blip r:embed="rIdM15"/>
          <a:stretch>
            <a:fillRect/>
          </a:stretch>
        </p:blipFill>
        <p:spPr>
          <a:xfrm>
            <a:off x="7644384" y="5084064"/>
            <a:ext cx="91440" cy="91440"/>
          </a:xfrm>
          <a:prstGeom prst="rect">
            <a:avLst/>
          </a:prstGeom>
        </p:spPr>
      </p:pic>
      <p:sp>
        <p:nvSpPr>
          <p:cNvPr id="622" name="T"/>
          <p:cNvSpPr txBox="1"/>
          <p:nvPr/>
        </p:nvSpPr>
        <p:spPr>
          <a:xfrm>
            <a:off x="7808976" y="5038344"/>
            <a:ext cx="1600000" cy="182880"/>
          </a:xfrm>
          <a:prstGeom prst="rect">
            <a:avLst/>
          </a:prstGeom>
          <a:noFill/>
        </p:spPr>
        <p:txBody>
          <a:bodyPr wrap="none" lIns="0" tIns="0" rIns="0" bIns="0" anchor="ctr"/>
          <a:lstStyle/>
          <a:p>
            <a:pPr algn="l">
              <a:buNone/>
            </a:pPr>
            <a:r>
              <a:rPr lang="id-ID" sz="820" b="1" dirty="0">
                <a:solidFill>
                  <a:srgbClr val="1A1A1A"/>
                </a:solidFill>
                <a:latin typeface="Roboto"/>
                <a:ea typeface="Roboto"/>
                <a:cs typeface="Roboto"/>
              </a:rPr>
              <a:t>Angin kencang</a:t>
            </a:r>
            <a:endParaRPr lang="id-ID" sz="820"/>
          </a:p>
        </p:txBody>
      </p:sp>
      <p:sp>
        <p:nvSpPr>
          <p:cNvPr id="619" name="K"/>
          <p:cNvSpPr/>
          <p:nvPr/>
        </p:nvSpPr>
        <p:spPr>
          <a:xfrm>
            <a:off x="8703232" y="5065776"/>
            <a:ext cx="669214" cy="128016"/>
          </a:xfrm>
          <a:prstGeom prst="roundRect">
            <a:avLst>
              <a:gd name="adj" fmla="val 50000"/>
            </a:avLst>
          </a:prstGeom>
          <a:solidFill>
            <a:srgbClr val="D5EEF2"/>
          </a:solidFill>
          <a:ln>
            <a:noFill/>
          </a:ln>
        </p:spPr>
      </p:sp>
      <p:pic>
        <p:nvPicPr>
          <p:cNvPr id="620" name="G"/>
          <p:cNvPicPr>
            <a:picLocks noChangeAspect="1"/>
          </p:cNvPicPr>
          <p:nvPr/>
        </p:nvPicPr>
        <p:blipFill>
          <a:blip r:embed="rIdM16"/>
          <a:stretch>
            <a:fillRect/>
          </a:stretch>
        </p:blipFill>
        <p:spPr>
          <a:xfrm>
            <a:off x="8748037" y="5091379"/>
            <a:ext cx="76809" cy="76809"/>
          </a:xfrm>
          <a:prstGeom prst="rect">
            <a:avLst/>
          </a:prstGeom>
        </p:spPr>
      </p:pic>
      <p:sp>
        <p:nvSpPr>
          <p:cNvPr id="621" name="T"/>
          <p:cNvSpPr txBox="1"/>
          <p:nvPr/>
        </p:nvSpPr>
        <p:spPr>
          <a:xfrm>
            <a:off x="8824847" y="5065776"/>
            <a:ext cx="547599" cy="128016"/>
          </a:xfrm>
          <a:prstGeom prst="rect">
            <a:avLst/>
          </a:prstGeom>
          <a:noFill/>
        </p:spPr>
        <p:txBody>
          <a:bodyPr wrap="none" lIns="0" tIns="0" rIns="0" bIns="0" anchor="ctr"/>
          <a:lstStyle/>
          <a:p>
            <a:pPr algn="ctr">
              <a:buNone/>
            </a:pPr>
            <a:r>
              <a:rPr lang="id-ID" sz="700" b="1" dirty="0">
                <a:solidFill>
                  <a:srgbClr val="0E7490"/>
                </a:solidFill>
                <a:latin typeface="Roboto"/>
                <a:ea typeface="Roboto"/>
                <a:cs typeface="Roboto"/>
              </a:rPr>
              <a:t>2 kejadian</a:t>
            </a:r>
            <a:endParaRPr lang="id-ID" sz="700"/>
          </a:p>
        </p:txBody>
      </p:sp>
      <p:sp>
        <p:nvSpPr>
          <p:cNvPr id="623" name="K"/>
          <p:cNvSpPr/>
          <p:nvPr/>
        </p:nvSpPr>
        <p:spPr>
          <a:xfrm>
            <a:off x="7589520" y="5257800"/>
            <a:ext cx="146304" cy="146304"/>
          </a:xfrm>
          <a:prstGeom prst="ellipse">
            <a:avLst/>
          </a:prstGeom>
          <a:solidFill>
            <a:srgbClr val="051C2C"/>
          </a:solidFill>
          <a:ln>
            <a:noFill/>
          </a:ln>
        </p:spPr>
      </p:sp>
      <p:pic>
        <p:nvPicPr>
          <p:cNvPr id="624" name="G"/>
          <p:cNvPicPr>
            <a:picLocks noChangeAspect="1"/>
          </p:cNvPicPr>
          <p:nvPr/>
        </p:nvPicPr>
        <p:blipFill>
          <a:blip r:embed="rIdM5"/>
          <a:stretch>
            <a:fillRect/>
          </a:stretch>
        </p:blipFill>
        <p:spPr>
          <a:xfrm>
            <a:off x="7615854" y="5284134"/>
            <a:ext cx="93634" cy="93634"/>
          </a:xfrm>
          <a:prstGeom prst="rect">
            <a:avLst/>
          </a:prstGeom>
        </p:spPr>
      </p:pic>
      <p:sp>
        <p:nvSpPr>
          <p:cNvPr id="625" name="T"/>
          <p:cNvSpPr txBox="1"/>
          <p:nvPr/>
        </p:nvSpPr>
        <p:spPr>
          <a:xfrm>
            <a:off x="7790688" y="5239512"/>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Aceh</a:t>
            </a:r>
            <a:r>
              <a:rPr lang="id-ID" sz="760" dirty="0">
                <a:solidFill>
                  <a:srgbClr val="1A1A1A"/>
                </a:solidFill>
                <a:latin typeface="Roboto"/>
                <a:ea typeface="Roboto"/>
                <a:cs typeface="Roboto"/>
              </a:rPr>
              <a:t>, Gayo Lues</a:t>
            </a:r>
            <a:r>
              <a:rPr lang="id-ID" sz="760" dirty="0">
                <a:solidFill>
                  <a:srgbClr val="6B7280"/>
                </a:solidFill>
                <a:latin typeface="Roboto"/>
                <a:ea typeface="Roboto"/>
                <a:cs typeface="Roboto"/>
              </a:rPr>
              <a:t>   Laporan pertama 29 Okt</a:t>
            </a:r>
            <a:endParaRPr lang="id-ID" sz="760"/>
          </a:p>
        </p:txBody>
      </p:sp>
      <p:sp>
        <p:nvSpPr>
          <p:cNvPr id="626" name="K"/>
          <p:cNvSpPr/>
          <p:nvPr/>
        </p:nvSpPr>
        <p:spPr>
          <a:xfrm>
            <a:off x="10541042" y="5440680"/>
            <a:ext cx="919132" cy="164592"/>
          </a:xfrm>
          <a:prstGeom prst="roundRect">
            <a:avLst>
              <a:gd name="adj" fmla="val 50000"/>
            </a:avLst>
          </a:prstGeom>
          <a:solidFill>
            <a:srgbClr val="E6EAF0"/>
          </a:solidFill>
          <a:ln>
            <a:noFill/>
          </a:ln>
        </p:spPr>
      </p:sp>
      <p:pic>
        <p:nvPicPr>
          <p:cNvPr id="627" name="G"/>
          <p:cNvPicPr>
            <a:picLocks noChangeAspect="1"/>
          </p:cNvPicPr>
          <p:nvPr/>
        </p:nvPicPr>
        <p:blipFill>
          <a:blip r:embed="rIdM14"/>
          <a:stretch>
            <a:fillRect/>
          </a:stretch>
        </p:blipFill>
        <p:spPr>
          <a:xfrm>
            <a:off x="10598649" y="5473598"/>
            <a:ext cx="98755" cy="98755"/>
          </a:xfrm>
          <a:prstGeom prst="rect">
            <a:avLst/>
          </a:prstGeom>
        </p:spPr>
      </p:pic>
      <p:sp>
        <p:nvSpPr>
          <p:cNvPr id="628" name="T"/>
          <p:cNvSpPr txBox="1"/>
          <p:nvPr/>
        </p:nvSpPr>
        <p:spPr>
          <a:xfrm>
            <a:off x="10697404" y="5440680"/>
            <a:ext cx="762770" cy="164592"/>
          </a:xfrm>
          <a:prstGeom prst="rect">
            <a:avLst/>
          </a:prstGeom>
          <a:noFill/>
        </p:spPr>
        <p:txBody>
          <a:bodyPr wrap="none" lIns="0" tIns="0" rIns="0" bIns="0" anchor="ctr"/>
          <a:lstStyle/>
          <a:p>
            <a:pPr algn="ctr">
              <a:buNone/>
            </a:pPr>
            <a:r>
              <a:rPr lang="id-ID" sz="700" b="1" dirty="0">
                <a:solidFill>
                  <a:srgbClr val="051C2C"/>
                </a:solidFill>
                <a:latin typeface="Roboto"/>
                <a:ea typeface="Roboto"/>
                <a:cs typeface="Roboto"/>
              </a:rPr>
              <a:t>Air sudah surut</a:t>
            </a:r>
            <a:endParaRPr lang="id-ID" sz="700"/>
          </a:p>
        </p:txBody>
      </p:sp>
      <p:sp>
        <p:nvSpPr>
          <p:cNvPr id="629" name="K"/>
          <p:cNvSpPr/>
          <p:nvPr/>
        </p:nvSpPr>
        <p:spPr>
          <a:xfrm>
            <a:off x="9914245" y="5440680"/>
            <a:ext cx="571932" cy="164592"/>
          </a:xfrm>
          <a:prstGeom prst="roundRect">
            <a:avLst>
              <a:gd name="adj" fmla="val 50000"/>
            </a:avLst>
          </a:prstGeom>
          <a:solidFill>
            <a:srgbClr val="F7F8FA"/>
          </a:solidFill>
          <a:ln>
            <a:noFill/>
          </a:ln>
        </p:spPr>
      </p:sp>
      <p:pic>
        <p:nvPicPr>
          <p:cNvPr id="630" name="G"/>
          <p:cNvPicPr>
            <a:picLocks noChangeAspect="1"/>
          </p:cNvPicPr>
          <p:nvPr/>
        </p:nvPicPr>
        <p:blipFill>
          <a:blip r:embed="rIdM9"/>
          <a:stretch>
            <a:fillRect/>
          </a:stretch>
        </p:blipFill>
        <p:spPr>
          <a:xfrm>
            <a:off x="9971852" y="5473598"/>
            <a:ext cx="98755" cy="98755"/>
          </a:xfrm>
          <a:prstGeom prst="rect">
            <a:avLst/>
          </a:prstGeom>
        </p:spPr>
      </p:pic>
      <p:sp>
        <p:nvSpPr>
          <p:cNvPr id="631" name="T"/>
          <p:cNvSpPr txBox="1"/>
          <p:nvPr/>
        </p:nvSpPr>
        <p:spPr>
          <a:xfrm>
            <a:off x="10070607" y="5440680"/>
            <a:ext cx="4155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±370 KK</a:t>
            </a:r>
            <a:endParaRPr lang="id-ID" sz="700"/>
          </a:p>
        </p:txBody>
      </p:sp>
      <p:sp>
        <p:nvSpPr>
          <p:cNvPr id="632" name="K"/>
          <p:cNvSpPr/>
          <p:nvPr/>
        </p:nvSpPr>
        <p:spPr>
          <a:xfrm>
            <a:off x="8723248" y="5440680"/>
            <a:ext cx="1136132" cy="164592"/>
          </a:xfrm>
          <a:prstGeom prst="roundRect">
            <a:avLst>
              <a:gd name="adj" fmla="val 50000"/>
            </a:avLst>
          </a:prstGeom>
          <a:solidFill>
            <a:srgbClr val="F7F8FA"/>
          </a:solidFill>
          <a:ln>
            <a:noFill/>
          </a:ln>
        </p:spPr>
      </p:sp>
      <p:pic>
        <p:nvPicPr>
          <p:cNvPr id="633" name="G"/>
          <p:cNvPicPr>
            <a:picLocks noChangeAspect="1"/>
          </p:cNvPicPr>
          <p:nvPr/>
        </p:nvPicPr>
        <p:blipFill>
          <a:blip r:embed="rIdM13"/>
          <a:stretch>
            <a:fillRect/>
          </a:stretch>
        </p:blipFill>
        <p:spPr>
          <a:xfrm>
            <a:off x="8780855" y="5473598"/>
            <a:ext cx="98755" cy="98755"/>
          </a:xfrm>
          <a:prstGeom prst="rect">
            <a:avLst/>
          </a:prstGeom>
        </p:spPr>
      </p:pic>
      <p:sp>
        <p:nvSpPr>
          <p:cNvPr id="634" name="T"/>
          <p:cNvSpPr txBox="1"/>
          <p:nvPr/>
        </p:nvSpPr>
        <p:spPr>
          <a:xfrm>
            <a:off x="8879610" y="5440680"/>
            <a:ext cx="9797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±370 rumah terdampak</a:t>
            </a:r>
            <a:endParaRPr lang="id-ID" sz="700"/>
          </a:p>
        </p:txBody>
      </p:sp>
      <p:sp>
        <p:nvSpPr>
          <p:cNvPr id="635" name="K"/>
          <p:cNvSpPr/>
          <p:nvPr/>
        </p:nvSpPr>
        <p:spPr>
          <a:xfrm>
            <a:off x="7589520" y="5650992"/>
            <a:ext cx="146304" cy="146304"/>
          </a:xfrm>
          <a:prstGeom prst="ellipse">
            <a:avLst/>
          </a:prstGeom>
          <a:solidFill>
            <a:srgbClr val="D9600B"/>
          </a:solidFill>
          <a:ln>
            <a:noFill/>
          </a:ln>
        </p:spPr>
      </p:sp>
      <p:pic>
        <p:nvPicPr>
          <p:cNvPr id="636" name="G"/>
          <p:cNvPicPr>
            <a:picLocks noChangeAspect="1"/>
          </p:cNvPicPr>
          <p:nvPr/>
        </p:nvPicPr>
        <p:blipFill>
          <a:blip r:embed="rIdM2"/>
          <a:stretch>
            <a:fillRect/>
          </a:stretch>
        </p:blipFill>
        <p:spPr>
          <a:xfrm>
            <a:off x="7615854" y="5677326"/>
            <a:ext cx="93634" cy="93634"/>
          </a:xfrm>
          <a:prstGeom prst="rect">
            <a:avLst/>
          </a:prstGeom>
        </p:spPr>
      </p:pic>
      <p:sp>
        <p:nvSpPr>
          <p:cNvPr id="637" name="T"/>
          <p:cNvSpPr txBox="1"/>
          <p:nvPr/>
        </p:nvSpPr>
        <p:spPr>
          <a:xfrm>
            <a:off x="7790688" y="5632704"/>
            <a:ext cx="2286000" cy="182880"/>
          </a:xfrm>
          <a:prstGeom prst="rect">
            <a:avLst/>
          </a:prstGeom>
          <a:noFill/>
        </p:spPr>
        <p:txBody>
          <a:bodyPr wrap="none" lIns="0" tIns="0" rIns="0" bIns="0" anchor="ctr"/>
          <a:lstStyle/>
          <a:p>
            <a:pPr algn="l">
              <a:buNone/>
            </a:pPr>
            <a:r>
              <a:rPr lang="id-ID" sz="760" b="1" dirty="0">
                <a:solidFill>
                  <a:srgbClr val="1A1A1A"/>
                </a:solidFill>
                <a:latin typeface="Roboto"/>
                <a:ea typeface="Roboto"/>
                <a:cs typeface="Roboto"/>
              </a:rPr>
              <a:t>Kalimantan Selatan</a:t>
            </a:r>
            <a:r>
              <a:rPr lang="id-ID" sz="760" dirty="0">
                <a:solidFill>
                  <a:srgbClr val="1A1A1A"/>
                </a:solidFill>
                <a:latin typeface="Roboto"/>
                <a:ea typeface="Roboto"/>
                <a:cs typeface="Roboto"/>
              </a:rPr>
              <a:t>, Banjar</a:t>
            </a:r>
            <a:r>
              <a:rPr lang="id-ID" sz="760" dirty="0">
                <a:solidFill>
                  <a:srgbClr val="6B7280"/>
                </a:solidFill>
                <a:latin typeface="Roboto"/>
                <a:ea typeface="Roboto"/>
                <a:cs typeface="Roboto"/>
              </a:rPr>
              <a:t>   Laporan pertama 27 Okt</a:t>
            </a:r>
            <a:endParaRPr lang="id-ID" sz="760"/>
          </a:p>
        </p:txBody>
      </p:sp>
      <p:sp>
        <p:nvSpPr>
          <p:cNvPr id="638" name="K"/>
          <p:cNvSpPr/>
          <p:nvPr/>
        </p:nvSpPr>
        <p:spPr>
          <a:xfrm>
            <a:off x="10931642" y="5641848"/>
            <a:ext cx="528532" cy="164592"/>
          </a:xfrm>
          <a:prstGeom prst="roundRect">
            <a:avLst>
              <a:gd name="adj" fmla="val 50000"/>
            </a:avLst>
          </a:prstGeom>
          <a:solidFill>
            <a:srgbClr val="F7F8FA"/>
          </a:solidFill>
          <a:ln>
            <a:noFill/>
          </a:ln>
        </p:spPr>
      </p:sp>
      <p:pic>
        <p:nvPicPr>
          <p:cNvPr id="639" name="G"/>
          <p:cNvPicPr>
            <a:picLocks noChangeAspect="1"/>
          </p:cNvPicPr>
          <p:nvPr/>
        </p:nvPicPr>
        <p:blipFill>
          <a:blip r:embed="rIdM9"/>
          <a:stretch>
            <a:fillRect/>
          </a:stretch>
        </p:blipFill>
        <p:spPr>
          <a:xfrm>
            <a:off x="10989249" y="5674766"/>
            <a:ext cx="98755" cy="98755"/>
          </a:xfrm>
          <a:prstGeom prst="rect">
            <a:avLst/>
          </a:prstGeom>
        </p:spPr>
      </p:pic>
      <p:sp>
        <p:nvSpPr>
          <p:cNvPr id="640" name="T"/>
          <p:cNvSpPr txBox="1"/>
          <p:nvPr/>
        </p:nvSpPr>
        <p:spPr>
          <a:xfrm>
            <a:off x="11088004" y="5641848"/>
            <a:ext cx="372170" cy="164592"/>
          </a:xfrm>
          <a:prstGeom prst="rect">
            <a:avLst/>
          </a:prstGeom>
          <a:noFill/>
        </p:spPr>
        <p:txBody>
          <a:bodyPr wrap="none" lIns="0" tIns="0" rIns="0" bIns="0" anchor="ctr"/>
          <a:lstStyle/>
          <a:p>
            <a:pPr algn="ctr">
              <a:buNone/>
            </a:pPr>
            <a:r>
              <a:rPr lang="id-ID" sz="700" b="1" dirty="0">
                <a:solidFill>
                  <a:srgbClr val="1A1A1A"/>
                </a:solidFill>
                <a:latin typeface="Roboto"/>
                <a:ea typeface="Roboto"/>
                <a:cs typeface="Roboto"/>
              </a:rPr>
              <a:t>±45 KK</a:t>
            </a:r>
            <a:endParaRPr lang="id-ID" sz="700"/>
          </a:p>
        </p:txBody>
      </p:sp>
      <p:sp>
        <p:nvSpPr>
          <p:cNvPr id="648" name="T"/>
          <p:cNvSpPr txBox="1"/>
          <p:nvPr/>
        </p:nvSpPr>
        <p:spPr>
          <a:xfrm>
            <a:off x="7498080" y="5971032"/>
            <a:ext cx="868680" cy="182880"/>
          </a:xfrm>
          <a:prstGeom prst="rect">
            <a:avLst/>
          </a:prstGeom>
          <a:noFill/>
        </p:spPr>
        <p:txBody>
          <a:bodyPr wrap="square" lIns="0" tIns="0" rIns="0" bIns="0" anchor="ctr"/>
          <a:lstStyle/>
          <a:p>
            <a:pPr algn="l">
              <a:buNone/>
            </a:pPr>
            <a:r>
              <a:rPr lang="id-ID" sz="700" b="1" spc="100" dirty="0">
                <a:solidFill>
                  <a:srgbClr val="6B7280"/>
                </a:solidFill>
                <a:latin typeface="Roboto"/>
                <a:ea typeface="Roboto"/>
                <a:cs typeface="Roboto"/>
              </a:rPr>
              <a:t>KETERANGAN</a:t>
            </a:r>
            <a:endParaRPr lang="id-ID" sz="650"/>
          </a:p>
        </p:txBody>
      </p:sp>
      <p:sp>
        <p:nvSpPr>
          <p:cNvPr id="649" name="K"/>
          <p:cNvSpPr/>
          <p:nvPr/>
        </p:nvSpPr>
        <p:spPr>
          <a:xfrm>
            <a:off x="8412480" y="5998464"/>
            <a:ext cx="128016" cy="128016"/>
          </a:xfrm>
          <a:prstGeom prst="ellipse">
            <a:avLst/>
          </a:prstGeom>
          <a:solidFill>
            <a:srgbClr val="051C2C"/>
          </a:solidFill>
          <a:ln>
            <a:noFill/>
          </a:ln>
        </p:spPr>
      </p:sp>
      <p:pic>
        <p:nvPicPr>
          <p:cNvPr id="650" name="G"/>
          <p:cNvPicPr>
            <a:picLocks noChangeAspect="1"/>
          </p:cNvPicPr>
          <p:nvPr/>
        </p:nvPicPr>
        <p:blipFill>
          <a:blip r:embed="rIdM5"/>
          <a:stretch>
            <a:fillRect/>
          </a:stretch>
        </p:blipFill>
        <p:spPr>
          <a:xfrm>
            <a:off x="8439912" y="6025896"/>
            <a:ext cx="73152" cy="73152"/>
          </a:xfrm>
          <a:prstGeom prst="rect">
            <a:avLst/>
          </a:prstGeom>
        </p:spPr>
      </p:pic>
      <p:sp>
        <p:nvSpPr>
          <p:cNvPr id="651" name="T"/>
          <p:cNvSpPr txBox="1"/>
          <p:nvPr/>
        </p:nvSpPr>
        <p:spPr>
          <a:xfrm>
            <a:off x="8586216" y="5971032"/>
            <a:ext cx="1000000" cy="182880"/>
          </a:xfrm>
          <a:prstGeom prst="rect">
            <a:avLst/>
          </a:prstGeom>
          <a:noFill/>
        </p:spPr>
        <p:txBody>
          <a:bodyPr wrap="square" lIns="0" tIns="0" rIns="0" bIns="0" anchor="ctr"/>
          <a:lstStyle/>
          <a:p>
            <a:pPr algn="l">
              <a:buNone/>
            </a:pPr>
            <a:r>
              <a:rPr lang="id-ID" sz="700" dirty="0">
                <a:solidFill>
                  <a:srgbClr val="2E3440"/>
                </a:solidFill>
                <a:latin typeface="Roboto"/>
                <a:ea typeface="Roboto"/>
                <a:cs typeface="Roboto"/>
              </a:rPr>
              <a:t>selesai</a:t>
            </a:r>
            <a:endParaRPr lang="id-ID" sz="700"/>
          </a:p>
        </p:txBody>
      </p:sp>
      <p:sp>
        <p:nvSpPr>
          <p:cNvPr id="652" name="K"/>
          <p:cNvSpPr/>
          <p:nvPr/>
        </p:nvSpPr>
        <p:spPr>
          <a:xfrm>
            <a:off x="9189720" y="5998464"/>
            <a:ext cx="128016" cy="128016"/>
          </a:xfrm>
          <a:prstGeom prst="ellipse">
            <a:avLst/>
          </a:prstGeom>
          <a:solidFill>
            <a:srgbClr val="D9600B"/>
          </a:solidFill>
          <a:ln>
            <a:noFill/>
          </a:ln>
        </p:spPr>
      </p:sp>
      <p:pic>
        <p:nvPicPr>
          <p:cNvPr id="653" name="G"/>
          <p:cNvPicPr>
            <a:picLocks noChangeAspect="1"/>
          </p:cNvPicPr>
          <p:nvPr/>
        </p:nvPicPr>
        <p:blipFill>
          <a:blip r:embed="rIdM2"/>
          <a:stretch>
            <a:fillRect/>
          </a:stretch>
        </p:blipFill>
        <p:spPr>
          <a:xfrm>
            <a:off x="9217152" y="6025896"/>
            <a:ext cx="73152" cy="73152"/>
          </a:xfrm>
          <a:prstGeom prst="rect">
            <a:avLst/>
          </a:prstGeom>
        </p:spPr>
      </p:pic>
      <p:sp>
        <p:nvSpPr>
          <p:cNvPr id="654" name="T"/>
          <p:cNvSpPr txBox="1"/>
          <p:nvPr/>
        </p:nvSpPr>
        <p:spPr>
          <a:xfrm>
            <a:off x="9363456" y="5971032"/>
            <a:ext cx="1000000" cy="182880"/>
          </a:xfrm>
          <a:prstGeom prst="rect">
            <a:avLst/>
          </a:prstGeom>
          <a:noFill/>
        </p:spPr>
        <p:txBody>
          <a:bodyPr wrap="square" lIns="0" tIns="0" rIns="0" bIns="0" anchor="ctr"/>
          <a:lstStyle/>
          <a:p>
            <a:pPr algn="l">
              <a:buNone/>
            </a:pPr>
            <a:r>
              <a:rPr lang="id-ID" sz="700" dirty="0">
                <a:solidFill>
                  <a:srgbClr val="2E3440"/>
                </a:solidFill>
                <a:latin typeface="Roboto"/>
                <a:ea typeface="Roboto"/>
                <a:cs typeface="Roboto"/>
              </a:rPr>
              <a:t>dalam penanganan</a:t>
            </a:r>
            <a:endParaRPr lang="id-ID" sz="7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Badan Nasional Penanggulangan Bencana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Paparan Kepala BNPB kepada Presiden: Karhutla 6 Provinsi Prioritas</dc:title>
  <dc:subject>PptxGenJS Presentation</dc:subject>
  <dc:creator>BNPB</dc:creator>
  <cp:lastModifiedBy>BNPB</cp:lastModifiedBy>
  <cp:revision>1</cp:revision>
  <dcterms:created xsi:type="dcterms:W3CDTF">2026-10-22T07:37:45Z</dcterms:created>
  <dcterms:modified xsi:type="dcterms:W3CDTF">2026-10-22T07:37:45Z</dcterms:modified>
</cp:coreProperties>
</file>