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96"/>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96" Type="http://schemas.openxmlformats.org/officeDocument/2006/relationships/slide" Target="slides/slide6.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Teks lengkap PVMBG, Jumat, 30 Oktober 2026 pukul 06.00 WIB.</a:t>
            </a:r>
          </a:p>
          <a:p>
            <a:r>
              <a:rPr lang="id-ID" dirty="0"/>
              <a:t>Awas 0, Siaga 3, Waspada 24, Normal 42.</a:t>
            </a:r>
          </a:p>
          <a:p>
            <a:endParaRPr lang="id-ID"/>
          </a:p>
          <a:p>
            <a:r>
              <a:rPr lang="id-ID" dirty="0"/>
              <a:t>Gn. Anak Krakatau (Siaga)</a:t>
            </a:r>
          </a:p>
          <a:p>
            <a:r>
              <a:rPr lang="id-ID" dirty="0"/>
              <a:t>Visual:</a:t>
            </a:r>
          </a:p>
          <a:p>
            <a:r>
              <a:rPr lang="id-ID" dirty="0"/>
              <a:t>- Gunung api terlihat jelas hingga tertutup Kabut 0-III. Teramati asap kawah utama berwarna putih dan kelabu dengan intensitas tipis hingga sedang tinggi sekitar 10-100 meter dari puncak. Cuaca berawan hingga hujan, angin lemah ke arah timur laut dan barat laut.</a:t>
            </a:r>
          </a:p>
          <a:p>
            <a:r>
              <a:rPr lang="id-ID" dirty="0"/>
              <a:t>- Cuaca berawan hingga hujan, angin lemah ke arah timur laut dan barat laut. Suhu udara sekitar 25.8-32.3°C. Kelembaban 72-88%</a:t>
            </a:r>
          </a:p>
          <a:p>
            <a:r>
              <a:rPr lang="id-ID" dirty="0"/>
              <a:t>Kegempaan:</a:t>
            </a:r>
          </a:p>
          <a:p>
            <a:r>
              <a:rPr lang="id-ID" dirty="0"/>
              <a:t>- 1 kali gempa Letusan/Erupsi dengan amplitudo 43 mm, dan lama gempa 366 detik.</a:t>
            </a:r>
          </a:p>
          <a:p>
            <a:r>
              <a:rPr lang="id-ID" dirty="0"/>
              <a:t>- 2 kali gempa Hembusan dengan amplitudo 27-44 mm, dan lama gempa 38-44 detik.</a:t>
            </a:r>
          </a:p>
          <a:p>
            <a:r>
              <a:rPr lang="id-ID" dirty="0"/>
              <a:t>- 1 kali gempa Low Frequency dengan amplitudo 48 mm, dan lama gempa 8 detik.</a:t>
            </a:r>
          </a:p>
          <a:p>
            <a:r>
              <a:rPr lang="id-ID" dirty="0"/>
              <a:t>- 9 kali gempa Hybrid/Fase Banyak dengan amplitudo 16-53 mm, S-P tidak teramati dan lama gempa 4-16 detik.</a:t>
            </a:r>
          </a:p>
          <a:p>
            <a:r>
              <a:rPr lang="id-ID" dirty="0"/>
              <a:t>- 1 kali gempa Tektonik Lokal dengan amplitudo 54 mm, S-P 6.7 detik dan lama gempa 36 detik.</a:t>
            </a:r>
          </a:p>
          <a:p>
            <a:r>
              <a:rPr lang="id-ID" dirty="0"/>
              <a:t>- 4 kali gempa Tremor Menerus dengan amplitudo 0.5-35 mm, dominan 10 mm.</a:t>
            </a:r>
          </a:p>
          <a:p>
            <a:r>
              <a:rPr lang="id-ID" dirty="0"/>
              <a:t>Rekomendasi:</a:t>
            </a:r>
          </a:p>
          <a:p>
            <a:r>
              <a:rPr lang="id-ID" dirty="0"/>
              <a:t>- Masyarakat di sekitar Gunung Api Anak Krakatau dan pengunjung/wisatawan/pendaki tidak diperbolehkan memasuki dan melakukan kegiatan di dalam wilayah radius 5 km dari pusat erupsi Anak Krakatau.</a:t>
            </a:r>
          </a:p>
          <a:p>
            <a:r>
              <a:rPr lang="id-ID" dirty="0"/>
              <a:t>- Masyarakat di sekitar Gunung Api Anak Krakatau dan pengunjung/wisatawan tidak diperbolehkan memasuki dan melakukan kegiatan di dalam wilayah radius 1 km dari pulau baru di sektor barat laut dan tenggara Gunung Api Anak Krakatau.</a:t>
            </a:r>
          </a:p>
          <a:p>
            <a:r>
              <a:rPr lang="id-ID" dirty="0"/>
              <a:t>- Meningkatkan kewaspadaan terhadap ancaman bahaya lontaran batu pijar, hujan abu lebat, aliran lava, dan potensi erupsi sekunder yang ditimbulkan oleh kontak panas lava, baik dengan air laut maupun air hujan dalam radius 5 km dari pusat erupsi Anak Krakatau.</a:t>
            </a:r>
          </a:p>
          <a:p>
            <a:r>
              <a:rPr lang="id-ID" dirty="0"/>
              <a:t>- Masyarakat di wilayah pantai Provinsi Banten dan Lampung harap tenang dan jangan mempercayai isu-isu tentang erupsi Gunungapi Anak Krakatau yang akan menyebabkan tsunami, serta dapat melakukan kegiatan seperti biasa dengan senantiasa mengikuti arahan BPBD setempat.</a:t>
            </a:r>
          </a:p>
          <a:p>
            <a:r>
              <a:rPr lang="id-ID" dirty="0"/>
              <a:t>- Untuk mengetahui informasi dapat menghubungi Pusat Vulkanologi dan Mitigasi Bencana Geologi, Badan Geologi (022) 7272606 di Bandung (Provinsi Jawa Barat) atau Pos Pengamatan Gunungapi Krakatau (0254) 651449 atau 085846324506 di Pasauran (Provinsi Banten).</a:t>
            </a:r>
          </a:p>
          <a:p>
            <a:endParaRPr lang="id-ID"/>
          </a:p>
          <a:p>
            <a:r>
              <a:rPr lang="id-ID" dirty="0"/>
              <a:t>Gn. Merapi (Siaga)</a:t>
            </a:r>
          </a:p>
          <a:p>
            <a:r>
              <a:rPr lang="id-ID" dirty="0"/>
              <a:t>Visual:</a:t>
            </a:r>
          </a:p>
          <a:p>
            <a:r>
              <a:rPr lang="id-ID" dirty="0"/>
              <a:t>- Gunung api tertutup Kabut 0-III. Asap kawah nihil. Cuaca berawan, angin tenang ke arah timur.</a:t>
            </a:r>
          </a:p>
          <a:p>
            <a:r>
              <a:rPr lang="id-ID" dirty="0"/>
              <a:t>- Cuaca berawan, angin tenang ke arah timur. Suhu udara sekitar 21°C. Kelembaban 99%. Tekanan udara 919 mmHg.</a:t>
            </a:r>
          </a:p>
          <a:p>
            <a:r>
              <a:rPr lang="id-ID" dirty="0"/>
              <a:t>Kegempaan:</a:t>
            </a:r>
          </a:p>
          <a:p>
            <a:r>
              <a:rPr lang="id-ID" dirty="0"/>
              <a:t>- 114 kali gempa Guguran dengan amplitudo 2-42 mm dan lama gempa 72.11-160.43 detik.</a:t>
            </a:r>
          </a:p>
          <a:p>
            <a:r>
              <a:rPr lang="id-ID" dirty="0"/>
              <a:t>- 15 kali gempa Hybrid/Fase Banyak dengan amplitudo 2-31 mm, S-P tidak teramati dan lama gempa 14.15-32.45 detik</a:t>
            </a:r>
          </a:p>
          <a:p>
            <a:r>
              <a:rPr lang="id-ID" dirty="0"/>
              <a:t>- 1 kali gempa Vulkanik Dangkal dengan amplitudo 33 mm, dan lama gempa 16.89 detik</a:t>
            </a:r>
          </a:p>
          <a:p>
            <a:r>
              <a:rPr lang="id-ID" dirty="0"/>
              <a:t>Rekomendasi:</a:t>
            </a:r>
          </a:p>
          <a:p>
            <a:r>
              <a:rPr lang="id-ID" dirty="0"/>
              <a:t>- Potensi bahaya saat ini berupa guguran lava dan awanpanas pada sektor selatan-barat daya meliputi Sungai Boyong sejauh maksimal 5 km, Sungai Bedog, Krasak, Bebeng sejauh maksimal 7 km. Pada sektor tenggara meliputi Sungai Woro sejauh maksimal 3 km dan Sungai Gendol 5 km. Sedangkan lontaran material vulkanik bila terjadi letusan eksplosif dapat menjangkau radius 3 km dari puncak.</a:t>
            </a:r>
          </a:p>
          <a:p>
            <a:endParaRPr lang="id-ID"/>
          </a:p>
          <a:p>
            <a:r>
              <a:rPr lang="id-ID" dirty="0"/>
              <a:t>Gn. Semeru (Siaga)</a:t>
            </a:r>
          </a:p>
          <a:p>
            <a:r>
              <a:rPr lang="id-ID" dirty="0"/>
              <a:t>Visual:</a:t>
            </a:r>
          </a:p>
          <a:p>
            <a:r>
              <a:rPr lang="id-ID" dirty="0"/>
              <a:t>- Gunung api terlihat jelas hingga tertutup Kabut 0-III. Asap kawah tidak teramati. Cuaca cerah hingga hujan, angin lemah ke arah selatan, barat daya, barat dan barat laut.</a:t>
            </a:r>
          </a:p>
          <a:p>
            <a:r>
              <a:rPr lang="id-ID" dirty="0"/>
              <a:t>- Cuaca cerah hingga hujan, angin lemah ke arah selatan, barat daya, barat dan barat laut. Suhu udara sekitar 20-28°C. Intensitas curah hujan 2.6 mm per hari.</a:t>
            </a:r>
          </a:p>
          <a:p>
            <a:r>
              <a:rPr lang="id-ID" dirty="0"/>
              <a:t>Kegempaan:</a:t>
            </a:r>
          </a:p>
          <a:p>
            <a:r>
              <a:rPr lang="id-ID" dirty="0"/>
              <a:t>- 95 kali gempa Letusan/Erupsi dengan amplitudo 10-25 mm, dan lama gempa 59-175 detik.</a:t>
            </a:r>
          </a:p>
          <a:p>
            <a:r>
              <a:rPr lang="id-ID" dirty="0"/>
              <a:t>- 9 kali gempa Guguran dengan amplitudo 2-7 mm dan lama gempa 34-68 detik.</a:t>
            </a:r>
          </a:p>
          <a:p>
            <a:r>
              <a:rPr lang="id-ID" dirty="0"/>
              <a:t>- 7 kali gempa Hembusan dengan amplitudo 2-8 mm, dan lama gempa 27-59 detik.</a:t>
            </a:r>
          </a:p>
          <a:p>
            <a:r>
              <a:rPr lang="id-ID" dirty="0"/>
              <a:t>- 3 kali Harmonik dengan amplitudo 7-15 mm, dan lama gempa 72-116 detik.</a:t>
            </a:r>
          </a:p>
          <a:p>
            <a:r>
              <a:rPr lang="id-ID" dirty="0"/>
              <a:t>- 10 kali gempa Tektonik Jauh dengan amplitudo 3-24 mm, S-P 14-49 detik dan lama gempa 37-164 detik.</a:t>
            </a:r>
          </a:p>
          <a:p>
            <a:r>
              <a:rPr lang="id-ID" dirty="0"/>
              <a:t>Rekomendasi:</a:t>
            </a:r>
          </a:p>
          <a:p>
            <a:r>
              <a:rPr lang="id-ID" dirty="0"/>
              <a:t>- Tidak melakukan aktivitas apapun di sektor tenggara di sepanjang Besuk Kobokan, sejauh 13 km dari puncak (pusat erupsi). Di luar jarak tersebut, masyarakat tidak melakukan aktivitas pada jarak 500 meter dari tepi sungai (sempadan sungai) di sepanjang Besuk Kobokan karena berpotensi terlanda perluasan awan panas dan aliran lahar hingga jarak 17 km dari puncak.</a:t>
            </a:r>
          </a:p>
          <a:p>
            <a:r>
              <a:rPr lang="id-ID" dirty="0"/>
              <a:t>- Tidak beraktivitas dalam radius 5 Km dari kawah/puncak Gunung Api Semeru karena rawan terhadap bahaya lontaran batu (pijar).</a:t>
            </a:r>
          </a:p>
          <a:p>
            <a:r>
              <a:rPr lang="id-ID" dirty="0"/>
              <a:t>- Mewaspadai potensi awan panas, guguran lava, dan lahar di sepanjang aliran sungai/lembah yang berhulu di puncak Gunung Api Semeru, terutama sepanjang Besuk Kobokan, Besuk Bang, Besuk Kembar, dan Besuk Sat serta potensi lahar pada sungai-sungai kecil yang merupakan anak sungai dari Besuk Kobokan.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TIH">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LAP">
    <p:bg>
      <p:bgPr>
        <a:solidFill>
          <a:srgbClr val="051C2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image" Target="../media/image-2-1.png"/><Relationship Id="rId33" Type="http://schemas.openxmlformats.org/officeDocument/2006/relationships/slideLayout" Target="../slideLayouts/slideLayout2.xml"/><Relationship Id="rId34" Type="http://schemas.openxmlformats.org/officeDocument/2006/relationships/notesSlide" Target="../notesSlides/notesSlide2.xml"/><Relationship Id="rIdM1" Type="http://schemas.openxmlformats.org/officeDocument/2006/relationships/image" Target="../media/h-tpl\ppt\media\image-2-2.png"/><Relationship Id="rIdM2" Type="http://schemas.openxmlformats.org/officeDocument/2006/relationships/image" Target="../media/h-tpl\ppt\media\image-2-3.png"/><Relationship Id="rIdM3" Type="http://schemas.openxmlformats.org/officeDocument/2006/relationships/image" Target="../media/h-tpl\ppt\media\image-2-4.png"/><Relationship Id="rIdM4" Type="http://schemas.openxmlformats.org/officeDocument/2006/relationships/image" Target="../media/h-tpl\ppt\media\image-2-5.png"/><Relationship Id="rIdM5" Type="http://schemas.openxmlformats.org/officeDocument/2006/relationships/image" Target="../media/h-tpl\ppt\media\image-2-6.png"/><Relationship Id="rIdM6" Type="http://schemas.openxmlformats.org/officeDocument/2006/relationships/image" Target="../media/h-tpl\ppt\media\image-2-7.png"/><Relationship Id="rIdM7" Type="http://schemas.openxmlformats.org/officeDocument/2006/relationships/image" Target="../media/h-ik\awas-slate.png"/><Relationship Id="rIdM8" Type="http://schemas.openxmlformats.org/officeDocument/2006/relationships/image" Target="../media/h-ik\awas-merah.png"/><Relationship Id="rIdM9" Type="http://schemas.openxmlformats.org/officeDocument/2006/relationships/image" Target="../media/h-peta.png"/><Relationship Id="rIdM10" Type="http://schemas.openxmlformats.org/officeDocument/2006/relationships/image" Target="../media/h-tpl\ppt\media\image-2-10.png"/><Relationship Id="rIdM11" Type="http://schemas.openxmlformats.org/officeDocument/2006/relationships/image" Target="../media/h-tpl\ppt\media\image-2-11.png"/><Relationship Id="rIdM12" Type="http://schemas.openxmlformats.org/officeDocument/2006/relationships/image" Target="../media/h-tpl\ppt\media\image-2-12.png"/><Relationship Id="rIdM13" Type="http://schemas.openxmlformats.org/officeDocument/2006/relationships/image" Target="../media/h-tpl\ppt\media\image-2-13.png"/><Relationship Id="rIdM14" Type="http://schemas.openxmlformats.org/officeDocument/2006/relationships/image" Target="../media/h-tpl\ppt\media\image-2-32.png"/><Relationship Id="rIdM15" Type="http://schemas.openxmlformats.org/officeDocument/2006/relationships/image" Target="../media/h-tpl\ppt\media\image-3-37.png"/><Relationship Id="rIdM16" Type="http://schemas.openxmlformats.org/officeDocument/2006/relationships/image" Target="../media/h-ik\banjir-putih.png"/><Relationship Id="rIdM17" Type="http://schemas.openxmlformats.org/officeDocument/2006/relationships/image" Target="../media/h-ik\orang-slate.png"/><Relationship Id="rIdM18" Type="http://schemas.openxmlformats.org/officeDocument/2006/relationships/image" Target="../media/h-ik\api-putih.png"/><Relationship Id="rIdM19" Type="http://schemas.openxmlformats.org/officeDocument/2006/relationships/image" Target="../media/h-ik\api-merah.png"/><Relationship Id="rIdM20" Type="http://schemas.openxmlformats.org/officeDocument/2006/relationships/image" Target="../media/h-ik\angin-putih.png"/><Relationship Id="rIdM21" Type="http://schemas.openxmlformats.org/officeDocument/2006/relationships/image" Target="../media/h-ik\gempa-putih.png"/><Relationship Id="rIdM22" Type="http://schemas.openxmlformats.org/officeDocument/2006/relationships/image" Target="../media/h-tpl\ppt\media\image-2-30.png"/><Relationship Id="rIdM23" Type="http://schemas.openxmlformats.org/officeDocument/2006/relationships/image" Target="../media/h-tpl\ppt\media\image-2-31.png"/></Relationships>
</file>

<file path=ppt/slides/_rels/slide3.xml.rels><?xml version="1.0" encoding="UTF-8" standalone="yes"?><Relationships xmlns="http://schemas.openxmlformats.org/package/2006/relationships"><Relationship Id="rId1" Type="http://schemas.openxmlformats.org/officeDocument/2006/relationships/image" Target="../media/image-3-1.png"/><Relationship Id="rId45" Type="http://schemas.openxmlformats.org/officeDocument/2006/relationships/slideLayout" Target="../slideLayouts/slideLayout2.xml"/><Relationship Id="rId46" Type="http://schemas.openxmlformats.org/officeDocument/2006/relationships/notesSlide" Target="../notesSlides/notesSlide3.xml"/><Relationship Id="rIdM1" Type="http://schemas.openxmlformats.org/officeDocument/2006/relationships/image" Target="../media/h-ik\banjir-putih.png"/><Relationship Id="rIdM2" Type="http://schemas.openxmlformats.org/officeDocument/2006/relationships/image" Target="../media/h-ik\banjir-navy.png"/><Relationship Id="rIdM3" Type="http://schemas.openxmlformats.org/officeDocument/2006/relationships/image" Target="../media/h-tpl\ppt\media\image-2-10.png"/><Relationship Id="rIdM4" Type="http://schemas.openxmlformats.org/officeDocument/2006/relationships/image" Target="../media/h-ik\kalender-oranye.png"/><Relationship Id="rIdM5" Type="http://schemas.openxmlformats.org/officeDocument/2006/relationships/image" Target="../media/h-ik\kalender-navy.png"/><Relationship Id="rIdM6" Type="http://schemas.openxmlformats.org/officeDocument/2006/relationships/image" Target="../media/h-ik\orang-slate.png"/><Relationship Id="rIdM7" Type="http://schemas.openxmlformats.org/officeDocument/2006/relationships/image" Target="../media/h-tpl\ppt\media\image-2-11.png"/><Relationship Id="rIdM8" Type="http://schemas.openxmlformats.org/officeDocument/2006/relationships/image" Target="../media/h-ik\awas-oranye.png"/><Relationship Id="rIdM9" Type="http://schemas.openxmlformats.org/officeDocument/2006/relationships/image" Target="../media/h-ik\rumah-slate.png"/><Relationship Id="rIdM10" Type="http://schemas.openxmlformats.org/officeDocument/2006/relationships/image" Target="../media/h-ik\angin-putih.png"/><Relationship Id="rIdM11" Type="http://schemas.openxmlformats.org/officeDocument/2006/relationships/image" Target="../media/h-ik\angin-slate.png"/><Relationship Id="rIdM12" Type="http://schemas.openxmlformats.org/officeDocument/2006/relationships/image" Target="../media/h-tpl\ppt\media\image-2-12.png"/><Relationship Id="rIdM13" Type="http://schemas.openxmlformats.org/officeDocument/2006/relationships/image" Target="../media/h-tpl\ppt\media\image-3-4.png"/><Relationship Id="rIdM14" Type="http://schemas.openxmlformats.org/officeDocument/2006/relationships/image" Target="../media/h-tpl\ppt\media\image-2-13.png"/><Relationship Id="rIdM15" Type="http://schemas.openxmlformats.org/officeDocument/2006/relationships/image" Target="../media/h-ik\awas-putih.png"/><Relationship Id="rIdM16" Type="http://schemas.openxmlformats.org/officeDocument/2006/relationships/image" Target="../media/h-ik\gunung-putih.png"/><Relationship Id="rIdM17" Type="http://schemas.openxmlformats.org/officeDocument/2006/relationships/image" Target="../media/h-ik\awas-merah.png"/><Relationship Id="rIdM18" Type="http://schemas.openxmlformats.org/officeDocument/2006/relationships/image" Target="../media/h-ik\gunung-oranye.png"/><Relationship Id="rIdM19" Type="http://schemas.openxmlformats.org/officeDocument/2006/relationships/image" Target="../media/h-ik\mata-kering.png"/><Relationship Id="rIdM20" Type="http://schemas.openxmlformats.org/officeDocument/2006/relationships/image" Target="../media/h-ik\cek-slate.png"/><Relationship Id="rIdM21" Type="http://schemas.openxmlformats.org/officeDocument/2006/relationships/image" Target="../media/h-ik\banjir-slate.png"/><Relationship Id="rIdM22" Type="http://schemas.openxmlformats.org/officeDocument/2006/relationships/image" Target="../media/h-ik\awas-navy.png"/><Relationship Id="rIdM23" Type="http://schemas.openxmlformats.org/officeDocument/2006/relationships/image" Target="../media/h-ik\radius-oranye.png"/><Relationship Id="rIdM24" Type="http://schemas.openxmlformats.org/officeDocument/2006/relationships/image" Target="../media/h-ik\arah-oranye.png"/></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6.xml.rels><?xml version="1.0" encoding="UTF-8" standalone="yes"?><Relationships xmlns="http://schemas.openxmlformats.org/package/2006/relationships"><Relationship Id="rId1" Type="http://schemas.openxmlformats.org/officeDocument/2006/relationships/image" Target="../media/image-3-1.png"/><Relationship Id="rId45" Type="http://schemas.openxmlformats.org/officeDocument/2006/relationships/slideLayout" Target="../slideLayouts/slideLayout2.xml"/><Relationship Id="rIdM1" Type="http://schemas.openxmlformats.org/officeDocument/2006/relationships/image" Target="../media/h-tpl\ppt\media\image-2-12.png"/><Relationship Id="rIdM2" Type="http://schemas.openxmlformats.org/officeDocument/2006/relationships/image" Target="../media/h-tpl\ppt\media\image-2-11.png"/><Relationship Id="rIdM3" Type="http://schemas.openxmlformats.org/officeDocument/2006/relationships/image" Target="../media/h-tpl\ppt\media\image-3-4.png"/><Relationship Id="rIdM4" Type="http://schemas.openxmlformats.org/officeDocument/2006/relationships/image" Target="../media/h-tpl\ppt\media\image-2-13.png"/><Relationship Id="rIdM5" Type="http://schemas.openxmlformats.org/officeDocument/2006/relationships/image" Target="../media/h-tpl\ppt\media\image-2-10.png"/><Relationship Id="rIdM6" Type="http://schemas.openxmlformats.org/officeDocument/2006/relationships/image" Target="../media/h-ik\gempa-putih.png"/><Relationship Id="rIdM7" Type="http://schemas.openxmlformats.org/officeDocument/2006/relationships/image" Target="../media/h-ik\gempa-slate.png"/><Relationship Id="rIdM8" Type="http://schemas.openxmlformats.org/officeDocument/2006/relationships/image" Target="../media/h-ik\kalender-oranye.png"/><Relationship Id="rIdM9" Type="http://schemas.openxmlformats.org/officeDocument/2006/relationships/image" Target="../media/h-ik\tenda-slate.png"/><Relationship Id="rIdM10" Type="http://schemas.openxmlformats.org/officeDocument/2006/relationships/image" Target="../media/h-ik\hati-merah.png"/><Relationship Id="rIdM11" Type="http://schemas.openxmlformats.org/officeDocument/2006/relationships/image" Target="../media/h-ik\orang-slate.png"/><Relationship Id="rIdM12" Type="http://schemas.openxmlformats.org/officeDocument/2006/relationships/image" Target="../media/h-ik\api-putih.png"/><Relationship Id="rIdM13" Type="http://schemas.openxmlformats.org/officeDocument/2006/relationships/image" Target="../media/h-ik\api-merah.png"/><Relationship Id="rIdM14" Type="http://schemas.openxmlformats.org/officeDocument/2006/relationships/image" Target="../media/h-ik\sampah-slate.png"/><Relationship Id="rIdM15" Type="http://schemas.openxmlformats.org/officeDocument/2006/relationships/image" Target="../media/h-ik\banjir-putih.png"/><Relationship Id="rIdM16" Type="http://schemas.openxmlformats.org/officeDocument/2006/relationships/image" Target="../media/h-ik\banjir-navy.png"/><Relationship Id="rIdM17" Type="http://schemas.openxmlformats.org/officeDocument/2006/relationships/image" Target="../media/h-ik\awas-oranye.png"/><Relationship Id="rIdM18" Type="http://schemas.openxmlformats.org/officeDocument/2006/relationships/image" Target="../media/h-ik\rumah-slate.png"/><Relationship Id="rIdM19" Type="http://schemas.openxmlformats.org/officeDocument/2006/relationships/image" Target="../media/h-tpl\ppt\media\image-3-34.png"/><Relationship Id="rIdM20" Type="http://schemas.openxmlformats.org/officeDocument/2006/relationships/image" Target="../media/h-tpl\ppt\media\image-3-38.png"/><Relationship Id="rIdM21" Type="http://schemas.openxmlformats.org/officeDocument/2006/relationships/image" Target="../media/h-ik\awas-putih.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309360" y="0"/>
            <a:ext cx="5882335" cy="6858000"/>
          </a:xfrm>
          <a:prstGeom prst="rect">
            <a:avLst/>
          </a:prstGeom>
        </p:spPr>
      </p:pic>
      <p:sp>
        <p:nvSpPr>
          <p:cNvPr id="3" name="Shape 0"/>
          <p:cNvSpPr/>
          <p:nvPr/>
        </p:nvSpPr>
        <p:spPr>
          <a:xfrm>
            <a:off x="548640" y="457200"/>
            <a:ext cx="1005840" cy="1005840"/>
          </a:xfrm>
          <a:prstGeom prst="ellipse">
            <a:avLst/>
          </a:prstGeom>
          <a:solidFill>
            <a:srgbClr val="FFFFFF"/>
          </a:solidFill>
          <a:ln/>
          <a:effectLst>
            <a:outerShdw sx="100000" sy="100000" kx="0" ky="0" algn="bl" rotWithShape="0" blurRad="101600" dist="25400" dir="5400000">
              <a:srgbClr val="000000">
                <a:alpha val="25000"/>
              </a:srgbClr>
            </a:outerShdw>
          </a:effectLst>
        </p:spPr>
      </p:sp>
      <p:pic>
        <p:nvPicPr>
          <p:cNvPr id="4" name="Image 1" descr="preencoded.png">    </p:cNvPr>
          <p:cNvPicPr>
            <a:picLocks noChangeAspect="1"/>
          </p:cNvPicPr>
          <p:nvPr/>
        </p:nvPicPr>
        <p:blipFill>
          <a:blip r:embed="rId2"/>
          <a:stretch>
            <a:fillRect/>
          </a:stretch>
        </p:blipFill>
        <p:spPr>
          <a:xfrm>
            <a:off x="780143" y="618134"/>
            <a:ext cx="542834" cy="683971"/>
          </a:xfrm>
          <a:prstGeom prst="rect">
            <a:avLst/>
          </a:prstGeom>
        </p:spPr>
      </p:pic>
      <p:sp>
        <p:nvSpPr>
          <p:cNvPr id="5" name="Shape 1"/>
          <p:cNvSpPr/>
          <p:nvPr/>
        </p:nvSpPr>
        <p:spPr>
          <a:xfrm>
            <a:off x="9128455" y="457200"/>
            <a:ext cx="2514600" cy="868680"/>
          </a:xfrm>
          <a:prstGeom prst="roundRect">
            <a:avLst>
              <a:gd name="adj" fmla="val 12632"/>
            </a:avLst>
          </a:prstGeom>
          <a:solidFill>
            <a:srgbClr val="FFFFFF"/>
          </a:solidFill>
          <a:ln/>
          <a:effectLst>
            <a:outerShdw sx="100000" sy="100000" kx="0" ky="0" algn="bl" rotWithShape="0" blurRad="76200" dist="12700" dir="5400000">
              <a:srgbClr val="000000">
                <a:alpha val="20000"/>
              </a:srgbClr>
            </a:outerShdw>
          </a:effectLst>
        </p:spPr>
      </p:sp>
      <p:pic>
        <p:nvPicPr>
          <p:cNvPr id="6" name="Image 2" descr="img/berakhlak.png">    </p:cNvPr>
          <p:cNvPicPr>
            <a:picLocks noChangeAspect="1"/>
          </p:cNvPicPr>
          <p:nvPr/>
        </p:nvPicPr>
        <p:blipFill>
          <a:blip r:embed="rId3"/>
          <a:stretch>
            <a:fillRect/>
          </a:stretch>
        </p:blipFill>
        <p:spPr>
          <a:xfrm>
            <a:off x="9265615" y="530352"/>
            <a:ext cx="2240280" cy="852561"/>
          </a:xfrm>
          <a:prstGeom prst="rect">
            <a:avLst/>
          </a:prstGeom>
        </p:spPr>
      </p:pic>
      <p:sp>
        <p:nvSpPr>
          <p:cNvPr id="7" name="Text 2"/>
          <p:cNvSpPr txBox="1"/>
          <p:nvPr/>
        </p:nvSpPr>
        <p:spPr>
          <a:xfrm>
            <a:off x="548640" y="1783080"/>
            <a:ext cx="5669280" cy="1188720"/>
          </a:xfrm>
          <a:prstGeom prst="rect">
            <a:avLst/>
          </a:prstGeom>
          <a:noFill/>
          <a:ln/>
        </p:spPr>
        <p:txBody>
          <a:bodyPr wrap="square" lIns="0" tIns="0" rIns="0" bIns="0" rtlCol="0" anchor="t"/>
          <a:lstStyle/>
          <a:p>
            <a:pPr indent="0" marL="0">
              <a:lnSpc>
                <a:spcPct val="95000"/>
              </a:lnSpc>
              <a:buNone/>
            </a:pPr>
            <a:r>
              <a:rPr lang="en-US" sz="3400" b="1" dirty="0">
                <a:solidFill>
                  <a:srgbClr val="1A1A1A"/>
                </a:solidFill>
                <a:latin typeface="Roboto" pitchFamily="34" charset="0"/>
                <a:ea typeface="Roboto" pitchFamily="34" charset="-122"/>
                <a:cs typeface="Roboto" pitchFamily="34" charset="-120"/>
              </a:rPr>
              <a:t>Laporan Kejadian Bencana Harian</a:t>
            </a:r>
            <a:endParaRPr lang="en-US" sz="3400" dirty="0"/>
          </a:p>
        </p:txBody>
      </p:sp>
      <p:sp>
        <p:nvSpPr>
          <p:cNvPr id="8" name="Text 3"/>
          <p:cNvSpPr txBox="1"/>
          <p:nvPr/>
        </p:nvSpPr>
        <p:spPr>
          <a:xfrm>
            <a:off x="548640" y="3017520"/>
            <a:ext cx="5669280" cy="329184"/>
          </a:xfrm>
          <a:prstGeom prst="rect">
            <a:avLst/>
          </a:prstGeom>
          <a:noFill/>
          <a:ln/>
        </p:spPr>
        <p:txBody>
          <a:bodyPr wrap="square" lIns="0" tIns="0" rIns="0" bIns="0" rtlCol="0" anchor="t"/>
          <a:lstStyle/>
          <a:p>
            <a:pPr indent="0" marL="0">
              <a:buNone/>
            </a:pPr>
            <a:r>
              <a:rPr lang="en-US" sz="1600" b="1" dirty="0">
                <a:solidFill>
                  <a:srgbClr val="00499D"/>
                </a:solidFill>
                <a:latin typeface="Roboto" pitchFamily="34" charset="0"/>
                <a:ea typeface="Roboto" pitchFamily="34" charset="-122"/>
                <a:cs typeface="Roboto" pitchFamily="34" charset="-120"/>
              </a:rPr>
              <a:t>Badan Nasional Penanggulangan Bencana</a:t>
            </a:r>
            <a:endParaRPr lang="en-US" sz="1600" dirty="0"/>
          </a:p>
        </p:txBody>
      </p:sp>
      <p:sp>
        <p:nvSpPr>
          <p:cNvPr id="9" name="Shape 4"/>
          <p:cNvSpPr/>
          <p:nvPr/>
        </p:nvSpPr>
        <p:spPr>
          <a:xfrm>
            <a:off x="548640" y="3493008"/>
            <a:ext cx="4206240" cy="384048"/>
          </a:xfrm>
          <a:prstGeom prst="roundRect">
            <a:avLst>
              <a:gd name="adj" fmla="val 50000"/>
            </a:avLst>
          </a:prstGeom>
          <a:solidFill>
            <a:srgbClr val="FBE7D6"/>
          </a:solidFill>
          <a:ln/>
        </p:spPr>
      </p:sp>
      <p:sp>
        <p:nvSpPr>
          <p:cNvPr id="10" name="Shape 5"/>
          <p:cNvSpPr/>
          <p:nvPr/>
        </p:nvSpPr>
        <p:spPr>
          <a:xfrm>
            <a:off x="612648" y="3547872"/>
            <a:ext cx="274320" cy="274320"/>
          </a:xfrm>
          <a:prstGeom prst="ellipse">
            <a:avLst/>
          </a:prstGeom>
          <a:solidFill>
            <a:srgbClr val="D9600B"/>
          </a:solidFill>
          <a:ln/>
        </p:spPr>
      </p:sp>
      <p:pic>
        <p:nvPicPr>
          <p:cNvPr id="11" name="Image 3" descr="preencoded.png">    </p:cNvPr>
          <p:cNvPicPr>
            <a:picLocks noChangeAspect="1"/>
          </p:cNvPicPr>
          <p:nvPr/>
        </p:nvPicPr>
        <p:blipFill>
          <a:blip r:embed="rId4"/>
          <a:stretch>
            <a:fillRect/>
          </a:stretch>
        </p:blipFill>
        <p:spPr>
          <a:xfrm>
            <a:off x="672084" y="3607308"/>
            <a:ext cx="155448" cy="155448"/>
          </a:xfrm>
          <a:prstGeom prst="rect">
            <a:avLst/>
          </a:prstGeom>
        </p:spPr>
      </p:pic>
      <p:sp>
        <p:nvSpPr>
          <p:cNvPr id="12" name="Text 6"/>
          <p:cNvSpPr txBox="1"/>
          <p:nvPr/>
        </p:nvSpPr>
        <p:spPr>
          <a:xfrm>
            <a:off x="960120" y="3493008"/>
            <a:ext cx="3749040" cy="384048"/>
          </a:xfrm>
          <a:prstGeom prst="rect">
            <a:avLst/>
          </a:prstGeom>
          <a:noFill/>
          <a:ln/>
        </p:spPr>
        <p:txBody>
          <a:bodyPr wrap="square" lIns="0" tIns="0" rIns="0" bIns="0" rtlCol="0" anchor="ctr"/>
          <a:lstStyle/>
          <a:p>
            <a:pPr indent="0" marL="0">
              <a:buNone/>
            </a:pPr>
            <a:r>
              <a:rPr lang="en-US" sz="850" b="1" spc="100" kern="0" dirty="0">
                <a:solidFill>
                  <a:srgbClr val="D9600B"/>
                </a:solidFill>
                <a:latin typeface="Roboto" pitchFamily="34" charset="0"/>
                <a:ea typeface="Roboto" pitchFamily="34" charset="-122"/>
                <a:cs typeface="Roboto" pitchFamily="34" charset="-120"/>
              </a:rPr>
              <a:t>PERIODE   </a:t>
            </a:r>
            <a:pPr indent="0" marL="0">
              <a:buNone/>
            </a:pPr>
            <a:r>
              <a:rPr lang="en-US" sz="1050" b="1" dirty="0">
                <a:solidFill>
                  <a:srgbClr val="1A1A1A"/>
                </a:solidFill>
                <a:latin typeface="Roboto" pitchFamily="34" charset="0"/>
                <a:ea typeface="Roboto" pitchFamily="34" charset="-122"/>
                <a:cs typeface="Roboto" pitchFamily="34" charset="-120"/>
              </a:rPr>
              <a:t>29 Okt 2026, 07.00  –  30 Okt 2026, 07.00 WIB</a:t>
            </a:r>
            <a:endParaRPr lang="en-US" sz="1200" dirty="0"/>
          </a:p>
        </p:txBody>
      </p:sp>
      <p:sp>
        <p:nvSpPr>
          <p:cNvPr id="13" name="Shape 7"/>
          <p:cNvSpPr/>
          <p:nvPr/>
        </p:nvSpPr>
        <p:spPr>
          <a:xfrm>
            <a:off x="548640" y="4206240"/>
            <a:ext cx="5120640" cy="0"/>
          </a:xfrm>
          <a:prstGeom prst="line">
            <a:avLst/>
          </a:prstGeom>
          <a:noFill/>
          <a:ln w="9525">
            <a:solidFill>
              <a:srgbClr val="1A1A1A"/>
            </a:solidFill>
            <a:prstDash val="solid"/>
          </a:ln>
        </p:spPr>
      </p:sp>
      <p:sp>
        <p:nvSpPr>
          <p:cNvPr id="14" name="Text 8"/>
          <p:cNvSpPr txBox="1"/>
          <p:nvPr/>
        </p:nvSpPr>
        <p:spPr>
          <a:xfrm>
            <a:off x="548640" y="4315968"/>
            <a:ext cx="5486400" cy="201168"/>
          </a:xfrm>
          <a:prstGeom prst="rect">
            <a:avLst/>
          </a:prstGeom>
          <a:noFill/>
          <a:ln/>
        </p:spPr>
        <p:txBody>
          <a:bodyPr wrap="square" lIns="0" tIns="0" rIns="0" bIns="0" rtlCol="0" anchor="t"/>
          <a:lstStyle/>
          <a:p>
            <a:pPr indent="0" marL="0">
              <a:buNone/>
            </a:pPr>
            <a:r>
              <a:rPr lang="en-US" sz="900" b="1" spc="100" kern="0" dirty="0">
                <a:solidFill>
                  <a:srgbClr val="D9600B"/>
                </a:solidFill>
                <a:latin typeface="Roboto" pitchFamily="34" charset="0"/>
                <a:ea typeface="Roboto" pitchFamily="34" charset="-122"/>
                <a:cs typeface="Roboto" pitchFamily="34" charset="-120"/>
              </a:rPr>
              <a:t>DISAMPAIKAN OLEH</a:t>
            </a:r>
            <a:endParaRPr lang="en-US" sz="900" dirty="0"/>
          </a:p>
        </p:txBody>
      </p:sp>
      <p:sp>
        <p:nvSpPr>
          <p:cNvPr id="15" name="Text 9"/>
          <p:cNvSpPr txBox="1"/>
          <p:nvPr/>
        </p:nvSpPr>
        <p:spPr>
          <a:xfrm>
            <a:off x="548640" y="4526280"/>
            <a:ext cx="5669280" cy="320040"/>
          </a:xfrm>
          <a:prstGeom prst="rect">
            <a:avLst/>
          </a:prstGeom>
          <a:noFill/>
          <a:ln/>
        </p:spPr>
        <p:txBody>
          <a:bodyPr wrap="square" lIns="0" tIns="0" rIns="0" bIns="0" rtlCol="0" anchor="t"/>
          <a:lstStyle/>
          <a:p>
            <a:pPr indent="0" marL="0">
              <a:buNone/>
            </a:pPr>
            <a:r>
              <a:rPr lang="en-US" sz="1400" b="1" dirty="0">
                <a:solidFill>
                  <a:srgbClr val="1A1A1A"/>
                </a:solidFill>
                <a:latin typeface="Roboto" pitchFamily="34" charset="0"/>
                <a:ea typeface="Roboto" pitchFamily="34" charset="-122"/>
                <a:cs typeface="Roboto" pitchFamily="34" charset="-120"/>
              </a:rPr>
              <a:t>Letnan Jenderal TNI Kristomei Sianturi, S.Sos., M.Si., M.Si. (Han)</a:t>
            </a:r>
            <a:endParaRPr lang="en-US" sz="1400" dirty="0"/>
          </a:p>
        </p:txBody>
      </p:sp>
      <p:sp>
        <p:nvSpPr>
          <p:cNvPr id="16" name="Text 10"/>
          <p:cNvSpPr txBox="1"/>
          <p:nvPr/>
        </p:nvSpPr>
        <p:spPr>
          <a:xfrm>
            <a:off x="548640" y="4828032"/>
            <a:ext cx="5669280" cy="274320"/>
          </a:xfrm>
          <a:prstGeom prst="rect">
            <a:avLst/>
          </a:prstGeom>
          <a:noFill/>
          <a:ln/>
        </p:spPr>
        <p:txBody>
          <a:bodyPr wrap="square" lIns="0" tIns="0" rIns="0" bIns="0" rtlCol="0" anchor="t"/>
          <a:lstStyle/>
          <a:p>
            <a:pPr indent="0" marL="0">
              <a:buNone/>
            </a:pPr>
            <a:r>
              <a:rPr lang="en-US" sz="1200" dirty="0">
                <a:solidFill>
                  <a:srgbClr val="6B7280"/>
                </a:solidFill>
                <a:latin typeface="Roboto" pitchFamily="34" charset="0"/>
                <a:ea typeface="Roboto" pitchFamily="34" charset="-122"/>
                <a:cs typeface="Roboto" pitchFamily="34" charset="-120"/>
              </a:rPr>
              <a:t>Kepala Badan Nasional Penanggulangan Bencana</a:t>
            </a:r>
            <a:endParaRPr lang="en-US" sz="1200" dirty="0"/>
          </a:p>
        </p:txBody>
      </p:sp>
      <p:sp>
        <p:nvSpPr>
          <p:cNvPr id="17" name="Shape 11"/>
          <p:cNvSpPr/>
          <p:nvPr/>
        </p:nvSpPr>
        <p:spPr>
          <a:xfrm>
            <a:off x="548640" y="5303520"/>
            <a:ext cx="2926080" cy="384048"/>
          </a:xfrm>
          <a:prstGeom prst="roundRect">
            <a:avLst>
              <a:gd name="adj" fmla="val 50000"/>
            </a:avLst>
          </a:prstGeom>
          <a:solidFill>
            <a:srgbClr val="051C2C"/>
          </a:solidFill>
          <a:ln/>
        </p:spPr>
      </p:sp>
      <p:sp>
        <p:nvSpPr>
          <p:cNvPr id="18" name="Text 12"/>
          <p:cNvSpPr txBox="1"/>
          <p:nvPr/>
        </p:nvSpPr>
        <p:spPr>
          <a:xfrm>
            <a:off x="548640" y="5303520"/>
            <a:ext cx="29260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Roboto" pitchFamily="34" charset="0"/>
                <a:ea typeface="Roboto" pitchFamily="34" charset="-122"/>
                <a:cs typeface="Roboto" pitchFamily="34" charset="-120"/>
              </a:rPr>
              <a:t>Jumat, 30 Oktober 2026</a:t>
            </a:r>
            <a:endParaRPr lang="en-US" sz="1100" dirty="0"/>
          </a:p>
        </p:txBody>
      </p:sp>
      <p:sp>
        <p:nvSpPr>
          <p:cNvPr id="19" name="Text 13"/>
          <p:cNvSpPr txBox="1"/>
          <p:nvPr/>
        </p:nvSpPr>
        <p:spPr>
          <a:xfrm>
            <a:off x="7985455" y="6565392"/>
            <a:ext cx="3931920" cy="182880"/>
          </a:xfrm>
          <a:prstGeom prst="rect">
            <a:avLst/>
          </a:prstGeom>
          <a:noFill/>
          <a:ln/>
        </p:spPr>
        <p:txBody>
          <a:bodyPr wrap="square" lIns="0" tIns="0" rIns="0" bIns="0" rtlCol="0" anchor="t"/>
          <a:lstStyle/>
          <a:p>
            <a:pPr algn="r" indent="0" marL="0">
              <a:buNone/>
            </a:pPr>
            <a:r>
              <a:rPr lang="en-US" sz="700" dirty="0">
                <a:solidFill>
                  <a:srgbClr val="FFFFFF"/>
                </a:solidFill>
                <a:latin typeface="Roboto" pitchFamily="34" charset="0"/>
                <a:ea typeface="Roboto" pitchFamily="34" charset="-122"/>
                <a:cs typeface="Roboto" pitchFamily="34" charset="-120"/>
              </a:rPr>
              <a:t>Foto: DenY Krisbiyantoro, CC BY-SA 4.0</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1"/>
          <p:cNvSpPr/>
          <p:nvPr/>
        </p:nvSpPr>
        <p:spPr>
          <a:xfrm>
            <a:off x="548640" y="1207008"/>
            <a:ext cx="11094415" cy="0"/>
          </a:xfrm>
          <a:prstGeom prst="line">
            <a:avLst/>
          </a:prstGeom>
          <a:noFill/>
          <a:ln w="9525">
            <a:solidFill>
              <a:srgbClr val="1A1A1A"/>
            </a:solidFill>
            <a:prstDash val="solid"/>
          </a:ln>
        </p:spPr>
      </p:sp>
      <p:sp>
        <p:nvSpPr>
          <p:cNvPr id="4" name="Shape 2"/>
          <p:cNvSpPr/>
          <p:nvPr/>
        </p:nvSpPr>
        <p:spPr>
          <a:xfrm>
            <a:off x="548640" y="6446520"/>
            <a:ext cx="11094415" cy="0"/>
          </a:xfrm>
          <a:prstGeom prst="line">
            <a:avLst/>
          </a:prstGeom>
          <a:noFill/>
          <a:ln w="9525">
            <a:solidFill>
              <a:srgbClr val="1A1A1A"/>
            </a:solidFill>
            <a:prstDash val="solid"/>
          </a:ln>
        </p:spPr>
      </p:sp>
      <p:pic>
        <p:nvPicPr>
          <p:cNvPr id="5" name="Image 0" descr="preencoded.png">    </p:cNvPr>
          <p:cNvPicPr>
            <a:picLocks noChangeAspect="1"/>
          </p:cNvPicPr>
          <p:nvPr/>
        </p:nvPicPr>
        <p:blipFill>
          <a:blip r:embed="rId1"/>
          <a:stretch>
            <a:fillRect/>
          </a:stretch>
        </p:blipFill>
        <p:spPr>
          <a:xfrm>
            <a:off x="11295583" y="365760"/>
            <a:ext cx="347472" cy="438912"/>
          </a:xfrm>
          <a:prstGeom prst="rect">
            <a:avLst/>
          </a:prstGeom>
        </p:spPr>
      </p:pic>
      <p:sp>
        <p:nvSpPr>
          <p:cNvPr id="6" name="Text 3"/>
          <p:cNvSpPr txBox="1"/>
          <p:nvPr/>
        </p:nvSpPr>
        <p:spPr>
          <a:xfrm>
            <a:off x="548640" y="6510528"/>
            <a:ext cx="5486400" cy="201168"/>
          </a:xfrm>
          <a:prstGeom prst="rect">
            <a:avLst/>
          </a:prstGeom>
          <a:noFill/>
          <a:ln/>
        </p:spPr>
        <p:txBody>
          <a:bodyPr wrap="square" lIns="0" tIns="0" rIns="0" bIns="0" rtlCol="0" anchor="t"/>
          <a:lstStyle/>
          <a:p>
            <a:pPr indent="0" marL="0">
              <a:buNone/>
            </a:pPr>
            <a:r>
              <a:rPr lang="en-US" sz="850" dirty="0">
                <a:solidFill>
                  <a:srgbClr val="1A1A1A"/>
                </a:solidFill>
                <a:latin typeface="Roboto" pitchFamily="34" charset="0"/>
                <a:ea typeface="Roboto" pitchFamily="34" charset="-122"/>
                <a:cs typeface="Roboto" pitchFamily="34" charset="-120"/>
              </a:rPr>
              <a:t>Badan Nasional Penanggulangan Bencana  |  Copyright 2026</a:t>
            </a:r>
            <a:endParaRPr lang="en-US" sz="850" dirty="0"/>
          </a:p>
        </p:txBody>
      </p:sp>
      <p:sp>
        <p:nvSpPr>
          <p:cNvPr id="7" name="Text 4"/>
          <p:cNvSpPr txBox="1"/>
          <p:nvPr/>
        </p:nvSpPr>
        <p:spPr>
          <a:xfrm>
            <a:off x="10728655" y="6510528"/>
            <a:ext cx="914400" cy="201168"/>
          </a:xfrm>
          <a:prstGeom prst="rect">
            <a:avLst/>
          </a:prstGeom>
          <a:noFill/>
          <a:ln/>
        </p:spPr>
        <p:txBody>
          <a:bodyPr wrap="square" lIns="0" tIns="0" rIns="0" bIns="0" rtlCol="0" anchor="t"/>
          <a:lstStyle/>
          <a:p>
            <a:pPr algn="r" indent="0" marL="0">
              <a:buNone/>
            </a:pPr>
            <a:r>
              <a:rPr lang="en-US" sz="850" b="1" dirty="0">
                <a:solidFill>
                  <a:srgbClr val="1A1A1A"/>
                </a:solidFill>
                <a:latin typeface="Roboto" pitchFamily="34" charset="0"/>
                <a:ea typeface="Roboto" pitchFamily="34" charset="-122"/>
                <a:cs typeface="Roboto" pitchFamily="34" charset="-120"/>
              </a:rPr>
              <a:t>2</a:t>
            </a:r>
            <a:endParaRPr lang="en-US" sz="850" dirty="0"/>
          </a:p>
        </p:txBody>
      </p:sp>
      <p:sp>
        <p:nvSpPr>
          <p:cNvPr id="594" name="T"/>
          <p:cNvSpPr txBox="1"/>
          <p:nvPr/>
        </p:nvSpPr>
        <p:spPr>
          <a:xfrm>
            <a:off x="548640" y="292608"/>
            <a:ext cx="10454335" cy="822960"/>
          </a:xfrm>
          <a:prstGeom prst="rect">
            <a:avLst/>
          </a:prstGeom>
          <a:noFill/>
        </p:spPr>
        <p:txBody>
          <a:bodyPr wrap="square" lIns="0" tIns="0" rIns="0" bIns="0" anchor="b"/>
          <a:lstStyle/>
          <a:p>
            <a:pPr algn="l">
              <a:buNone/>
            </a:pPr>
            <a:r>
              <a:rPr lang="id-ID" sz="2000" b="1" dirty="0">
                <a:solidFill>
                  <a:srgbClr val="1A1A1A"/>
                </a:solidFill>
                <a:latin typeface="Roboto"/>
                <a:ea typeface="Roboto"/>
                <a:cs typeface="Roboto"/>
              </a:rPr>
              <a:t>Laporan 29–30 Oktober 2026: </a:t>
            </a:r>
            <a:r>
              <a:rPr lang="id-ID" sz="2000" b="1" dirty="0">
                <a:solidFill>
                  <a:srgbClr val="D9600B"/>
                </a:solidFill>
                <a:latin typeface="Roboto"/>
                <a:ea typeface="Roboto"/>
                <a:cs typeface="Roboto"/>
              </a:rPr>
              <a:t>35</a:t>
            </a:r>
            <a:r>
              <a:rPr lang="id-ID" sz="2000" b="1" dirty="0">
                <a:solidFill>
                  <a:srgbClr val="1A1A1A"/>
                </a:solidFill>
                <a:latin typeface="Roboto"/>
                <a:ea typeface="Roboto"/>
                <a:cs typeface="Roboto"/>
              </a:rPr>
              <a:t> kejadian menonjol di </a:t>
            </a:r>
            <a:r>
              <a:rPr lang="id-ID" sz="2000" b="1" dirty="0">
                <a:solidFill>
                  <a:srgbClr val="D9600B"/>
                </a:solidFill>
                <a:latin typeface="Roboto"/>
                <a:ea typeface="Roboto"/>
                <a:cs typeface="Roboto"/>
              </a:rPr>
              <a:t>24 provinsi</a:t>
            </a:r>
            <a:r>
              <a:rPr lang="id-ID" sz="2000" b="1" dirty="0">
                <a:solidFill>
                  <a:srgbClr val="1A1A1A"/>
                </a:solidFill>
                <a:latin typeface="Roboto"/>
                <a:ea typeface="Roboto"/>
                <a:cs typeface="Roboto"/>
              </a:rPr>
              <a:t>, terdiri atas </a:t>
            </a:r>
            <a:r>
              <a:rPr lang="id-ID" sz="2000" b="1" dirty="0">
                <a:solidFill>
                  <a:srgbClr val="D9600B"/>
                </a:solidFill>
                <a:latin typeface="Roboto"/>
                <a:ea typeface="Roboto"/>
                <a:cs typeface="Roboto"/>
              </a:rPr>
              <a:t>18</a:t>
            </a:r>
            <a:r>
              <a:rPr lang="id-ID" sz="2000" b="1" dirty="0">
                <a:solidFill>
                  <a:srgbClr val="1A1A1A"/>
                </a:solidFill>
                <a:latin typeface="Roboto"/>
                <a:ea typeface="Roboto"/>
                <a:cs typeface="Roboto"/>
              </a:rPr>
              <a:t> karhutla, </a:t>
            </a:r>
            <a:r>
              <a:rPr lang="id-ID" sz="2000" b="1" dirty="0">
                <a:solidFill>
                  <a:srgbClr val="D9600B"/>
                </a:solidFill>
                <a:latin typeface="Roboto"/>
                <a:ea typeface="Roboto"/>
                <a:cs typeface="Roboto"/>
              </a:rPr>
              <a:t>4</a:t>
            </a:r>
            <a:r>
              <a:rPr lang="id-ID" sz="2000" b="1" dirty="0">
                <a:solidFill>
                  <a:srgbClr val="1A1A1A"/>
                </a:solidFill>
                <a:latin typeface="Roboto"/>
                <a:ea typeface="Roboto"/>
                <a:cs typeface="Roboto"/>
              </a:rPr>
              <a:t> kekeringan, dan </a:t>
            </a:r>
            <a:r>
              <a:rPr lang="id-ID" sz="2000" b="1" dirty="0">
                <a:solidFill>
                  <a:srgbClr val="D9600B"/>
                </a:solidFill>
                <a:latin typeface="Roboto"/>
                <a:ea typeface="Roboto"/>
                <a:cs typeface="Roboto"/>
              </a:rPr>
              <a:t>13</a:t>
            </a:r>
            <a:r>
              <a:rPr lang="id-ID" sz="2000" b="1" dirty="0">
                <a:solidFill>
                  <a:srgbClr val="1A1A1A"/>
                </a:solidFill>
                <a:latin typeface="Roboto"/>
                <a:ea typeface="Roboto"/>
                <a:cs typeface="Roboto"/>
              </a:rPr>
              <a:t> bencana lainnya</a:t>
            </a:r>
            <a:endParaRPr lang="id-ID" sz="2000"/>
          </a:p>
        </p:txBody>
      </p:sp>
      <p:sp>
        <p:nvSpPr>
          <p:cNvPr id="301" name="K"/>
          <p:cNvSpPr/>
          <p:nvPr/>
        </p:nvSpPr>
        <p:spPr>
          <a:xfrm>
            <a:off x="548640" y="1280160"/>
            <a:ext cx="8579267" cy="932688"/>
          </a:xfrm>
          <a:prstGeom prst="roundRect">
            <a:avLst>
              <a:gd name="adj" fmla="val 7843"/>
            </a:avLst>
          </a:prstGeom>
          <a:solidFill>
            <a:srgbClr val="F3F5F8"/>
          </a:solidFill>
          <a:ln>
            <a:noFill/>
          </a:ln>
        </p:spPr>
      </p:sp>
      <p:sp>
        <p:nvSpPr>
          <p:cNvPr id="302" name="K"/>
          <p:cNvSpPr/>
          <p:nvPr/>
        </p:nvSpPr>
        <p:spPr>
          <a:xfrm>
            <a:off x="658368" y="1335024"/>
            <a:ext cx="1525219" cy="182880"/>
          </a:xfrm>
          <a:prstGeom prst="roundRect">
            <a:avLst>
              <a:gd name="adj" fmla="val 50000"/>
            </a:avLst>
          </a:prstGeom>
          <a:solidFill>
            <a:srgbClr val="051C2C"/>
          </a:solidFill>
          <a:ln>
            <a:noFill/>
          </a:ln>
        </p:spPr>
      </p:sp>
      <p:pic>
        <p:nvPicPr>
          <p:cNvPr id="303" name="G"/>
          <p:cNvPicPr>
            <a:picLocks noChangeAspect="1"/>
          </p:cNvPicPr>
          <p:nvPr/>
        </p:nvPicPr>
        <p:blipFill>
          <a:blip r:embed="rIdM1"/>
          <a:stretch>
            <a:fillRect/>
          </a:stretch>
        </p:blipFill>
        <p:spPr>
          <a:xfrm>
            <a:off x="731520" y="1371600"/>
            <a:ext cx="109728" cy="109728"/>
          </a:xfrm>
          <a:prstGeom prst="rect">
            <a:avLst/>
          </a:prstGeom>
        </p:spPr>
      </p:pic>
      <p:sp>
        <p:nvSpPr>
          <p:cNvPr id="304" name="T"/>
          <p:cNvSpPr txBox="1"/>
          <p:nvPr/>
        </p:nvSpPr>
        <p:spPr>
          <a:xfrm>
            <a:off x="896112" y="1335024"/>
            <a:ext cx="1265219" cy="182880"/>
          </a:xfrm>
          <a:prstGeom prst="rect">
            <a:avLst/>
          </a:prstGeom>
          <a:noFill/>
        </p:spPr>
        <p:txBody>
          <a:bodyPr wrap="none" lIns="0" tIns="0" rIns="0" bIns="0" anchor="ctr"/>
          <a:lstStyle/>
          <a:p>
            <a:pPr algn="l">
              <a:buNone/>
            </a:pPr>
            <a:r>
              <a:rPr lang="id-ID" sz="700" b="1" spc="100" dirty="0">
                <a:solidFill>
                  <a:srgbClr val="FFFFFF"/>
                </a:solidFill>
                <a:latin typeface="Roboto"/>
                <a:ea typeface="Roboto"/>
                <a:cs typeface="Roboto"/>
              </a:rPr>
              <a:t>KEJADIAN BENCANA</a:t>
            </a:r>
            <a:endParaRPr lang="id-ID" sz="660"/>
          </a:p>
        </p:txBody>
      </p:sp>
      <p:sp>
        <p:nvSpPr>
          <p:cNvPr id="305" name="K"/>
          <p:cNvSpPr/>
          <p:nvPr/>
        </p:nvSpPr>
        <p:spPr>
          <a:xfrm>
            <a:off x="9402227" y="1280160"/>
            <a:ext cx="2240829" cy="932688"/>
          </a:xfrm>
          <a:prstGeom prst="roundRect">
            <a:avLst>
              <a:gd name="adj" fmla="val 7843"/>
            </a:avLst>
          </a:prstGeom>
          <a:solidFill>
            <a:srgbClr val="FCF1F2"/>
          </a:solidFill>
          <a:ln>
            <a:noFill/>
          </a:ln>
        </p:spPr>
      </p:sp>
      <p:sp>
        <p:nvSpPr>
          <p:cNvPr id="306" name="K"/>
          <p:cNvSpPr/>
          <p:nvPr/>
        </p:nvSpPr>
        <p:spPr>
          <a:xfrm>
            <a:off x="9511955" y="1335024"/>
            <a:ext cx="1453896" cy="182880"/>
          </a:xfrm>
          <a:prstGeom prst="roundRect">
            <a:avLst>
              <a:gd name="adj" fmla="val 50000"/>
            </a:avLst>
          </a:prstGeom>
          <a:solidFill>
            <a:srgbClr val="C8102E"/>
          </a:solidFill>
          <a:ln>
            <a:noFill/>
          </a:ln>
        </p:spPr>
      </p:sp>
      <p:pic>
        <p:nvPicPr>
          <p:cNvPr id="307" name="G"/>
          <p:cNvPicPr>
            <a:picLocks noChangeAspect="1"/>
          </p:cNvPicPr>
          <p:nvPr/>
        </p:nvPicPr>
        <p:blipFill>
          <a:blip r:embed="rIdM2"/>
          <a:stretch>
            <a:fillRect/>
          </a:stretch>
        </p:blipFill>
        <p:spPr>
          <a:xfrm>
            <a:off x="9585107" y="1371600"/>
            <a:ext cx="109728" cy="109728"/>
          </a:xfrm>
          <a:prstGeom prst="rect">
            <a:avLst/>
          </a:prstGeom>
        </p:spPr>
      </p:pic>
      <p:sp>
        <p:nvSpPr>
          <p:cNvPr id="308" name="T"/>
          <p:cNvSpPr txBox="1"/>
          <p:nvPr/>
        </p:nvSpPr>
        <p:spPr>
          <a:xfrm>
            <a:off x="9749699" y="1335024"/>
            <a:ext cx="1193896" cy="182880"/>
          </a:xfrm>
          <a:prstGeom prst="rect">
            <a:avLst/>
          </a:prstGeom>
          <a:noFill/>
        </p:spPr>
        <p:txBody>
          <a:bodyPr wrap="none" lIns="0" tIns="0" rIns="0" bIns="0" anchor="ctr"/>
          <a:lstStyle/>
          <a:p>
            <a:pPr algn="l">
              <a:buNone/>
            </a:pPr>
            <a:r>
              <a:rPr lang="id-ID" sz="700" b="1" spc="100" dirty="0">
                <a:solidFill>
                  <a:srgbClr val="FFFFFF"/>
                </a:solidFill>
                <a:latin typeface="Roboto"/>
                <a:ea typeface="Roboto"/>
                <a:cs typeface="Roboto"/>
              </a:rPr>
              <a:t>PERLU PERHATIAN</a:t>
            </a:r>
            <a:endParaRPr lang="id-ID" sz="660"/>
          </a:p>
        </p:txBody>
      </p:sp>
      <p:sp>
        <p:nvSpPr>
          <p:cNvPr id="309" name="K"/>
          <p:cNvSpPr/>
          <p:nvPr/>
        </p:nvSpPr>
        <p:spPr>
          <a:xfrm>
            <a:off x="658368" y="1591056"/>
            <a:ext cx="1598810" cy="512064"/>
          </a:xfrm>
          <a:prstGeom prst="roundRect">
            <a:avLst>
              <a:gd name="adj" fmla="val 14286"/>
            </a:avLst>
          </a:prstGeom>
          <a:solidFill>
            <a:srgbClr val="FFFFFF"/>
          </a:solidFill>
          <a:ln w="9525">
            <a:solidFill>
              <a:srgbClr val="BFC5CC"/>
            </a:solidFill>
          </a:ln>
        </p:spPr>
      </p:sp>
      <p:sp>
        <p:nvSpPr>
          <p:cNvPr id="310" name="K"/>
          <p:cNvSpPr/>
          <p:nvPr/>
        </p:nvSpPr>
        <p:spPr>
          <a:xfrm>
            <a:off x="768096" y="1682496"/>
            <a:ext cx="329184" cy="329184"/>
          </a:xfrm>
          <a:prstGeom prst="ellipse">
            <a:avLst/>
          </a:prstGeom>
          <a:solidFill>
            <a:srgbClr val="E6EAF0"/>
          </a:solidFill>
          <a:ln>
            <a:noFill/>
          </a:ln>
        </p:spPr>
      </p:sp>
      <p:pic>
        <p:nvPicPr>
          <p:cNvPr id="311" name="G"/>
          <p:cNvPicPr>
            <a:picLocks noChangeAspect="1"/>
          </p:cNvPicPr>
          <p:nvPr/>
        </p:nvPicPr>
        <p:blipFill>
          <a:blip r:embed="rIdM3"/>
          <a:stretch>
            <a:fillRect/>
          </a:stretch>
        </p:blipFill>
        <p:spPr>
          <a:xfrm>
            <a:off x="841248" y="1755648"/>
            <a:ext cx="182880" cy="182880"/>
          </a:xfrm>
          <a:prstGeom prst="rect">
            <a:avLst/>
          </a:prstGeom>
        </p:spPr>
      </p:pic>
      <p:sp>
        <p:nvSpPr>
          <p:cNvPr id="312" name="T"/>
          <p:cNvSpPr txBox="1"/>
          <p:nvPr/>
        </p:nvSpPr>
        <p:spPr>
          <a:xfrm>
            <a:off x="1170432" y="1627632"/>
            <a:ext cx="1050170" cy="274320"/>
          </a:xfrm>
          <a:prstGeom prst="rect">
            <a:avLst/>
          </a:prstGeom>
          <a:noFill/>
        </p:spPr>
        <p:txBody>
          <a:bodyPr wrap="square" lIns="0" tIns="0" rIns="0" bIns="0" anchor="ctr"/>
          <a:lstStyle/>
          <a:p>
            <a:pPr algn="l">
              <a:buNone/>
            </a:pPr>
            <a:r>
              <a:rPr lang="id-ID" sz="1700" b="1" dirty="0">
                <a:solidFill>
                  <a:srgbClr val="051C2C"/>
                </a:solidFill>
                <a:latin typeface="Roboto"/>
                <a:ea typeface="Roboto"/>
                <a:cs typeface="Roboto"/>
              </a:rPr>
              <a:t>39</a:t>
            </a:r>
            <a:endParaRPr lang="id-ID" sz="1700"/>
          </a:p>
        </p:txBody>
      </p:sp>
      <p:sp>
        <p:nvSpPr>
          <p:cNvPr id="313" name="T"/>
          <p:cNvSpPr txBox="1"/>
          <p:nvPr/>
        </p:nvSpPr>
        <p:spPr>
          <a:xfrm>
            <a:off x="1170432" y="1892808"/>
            <a:ext cx="1050170"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laporan kejadian</a:t>
            </a:r>
            <a:endParaRPr lang="id-ID" sz="750"/>
          </a:p>
        </p:txBody>
      </p:sp>
      <p:sp>
        <p:nvSpPr>
          <p:cNvPr id="314" name="K"/>
          <p:cNvSpPr/>
          <p:nvPr/>
        </p:nvSpPr>
        <p:spPr>
          <a:xfrm>
            <a:off x="2348618" y="1591056"/>
            <a:ext cx="1598810" cy="512064"/>
          </a:xfrm>
          <a:prstGeom prst="roundRect">
            <a:avLst>
              <a:gd name="adj" fmla="val 14286"/>
            </a:avLst>
          </a:prstGeom>
          <a:solidFill>
            <a:srgbClr val="FFFFFF"/>
          </a:solidFill>
          <a:ln w="9525">
            <a:solidFill>
              <a:srgbClr val="BFC5CC"/>
            </a:solidFill>
          </a:ln>
        </p:spPr>
      </p:sp>
      <p:sp>
        <p:nvSpPr>
          <p:cNvPr id="315" name="K"/>
          <p:cNvSpPr/>
          <p:nvPr/>
        </p:nvSpPr>
        <p:spPr>
          <a:xfrm>
            <a:off x="2458346" y="1682496"/>
            <a:ext cx="329184" cy="329184"/>
          </a:xfrm>
          <a:prstGeom prst="ellipse">
            <a:avLst/>
          </a:prstGeom>
          <a:solidFill>
            <a:srgbClr val="E6EAF0"/>
          </a:solidFill>
          <a:ln>
            <a:noFill/>
          </a:ln>
        </p:spPr>
      </p:sp>
      <p:pic>
        <p:nvPicPr>
          <p:cNvPr id="316" name="G"/>
          <p:cNvPicPr>
            <a:picLocks noChangeAspect="1"/>
          </p:cNvPicPr>
          <p:nvPr/>
        </p:nvPicPr>
        <p:blipFill>
          <a:blip r:embed="rIdM4"/>
          <a:stretch>
            <a:fillRect/>
          </a:stretch>
        </p:blipFill>
        <p:spPr>
          <a:xfrm>
            <a:off x="2531498" y="1755648"/>
            <a:ext cx="182880" cy="182880"/>
          </a:xfrm>
          <a:prstGeom prst="rect">
            <a:avLst/>
          </a:prstGeom>
        </p:spPr>
      </p:pic>
      <p:sp>
        <p:nvSpPr>
          <p:cNvPr id="317" name="T"/>
          <p:cNvSpPr txBox="1"/>
          <p:nvPr/>
        </p:nvSpPr>
        <p:spPr>
          <a:xfrm>
            <a:off x="2860682" y="1627632"/>
            <a:ext cx="1050170" cy="274320"/>
          </a:xfrm>
          <a:prstGeom prst="rect">
            <a:avLst/>
          </a:prstGeom>
          <a:noFill/>
        </p:spPr>
        <p:txBody>
          <a:bodyPr wrap="square" lIns="0" tIns="0" rIns="0" bIns="0" anchor="ctr"/>
          <a:lstStyle/>
          <a:p>
            <a:pPr algn="l">
              <a:buNone/>
            </a:pPr>
            <a:r>
              <a:rPr lang="id-ID" sz="1700" b="1" dirty="0">
                <a:solidFill>
                  <a:srgbClr val="051C2C"/>
                </a:solidFill>
                <a:latin typeface="Roboto"/>
                <a:ea typeface="Roboto"/>
                <a:cs typeface="Roboto"/>
              </a:rPr>
              <a:t>35</a:t>
            </a:r>
            <a:endParaRPr lang="id-ID" sz="1700"/>
          </a:p>
        </p:txBody>
      </p:sp>
      <p:sp>
        <p:nvSpPr>
          <p:cNvPr id="318" name="T"/>
          <p:cNvSpPr txBox="1"/>
          <p:nvPr/>
        </p:nvSpPr>
        <p:spPr>
          <a:xfrm>
            <a:off x="2860682" y="1892808"/>
            <a:ext cx="1050170"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kejadian menonjol</a:t>
            </a:r>
            <a:endParaRPr lang="id-ID" sz="750"/>
          </a:p>
        </p:txBody>
      </p:sp>
      <p:sp>
        <p:nvSpPr>
          <p:cNvPr id="319" name="K"/>
          <p:cNvSpPr/>
          <p:nvPr/>
        </p:nvSpPr>
        <p:spPr>
          <a:xfrm>
            <a:off x="4038868" y="1591056"/>
            <a:ext cx="1598810" cy="512064"/>
          </a:xfrm>
          <a:prstGeom prst="roundRect">
            <a:avLst>
              <a:gd name="adj" fmla="val 14286"/>
            </a:avLst>
          </a:prstGeom>
          <a:solidFill>
            <a:srgbClr val="FFFFFF"/>
          </a:solidFill>
          <a:ln w="9525">
            <a:solidFill>
              <a:srgbClr val="BFC5CC"/>
            </a:solidFill>
          </a:ln>
        </p:spPr>
      </p:sp>
      <p:sp>
        <p:nvSpPr>
          <p:cNvPr id="320" name="K"/>
          <p:cNvSpPr/>
          <p:nvPr/>
        </p:nvSpPr>
        <p:spPr>
          <a:xfrm>
            <a:off x="4148596" y="1682496"/>
            <a:ext cx="329184" cy="329184"/>
          </a:xfrm>
          <a:prstGeom prst="ellipse">
            <a:avLst/>
          </a:prstGeom>
          <a:solidFill>
            <a:srgbClr val="FBE7D6"/>
          </a:solidFill>
          <a:ln>
            <a:noFill/>
          </a:ln>
        </p:spPr>
      </p:sp>
      <p:pic>
        <p:nvPicPr>
          <p:cNvPr id="321" name="G"/>
          <p:cNvPicPr>
            <a:picLocks noChangeAspect="1"/>
          </p:cNvPicPr>
          <p:nvPr/>
        </p:nvPicPr>
        <p:blipFill>
          <a:blip r:embed="rIdM5"/>
          <a:stretch>
            <a:fillRect/>
          </a:stretch>
        </p:blipFill>
        <p:spPr>
          <a:xfrm>
            <a:off x="4221748" y="1755648"/>
            <a:ext cx="182880" cy="182880"/>
          </a:xfrm>
          <a:prstGeom prst="rect">
            <a:avLst/>
          </a:prstGeom>
        </p:spPr>
      </p:pic>
      <p:sp>
        <p:nvSpPr>
          <p:cNvPr id="322" name="T"/>
          <p:cNvSpPr txBox="1"/>
          <p:nvPr/>
        </p:nvSpPr>
        <p:spPr>
          <a:xfrm>
            <a:off x="4550932" y="1627632"/>
            <a:ext cx="1050170" cy="274320"/>
          </a:xfrm>
          <a:prstGeom prst="rect">
            <a:avLst/>
          </a:prstGeom>
          <a:noFill/>
        </p:spPr>
        <p:txBody>
          <a:bodyPr wrap="square" lIns="0" tIns="0" rIns="0" bIns="0" anchor="ctr"/>
          <a:lstStyle/>
          <a:p>
            <a:pPr algn="l">
              <a:buNone/>
            </a:pPr>
            <a:r>
              <a:rPr lang="id-ID" sz="1700" b="1" dirty="0">
                <a:solidFill>
                  <a:srgbClr val="D9600B"/>
                </a:solidFill>
                <a:latin typeface="Roboto"/>
                <a:ea typeface="Roboto"/>
                <a:cs typeface="Roboto"/>
              </a:rPr>
              <a:t>18</a:t>
            </a:r>
            <a:endParaRPr lang="id-ID" sz="1700"/>
          </a:p>
        </p:txBody>
      </p:sp>
      <p:sp>
        <p:nvSpPr>
          <p:cNvPr id="323" name="T"/>
          <p:cNvSpPr txBox="1"/>
          <p:nvPr/>
        </p:nvSpPr>
        <p:spPr>
          <a:xfrm>
            <a:off x="4550932" y="1892808"/>
            <a:ext cx="1050170"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karhutla</a:t>
            </a:r>
            <a:endParaRPr lang="id-ID" sz="750"/>
          </a:p>
        </p:txBody>
      </p:sp>
      <p:sp>
        <p:nvSpPr>
          <p:cNvPr id="324" name="K"/>
          <p:cNvSpPr/>
          <p:nvPr/>
        </p:nvSpPr>
        <p:spPr>
          <a:xfrm>
            <a:off x="5729118" y="1591056"/>
            <a:ext cx="1598810" cy="512064"/>
          </a:xfrm>
          <a:prstGeom prst="roundRect">
            <a:avLst>
              <a:gd name="adj" fmla="val 14286"/>
            </a:avLst>
          </a:prstGeom>
          <a:solidFill>
            <a:srgbClr val="FFFFFF"/>
          </a:solidFill>
          <a:ln w="9525">
            <a:solidFill>
              <a:srgbClr val="BFC5CC"/>
            </a:solidFill>
          </a:ln>
        </p:spPr>
      </p:sp>
      <p:sp>
        <p:nvSpPr>
          <p:cNvPr id="325" name="K"/>
          <p:cNvSpPr/>
          <p:nvPr/>
        </p:nvSpPr>
        <p:spPr>
          <a:xfrm>
            <a:off x="5838846" y="1682496"/>
            <a:ext cx="329184" cy="329184"/>
          </a:xfrm>
          <a:prstGeom prst="ellipse">
            <a:avLst/>
          </a:prstGeom>
          <a:solidFill>
            <a:srgbClr val="F4ECDC"/>
          </a:solidFill>
          <a:ln>
            <a:noFill/>
          </a:ln>
        </p:spPr>
      </p:sp>
      <p:pic>
        <p:nvPicPr>
          <p:cNvPr id="326" name="G"/>
          <p:cNvPicPr>
            <a:picLocks noChangeAspect="1"/>
          </p:cNvPicPr>
          <p:nvPr/>
        </p:nvPicPr>
        <p:blipFill>
          <a:blip r:embed="rIdM6"/>
          <a:stretch>
            <a:fillRect/>
          </a:stretch>
        </p:blipFill>
        <p:spPr>
          <a:xfrm>
            <a:off x="5911998" y="1755648"/>
            <a:ext cx="182880" cy="182880"/>
          </a:xfrm>
          <a:prstGeom prst="rect">
            <a:avLst/>
          </a:prstGeom>
        </p:spPr>
      </p:pic>
      <p:sp>
        <p:nvSpPr>
          <p:cNvPr id="327" name="T"/>
          <p:cNvSpPr txBox="1"/>
          <p:nvPr/>
        </p:nvSpPr>
        <p:spPr>
          <a:xfrm>
            <a:off x="6241182" y="1627632"/>
            <a:ext cx="1050170" cy="274320"/>
          </a:xfrm>
          <a:prstGeom prst="rect">
            <a:avLst/>
          </a:prstGeom>
          <a:noFill/>
        </p:spPr>
        <p:txBody>
          <a:bodyPr wrap="square" lIns="0" tIns="0" rIns="0" bIns="0" anchor="ctr"/>
          <a:lstStyle/>
          <a:p>
            <a:pPr algn="l">
              <a:buNone/>
            </a:pPr>
            <a:r>
              <a:rPr lang="id-ID" sz="1700" b="1" dirty="0">
                <a:solidFill>
                  <a:srgbClr val="B08A3E"/>
                </a:solidFill>
                <a:latin typeface="Roboto"/>
                <a:ea typeface="Roboto"/>
                <a:cs typeface="Roboto"/>
              </a:rPr>
              <a:t>4</a:t>
            </a:r>
            <a:endParaRPr lang="id-ID" sz="1700"/>
          </a:p>
        </p:txBody>
      </p:sp>
      <p:sp>
        <p:nvSpPr>
          <p:cNvPr id="328" name="T"/>
          <p:cNvSpPr txBox="1"/>
          <p:nvPr/>
        </p:nvSpPr>
        <p:spPr>
          <a:xfrm>
            <a:off x="6241182" y="1892808"/>
            <a:ext cx="1050170"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kekeringan</a:t>
            </a:r>
            <a:endParaRPr lang="id-ID" sz="750"/>
          </a:p>
        </p:txBody>
      </p:sp>
      <p:sp>
        <p:nvSpPr>
          <p:cNvPr id="329" name="K"/>
          <p:cNvSpPr/>
          <p:nvPr/>
        </p:nvSpPr>
        <p:spPr>
          <a:xfrm>
            <a:off x="7419368" y="1591056"/>
            <a:ext cx="1598810" cy="512064"/>
          </a:xfrm>
          <a:prstGeom prst="roundRect">
            <a:avLst>
              <a:gd name="adj" fmla="val 14286"/>
            </a:avLst>
          </a:prstGeom>
          <a:solidFill>
            <a:srgbClr val="FFFFFF"/>
          </a:solidFill>
          <a:ln w="9525">
            <a:solidFill>
              <a:srgbClr val="BFC5CC"/>
            </a:solidFill>
          </a:ln>
        </p:spPr>
      </p:sp>
      <p:sp>
        <p:nvSpPr>
          <p:cNvPr id="330" name="K"/>
          <p:cNvSpPr/>
          <p:nvPr/>
        </p:nvSpPr>
        <p:spPr>
          <a:xfrm>
            <a:off x="7529096" y="1682496"/>
            <a:ext cx="329184" cy="329184"/>
          </a:xfrm>
          <a:prstGeom prst="ellipse">
            <a:avLst/>
          </a:prstGeom>
          <a:solidFill>
            <a:srgbClr val="E3EAF1"/>
          </a:solidFill>
          <a:ln>
            <a:noFill/>
          </a:ln>
        </p:spPr>
      </p:sp>
      <p:pic>
        <p:nvPicPr>
          <p:cNvPr id="331" name="G"/>
          <p:cNvPicPr>
            <a:picLocks noChangeAspect="1"/>
          </p:cNvPicPr>
          <p:nvPr/>
        </p:nvPicPr>
        <p:blipFill>
          <a:blip r:embed="rIdM7"/>
          <a:stretch>
            <a:fillRect/>
          </a:stretch>
        </p:blipFill>
        <p:spPr>
          <a:xfrm>
            <a:off x="7602248" y="1755648"/>
            <a:ext cx="182880" cy="182880"/>
          </a:xfrm>
          <a:prstGeom prst="rect">
            <a:avLst/>
          </a:prstGeom>
        </p:spPr>
      </p:pic>
      <p:sp>
        <p:nvSpPr>
          <p:cNvPr id="332" name="T"/>
          <p:cNvSpPr txBox="1"/>
          <p:nvPr/>
        </p:nvSpPr>
        <p:spPr>
          <a:xfrm>
            <a:off x="7931432" y="1627632"/>
            <a:ext cx="1050170" cy="274320"/>
          </a:xfrm>
          <a:prstGeom prst="rect">
            <a:avLst/>
          </a:prstGeom>
          <a:noFill/>
        </p:spPr>
        <p:txBody>
          <a:bodyPr wrap="square" lIns="0" tIns="0" rIns="0" bIns="0" anchor="ctr"/>
          <a:lstStyle/>
          <a:p>
            <a:pPr algn="l">
              <a:buNone/>
            </a:pPr>
            <a:r>
              <a:rPr lang="id-ID" sz="1700" b="1" dirty="0">
                <a:solidFill>
                  <a:srgbClr val="5B7A99"/>
                </a:solidFill>
                <a:latin typeface="Roboto"/>
                <a:ea typeface="Roboto"/>
                <a:cs typeface="Roboto"/>
              </a:rPr>
              <a:t>13</a:t>
            </a:r>
            <a:endParaRPr lang="id-ID" sz="1700"/>
          </a:p>
        </p:txBody>
      </p:sp>
      <p:sp>
        <p:nvSpPr>
          <p:cNvPr id="333" name="T"/>
          <p:cNvSpPr txBox="1"/>
          <p:nvPr/>
        </p:nvSpPr>
        <p:spPr>
          <a:xfrm>
            <a:off x="7931432" y="1892808"/>
            <a:ext cx="1050170"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bencana lainnya</a:t>
            </a:r>
            <a:endParaRPr lang="id-ID" sz="750"/>
          </a:p>
        </p:txBody>
      </p:sp>
      <p:sp>
        <p:nvSpPr>
          <p:cNvPr id="334" name="K"/>
          <p:cNvSpPr/>
          <p:nvPr/>
        </p:nvSpPr>
        <p:spPr>
          <a:xfrm>
            <a:off x="9511955" y="1591056"/>
            <a:ext cx="2021373" cy="512064"/>
          </a:xfrm>
          <a:prstGeom prst="roundRect">
            <a:avLst>
              <a:gd name="adj" fmla="val 14286"/>
            </a:avLst>
          </a:prstGeom>
          <a:solidFill>
            <a:srgbClr val="FFFFFF"/>
          </a:solidFill>
          <a:ln w="9525">
            <a:solidFill>
              <a:srgbClr val="BFC5CC"/>
            </a:solidFill>
          </a:ln>
        </p:spPr>
      </p:sp>
      <p:sp>
        <p:nvSpPr>
          <p:cNvPr id="335" name="K"/>
          <p:cNvSpPr/>
          <p:nvPr/>
        </p:nvSpPr>
        <p:spPr>
          <a:xfrm>
            <a:off x="9621683" y="1682496"/>
            <a:ext cx="329184" cy="329184"/>
          </a:xfrm>
          <a:prstGeom prst="ellipse">
            <a:avLst/>
          </a:prstGeom>
          <a:solidFill>
            <a:srgbClr val="F8DDE0"/>
          </a:solidFill>
          <a:ln>
            <a:noFill/>
          </a:ln>
        </p:spPr>
      </p:sp>
      <p:pic>
        <p:nvPicPr>
          <p:cNvPr id="336" name="G"/>
          <p:cNvPicPr>
            <a:picLocks noChangeAspect="1"/>
          </p:cNvPicPr>
          <p:nvPr/>
        </p:nvPicPr>
        <p:blipFill>
          <a:blip r:embed="rIdM8"/>
          <a:stretch>
            <a:fillRect/>
          </a:stretch>
        </p:blipFill>
        <p:spPr>
          <a:xfrm>
            <a:off x="9694835" y="1755648"/>
            <a:ext cx="182880" cy="182880"/>
          </a:xfrm>
          <a:prstGeom prst="rect">
            <a:avLst/>
          </a:prstGeom>
        </p:spPr>
      </p:pic>
      <p:sp>
        <p:nvSpPr>
          <p:cNvPr id="337" name="T"/>
          <p:cNvSpPr txBox="1"/>
          <p:nvPr/>
        </p:nvSpPr>
        <p:spPr>
          <a:xfrm>
            <a:off x="10024019" y="1627632"/>
            <a:ext cx="1472733" cy="274320"/>
          </a:xfrm>
          <a:prstGeom prst="rect">
            <a:avLst/>
          </a:prstGeom>
          <a:noFill/>
        </p:spPr>
        <p:txBody>
          <a:bodyPr wrap="square" lIns="0" tIns="0" rIns="0" bIns="0" anchor="ctr"/>
          <a:lstStyle/>
          <a:p>
            <a:pPr algn="l">
              <a:buNone/>
            </a:pPr>
            <a:r>
              <a:rPr lang="id-ID" sz="1700" b="1" dirty="0">
                <a:solidFill>
                  <a:srgbClr val="C8102E"/>
                </a:solidFill>
                <a:latin typeface="Roboto"/>
                <a:ea typeface="Roboto"/>
                <a:cs typeface="Roboto"/>
              </a:rPr>
              <a:t>10</a:t>
            </a:r>
            <a:endParaRPr lang="id-ID" sz="1700"/>
          </a:p>
        </p:txBody>
      </p:sp>
      <p:sp>
        <p:nvSpPr>
          <p:cNvPr id="338" name="T"/>
          <p:cNvSpPr txBox="1"/>
          <p:nvPr/>
        </p:nvSpPr>
        <p:spPr>
          <a:xfrm>
            <a:off x="10024019" y="1892808"/>
            <a:ext cx="1472733"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kejadian perlu perhatian</a:t>
            </a:r>
            <a:endParaRPr lang="id-ID" sz="750"/>
          </a:p>
        </p:txBody>
      </p:sp>
      <p:pic>
        <p:nvPicPr>
          <p:cNvPr id="339" name="G"/>
          <p:cNvPicPr>
            <a:picLocks noChangeAspect="1"/>
          </p:cNvPicPr>
          <p:nvPr/>
        </p:nvPicPr>
        <p:blipFill>
          <a:blip r:embed="rIdM9"/>
          <a:stretch>
            <a:fillRect/>
          </a:stretch>
        </p:blipFill>
        <p:spPr>
          <a:xfrm>
            <a:off x="502920" y="2331720"/>
            <a:ext cx="7680960" cy="2880360"/>
          </a:xfrm>
          <a:prstGeom prst="rect">
            <a:avLst/>
          </a:prstGeom>
        </p:spPr>
      </p:pic>
      <p:sp>
        <p:nvSpPr>
          <p:cNvPr id="340" name="K"/>
          <p:cNvSpPr/>
          <p:nvPr/>
        </p:nvSpPr>
        <p:spPr>
          <a:xfrm>
            <a:off x="7871081" y="4351809"/>
            <a:ext cx="219456" cy="219456"/>
          </a:xfrm>
          <a:prstGeom prst="ellipse">
            <a:avLst/>
          </a:prstGeom>
          <a:solidFill>
            <a:srgbClr val="D9600B"/>
          </a:solidFill>
          <a:ln w="19050">
            <a:solidFill>
              <a:srgbClr val="FFFFFF"/>
            </a:solidFill>
          </a:ln>
        </p:spPr>
      </p:sp>
      <p:sp>
        <p:nvSpPr>
          <p:cNvPr id="341" name="T"/>
          <p:cNvSpPr txBox="1"/>
          <p:nvPr/>
        </p:nvSpPr>
        <p:spPr>
          <a:xfrm>
            <a:off x="7871081" y="4351809"/>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42" name="K"/>
          <p:cNvSpPr/>
          <p:nvPr/>
        </p:nvSpPr>
        <p:spPr>
          <a:xfrm>
            <a:off x="8004400" y="4300785"/>
            <a:ext cx="137160" cy="137160"/>
          </a:xfrm>
          <a:prstGeom prst="ellipse">
            <a:avLst/>
          </a:prstGeom>
          <a:solidFill>
            <a:srgbClr val="C8102E"/>
          </a:solidFill>
          <a:ln w="12700">
            <a:solidFill>
              <a:srgbClr val="FFFFFF"/>
            </a:solidFill>
          </a:ln>
        </p:spPr>
      </p:sp>
      <p:sp>
        <p:nvSpPr>
          <p:cNvPr id="343" name="T"/>
          <p:cNvSpPr txBox="1"/>
          <p:nvPr/>
        </p:nvSpPr>
        <p:spPr>
          <a:xfrm>
            <a:off x="8004400" y="4300785"/>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44" name="T"/>
          <p:cNvSpPr txBox="1"/>
          <p:nvPr/>
        </p:nvSpPr>
        <p:spPr>
          <a:xfrm>
            <a:off x="6353177" y="4388385"/>
            <a:ext cx="1463040" cy="146304"/>
          </a:xfrm>
          <a:prstGeom prst="rect">
            <a:avLst/>
          </a:prstGeom>
          <a:noFill/>
        </p:spPr>
        <p:txBody>
          <a:bodyPr wrap="square" lIns="0" tIns="0" rIns="0" bIns="0" anchor="ctr"/>
          <a:lstStyle/>
          <a:p>
            <a:pPr algn="r">
              <a:buNone/>
            </a:pPr>
            <a:r>
              <a:rPr lang="id-ID" sz="750" b="1" dirty="0">
                <a:solidFill>
                  <a:srgbClr val="1A1A1A"/>
                </a:solidFill>
                <a:latin typeface="Roboto"/>
                <a:ea typeface="Roboto"/>
                <a:cs typeface="Roboto"/>
              </a:rPr>
              <a:t>Papua Selatan</a:t>
            </a:r>
            <a:endParaRPr lang="id-ID" sz="750"/>
          </a:p>
        </p:txBody>
      </p:sp>
      <p:sp>
        <p:nvSpPr>
          <p:cNvPr id="345" name="K"/>
          <p:cNvSpPr/>
          <p:nvPr/>
        </p:nvSpPr>
        <p:spPr>
          <a:xfrm>
            <a:off x="4675098" y="3427152"/>
            <a:ext cx="219456" cy="219456"/>
          </a:xfrm>
          <a:prstGeom prst="ellipse">
            <a:avLst/>
          </a:prstGeom>
          <a:solidFill>
            <a:srgbClr val="D9600B"/>
          </a:solidFill>
          <a:ln w="19050">
            <a:solidFill>
              <a:srgbClr val="FFFFFF"/>
            </a:solidFill>
          </a:ln>
        </p:spPr>
      </p:sp>
      <p:sp>
        <p:nvSpPr>
          <p:cNvPr id="346" name="T"/>
          <p:cNvSpPr txBox="1"/>
          <p:nvPr/>
        </p:nvSpPr>
        <p:spPr>
          <a:xfrm>
            <a:off x="4675098" y="3427152"/>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47" name="K"/>
          <p:cNvSpPr/>
          <p:nvPr/>
        </p:nvSpPr>
        <p:spPr>
          <a:xfrm>
            <a:off x="4808417" y="3376129"/>
            <a:ext cx="137160" cy="137160"/>
          </a:xfrm>
          <a:prstGeom prst="ellipse">
            <a:avLst/>
          </a:prstGeom>
          <a:solidFill>
            <a:srgbClr val="C8102E"/>
          </a:solidFill>
          <a:ln w="12700">
            <a:solidFill>
              <a:srgbClr val="FFFFFF"/>
            </a:solidFill>
          </a:ln>
        </p:spPr>
      </p:sp>
      <p:sp>
        <p:nvSpPr>
          <p:cNvPr id="348" name="T"/>
          <p:cNvSpPr txBox="1"/>
          <p:nvPr/>
        </p:nvSpPr>
        <p:spPr>
          <a:xfrm>
            <a:off x="4808417" y="3376129"/>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49" name="T"/>
          <p:cNvSpPr txBox="1"/>
          <p:nvPr/>
        </p:nvSpPr>
        <p:spPr>
          <a:xfrm>
            <a:off x="4949418" y="3463728"/>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Sul. Tengah</a:t>
            </a:r>
            <a:endParaRPr lang="id-ID" sz="750"/>
          </a:p>
        </p:txBody>
      </p:sp>
      <p:sp>
        <p:nvSpPr>
          <p:cNvPr id="350" name="K"/>
          <p:cNvSpPr/>
          <p:nvPr/>
        </p:nvSpPr>
        <p:spPr>
          <a:xfrm>
            <a:off x="4881742" y="3897704"/>
            <a:ext cx="219456" cy="219456"/>
          </a:xfrm>
          <a:prstGeom prst="ellipse">
            <a:avLst/>
          </a:prstGeom>
          <a:solidFill>
            <a:srgbClr val="D9600B"/>
          </a:solidFill>
          <a:ln w="19050">
            <a:solidFill>
              <a:srgbClr val="FFFFFF"/>
            </a:solidFill>
          </a:ln>
        </p:spPr>
      </p:sp>
      <p:sp>
        <p:nvSpPr>
          <p:cNvPr id="351" name="T"/>
          <p:cNvSpPr txBox="1"/>
          <p:nvPr/>
        </p:nvSpPr>
        <p:spPr>
          <a:xfrm>
            <a:off x="4881742" y="3897704"/>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52" name="K"/>
          <p:cNvSpPr/>
          <p:nvPr/>
        </p:nvSpPr>
        <p:spPr>
          <a:xfrm>
            <a:off x="5015062" y="3846681"/>
            <a:ext cx="137160" cy="137160"/>
          </a:xfrm>
          <a:prstGeom prst="ellipse">
            <a:avLst/>
          </a:prstGeom>
          <a:solidFill>
            <a:srgbClr val="C8102E"/>
          </a:solidFill>
          <a:ln w="12700">
            <a:solidFill>
              <a:srgbClr val="FFFFFF"/>
            </a:solidFill>
          </a:ln>
        </p:spPr>
      </p:sp>
      <p:sp>
        <p:nvSpPr>
          <p:cNvPr id="353" name="T"/>
          <p:cNvSpPr txBox="1"/>
          <p:nvPr/>
        </p:nvSpPr>
        <p:spPr>
          <a:xfrm>
            <a:off x="5015062" y="3846681"/>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54" name="T"/>
          <p:cNvSpPr txBox="1"/>
          <p:nvPr/>
        </p:nvSpPr>
        <p:spPr>
          <a:xfrm>
            <a:off x="5156062" y="3934280"/>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Sul. Tenggara</a:t>
            </a:r>
            <a:endParaRPr lang="id-ID" sz="750"/>
          </a:p>
        </p:txBody>
      </p:sp>
      <p:sp>
        <p:nvSpPr>
          <p:cNvPr id="355" name="K"/>
          <p:cNvSpPr/>
          <p:nvPr/>
        </p:nvSpPr>
        <p:spPr>
          <a:xfrm>
            <a:off x="6160213" y="3796350"/>
            <a:ext cx="219456" cy="219456"/>
          </a:xfrm>
          <a:prstGeom prst="ellipse">
            <a:avLst/>
          </a:prstGeom>
          <a:solidFill>
            <a:srgbClr val="D9600B"/>
          </a:solidFill>
          <a:ln w="19050">
            <a:solidFill>
              <a:srgbClr val="FFFFFF"/>
            </a:solidFill>
          </a:ln>
        </p:spPr>
      </p:sp>
      <p:sp>
        <p:nvSpPr>
          <p:cNvPr id="356" name="T"/>
          <p:cNvSpPr txBox="1"/>
          <p:nvPr/>
        </p:nvSpPr>
        <p:spPr>
          <a:xfrm>
            <a:off x="6160213" y="3796350"/>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57" name="K"/>
          <p:cNvSpPr/>
          <p:nvPr/>
        </p:nvSpPr>
        <p:spPr>
          <a:xfrm>
            <a:off x="6293533" y="3745326"/>
            <a:ext cx="137160" cy="137160"/>
          </a:xfrm>
          <a:prstGeom prst="ellipse">
            <a:avLst/>
          </a:prstGeom>
          <a:solidFill>
            <a:srgbClr val="C8102E"/>
          </a:solidFill>
          <a:ln w="12700">
            <a:solidFill>
              <a:srgbClr val="FFFFFF"/>
            </a:solidFill>
          </a:ln>
        </p:spPr>
      </p:sp>
      <p:sp>
        <p:nvSpPr>
          <p:cNvPr id="358" name="T"/>
          <p:cNvSpPr txBox="1"/>
          <p:nvPr/>
        </p:nvSpPr>
        <p:spPr>
          <a:xfrm>
            <a:off x="6293533" y="3745326"/>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59" name="T"/>
          <p:cNvSpPr txBox="1"/>
          <p:nvPr/>
        </p:nvSpPr>
        <p:spPr>
          <a:xfrm>
            <a:off x="6434533" y="3832926"/>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Maluku</a:t>
            </a:r>
            <a:endParaRPr lang="id-ID" sz="750"/>
          </a:p>
        </p:txBody>
      </p:sp>
      <p:sp>
        <p:nvSpPr>
          <p:cNvPr id="360" name="K"/>
          <p:cNvSpPr/>
          <p:nvPr/>
        </p:nvSpPr>
        <p:spPr>
          <a:xfrm>
            <a:off x="3980367" y="3183193"/>
            <a:ext cx="219456" cy="219456"/>
          </a:xfrm>
          <a:prstGeom prst="ellipse">
            <a:avLst/>
          </a:prstGeom>
          <a:solidFill>
            <a:srgbClr val="D9600B"/>
          </a:solidFill>
          <a:ln w="19050">
            <a:solidFill>
              <a:srgbClr val="FFFFFF"/>
            </a:solidFill>
          </a:ln>
        </p:spPr>
      </p:sp>
      <p:sp>
        <p:nvSpPr>
          <p:cNvPr id="361" name="T"/>
          <p:cNvSpPr txBox="1"/>
          <p:nvPr/>
        </p:nvSpPr>
        <p:spPr>
          <a:xfrm>
            <a:off x="3980367" y="3183193"/>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62" name="K"/>
          <p:cNvSpPr/>
          <p:nvPr/>
        </p:nvSpPr>
        <p:spPr>
          <a:xfrm>
            <a:off x="4113686" y="3132169"/>
            <a:ext cx="137160" cy="137160"/>
          </a:xfrm>
          <a:prstGeom prst="ellipse">
            <a:avLst/>
          </a:prstGeom>
          <a:solidFill>
            <a:srgbClr val="C8102E"/>
          </a:solidFill>
          <a:ln w="12700">
            <a:solidFill>
              <a:srgbClr val="FFFFFF"/>
            </a:solidFill>
          </a:ln>
        </p:spPr>
      </p:sp>
      <p:sp>
        <p:nvSpPr>
          <p:cNvPr id="363" name="T"/>
          <p:cNvSpPr txBox="1"/>
          <p:nvPr/>
        </p:nvSpPr>
        <p:spPr>
          <a:xfrm>
            <a:off x="4113686" y="3132169"/>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64" name="T"/>
          <p:cNvSpPr txBox="1"/>
          <p:nvPr/>
        </p:nvSpPr>
        <p:spPr>
          <a:xfrm>
            <a:off x="4254687" y="3219769"/>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Kal. Timur</a:t>
            </a:r>
            <a:endParaRPr lang="id-ID" sz="750"/>
          </a:p>
        </p:txBody>
      </p:sp>
      <p:sp>
        <p:nvSpPr>
          <p:cNvPr id="365" name="K"/>
          <p:cNvSpPr/>
          <p:nvPr/>
        </p:nvSpPr>
        <p:spPr>
          <a:xfrm>
            <a:off x="5917939" y="3114556"/>
            <a:ext cx="219456" cy="219456"/>
          </a:xfrm>
          <a:prstGeom prst="ellipse">
            <a:avLst/>
          </a:prstGeom>
          <a:solidFill>
            <a:srgbClr val="D9600B"/>
          </a:solidFill>
          <a:ln w="19050">
            <a:solidFill>
              <a:srgbClr val="FFFFFF"/>
            </a:solidFill>
          </a:ln>
        </p:spPr>
      </p:sp>
      <p:sp>
        <p:nvSpPr>
          <p:cNvPr id="366" name="T"/>
          <p:cNvSpPr txBox="1"/>
          <p:nvPr/>
        </p:nvSpPr>
        <p:spPr>
          <a:xfrm>
            <a:off x="5917939" y="3114556"/>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67" name="T"/>
          <p:cNvSpPr txBox="1"/>
          <p:nvPr/>
        </p:nvSpPr>
        <p:spPr>
          <a:xfrm>
            <a:off x="6192259" y="3151132"/>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Maluku Utara</a:t>
            </a:r>
            <a:endParaRPr lang="id-ID" sz="750"/>
          </a:p>
        </p:txBody>
      </p:sp>
      <p:sp>
        <p:nvSpPr>
          <p:cNvPr id="368" name="K"/>
          <p:cNvSpPr/>
          <p:nvPr/>
        </p:nvSpPr>
        <p:spPr>
          <a:xfrm>
            <a:off x="4602013" y="3996297"/>
            <a:ext cx="219456" cy="219456"/>
          </a:xfrm>
          <a:prstGeom prst="ellipse">
            <a:avLst/>
          </a:prstGeom>
          <a:solidFill>
            <a:srgbClr val="D9600B"/>
          </a:solidFill>
          <a:ln w="19050">
            <a:solidFill>
              <a:srgbClr val="FFFFFF"/>
            </a:solidFill>
          </a:ln>
        </p:spPr>
      </p:sp>
      <p:sp>
        <p:nvSpPr>
          <p:cNvPr id="369" name="T"/>
          <p:cNvSpPr txBox="1"/>
          <p:nvPr/>
        </p:nvSpPr>
        <p:spPr>
          <a:xfrm>
            <a:off x="4602013" y="3996297"/>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70" name="K"/>
          <p:cNvSpPr/>
          <p:nvPr/>
        </p:nvSpPr>
        <p:spPr>
          <a:xfrm>
            <a:off x="4735332" y="3945274"/>
            <a:ext cx="137160" cy="137160"/>
          </a:xfrm>
          <a:prstGeom prst="ellipse">
            <a:avLst/>
          </a:prstGeom>
          <a:solidFill>
            <a:srgbClr val="C8102E"/>
          </a:solidFill>
          <a:ln w="12700">
            <a:solidFill>
              <a:srgbClr val="FFFFFF"/>
            </a:solidFill>
          </a:ln>
        </p:spPr>
      </p:sp>
      <p:sp>
        <p:nvSpPr>
          <p:cNvPr id="371" name="T"/>
          <p:cNvSpPr txBox="1"/>
          <p:nvPr/>
        </p:nvSpPr>
        <p:spPr>
          <a:xfrm>
            <a:off x="4735332" y="3945274"/>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72" name="T"/>
          <p:cNvSpPr txBox="1"/>
          <p:nvPr/>
        </p:nvSpPr>
        <p:spPr>
          <a:xfrm>
            <a:off x="3980221" y="4243185"/>
            <a:ext cx="1463040" cy="146304"/>
          </a:xfrm>
          <a:prstGeom prst="rect">
            <a:avLst/>
          </a:prstGeom>
          <a:noFill/>
        </p:spPr>
        <p:txBody>
          <a:bodyPr wrap="square" lIns="0" tIns="0" rIns="0" bIns="0" anchor="ctr"/>
          <a:lstStyle/>
          <a:p>
            <a:pPr algn="ctr">
              <a:buNone/>
            </a:pPr>
            <a:r>
              <a:rPr lang="id-ID" sz="750" b="1" dirty="0">
                <a:solidFill>
                  <a:srgbClr val="1A1A1A"/>
                </a:solidFill>
                <a:latin typeface="Roboto"/>
                <a:ea typeface="Roboto"/>
                <a:cs typeface="Roboto"/>
              </a:rPr>
              <a:t>Sul. Selatan</a:t>
            </a:r>
            <a:endParaRPr lang="id-ID" sz="750"/>
          </a:p>
        </p:txBody>
      </p:sp>
      <p:sp>
        <p:nvSpPr>
          <p:cNvPr id="373" name="K"/>
          <p:cNvSpPr/>
          <p:nvPr/>
        </p:nvSpPr>
        <p:spPr>
          <a:xfrm>
            <a:off x="6864057" y="3707344"/>
            <a:ext cx="219456" cy="219456"/>
          </a:xfrm>
          <a:prstGeom prst="ellipse">
            <a:avLst/>
          </a:prstGeom>
          <a:solidFill>
            <a:srgbClr val="D9600B"/>
          </a:solidFill>
          <a:ln w="19050">
            <a:solidFill>
              <a:srgbClr val="FFFFFF"/>
            </a:solidFill>
          </a:ln>
        </p:spPr>
      </p:sp>
      <p:sp>
        <p:nvSpPr>
          <p:cNvPr id="374" name="T"/>
          <p:cNvSpPr txBox="1"/>
          <p:nvPr/>
        </p:nvSpPr>
        <p:spPr>
          <a:xfrm>
            <a:off x="6864057" y="3707344"/>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75" name="T"/>
          <p:cNvSpPr txBox="1"/>
          <p:nvPr/>
        </p:nvSpPr>
        <p:spPr>
          <a:xfrm>
            <a:off x="7138377" y="3743920"/>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Papua Barat</a:t>
            </a:r>
            <a:endParaRPr lang="id-ID" sz="750"/>
          </a:p>
        </p:txBody>
      </p:sp>
      <p:sp>
        <p:nvSpPr>
          <p:cNvPr id="376" name="K"/>
          <p:cNvSpPr/>
          <p:nvPr/>
        </p:nvSpPr>
        <p:spPr>
          <a:xfrm>
            <a:off x="4767899" y="4701217"/>
            <a:ext cx="219456" cy="219456"/>
          </a:xfrm>
          <a:prstGeom prst="ellipse">
            <a:avLst/>
          </a:prstGeom>
          <a:solidFill>
            <a:srgbClr val="D9600B"/>
          </a:solidFill>
          <a:ln w="19050">
            <a:solidFill>
              <a:srgbClr val="FFFFFF"/>
            </a:solidFill>
          </a:ln>
        </p:spPr>
      </p:sp>
      <p:sp>
        <p:nvSpPr>
          <p:cNvPr id="377" name="T"/>
          <p:cNvSpPr txBox="1"/>
          <p:nvPr/>
        </p:nvSpPr>
        <p:spPr>
          <a:xfrm>
            <a:off x="4767899" y="4701217"/>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78" name="K"/>
          <p:cNvSpPr/>
          <p:nvPr/>
        </p:nvSpPr>
        <p:spPr>
          <a:xfrm>
            <a:off x="4707732" y="4825393"/>
            <a:ext cx="155448" cy="155448"/>
          </a:xfrm>
          <a:prstGeom prst="ellipse">
            <a:avLst/>
          </a:prstGeom>
          <a:solidFill>
            <a:srgbClr val="5B7A99"/>
          </a:solidFill>
          <a:ln w="12700">
            <a:solidFill>
              <a:srgbClr val="FFFFFF"/>
            </a:solidFill>
          </a:ln>
        </p:spPr>
      </p:sp>
      <p:sp>
        <p:nvSpPr>
          <p:cNvPr id="379" name="T"/>
          <p:cNvSpPr txBox="1"/>
          <p:nvPr/>
        </p:nvSpPr>
        <p:spPr>
          <a:xfrm>
            <a:off x="4707732" y="4825393"/>
            <a:ext cx="155448" cy="155448"/>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1</a:t>
            </a:r>
            <a:endParaRPr lang="id-ID" sz="650"/>
          </a:p>
        </p:txBody>
      </p:sp>
      <p:sp>
        <p:nvSpPr>
          <p:cNvPr id="380" name="T"/>
          <p:cNvSpPr txBox="1"/>
          <p:nvPr/>
        </p:nvSpPr>
        <p:spPr>
          <a:xfrm>
            <a:off x="5042219" y="4737793"/>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NTT</a:t>
            </a:r>
            <a:endParaRPr lang="id-ID" sz="750"/>
          </a:p>
        </p:txBody>
      </p:sp>
      <p:sp>
        <p:nvSpPr>
          <p:cNvPr id="381" name="K"/>
          <p:cNvSpPr/>
          <p:nvPr/>
        </p:nvSpPr>
        <p:spPr>
          <a:xfrm>
            <a:off x="3475300" y="3529117"/>
            <a:ext cx="219456" cy="219456"/>
          </a:xfrm>
          <a:prstGeom prst="ellipse">
            <a:avLst/>
          </a:prstGeom>
          <a:solidFill>
            <a:srgbClr val="D9600B"/>
          </a:solidFill>
          <a:ln w="19050">
            <a:solidFill>
              <a:srgbClr val="FFFFFF"/>
            </a:solidFill>
          </a:ln>
        </p:spPr>
      </p:sp>
      <p:sp>
        <p:nvSpPr>
          <p:cNvPr id="382" name="T"/>
          <p:cNvSpPr txBox="1"/>
          <p:nvPr/>
        </p:nvSpPr>
        <p:spPr>
          <a:xfrm>
            <a:off x="3475300" y="3529117"/>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83" name="T"/>
          <p:cNvSpPr txBox="1"/>
          <p:nvPr/>
        </p:nvSpPr>
        <p:spPr>
          <a:xfrm>
            <a:off x="3749620" y="3565693"/>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Kal. Tengah</a:t>
            </a:r>
            <a:endParaRPr lang="id-ID" sz="750"/>
          </a:p>
        </p:txBody>
      </p:sp>
      <p:sp>
        <p:nvSpPr>
          <p:cNvPr id="384" name="K"/>
          <p:cNvSpPr/>
          <p:nvPr/>
        </p:nvSpPr>
        <p:spPr>
          <a:xfrm>
            <a:off x="3804910" y="3755423"/>
            <a:ext cx="219456" cy="219456"/>
          </a:xfrm>
          <a:prstGeom prst="ellipse">
            <a:avLst/>
          </a:prstGeom>
          <a:solidFill>
            <a:srgbClr val="D9600B"/>
          </a:solidFill>
          <a:ln w="19050">
            <a:solidFill>
              <a:srgbClr val="FFFFFF"/>
            </a:solidFill>
          </a:ln>
        </p:spPr>
      </p:sp>
      <p:sp>
        <p:nvSpPr>
          <p:cNvPr id="385" name="T"/>
          <p:cNvSpPr txBox="1"/>
          <p:nvPr/>
        </p:nvSpPr>
        <p:spPr>
          <a:xfrm>
            <a:off x="3804910" y="3755423"/>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86" name="K"/>
          <p:cNvSpPr/>
          <p:nvPr/>
        </p:nvSpPr>
        <p:spPr>
          <a:xfrm>
            <a:off x="3744742" y="3879598"/>
            <a:ext cx="155448" cy="155448"/>
          </a:xfrm>
          <a:prstGeom prst="ellipse">
            <a:avLst/>
          </a:prstGeom>
          <a:solidFill>
            <a:srgbClr val="0E7490"/>
          </a:solidFill>
          <a:ln w="12700">
            <a:solidFill>
              <a:srgbClr val="FFFFFF"/>
            </a:solidFill>
          </a:ln>
        </p:spPr>
      </p:sp>
      <p:sp>
        <p:nvSpPr>
          <p:cNvPr id="387" name="T"/>
          <p:cNvSpPr txBox="1"/>
          <p:nvPr/>
        </p:nvSpPr>
        <p:spPr>
          <a:xfrm>
            <a:off x="3744742" y="3879598"/>
            <a:ext cx="155448" cy="155448"/>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1</a:t>
            </a:r>
            <a:endParaRPr lang="id-ID" sz="650"/>
          </a:p>
        </p:txBody>
      </p:sp>
      <p:sp>
        <p:nvSpPr>
          <p:cNvPr id="388" name="T"/>
          <p:cNvSpPr txBox="1"/>
          <p:nvPr/>
        </p:nvSpPr>
        <p:spPr>
          <a:xfrm>
            <a:off x="3183118" y="4053334"/>
            <a:ext cx="1463040" cy="146304"/>
          </a:xfrm>
          <a:prstGeom prst="rect">
            <a:avLst/>
          </a:prstGeom>
          <a:noFill/>
        </p:spPr>
        <p:txBody>
          <a:bodyPr wrap="square" lIns="0" tIns="0" rIns="0" bIns="0" anchor="ctr"/>
          <a:lstStyle/>
          <a:p>
            <a:pPr algn="ctr">
              <a:buNone/>
            </a:pPr>
            <a:r>
              <a:rPr lang="id-ID" sz="750" b="1" dirty="0">
                <a:solidFill>
                  <a:srgbClr val="1A1A1A"/>
                </a:solidFill>
                <a:latin typeface="Roboto"/>
                <a:ea typeface="Roboto"/>
                <a:cs typeface="Roboto"/>
              </a:rPr>
              <a:t>Kal. Selatan</a:t>
            </a:r>
            <a:endParaRPr lang="id-ID" sz="750"/>
          </a:p>
        </p:txBody>
      </p:sp>
      <p:sp>
        <p:nvSpPr>
          <p:cNvPr id="389" name="K"/>
          <p:cNvSpPr/>
          <p:nvPr/>
        </p:nvSpPr>
        <p:spPr>
          <a:xfrm>
            <a:off x="1927738" y="3798728"/>
            <a:ext cx="219456" cy="219456"/>
          </a:xfrm>
          <a:prstGeom prst="ellipse">
            <a:avLst/>
          </a:prstGeom>
          <a:solidFill>
            <a:srgbClr val="D9600B"/>
          </a:solidFill>
          <a:ln w="19050">
            <a:solidFill>
              <a:srgbClr val="FFFFFF"/>
            </a:solidFill>
          </a:ln>
        </p:spPr>
      </p:sp>
      <p:sp>
        <p:nvSpPr>
          <p:cNvPr id="390" name="T"/>
          <p:cNvSpPr txBox="1"/>
          <p:nvPr/>
        </p:nvSpPr>
        <p:spPr>
          <a:xfrm>
            <a:off x="1927738" y="3798728"/>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91" name="T"/>
          <p:cNvSpPr txBox="1"/>
          <p:nvPr/>
        </p:nvSpPr>
        <p:spPr>
          <a:xfrm>
            <a:off x="409834" y="3835304"/>
            <a:ext cx="1463040" cy="146304"/>
          </a:xfrm>
          <a:prstGeom prst="rect">
            <a:avLst/>
          </a:prstGeom>
          <a:noFill/>
        </p:spPr>
        <p:txBody>
          <a:bodyPr wrap="square" lIns="0" tIns="0" rIns="0" bIns="0" anchor="ctr"/>
          <a:lstStyle/>
          <a:p>
            <a:pPr algn="r">
              <a:buNone/>
            </a:pPr>
            <a:r>
              <a:rPr lang="id-ID" sz="750" b="1" dirty="0">
                <a:solidFill>
                  <a:srgbClr val="1A1A1A"/>
                </a:solidFill>
                <a:latin typeface="Roboto"/>
                <a:ea typeface="Roboto"/>
                <a:cs typeface="Roboto"/>
              </a:rPr>
              <a:t>Sum. Selatan</a:t>
            </a:r>
            <a:endParaRPr lang="id-ID" sz="750"/>
          </a:p>
        </p:txBody>
      </p:sp>
      <p:sp>
        <p:nvSpPr>
          <p:cNvPr id="392" name="K"/>
          <p:cNvSpPr/>
          <p:nvPr/>
        </p:nvSpPr>
        <p:spPr>
          <a:xfrm>
            <a:off x="3096361" y="3272093"/>
            <a:ext cx="219456" cy="219456"/>
          </a:xfrm>
          <a:prstGeom prst="ellipse">
            <a:avLst/>
          </a:prstGeom>
          <a:solidFill>
            <a:srgbClr val="D9600B"/>
          </a:solidFill>
          <a:ln w="19050">
            <a:solidFill>
              <a:srgbClr val="FFFFFF"/>
            </a:solidFill>
          </a:ln>
        </p:spPr>
      </p:sp>
      <p:sp>
        <p:nvSpPr>
          <p:cNvPr id="393" name="T"/>
          <p:cNvSpPr txBox="1"/>
          <p:nvPr/>
        </p:nvSpPr>
        <p:spPr>
          <a:xfrm>
            <a:off x="3096361" y="3272093"/>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94" name="T"/>
          <p:cNvSpPr txBox="1"/>
          <p:nvPr/>
        </p:nvSpPr>
        <p:spPr>
          <a:xfrm>
            <a:off x="1578457" y="3308669"/>
            <a:ext cx="1463040" cy="146304"/>
          </a:xfrm>
          <a:prstGeom prst="rect">
            <a:avLst/>
          </a:prstGeom>
          <a:noFill/>
        </p:spPr>
        <p:txBody>
          <a:bodyPr wrap="square" lIns="0" tIns="0" rIns="0" bIns="0" anchor="ctr"/>
          <a:lstStyle/>
          <a:p>
            <a:pPr algn="r">
              <a:buNone/>
            </a:pPr>
            <a:r>
              <a:rPr lang="id-ID" sz="750" b="1" dirty="0">
                <a:solidFill>
                  <a:srgbClr val="1A1A1A"/>
                </a:solidFill>
                <a:latin typeface="Roboto"/>
                <a:ea typeface="Roboto"/>
                <a:cs typeface="Roboto"/>
              </a:rPr>
              <a:t>Kal. Barat</a:t>
            </a:r>
            <a:endParaRPr lang="id-ID" sz="750"/>
          </a:p>
        </p:txBody>
      </p:sp>
      <p:sp>
        <p:nvSpPr>
          <p:cNvPr id="395" name="K"/>
          <p:cNvSpPr/>
          <p:nvPr/>
        </p:nvSpPr>
        <p:spPr>
          <a:xfrm>
            <a:off x="1526329" y="3185000"/>
            <a:ext cx="219456" cy="219456"/>
          </a:xfrm>
          <a:prstGeom prst="ellipse">
            <a:avLst/>
          </a:prstGeom>
          <a:solidFill>
            <a:srgbClr val="D9600B"/>
          </a:solidFill>
          <a:ln w="19050">
            <a:solidFill>
              <a:srgbClr val="FFFFFF"/>
            </a:solidFill>
          </a:ln>
        </p:spPr>
      </p:sp>
      <p:sp>
        <p:nvSpPr>
          <p:cNvPr id="396" name="T"/>
          <p:cNvSpPr txBox="1"/>
          <p:nvPr/>
        </p:nvSpPr>
        <p:spPr>
          <a:xfrm>
            <a:off x="1526329" y="3185000"/>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97" name="T"/>
          <p:cNvSpPr txBox="1"/>
          <p:nvPr/>
        </p:nvSpPr>
        <p:spPr>
          <a:xfrm>
            <a:off x="1800649" y="3221576"/>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Riau</a:t>
            </a:r>
            <a:endParaRPr lang="id-ID" sz="750"/>
          </a:p>
        </p:txBody>
      </p:sp>
      <p:sp>
        <p:nvSpPr>
          <p:cNvPr id="398" name="K"/>
          <p:cNvSpPr/>
          <p:nvPr/>
        </p:nvSpPr>
        <p:spPr>
          <a:xfrm>
            <a:off x="1684296" y="3544753"/>
            <a:ext cx="219456" cy="219456"/>
          </a:xfrm>
          <a:prstGeom prst="ellipse">
            <a:avLst/>
          </a:prstGeom>
          <a:solidFill>
            <a:srgbClr val="D9600B"/>
          </a:solidFill>
          <a:ln w="19050">
            <a:solidFill>
              <a:srgbClr val="FFFFFF"/>
            </a:solidFill>
          </a:ln>
        </p:spPr>
      </p:sp>
      <p:sp>
        <p:nvSpPr>
          <p:cNvPr id="399" name="T"/>
          <p:cNvSpPr txBox="1"/>
          <p:nvPr/>
        </p:nvSpPr>
        <p:spPr>
          <a:xfrm>
            <a:off x="1684296" y="3544753"/>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00" name="T"/>
          <p:cNvSpPr txBox="1"/>
          <p:nvPr/>
        </p:nvSpPr>
        <p:spPr>
          <a:xfrm>
            <a:off x="166392" y="3581329"/>
            <a:ext cx="1463040" cy="146304"/>
          </a:xfrm>
          <a:prstGeom prst="rect">
            <a:avLst/>
          </a:prstGeom>
          <a:noFill/>
        </p:spPr>
        <p:txBody>
          <a:bodyPr wrap="square" lIns="0" tIns="0" rIns="0" bIns="0" anchor="ctr"/>
          <a:lstStyle/>
          <a:p>
            <a:pPr algn="r">
              <a:buNone/>
            </a:pPr>
            <a:r>
              <a:rPr lang="id-ID" sz="750" b="1" dirty="0">
                <a:solidFill>
                  <a:srgbClr val="1A1A1A"/>
                </a:solidFill>
                <a:latin typeface="Roboto"/>
                <a:ea typeface="Roboto"/>
                <a:cs typeface="Roboto"/>
              </a:rPr>
              <a:t>Jambi</a:t>
            </a:r>
            <a:endParaRPr lang="id-ID" sz="750"/>
          </a:p>
        </p:txBody>
      </p:sp>
      <p:sp>
        <p:nvSpPr>
          <p:cNvPr id="401" name="K"/>
          <p:cNvSpPr/>
          <p:nvPr/>
        </p:nvSpPr>
        <p:spPr>
          <a:xfrm>
            <a:off x="2069993" y="4083051"/>
            <a:ext cx="219456" cy="219456"/>
          </a:xfrm>
          <a:prstGeom prst="ellipse">
            <a:avLst/>
          </a:prstGeom>
          <a:solidFill>
            <a:srgbClr val="D9600B"/>
          </a:solidFill>
          <a:ln w="19050">
            <a:solidFill>
              <a:srgbClr val="FFFFFF"/>
            </a:solidFill>
          </a:ln>
        </p:spPr>
      </p:sp>
      <p:sp>
        <p:nvSpPr>
          <p:cNvPr id="402" name="T"/>
          <p:cNvSpPr txBox="1"/>
          <p:nvPr/>
        </p:nvSpPr>
        <p:spPr>
          <a:xfrm>
            <a:off x="2069993" y="4083051"/>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03" name="T"/>
          <p:cNvSpPr txBox="1"/>
          <p:nvPr/>
        </p:nvSpPr>
        <p:spPr>
          <a:xfrm>
            <a:off x="2344313" y="4119627"/>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Lampung</a:t>
            </a:r>
            <a:endParaRPr lang="id-ID" sz="750"/>
          </a:p>
        </p:txBody>
      </p:sp>
      <p:sp>
        <p:nvSpPr>
          <p:cNvPr id="404" name="K"/>
          <p:cNvSpPr/>
          <p:nvPr/>
        </p:nvSpPr>
        <p:spPr>
          <a:xfrm>
            <a:off x="2254417" y="4341097"/>
            <a:ext cx="219456" cy="219456"/>
          </a:xfrm>
          <a:prstGeom prst="ellipse">
            <a:avLst/>
          </a:prstGeom>
          <a:solidFill>
            <a:srgbClr val="D9600B"/>
          </a:solidFill>
          <a:ln w="19050">
            <a:solidFill>
              <a:srgbClr val="FFFFFF"/>
            </a:solidFill>
          </a:ln>
        </p:spPr>
      </p:sp>
      <p:sp>
        <p:nvSpPr>
          <p:cNvPr id="405" name="T"/>
          <p:cNvSpPr txBox="1"/>
          <p:nvPr/>
        </p:nvSpPr>
        <p:spPr>
          <a:xfrm>
            <a:off x="2254417" y="4341097"/>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06" name="T"/>
          <p:cNvSpPr txBox="1"/>
          <p:nvPr/>
        </p:nvSpPr>
        <p:spPr>
          <a:xfrm>
            <a:off x="736513" y="4377673"/>
            <a:ext cx="1463040" cy="146304"/>
          </a:xfrm>
          <a:prstGeom prst="rect">
            <a:avLst/>
          </a:prstGeom>
          <a:noFill/>
        </p:spPr>
        <p:txBody>
          <a:bodyPr wrap="square" lIns="0" tIns="0" rIns="0" bIns="0" anchor="ctr"/>
          <a:lstStyle/>
          <a:p>
            <a:pPr algn="r">
              <a:buNone/>
            </a:pPr>
            <a:r>
              <a:rPr lang="id-ID" sz="750" b="1" dirty="0">
                <a:solidFill>
                  <a:srgbClr val="1A1A1A"/>
                </a:solidFill>
                <a:latin typeface="Roboto"/>
                <a:ea typeface="Roboto"/>
                <a:cs typeface="Roboto"/>
              </a:rPr>
              <a:t>Banten</a:t>
            </a:r>
            <a:endParaRPr lang="id-ID" sz="750"/>
          </a:p>
        </p:txBody>
      </p:sp>
      <p:sp>
        <p:nvSpPr>
          <p:cNvPr id="407" name="K"/>
          <p:cNvSpPr/>
          <p:nvPr/>
        </p:nvSpPr>
        <p:spPr>
          <a:xfrm>
            <a:off x="6513134" y="3456879"/>
            <a:ext cx="219456" cy="219456"/>
          </a:xfrm>
          <a:prstGeom prst="ellipse">
            <a:avLst/>
          </a:prstGeom>
          <a:solidFill>
            <a:srgbClr val="D9600B"/>
          </a:solidFill>
          <a:ln w="19050">
            <a:solidFill>
              <a:srgbClr val="FFFFFF"/>
            </a:solidFill>
          </a:ln>
        </p:spPr>
      </p:sp>
      <p:sp>
        <p:nvSpPr>
          <p:cNvPr id="408" name="T"/>
          <p:cNvSpPr txBox="1"/>
          <p:nvPr/>
        </p:nvSpPr>
        <p:spPr>
          <a:xfrm>
            <a:off x="6513134" y="3456879"/>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09" name="K"/>
          <p:cNvSpPr/>
          <p:nvPr/>
        </p:nvSpPr>
        <p:spPr>
          <a:xfrm>
            <a:off x="6452966" y="3581055"/>
            <a:ext cx="155448" cy="155448"/>
          </a:xfrm>
          <a:prstGeom prst="ellipse">
            <a:avLst/>
          </a:prstGeom>
          <a:solidFill>
            <a:srgbClr val="A23B2A"/>
          </a:solidFill>
          <a:ln w="12700">
            <a:solidFill>
              <a:srgbClr val="FFFFFF"/>
            </a:solidFill>
          </a:ln>
        </p:spPr>
      </p:sp>
      <p:sp>
        <p:nvSpPr>
          <p:cNvPr id="410" name="T"/>
          <p:cNvSpPr txBox="1"/>
          <p:nvPr/>
        </p:nvSpPr>
        <p:spPr>
          <a:xfrm>
            <a:off x="6452966" y="3581055"/>
            <a:ext cx="155448" cy="155448"/>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1</a:t>
            </a:r>
            <a:endParaRPr lang="id-ID" sz="650"/>
          </a:p>
        </p:txBody>
      </p:sp>
      <p:sp>
        <p:nvSpPr>
          <p:cNvPr id="411" name="K"/>
          <p:cNvSpPr/>
          <p:nvPr/>
        </p:nvSpPr>
        <p:spPr>
          <a:xfrm>
            <a:off x="6646453" y="3405856"/>
            <a:ext cx="137160" cy="137160"/>
          </a:xfrm>
          <a:prstGeom prst="ellipse">
            <a:avLst/>
          </a:prstGeom>
          <a:solidFill>
            <a:srgbClr val="C8102E"/>
          </a:solidFill>
          <a:ln w="12700">
            <a:solidFill>
              <a:srgbClr val="FFFFFF"/>
            </a:solidFill>
          </a:ln>
        </p:spPr>
      </p:sp>
      <p:sp>
        <p:nvSpPr>
          <p:cNvPr id="412" name="T"/>
          <p:cNvSpPr txBox="1"/>
          <p:nvPr/>
        </p:nvSpPr>
        <p:spPr>
          <a:xfrm>
            <a:off x="6646453" y="3405856"/>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413" name="T"/>
          <p:cNvSpPr txBox="1"/>
          <p:nvPr/>
        </p:nvSpPr>
        <p:spPr>
          <a:xfrm>
            <a:off x="6787454" y="3493455"/>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Papua Barat Daya</a:t>
            </a:r>
            <a:endParaRPr lang="id-ID" sz="750"/>
          </a:p>
        </p:txBody>
      </p:sp>
      <p:sp>
        <p:nvSpPr>
          <p:cNvPr id="414" name="K"/>
          <p:cNvSpPr/>
          <p:nvPr/>
        </p:nvSpPr>
        <p:spPr>
          <a:xfrm>
            <a:off x="695709" y="2520018"/>
            <a:ext cx="265176" cy="265176"/>
          </a:xfrm>
          <a:prstGeom prst="ellipse">
            <a:avLst/>
          </a:prstGeom>
          <a:solidFill>
            <a:srgbClr val="2F6FB5"/>
          </a:solidFill>
          <a:ln w="19050">
            <a:solidFill>
              <a:srgbClr val="FFFFFF"/>
            </a:solidFill>
          </a:ln>
        </p:spPr>
      </p:sp>
      <p:sp>
        <p:nvSpPr>
          <p:cNvPr id="415" name="T"/>
          <p:cNvSpPr txBox="1"/>
          <p:nvPr/>
        </p:nvSpPr>
        <p:spPr>
          <a:xfrm>
            <a:off x="695709" y="2520018"/>
            <a:ext cx="265176" cy="26517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3</a:t>
            </a:r>
            <a:endParaRPr lang="id-ID" sz="850"/>
          </a:p>
        </p:txBody>
      </p:sp>
      <p:sp>
        <p:nvSpPr>
          <p:cNvPr id="416" name="K"/>
          <p:cNvSpPr/>
          <p:nvPr/>
        </p:nvSpPr>
        <p:spPr>
          <a:xfrm>
            <a:off x="871091" y="2472652"/>
            <a:ext cx="137160" cy="137160"/>
          </a:xfrm>
          <a:prstGeom prst="ellipse">
            <a:avLst/>
          </a:prstGeom>
          <a:solidFill>
            <a:srgbClr val="C8102E"/>
          </a:solidFill>
          <a:ln w="12700">
            <a:solidFill>
              <a:srgbClr val="FFFFFF"/>
            </a:solidFill>
          </a:ln>
        </p:spPr>
      </p:sp>
      <p:sp>
        <p:nvSpPr>
          <p:cNvPr id="417" name="T"/>
          <p:cNvSpPr txBox="1"/>
          <p:nvPr/>
        </p:nvSpPr>
        <p:spPr>
          <a:xfrm>
            <a:off x="871091" y="2472652"/>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418" name="T"/>
          <p:cNvSpPr txBox="1"/>
          <p:nvPr/>
        </p:nvSpPr>
        <p:spPr>
          <a:xfrm>
            <a:off x="1015749" y="2579454"/>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Aceh</a:t>
            </a:r>
            <a:endParaRPr lang="id-ID" sz="750"/>
          </a:p>
        </p:txBody>
      </p:sp>
      <p:sp>
        <p:nvSpPr>
          <p:cNvPr id="419" name="K"/>
          <p:cNvSpPr/>
          <p:nvPr/>
        </p:nvSpPr>
        <p:spPr>
          <a:xfrm>
            <a:off x="1043659" y="2829145"/>
            <a:ext cx="310896" cy="310896"/>
          </a:xfrm>
          <a:prstGeom prst="ellipse">
            <a:avLst/>
          </a:prstGeom>
          <a:solidFill>
            <a:srgbClr val="2F6FB5"/>
          </a:solidFill>
          <a:ln w="19050">
            <a:solidFill>
              <a:srgbClr val="FFFFFF"/>
            </a:solidFill>
          </a:ln>
        </p:spPr>
      </p:sp>
      <p:sp>
        <p:nvSpPr>
          <p:cNvPr id="420" name="T"/>
          <p:cNvSpPr txBox="1"/>
          <p:nvPr/>
        </p:nvSpPr>
        <p:spPr>
          <a:xfrm>
            <a:off x="1043659" y="2829145"/>
            <a:ext cx="310896" cy="31089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5</a:t>
            </a:r>
            <a:endParaRPr lang="id-ID" sz="850"/>
          </a:p>
        </p:txBody>
      </p:sp>
      <p:sp>
        <p:nvSpPr>
          <p:cNvPr id="421" name="K"/>
          <p:cNvSpPr/>
          <p:nvPr/>
        </p:nvSpPr>
        <p:spPr>
          <a:xfrm>
            <a:off x="1261104" y="2785437"/>
            <a:ext cx="137160" cy="137160"/>
          </a:xfrm>
          <a:prstGeom prst="ellipse">
            <a:avLst/>
          </a:prstGeom>
          <a:solidFill>
            <a:srgbClr val="C8102E"/>
          </a:solidFill>
          <a:ln w="12700">
            <a:solidFill>
              <a:srgbClr val="FFFFFF"/>
            </a:solidFill>
          </a:ln>
        </p:spPr>
      </p:sp>
      <p:sp>
        <p:nvSpPr>
          <p:cNvPr id="422" name="T"/>
          <p:cNvSpPr txBox="1"/>
          <p:nvPr/>
        </p:nvSpPr>
        <p:spPr>
          <a:xfrm>
            <a:off x="1261104" y="2785437"/>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423" name="T"/>
          <p:cNvSpPr txBox="1"/>
          <p:nvPr/>
        </p:nvSpPr>
        <p:spPr>
          <a:xfrm>
            <a:off x="467587" y="3167473"/>
            <a:ext cx="1463040" cy="146304"/>
          </a:xfrm>
          <a:prstGeom prst="rect">
            <a:avLst/>
          </a:prstGeom>
          <a:noFill/>
        </p:spPr>
        <p:txBody>
          <a:bodyPr wrap="square" lIns="0" tIns="0" rIns="0" bIns="0" anchor="ctr"/>
          <a:lstStyle/>
          <a:p>
            <a:pPr algn="ctr">
              <a:buNone/>
            </a:pPr>
            <a:r>
              <a:rPr lang="id-ID" sz="750" b="1" dirty="0">
                <a:solidFill>
                  <a:srgbClr val="1A1A1A"/>
                </a:solidFill>
                <a:latin typeface="Roboto"/>
                <a:ea typeface="Roboto"/>
                <a:cs typeface="Roboto"/>
              </a:rPr>
              <a:t>Sum. Utara</a:t>
            </a:r>
            <a:endParaRPr lang="id-ID" sz="750"/>
          </a:p>
        </p:txBody>
      </p:sp>
      <p:sp>
        <p:nvSpPr>
          <p:cNvPr id="424" name="K"/>
          <p:cNvSpPr/>
          <p:nvPr/>
        </p:nvSpPr>
        <p:spPr>
          <a:xfrm>
            <a:off x="2502218" y="4460676"/>
            <a:ext cx="219456" cy="219456"/>
          </a:xfrm>
          <a:prstGeom prst="ellipse">
            <a:avLst/>
          </a:prstGeom>
          <a:solidFill>
            <a:srgbClr val="B08A3E"/>
          </a:solidFill>
          <a:ln w="19050">
            <a:solidFill>
              <a:srgbClr val="FFFFFF"/>
            </a:solidFill>
          </a:ln>
        </p:spPr>
      </p:sp>
      <p:sp>
        <p:nvSpPr>
          <p:cNvPr id="425" name="T"/>
          <p:cNvSpPr txBox="1"/>
          <p:nvPr/>
        </p:nvSpPr>
        <p:spPr>
          <a:xfrm>
            <a:off x="2502218" y="4460676"/>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26" name="T"/>
          <p:cNvSpPr txBox="1"/>
          <p:nvPr/>
        </p:nvSpPr>
        <p:spPr>
          <a:xfrm>
            <a:off x="1880426" y="4707564"/>
            <a:ext cx="1463040" cy="146304"/>
          </a:xfrm>
          <a:prstGeom prst="rect">
            <a:avLst/>
          </a:prstGeom>
          <a:noFill/>
        </p:spPr>
        <p:txBody>
          <a:bodyPr wrap="square" lIns="0" tIns="0" rIns="0" bIns="0" anchor="ctr"/>
          <a:lstStyle/>
          <a:p>
            <a:pPr algn="ctr">
              <a:buNone/>
            </a:pPr>
            <a:r>
              <a:rPr lang="id-ID" sz="750" b="1" dirty="0">
                <a:solidFill>
                  <a:srgbClr val="1A1A1A"/>
                </a:solidFill>
                <a:latin typeface="Roboto"/>
                <a:ea typeface="Roboto"/>
                <a:cs typeface="Roboto"/>
              </a:rPr>
              <a:t>Jabar</a:t>
            </a:r>
            <a:endParaRPr lang="id-ID" sz="750"/>
          </a:p>
        </p:txBody>
      </p:sp>
      <p:sp>
        <p:nvSpPr>
          <p:cNvPr id="427" name="K"/>
          <p:cNvSpPr/>
          <p:nvPr/>
        </p:nvSpPr>
        <p:spPr>
          <a:xfrm>
            <a:off x="2914900" y="4390635"/>
            <a:ext cx="265176" cy="265176"/>
          </a:xfrm>
          <a:prstGeom prst="ellipse">
            <a:avLst/>
          </a:prstGeom>
          <a:solidFill>
            <a:srgbClr val="B08A3E"/>
          </a:solidFill>
          <a:ln w="19050">
            <a:solidFill>
              <a:srgbClr val="FFFFFF"/>
            </a:solidFill>
          </a:ln>
        </p:spPr>
      </p:sp>
      <p:sp>
        <p:nvSpPr>
          <p:cNvPr id="428" name="T"/>
          <p:cNvSpPr txBox="1"/>
          <p:nvPr/>
        </p:nvSpPr>
        <p:spPr>
          <a:xfrm>
            <a:off x="2914900" y="4390635"/>
            <a:ext cx="265176" cy="26517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2</a:t>
            </a:r>
            <a:endParaRPr lang="id-ID" sz="850"/>
          </a:p>
        </p:txBody>
      </p:sp>
      <p:sp>
        <p:nvSpPr>
          <p:cNvPr id="429" name="T"/>
          <p:cNvSpPr txBox="1"/>
          <p:nvPr/>
        </p:nvSpPr>
        <p:spPr>
          <a:xfrm>
            <a:off x="3234940" y="4450071"/>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Jateng</a:t>
            </a:r>
            <a:endParaRPr lang="id-ID" sz="750"/>
          </a:p>
        </p:txBody>
      </p:sp>
      <p:sp>
        <p:nvSpPr>
          <p:cNvPr id="430" name="K"/>
          <p:cNvSpPr/>
          <p:nvPr/>
        </p:nvSpPr>
        <p:spPr>
          <a:xfrm>
            <a:off x="3484137" y="4546344"/>
            <a:ext cx="265176" cy="265176"/>
          </a:xfrm>
          <a:prstGeom prst="ellipse">
            <a:avLst/>
          </a:prstGeom>
          <a:solidFill>
            <a:srgbClr val="A23B2A"/>
          </a:solidFill>
          <a:ln w="19050">
            <a:solidFill>
              <a:srgbClr val="FFFFFF"/>
            </a:solidFill>
          </a:ln>
        </p:spPr>
      </p:sp>
      <p:sp>
        <p:nvSpPr>
          <p:cNvPr id="431" name="T"/>
          <p:cNvSpPr txBox="1"/>
          <p:nvPr/>
        </p:nvSpPr>
        <p:spPr>
          <a:xfrm>
            <a:off x="3484137" y="4546344"/>
            <a:ext cx="265176" cy="26517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2</a:t>
            </a:r>
            <a:endParaRPr lang="id-ID" sz="850"/>
          </a:p>
        </p:txBody>
      </p:sp>
      <p:sp>
        <p:nvSpPr>
          <p:cNvPr id="432" name="T"/>
          <p:cNvSpPr txBox="1"/>
          <p:nvPr/>
        </p:nvSpPr>
        <p:spPr>
          <a:xfrm>
            <a:off x="3804177" y="4605780"/>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Jatim</a:t>
            </a:r>
            <a:endParaRPr lang="id-ID" sz="750"/>
          </a:p>
        </p:txBody>
      </p:sp>
      <p:sp>
        <p:nvSpPr>
          <p:cNvPr id="433" name="K"/>
          <p:cNvSpPr/>
          <p:nvPr/>
        </p:nvSpPr>
        <p:spPr>
          <a:xfrm>
            <a:off x="2977925" y="4582331"/>
            <a:ext cx="219456" cy="219456"/>
          </a:xfrm>
          <a:prstGeom prst="ellipse">
            <a:avLst/>
          </a:prstGeom>
          <a:solidFill>
            <a:srgbClr val="B08A3E"/>
          </a:solidFill>
          <a:ln w="19050">
            <a:solidFill>
              <a:srgbClr val="FFFFFF"/>
            </a:solidFill>
          </a:ln>
        </p:spPr>
      </p:sp>
      <p:sp>
        <p:nvSpPr>
          <p:cNvPr id="434" name="T"/>
          <p:cNvSpPr txBox="1"/>
          <p:nvPr/>
        </p:nvSpPr>
        <p:spPr>
          <a:xfrm>
            <a:off x="2977925" y="4582331"/>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35" name="T"/>
          <p:cNvSpPr txBox="1"/>
          <p:nvPr/>
        </p:nvSpPr>
        <p:spPr>
          <a:xfrm>
            <a:off x="2356133" y="4829219"/>
            <a:ext cx="1463040" cy="146304"/>
          </a:xfrm>
          <a:prstGeom prst="rect">
            <a:avLst/>
          </a:prstGeom>
          <a:noFill/>
        </p:spPr>
        <p:txBody>
          <a:bodyPr wrap="square" lIns="0" tIns="0" rIns="0" bIns="0" anchor="ctr"/>
          <a:lstStyle/>
          <a:p>
            <a:pPr algn="ctr">
              <a:buNone/>
            </a:pPr>
            <a:r>
              <a:rPr lang="id-ID" sz="750" b="1" dirty="0">
                <a:solidFill>
                  <a:srgbClr val="1A1A1A"/>
                </a:solidFill>
                <a:latin typeface="Roboto"/>
                <a:ea typeface="Roboto"/>
                <a:cs typeface="Roboto"/>
              </a:rPr>
              <a:t>DIY</a:t>
            </a:r>
            <a:endParaRPr lang="id-ID" sz="750"/>
          </a:p>
        </p:txBody>
      </p:sp>
      <p:sp>
        <p:nvSpPr>
          <p:cNvPr id="436" name="K"/>
          <p:cNvSpPr/>
          <p:nvPr/>
        </p:nvSpPr>
        <p:spPr>
          <a:xfrm>
            <a:off x="1371600" y="5216652"/>
            <a:ext cx="128016" cy="128016"/>
          </a:xfrm>
          <a:prstGeom prst="rect">
            <a:avLst/>
          </a:prstGeom>
          <a:solidFill>
            <a:srgbClr val="D9600B"/>
          </a:solidFill>
          <a:ln>
            <a:noFill/>
          </a:ln>
        </p:spPr>
      </p:sp>
      <p:sp>
        <p:nvSpPr>
          <p:cNvPr id="437" name="T"/>
          <p:cNvSpPr txBox="1"/>
          <p:nvPr/>
        </p:nvSpPr>
        <p:spPr>
          <a:xfrm>
            <a:off x="1554480"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karhutla</a:t>
            </a:r>
            <a:endParaRPr lang="id-ID" sz="750"/>
          </a:p>
        </p:txBody>
      </p:sp>
      <p:sp>
        <p:nvSpPr>
          <p:cNvPr id="438" name="K"/>
          <p:cNvSpPr/>
          <p:nvPr/>
        </p:nvSpPr>
        <p:spPr>
          <a:xfrm>
            <a:off x="2199080" y="5207508"/>
            <a:ext cx="146304" cy="146304"/>
          </a:xfrm>
          <a:prstGeom prst="ellipse">
            <a:avLst/>
          </a:prstGeom>
          <a:solidFill>
            <a:srgbClr val="B08A3E"/>
          </a:solidFill>
          <a:ln>
            <a:noFill/>
          </a:ln>
        </p:spPr>
      </p:sp>
      <p:sp>
        <p:nvSpPr>
          <p:cNvPr id="439" name="T"/>
          <p:cNvSpPr txBox="1"/>
          <p:nvPr/>
        </p:nvSpPr>
        <p:spPr>
          <a:xfrm>
            <a:off x="2400248"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kekeringan</a:t>
            </a:r>
            <a:endParaRPr lang="id-ID" sz="750"/>
          </a:p>
        </p:txBody>
      </p:sp>
      <p:sp>
        <p:nvSpPr>
          <p:cNvPr id="440" name="K"/>
          <p:cNvSpPr/>
          <p:nvPr/>
        </p:nvSpPr>
        <p:spPr>
          <a:xfrm>
            <a:off x="3148848" y="5207508"/>
            <a:ext cx="146304" cy="146304"/>
          </a:xfrm>
          <a:prstGeom prst="ellipse">
            <a:avLst/>
          </a:prstGeom>
          <a:solidFill>
            <a:srgbClr val="5B7A99"/>
          </a:solidFill>
          <a:ln>
            <a:noFill/>
          </a:ln>
        </p:spPr>
      </p:sp>
      <p:sp>
        <p:nvSpPr>
          <p:cNvPr id="441" name="T"/>
          <p:cNvSpPr txBox="1"/>
          <p:nvPr/>
        </p:nvSpPr>
        <p:spPr>
          <a:xfrm>
            <a:off x="3350016"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gempa bumi</a:t>
            </a:r>
            <a:endParaRPr lang="id-ID" sz="750"/>
          </a:p>
        </p:txBody>
      </p:sp>
      <p:sp>
        <p:nvSpPr>
          <p:cNvPr id="442" name="K"/>
          <p:cNvSpPr/>
          <p:nvPr/>
        </p:nvSpPr>
        <p:spPr>
          <a:xfrm>
            <a:off x="4098616" y="5207508"/>
            <a:ext cx="146304" cy="146304"/>
          </a:xfrm>
          <a:prstGeom prst="ellipse">
            <a:avLst/>
          </a:prstGeom>
          <a:solidFill>
            <a:srgbClr val="A23B2A"/>
          </a:solidFill>
          <a:ln>
            <a:noFill/>
          </a:ln>
        </p:spPr>
      </p:sp>
      <p:sp>
        <p:nvSpPr>
          <p:cNvPr id="443" name="T"/>
          <p:cNvSpPr txBox="1"/>
          <p:nvPr/>
        </p:nvSpPr>
        <p:spPr>
          <a:xfrm>
            <a:off x="4299784"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kebakaran TPA</a:t>
            </a:r>
            <a:endParaRPr lang="id-ID" sz="750"/>
          </a:p>
        </p:txBody>
      </p:sp>
      <p:sp>
        <p:nvSpPr>
          <p:cNvPr id="444" name="K"/>
          <p:cNvSpPr/>
          <p:nvPr/>
        </p:nvSpPr>
        <p:spPr>
          <a:xfrm>
            <a:off x="5204384" y="5207508"/>
            <a:ext cx="146304" cy="146304"/>
          </a:xfrm>
          <a:prstGeom prst="ellipse">
            <a:avLst/>
          </a:prstGeom>
          <a:solidFill>
            <a:srgbClr val="2F6FB5"/>
          </a:solidFill>
          <a:ln>
            <a:noFill/>
          </a:ln>
        </p:spPr>
      </p:sp>
      <p:sp>
        <p:nvSpPr>
          <p:cNvPr id="445" name="T"/>
          <p:cNvSpPr txBox="1"/>
          <p:nvPr/>
        </p:nvSpPr>
        <p:spPr>
          <a:xfrm>
            <a:off x="5405552"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banjir</a:t>
            </a:r>
            <a:endParaRPr lang="id-ID" sz="750"/>
          </a:p>
        </p:txBody>
      </p:sp>
      <p:sp>
        <p:nvSpPr>
          <p:cNvPr id="446" name="K"/>
          <p:cNvSpPr/>
          <p:nvPr/>
        </p:nvSpPr>
        <p:spPr>
          <a:xfrm>
            <a:off x="5946152" y="5207508"/>
            <a:ext cx="146304" cy="146304"/>
          </a:xfrm>
          <a:prstGeom prst="ellipse">
            <a:avLst/>
          </a:prstGeom>
          <a:solidFill>
            <a:srgbClr val="0E7490"/>
          </a:solidFill>
          <a:ln>
            <a:noFill/>
          </a:ln>
        </p:spPr>
      </p:sp>
      <p:sp>
        <p:nvSpPr>
          <p:cNvPr id="447" name="T"/>
          <p:cNvSpPr txBox="1"/>
          <p:nvPr/>
        </p:nvSpPr>
        <p:spPr>
          <a:xfrm>
            <a:off x="6147320"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cuaca ekstrem</a:t>
            </a:r>
            <a:endParaRPr lang="id-ID" sz="750"/>
          </a:p>
        </p:txBody>
      </p:sp>
      <p:sp>
        <p:nvSpPr>
          <p:cNvPr id="448" name="K"/>
          <p:cNvSpPr/>
          <p:nvPr/>
        </p:nvSpPr>
        <p:spPr>
          <a:xfrm>
            <a:off x="7051920" y="5207508"/>
            <a:ext cx="146304" cy="146304"/>
          </a:xfrm>
          <a:prstGeom prst="ellipse">
            <a:avLst/>
          </a:prstGeom>
          <a:solidFill>
            <a:srgbClr val="C8102E"/>
          </a:solidFill>
          <a:ln>
            <a:noFill/>
          </a:ln>
        </p:spPr>
      </p:sp>
      <p:sp>
        <p:nvSpPr>
          <p:cNvPr id="449" name="T"/>
          <p:cNvSpPr txBox="1"/>
          <p:nvPr/>
        </p:nvSpPr>
        <p:spPr>
          <a:xfrm>
            <a:off x="7051920" y="5207508"/>
            <a:ext cx="146304" cy="146304"/>
          </a:xfrm>
          <a:prstGeom prst="rect">
            <a:avLst/>
          </a:prstGeom>
          <a:noFill/>
        </p:spPr>
        <p:txBody>
          <a:bodyPr wrap="square" lIns="0" tIns="0" rIns="0" bIns="0" anchor="ctr"/>
          <a:lstStyle/>
          <a:p>
            <a:pPr algn="ctr">
              <a:buNone/>
            </a:pPr>
            <a:r>
              <a:rPr lang="id-ID" sz="750" b="1" dirty="0">
                <a:solidFill>
                  <a:srgbClr val="FFFFFF"/>
                </a:solidFill>
                <a:latin typeface="Roboto"/>
                <a:ea typeface="Roboto"/>
                <a:cs typeface="Roboto"/>
              </a:rPr>
              <a:t>!</a:t>
            </a:r>
            <a:endParaRPr lang="id-ID" sz="750"/>
          </a:p>
        </p:txBody>
      </p:sp>
      <p:sp>
        <p:nvSpPr>
          <p:cNvPr id="450" name="T"/>
          <p:cNvSpPr txBox="1"/>
          <p:nvPr/>
        </p:nvSpPr>
        <p:spPr>
          <a:xfrm>
            <a:off x="7253088"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perlu perhatian</a:t>
            </a:r>
            <a:endParaRPr lang="id-ID" sz="750"/>
          </a:p>
        </p:txBody>
      </p:sp>
      <p:sp>
        <p:nvSpPr>
          <p:cNvPr id="451" name="K"/>
          <p:cNvSpPr/>
          <p:nvPr/>
        </p:nvSpPr>
        <p:spPr>
          <a:xfrm>
            <a:off x="8503920" y="2331720"/>
            <a:ext cx="3139135" cy="3017520"/>
          </a:xfrm>
          <a:prstGeom prst="roundRect">
            <a:avLst>
              <a:gd name="adj" fmla="val 3000"/>
            </a:avLst>
          </a:prstGeom>
          <a:solidFill>
            <a:srgbClr val="FFFFFF"/>
          </a:solidFill>
          <a:ln w="9525">
            <a:solidFill>
              <a:srgbClr val="BFC5CC"/>
            </a:solidFill>
          </a:ln>
        </p:spPr>
      </p:sp>
      <p:sp>
        <p:nvSpPr>
          <p:cNvPr id="452" name="T"/>
          <p:cNvSpPr txBox="1"/>
          <p:nvPr/>
        </p:nvSpPr>
        <p:spPr>
          <a:xfrm>
            <a:off x="8668512" y="2441448"/>
            <a:ext cx="2864815" cy="182880"/>
          </a:xfrm>
          <a:prstGeom prst="rect">
            <a:avLst/>
          </a:prstGeom>
          <a:noFill/>
        </p:spPr>
        <p:txBody>
          <a:bodyPr wrap="square" lIns="0" tIns="0" rIns="0" bIns="0" anchor="t"/>
          <a:lstStyle/>
          <a:p>
            <a:pPr algn="l">
              <a:buNone/>
            </a:pPr>
            <a:r>
              <a:rPr lang="id-ID" sz="750" b="1" spc="100" dirty="0">
                <a:solidFill>
                  <a:srgbClr val="051C2C"/>
                </a:solidFill>
                <a:latin typeface="Roboto"/>
                <a:ea typeface="Roboto"/>
                <a:cs typeface="Roboto"/>
              </a:rPr>
              <a:t>STATUS PENANGANAN</a:t>
            </a:r>
            <a:endParaRPr lang="id-ID" sz="750"/>
          </a:p>
        </p:txBody>
      </p:sp>
      <p:sp>
        <p:nvSpPr>
          <p:cNvPr id="453" name="K"/>
          <p:cNvSpPr/>
          <p:nvPr/>
        </p:nvSpPr>
        <p:spPr>
          <a:xfrm>
            <a:off x="8668512" y="2697480"/>
            <a:ext cx="561990" cy="201168"/>
          </a:xfrm>
          <a:prstGeom prst="rect">
            <a:avLst/>
          </a:prstGeom>
          <a:solidFill>
            <a:srgbClr val="051C2C"/>
          </a:solidFill>
          <a:ln>
            <a:noFill/>
          </a:ln>
        </p:spPr>
      </p:sp>
      <p:sp>
        <p:nvSpPr>
          <p:cNvPr id="454" name="T"/>
          <p:cNvSpPr txBox="1"/>
          <p:nvPr/>
        </p:nvSpPr>
        <p:spPr>
          <a:xfrm>
            <a:off x="8668512" y="2697480"/>
            <a:ext cx="561990" cy="201168"/>
          </a:xfrm>
          <a:prstGeom prst="rect">
            <a:avLst/>
          </a:prstGeom>
          <a:noFill/>
        </p:spPr>
        <p:txBody>
          <a:bodyPr wrap="square" lIns="0" tIns="0" rIns="0" bIns="0" anchor="ctr"/>
          <a:lstStyle/>
          <a:p>
            <a:pPr algn="ctr">
              <a:buNone/>
            </a:pPr>
            <a:r>
              <a:rPr lang="id-ID" sz="750" b="1" dirty="0">
                <a:solidFill>
                  <a:srgbClr val="FFFFFF"/>
                </a:solidFill>
                <a:latin typeface="Roboto"/>
                <a:ea typeface="Roboto"/>
                <a:cs typeface="Roboto"/>
              </a:rPr>
              <a:t>20%</a:t>
            </a:r>
            <a:endParaRPr lang="id-ID" sz="750"/>
          </a:p>
        </p:txBody>
      </p:sp>
      <p:sp>
        <p:nvSpPr>
          <p:cNvPr id="455" name="K"/>
          <p:cNvSpPr/>
          <p:nvPr/>
        </p:nvSpPr>
        <p:spPr>
          <a:xfrm>
            <a:off x="9230502" y="2697480"/>
            <a:ext cx="2247961" cy="201168"/>
          </a:xfrm>
          <a:prstGeom prst="rect">
            <a:avLst/>
          </a:prstGeom>
          <a:solidFill>
            <a:srgbClr val="D9600B"/>
          </a:solidFill>
          <a:ln>
            <a:noFill/>
          </a:ln>
        </p:spPr>
      </p:sp>
      <p:sp>
        <p:nvSpPr>
          <p:cNvPr id="456" name="T"/>
          <p:cNvSpPr txBox="1"/>
          <p:nvPr/>
        </p:nvSpPr>
        <p:spPr>
          <a:xfrm>
            <a:off x="9230502" y="2697480"/>
            <a:ext cx="2247961" cy="201168"/>
          </a:xfrm>
          <a:prstGeom prst="rect">
            <a:avLst/>
          </a:prstGeom>
          <a:noFill/>
        </p:spPr>
        <p:txBody>
          <a:bodyPr wrap="square" lIns="0" tIns="0" rIns="0" bIns="0" anchor="ctr"/>
          <a:lstStyle/>
          <a:p>
            <a:pPr algn="ctr">
              <a:buNone/>
            </a:pPr>
            <a:r>
              <a:rPr lang="id-ID" sz="750" b="1" dirty="0">
                <a:solidFill>
                  <a:srgbClr val="FFFFFF"/>
                </a:solidFill>
                <a:latin typeface="Roboto"/>
                <a:ea typeface="Roboto"/>
                <a:cs typeface="Roboto"/>
              </a:rPr>
              <a:t>80%</a:t>
            </a:r>
            <a:endParaRPr lang="id-ID" sz="750"/>
          </a:p>
        </p:txBody>
      </p:sp>
      <p:sp>
        <p:nvSpPr>
          <p:cNvPr id="457" name="K"/>
          <p:cNvSpPr/>
          <p:nvPr/>
        </p:nvSpPr>
        <p:spPr>
          <a:xfrm>
            <a:off x="8668512" y="2971800"/>
            <a:ext cx="1368400" cy="512064"/>
          </a:xfrm>
          <a:prstGeom prst="roundRect">
            <a:avLst>
              <a:gd name="adj" fmla="val 9000"/>
            </a:avLst>
          </a:prstGeom>
          <a:solidFill>
            <a:srgbClr val="E6EAF0"/>
          </a:solidFill>
          <a:ln>
            <a:noFill/>
          </a:ln>
        </p:spPr>
      </p:sp>
      <p:sp>
        <p:nvSpPr>
          <p:cNvPr id="458" name="K"/>
          <p:cNvSpPr/>
          <p:nvPr/>
        </p:nvSpPr>
        <p:spPr>
          <a:xfrm>
            <a:off x="8778240" y="3063240"/>
            <a:ext cx="329184" cy="329184"/>
          </a:xfrm>
          <a:prstGeom prst="ellipse">
            <a:avLst/>
          </a:prstGeom>
          <a:solidFill>
            <a:srgbClr val="051C2C"/>
          </a:solidFill>
          <a:ln>
            <a:noFill/>
          </a:ln>
        </p:spPr>
      </p:sp>
      <p:pic>
        <p:nvPicPr>
          <p:cNvPr id="459" name="G"/>
          <p:cNvPicPr>
            <a:picLocks noChangeAspect="1"/>
          </p:cNvPicPr>
          <p:nvPr/>
        </p:nvPicPr>
        <p:blipFill>
          <a:blip r:embed="rIdM10"/>
          <a:stretch>
            <a:fillRect/>
          </a:stretch>
        </p:blipFill>
        <p:spPr>
          <a:xfrm>
            <a:off x="8860536" y="3145536"/>
            <a:ext cx="164592" cy="164592"/>
          </a:xfrm>
          <a:prstGeom prst="rect">
            <a:avLst/>
          </a:prstGeom>
        </p:spPr>
      </p:pic>
      <p:sp>
        <p:nvSpPr>
          <p:cNvPr id="460" name="T"/>
          <p:cNvSpPr txBox="1"/>
          <p:nvPr/>
        </p:nvSpPr>
        <p:spPr>
          <a:xfrm>
            <a:off x="9180576" y="2990088"/>
            <a:ext cx="819760" cy="292608"/>
          </a:xfrm>
          <a:prstGeom prst="rect">
            <a:avLst/>
          </a:prstGeom>
          <a:noFill/>
        </p:spPr>
        <p:txBody>
          <a:bodyPr wrap="square" lIns="0" tIns="0" rIns="0" bIns="0" anchor="ctr"/>
          <a:lstStyle/>
          <a:p>
            <a:pPr algn="l">
              <a:buNone/>
            </a:pPr>
            <a:r>
              <a:rPr lang="id-ID" sz="1700" b="1" dirty="0">
                <a:solidFill>
                  <a:srgbClr val="051C2C"/>
                </a:solidFill>
                <a:latin typeface="Roboto"/>
                <a:ea typeface="Roboto"/>
                <a:cs typeface="Roboto"/>
              </a:rPr>
              <a:t>7</a:t>
            </a:r>
            <a:r>
              <a:rPr lang="id-ID" sz="1700" dirty="0">
                <a:solidFill>
                  <a:srgbClr val="2E3440"/>
                </a:solidFill>
                <a:latin typeface="Roboto"/>
                <a:ea typeface="Roboto"/>
                <a:cs typeface="Roboto"/>
              </a:rPr>
              <a:t>  / 35</a:t>
            </a:r>
            <a:endParaRPr lang="id-ID" sz="1700"/>
          </a:p>
        </p:txBody>
      </p:sp>
      <p:sp>
        <p:nvSpPr>
          <p:cNvPr id="461" name="T"/>
          <p:cNvSpPr txBox="1"/>
          <p:nvPr/>
        </p:nvSpPr>
        <p:spPr>
          <a:xfrm>
            <a:off x="9180576" y="3273552"/>
            <a:ext cx="840000" cy="164592"/>
          </a:xfrm>
          <a:prstGeom prst="rect">
            <a:avLst/>
          </a:prstGeom>
          <a:noFill/>
        </p:spPr>
        <p:txBody>
          <a:bodyPr wrap="square" lIns="0" tIns="0" rIns="0" bIns="0" anchor="t"/>
          <a:lstStyle/>
          <a:p>
            <a:pPr algn="l">
              <a:buNone/>
            </a:pPr>
            <a:r>
              <a:rPr lang="id-ID" sz="700" b="1" dirty="0">
                <a:solidFill>
                  <a:srgbClr val="051C2C"/>
                </a:solidFill>
                <a:latin typeface="Roboto"/>
                <a:ea typeface="Roboto"/>
                <a:cs typeface="Roboto"/>
              </a:rPr>
              <a:t>selesai</a:t>
            </a:r>
            <a:endParaRPr lang="id-ID" sz="680"/>
          </a:p>
        </p:txBody>
      </p:sp>
      <p:sp>
        <p:nvSpPr>
          <p:cNvPr id="462" name="K"/>
          <p:cNvSpPr/>
          <p:nvPr/>
        </p:nvSpPr>
        <p:spPr>
          <a:xfrm>
            <a:off x="10110064" y="2971800"/>
            <a:ext cx="1368400" cy="512064"/>
          </a:xfrm>
          <a:prstGeom prst="roundRect">
            <a:avLst>
              <a:gd name="adj" fmla="val 9000"/>
            </a:avLst>
          </a:prstGeom>
          <a:solidFill>
            <a:srgbClr val="FBE7D6"/>
          </a:solidFill>
          <a:ln>
            <a:noFill/>
          </a:ln>
        </p:spPr>
      </p:sp>
      <p:sp>
        <p:nvSpPr>
          <p:cNvPr id="463" name="K"/>
          <p:cNvSpPr/>
          <p:nvPr/>
        </p:nvSpPr>
        <p:spPr>
          <a:xfrm>
            <a:off x="10219792" y="3063240"/>
            <a:ext cx="329184" cy="329184"/>
          </a:xfrm>
          <a:prstGeom prst="ellipse">
            <a:avLst/>
          </a:prstGeom>
          <a:solidFill>
            <a:srgbClr val="D9600B"/>
          </a:solidFill>
          <a:ln>
            <a:noFill/>
          </a:ln>
        </p:spPr>
      </p:sp>
      <p:pic>
        <p:nvPicPr>
          <p:cNvPr id="464" name="G"/>
          <p:cNvPicPr>
            <a:picLocks noChangeAspect="1"/>
          </p:cNvPicPr>
          <p:nvPr/>
        </p:nvPicPr>
        <p:blipFill>
          <a:blip r:embed="rIdM11"/>
          <a:stretch>
            <a:fillRect/>
          </a:stretch>
        </p:blipFill>
        <p:spPr>
          <a:xfrm>
            <a:off x="10302088" y="3145536"/>
            <a:ext cx="164592" cy="164592"/>
          </a:xfrm>
          <a:prstGeom prst="rect">
            <a:avLst/>
          </a:prstGeom>
        </p:spPr>
      </p:pic>
      <p:sp>
        <p:nvSpPr>
          <p:cNvPr id="465" name="T"/>
          <p:cNvSpPr txBox="1"/>
          <p:nvPr/>
        </p:nvSpPr>
        <p:spPr>
          <a:xfrm>
            <a:off x="10622128" y="2990088"/>
            <a:ext cx="819760" cy="292608"/>
          </a:xfrm>
          <a:prstGeom prst="rect">
            <a:avLst/>
          </a:prstGeom>
          <a:noFill/>
        </p:spPr>
        <p:txBody>
          <a:bodyPr wrap="square" lIns="0" tIns="0" rIns="0" bIns="0" anchor="ctr"/>
          <a:lstStyle/>
          <a:p>
            <a:pPr algn="l">
              <a:buNone/>
            </a:pPr>
            <a:r>
              <a:rPr lang="id-ID" sz="1700" b="1" dirty="0">
                <a:solidFill>
                  <a:srgbClr val="D9600B"/>
                </a:solidFill>
                <a:latin typeface="Roboto"/>
                <a:ea typeface="Roboto"/>
                <a:cs typeface="Roboto"/>
              </a:rPr>
              <a:t>28</a:t>
            </a:r>
            <a:r>
              <a:rPr lang="id-ID" sz="1700" dirty="0">
                <a:solidFill>
                  <a:srgbClr val="2E3440"/>
                </a:solidFill>
                <a:latin typeface="Roboto"/>
                <a:ea typeface="Roboto"/>
                <a:cs typeface="Roboto"/>
              </a:rPr>
              <a:t>  / 35</a:t>
            </a:r>
            <a:endParaRPr lang="id-ID" sz="1700"/>
          </a:p>
        </p:txBody>
      </p:sp>
      <p:sp>
        <p:nvSpPr>
          <p:cNvPr id="466" name="T"/>
          <p:cNvSpPr txBox="1"/>
          <p:nvPr/>
        </p:nvSpPr>
        <p:spPr>
          <a:xfrm>
            <a:off x="10622128" y="3273552"/>
            <a:ext cx="840000" cy="164592"/>
          </a:xfrm>
          <a:prstGeom prst="rect">
            <a:avLst/>
          </a:prstGeom>
          <a:noFill/>
        </p:spPr>
        <p:txBody>
          <a:bodyPr wrap="square" lIns="0" tIns="0" rIns="0" bIns="0" anchor="t"/>
          <a:lstStyle/>
          <a:p>
            <a:pPr algn="l">
              <a:buNone/>
            </a:pPr>
            <a:r>
              <a:rPr lang="id-ID" sz="700" b="1" dirty="0">
                <a:solidFill>
                  <a:srgbClr val="D9600B"/>
                </a:solidFill>
                <a:latin typeface="Roboto"/>
                <a:ea typeface="Roboto"/>
                <a:cs typeface="Roboto"/>
              </a:rPr>
              <a:t>dalam penanganan</a:t>
            </a:r>
            <a:endParaRPr lang="id-ID" sz="680"/>
          </a:p>
        </p:txBody>
      </p:sp>
      <p:cxnSp>
        <p:nvCxnSpPr>
          <p:cNvPr id="467" name="L"/>
          <p:cNvCxnSpPr/>
          <p:nvPr/>
        </p:nvCxnSpPr>
        <p:spPr>
          <a:xfrm>
            <a:off x="8668512" y="3557016"/>
            <a:ext cx="2809951" cy="0"/>
          </a:xfrm>
          <a:prstGeom prst="line">
            <a:avLst/>
          </a:prstGeom>
          <a:ln w="9525">
            <a:solidFill>
              <a:srgbClr val="E5E7EB"/>
            </a:solidFill>
          </a:ln>
        </p:spPr>
      </p:cxnSp>
      <p:sp>
        <p:nvSpPr>
          <p:cNvPr id="468" name="T"/>
          <p:cNvSpPr txBox="1"/>
          <p:nvPr/>
        </p:nvSpPr>
        <p:spPr>
          <a:xfrm>
            <a:off x="8668512" y="3621024"/>
            <a:ext cx="2864815" cy="182880"/>
          </a:xfrm>
          <a:prstGeom prst="rect">
            <a:avLst/>
          </a:prstGeom>
          <a:noFill/>
        </p:spPr>
        <p:txBody>
          <a:bodyPr wrap="square" lIns="0" tIns="0" rIns="0" bIns="0" anchor="t"/>
          <a:lstStyle/>
          <a:p>
            <a:pPr algn="l">
              <a:buNone/>
            </a:pPr>
            <a:r>
              <a:rPr lang="id-ID" sz="750" b="1" spc="100" dirty="0">
                <a:solidFill>
                  <a:srgbClr val="C8102E"/>
                </a:solidFill>
                <a:latin typeface="Roboto"/>
                <a:ea typeface="Roboto"/>
                <a:cs typeface="Roboto"/>
              </a:rPr>
              <a:t>BENCANA DALAM PENANGANAN (28)</a:t>
            </a:r>
            <a:endParaRPr lang="id-ID" sz="750"/>
          </a:p>
        </p:txBody>
      </p:sp>
      <p:sp>
        <p:nvSpPr>
          <p:cNvPr id="469" name="K"/>
          <p:cNvSpPr/>
          <p:nvPr/>
        </p:nvSpPr>
        <p:spPr>
          <a:xfrm>
            <a:off x="8668512" y="3840480"/>
            <a:ext cx="106146" cy="106146"/>
          </a:xfrm>
          <a:prstGeom prst="ellipse">
            <a:avLst/>
          </a:prstGeom>
          <a:solidFill>
            <a:srgbClr val="D9600B"/>
          </a:solidFill>
          <a:ln>
            <a:noFill/>
          </a:ln>
        </p:spPr>
      </p:sp>
      <p:pic>
        <p:nvPicPr>
          <p:cNvPr id="470" name="G"/>
          <p:cNvPicPr>
            <a:picLocks noChangeAspect="1"/>
          </p:cNvPicPr>
          <p:nvPr/>
        </p:nvPicPr>
        <p:blipFill>
          <a:blip r:embed="rIdM12"/>
          <a:stretch>
            <a:fillRect/>
          </a:stretch>
        </p:blipFill>
        <p:spPr>
          <a:xfrm>
            <a:off x="8688679" y="3860647"/>
            <a:ext cx="65810" cy="65810"/>
          </a:xfrm>
          <a:prstGeom prst="rect">
            <a:avLst/>
          </a:prstGeom>
        </p:spPr>
      </p:pic>
      <p:sp>
        <p:nvSpPr>
          <p:cNvPr id="471" name="K"/>
          <p:cNvSpPr/>
          <p:nvPr/>
        </p:nvSpPr>
        <p:spPr>
          <a:xfrm>
            <a:off x="8742814" y="3819250"/>
            <a:ext cx="58380" cy="58380"/>
          </a:xfrm>
          <a:prstGeom prst="ellipse">
            <a:avLst/>
          </a:prstGeom>
          <a:solidFill>
            <a:srgbClr val="C8102E"/>
          </a:solidFill>
          <a:ln w="6350">
            <a:solidFill>
              <a:srgbClr val="FFFFFF"/>
            </a:solidFill>
          </a:ln>
        </p:spPr>
      </p:sp>
      <p:sp>
        <p:nvSpPr>
          <p:cNvPr id="472" name="T"/>
          <p:cNvSpPr txBox="1"/>
          <p:nvPr/>
        </p:nvSpPr>
        <p:spPr>
          <a:xfrm>
            <a:off x="8742814" y="3819250"/>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473" name="T"/>
          <p:cNvSpPr txBox="1"/>
          <p:nvPr/>
        </p:nvSpPr>
        <p:spPr>
          <a:xfrm>
            <a:off x="8869680" y="3811257"/>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Papua Selatan</a:t>
            </a:r>
            <a:endParaRPr lang="id-ID" sz="760"/>
          </a:p>
        </p:txBody>
      </p:sp>
      <p:sp>
        <p:nvSpPr>
          <p:cNvPr id="474" name="K"/>
          <p:cNvSpPr/>
          <p:nvPr/>
        </p:nvSpPr>
        <p:spPr>
          <a:xfrm>
            <a:off x="10470000" y="3840480"/>
            <a:ext cx="1070000" cy="106146"/>
          </a:xfrm>
          <a:prstGeom prst="roundRect">
            <a:avLst>
              <a:gd name="adj" fmla="val 50000"/>
            </a:avLst>
          </a:prstGeom>
          <a:solidFill>
            <a:srgbClr val="FBE7D6"/>
          </a:solidFill>
          <a:ln>
            <a:noFill/>
          </a:ln>
        </p:spPr>
      </p:sp>
      <p:pic>
        <p:nvPicPr>
          <p:cNvPr id="475" name="G"/>
          <p:cNvPicPr>
            <a:picLocks noChangeAspect="1"/>
          </p:cNvPicPr>
          <p:nvPr/>
        </p:nvPicPr>
        <p:blipFill>
          <a:blip r:embed="rIdM13"/>
          <a:stretch>
            <a:fillRect/>
          </a:stretch>
        </p:blipFill>
        <p:spPr>
          <a:xfrm>
            <a:off x="10520000" y="3857463"/>
            <a:ext cx="72179" cy="72179"/>
          </a:xfrm>
          <a:prstGeom prst="rect">
            <a:avLst/>
          </a:prstGeom>
        </p:spPr>
      </p:pic>
      <p:sp>
        <p:nvSpPr>
          <p:cNvPr id="476" name="T"/>
          <p:cNvSpPr txBox="1"/>
          <p:nvPr/>
        </p:nvSpPr>
        <p:spPr>
          <a:xfrm>
            <a:off x="10650000" y="3840480"/>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477" name="T"/>
          <p:cNvSpPr txBox="1"/>
          <p:nvPr/>
        </p:nvSpPr>
        <p:spPr>
          <a:xfrm>
            <a:off x="10800000" y="3840480"/>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502</a:t>
            </a:r>
            <a:endParaRPr lang="id-ID" sz="720"/>
          </a:p>
        </p:txBody>
      </p:sp>
      <p:sp>
        <p:nvSpPr>
          <p:cNvPr id="478" name="T"/>
          <p:cNvSpPr txBox="1"/>
          <p:nvPr/>
        </p:nvSpPr>
        <p:spPr>
          <a:xfrm>
            <a:off x="11201600" y="3840480"/>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479" name="L"/>
          <p:cNvCxnSpPr/>
          <p:nvPr/>
        </p:nvCxnSpPr>
        <p:spPr>
          <a:xfrm>
            <a:off x="8668512" y="3959895"/>
            <a:ext cx="2809951" cy="0"/>
          </a:xfrm>
          <a:prstGeom prst="line">
            <a:avLst/>
          </a:prstGeom>
          <a:ln w="9525">
            <a:solidFill>
              <a:srgbClr val="F1F2F4"/>
            </a:solidFill>
          </a:ln>
        </p:spPr>
      </p:cxnSp>
      <p:sp>
        <p:nvSpPr>
          <p:cNvPr id="480" name="K"/>
          <p:cNvSpPr/>
          <p:nvPr/>
        </p:nvSpPr>
        <p:spPr>
          <a:xfrm>
            <a:off x="8668512" y="3973163"/>
            <a:ext cx="106146" cy="106146"/>
          </a:xfrm>
          <a:prstGeom prst="ellipse">
            <a:avLst/>
          </a:prstGeom>
          <a:solidFill>
            <a:srgbClr val="D9600B"/>
          </a:solidFill>
          <a:ln>
            <a:noFill/>
          </a:ln>
        </p:spPr>
      </p:sp>
      <p:pic>
        <p:nvPicPr>
          <p:cNvPr id="481" name="G"/>
          <p:cNvPicPr>
            <a:picLocks noChangeAspect="1"/>
          </p:cNvPicPr>
          <p:nvPr/>
        </p:nvPicPr>
        <p:blipFill>
          <a:blip r:embed="rIdM12"/>
          <a:stretch>
            <a:fillRect/>
          </a:stretch>
        </p:blipFill>
        <p:spPr>
          <a:xfrm>
            <a:off x="8688679" y="3993330"/>
            <a:ext cx="65810" cy="65810"/>
          </a:xfrm>
          <a:prstGeom prst="rect">
            <a:avLst/>
          </a:prstGeom>
        </p:spPr>
      </p:pic>
      <p:sp>
        <p:nvSpPr>
          <p:cNvPr id="482" name="K"/>
          <p:cNvSpPr/>
          <p:nvPr/>
        </p:nvSpPr>
        <p:spPr>
          <a:xfrm>
            <a:off x="8742814" y="3951933"/>
            <a:ext cx="58380" cy="58380"/>
          </a:xfrm>
          <a:prstGeom prst="ellipse">
            <a:avLst/>
          </a:prstGeom>
          <a:solidFill>
            <a:srgbClr val="C8102E"/>
          </a:solidFill>
          <a:ln w="6350">
            <a:solidFill>
              <a:srgbClr val="FFFFFF"/>
            </a:solidFill>
          </a:ln>
        </p:spPr>
      </p:sp>
      <p:sp>
        <p:nvSpPr>
          <p:cNvPr id="483" name="T"/>
          <p:cNvSpPr txBox="1"/>
          <p:nvPr/>
        </p:nvSpPr>
        <p:spPr>
          <a:xfrm>
            <a:off x="8742814" y="3951933"/>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484" name="T"/>
          <p:cNvSpPr txBox="1"/>
          <p:nvPr/>
        </p:nvSpPr>
        <p:spPr>
          <a:xfrm>
            <a:off x="8869680" y="3943940"/>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Sulawesi Tengah</a:t>
            </a:r>
            <a:endParaRPr lang="id-ID" sz="760"/>
          </a:p>
        </p:txBody>
      </p:sp>
      <p:sp>
        <p:nvSpPr>
          <p:cNvPr id="485" name="K"/>
          <p:cNvSpPr/>
          <p:nvPr/>
        </p:nvSpPr>
        <p:spPr>
          <a:xfrm>
            <a:off x="10470000" y="3973163"/>
            <a:ext cx="1070000" cy="106146"/>
          </a:xfrm>
          <a:prstGeom prst="roundRect">
            <a:avLst>
              <a:gd name="adj" fmla="val 50000"/>
            </a:avLst>
          </a:prstGeom>
          <a:solidFill>
            <a:srgbClr val="FBE7D6"/>
          </a:solidFill>
          <a:ln>
            <a:noFill/>
          </a:ln>
        </p:spPr>
      </p:sp>
      <p:pic>
        <p:nvPicPr>
          <p:cNvPr id="486" name="G"/>
          <p:cNvPicPr>
            <a:picLocks noChangeAspect="1"/>
          </p:cNvPicPr>
          <p:nvPr/>
        </p:nvPicPr>
        <p:blipFill>
          <a:blip r:embed="rIdM13"/>
          <a:stretch>
            <a:fillRect/>
          </a:stretch>
        </p:blipFill>
        <p:spPr>
          <a:xfrm>
            <a:off x="10520000" y="3990146"/>
            <a:ext cx="72179" cy="72179"/>
          </a:xfrm>
          <a:prstGeom prst="rect">
            <a:avLst/>
          </a:prstGeom>
        </p:spPr>
      </p:pic>
      <p:sp>
        <p:nvSpPr>
          <p:cNvPr id="487" name="T"/>
          <p:cNvSpPr txBox="1"/>
          <p:nvPr/>
        </p:nvSpPr>
        <p:spPr>
          <a:xfrm>
            <a:off x="10650000" y="3973163"/>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488" name="T"/>
          <p:cNvSpPr txBox="1"/>
          <p:nvPr/>
        </p:nvSpPr>
        <p:spPr>
          <a:xfrm>
            <a:off x="10800000" y="3973163"/>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295</a:t>
            </a:r>
            <a:endParaRPr lang="id-ID" sz="720"/>
          </a:p>
        </p:txBody>
      </p:sp>
      <p:sp>
        <p:nvSpPr>
          <p:cNvPr id="489" name="T"/>
          <p:cNvSpPr txBox="1"/>
          <p:nvPr/>
        </p:nvSpPr>
        <p:spPr>
          <a:xfrm>
            <a:off x="11201600" y="3973163"/>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490" name="L"/>
          <p:cNvCxnSpPr/>
          <p:nvPr/>
        </p:nvCxnSpPr>
        <p:spPr>
          <a:xfrm>
            <a:off x="8668512" y="4092578"/>
            <a:ext cx="2809951" cy="0"/>
          </a:xfrm>
          <a:prstGeom prst="line">
            <a:avLst/>
          </a:prstGeom>
          <a:ln w="9525">
            <a:solidFill>
              <a:srgbClr val="F1F2F4"/>
            </a:solidFill>
          </a:ln>
        </p:spPr>
      </p:cxnSp>
      <p:sp>
        <p:nvSpPr>
          <p:cNvPr id="491" name="K"/>
          <p:cNvSpPr/>
          <p:nvPr/>
        </p:nvSpPr>
        <p:spPr>
          <a:xfrm>
            <a:off x="8668512" y="4105846"/>
            <a:ext cx="106146" cy="106146"/>
          </a:xfrm>
          <a:prstGeom prst="ellipse">
            <a:avLst/>
          </a:prstGeom>
          <a:solidFill>
            <a:srgbClr val="D9600B"/>
          </a:solidFill>
          <a:ln>
            <a:noFill/>
          </a:ln>
        </p:spPr>
      </p:sp>
      <p:pic>
        <p:nvPicPr>
          <p:cNvPr id="492" name="G"/>
          <p:cNvPicPr>
            <a:picLocks noChangeAspect="1"/>
          </p:cNvPicPr>
          <p:nvPr/>
        </p:nvPicPr>
        <p:blipFill>
          <a:blip r:embed="rIdM12"/>
          <a:stretch>
            <a:fillRect/>
          </a:stretch>
        </p:blipFill>
        <p:spPr>
          <a:xfrm>
            <a:off x="8688679" y="4126013"/>
            <a:ext cx="65810" cy="65810"/>
          </a:xfrm>
          <a:prstGeom prst="rect">
            <a:avLst/>
          </a:prstGeom>
        </p:spPr>
      </p:pic>
      <p:sp>
        <p:nvSpPr>
          <p:cNvPr id="493" name="K"/>
          <p:cNvSpPr/>
          <p:nvPr/>
        </p:nvSpPr>
        <p:spPr>
          <a:xfrm>
            <a:off x="8742814" y="4084616"/>
            <a:ext cx="58380" cy="58380"/>
          </a:xfrm>
          <a:prstGeom prst="ellipse">
            <a:avLst/>
          </a:prstGeom>
          <a:solidFill>
            <a:srgbClr val="C8102E"/>
          </a:solidFill>
          <a:ln w="6350">
            <a:solidFill>
              <a:srgbClr val="FFFFFF"/>
            </a:solidFill>
          </a:ln>
        </p:spPr>
      </p:sp>
      <p:sp>
        <p:nvSpPr>
          <p:cNvPr id="494" name="T"/>
          <p:cNvSpPr txBox="1"/>
          <p:nvPr/>
        </p:nvSpPr>
        <p:spPr>
          <a:xfrm>
            <a:off x="8742814" y="4084616"/>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495" name="T"/>
          <p:cNvSpPr txBox="1"/>
          <p:nvPr/>
        </p:nvSpPr>
        <p:spPr>
          <a:xfrm>
            <a:off x="8869680" y="4076623"/>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Sulawesi Tenggara</a:t>
            </a:r>
            <a:endParaRPr lang="id-ID" sz="760"/>
          </a:p>
        </p:txBody>
      </p:sp>
      <p:sp>
        <p:nvSpPr>
          <p:cNvPr id="496" name="K"/>
          <p:cNvSpPr/>
          <p:nvPr/>
        </p:nvSpPr>
        <p:spPr>
          <a:xfrm>
            <a:off x="10470000" y="4105846"/>
            <a:ext cx="1070000" cy="106146"/>
          </a:xfrm>
          <a:prstGeom prst="roundRect">
            <a:avLst>
              <a:gd name="adj" fmla="val 50000"/>
            </a:avLst>
          </a:prstGeom>
          <a:solidFill>
            <a:srgbClr val="FBE7D6"/>
          </a:solidFill>
          <a:ln>
            <a:noFill/>
          </a:ln>
        </p:spPr>
      </p:sp>
      <p:pic>
        <p:nvPicPr>
          <p:cNvPr id="497" name="G"/>
          <p:cNvPicPr>
            <a:picLocks noChangeAspect="1"/>
          </p:cNvPicPr>
          <p:nvPr/>
        </p:nvPicPr>
        <p:blipFill>
          <a:blip r:embed="rIdM13"/>
          <a:stretch>
            <a:fillRect/>
          </a:stretch>
        </p:blipFill>
        <p:spPr>
          <a:xfrm>
            <a:off x="10520000" y="4122829"/>
            <a:ext cx="72179" cy="72179"/>
          </a:xfrm>
          <a:prstGeom prst="rect">
            <a:avLst/>
          </a:prstGeom>
        </p:spPr>
      </p:pic>
      <p:sp>
        <p:nvSpPr>
          <p:cNvPr id="498" name="T"/>
          <p:cNvSpPr txBox="1"/>
          <p:nvPr/>
        </p:nvSpPr>
        <p:spPr>
          <a:xfrm>
            <a:off x="10650000" y="4105846"/>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499" name="T"/>
          <p:cNvSpPr txBox="1"/>
          <p:nvPr/>
        </p:nvSpPr>
        <p:spPr>
          <a:xfrm>
            <a:off x="10800000" y="4105846"/>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257</a:t>
            </a:r>
            <a:endParaRPr lang="id-ID" sz="720"/>
          </a:p>
        </p:txBody>
      </p:sp>
      <p:sp>
        <p:nvSpPr>
          <p:cNvPr id="500" name="T"/>
          <p:cNvSpPr txBox="1"/>
          <p:nvPr/>
        </p:nvSpPr>
        <p:spPr>
          <a:xfrm>
            <a:off x="11201600" y="4105846"/>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501" name="L"/>
          <p:cNvCxnSpPr/>
          <p:nvPr/>
        </p:nvCxnSpPr>
        <p:spPr>
          <a:xfrm>
            <a:off x="8668512" y="4225261"/>
            <a:ext cx="2809951" cy="0"/>
          </a:xfrm>
          <a:prstGeom prst="line">
            <a:avLst/>
          </a:prstGeom>
          <a:ln w="9525">
            <a:solidFill>
              <a:srgbClr val="F1F2F4"/>
            </a:solidFill>
          </a:ln>
        </p:spPr>
      </p:cxnSp>
      <p:sp>
        <p:nvSpPr>
          <p:cNvPr id="502" name="K"/>
          <p:cNvSpPr/>
          <p:nvPr/>
        </p:nvSpPr>
        <p:spPr>
          <a:xfrm>
            <a:off x="8668512" y="4238529"/>
            <a:ext cx="106146" cy="106146"/>
          </a:xfrm>
          <a:prstGeom prst="ellipse">
            <a:avLst/>
          </a:prstGeom>
          <a:solidFill>
            <a:srgbClr val="D9600B"/>
          </a:solidFill>
          <a:ln>
            <a:noFill/>
          </a:ln>
        </p:spPr>
      </p:sp>
      <p:pic>
        <p:nvPicPr>
          <p:cNvPr id="503" name="G"/>
          <p:cNvPicPr>
            <a:picLocks noChangeAspect="1"/>
          </p:cNvPicPr>
          <p:nvPr/>
        </p:nvPicPr>
        <p:blipFill>
          <a:blip r:embed="rIdM12"/>
          <a:stretch>
            <a:fillRect/>
          </a:stretch>
        </p:blipFill>
        <p:spPr>
          <a:xfrm>
            <a:off x="8688679" y="4258696"/>
            <a:ext cx="65810" cy="65810"/>
          </a:xfrm>
          <a:prstGeom prst="rect">
            <a:avLst/>
          </a:prstGeom>
        </p:spPr>
      </p:pic>
      <p:sp>
        <p:nvSpPr>
          <p:cNvPr id="504" name="K"/>
          <p:cNvSpPr/>
          <p:nvPr/>
        </p:nvSpPr>
        <p:spPr>
          <a:xfrm>
            <a:off x="8742814" y="4217299"/>
            <a:ext cx="58380" cy="58380"/>
          </a:xfrm>
          <a:prstGeom prst="ellipse">
            <a:avLst/>
          </a:prstGeom>
          <a:solidFill>
            <a:srgbClr val="C8102E"/>
          </a:solidFill>
          <a:ln w="6350">
            <a:solidFill>
              <a:srgbClr val="FFFFFF"/>
            </a:solidFill>
          </a:ln>
        </p:spPr>
      </p:sp>
      <p:sp>
        <p:nvSpPr>
          <p:cNvPr id="505" name="T"/>
          <p:cNvSpPr txBox="1"/>
          <p:nvPr/>
        </p:nvSpPr>
        <p:spPr>
          <a:xfrm>
            <a:off x="8742814" y="4217299"/>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506" name="T"/>
          <p:cNvSpPr txBox="1"/>
          <p:nvPr/>
        </p:nvSpPr>
        <p:spPr>
          <a:xfrm>
            <a:off x="8869680" y="4209306"/>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Maluku</a:t>
            </a:r>
            <a:endParaRPr lang="id-ID" sz="760"/>
          </a:p>
        </p:txBody>
      </p:sp>
      <p:sp>
        <p:nvSpPr>
          <p:cNvPr id="507" name="K"/>
          <p:cNvSpPr/>
          <p:nvPr/>
        </p:nvSpPr>
        <p:spPr>
          <a:xfrm>
            <a:off x="10470000" y="4238529"/>
            <a:ext cx="1070000" cy="106146"/>
          </a:xfrm>
          <a:prstGeom prst="roundRect">
            <a:avLst>
              <a:gd name="adj" fmla="val 50000"/>
            </a:avLst>
          </a:prstGeom>
          <a:solidFill>
            <a:srgbClr val="FBE7D6"/>
          </a:solidFill>
          <a:ln>
            <a:noFill/>
          </a:ln>
        </p:spPr>
      </p:sp>
      <p:pic>
        <p:nvPicPr>
          <p:cNvPr id="508" name="G"/>
          <p:cNvPicPr>
            <a:picLocks noChangeAspect="1"/>
          </p:cNvPicPr>
          <p:nvPr/>
        </p:nvPicPr>
        <p:blipFill>
          <a:blip r:embed="rIdM13"/>
          <a:stretch>
            <a:fillRect/>
          </a:stretch>
        </p:blipFill>
        <p:spPr>
          <a:xfrm>
            <a:off x="10520000" y="4255512"/>
            <a:ext cx="72179" cy="72179"/>
          </a:xfrm>
          <a:prstGeom prst="rect">
            <a:avLst/>
          </a:prstGeom>
        </p:spPr>
      </p:pic>
      <p:sp>
        <p:nvSpPr>
          <p:cNvPr id="509" name="T"/>
          <p:cNvSpPr txBox="1"/>
          <p:nvPr/>
        </p:nvSpPr>
        <p:spPr>
          <a:xfrm>
            <a:off x="10650000" y="4238529"/>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510" name="T"/>
          <p:cNvSpPr txBox="1"/>
          <p:nvPr/>
        </p:nvSpPr>
        <p:spPr>
          <a:xfrm>
            <a:off x="10800000" y="4238529"/>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182</a:t>
            </a:r>
            <a:endParaRPr lang="id-ID" sz="720"/>
          </a:p>
        </p:txBody>
      </p:sp>
      <p:sp>
        <p:nvSpPr>
          <p:cNvPr id="511" name="T"/>
          <p:cNvSpPr txBox="1"/>
          <p:nvPr/>
        </p:nvSpPr>
        <p:spPr>
          <a:xfrm>
            <a:off x="11201600" y="4238529"/>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512" name="L"/>
          <p:cNvCxnSpPr/>
          <p:nvPr/>
        </p:nvCxnSpPr>
        <p:spPr>
          <a:xfrm>
            <a:off x="8668512" y="4357944"/>
            <a:ext cx="2809951" cy="0"/>
          </a:xfrm>
          <a:prstGeom prst="line">
            <a:avLst/>
          </a:prstGeom>
          <a:ln w="9525">
            <a:solidFill>
              <a:srgbClr val="F1F2F4"/>
            </a:solidFill>
          </a:ln>
        </p:spPr>
      </p:cxnSp>
      <p:sp>
        <p:nvSpPr>
          <p:cNvPr id="513" name="K"/>
          <p:cNvSpPr/>
          <p:nvPr/>
        </p:nvSpPr>
        <p:spPr>
          <a:xfrm>
            <a:off x="8668512" y="4371212"/>
            <a:ext cx="106146" cy="106146"/>
          </a:xfrm>
          <a:prstGeom prst="ellipse">
            <a:avLst/>
          </a:prstGeom>
          <a:solidFill>
            <a:srgbClr val="D9600B"/>
          </a:solidFill>
          <a:ln>
            <a:noFill/>
          </a:ln>
        </p:spPr>
      </p:sp>
      <p:pic>
        <p:nvPicPr>
          <p:cNvPr id="514" name="G"/>
          <p:cNvPicPr>
            <a:picLocks noChangeAspect="1"/>
          </p:cNvPicPr>
          <p:nvPr/>
        </p:nvPicPr>
        <p:blipFill>
          <a:blip r:embed="rIdM12"/>
          <a:stretch>
            <a:fillRect/>
          </a:stretch>
        </p:blipFill>
        <p:spPr>
          <a:xfrm>
            <a:off x="8688679" y="4391379"/>
            <a:ext cx="65810" cy="65810"/>
          </a:xfrm>
          <a:prstGeom prst="rect">
            <a:avLst/>
          </a:prstGeom>
        </p:spPr>
      </p:pic>
      <p:sp>
        <p:nvSpPr>
          <p:cNvPr id="515" name="K"/>
          <p:cNvSpPr/>
          <p:nvPr/>
        </p:nvSpPr>
        <p:spPr>
          <a:xfrm>
            <a:off x="8742814" y="4349982"/>
            <a:ext cx="58380" cy="58380"/>
          </a:xfrm>
          <a:prstGeom prst="ellipse">
            <a:avLst/>
          </a:prstGeom>
          <a:solidFill>
            <a:srgbClr val="C8102E"/>
          </a:solidFill>
          <a:ln w="6350">
            <a:solidFill>
              <a:srgbClr val="FFFFFF"/>
            </a:solidFill>
          </a:ln>
        </p:spPr>
      </p:sp>
      <p:sp>
        <p:nvSpPr>
          <p:cNvPr id="516" name="T"/>
          <p:cNvSpPr txBox="1"/>
          <p:nvPr/>
        </p:nvSpPr>
        <p:spPr>
          <a:xfrm>
            <a:off x="8742814" y="4349982"/>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517" name="T"/>
          <p:cNvSpPr txBox="1"/>
          <p:nvPr/>
        </p:nvSpPr>
        <p:spPr>
          <a:xfrm>
            <a:off x="8869680" y="4341989"/>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Kalimantan Timur</a:t>
            </a:r>
            <a:endParaRPr lang="id-ID" sz="760"/>
          </a:p>
        </p:txBody>
      </p:sp>
      <p:sp>
        <p:nvSpPr>
          <p:cNvPr id="518" name="K"/>
          <p:cNvSpPr/>
          <p:nvPr/>
        </p:nvSpPr>
        <p:spPr>
          <a:xfrm>
            <a:off x="10470000" y="4371212"/>
            <a:ext cx="1070000" cy="106146"/>
          </a:xfrm>
          <a:prstGeom prst="roundRect">
            <a:avLst>
              <a:gd name="adj" fmla="val 50000"/>
            </a:avLst>
          </a:prstGeom>
          <a:solidFill>
            <a:srgbClr val="FBE7D6"/>
          </a:solidFill>
          <a:ln>
            <a:noFill/>
          </a:ln>
        </p:spPr>
      </p:sp>
      <p:pic>
        <p:nvPicPr>
          <p:cNvPr id="519" name="G"/>
          <p:cNvPicPr>
            <a:picLocks noChangeAspect="1"/>
          </p:cNvPicPr>
          <p:nvPr/>
        </p:nvPicPr>
        <p:blipFill>
          <a:blip r:embed="rIdM13"/>
          <a:stretch>
            <a:fillRect/>
          </a:stretch>
        </p:blipFill>
        <p:spPr>
          <a:xfrm>
            <a:off x="10520000" y="4388195"/>
            <a:ext cx="72179" cy="72179"/>
          </a:xfrm>
          <a:prstGeom prst="rect">
            <a:avLst/>
          </a:prstGeom>
        </p:spPr>
      </p:pic>
      <p:sp>
        <p:nvSpPr>
          <p:cNvPr id="520" name="T"/>
          <p:cNvSpPr txBox="1"/>
          <p:nvPr/>
        </p:nvSpPr>
        <p:spPr>
          <a:xfrm>
            <a:off x="10650000" y="4371212"/>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521" name="T"/>
          <p:cNvSpPr txBox="1"/>
          <p:nvPr/>
        </p:nvSpPr>
        <p:spPr>
          <a:xfrm>
            <a:off x="10800000" y="4371212"/>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174</a:t>
            </a:r>
            <a:endParaRPr lang="id-ID" sz="720"/>
          </a:p>
        </p:txBody>
      </p:sp>
      <p:sp>
        <p:nvSpPr>
          <p:cNvPr id="522" name="T"/>
          <p:cNvSpPr txBox="1"/>
          <p:nvPr/>
        </p:nvSpPr>
        <p:spPr>
          <a:xfrm>
            <a:off x="11201600" y="4371212"/>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523" name="L"/>
          <p:cNvCxnSpPr/>
          <p:nvPr/>
        </p:nvCxnSpPr>
        <p:spPr>
          <a:xfrm>
            <a:off x="8668512" y="4490627"/>
            <a:ext cx="2809951" cy="0"/>
          </a:xfrm>
          <a:prstGeom prst="line">
            <a:avLst/>
          </a:prstGeom>
          <a:ln w="9525">
            <a:solidFill>
              <a:srgbClr val="F1F2F4"/>
            </a:solidFill>
          </a:ln>
        </p:spPr>
      </p:cxnSp>
      <p:sp>
        <p:nvSpPr>
          <p:cNvPr id="524" name="K"/>
          <p:cNvSpPr/>
          <p:nvPr/>
        </p:nvSpPr>
        <p:spPr>
          <a:xfrm>
            <a:off x="8668512" y="4503895"/>
            <a:ext cx="106146" cy="106146"/>
          </a:xfrm>
          <a:prstGeom prst="ellipse">
            <a:avLst/>
          </a:prstGeom>
          <a:solidFill>
            <a:srgbClr val="D9600B"/>
          </a:solidFill>
          <a:ln>
            <a:noFill/>
          </a:ln>
        </p:spPr>
      </p:sp>
      <p:pic>
        <p:nvPicPr>
          <p:cNvPr id="525" name="G"/>
          <p:cNvPicPr>
            <a:picLocks noChangeAspect="1"/>
          </p:cNvPicPr>
          <p:nvPr/>
        </p:nvPicPr>
        <p:blipFill>
          <a:blip r:embed="rIdM12"/>
          <a:stretch>
            <a:fillRect/>
          </a:stretch>
        </p:blipFill>
        <p:spPr>
          <a:xfrm>
            <a:off x="8688679" y="4524062"/>
            <a:ext cx="65810" cy="65810"/>
          </a:xfrm>
          <a:prstGeom prst="rect">
            <a:avLst/>
          </a:prstGeom>
        </p:spPr>
      </p:pic>
      <p:sp>
        <p:nvSpPr>
          <p:cNvPr id="526" name="K"/>
          <p:cNvSpPr/>
          <p:nvPr/>
        </p:nvSpPr>
        <p:spPr>
          <a:xfrm>
            <a:off x="8742814" y="4482665"/>
            <a:ext cx="58380" cy="58380"/>
          </a:xfrm>
          <a:prstGeom prst="ellipse">
            <a:avLst/>
          </a:prstGeom>
          <a:solidFill>
            <a:srgbClr val="C8102E"/>
          </a:solidFill>
          <a:ln w="6350">
            <a:solidFill>
              <a:srgbClr val="FFFFFF"/>
            </a:solidFill>
          </a:ln>
        </p:spPr>
      </p:sp>
      <p:sp>
        <p:nvSpPr>
          <p:cNvPr id="527" name="T"/>
          <p:cNvSpPr txBox="1"/>
          <p:nvPr/>
        </p:nvSpPr>
        <p:spPr>
          <a:xfrm>
            <a:off x="8742814" y="4482665"/>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528" name="T"/>
          <p:cNvSpPr txBox="1"/>
          <p:nvPr/>
        </p:nvSpPr>
        <p:spPr>
          <a:xfrm>
            <a:off x="8869680" y="4474672"/>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Karhutla lainnya</a:t>
            </a:r>
            <a:r>
              <a:rPr lang="id-ID" sz="760" dirty="0">
                <a:solidFill>
                  <a:srgbClr val="2E3440"/>
                </a:solidFill>
                <a:latin typeface="Roboto"/>
                <a:ea typeface="Roboto"/>
                <a:cs typeface="Roboto"/>
              </a:rPr>
              <a:t>, 8 provinsi</a:t>
            </a:r>
            <a:endParaRPr lang="id-ID" sz="760"/>
          </a:p>
        </p:txBody>
      </p:sp>
      <p:sp>
        <p:nvSpPr>
          <p:cNvPr id="529" name="K"/>
          <p:cNvSpPr/>
          <p:nvPr/>
        </p:nvSpPr>
        <p:spPr>
          <a:xfrm>
            <a:off x="10470000" y="4503895"/>
            <a:ext cx="1070000" cy="106146"/>
          </a:xfrm>
          <a:prstGeom prst="roundRect">
            <a:avLst>
              <a:gd name="adj" fmla="val 50000"/>
            </a:avLst>
          </a:prstGeom>
          <a:solidFill>
            <a:srgbClr val="FBE7D6"/>
          </a:solidFill>
          <a:ln>
            <a:noFill/>
          </a:ln>
        </p:spPr>
      </p:sp>
      <p:pic>
        <p:nvPicPr>
          <p:cNvPr id="530" name="G"/>
          <p:cNvPicPr>
            <a:picLocks noChangeAspect="1"/>
          </p:cNvPicPr>
          <p:nvPr/>
        </p:nvPicPr>
        <p:blipFill>
          <a:blip r:embed="rIdM13"/>
          <a:stretch>
            <a:fillRect/>
          </a:stretch>
        </p:blipFill>
        <p:spPr>
          <a:xfrm>
            <a:off x="10520000" y="4520878"/>
            <a:ext cx="72179" cy="72179"/>
          </a:xfrm>
          <a:prstGeom prst="rect">
            <a:avLst/>
          </a:prstGeom>
        </p:spPr>
      </p:pic>
      <p:sp>
        <p:nvSpPr>
          <p:cNvPr id="531" name="T"/>
          <p:cNvSpPr txBox="1"/>
          <p:nvPr/>
        </p:nvSpPr>
        <p:spPr>
          <a:xfrm>
            <a:off x="10650000" y="4503895"/>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532" name="T"/>
          <p:cNvSpPr txBox="1"/>
          <p:nvPr/>
        </p:nvSpPr>
        <p:spPr>
          <a:xfrm>
            <a:off x="10800000" y="4503895"/>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347</a:t>
            </a:r>
            <a:endParaRPr lang="id-ID" sz="720"/>
          </a:p>
        </p:txBody>
      </p:sp>
      <p:sp>
        <p:nvSpPr>
          <p:cNvPr id="533" name="T"/>
          <p:cNvSpPr txBox="1"/>
          <p:nvPr/>
        </p:nvSpPr>
        <p:spPr>
          <a:xfrm>
            <a:off x="11201600" y="4503895"/>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534" name="L"/>
          <p:cNvCxnSpPr/>
          <p:nvPr/>
        </p:nvCxnSpPr>
        <p:spPr>
          <a:xfrm>
            <a:off x="8668512" y="4623310"/>
            <a:ext cx="2809951" cy="0"/>
          </a:xfrm>
          <a:prstGeom prst="line">
            <a:avLst/>
          </a:prstGeom>
          <a:ln w="9525">
            <a:solidFill>
              <a:srgbClr val="F1F2F4"/>
            </a:solidFill>
          </a:ln>
        </p:spPr>
      </p:cxnSp>
      <p:sp>
        <p:nvSpPr>
          <p:cNvPr id="535" name="K"/>
          <p:cNvSpPr/>
          <p:nvPr/>
        </p:nvSpPr>
        <p:spPr>
          <a:xfrm>
            <a:off x="8668512" y="4636578"/>
            <a:ext cx="106146" cy="106146"/>
          </a:xfrm>
          <a:prstGeom prst="ellipse">
            <a:avLst/>
          </a:prstGeom>
          <a:solidFill>
            <a:srgbClr val="B08A3E"/>
          </a:solidFill>
          <a:ln>
            <a:noFill/>
          </a:ln>
        </p:spPr>
      </p:sp>
      <p:pic>
        <p:nvPicPr>
          <p:cNvPr id="536" name="G"/>
          <p:cNvPicPr>
            <a:picLocks noChangeAspect="1"/>
          </p:cNvPicPr>
          <p:nvPr/>
        </p:nvPicPr>
        <p:blipFill>
          <a:blip r:embed="rIdM14"/>
          <a:stretch>
            <a:fillRect/>
          </a:stretch>
        </p:blipFill>
        <p:spPr>
          <a:xfrm>
            <a:off x="8688679" y="4656745"/>
            <a:ext cx="65810" cy="65810"/>
          </a:xfrm>
          <a:prstGeom prst="rect">
            <a:avLst/>
          </a:prstGeom>
        </p:spPr>
      </p:pic>
      <p:sp>
        <p:nvSpPr>
          <p:cNvPr id="537" name="T"/>
          <p:cNvSpPr txBox="1"/>
          <p:nvPr/>
        </p:nvSpPr>
        <p:spPr>
          <a:xfrm>
            <a:off x="8869680" y="4607355"/>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Kekeringan</a:t>
            </a:r>
            <a:r>
              <a:rPr lang="id-ID" sz="760" dirty="0">
                <a:solidFill>
                  <a:srgbClr val="2E3440"/>
                </a:solidFill>
                <a:latin typeface="Roboto"/>
                <a:ea typeface="Roboto"/>
                <a:cs typeface="Roboto"/>
              </a:rPr>
              <a:t>, 4 kab/kota di 3 provinsi</a:t>
            </a:r>
            <a:endParaRPr lang="id-ID" sz="760"/>
          </a:p>
        </p:txBody>
      </p:sp>
      <p:sp>
        <p:nvSpPr>
          <p:cNvPr id="538" name="K"/>
          <p:cNvSpPr/>
          <p:nvPr/>
        </p:nvSpPr>
        <p:spPr>
          <a:xfrm>
            <a:off x="10470000" y="4636578"/>
            <a:ext cx="1070000" cy="106146"/>
          </a:xfrm>
          <a:prstGeom prst="roundRect">
            <a:avLst>
              <a:gd name="adj" fmla="val 50000"/>
            </a:avLst>
          </a:prstGeom>
          <a:solidFill>
            <a:srgbClr val="F4ECDC"/>
          </a:solidFill>
          <a:ln>
            <a:noFill/>
          </a:ln>
        </p:spPr>
      </p:sp>
      <p:pic>
        <p:nvPicPr>
          <p:cNvPr id="539" name="G"/>
          <p:cNvPicPr>
            <a:picLocks noChangeAspect="1"/>
          </p:cNvPicPr>
          <p:nvPr/>
        </p:nvPicPr>
        <p:blipFill>
          <a:blip r:embed="rIdM15"/>
          <a:stretch>
            <a:fillRect/>
          </a:stretch>
        </p:blipFill>
        <p:spPr>
          <a:xfrm>
            <a:off x="10520000" y="4653561"/>
            <a:ext cx="72179" cy="72179"/>
          </a:xfrm>
          <a:prstGeom prst="rect">
            <a:avLst/>
          </a:prstGeom>
        </p:spPr>
      </p:pic>
      <p:sp>
        <p:nvSpPr>
          <p:cNvPr id="540" name="T"/>
          <p:cNvSpPr txBox="1"/>
          <p:nvPr/>
        </p:nvSpPr>
        <p:spPr>
          <a:xfrm>
            <a:off x="10680000" y="4636578"/>
            <a:ext cx="500000" cy="106146"/>
          </a:xfrm>
          <a:prstGeom prst="rect">
            <a:avLst/>
          </a:prstGeom>
          <a:noFill/>
        </p:spPr>
        <p:txBody>
          <a:bodyPr wrap="none" lIns="0" tIns="0" rIns="0" bIns="0" anchor="ctr"/>
          <a:lstStyle/>
          <a:p>
            <a:pPr algn="r">
              <a:buNone/>
            </a:pPr>
            <a:r>
              <a:rPr lang="id-ID" sz="720" b="1" dirty="0">
                <a:solidFill>
                  <a:srgbClr val="8A6A2E"/>
                </a:solidFill>
                <a:latin typeface="Roboto"/>
                <a:ea typeface="Roboto"/>
                <a:cs typeface="Roboto"/>
              </a:rPr>
              <a:t>31.742</a:t>
            </a:r>
            <a:endParaRPr lang="id-ID" sz="720"/>
          </a:p>
        </p:txBody>
      </p:sp>
      <p:sp>
        <p:nvSpPr>
          <p:cNvPr id="541" name="T"/>
          <p:cNvSpPr txBox="1"/>
          <p:nvPr/>
        </p:nvSpPr>
        <p:spPr>
          <a:xfrm>
            <a:off x="11201600" y="4636578"/>
            <a:ext cx="300000" cy="106146"/>
          </a:xfrm>
          <a:prstGeom prst="rect">
            <a:avLst/>
          </a:prstGeom>
          <a:noFill/>
        </p:spPr>
        <p:txBody>
          <a:bodyPr wrap="none" lIns="0" tIns="0" rIns="0" bIns="0" anchor="ctr"/>
          <a:lstStyle/>
          <a:p>
            <a:pPr algn="l">
              <a:buNone/>
            </a:pPr>
            <a:r>
              <a:rPr lang="id-ID" sz="720" b="1" dirty="0">
                <a:solidFill>
                  <a:srgbClr val="8A6A2E"/>
                </a:solidFill>
                <a:latin typeface="Roboto"/>
                <a:ea typeface="Roboto"/>
                <a:cs typeface="Roboto"/>
              </a:rPr>
              <a:t>KK</a:t>
            </a:r>
            <a:endParaRPr lang="id-ID" sz="720"/>
          </a:p>
        </p:txBody>
      </p:sp>
      <p:cxnSp>
        <p:nvCxnSpPr>
          <p:cNvPr id="542" name="L"/>
          <p:cNvCxnSpPr/>
          <p:nvPr/>
        </p:nvCxnSpPr>
        <p:spPr>
          <a:xfrm>
            <a:off x="8668512" y="4755993"/>
            <a:ext cx="2809951" cy="0"/>
          </a:xfrm>
          <a:prstGeom prst="line">
            <a:avLst/>
          </a:prstGeom>
          <a:ln w="9525">
            <a:solidFill>
              <a:srgbClr val="F1F2F4"/>
            </a:solidFill>
          </a:ln>
        </p:spPr>
      </p:cxnSp>
      <p:sp>
        <p:nvSpPr>
          <p:cNvPr id="543" name="K"/>
          <p:cNvSpPr/>
          <p:nvPr/>
        </p:nvSpPr>
        <p:spPr>
          <a:xfrm>
            <a:off x="8668512" y="4769261"/>
            <a:ext cx="106146" cy="106146"/>
          </a:xfrm>
          <a:prstGeom prst="ellipse">
            <a:avLst/>
          </a:prstGeom>
          <a:solidFill>
            <a:srgbClr val="2F6FB5"/>
          </a:solidFill>
          <a:ln>
            <a:noFill/>
          </a:ln>
        </p:spPr>
      </p:sp>
      <p:pic>
        <p:nvPicPr>
          <p:cNvPr id="544" name="G"/>
          <p:cNvPicPr>
            <a:picLocks noChangeAspect="1"/>
          </p:cNvPicPr>
          <p:nvPr/>
        </p:nvPicPr>
        <p:blipFill>
          <a:blip r:embed="rIdM16"/>
          <a:stretch>
            <a:fillRect/>
          </a:stretch>
        </p:blipFill>
        <p:spPr>
          <a:xfrm>
            <a:off x="8688679" y="4789428"/>
            <a:ext cx="65810" cy="65810"/>
          </a:xfrm>
          <a:prstGeom prst="rect">
            <a:avLst/>
          </a:prstGeom>
        </p:spPr>
      </p:pic>
      <p:sp>
        <p:nvSpPr>
          <p:cNvPr id="545" name="K"/>
          <p:cNvSpPr/>
          <p:nvPr/>
        </p:nvSpPr>
        <p:spPr>
          <a:xfrm>
            <a:off x="8742814" y="4748031"/>
            <a:ext cx="58380" cy="58380"/>
          </a:xfrm>
          <a:prstGeom prst="ellipse">
            <a:avLst/>
          </a:prstGeom>
          <a:solidFill>
            <a:srgbClr val="C8102E"/>
          </a:solidFill>
          <a:ln w="6350">
            <a:solidFill>
              <a:srgbClr val="FFFFFF"/>
            </a:solidFill>
          </a:ln>
        </p:spPr>
      </p:sp>
      <p:sp>
        <p:nvSpPr>
          <p:cNvPr id="546" name="T"/>
          <p:cNvSpPr txBox="1"/>
          <p:nvPr/>
        </p:nvSpPr>
        <p:spPr>
          <a:xfrm>
            <a:off x="8742814" y="4748031"/>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547" name="T"/>
          <p:cNvSpPr txBox="1"/>
          <p:nvPr/>
        </p:nvSpPr>
        <p:spPr>
          <a:xfrm>
            <a:off x="8869680" y="4740038"/>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Banjir</a:t>
            </a:r>
            <a:r>
              <a:rPr lang="id-ID" sz="760" dirty="0">
                <a:solidFill>
                  <a:srgbClr val="2E3440"/>
                </a:solidFill>
                <a:latin typeface="Roboto"/>
                <a:ea typeface="Roboto"/>
                <a:cs typeface="Roboto"/>
              </a:rPr>
              <a:t>, 6 kab/kota di 2 provinsi</a:t>
            </a:r>
            <a:endParaRPr lang="id-ID" sz="760"/>
          </a:p>
        </p:txBody>
      </p:sp>
      <p:sp>
        <p:nvSpPr>
          <p:cNvPr id="548" name="K"/>
          <p:cNvSpPr/>
          <p:nvPr/>
        </p:nvSpPr>
        <p:spPr>
          <a:xfrm>
            <a:off x="10470000" y="4769261"/>
            <a:ext cx="1070000" cy="106146"/>
          </a:xfrm>
          <a:prstGeom prst="roundRect">
            <a:avLst>
              <a:gd name="adj" fmla="val 50000"/>
            </a:avLst>
          </a:prstGeom>
          <a:solidFill>
            <a:srgbClr val="DCE7F5"/>
          </a:solidFill>
          <a:ln>
            <a:noFill/>
          </a:ln>
        </p:spPr>
      </p:sp>
      <p:pic>
        <p:nvPicPr>
          <p:cNvPr id="549" name="G"/>
          <p:cNvPicPr>
            <a:picLocks noChangeAspect="1"/>
          </p:cNvPicPr>
          <p:nvPr/>
        </p:nvPicPr>
        <p:blipFill>
          <a:blip r:embed="rIdM17"/>
          <a:stretch>
            <a:fillRect/>
          </a:stretch>
        </p:blipFill>
        <p:spPr>
          <a:xfrm>
            <a:off x="10520000" y="4786244"/>
            <a:ext cx="72179" cy="72179"/>
          </a:xfrm>
          <a:prstGeom prst="rect">
            <a:avLst/>
          </a:prstGeom>
        </p:spPr>
      </p:pic>
      <p:sp>
        <p:nvSpPr>
          <p:cNvPr id="550" name="T"/>
          <p:cNvSpPr txBox="1"/>
          <p:nvPr/>
        </p:nvSpPr>
        <p:spPr>
          <a:xfrm>
            <a:off x="10680000" y="4769261"/>
            <a:ext cx="500000" cy="106146"/>
          </a:xfrm>
          <a:prstGeom prst="rect">
            <a:avLst/>
          </a:prstGeom>
          <a:noFill/>
        </p:spPr>
        <p:txBody>
          <a:bodyPr wrap="none" lIns="0" tIns="0" rIns="0" bIns="0" anchor="ctr"/>
          <a:lstStyle/>
          <a:p>
            <a:pPr algn="r">
              <a:buNone/>
            </a:pPr>
            <a:r>
              <a:rPr lang="id-ID" sz="720" b="1" dirty="0">
                <a:solidFill>
                  <a:srgbClr val="2F6FB5"/>
                </a:solidFill>
                <a:latin typeface="Roboto"/>
                <a:ea typeface="Roboto"/>
                <a:cs typeface="Roboto"/>
              </a:rPr>
              <a:t>8.793</a:t>
            </a:r>
            <a:endParaRPr lang="id-ID" sz="720"/>
          </a:p>
        </p:txBody>
      </p:sp>
      <p:sp>
        <p:nvSpPr>
          <p:cNvPr id="551" name="T"/>
          <p:cNvSpPr txBox="1"/>
          <p:nvPr/>
        </p:nvSpPr>
        <p:spPr>
          <a:xfrm>
            <a:off x="11201600" y="4769261"/>
            <a:ext cx="300000" cy="106146"/>
          </a:xfrm>
          <a:prstGeom prst="rect">
            <a:avLst/>
          </a:prstGeom>
          <a:noFill/>
        </p:spPr>
        <p:txBody>
          <a:bodyPr wrap="none" lIns="0" tIns="0" rIns="0" bIns="0" anchor="ctr"/>
          <a:lstStyle/>
          <a:p>
            <a:pPr algn="l">
              <a:buNone/>
            </a:pPr>
            <a:r>
              <a:rPr lang="id-ID" sz="720" b="1" dirty="0">
                <a:solidFill>
                  <a:srgbClr val="2F6FB5"/>
                </a:solidFill>
                <a:latin typeface="Roboto"/>
                <a:ea typeface="Roboto"/>
                <a:cs typeface="Roboto"/>
              </a:rPr>
              <a:t>KK</a:t>
            </a:r>
            <a:endParaRPr lang="id-ID" sz="720"/>
          </a:p>
        </p:txBody>
      </p:sp>
      <p:cxnSp>
        <p:nvCxnSpPr>
          <p:cNvPr id="552" name="L"/>
          <p:cNvCxnSpPr/>
          <p:nvPr/>
        </p:nvCxnSpPr>
        <p:spPr>
          <a:xfrm>
            <a:off x="8668512" y="4888676"/>
            <a:ext cx="2809951" cy="0"/>
          </a:xfrm>
          <a:prstGeom prst="line">
            <a:avLst/>
          </a:prstGeom>
          <a:ln w="9525">
            <a:solidFill>
              <a:srgbClr val="F1F2F4"/>
            </a:solidFill>
          </a:ln>
        </p:spPr>
      </p:cxnSp>
      <p:sp>
        <p:nvSpPr>
          <p:cNvPr id="553" name="K"/>
          <p:cNvSpPr/>
          <p:nvPr/>
        </p:nvSpPr>
        <p:spPr>
          <a:xfrm>
            <a:off x="8668512" y="4901944"/>
            <a:ext cx="106146" cy="106146"/>
          </a:xfrm>
          <a:prstGeom prst="ellipse">
            <a:avLst/>
          </a:prstGeom>
          <a:solidFill>
            <a:srgbClr val="A23B2A"/>
          </a:solidFill>
          <a:ln>
            <a:noFill/>
          </a:ln>
        </p:spPr>
      </p:sp>
      <p:pic>
        <p:nvPicPr>
          <p:cNvPr id="554" name="G"/>
          <p:cNvPicPr>
            <a:picLocks noChangeAspect="1"/>
          </p:cNvPicPr>
          <p:nvPr/>
        </p:nvPicPr>
        <p:blipFill>
          <a:blip r:embed="rIdM18"/>
          <a:stretch>
            <a:fillRect/>
          </a:stretch>
        </p:blipFill>
        <p:spPr>
          <a:xfrm>
            <a:off x="8688679" y="4922111"/>
            <a:ext cx="65810" cy="65810"/>
          </a:xfrm>
          <a:prstGeom prst="rect">
            <a:avLst/>
          </a:prstGeom>
        </p:spPr>
      </p:pic>
      <p:sp>
        <p:nvSpPr>
          <p:cNvPr id="555" name="K"/>
          <p:cNvSpPr/>
          <p:nvPr/>
        </p:nvSpPr>
        <p:spPr>
          <a:xfrm>
            <a:off x="8742814" y="4880714"/>
            <a:ext cx="58380" cy="58380"/>
          </a:xfrm>
          <a:prstGeom prst="ellipse">
            <a:avLst/>
          </a:prstGeom>
          <a:solidFill>
            <a:srgbClr val="C8102E"/>
          </a:solidFill>
          <a:ln w="6350">
            <a:solidFill>
              <a:srgbClr val="FFFFFF"/>
            </a:solidFill>
          </a:ln>
        </p:spPr>
      </p:sp>
      <p:sp>
        <p:nvSpPr>
          <p:cNvPr id="556" name="T"/>
          <p:cNvSpPr txBox="1"/>
          <p:nvPr/>
        </p:nvSpPr>
        <p:spPr>
          <a:xfrm>
            <a:off x="8742814" y="4880714"/>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557" name="T"/>
          <p:cNvSpPr txBox="1"/>
          <p:nvPr/>
        </p:nvSpPr>
        <p:spPr>
          <a:xfrm>
            <a:off x="8869680" y="4872721"/>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Kebakaran TPA</a:t>
            </a:r>
            <a:r>
              <a:rPr lang="id-ID" sz="760" dirty="0">
                <a:solidFill>
                  <a:srgbClr val="2E3440"/>
                </a:solidFill>
                <a:latin typeface="Roboto"/>
                <a:ea typeface="Roboto"/>
                <a:cs typeface="Roboto"/>
              </a:rPr>
              <a:t>, 2 kab/kota di 2 prov.</a:t>
            </a:r>
            <a:endParaRPr lang="id-ID" sz="760"/>
          </a:p>
        </p:txBody>
      </p:sp>
      <p:sp>
        <p:nvSpPr>
          <p:cNvPr id="558" name="K"/>
          <p:cNvSpPr/>
          <p:nvPr/>
        </p:nvSpPr>
        <p:spPr>
          <a:xfrm>
            <a:off x="10470000" y="4901944"/>
            <a:ext cx="1070000" cy="106146"/>
          </a:xfrm>
          <a:prstGeom prst="roundRect">
            <a:avLst>
              <a:gd name="adj" fmla="val 50000"/>
            </a:avLst>
          </a:prstGeom>
          <a:solidFill>
            <a:srgbClr val="F5E1DD"/>
          </a:solidFill>
          <a:ln>
            <a:noFill/>
          </a:ln>
        </p:spPr>
      </p:sp>
      <p:pic>
        <p:nvPicPr>
          <p:cNvPr id="559" name="G"/>
          <p:cNvPicPr>
            <a:picLocks noChangeAspect="1"/>
          </p:cNvPicPr>
          <p:nvPr/>
        </p:nvPicPr>
        <p:blipFill>
          <a:blip r:embed="rIdM19"/>
          <a:stretch>
            <a:fillRect/>
          </a:stretch>
        </p:blipFill>
        <p:spPr>
          <a:xfrm>
            <a:off x="10520000" y="4918927"/>
            <a:ext cx="72179" cy="72179"/>
          </a:xfrm>
          <a:prstGeom prst="rect">
            <a:avLst/>
          </a:prstGeom>
        </p:spPr>
      </p:pic>
      <p:sp>
        <p:nvSpPr>
          <p:cNvPr id="560" name="T"/>
          <p:cNvSpPr txBox="1"/>
          <p:nvPr/>
        </p:nvSpPr>
        <p:spPr>
          <a:xfrm>
            <a:off x="10680000" y="4901944"/>
            <a:ext cx="500000" cy="106146"/>
          </a:xfrm>
          <a:prstGeom prst="rect">
            <a:avLst/>
          </a:prstGeom>
          <a:noFill/>
        </p:spPr>
        <p:txBody>
          <a:bodyPr wrap="none" lIns="0" tIns="0" rIns="0" bIns="0" anchor="ctr"/>
          <a:lstStyle/>
          <a:p>
            <a:pPr algn="r">
              <a:buNone/>
            </a:pPr>
            <a:r>
              <a:rPr lang="id-ID" sz="720" b="1" dirty="0">
                <a:solidFill>
                  <a:srgbClr val="A23B2A"/>
                </a:solidFill>
                <a:latin typeface="Roboto"/>
                <a:ea typeface="Roboto"/>
                <a:cs typeface="Roboto"/>
              </a:rPr>
              <a:t>± 20,5</a:t>
            </a:r>
            <a:endParaRPr lang="id-ID" sz="720"/>
          </a:p>
        </p:txBody>
      </p:sp>
      <p:sp>
        <p:nvSpPr>
          <p:cNvPr id="561" name="T"/>
          <p:cNvSpPr txBox="1"/>
          <p:nvPr/>
        </p:nvSpPr>
        <p:spPr>
          <a:xfrm>
            <a:off x="11201600" y="4901944"/>
            <a:ext cx="300000" cy="106146"/>
          </a:xfrm>
          <a:prstGeom prst="rect">
            <a:avLst/>
          </a:prstGeom>
          <a:noFill/>
        </p:spPr>
        <p:txBody>
          <a:bodyPr wrap="none" lIns="0" tIns="0" rIns="0" bIns="0" anchor="ctr"/>
          <a:lstStyle/>
          <a:p>
            <a:pPr algn="l">
              <a:buNone/>
            </a:pPr>
            <a:r>
              <a:rPr lang="id-ID" sz="720" b="1" dirty="0">
                <a:solidFill>
                  <a:srgbClr val="A23B2A"/>
                </a:solidFill>
                <a:latin typeface="Roboto"/>
                <a:ea typeface="Roboto"/>
                <a:cs typeface="Roboto"/>
              </a:rPr>
              <a:t>ha</a:t>
            </a:r>
            <a:endParaRPr lang="id-ID" sz="720"/>
          </a:p>
        </p:txBody>
      </p:sp>
      <p:cxnSp>
        <p:nvCxnSpPr>
          <p:cNvPr id="562" name="L"/>
          <p:cNvCxnSpPr/>
          <p:nvPr/>
        </p:nvCxnSpPr>
        <p:spPr>
          <a:xfrm>
            <a:off x="8668512" y="5021359"/>
            <a:ext cx="2809951" cy="0"/>
          </a:xfrm>
          <a:prstGeom prst="line">
            <a:avLst/>
          </a:prstGeom>
          <a:ln w="9525">
            <a:solidFill>
              <a:srgbClr val="F1F2F4"/>
            </a:solidFill>
          </a:ln>
        </p:spPr>
      </p:cxnSp>
      <p:sp>
        <p:nvSpPr>
          <p:cNvPr id="563" name="K"/>
          <p:cNvSpPr/>
          <p:nvPr/>
        </p:nvSpPr>
        <p:spPr>
          <a:xfrm>
            <a:off x="8668512" y="5034627"/>
            <a:ext cx="106146" cy="106146"/>
          </a:xfrm>
          <a:prstGeom prst="ellipse">
            <a:avLst/>
          </a:prstGeom>
          <a:solidFill>
            <a:srgbClr val="0E7490"/>
          </a:solidFill>
          <a:ln>
            <a:noFill/>
          </a:ln>
        </p:spPr>
      </p:sp>
      <p:pic>
        <p:nvPicPr>
          <p:cNvPr id="564" name="G"/>
          <p:cNvPicPr>
            <a:picLocks noChangeAspect="1"/>
          </p:cNvPicPr>
          <p:nvPr/>
        </p:nvPicPr>
        <p:blipFill>
          <a:blip r:embed="rIdM20"/>
          <a:stretch>
            <a:fillRect/>
          </a:stretch>
        </p:blipFill>
        <p:spPr>
          <a:xfrm>
            <a:off x="8688679" y="5054794"/>
            <a:ext cx="65810" cy="65810"/>
          </a:xfrm>
          <a:prstGeom prst="rect">
            <a:avLst/>
          </a:prstGeom>
        </p:spPr>
      </p:pic>
      <p:sp>
        <p:nvSpPr>
          <p:cNvPr id="565" name="T"/>
          <p:cNvSpPr txBox="1"/>
          <p:nvPr/>
        </p:nvSpPr>
        <p:spPr>
          <a:xfrm>
            <a:off x="8869680" y="5005404"/>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Cuaca ekstrem</a:t>
            </a:r>
            <a:r>
              <a:rPr lang="id-ID" sz="760" dirty="0">
                <a:solidFill>
                  <a:srgbClr val="2E3440"/>
                </a:solidFill>
                <a:latin typeface="Roboto"/>
                <a:ea typeface="Roboto"/>
                <a:cs typeface="Roboto"/>
              </a:rPr>
              <a:t>, 2 kab/kota di 2 prov.</a:t>
            </a:r>
            <a:endParaRPr lang="id-ID" sz="760"/>
          </a:p>
        </p:txBody>
      </p:sp>
      <p:sp>
        <p:nvSpPr>
          <p:cNvPr id="566" name="K"/>
          <p:cNvSpPr/>
          <p:nvPr/>
        </p:nvSpPr>
        <p:spPr>
          <a:xfrm>
            <a:off x="10470000" y="5034627"/>
            <a:ext cx="1070000" cy="106146"/>
          </a:xfrm>
          <a:prstGeom prst="roundRect">
            <a:avLst>
              <a:gd name="adj" fmla="val 50000"/>
            </a:avLst>
          </a:prstGeom>
          <a:solidFill>
            <a:srgbClr val="D5EEF2"/>
          </a:solidFill>
          <a:ln>
            <a:noFill/>
          </a:ln>
        </p:spPr>
      </p:sp>
      <p:pic>
        <p:nvPicPr>
          <p:cNvPr id="567" name="G"/>
          <p:cNvPicPr>
            <a:picLocks noChangeAspect="1"/>
          </p:cNvPicPr>
          <p:nvPr/>
        </p:nvPicPr>
        <p:blipFill>
          <a:blip r:embed="rIdM17"/>
          <a:stretch>
            <a:fillRect/>
          </a:stretch>
        </p:blipFill>
        <p:spPr>
          <a:xfrm>
            <a:off x="10520000" y="5051610"/>
            <a:ext cx="72179" cy="72179"/>
          </a:xfrm>
          <a:prstGeom prst="rect">
            <a:avLst/>
          </a:prstGeom>
        </p:spPr>
      </p:pic>
      <p:sp>
        <p:nvSpPr>
          <p:cNvPr id="568" name="T"/>
          <p:cNvSpPr txBox="1"/>
          <p:nvPr/>
        </p:nvSpPr>
        <p:spPr>
          <a:xfrm>
            <a:off x="10680000" y="5034627"/>
            <a:ext cx="500000" cy="106146"/>
          </a:xfrm>
          <a:prstGeom prst="rect">
            <a:avLst/>
          </a:prstGeom>
          <a:noFill/>
        </p:spPr>
        <p:txBody>
          <a:bodyPr wrap="none" lIns="0" tIns="0" rIns="0" bIns="0" anchor="ctr"/>
          <a:lstStyle/>
          <a:p>
            <a:pPr algn="r">
              <a:buNone/>
            </a:pPr>
            <a:r>
              <a:rPr lang="id-ID" sz="720" b="1" dirty="0">
                <a:solidFill>
                  <a:srgbClr val="0E7490"/>
                </a:solidFill>
                <a:latin typeface="Roboto"/>
                <a:ea typeface="Roboto"/>
                <a:cs typeface="Roboto"/>
              </a:rPr>
              <a:t>53</a:t>
            </a:r>
            <a:endParaRPr lang="id-ID" sz="720"/>
          </a:p>
        </p:txBody>
      </p:sp>
      <p:sp>
        <p:nvSpPr>
          <p:cNvPr id="569" name="T"/>
          <p:cNvSpPr txBox="1"/>
          <p:nvPr/>
        </p:nvSpPr>
        <p:spPr>
          <a:xfrm>
            <a:off x="11201600" y="5034627"/>
            <a:ext cx="300000" cy="106146"/>
          </a:xfrm>
          <a:prstGeom prst="rect">
            <a:avLst/>
          </a:prstGeom>
          <a:noFill/>
        </p:spPr>
        <p:txBody>
          <a:bodyPr wrap="none" lIns="0" tIns="0" rIns="0" bIns="0" anchor="ctr"/>
          <a:lstStyle/>
          <a:p>
            <a:pPr algn="l">
              <a:buNone/>
            </a:pPr>
            <a:r>
              <a:rPr lang="id-ID" sz="720" b="1" dirty="0">
                <a:solidFill>
                  <a:srgbClr val="0E7490"/>
                </a:solidFill>
                <a:latin typeface="Roboto"/>
                <a:ea typeface="Roboto"/>
                <a:cs typeface="Roboto"/>
              </a:rPr>
              <a:t>KK</a:t>
            </a:r>
            <a:endParaRPr lang="id-ID" sz="720"/>
          </a:p>
        </p:txBody>
      </p:sp>
      <p:cxnSp>
        <p:nvCxnSpPr>
          <p:cNvPr id="570" name="L"/>
          <p:cNvCxnSpPr/>
          <p:nvPr/>
        </p:nvCxnSpPr>
        <p:spPr>
          <a:xfrm>
            <a:off x="8668512" y="5154042"/>
            <a:ext cx="2809951" cy="0"/>
          </a:xfrm>
          <a:prstGeom prst="line">
            <a:avLst/>
          </a:prstGeom>
          <a:ln w="9525">
            <a:solidFill>
              <a:srgbClr val="F1F2F4"/>
            </a:solidFill>
          </a:ln>
        </p:spPr>
      </p:cxnSp>
      <p:sp>
        <p:nvSpPr>
          <p:cNvPr id="571" name="K"/>
          <p:cNvSpPr/>
          <p:nvPr/>
        </p:nvSpPr>
        <p:spPr>
          <a:xfrm>
            <a:off x="8668512" y="5167310"/>
            <a:ext cx="106146" cy="106146"/>
          </a:xfrm>
          <a:prstGeom prst="ellipse">
            <a:avLst/>
          </a:prstGeom>
          <a:solidFill>
            <a:srgbClr val="5B7A99"/>
          </a:solidFill>
          <a:ln>
            <a:noFill/>
          </a:ln>
        </p:spPr>
      </p:sp>
      <p:pic>
        <p:nvPicPr>
          <p:cNvPr id="572" name="G"/>
          <p:cNvPicPr>
            <a:picLocks noChangeAspect="1"/>
          </p:cNvPicPr>
          <p:nvPr/>
        </p:nvPicPr>
        <p:blipFill>
          <a:blip r:embed="rIdM21"/>
          <a:stretch>
            <a:fillRect/>
          </a:stretch>
        </p:blipFill>
        <p:spPr>
          <a:xfrm>
            <a:off x="8688679" y="5187477"/>
            <a:ext cx="65810" cy="65810"/>
          </a:xfrm>
          <a:prstGeom prst="rect">
            <a:avLst/>
          </a:prstGeom>
        </p:spPr>
      </p:pic>
      <p:sp>
        <p:nvSpPr>
          <p:cNvPr id="573" name="T"/>
          <p:cNvSpPr txBox="1"/>
          <p:nvPr/>
        </p:nvSpPr>
        <p:spPr>
          <a:xfrm>
            <a:off x="8869680" y="5138087"/>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Nusa Tenggara Timur</a:t>
            </a:r>
            <a:endParaRPr lang="id-ID" sz="760"/>
          </a:p>
        </p:txBody>
      </p:sp>
      <p:sp>
        <p:nvSpPr>
          <p:cNvPr id="574" name="K"/>
          <p:cNvSpPr/>
          <p:nvPr/>
        </p:nvSpPr>
        <p:spPr>
          <a:xfrm>
            <a:off x="10470000" y="5167310"/>
            <a:ext cx="1070000" cy="106146"/>
          </a:xfrm>
          <a:prstGeom prst="roundRect">
            <a:avLst>
              <a:gd name="adj" fmla="val 50000"/>
            </a:avLst>
          </a:prstGeom>
          <a:solidFill>
            <a:srgbClr val="E3EAF1"/>
          </a:solidFill>
          <a:ln>
            <a:noFill/>
          </a:ln>
        </p:spPr>
      </p:sp>
      <p:pic>
        <p:nvPicPr>
          <p:cNvPr id="575" name="G"/>
          <p:cNvPicPr>
            <a:picLocks noChangeAspect="1"/>
          </p:cNvPicPr>
          <p:nvPr/>
        </p:nvPicPr>
        <p:blipFill>
          <a:blip r:embed="rIdM17"/>
          <a:stretch>
            <a:fillRect/>
          </a:stretch>
        </p:blipFill>
        <p:spPr>
          <a:xfrm>
            <a:off x="10520000" y="5184293"/>
            <a:ext cx="72179" cy="72179"/>
          </a:xfrm>
          <a:prstGeom prst="rect">
            <a:avLst/>
          </a:prstGeom>
        </p:spPr>
      </p:pic>
      <p:sp>
        <p:nvSpPr>
          <p:cNvPr id="576" name="T"/>
          <p:cNvSpPr txBox="1"/>
          <p:nvPr/>
        </p:nvSpPr>
        <p:spPr>
          <a:xfrm>
            <a:off x="10680000" y="5167310"/>
            <a:ext cx="500000" cy="106146"/>
          </a:xfrm>
          <a:prstGeom prst="rect">
            <a:avLst/>
          </a:prstGeom>
          <a:noFill/>
        </p:spPr>
        <p:txBody>
          <a:bodyPr wrap="none" lIns="0" tIns="0" rIns="0" bIns="0" anchor="ctr"/>
          <a:lstStyle/>
          <a:p>
            <a:pPr algn="r">
              <a:buNone/>
            </a:pPr>
            <a:r>
              <a:rPr lang="id-ID" sz="720" b="1" dirty="0">
                <a:solidFill>
                  <a:srgbClr val="5B7A99"/>
                </a:solidFill>
                <a:latin typeface="Roboto"/>
                <a:ea typeface="Roboto"/>
                <a:cs typeface="Roboto"/>
              </a:rPr>
              <a:t>17.707</a:t>
            </a:r>
            <a:endParaRPr lang="id-ID" sz="720"/>
          </a:p>
        </p:txBody>
      </p:sp>
      <p:sp>
        <p:nvSpPr>
          <p:cNvPr id="577" name="T"/>
          <p:cNvSpPr txBox="1"/>
          <p:nvPr/>
        </p:nvSpPr>
        <p:spPr>
          <a:xfrm>
            <a:off x="11201600" y="5167310"/>
            <a:ext cx="300000" cy="106146"/>
          </a:xfrm>
          <a:prstGeom prst="rect">
            <a:avLst/>
          </a:prstGeom>
          <a:noFill/>
        </p:spPr>
        <p:txBody>
          <a:bodyPr wrap="none" lIns="0" tIns="0" rIns="0" bIns="0" anchor="ctr"/>
          <a:lstStyle/>
          <a:p>
            <a:pPr algn="l">
              <a:buNone/>
            </a:pPr>
            <a:r>
              <a:rPr lang="id-ID" sz="720" b="1" dirty="0">
                <a:solidFill>
                  <a:srgbClr val="5B7A99"/>
                </a:solidFill>
                <a:latin typeface="Roboto"/>
                <a:ea typeface="Roboto"/>
                <a:cs typeface="Roboto"/>
              </a:rPr>
              <a:t>KK</a:t>
            </a:r>
            <a:endParaRPr lang="id-ID" sz="720"/>
          </a:p>
        </p:txBody>
      </p:sp>
      <p:sp>
        <p:nvSpPr>
          <p:cNvPr id="578" name="K"/>
          <p:cNvSpPr/>
          <p:nvPr/>
        </p:nvSpPr>
        <p:spPr>
          <a:xfrm>
            <a:off x="548640" y="5468112"/>
            <a:ext cx="11094415" cy="822960"/>
          </a:xfrm>
          <a:prstGeom prst="roundRect">
            <a:avLst>
              <a:gd name="adj" fmla="val 8889"/>
            </a:avLst>
          </a:prstGeom>
          <a:solidFill>
            <a:srgbClr val="FDF4EC"/>
          </a:solidFill>
          <a:ln>
            <a:noFill/>
          </a:ln>
        </p:spPr>
      </p:sp>
      <p:sp>
        <p:nvSpPr>
          <p:cNvPr id="579" name="T"/>
          <p:cNvSpPr txBox="1"/>
          <p:nvPr/>
        </p:nvSpPr>
        <p:spPr>
          <a:xfrm>
            <a:off x="694944" y="5541264"/>
            <a:ext cx="3657600" cy="182880"/>
          </a:xfrm>
          <a:prstGeom prst="rect">
            <a:avLst/>
          </a:prstGeom>
          <a:noFill/>
        </p:spPr>
        <p:txBody>
          <a:bodyPr wrap="square" lIns="0" tIns="0" rIns="0" bIns="0" anchor="t"/>
          <a:lstStyle/>
          <a:p>
            <a:pPr algn="l">
              <a:buNone/>
            </a:pPr>
            <a:r>
              <a:rPr lang="id-ID" sz="750" b="1" spc="100" dirty="0">
                <a:solidFill>
                  <a:srgbClr val="D9600B"/>
                </a:solidFill>
                <a:latin typeface="Roboto"/>
                <a:ea typeface="Roboto"/>
                <a:cs typeface="Roboto"/>
              </a:rPr>
              <a:t>YANG AKAN DILAKUKAN BNPB</a:t>
            </a:r>
            <a:endParaRPr lang="id-ID" sz="750"/>
          </a:p>
        </p:txBody>
      </p:sp>
      <p:sp>
        <p:nvSpPr>
          <p:cNvPr id="580" name="K"/>
          <p:cNvSpPr/>
          <p:nvPr/>
        </p:nvSpPr>
        <p:spPr>
          <a:xfrm>
            <a:off x="694944" y="5806440"/>
            <a:ext cx="365760" cy="365760"/>
          </a:xfrm>
          <a:prstGeom prst="ellipse">
            <a:avLst/>
          </a:prstGeom>
          <a:solidFill>
            <a:srgbClr val="D9600B"/>
          </a:solidFill>
          <a:ln>
            <a:noFill/>
          </a:ln>
        </p:spPr>
      </p:sp>
      <p:pic>
        <p:nvPicPr>
          <p:cNvPr id="581" name="G"/>
          <p:cNvPicPr>
            <a:picLocks noChangeAspect="1"/>
          </p:cNvPicPr>
          <p:nvPr/>
        </p:nvPicPr>
        <p:blipFill>
          <a:blip r:embed="rIdM22"/>
          <a:stretch>
            <a:fillRect/>
          </a:stretch>
        </p:blipFill>
        <p:spPr>
          <a:xfrm>
            <a:off x="777240" y="5888736"/>
            <a:ext cx="201168" cy="201168"/>
          </a:xfrm>
          <a:prstGeom prst="rect">
            <a:avLst/>
          </a:prstGeom>
        </p:spPr>
      </p:pic>
      <p:sp>
        <p:nvSpPr>
          <p:cNvPr id="582" name="T"/>
          <p:cNvSpPr txBox="1"/>
          <p:nvPr/>
        </p:nvSpPr>
        <p:spPr>
          <a:xfrm>
            <a:off x="1152144" y="5733288"/>
            <a:ext cx="3014472" cy="201168"/>
          </a:xfrm>
          <a:prstGeom prst="rect">
            <a:avLst/>
          </a:prstGeom>
          <a:noFill/>
        </p:spPr>
        <p:txBody>
          <a:bodyPr wrap="square" lIns="0" tIns="0" rIns="0" bIns="0" anchor="t"/>
          <a:lstStyle/>
          <a:p>
            <a:pPr algn="l">
              <a:buNone/>
            </a:pPr>
            <a:r>
              <a:rPr lang="id-ID" sz="950" b="1" dirty="0">
                <a:solidFill>
                  <a:srgbClr val="1A1A1A"/>
                </a:solidFill>
                <a:latin typeface="Roboto"/>
                <a:ea typeface="Roboto"/>
                <a:cs typeface="Roboto"/>
              </a:rPr>
              <a:t>Pemadaman prioritas</a:t>
            </a:r>
            <a:endParaRPr lang="id-ID" sz="950"/>
          </a:p>
        </p:txBody>
      </p:sp>
      <p:sp>
        <p:nvSpPr>
          <p:cNvPr id="583" name="T"/>
          <p:cNvSpPr txBox="1"/>
          <p:nvPr/>
        </p:nvSpPr>
        <p:spPr>
          <a:xfrm>
            <a:off x="1152144" y="5952744"/>
            <a:ext cx="3014472" cy="320040"/>
          </a:xfrm>
          <a:prstGeom prst="rect">
            <a:avLst/>
          </a:prstGeom>
          <a:noFill/>
        </p:spPr>
        <p:txBody>
          <a:bodyPr wrap="none" lIns="0" tIns="0" rIns="0" bIns="0" anchor="t"/>
          <a:lstStyle/>
          <a:p>
            <a:pPr algn="l">
              <a:buNone/>
            </a:pPr>
            <a:r>
              <a:rPr lang="id-ID" sz="820" dirty="0">
                <a:solidFill>
                  <a:srgbClr val="2E3440"/>
                </a:solidFill>
                <a:latin typeface="Roboto"/>
                <a:ea typeface="Roboto"/>
                <a:cs typeface="Roboto"/>
              </a:rPr>
              <a:t>•  Papua Selatan ±502 ha dan Sul. Tengah ±295 ha belum padam</a:t>
            </a:r>
            <a:endParaRPr lang="id-ID" sz="820"/>
          </a:p>
          <a:p>
            <a:pPr algn="l">
              <a:buNone/>
            </a:pPr>
            <a:r>
              <a:rPr lang="id-ID" sz="820" dirty="0">
                <a:solidFill>
                  <a:srgbClr val="2E3440"/>
                </a:solidFill>
                <a:latin typeface="Roboto"/>
                <a:ea typeface="Roboto"/>
                <a:cs typeface="Roboto"/>
              </a:rPr>
              <a:t>•  Patroli, pendinginan: Sul. Tenggara, Maluku, Kal. Timur</a:t>
            </a:r>
            <a:endParaRPr lang="id-ID" sz="820"/>
          </a:p>
        </p:txBody>
      </p:sp>
      <p:cxnSp>
        <p:nvCxnSpPr>
          <p:cNvPr id="584" name="L"/>
          <p:cNvCxnSpPr/>
          <p:nvPr/>
        </p:nvCxnSpPr>
        <p:spPr>
          <a:xfrm>
            <a:off x="4222394" y="5797296"/>
            <a:ext cx="0" cy="457200"/>
          </a:xfrm>
          <a:prstGeom prst="line">
            <a:avLst/>
          </a:prstGeom>
          <a:ln w="9525">
            <a:solidFill>
              <a:srgbClr val="F2D3BA"/>
            </a:solidFill>
          </a:ln>
        </p:spPr>
      </p:cxnSp>
      <p:sp>
        <p:nvSpPr>
          <p:cNvPr id="585" name="K"/>
          <p:cNvSpPr/>
          <p:nvPr/>
        </p:nvSpPr>
        <p:spPr>
          <a:xfrm>
            <a:off x="4295546" y="5806440"/>
            <a:ext cx="365760" cy="365760"/>
          </a:xfrm>
          <a:prstGeom prst="ellipse">
            <a:avLst/>
          </a:prstGeom>
          <a:solidFill>
            <a:srgbClr val="D9600B"/>
          </a:solidFill>
          <a:ln>
            <a:noFill/>
          </a:ln>
        </p:spPr>
      </p:sp>
      <p:pic>
        <p:nvPicPr>
          <p:cNvPr id="586" name="G"/>
          <p:cNvPicPr>
            <a:picLocks noChangeAspect="1"/>
          </p:cNvPicPr>
          <p:nvPr/>
        </p:nvPicPr>
        <p:blipFill>
          <a:blip r:embed="rIdM23"/>
          <a:stretch>
            <a:fillRect/>
          </a:stretch>
        </p:blipFill>
        <p:spPr>
          <a:xfrm>
            <a:off x="4377842" y="5888736"/>
            <a:ext cx="201168" cy="201168"/>
          </a:xfrm>
          <a:prstGeom prst="rect">
            <a:avLst/>
          </a:prstGeom>
        </p:spPr>
      </p:pic>
      <p:sp>
        <p:nvSpPr>
          <p:cNvPr id="587" name="T"/>
          <p:cNvSpPr txBox="1"/>
          <p:nvPr/>
        </p:nvSpPr>
        <p:spPr>
          <a:xfrm>
            <a:off x="4752746" y="5733288"/>
            <a:ext cx="3014472" cy="201168"/>
          </a:xfrm>
          <a:prstGeom prst="rect">
            <a:avLst/>
          </a:prstGeom>
          <a:noFill/>
        </p:spPr>
        <p:txBody>
          <a:bodyPr wrap="square" lIns="0" tIns="0" rIns="0" bIns="0" anchor="t"/>
          <a:lstStyle/>
          <a:p>
            <a:pPr algn="l">
              <a:buNone/>
            </a:pPr>
            <a:r>
              <a:rPr lang="id-ID" sz="950" b="1" dirty="0">
                <a:solidFill>
                  <a:srgbClr val="1A1A1A"/>
                </a:solidFill>
                <a:latin typeface="Roboto"/>
                <a:ea typeface="Roboto"/>
                <a:cs typeface="Roboto"/>
              </a:rPr>
              <a:t>Keselamatan warga</a:t>
            </a:r>
            <a:endParaRPr lang="id-ID" sz="950"/>
          </a:p>
        </p:txBody>
      </p:sp>
      <p:sp>
        <p:nvSpPr>
          <p:cNvPr id="588" name="T"/>
          <p:cNvSpPr txBox="1"/>
          <p:nvPr/>
        </p:nvSpPr>
        <p:spPr>
          <a:xfrm>
            <a:off x="4752746" y="5952744"/>
            <a:ext cx="3014472" cy="320040"/>
          </a:xfrm>
          <a:prstGeom prst="rect">
            <a:avLst/>
          </a:prstGeom>
          <a:noFill/>
        </p:spPr>
        <p:txBody>
          <a:bodyPr wrap="none" lIns="0" tIns="0" rIns="0" bIns="0" anchor="t"/>
          <a:lstStyle/>
          <a:p>
            <a:pPr algn="l">
              <a:buNone/>
            </a:pPr>
            <a:r>
              <a:rPr lang="id-ID" sz="820" dirty="0">
                <a:solidFill>
                  <a:srgbClr val="2E3440"/>
                </a:solidFill>
                <a:latin typeface="Roboto"/>
                <a:ea typeface="Roboto"/>
                <a:cs typeface="Roboto"/>
              </a:rPr>
              <a:t>•  Masker dan layanan ISPA: Pekanbaru, Pangkalan Bun</a:t>
            </a:r>
            <a:endParaRPr lang="id-ID" sz="820"/>
          </a:p>
          <a:p>
            <a:pPr algn="l">
              <a:buNone/>
            </a:pPr>
            <a:r>
              <a:rPr lang="id-ID" sz="820" dirty="0">
                <a:solidFill>
                  <a:srgbClr val="2E3440"/>
                </a:solidFill>
                <a:latin typeface="Roboto"/>
                <a:ea typeface="Roboto"/>
                <a:cs typeface="Roboto"/>
              </a:rPr>
              <a:t>•  Pengungsi: gempa NTT ±27.307, banjir Sum. Utara ±694 jiwa</a:t>
            </a:r>
            <a:endParaRPr lang="id-ID" sz="820"/>
          </a:p>
        </p:txBody>
      </p:sp>
      <p:cxnSp>
        <p:nvCxnSpPr>
          <p:cNvPr id="589" name="L"/>
          <p:cNvCxnSpPr/>
          <p:nvPr/>
        </p:nvCxnSpPr>
        <p:spPr>
          <a:xfrm>
            <a:off x="7822996" y="5797296"/>
            <a:ext cx="0" cy="457200"/>
          </a:xfrm>
          <a:prstGeom prst="line">
            <a:avLst/>
          </a:prstGeom>
          <a:ln w="9525">
            <a:solidFill>
              <a:srgbClr val="F2D3BA"/>
            </a:solidFill>
          </a:ln>
        </p:spPr>
      </p:cxnSp>
      <p:sp>
        <p:nvSpPr>
          <p:cNvPr id="590" name="K"/>
          <p:cNvSpPr/>
          <p:nvPr/>
        </p:nvSpPr>
        <p:spPr>
          <a:xfrm>
            <a:off x="7896148" y="5806440"/>
            <a:ext cx="365760" cy="365760"/>
          </a:xfrm>
          <a:prstGeom prst="ellipse">
            <a:avLst/>
          </a:prstGeom>
          <a:solidFill>
            <a:srgbClr val="D9600B"/>
          </a:solidFill>
          <a:ln>
            <a:noFill/>
          </a:ln>
        </p:spPr>
      </p:sp>
      <p:pic>
        <p:nvPicPr>
          <p:cNvPr id="591" name="G"/>
          <p:cNvPicPr>
            <a:picLocks noChangeAspect="1"/>
          </p:cNvPicPr>
          <p:nvPr/>
        </p:nvPicPr>
        <p:blipFill>
          <a:blip r:embed="rIdM14"/>
          <a:stretch>
            <a:fillRect/>
          </a:stretch>
        </p:blipFill>
        <p:spPr>
          <a:xfrm>
            <a:off x="7978444" y="5888736"/>
            <a:ext cx="201168" cy="201168"/>
          </a:xfrm>
          <a:prstGeom prst="rect">
            <a:avLst/>
          </a:prstGeom>
        </p:spPr>
      </p:pic>
      <p:sp>
        <p:nvSpPr>
          <p:cNvPr id="592" name="T"/>
          <p:cNvSpPr txBox="1"/>
          <p:nvPr/>
        </p:nvSpPr>
        <p:spPr>
          <a:xfrm>
            <a:off x="8353348" y="5733288"/>
            <a:ext cx="3014472" cy="201168"/>
          </a:xfrm>
          <a:prstGeom prst="rect">
            <a:avLst/>
          </a:prstGeom>
          <a:noFill/>
        </p:spPr>
        <p:txBody>
          <a:bodyPr wrap="square" lIns="0" tIns="0" rIns="0" bIns="0" anchor="t"/>
          <a:lstStyle/>
          <a:p>
            <a:pPr algn="l">
              <a:buNone/>
            </a:pPr>
            <a:r>
              <a:rPr lang="id-ID" sz="950" b="1" dirty="0">
                <a:solidFill>
                  <a:srgbClr val="1A1A1A"/>
                </a:solidFill>
                <a:latin typeface="Roboto"/>
                <a:ea typeface="Roboto"/>
                <a:cs typeface="Roboto"/>
              </a:rPr>
              <a:t>Air bersih</a:t>
            </a:r>
            <a:endParaRPr lang="id-ID" sz="950"/>
          </a:p>
        </p:txBody>
      </p:sp>
      <p:sp>
        <p:nvSpPr>
          <p:cNvPr id="593" name="T"/>
          <p:cNvSpPr txBox="1"/>
          <p:nvPr/>
        </p:nvSpPr>
        <p:spPr>
          <a:xfrm>
            <a:off x="8353348" y="5952744"/>
            <a:ext cx="3014472" cy="320040"/>
          </a:xfrm>
          <a:prstGeom prst="rect">
            <a:avLst/>
          </a:prstGeom>
          <a:noFill/>
        </p:spPr>
        <p:txBody>
          <a:bodyPr wrap="none" lIns="0" tIns="0" rIns="0" bIns="0" anchor="t"/>
          <a:lstStyle/>
          <a:p>
            <a:pPr algn="l">
              <a:buNone/>
            </a:pPr>
            <a:r>
              <a:rPr lang="id-ID" sz="820" dirty="0">
                <a:solidFill>
                  <a:srgbClr val="2E3440"/>
                </a:solidFill>
                <a:latin typeface="Roboto"/>
                <a:ea typeface="Roboto"/>
                <a:cs typeface="Roboto"/>
              </a:rPr>
              <a:t>•  Tersalur 204.000 liter untuk ±31.742 KK</a:t>
            </a:r>
            <a:endParaRPr lang="id-ID" sz="820"/>
          </a:p>
          <a:p>
            <a:pPr algn="l">
              <a:buNone/>
            </a:pPr>
            <a:r>
              <a:rPr lang="id-ID" sz="820" dirty="0">
                <a:solidFill>
                  <a:srgbClr val="2E3440"/>
                </a:solidFill>
                <a:latin typeface="Roboto"/>
                <a:ea typeface="Roboto"/>
                <a:cs typeface="Roboto"/>
              </a:rPr>
              <a:t>•  Terdampak terbesar: Pemalang (±14.847 KK)</a:t>
            </a:r>
            <a:endParaRPr lang="id-ID" sz="82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1"/>
          <p:cNvSpPr/>
          <p:nvPr/>
        </p:nvSpPr>
        <p:spPr>
          <a:xfrm>
            <a:off x="548640" y="1207008"/>
            <a:ext cx="11094415" cy="0"/>
          </a:xfrm>
          <a:prstGeom prst="line">
            <a:avLst/>
          </a:prstGeom>
          <a:noFill/>
          <a:ln w="9525">
            <a:solidFill>
              <a:srgbClr val="1A1A1A"/>
            </a:solidFill>
            <a:prstDash val="solid"/>
          </a:ln>
        </p:spPr>
      </p:sp>
      <p:sp>
        <p:nvSpPr>
          <p:cNvPr id="4" name="Shape 2"/>
          <p:cNvSpPr/>
          <p:nvPr/>
        </p:nvSpPr>
        <p:spPr>
          <a:xfrm>
            <a:off x="548640" y="6446520"/>
            <a:ext cx="11094415" cy="0"/>
          </a:xfrm>
          <a:prstGeom prst="line">
            <a:avLst/>
          </a:prstGeom>
          <a:noFill/>
          <a:ln w="9525">
            <a:solidFill>
              <a:srgbClr val="1A1A1A"/>
            </a:solidFill>
            <a:prstDash val="solid"/>
          </a:ln>
        </p:spPr>
      </p:sp>
      <p:pic>
        <p:nvPicPr>
          <p:cNvPr id="5" name="Image 0" descr="preencoded.png">    </p:cNvPr>
          <p:cNvPicPr>
            <a:picLocks noChangeAspect="1"/>
          </p:cNvPicPr>
          <p:nvPr/>
        </p:nvPicPr>
        <p:blipFill>
          <a:blip r:embed="rId1"/>
          <a:stretch>
            <a:fillRect/>
          </a:stretch>
        </p:blipFill>
        <p:spPr>
          <a:xfrm>
            <a:off x="11295583" y="365760"/>
            <a:ext cx="347472" cy="438912"/>
          </a:xfrm>
          <a:prstGeom prst="rect">
            <a:avLst/>
          </a:prstGeom>
        </p:spPr>
      </p:pic>
      <p:sp>
        <p:nvSpPr>
          <p:cNvPr id="6" name="Text 3"/>
          <p:cNvSpPr txBox="1"/>
          <p:nvPr/>
        </p:nvSpPr>
        <p:spPr>
          <a:xfrm>
            <a:off x="548640" y="6510528"/>
            <a:ext cx="5486400" cy="201168"/>
          </a:xfrm>
          <a:prstGeom prst="rect">
            <a:avLst/>
          </a:prstGeom>
          <a:noFill/>
          <a:ln/>
        </p:spPr>
        <p:txBody>
          <a:bodyPr wrap="square" lIns="0" tIns="0" rIns="0" bIns="0" rtlCol="0" anchor="t"/>
          <a:lstStyle/>
          <a:p>
            <a:pPr indent="0" marL="0">
              <a:buNone/>
            </a:pPr>
            <a:r>
              <a:rPr lang="en-US" sz="850" dirty="0">
                <a:solidFill>
                  <a:srgbClr val="1A1A1A"/>
                </a:solidFill>
                <a:latin typeface="Roboto" pitchFamily="34" charset="0"/>
                <a:ea typeface="Roboto" pitchFamily="34" charset="-122"/>
                <a:cs typeface="Roboto" pitchFamily="34" charset="-120"/>
              </a:rPr>
              <a:t>Badan Nasional Penanggulangan Bencana  |  Copyright 2026</a:t>
            </a:r>
            <a:endParaRPr lang="en-US" sz="850" dirty="0"/>
          </a:p>
        </p:txBody>
      </p:sp>
      <p:sp>
        <p:nvSpPr>
          <p:cNvPr id="7" name="Text 4"/>
          <p:cNvSpPr txBox="1"/>
          <p:nvPr/>
        </p:nvSpPr>
        <p:spPr>
          <a:xfrm>
            <a:off x="10728655" y="6510528"/>
            <a:ext cx="914400" cy="201168"/>
          </a:xfrm>
          <a:prstGeom prst="rect">
            <a:avLst/>
          </a:prstGeom>
          <a:noFill/>
          <a:ln/>
        </p:spPr>
        <p:txBody>
          <a:bodyPr wrap="square" lIns="0" tIns="0" rIns="0" bIns="0" rtlCol="0" anchor="t"/>
          <a:lstStyle/>
          <a:p>
            <a:pPr algn="r" indent="0" marL="0">
              <a:buNone/>
            </a:pPr>
            <a:r>
              <a:rPr lang="en-US" sz="850" b="1" dirty="0">
                <a:solidFill>
                  <a:srgbClr val="1A1A1A"/>
                </a:solidFill>
                <a:latin typeface="Roboto" pitchFamily="34" charset="0"/>
                <a:ea typeface="Roboto" pitchFamily="34" charset="-122"/>
                <a:cs typeface="Roboto" pitchFamily="34" charset="-120"/>
              </a:rPr>
              <a:t>3</a:t>
            </a:r>
            <a:endParaRPr lang="en-US" sz="850" dirty="0"/>
          </a:p>
        </p:txBody>
      </p:sp>
      <p:sp>
        <p:nvSpPr>
          <p:cNvPr id="652" name="T"/>
          <p:cNvSpPr txBox="1"/>
          <p:nvPr/>
        </p:nvSpPr>
        <p:spPr>
          <a:xfrm>
            <a:off x="548640" y="292608"/>
            <a:ext cx="10454335" cy="822960"/>
          </a:xfrm>
          <a:prstGeom prst="rect">
            <a:avLst/>
          </a:prstGeom>
          <a:noFill/>
        </p:spPr>
        <p:txBody>
          <a:bodyPr wrap="square" lIns="0" tIns="0" rIns="0" bIns="0" anchor="b"/>
          <a:lstStyle/>
          <a:p>
            <a:pPr algn="l">
              <a:buNone/>
            </a:pPr>
            <a:r>
              <a:rPr lang="id-ID" sz="2200" b="1" dirty="0">
                <a:solidFill>
                  <a:srgbClr val="1A1A1A"/>
                </a:solidFill>
                <a:latin typeface="Roboto"/>
                <a:ea typeface="Roboto"/>
                <a:cs typeface="Roboto"/>
              </a:rPr>
              <a:t>Kejadian baru: </a:t>
            </a:r>
            <a:r>
              <a:rPr lang="id-ID" sz="2200" b="1" dirty="0">
                <a:solidFill>
                  <a:srgbClr val="D9600B"/>
                </a:solidFill>
                <a:latin typeface="Roboto"/>
                <a:ea typeface="Roboto"/>
                <a:cs typeface="Roboto"/>
              </a:rPr>
              <a:t>8</a:t>
            </a:r>
            <a:r>
              <a:rPr lang="id-ID" sz="2200" b="1" dirty="0">
                <a:solidFill>
                  <a:srgbClr val="1A1A1A"/>
                </a:solidFill>
                <a:latin typeface="Roboto"/>
                <a:ea typeface="Roboto"/>
                <a:cs typeface="Roboto"/>
              </a:rPr>
              <a:t> dari </a:t>
            </a:r>
            <a:r>
              <a:rPr lang="id-ID" sz="2200" b="1" dirty="0">
                <a:solidFill>
                  <a:srgbClr val="D9600B"/>
                </a:solidFill>
                <a:latin typeface="Roboto"/>
                <a:ea typeface="Roboto"/>
                <a:cs typeface="Roboto"/>
              </a:rPr>
              <a:t>35</a:t>
            </a:r>
            <a:r>
              <a:rPr lang="id-ID" sz="2200" b="1" dirty="0">
                <a:solidFill>
                  <a:srgbClr val="1A1A1A"/>
                </a:solidFill>
                <a:latin typeface="Roboto"/>
                <a:ea typeface="Roboto"/>
                <a:cs typeface="Roboto"/>
              </a:rPr>
              <a:t> kejadian menonjol</a:t>
            </a:r>
            <a:r>
              <a:rPr lang="id-ID" sz="2200" b="1" dirty="0">
                <a:solidFill>
                  <a:srgbClr val="1A1A1A"/>
                </a:solidFill>
                <a:latin typeface="Roboto"/>
                <a:ea typeface="Roboto"/>
                <a:cs typeface="Roboto"/>
              </a:rPr>
              <a:t> (3 banjir, 3 karhutla, dan 2 cuaca ekstrem)</a:t>
            </a:r>
            <a:r>
              <a:rPr lang="id-ID" sz="2200" b="1" dirty="0">
                <a:solidFill>
                  <a:srgbClr val="1A1A1A"/>
                </a:solidFill>
                <a:latin typeface="Roboto"/>
                <a:ea typeface="Roboto"/>
                <a:cs typeface="Roboto"/>
              </a:rPr>
              <a:t>; </a:t>
            </a:r>
            <a:r>
              <a:rPr lang="id-ID" sz="2200" b="1" dirty="0">
                <a:solidFill>
                  <a:srgbClr val="D9600B"/>
                </a:solidFill>
                <a:latin typeface="Roboto"/>
                <a:ea typeface="Roboto"/>
                <a:cs typeface="Roboto"/>
              </a:rPr>
              <a:t>3 gunung api</a:t>
            </a:r>
            <a:r>
              <a:rPr lang="id-ID" sz="2200" b="1" dirty="0">
                <a:solidFill>
                  <a:srgbClr val="1A1A1A"/>
                </a:solidFill>
                <a:latin typeface="Roboto"/>
                <a:ea typeface="Roboto"/>
                <a:cs typeface="Roboto"/>
              </a:rPr>
              <a:t> berstatus Siaga</a:t>
            </a:r>
            <a:endParaRPr lang="id-ID" sz="2200"/>
          </a:p>
        </p:txBody>
      </p:sp>
      <p:sp>
        <p:nvSpPr>
          <p:cNvPr id="379" name="K"/>
          <p:cNvSpPr/>
          <p:nvPr/>
        </p:nvSpPr>
        <p:spPr>
          <a:xfrm>
            <a:off x="548640" y="1325880"/>
            <a:ext cx="6720840" cy="1636776"/>
          </a:xfrm>
          <a:prstGeom prst="roundRect">
            <a:avLst>
              <a:gd name="adj" fmla="val 6145"/>
            </a:avLst>
          </a:prstGeom>
          <a:solidFill>
            <a:srgbClr val="FFFFFF"/>
          </a:solidFill>
          <a:ln w="9525">
            <a:solidFill>
              <a:srgbClr val="BFC5CC"/>
            </a:solidFill>
          </a:ln>
        </p:spPr>
      </p:sp>
      <p:sp>
        <p:nvSpPr>
          <p:cNvPr id="380" name="K"/>
          <p:cNvSpPr/>
          <p:nvPr/>
        </p:nvSpPr>
        <p:spPr>
          <a:xfrm>
            <a:off x="548640" y="1325880"/>
            <a:ext cx="6720840" cy="457200"/>
          </a:xfrm>
          <a:prstGeom prst="roundRect">
            <a:avLst>
              <a:gd name="adj" fmla="val 16000"/>
            </a:avLst>
          </a:prstGeom>
          <a:solidFill>
            <a:srgbClr val="FBE7D6"/>
          </a:solidFill>
          <a:ln>
            <a:noFill/>
          </a:ln>
        </p:spPr>
      </p:sp>
      <p:sp>
        <p:nvSpPr>
          <p:cNvPr id="381" name="K"/>
          <p:cNvSpPr/>
          <p:nvPr/>
        </p:nvSpPr>
        <p:spPr>
          <a:xfrm>
            <a:off x="548640" y="1600200"/>
            <a:ext cx="6720840" cy="182880"/>
          </a:xfrm>
          <a:prstGeom prst="rect">
            <a:avLst/>
          </a:prstGeom>
          <a:solidFill>
            <a:srgbClr val="FBE7D6"/>
          </a:solidFill>
          <a:ln>
            <a:noFill/>
          </a:ln>
        </p:spPr>
      </p:sp>
      <p:sp>
        <p:nvSpPr>
          <p:cNvPr id="382" name="K"/>
          <p:cNvSpPr/>
          <p:nvPr/>
        </p:nvSpPr>
        <p:spPr>
          <a:xfrm>
            <a:off x="676656" y="1408176"/>
            <a:ext cx="292608" cy="292608"/>
          </a:xfrm>
          <a:prstGeom prst="ellipse">
            <a:avLst/>
          </a:prstGeom>
          <a:solidFill>
            <a:srgbClr val="D9600B"/>
          </a:solidFill>
          <a:ln>
            <a:noFill/>
          </a:ln>
        </p:spPr>
      </p:sp>
      <p:pic>
        <p:nvPicPr>
          <p:cNvPr id="383" name="G"/>
          <p:cNvPicPr>
            <a:picLocks noChangeAspect="1"/>
          </p:cNvPicPr>
          <p:nvPr/>
        </p:nvPicPr>
        <p:blipFill>
          <a:blip r:embed="rIdM12"/>
          <a:stretch>
            <a:fillRect/>
          </a:stretch>
        </p:blipFill>
        <p:spPr>
          <a:xfrm>
            <a:off x="731520" y="1463040"/>
            <a:ext cx="182880" cy="182880"/>
          </a:xfrm>
          <a:prstGeom prst="rect">
            <a:avLst/>
          </a:prstGeom>
        </p:spPr>
      </p:pic>
      <p:sp>
        <p:nvSpPr>
          <p:cNvPr id="384" name="T"/>
          <p:cNvSpPr txBox="1"/>
          <p:nvPr/>
        </p:nvSpPr>
        <p:spPr>
          <a:xfrm>
            <a:off x="1051560" y="1325880"/>
            <a:ext cx="5620840" cy="457200"/>
          </a:xfrm>
          <a:prstGeom prst="rect">
            <a:avLst/>
          </a:prstGeom>
          <a:noFill/>
        </p:spPr>
        <p:txBody>
          <a:bodyPr wrap="square" lIns="0" tIns="0" rIns="0" bIns="0" anchor="ctr"/>
          <a:lstStyle/>
          <a:p>
            <a:pPr algn="l">
              <a:buNone/>
            </a:pPr>
            <a:r>
              <a:rPr lang="id-ID" sz="1100" b="1" dirty="0">
                <a:solidFill>
                  <a:srgbClr val="1A1A1A"/>
                </a:solidFill>
                <a:latin typeface="Roboto"/>
                <a:ea typeface="Roboto"/>
                <a:cs typeface="Roboto"/>
              </a:rPr>
              <a:t>Karhutla</a:t>
            </a:r>
            <a:endParaRPr lang="id-ID" sz="1100"/>
          </a:p>
        </p:txBody>
      </p:sp>
      <p:sp>
        <p:nvSpPr>
          <p:cNvPr id="385" name="T"/>
          <p:cNvSpPr txBox="1"/>
          <p:nvPr/>
        </p:nvSpPr>
        <p:spPr>
          <a:xfrm>
            <a:off x="6629400" y="1325880"/>
            <a:ext cx="512064" cy="457200"/>
          </a:xfrm>
          <a:prstGeom prst="rect">
            <a:avLst/>
          </a:prstGeom>
          <a:noFill/>
        </p:spPr>
        <p:txBody>
          <a:bodyPr wrap="square" lIns="0" tIns="0" rIns="0" bIns="0" anchor="ctr"/>
          <a:lstStyle/>
          <a:p>
            <a:pPr algn="r">
              <a:buNone/>
            </a:pPr>
            <a:r>
              <a:rPr lang="id-ID" sz="1800" b="1" dirty="0">
                <a:solidFill>
                  <a:srgbClr val="D9600B"/>
                </a:solidFill>
                <a:latin typeface="Roboto"/>
                <a:ea typeface="Roboto"/>
                <a:cs typeface="Roboto"/>
              </a:rPr>
              <a:t>3</a:t>
            </a:r>
            <a:endParaRPr lang="id-ID" sz="1800"/>
          </a:p>
        </p:txBody>
      </p:sp>
      <p:sp>
        <p:nvSpPr>
          <p:cNvPr id="386" name="T"/>
          <p:cNvSpPr txBox="1"/>
          <p:nvPr/>
        </p:nvSpPr>
        <p:spPr>
          <a:xfrm>
            <a:off x="676656" y="1856232"/>
            <a:ext cx="2194560" cy="164592"/>
          </a:xfrm>
          <a:prstGeom prst="rect">
            <a:avLst/>
          </a:prstGeom>
          <a:noFill/>
        </p:spPr>
        <p:txBody>
          <a:bodyPr wrap="square" lIns="0" tIns="0" rIns="0" bIns="0" anchor="t"/>
          <a:lstStyle/>
          <a:p>
            <a:pPr algn="l">
              <a:buNone/>
            </a:pPr>
            <a:r>
              <a:rPr lang="id-ID" sz="700" b="1" spc="60" dirty="0">
                <a:solidFill>
                  <a:srgbClr val="6B7280"/>
                </a:solidFill>
                <a:latin typeface="Roboto"/>
                <a:ea typeface="Roboto"/>
                <a:cs typeface="Roboto"/>
              </a:rPr>
              <a:t>LOKASI</a:t>
            </a:r>
            <a:endParaRPr lang="id-ID" sz="650"/>
          </a:p>
        </p:txBody>
      </p:sp>
      <p:sp>
        <p:nvSpPr>
          <p:cNvPr id="387" name="T"/>
          <p:cNvSpPr txBox="1"/>
          <p:nvPr/>
        </p:nvSpPr>
        <p:spPr>
          <a:xfrm>
            <a:off x="3291840" y="1856232"/>
            <a:ext cx="1280160" cy="164592"/>
          </a:xfrm>
          <a:prstGeom prst="rect">
            <a:avLst/>
          </a:prstGeom>
          <a:noFill/>
        </p:spPr>
        <p:txBody>
          <a:bodyPr wrap="square" lIns="0" tIns="0" rIns="0" bIns="0" anchor="t"/>
          <a:lstStyle/>
          <a:p>
            <a:pPr algn="l">
              <a:buNone/>
            </a:pPr>
            <a:r>
              <a:rPr lang="id-ID" sz="700" b="1" spc="60" dirty="0">
                <a:solidFill>
                  <a:srgbClr val="6B7280"/>
                </a:solidFill>
                <a:latin typeface="Roboto"/>
                <a:ea typeface="Roboto"/>
                <a:cs typeface="Roboto"/>
              </a:rPr>
              <a:t>TERBAKAR 1 JAN–29 OKT</a:t>
            </a:r>
            <a:endParaRPr lang="id-ID" sz="650"/>
          </a:p>
        </p:txBody>
      </p:sp>
      <p:sp>
        <p:nvSpPr>
          <p:cNvPr id="388" name="T"/>
          <p:cNvSpPr txBox="1"/>
          <p:nvPr/>
        </p:nvSpPr>
        <p:spPr>
          <a:xfrm>
            <a:off x="4617720" y="1856232"/>
            <a:ext cx="2523744" cy="164592"/>
          </a:xfrm>
          <a:prstGeom prst="rect">
            <a:avLst/>
          </a:prstGeom>
          <a:noFill/>
        </p:spPr>
        <p:txBody>
          <a:bodyPr wrap="square" lIns="0" tIns="0" rIns="0" bIns="0" anchor="t"/>
          <a:lstStyle/>
          <a:p>
            <a:pPr algn="ctr">
              <a:buNone/>
            </a:pPr>
            <a:r>
              <a:rPr lang="id-ID" sz="700" b="1" spc="60" dirty="0">
                <a:solidFill>
                  <a:srgbClr val="6B7280"/>
                </a:solidFill>
                <a:latin typeface="Roboto"/>
                <a:ea typeface="Roboto"/>
                <a:cs typeface="Roboto"/>
              </a:rPr>
              <a:t>FIRESPOT DAN SISA 29 OKT</a:t>
            </a:r>
            <a:endParaRPr lang="id-ID" sz="650"/>
          </a:p>
        </p:txBody>
      </p:sp>
      <p:cxnSp>
        <p:nvCxnSpPr>
          <p:cNvPr id="389" name="L"/>
          <p:cNvCxnSpPr/>
          <p:nvPr/>
        </p:nvCxnSpPr>
        <p:spPr>
          <a:xfrm>
            <a:off x="676656" y="2039112"/>
            <a:ext cx="6464808" cy="0"/>
          </a:xfrm>
          <a:prstGeom prst="line">
            <a:avLst/>
          </a:prstGeom>
          <a:ln w="9525">
            <a:solidFill>
              <a:srgbClr val="1A1A1A"/>
            </a:solidFill>
          </a:ln>
        </p:spPr>
      </p:cxnSp>
      <p:sp>
        <p:nvSpPr>
          <p:cNvPr id="390" name="K"/>
          <p:cNvSpPr/>
          <p:nvPr/>
        </p:nvSpPr>
        <p:spPr>
          <a:xfrm>
            <a:off x="676656" y="2111412"/>
            <a:ext cx="162034" cy="162034"/>
          </a:xfrm>
          <a:prstGeom prst="ellipse">
            <a:avLst/>
          </a:prstGeom>
          <a:solidFill>
            <a:srgbClr val="D9600B"/>
          </a:solidFill>
          <a:ln>
            <a:noFill/>
          </a:ln>
        </p:spPr>
      </p:sp>
      <p:pic>
        <p:nvPicPr>
          <p:cNvPr id="391" name="G"/>
          <p:cNvPicPr>
            <a:picLocks noChangeAspect="1"/>
          </p:cNvPicPr>
          <p:nvPr/>
        </p:nvPicPr>
        <p:blipFill>
          <a:blip r:embed="rIdM7"/>
          <a:stretch>
            <a:fillRect/>
          </a:stretch>
        </p:blipFill>
        <p:spPr>
          <a:xfrm>
            <a:off x="705822" y="2140578"/>
            <a:ext cx="103701" cy="103701"/>
          </a:xfrm>
          <a:prstGeom prst="rect">
            <a:avLst/>
          </a:prstGeom>
        </p:spPr>
      </p:pic>
      <p:sp>
        <p:nvSpPr>
          <p:cNvPr id="392" name="T"/>
          <p:cNvSpPr txBox="1"/>
          <p:nvPr/>
        </p:nvSpPr>
        <p:spPr>
          <a:xfrm>
            <a:off x="990000" y="2057400"/>
            <a:ext cx="2073240" cy="270058"/>
          </a:xfrm>
          <a:prstGeom prst="rect">
            <a:avLst/>
          </a:prstGeom>
          <a:noFill/>
        </p:spPr>
        <p:txBody>
          <a:bodyPr wrap="none" lIns="0" tIns="0" rIns="0" bIns="0" anchor="ctr"/>
          <a:lstStyle/>
          <a:p>
            <a:pPr algn="l">
              <a:buNone/>
            </a:pPr>
            <a:r>
              <a:rPr lang="id-ID" sz="826" b="1" dirty="0">
                <a:solidFill>
                  <a:srgbClr val="1A1A1A"/>
                </a:solidFill>
                <a:latin typeface="Roboto"/>
                <a:ea typeface="Roboto"/>
                <a:cs typeface="Roboto"/>
              </a:rPr>
              <a:t>Sulawesi Tengah</a:t>
            </a:r>
            <a:r>
              <a:rPr lang="id-ID" sz="826" dirty="0">
                <a:solidFill>
                  <a:srgbClr val="1A1A1A"/>
                </a:solidFill>
                <a:latin typeface="Roboto"/>
                <a:ea typeface="Roboto"/>
                <a:cs typeface="Roboto"/>
              </a:rPr>
              <a:t>, Morowali Utara</a:t>
            </a:r>
            <a:endParaRPr lang="id-ID" sz="826"/>
          </a:p>
          <a:p>
            <a:pPr algn="l">
              <a:buNone/>
            </a:pPr>
            <a:r>
              <a:rPr lang="id-ID" sz="826" dirty="0">
                <a:solidFill>
                  <a:srgbClr val="2E3440"/>
                </a:solidFill>
                <a:latin typeface="Roboto"/>
                <a:ea typeface="Roboto"/>
                <a:cs typeface="Roboto"/>
              </a:rPr>
              <a:t>Satelit masih mendeteksi api</a:t>
            </a:r>
            <a:endParaRPr lang="id-ID" sz="826"/>
          </a:p>
        </p:txBody>
      </p:sp>
      <p:sp>
        <p:nvSpPr>
          <p:cNvPr id="393" name="T"/>
          <p:cNvSpPr txBox="1"/>
          <p:nvPr/>
        </p:nvSpPr>
        <p:spPr>
          <a:xfrm>
            <a:off x="3291840" y="2057400"/>
            <a:ext cx="820000" cy="270058"/>
          </a:xfrm>
          <a:prstGeom prst="rect">
            <a:avLst/>
          </a:prstGeom>
          <a:noFill/>
        </p:spPr>
        <p:txBody>
          <a:bodyPr wrap="none" lIns="0" tIns="0" rIns="0" bIns="0" anchor="ctr"/>
          <a:lstStyle/>
          <a:p>
            <a:pPr algn="r">
              <a:buNone/>
            </a:pPr>
            <a:r>
              <a:rPr lang="id-ID" sz="809" b="1" dirty="0">
                <a:solidFill>
                  <a:srgbClr val="1A1A1A"/>
                </a:solidFill>
                <a:latin typeface="Roboto"/>
                <a:ea typeface="Roboto"/>
                <a:cs typeface="Roboto"/>
              </a:rPr>
              <a:t>± 6.239</a:t>
            </a:r>
            <a:endParaRPr lang="id-ID" sz="809"/>
          </a:p>
        </p:txBody>
      </p:sp>
      <p:sp>
        <p:nvSpPr>
          <p:cNvPr id="394" name="T"/>
          <p:cNvSpPr txBox="1"/>
          <p:nvPr/>
        </p:nvSpPr>
        <p:spPr>
          <a:xfrm>
            <a:off x="4136110" y="2057400"/>
            <a:ext cx="900000" cy="270058"/>
          </a:xfrm>
          <a:prstGeom prst="rect">
            <a:avLst/>
          </a:prstGeom>
          <a:noFill/>
        </p:spPr>
        <p:txBody>
          <a:bodyPr wrap="none" lIns="0" tIns="0" rIns="0" bIns="0" anchor="ctr"/>
          <a:lstStyle/>
          <a:p>
            <a:pPr algn="l">
              <a:buNone/>
            </a:pPr>
            <a:r>
              <a:rPr lang="id-ID" sz="809" b="1" dirty="0">
                <a:solidFill>
                  <a:srgbClr val="1A1A1A"/>
                </a:solidFill>
                <a:latin typeface="Roboto"/>
                <a:ea typeface="Roboto"/>
                <a:cs typeface="Roboto"/>
              </a:rPr>
              <a:t>ha</a:t>
            </a:r>
            <a:endParaRPr lang="id-ID" sz="809"/>
          </a:p>
        </p:txBody>
      </p:sp>
      <p:sp>
        <p:nvSpPr>
          <p:cNvPr id="395" name="K"/>
          <p:cNvSpPr/>
          <p:nvPr/>
        </p:nvSpPr>
        <p:spPr>
          <a:xfrm>
            <a:off x="4739006" y="2103310"/>
            <a:ext cx="1152584" cy="178238"/>
          </a:xfrm>
          <a:prstGeom prst="roundRect">
            <a:avLst>
              <a:gd name="adj" fmla="val 50000"/>
            </a:avLst>
          </a:prstGeom>
          <a:solidFill>
            <a:srgbClr val="E6EAF0"/>
          </a:solidFill>
          <a:ln>
            <a:noFill/>
          </a:ln>
        </p:spPr>
      </p:sp>
      <p:pic>
        <p:nvPicPr>
          <p:cNvPr id="396" name="G"/>
          <p:cNvPicPr>
            <a:picLocks noChangeAspect="1"/>
          </p:cNvPicPr>
          <p:nvPr/>
        </p:nvPicPr>
        <p:blipFill>
          <a:blip r:embed="rIdM13"/>
          <a:stretch>
            <a:fillRect/>
          </a:stretch>
        </p:blipFill>
        <p:spPr>
          <a:xfrm>
            <a:off x="4812158" y="2137175"/>
            <a:ext cx="110507" cy="110507"/>
          </a:xfrm>
          <a:prstGeom prst="rect">
            <a:avLst/>
          </a:prstGeom>
        </p:spPr>
      </p:pic>
      <p:sp>
        <p:nvSpPr>
          <p:cNvPr id="397" name="T"/>
          <p:cNvSpPr txBox="1"/>
          <p:nvPr/>
        </p:nvSpPr>
        <p:spPr>
          <a:xfrm>
            <a:off x="4995894" y="2103310"/>
            <a:ext cx="360000" cy="178238"/>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41</a:t>
            </a:r>
            <a:endParaRPr lang="id-ID" sz="683"/>
          </a:p>
        </p:txBody>
      </p:sp>
      <p:sp>
        <p:nvSpPr>
          <p:cNvPr id="398" name="T"/>
          <p:cNvSpPr txBox="1"/>
          <p:nvPr/>
        </p:nvSpPr>
        <p:spPr>
          <a:xfrm>
            <a:off x="5376384" y="2103310"/>
            <a:ext cx="480000" cy="178238"/>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83"/>
          </a:p>
        </p:txBody>
      </p:sp>
      <p:sp>
        <p:nvSpPr>
          <p:cNvPr id="399" name="K"/>
          <p:cNvSpPr/>
          <p:nvPr/>
        </p:nvSpPr>
        <p:spPr>
          <a:xfrm>
            <a:off x="5964742" y="2103310"/>
            <a:ext cx="1155436" cy="178238"/>
          </a:xfrm>
          <a:prstGeom prst="roundRect">
            <a:avLst>
              <a:gd name="adj" fmla="val 50000"/>
            </a:avLst>
          </a:prstGeom>
          <a:solidFill>
            <a:srgbClr val="FBE7D6"/>
          </a:solidFill>
          <a:ln>
            <a:noFill/>
          </a:ln>
        </p:spPr>
      </p:sp>
      <p:pic>
        <p:nvPicPr>
          <p:cNvPr id="400" name="G"/>
          <p:cNvPicPr>
            <a:picLocks noChangeAspect="1"/>
          </p:cNvPicPr>
          <p:nvPr/>
        </p:nvPicPr>
        <p:blipFill>
          <a:blip r:embed="rIdM14"/>
          <a:stretch>
            <a:fillRect/>
          </a:stretch>
        </p:blipFill>
        <p:spPr>
          <a:xfrm>
            <a:off x="6037894" y="2137175"/>
            <a:ext cx="110507" cy="110507"/>
          </a:xfrm>
          <a:prstGeom prst="rect">
            <a:avLst/>
          </a:prstGeom>
        </p:spPr>
      </p:pic>
      <p:sp>
        <p:nvSpPr>
          <p:cNvPr id="401" name="T"/>
          <p:cNvSpPr txBox="1"/>
          <p:nvPr/>
        </p:nvSpPr>
        <p:spPr>
          <a:xfrm>
            <a:off x="6211630" y="2103310"/>
            <a:ext cx="260000" cy="178238"/>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83"/>
          </a:p>
        </p:txBody>
      </p:sp>
      <p:sp>
        <p:nvSpPr>
          <p:cNvPr id="402" name="T"/>
          <p:cNvSpPr txBox="1"/>
          <p:nvPr/>
        </p:nvSpPr>
        <p:spPr>
          <a:xfrm>
            <a:off x="6481630" y="2103310"/>
            <a:ext cx="420000" cy="178238"/>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46</a:t>
            </a:r>
            <a:endParaRPr lang="id-ID" sz="683"/>
          </a:p>
        </p:txBody>
      </p:sp>
      <p:sp>
        <p:nvSpPr>
          <p:cNvPr id="403" name="T"/>
          <p:cNvSpPr txBox="1"/>
          <p:nvPr/>
        </p:nvSpPr>
        <p:spPr>
          <a:xfrm>
            <a:off x="6922120" y="2103310"/>
            <a:ext cx="180000" cy="178238"/>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83"/>
          </a:p>
        </p:txBody>
      </p:sp>
      <p:cxnSp>
        <p:nvCxnSpPr>
          <p:cNvPr id="404" name="L"/>
          <p:cNvCxnSpPr/>
          <p:nvPr/>
        </p:nvCxnSpPr>
        <p:spPr>
          <a:xfrm>
            <a:off x="676656" y="2327458"/>
            <a:ext cx="6464808" cy="0"/>
          </a:xfrm>
          <a:prstGeom prst="line">
            <a:avLst/>
          </a:prstGeom>
          <a:ln w="9525">
            <a:solidFill>
              <a:srgbClr val="EEF0F3"/>
            </a:solidFill>
          </a:ln>
        </p:spPr>
      </p:cxnSp>
      <p:sp>
        <p:nvSpPr>
          <p:cNvPr id="405" name="K"/>
          <p:cNvSpPr/>
          <p:nvPr/>
        </p:nvSpPr>
        <p:spPr>
          <a:xfrm>
            <a:off x="676656" y="2381470"/>
            <a:ext cx="162034" cy="162034"/>
          </a:xfrm>
          <a:prstGeom prst="ellipse">
            <a:avLst/>
          </a:prstGeom>
          <a:solidFill>
            <a:srgbClr val="051C2C"/>
          </a:solidFill>
          <a:ln>
            <a:noFill/>
          </a:ln>
        </p:spPr>
      </p:sp>
      <p:pic>
        <p:nvPicPr>
          <p:cNvPr id="406" name="G"/>
          <p:cNvPicPr>
            <a:picLocks noChangeAspect="1"/>
          </p:cNvPicPr>
          <p:nvPr/>
        </p:nvPicPr>
        <p:blipFill>
          <a:blip r:embed="rIdM3"/>
          <a:stretch>
            <a:fillRect/>
          </a:stretch>
        </p:blipFill>
        <p:spPr>
          <a:xfrm>
            <a:off x="705822" y="2410636"/>
            <a:ext cx="103701" cy="103701"/>
          </a:xfrm>
          <a:prstGeom prst="rect">
            <a:avLst/>
          </a:prstGeom>
        </p:spPr>
      </p:pic>
      <p:sp>
        <p:nvSpPr>
          <p:cNvPr id="407" name="T"/>
          <p:cNvSpPr txBox="1"/>
          <p:nvPr/>
        </p:nvSpPr>
        <p:spPr>
          <a:xfrm>
            <a:off x="990000" y="2327458"/>
            <a:ext cx="2073240" cy="270058"/>
          </a:xfrm>
          <a:prstGeom prst="rect">
            <a:avLst/>
          </a:prstGeom>
          <a:noFill/>
        </p:spPr>
        <p:txBody>
          <a:bodyPr wrap="none" lIns="0" tIns="0" rIns="0" bIns="0" anchor="ctr"/>
          <a:lstStyle/>
          <a:p>
            <a:pPr algn="l">
              <a:buNone/>
            </a:pPr>
            <a:r>
              <a:rPr lang="id-ID" sz="826" b="1" dirty="0">
                <a:solidFill>
                  <a:srgbClr val="1A1A1A"/>
                </a:solidFill>
                <a:latin typeface="Roboto"/>
                <a:ea typeface="Roboto"/>
                <a:cs typeface="Roboto"/>
              </a:rPr>
              <a:t>Banten</a:t>
            </a:r>
            <a:r>
              <a:rPr lang="id-ID" sz="826" dirty="0">
                <a:solidFill>
                  <a:srgbClr val="1A1A1A"/>
                </a:solidFill>
                <a:latin typeface="Roboto"/>
                <a:ea typeface="Roboto"/>
                <a:cs typeface="Roboto"/>
              </a:rPr>
              <a:t>, Serang</a:t>
            </a:r>
            <a:endParaRPr lang="id-ID" sz="826"/>
          </a:p>
          <a:p>
            <a:pPr algn="l">
              <a:buNone/>
            </a:pPr>
            <a:r>
              <a:rPr lang="id-ID" sz="826" dirty="0">
                <a:solidFill>
                  <a:srgbClr val="2E3440"/>
                </a:solidFill>
                <a:latin typeface="Roboto"/>
                <a:ea typeface="Roboto"/>
                <a:cs typeface="Roboto"/>
              </a:rPr>
              <a:t>Api sudah berhasil dipadamkan</a:t>
            </a:r>
            <a:endParaRPr lang="id-ID" sz="826"/>
          </a:p>
        </p:txBody>
      </p:sp>
      <p:sp>
        <p:nvSpPr>
          <p:cNvPr id="408" name="T"/>
          <p:cNvSpPr txBox="1"/>
          <p:nvPr/>
        </p:nvSpPr>
        <p:spPr>
          <a:xfrm>
            <a:off x="3291840" y="2327458"/>
            <a:ext cx="820000" cy="270058"/>
          </a:xfrm>
          <a:prstGeom prst="rect">
            <a:avLst/>
          </a:prstGeom>
          <a:noFill/>
        </p:spPr>
        <p:txBody>
          <a:bodyPr wrap="none" lIns="0" tIns="0" rIns="0" bIns="0" anchor="ctr"/>
          <a:lstStyle/>
          <a:p>
            <a:pPr algn="r">
              <a:buNone/>
            </a:pPr>
            <a:r>
              <a:rPr lang="id-ID" sz="809" b="1" dirty="0">
                <a:solidFill>
                  <a:srgbClr val="1A1A1A"/>
                </a:solidFill>
                <a:latin typeface="Roboto"/>
                <a:ea typeface="Roboto"/>
                <a:cs typeface="Roboto"/>
              </a:rPr>
              <a:t>± 560</a:t>
            </a:r>
            <a:endParaRPr lang="id-ID" sz="809"/>
          </a:p>
        </p:txBody>
      </p:sp>
      <p:sp>
        <p:nvSpPr>
          <p:cNvPr id="409" name="T"/>
          <p:cNvSpPr txBox="1"/>
          <p:nvPr/>
        </p:nvSpPr>
        <p:spPr>
          <a:xfrm>
            <a:off x="4136110" y="2327458"/>
            <a:ext cx="900000" cy="270058"/>
          </a:xfrm>
          <a:prstGeom prst="rect">
            <a:avLst/>
          </a:prstGeom>
          <a:noFill/>
        </p:spPr>
        <p:txBody>
          <a:bodyPr wrap="none" lIns="0" tIns="0" rIns="0" bIns="0" anchor="ctr"/>
          <a:lstStyle/>
          <a:p>
            <a:pPr algn="l">
              <a:buNone/>
            </a:pPr>
            <a:r>
              <a:rPr lang="id-ID" sz="809" b="1" dirty="0">
                <a:solidFill>
                  <a:srgbClr val="1A1A1A"/>
                </a:solidFill>
                <a:latin typeface="Roboto"/>
                <a:ea typeface="Roboto"/>
                <a:cs typeface="Roboto"/>
              </a:rPr>
              <a:t>ha</a:t>
            </a:r>
            <a:endParaRPr lang="id-ID" sz="809"/>
          </a:p>
        </p:txBody>
      </p:sp>
      <p:cxnSp>
        <p:nvCxnSpPr>
          <p:cNvPr id="410" name="L"/>
          <p:cNvCxnSpPr/>
          <p:nvPr/>
        </p:nvCxnSpPr>
        <p:spPr>
          <a:xfrm>
            <a:off x="676656" y="2597516"/>
            <a:ext cx="6464808" cy="0"/>
          </a:xfrm>
          <a:prstGeom prst="line">
            <a:avLst/>
          </a:prstGeom>
          <a:ln w="9525">
            <a:solidFill>
              <a:srgbClr val="EEF0F3"/>
            </a:solidFill>
          </a:ln>
        </p:spPr>
      </p:cxnSp>
      <p:sp>
        <p:nvSpPr>
          <p:cNvPr id="411" name="K"/>
          <p:cNvSpPr/>
          <p:nvPr/>
        </p:nvSpPr>
        <p:spPr>
          <a:xfrm>
            <a:off x="676656" y="2651528"/>
            <a:ext cx="162034" cy="162034"/>
          </a:xfrm>
          <a:prstGeom prst="ellipse">
            <a:avLst/>
          </a:prstGeom>
          <a:solidFill>
            <a:srgbClr val="051C2C"/>
          </a:solidFill>
          <a:ln>
            <a:noFill/>
          </a:ln>
        </p:spPr>
      </p:sp>
      <p:pic>
        <p:nvPicPr>
          <p:cNvPr id="412" name="G"/>
          <p:cNvPicPr>
            <a:picLocks noChangeAspect="1"/>
          </p:cNvPicPr>
          <p:nvPr/>
        </p:nvPicPr>
        <p:blipFill>
          <a:blip r:embed="rIdM3"/>
          <a:stretch>
            <a:fillRect/>
          </a:stretch>
        </p:blipFill>
        <p:spPr>
          <a:xfrm>
            <a:off x="705822" y="2680694"/>
            <a:ext cx="103701" cy="103701"/>
          </a:xfrm>
          <a:prstGeom prst="rect">
            <a:avLst/>
          </a:prstGeom>
        </p:spPr>
      </p:pic>
      <p:sp>
        <p:nvSpPr>
          <p:cNvPr id="413" name="T"/>
          <p:cNvSpPr txBox="1"/>
          <p:nvPr/>
        </p:nvSpPr>
        <p:spPr>
          <a:xfrm>
            <a:off x="990000" y="2597516"/>
            <a:ext cx="2073240" cy="270058"/>
          </a:xfrm>
          <a:prstGeom prst="rect">
            <a:avLst/>
          </a:prstGeom>
          <a:noFill/>
        </p:spPr>
        <p:txBody>
          <a:bodyPr wrap="none" lIns="0" tIns="0" rIns="0" bIns="0" anchor="ctr"/>
          <a:lstStyle/>
          <a:p>
            <a:pPr algn="l">
              <a:buNone/>
            </a:pPr>
            <a:r>
              <a:rPr lang="id-ID" sz="826" b="1" dirty="0">
                <a:solidFill>
                  <a:srgbClr val="1A1A1A"/>
                </a:solidFill>
                <a:latin typeface="Roboto"/>
                <a:ea typeface="Roboto"/>
                <a:cs typeface="Roboto"/>
              </a:rPr>
              <a:t>Papua Barat Daya</a:t>
            </a:r>
            <a:r>
              <a:rPr lang="id-ID" sz="826" dirty="0">
                <a:solidFill>
                  <a:srgbClr val="1A1A1A"/>
                </a:solidFill>
                <a:latin typeface="Roboto"/>
                <a:ea typeface="Roboto"/>
                <a:cs typeface="Roboto"/>
              </a:rPr>
              <a:t>, Kota Sorong</a:t>
            </a:r>
            <a:endParaRPr lang="id-ID" sz="826"/>
          </a:p>
          <a:p>
            <a:pPr algn="l">
              <a:buNone/>
            </a:pPr>
            <a:r>
              <a:rPr lang="id-ID" sz="826" dirty="0">
                <a:solidFill>
                  <a:srgbClr val="2E3440"/>
                </a:solidFill>
                <a:latin typeface="Roboto"/>
                <a:ea typeface="Roboto"/>
                <a:cs typeface="Roboto"/>
              </a:rPr>
              <a:t>Api telah berhasil dipadamkan</a:t>
            </a:r>
            <a:endParaRPr lang="id-ID" sz="826"/>
          </a:p>
        </p:txBody>
      </p:sp>
      <p:sp>
        <p:nvSpPr>
          <p:cNvPr id="414" name="T"/>
          <p:cNvSpPr txBox="1"/>
          <p:nvPr/>
        </p:nvSpPr>
        <p:spPr>
          <a:xfrm>
            <a:off x="3291840" y="2597516"/>
            <a:ext cx="820000" cy="270058"/>
          </a:xfrm>
          <a:prstGeom prst="rect">
            <a:avLst/>
          </a:prstGeom>
          <a:noFill/>
        </p:spPr>
        <p:txBody>
          <a:bodyPr wrap="none" lIns="0" tIns="0" rIns="0" bIns="0" anchor="ctr"/>
          <a:lstStyle/>
          <a:p>
            <a:pPr algn="r">
              <a:buNone/>
            </a:pPr>
            <a:r>
              <a:rPr lang="id-ID" sz="809" b="1" dirty="0">
                <a:solidFill>
                  <a:srgbClr val="1A1A1A"/>
                </a:solidFill>
                <a:latin typeface="Roboto"/>
                <a:ea typeface="Roboto"/>
                <a:cs typeface="Roboto"/>
              </a:rPr>
              <a:t>± 183</a:t>
            </a:r>
            <a:endParaRPr lang="id-ID" sz="809"/>
          </a:p>
        </p:txBody>
      </p:sp>
      <p:sp>
        <p:nvSpPr>
          <p:cNvPr id="415" name="T"/>
          <p:cNvSpPr txBox="1"/>
          <p:nvPr/>
        </p:nvSpPr>
        <p:spPr>
          <a:xfrm>
            <a:off x="4136110" y="2597516"/>
            <a:ext cx="900000" cy="270058"/>
          </a:xfrm>
          <a:prstGeom prst="rect">
            <a:avLst/>
          </a:prstGeom>
          <a:noFill/>
        </p:spPr>
        <p:txBody>
          <a:bodyPr wrap="none" lIns="0" tIns="0" rIns="0" bIns="0" anchor="ctr"/>
          <a:lstStyle/>
          <a:p>
            <a:pPr algn="l">
              <a:buNone/>
            </a:pPr>
            <a:r>
              <a:rPr lang="id-ID" sz="809" b="1" dirty="0">
                <a:solidFill>
                  <a:srgbClr val="1A1A1A"/>
                </a:solidFill>
                <a:latin typeface="Roboto"/>
                <a:ea typeface="Roboto"/>
                <a:cs typeface="Roboto"/>
              </a:rPr>
              <a:t>ha</a:t>
            </a:r>
            <a:endParaRPr lang="id-ID" sz="809"/>
          </a:p>
        </p:txBody>
      </p:sp>
      <p:sp>
        <p:nvSpPr>
          <p:cNvPr id="416" name="K"/>
          <p:cNvSpPr/>
          <p:nvPr/>
        </p:nvSpPr>
        <p:spPr>
          <a:xfrm>
            <a:off x="548640" y="3054096"/>
            <a:ext cx="6720840" cy="2953512"/>
          </a:xfrm>
          <a:prstGeom prst="roundRect">
            <a:avLst>
              <a:gd name="adj" fmla="val 4000"/>
            </a:avLst>
          </a:prstGeom>
          <a:solidFill>
            <a:srgbClr val="FFFFFF"/>
          </a:solidFill>
          <a:ln w="9525">
            <a:solidFill>
              <a:srgbClr val="BFC5CC"/>
            </a:solidFill>
          </a:ln>
        </p:spPr>
      </p:sp>
      <p:sp>
        <p:nvSpPr>
          <p:cNvPr id="417" name="K"/>
          <p:cNvSpPr/>
          <p:nvPr/>
        </p:nvSpPr>
        <p:spPr>
          <a:xfrm>
            <a:off x="548640" y="3054096"/>
            <a:ext cx="6720840" cy="365760"/>
          </a:xfrm>
          <a:prstGeom prst="roundRect">
            <a:avLst>
              <a:gd name="adj" fmla="val 16000"/>
            </a:avLst>
          </a:prstGeom>
          <a:solidFill>
            <a:srgbClr val="E3EAF1"/>
          </a:solidFill>
          <a:ln>
            <a:noFill/>
          </a:ln>
        </p:spPr>
      </p:sp>
      <p:sp>
        <p:nvSpPr>
          <p:cNvPr id="418" name="K"/>
          <p:cNvSpPr/>
          <p:nvPr/>
        </p:nvSpPr>
        <p:spPr>
          <a:xfrm>
            <a:off x="548640" y="3273552"/>
            <a:ext cx="6720840" cy="146304"/>
          </a:xfrm>
          <a:prstGeom prst="rect">
            <a:avLst/>
          </a:prstGeom>
          <a:solidFill>
            <a:srgbClr val="E3EAF1"/>
          </a:solidFill>
          <a:ln>
            <a:noFill/>
          </a:ln>
        </p:spPr>
      </p:sp>
      <p:sp>
        <p:nvSpPr>
          <p:cNvPr id="419" name="K"/>
          <p:cNvSpPr/>
          <p:nvPr/>
        </p:nvSpPr>
        <p:spPr>
          <a:xfrm>
            <a:off x="676656" y="3090672"/>
            <a:ext cx="292608" cy="292608"/>
          </a:xfrm>
          <a:prstGeom prst="ellipse">
            <a:avLst/>
          </a:prstGeom>
          <a:solidFill>
            <a:srgbClr val="5B7A99"/>
          </a:solidFill>
          <a:ln>
            <a:noFill/>
          </a:ln>
        </p:spPr>
      </p:sp>
      <p:pic>
        <p:nvPicPr>
          <p:cNvPr id="420" name="G"/>
          <p:cNvPicPr>
            <a:picLocks noChangeAspect="1"/>
          </p:cNvPicPr>
          <p:nvPr/>
        </p:nvPicPr>
        <p:blipFill>
          <a:blip r:embed="rIdM15"/>
          <a:stretch>
            <a:fillRect/>
          </a:stretch>
        </p:blipFill>
        <p:spPr>
          <a:xfrm>
            <a:off x="731520" y="3145536"/>
            <a:ext cx="182880" cy="182880"/>
          </a:xfrm>
          <a:prstGeom prst="rect">
            <a:avLst/>
          </a:prstGeom>
        </p:spPr>
      </p:pic>
      <p:sp>
        <p:nvSpPr>
          <p:cNvPr id="421" name="T"/>
          <p:cNvSpPr txBox="1"/>
          <p:nvPr/>
        </p:nvSpPr>
        <p:spPr>
          <a:xfrm>
            <a:off x="1051560" y="3054096"/>
            <a:ext cx="5620840" cy="365760"/>
          </a:xfrm>
          <a:prstGeom prst="rect">
            <a:avLst/>
          </a:prstGeom>
          <a:noFill/>
        </p:spPr>
        <p:txBody>
          <a:bodyPr wrap="square" lIns="0" tIns="0" rIns="0" bIns="0" anchor="ctr"/>
          <a:lstStyle/>
          <a:p>
            <a:pPr algn="l">
              <a:buNone/>
            </a:pPr>
            <a:r>
              <a:rPr lang="id-ID" sz="1100" b="1" dirty="0">
                <a:solidFill>
                  <a:srgbClr val="1A1A1A"/>
                </a:solidFill>
                <a:latin typeface="Roboto"/>
                <a:ea typeface="Roboto"/>
                <a:cs typeface="Roboto"/>
              </a:rPr>
              <a:t>Bencana lainnya</a:t>
            </a:r>
            <a:endParaRPr lang="id-ID" sz="1100"/>
          </a:p>
        </p:txBody>
      </p:sp>
      <p:sp>
        <p:nvSpPr>
          <p:cNvPr id="422" name="T"/>
          <p:cNvSpPr txBox="1"/>
          <p:nvPr/>
        </p:nvSpPr>
        <p:spPr>
          <a:xfrm>
            <a:off x="6629400" y="3054096"/>
            <a:ext cx="512064" cy="365760"/>
          </a:xfrm>
          <a:prstGeom prst="rect">
            <a:avLst/>
          </a:prstGeom>
          <a:noFill/>
        </p:spPr>
        <p:txBody>
          <a:bodyPr wrap="square" lIns="0" tIns="0" rIns="0" bIns="0" anchor="ctr"/>
          <a:lstStyle/>
          <a:p>
            <a:pPr algn="r">
              <a:buNone/>
            </a:pPr>
            <a:r>
              <a:rPr lang="id-ID" sz="1800" b="1" dirty="0">
                <a:solidFill>
                  <a:srgbClr val="5B7A99"/>
                </a:solidFill>
                <a:latin typeface="Roboto"/>
                <a:ea typeface="Roboto"/>
                <a:cs typeface="Roboto"/>
              </a:rPr>
              <a:t>5</a:t>
            </a:r>
            <a:endParaRPr lang="id-ID" sz="1800"/>
          </a:p>
        </p:txBody>
      </p:sp>
      <p:sp>
        <p:nvSpPr>
          <p:cNvPr id="301" name="K"/>
          <p:cNvSpPr/>
          <p:nvPr/>
        </p:nvSpPr>
        <p:spPr>
          <a:xfrm>
            <a:off x="713232" y="3465576"/>
            <a:ext cx="6391656" cy="182880"/>
          </a:xfrm>
          <a:prstGeom prst="roundRect">
            <a:avLst>
              <a:gd name="adj" fmla="val 30000"/>
            </a:avLst>
          </a:prstGeom>
          <a:solidFill>
            <a:srgbClr val="F3F5F8"/>
          </a:solidFill>
          <a:ln>
            <a:noFill/>
          </a:ln>
        </p:spPr>
      </p:sp>
      <p:sp>
        <p:nvSpPr>
          <p:cNvPr id="302" name="K"/>
          <p:cNvSpPr/>
          <p:nvPr/>
        </p:nvSpPr>
        <p:spPr>
          <a:xfrm>
            <a:off x="758952" y="3483864"/>
            <a:ext cx="146304" cy="146304"/>
          </a:xfrm>
          <a:prstGeom prst="ellipse">
            <a:avLst/>
          </a:prstGeom>
          <a:solidFill>
            <a:srgbClr val="2F6FB5"/>
          </a:solidFill>
          <a:ln>
            <a:noFill/>
          </a:ln>
        </p:spPr>
      </p:sp>
      <p:pic>
        <p:nvPicPr>
          <p:cNvPr id="303" name="G"/>
          <p:cNvPicPr>
            <a:picLocks noChangeAspect="1"/>
          </p:cNvPicPr>
          <p:nvPr/>
        </p:nvPicPr>
        <p:blipFill>
          <a:blip r:embed="rIdM1"/>
          <a:stretch>
            <a:fillRect/>
          </a:stretch>
        </p:blipFill>
        <p:spPr>
          <a:xfrm>
            <a:off x="786384" y="3511296"/>
            <a:ext cx="91440" cy="91440"/>
          </a:xfrm>
          <a:prstGeom prst="rect">
            <a:avLst/>
          </a:prstGeom>
        </p:spPr>
      </p:pic>
      <p:sp>
        <p:nvSpPr>
          <p:cNvPr id="307" name="T"/>
          <p:cNvSpPr txBox="1"/>
          <p:nvPr/>
        </p:nvSpPr>
        <p:spPr>
          <a:xfrm>
            <a:off x="950976" y="3465576"/>
            <a:ext cx="1600000" cy="182880"/>
          </a:xfrm>
          <a:prstGeom prst="rect">
            <a:avLst/>
          </a:prstGeom>
          <a:noFill/>
        </p:spPr>
        <p:txBody>
          <a:bodyPr wrap="none" lIns="0" tIns="0" rIns="0" bIns="0" anchor="ctr"/>
          <a:lstStyle/>
          <a:p>
            <a:pPr algn="l">
              <a:buNone/>
            </a:pPr>
            <a:r>
              <a:rPr lang="id-ID" sz="820" b="1" dirty="0">
                <a:solidFill>
                  <a:srgbClr val="1A1A1A"/>
                </a:solidFill>
                <a:latin typeface="Roboto"/>
                <a:ea typeface="Roboto"/>
                <a:cs typeface="Roboto"/>
              </a:rPr>
              <a:t>Banjir</a:t>
            </a:r>
            <a:endParaRPr lang="id-ID" sz="820"/>
          </a:p>
        </p:txBody>
      </p:sp>
      <p:sp>
        <p:nvSpPr>
          <p:cNvPr id="304" name="K"/>
          <p:cNvSpPr/>
          <p:nvPr/>
        </p:nvSpPr>
        <p:spPr>
          <a:xfrm>
            <a:off x="1397232" y="3493008"/>
            <a:ext cx="669214" cy="128016"/>
          </a:xfrm>
          <a:prstGeom prst="roundRect">
            <a:avLst>
              <a:gd name="adj" fmla="val 50000"/>
            </a:avLst>
          </a:prstGeom>
          <a:solidFill>
            <a:srgbClr val="DCE7F5"/>
          </a:solidFill>
          <a:ln>
            <a:noFill/>
          </a:ln>
        </p:spPr>
      </p:sp>
      <p:pic>
        <p:nvPicPr>
          <p:cNvPr id="305" name="G"/>
          <p:cNvPicPr>
            <a:picLocks noChangeAspect="1"/>
          </p:cNvPicPr>
          <p:nvPr/>
        </p:nvPicPr>
        <p:blipFill>
          <a:blip r:embed="rIdM2"/>
          <a:stretch>
            <a:fillRect/>
          </a:stretch>
        </p:blipFill>
        <p:spPr>
          <a:xfrm>
            <a:off x="1442037" y="3518611"/>
            <a:ext cx="76809" cy="76809"/>
          </a:xfrm>
          <a:prstGeom prst="rect">
            <a:avLst/>
          </a:prstGeom>
        </p:spPr>
      </p:pic>
      <p:sp>
        <p:nvSpPr>
          <p:cNvPr id="306" name="T"/>
          <p:cNvSpPr txBox="1"/>
          <p:nvPr/>
        </p:nvSpPr>
        <p:spPr>
          <a:xfrm>
            <a:off x="1518847" y="3493008"/>
            <a:ext cx="547599" cy="128016"/>
          </a:xfrm>
          <a:prstGeom prst="rect">
            <a:avLst/>
          </a:prstGeom>
          <a:noFill/>
        </p:spPr>
        <p:txBody>
          <a:bodyPr wrap="none" lIns="0" tIns="0" rIns="0" bIns="0" anchor="ctr"/>
          <a:lstStyle/>
          <a:p>
            <a:pPr algn="ctr">
              <a:buNone/>
            </a:pPr>
            <a:r>
              <a:rPr lang="id-ID" sz="700" b="1" dirty="0">
                <a:solidFill>
                  <a:srgbClr val="2F6FB5"/>
                </a:solidFill>
                <a:latin typeface="Roboto"/>
                <a:ea typeface="Roboto"/>
                <a:cs typeface="Roboto"/>
              </a:rPr>
              <a:t>3 kejadian</a:t>
            </a:r>
            <a:endParaRPr lang="id-ID" sz="700"/>
          </a:p>
        </p:txBody>
      </p:sp>
      <p:sp>
        <p:nvSpPr>
          <p:cNvPr id="308" name="K"/>
          <p:cNvSpPr/>
          <p:nvPr/>
        </p:nvSpPr>
        <p:spPr>
          <a:xfrm>
            <a:off x="731520" y="3685032"/>
            <a:ext cx="146304" cy="146304"/>
          </a:xfrm>
          <a:prstGeom prst="ellipse">
            <a:avLst/>
          </a:prstGeom>
          <a:solidFill>
            <a:srgbClr val="051C2C"/>
          </a:solidFill>
          <a:ln>
            <a:noFill/>
          </a:ln>
        </p:spPr>
      </p:sp>
      <p:pic>
        <p:nvPicPr>
          <p:cNvPr id="309" name="G"/>
          <p:cNvPicPr>
            <a:picLocks noChangeAspect="1"/>
          </p:cNvPicPr>
          <p:nvPr/>
        </p:nvPicPr>
        <p:blipFill>
          <a:blip r:embed="rIdM3"/>
          <a:stretch>
            <a:fillRect/>
          </a:stretch>
        </p:blipFill>
        <p:spPr>
          <a:xfrm>
            <a:off x="757854" y="3711366"/>
            <a:ext cx="93634" cy="93634"/>
          </a:xfrm>
          <a:prstGeom prst="rect">
            <a:avLst/>
          </a:prstGeom>
        </p:spPr>
      </p:pic>
      <p:sp>
        <p:nvSpPr>
          <p:cNvPr id="310" name="T"/>
          <p:cNvSpPr txBox="1"/>
          <p:nvPr/>
        </p:nvSpPr>
        <p:spPr>
          <a:xfrm>
            <a:off x="932688" y="3666744"/>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Sumatera Utara</a:t>
            </a:r>
            <a:r>
              <a:rPr lang="id-ID" sz="760" dirty="0">
                <a:solidFill>
                  <a:srgbClr val="1A1A1A"/>
                </a:solidFill>
                <a:latin typeface="Roboto"/>
                <a:ea typeface="Roboto"/>
                <a:cs typeface="Roboto"/>
              </a:rPr>
              <a:t>, Kota Binjai</a:t>
            </a:r>
            <a:endParaRPr lang="id-ID" sz="760"/>
          </a:p>
        </p:txBody>
      </p:sp>
      <p:sp>
        <p:nvSpPr>
          <p:cNvPr id="311" name="K"/>
          <p:cNvSpPr/>
          <p:nvPr/>
        </p:nvSpPr>
        <p:spPr>
          <a:xfrm>
            <a:off x="5950467" y="3675888"/>
            <a:ext cx="1136132" cy="164592"/>
          </a:xfrm>
          <a:prstGeom prst="roundRect">
            <a:avLst>
              <a:gd name="adj" fmla="val 50000"/>
            </a:avLst>
          </a:prstGeom>
          <a:solidFill>
            <a:srgbClr val="FBE7D6"/>
          </a:solidFill>
          <a:ln>
            <a:noFill/>
          </a:ln>
        </p:spPr>
      </p:sp>
      <p:pic>
        <p:nvPicPr>
          <p:cNvPr id="312" name="G"/>
          <p:cNvPicPr>
            <a:picLocks noChangeAspect="1"/>
          </p:cNvPicPr>
          <p:nvPr/>
        </p:nvPicPr>
        <p:blipFill>
          <a:blip r:embed="rIdM4"/>
          <a:stretch>
            <a:fillRect/>
          </a:stretch>
        </p:blipFill>
        <p:spPr>
          <a:xfrm>
            <a:off x="6008074" y="3708806"/>
            <a:ext cx="98755" cy="98755"/>
          </a:xfrm>
          <a:prstGeom prst="rect">
            <a:avLst/>
          </a:prstGeom>
        </p:spPr>
      </p:pic>
      <p:sp>
        <p:nvSpPr>
          <p:cNvPr id="313" name="T"/>
          <p:cNvSpPr txBox="1"/>
          <p:nvPr/>
        </p:nvSpPr>
        <p:spPr>
          <a:xfrm>
            <a:off x="6106829" y="3675888"/>
            <a:ext cx="9797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Transisi s.d. 31 Des</a:t>
            </a:r>
            <a:endParaRPr lang="id-ID" sz="700"/>
          </a:p>
        </p:txBody>
      </p:sp>
      <p:sp>
        <p:nvSpPr>
          <p:cNvPr id="314" name="K"/>
          <p:cNvSpPr/>
          <p:nvPr/>
        </p:nvSpPr>
        <p:spPr>
          <a:xfrm>
            <a:off x="4846270" y="3675888"/>
            <a:ext cx="1049332" cy="164592"/>
          </a:xfrm>
          <a:prstGeom prst="roundRect">
            <a:avLst>
              <a:gd name="adj" fmla="val 50000"/>
            </a:avLst>
          </a:prstGeom>
          <a:solidFill>
            <a:srgbClr val="E6EAF0"/>
          </a:solidFill>
          <a:ln>
            <a:noFill/>
          </a:ln>
        </p:spPr>
      </p:sp>
      <p:pic>
        <p:nvPicPr>
          <p:cNvPr id="315" name="G"/>
          <p:cNvPicPr>
            <a:picLocks noChangeAspect="1"/>
          </p:cNvPicPr>
          <p:nvPr/>
        </p:nvPicPr>
        <p:blipFill>
          <a:blip r:embed="rIdM5"/>
          <a:stretch>
            <a:fillRect/>
          </a:stretch>
        </p:blipFill>
        <p:spPr>
          <a:xfrm>
            <a:off x="4903877" y="3708806"/>
            <a:ext cx="98755" cy="98755"/>
          </a:xfrm>
          <a:prstGeom prst="rect">
            <a:avLst/>
          </a:prstGeom>
        </p:spPr>
      </p:pic>
      <p:sp>
        <p:nvSpPr>
          <p:cNvPr id="316" name="T"/>
          <p:cNvSpPr txBox="1"/>
          <p:nvPr/>
        </p:nvSpPr>
        <p:spPr>
          <a:xfrm>
            <a:off x="5002632" y="3675888"/>
            <a:ext cx="892970" cy="164592"/>
          </a:xfrm>
          <a:prstGeom prst="rect">
            <a:avLst/>
          </a:prstGeom>
          <a:noFill/>
        </p:spPr>
        <p:txBody>
          <a:bodyPr wrap="none" lIns="0" tIns="0" rIns="0" bIns="0" anchor="ctr"/>
          <a:lstStyle/>
          <a:p>
            <a:pPr algn="ctr">
              <a:buNone/>
            </a:pPr>
            <a:r>
              <a:rPr lang="id-ID" sz="700" b="1" dirty="0">
                <a:solidFill>
                  <a:srgbClr val="051C2C"/>
                </a:solidFill>
                <a:latin typeface="Roboto"/>
                <a:ea typeface="Roboto"/>
                <a:cs typeface="Roboto"/>
              </a:rPr>
              <a:t>Banjir sudah surut</a:t>
            </a:r>
            <a:endParaRPr lang="id-ID" sz="700"/>
          </a:p>
        </p:txBody>
      </p:sp>
      <p:sp>
        <p:nvSpPr>
          <p:cNvPr id="317" name="K"/>
          <p:cNvSpPr/>
          <p:nvPr/>
        </p:nvSpPr>
        <p:spPr>
          <a:xfrm>
            <a:off x="932688" y="3858768"/>
            <a:ext cx="6080760" cy="320040"/>
          </a:xfrm>
          <a:prstGeom prst="roundRect">
            <a:avLst>
              <a:gd name="adj" fmla="val 14000"/>
            </a:avLst>
          </a:prstGeom>
          <a:solidFill>
            <a:srgbClr val="F7F8FA"/>
          </a:solidFill>
          <a:ln>
            <a:noFill/>
          </a:ln>
        </p:spPr>
      </p:sp>
      <p:pic>
        <p:nvPicPr>
          <p:cNvPr id="318" name="G"/>
          <p:cNvPicPr>
            <a:picLocks noChangeAspect="1"/>
          </p:cNvPicPr>
          <p:nvPr/>
        </p:nvPicPr>
        <p:blipFill>
          <a:blip r:embed="rIdM6"/>
          <a:stretch>
            <a:fillRect/>
          </a:stretch>
        </p:blipFill>
        <p:spPr>
          <a:xfrm>
            <a:off x="996696" y="3904488"/>
            <a:ext cx="118872" cy="118872"/>
          </a:xfrm>
          <a:prstGeom prst="rect">
            <a:avLst/>
          </a:prstGeom>
        </p:spPr>
      </p:pic>
      <p:sp>
        <p:nvSpPr>
          <p:cNvPr id="319" name="T"/>
          <p:cNvSpPr txBox="1"/>
          <p:nvPr/>
        </p:nvSpPr>
        <p:spPr>
          <a:xfrm>
            <a:off x="1152144" y="3877056"/>
            <a:ext cx="5840760"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±1.014</a:t>
            </a:r>
            <a:endParaRPr lang="id-ID" sz="950"/>
          </a:p>
        </p:txBody>
      </p:sp>
      <p:sp>
        <p:nvSpPr>
          <p:cNvPr id="320" name="T"/>
          <p:cNvSpPr txBox="1"/>
          <p:nvPr/>
        </p:nvSpPr>
        <p:spPr>
          <a:xfrm>
            <a:off x="996696" y="4041648"/>
            <a:ext cx="5980760"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KK terdampak</a:t>
            </a:r>
            <a:endParaRPr lang="id-ID" sz="620"/>
          </a:p>
        </p:txBody>
      </p:sp>
      <p:sp>
        <p:nvSpPr>
          <p:cNvPr id="321" name="K"/>
          <p:cNvSpPr/>
          <p:nvPr/>
        </p:nvSpPr>
        <p:spPr>
          <a:xfrm>
            <a:off x="731520" y="4224528"/>
            <a:ext cx="146304" cy="146304"/>
          </a:xfrm>
          <a:prstGeom prst="ellipse">
            <a:avLst/>
          </a:prstGeom>
          <a:solidFill>
            <a:srgbClr val="051C2C"/>
          </a:solidFill>
          <a:ln>
            <a:noFill/>
          </a:ln>
        </p:spPr>
      </p:sp>
      <p:pic>
        <p:nvPicPr>
          <p:cNvPr id="322" name="G"/>
          <p:cNvPicPr>
            <a:picLocks noChangeAspect="1"/>
          </p:cNvPicPr>
          <p:nvPr/>
        </p:nvPicPr>
        <p:blipFill>
          <a:blip r:embed="rIdM3"/>
          <a:stretch>
            <a:fillRect/>
          </a:stretch>
        </p:blipFill>
        <p:spPr>
          <a:xfrm>
            <a:off x="757854" y="4250862"/>
            <a:ext cx="93634" cy="93634"/>
          </a:xfrm>
          <a:prstGeom prst="rect">
            <a:avLst/>
          </a:prstGeom>
        </p:spPr>
      </p:pic>
      <p:sp>
        <p:nvSpPr>
          <p:cNvPr id="323" name="T"/>
          <p:cNvSpPr txBox="1"/>
          <p:nvPr/>
        </p:nvSpPr>
        <p:spPr>
          <a:xfrm>
            <a:off x="932688" y="4206240"/>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Sumatera Utara</a:t>
            </a:r>
            <a:r>
              <a:rPr lang="id-ID" sz="760" dirty="0">
                <a:solidFill>
                  <a:srgbClr val="1A1A1A"/>
                </a:solidFill>
                <a:latin typeface="Roboto"/>
                <a:ea typeface="Roboto"/>
                <a:cs typeface="Roboto"/>
              </a:rPr>
              <a:t>, Kota Medan</a:t>
            </a:r>
            <a:endParaRPr lang="id-ID" sz="760"/>
          </a:p>
        </p:txBody>
      </p:sp>
      <p:sp>
        <p:nvSpPr>
          <p:cNvPr id="324" name="K"/>
          <p:cNvSpPr/>
          <p:nvPr/>
        </p:nvSpPr>
        <p:spPr>
          <a:xfrm>
            <a:off x="5776867" y="4215384"/>
            <a:ext cx="1309732" cy="164592"/>
          </a:xfrm>
          <a:prstGeom prst="roundRect">
            <a:avLst>
              <a:gd name="adj" fmla="val 50000"/>
            </a:avLst>
          </a:prstGeom>
          <a:solidFill>
            <a:srgbClr val="E6EAF0"/>
          </a:solidFill>
          <a:ln>
            <a:noFill/>
          </a:ln>
        </p:spPr>
      </p:sp>
      <p:pic>
        <p:nvPicPr>
          <p:cNvPr id="325" name="G"/>
          <p:cNvPicPr>
            <a:picLocks noChangeAspect="1"/>
          </p:cNvPicPr>
          <p:nvPr/>
        </p:nvPicPr>
        <p:blipFill>
          <a:blip r:embed="rIdM5"/>
          <a:stretch>
            <a:fillRect/>
          </a:stretch>
        </p:blipFill>
        <p:spPr>
          <a:xfrm>
            <a:off x="5834474" y="4248302"/>
            <a:ext cx="98755" cy="98755"/>
          </a:xfrm>
          <a:prstGeom prst="rect">
            <a:avLst/>
          </a:prstGeom>
        </p:spPr>
      </p:pic>
      <p:sp>
        <p:nvSpPr>
          <p:cNvPr id="326" name="T"/>
          <p:cNvSpPr txBox="1"/>
          <p:nvPr/>
        </p:nvSpPr>
        <p:spPr>
          <a:xfrm>
            <a:off x="5933229" y="4215384"/>
            <a:ext cx="1153370" cy="164592"/>
          </a:xfrm>
          <a:prstGeom prst="rect">
            <a:avLst/>
          </a:prstGeom>
          <a:noFill/>
        </p:spPr>
        <p:txBody>
          <a:bodyPr wrap="none" lIns="0" tIns="0" rIns="0" bIns="0" anchor="ctr"/>
          <a:lstStyle/>
          <a:p>
            <a:pPr algn="ctr">
              <a:buNone/>
            </a:pPr>
            <a:r>
              <a:rPr lang="id-ID" sz="700" b="1" dirty="0">
                <a:solidFill>
                  <a:srgbClr val="051C2C"/>
                </a:solidFill>
                <a:latin typeface="Roboto"/>
                <a:ea typeface="Roboto"/>
                <a:cs typeface="Roboto"/>
              </a:rPr>
              <a:t>Banjir sudah surut total</a:t>
            </a:r>
            <a:endParaRPr lang="id-ID" sz="700"/>
          </a:p>
        </p:txBody>
      </p:sp>
      <p:sp>
        <p:nvSpPr>
          <p:cNvPr id="327" name="K"/>
          <p:cNvSpPr/>
          <p:nvPr/>
        </p:nvSpPr>
        <p:spPr>
          <a:xfrm>
            <a:off x="932688" y="4398264"/>
            <a:ext cx="6080760" cy="320040"/>
          </a:xfrm>
          <a:prstGeom prst="roundRect">
            <a:avLst>
              <a:gd name="adj" fmla="val 14000"/>
            </a:avLst>
          </a:prstGeom>
          <a:solidFill>
            <a:srgbClr val="F7F8FA"/>
          </a:solidFill>
          <a:ln>
            <a:noFill/>
          </a:ln>
        </p:spPr>
      </p:sp>
      <p:pic>
        <p:nvPicPr>
          <p:cNvPr id="328" name="G"/>
          <p:cNvPicPr>
            <a:picLocks noChangeAspect="1"/>
          </p:cNvPicPr>
          <p:nvPr/>
        </p:nvPicPr>
        <p:blipFill>
          <a:blip r:embed="rIdM6"/>
          <a:stretch>
            <a:fillRect/>
          </a:stretch>
        </p:blipFill>
        <p:spPr>
          <a:xfrm>
            <a:off x="996696" y="4443984"/>
            <a:ext cx="118872" cy="118872"/>
          </a:xfrm>
          <a:prstGeom prst="rect">
            <a:avLst/>
          </a:prstGeom>
        </p:spPr>
      </p:pic>
      <p:sp>
        <p:nvSpPr>
          <p:cNvPr id="329" name="T"/>
          <p:cNvSpPr txBox="1"/>
          <p:nvPr/>
        </p:nvSpPr>
        <p:spPr>
          <a:xfrm>
            <a:off x="1152144" y="4416552"/>
            <a:ext cx="5840760"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±2.405</a:t>
            </a:r>
            <a:endParaRPr lang="id-ID" sz="950"/>
          </a:p>
        </p:txBody>
      </p:sp>
      <p:sp>
        <p:nvSpPr>
          <p:cNvPr id="330" name="T"/>
          <p:cNvSpPr txBox="1"/>
          <p:nvPr/>
        </p:nvSpPr>
        <p:spPr>
          <a:xfrm>
            <a:off x="996696" y="4581144"/>
            <a:ext cx="5980760"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KK terdampak</a:t>
            </a:r>
            <a:endParaRPr lang="id-ID" sz="620"/>
          </a:p>
        </p:txBody>
      </p:sp>
      <p:sp>
        <p:nvSpPr>
          <p:cNvPr id="331" name="K"/>
          <p:cNvSpPr/>
          <p:nvPr/>
        </p:nvSpPr>
        <p:spPr>
          <a:xfrm>
            <a:off x="731520" y="4764024"/>
            <a:ext cx="146304" cy="146304"/>
          </a:xfrm>
          <a:prstGeom prst="ellipse">
            <a:avLst/>
          </a:prstGeom>
          <a:solidFill>
            <a:srgbClr val="D9600B"/>
          </a:solidFill>
          <a:ln>
            <a:noFill/>
          </a:ln>
        </p:spPr>
      </p:sp>
      <p:pic>
        <p:nvPicPr>
          <p:cNvPr id="332" name="G"/>
          <p:cNvPicPr>
            <a:picLocks noChangeAspect="1"/>
          </p:cNvPicPr>
          <p:nvPr/>
        </p:nvPicPr>
        <p:blipFill>
          <a:blip r:embed="rIdM7"/>
          <a:stretch>
            <a:fillRect/>
          </a:stretch>
        </p:blipFill>
        <p:spPr>
          <a:xfrm>
            <a:off x="757854" y="4790358"/>
            <a:ext cx="93634" cy="93634"/>
          </a:xfrm>
          <a:prstGeom prst="rect">
            <a:avLst/>
          </a:prstGeom>
        </p:spPr>
      </p:pic>
      <p:sp>
        <p:nvSpPr>
          <p:cNvPr id="333" name="T"/>
          <p:cNvSpPr txBox="1"/>
          <p:nvPr/>
        </p:nvSpPr>
        <p:spPr>
          <a:xfrm>
            <a:off x="932688" y="4745736"/>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Sumatera Utara</a:t>
            </a:r>
            <a:r>
              <a:rPr lang="id-ID" sz="760" dirty="0">
                <a:solidFill>
                  <a:srgbClr val="1A1A1A"/>
                </a:solidFill>
                <a:latin typeface="Roboto"/>
                <a:ea typeface="Roboto"/>
                <a:cs typeface="Roboto"/>
              </a:rPr>
              <a:t>, Serdang Bedagai</a:t>
            </a:r>
            <a:endParaRPr lang="id-ID" sz="760"/>
          </a:p>
        </p:txBody>
      </p:sp>
      <p:sp>
        <p:nvSpPr>
          <p:cNvPr id="334" name="K"/>
          <p:cNvSpPr/>
          <p:nvPr/>
        </p:nvSpPr>
        <p:spPr>
          <a:xfrm>
            <a:off x="5950467" y="4754880"/>
            <a:ext cx="1136132" cy="164592"/>
          </a:xfrm>
          <a:prstGeom prst="roundRect">
            <a:avLst>
              <a:gd name="adj" fmla="val 50000"/>
            </a:avLst>
          </a:prstGeom>
          <a:solidFill>
            <a:srgbClr val="FBE7D6"/>
          </a:solidFill>
          <a:ln>
            <a:noFill/>
          </a:ln>
        </p:spPr>
      </p:sp>
      <p:pic>
        <p:nvPicPr>
          <p:cNvPr id="335" name="G"/>
          <p:cNvPicPr>
            <a:picLocks noChangeAspect="1"/>
          </p:cNvPicPr>
          <p:nvPr/>
        </p:nvPicPr>
        <p:blipFill>
          <a:blip r:embed="rIdM4"/>
          <a:stretch>
            <a:fillRect/>
          </a:stretch>
        </p:blipFill>
        <p:spPr>
          <a:xfrm>
            <a:off x="6008074" y="4787798"/>
            <a:ext cx="98755" cy="98755"/>
          </a:xfrm>
          <a:prstGeom prst="rect">
            <a:avLst/>
          </a:prstGeom>
        </p:spPr>
      </p:pic>
      <p:sp>
        <p:nvSpPr>
          <p:cNvPr id="336" name="T"/>
          <p:cNvSpPr txBox="1"/>
          <p:nvPr/>
        </p:nvSpPr>
        <p:spPr>
          <a:xfrm>
            <a:off x="6106829" y="4754880"/>
            <a:ext cx="9797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Transisi s.d. 31 Des</a:t>
            </a:r>
            <a:endParaRPr lang="id-ID" sz="700"/>
          </a:p>
        </p:txBody>
      </p:sp>
      <p:sp>
        <p:nvSpPr>
          <p:cNvPr id="337" name="K"/>
          <p:cNvSpPr/>
          <p:nvPr/>
        </p:nvSpPr>
        <p:spPr>
          <a:xfrm>
            <a:off x="4629270" y="4754880"/>
            <a:ext cx="1266332" cy="164592"/>
          </a:xfrm>
          <a:prstGeom prst="roundRect">
            <a:avLst>
              <a:gd name="adj" fmla="val 50000"/>
            </a:avLst>
          </a:prstGeom>
          <a:solidFill>
            <a:srgbClr val="FBE7D6"/>
          </a:solidFill>
          <a:ln>
            <a:noFill/>
          </a:ln>
        </p:spPr>
      </p:sp>
      <p:pic>
        <p:nvPicPr>
          <p:cNvPr id="338" name="G"/>
          <p:cNvPicPr>
            <a:picLocks noChangeAspect="1"/>
          </p:cNvPicPr>
          <p:nvPr/>
        </p:nvPicPr>
        <p:blipFill>
          <a:blip r:embed="rIdM8"/>
          <a:stretch>
            <a:fillRect/>
          </a:stretch>
        </p:blipFill>
        <p:spPr>
          <a:xfrm>
            <a:off x="4686877" y="4787798"/>
            <a:ext cx="98755" cy="98755"/>
          </a:xfrm>
          <a:prstGeom prst="rect">
            <a:avLst/>
          </a:prstGeom>
        </p:spPr>
      </p:pic>
      <p:sp>
        <p:nvSpPr>
          <p:cNvPr id="339" name="T"/>
          <p:cNvSpPr txBox="1"/>
          <p:nvPr/>
        </p:nvSpPr>
        <p:spPr>
          <a:xfrm>
            <a:off x="4785632" y="4754880"/>
            <a:ext cx="11099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Sedang dalam penanganan</a:t>
            </a:r>
            <a:endParaRPr lang="id-ID" sz="700"/>
          </a:p>
        </p:txBody>
      </p:sp>
      <p:sp>
        <p:nvSpPr>
          <p:cNvPr id="340" name="K"/>
          <p:cNvSpPr/>
          <p:nvPr/>
        </p:nvSpPr>
        <p:spPr>
          <a:xfrm>
            <a:off x="932688" y="4937760"/>
            <a:ext cx="3040380" cy="320040"/>
          </a:xfrm>
          <a:prstGeom prst="roundRect">
            <a:avLst>
              <a:gd name="adj" fmla="val 14000"/>
            </a:avLst>
          </a:prstGeom>
          <a:solidFill>
            <a:srgbClr val="F7F8FA"/>
          </a:solidFill>
          <a:ln>
            <a:noFill/>
          </a:ln>
        </p:spPr>
      </p:sp>
      <p:pic>
        <p:nvPicPr>
          <p:cNvPr id="341" name="G"/>
          <p:cNvPicPr>
            <a:picLocks noChangeAspect="1"/>
          </p:cNvPicPr>
          <p:nvPr/>
        </p:nvPicPr>
        <p:blipFill>
          <a:blip r:embed="rIdM9"/>
          <a:stretch>
            <a:fillRect/>
          </a:stretch>
        </p:blipFill>
        <p:spPr>
          <a:xfrm>
            <a:off x="996696" y="4983480"/>
            <a:ext cx="118872" cy="118872"/>
          </a:xfrm>
          <a:prstGeom prst="rect">
            <a:avLst/>
          </a:prstGeom>
        </p:spPr>
      </p:pic>
      <p:sp>
        <p:nvSpPr>
          <p:cNvPr id="342" name="T"/>
          <p:cNvSpPr txBox="1"/>
          <p:nvPr/>
        </p:nvSpPr>
        <p:spPr>
          <a:xfrm>
            <a:off x="1152144" y="4956048"/>
            <a:ext cx="2800380"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±31</a:t>
            </a:r>
            <a:endParaRPr lang="id-ID" sz="950"/>
          </a:p>
        </p:txBody>
      </p:sp>
      <p:sp>
        <p:nvSpPr>
          <p:cNvPr id="343" name="T"/>
          <p:cNvSpPr txBox="1"/>
          <p:nvPr/>
        </p:nvSpPr>
        <p:spPr>
          <a:xfrm>
            <a:off x="996696" y="5120640"/>
            <a:ext cx="2940380"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rumah terdampak</a:t>
            </a:r>
            <a:endParaRPr lang="id-ID" sz="620"/>
          </a:p>
        </p:txBody>
      </p:sp>
      <p:sp>
        <p:nvSpPr>
          <p:cNvPr id="344" name="K"/>
          <p:cNvSpPr/>
          <p:nvPr/>
        </p:nvSpPr>
        <p:spPr>
          <a:xfrm>
            <a:off x="4018788" y="4937760"/>
            <a:ext cx="3040380" cy="320040"/>
          </a:xfrm>
          <a:prstGeom prst="roundRect">
            <a:avLst>
              <a:gd name="adj" fmla="val 14000"/>
            </a:avLst>
          </a:prstGeom>
          <a:solidFill>
            <a:srgbClr val="F7F8FA"/>
          </a:solidFill>
          <a:ln>
            <a:noFill/>
          </a:ln>
        </p:spPr>
      </p:sp>
      <p:pic>
        <p:nvPicPr>
          <p:cNvPr id="345" name="G"/>
          <p:cNvPicPr>
            <a:picLocks noChangeAspect="1"/>
          </p:cNvPicPr>
          <p:nvPr/>
        </p:nvPicPr>
        <p:blipFill>
          <a:blip r:embed="rIdM6"/>
          <a:stretch>
            <a:fillRect/>
          </a:stretch>
        </p:blipFill>
        <p:spPr>
          <a:xfrm>
            <a:off x="4082796" y="4983480"/>
            <a:ext cx="118872" cy="118872"/>
          </a:xfrm>
          <a:prstGeom prst="rect">
            <a:avLst/>
          </a:prstGeom>
        </p:spPr>
      </p:pic>
      <p:sp>
        <p:nvSpPr>
          <p:cNvPr id="346" name="T"/>
          <p:cNvSpPr txBox="1"/>
          <p:nvPr/>
        </p:nvSpPr>
        <p:spPr>
          <a:xfrm>
            <a:off x="4238244" y="4956048"/>
            <a:ext cx="2800380"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±31</a:t>
            </a:r>
            <a:endParaRPr lang="id-ID" sz="950"/>
          </a:p>
        </p:txBody>
      </p:sp>
      <p:sp>
        <p:nvSpPr>
          <p:cNvPr id="347" name="T"/>
          <p:cNvSpPr txBox="1"/>
          <p:nvPr/>
        </p:nvSpPr>
        <p:spPr>
          <a:xfrm>
            <a:off x="4082796" y="5120640"/>
            <a:ext cx="2940380"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KK terdampak</a:t>
            </a:r>
            <a:endParaRPr lang="id-ID" sz="620"/>
          </a:p>
        </p:txBody>
      </p:sp>
      <p:sp>
        <p:nvSpPr>
          <p:cNvPr id="348" name="K"/>
          <p:cNvSpPr/>
          <p:nvPr/>
        </p:nvSpPr>
        <p:spPr>
          <a:xfrm>
            <a:off x="713232" y="5340096"/>
            <a:ext cx="6391656" cy="182880"/>
          </a:xfrm>
          <a:prstGeom prst="roundRect">
            <a:avLst>
              <a:gd name="adj" fmla="val 30000"/>
            </a:avLst>
          </a:prstGeom>
          <a:solidFill>
            <a:srgbClr val="F3F5F8"/>
          </a:solidFill>
          <a:ln>
            <a:noFill/>
          </a:ln>
        </p:spPr>
      </p:sp>
      <p:sp>
        <p:nvSpPr>
          <p:cNvPr id="349" name="K"/>
          <p:cNvSpPr/>
          <p:nvPr/>
        </p:nvSpPr>
        <p:spPr>
          <a:xfrm>
            <a:off x="758952" y="5358384"/>
            <a:ext cx="146304" cy="146304"/>
          </a:xfrm>
          <a:prstGeom prst="ellipse">
            <a:avLst/>
          </a:prstGeom>
          <a:solidFill>
            <a:srgbClr val="0E7490"/>
          </a:solidFill>
          <a:ln>
            <a:noFill/>
          </a:ln>
        </p:spPr>
      </p:sp>
      <p:pic>
        <p:nvPicPr>
          <p:cNvPr id="350" name="G"/>
          <p:cNvPicPr>
            <a:picLocks noChangeAspect="1"/>
          </p:cNvPicPr>
          <p:nvPr/>
        </p:nvPicPr>
        <p:blipFill>
          <a:blip r:embed="rIdM10"/>
          <a:stretch>
            <a:fillRect/>
          </a:stretch>
        </p:blipFill>
        <p:spPr>
          <a:xfrm>
            <a:off x="786384" y="5385816"/>
            <a:ext cx="91440" cy="91440"/>
          </a:xfrm>
          <a:prstGeom prst="rect">
            <a:avLst/>
          </a:prstGeom>
        </p:spPr>
      </p:pic>
      <p:sp>
        <p:nvSpPr>
          <p:cNvPr id="354" name="T"/>
          <p:cNvSpPr txBox="1"/>
          <p:nvPr/>
        </p:nvSpPr>
        <p:spPr>
          <a:xfrm>
            <a:off x="950976" y="5340096"/>
            <a:ext cx="1600000" cy="182880"/>
          </a:xfrm>
          <a:prstGeom prst="rect">
            <a:avLst/>
          </a:prstGeom>
          <a:noFill/>
        </p:spPr>
        <p:txBody>
          <a:bodyPr wrap="none" lIns="0" tIns="0" rIns="0" bIns="0" anchor="ctr"/>
          <a:lstStyle/>
          <a:p>
            <a:pPr algn="l">
              <a:buNone/>
            </a:pPr>
            <a:r>
              <a:rPr lang="id-ID" sz="820" b="1" dirty="0">
                <a:solidFill>
                  <a:srgbClr val="1A1A1A"/>
                </a:solidFill>
                <a:latin typeface="Roboto"/>
                <a:ea typeface="Roboto"/>
                <a:cs typeface="Roboto"/>
              </a:rPr>
              <a:t>Cuaca ekstrem</a:t>
            </a:r>
            <a:endParaRPr lang="id-ID" sz="820"/>
          </a:p>
        </p:txBody>
      </p:sp>
      <p:sp>
        <p:nvSpPr>
          <p:cNvPr id="351" name="K"/>
          <p:cNvSpPr/>
          <p:nvPr/>
        </p:nvSpPr>
        <p:spPr>
          <a:xfrm>
            <a:off x="1845232" y="5367528"/>
            <a:ext cx="669214" cy="128016"/>
          </a:xfrm>
          <a:prstGeom prst="roundRect">
            <a:avLst>
              <a:gd name="adj" fmla="val 50000"/>
            </a:avLst>
          </a:prstGeom>
          <a:solidFill>
            <a:srgbClr val="D5EEF2"/>
          </a:solidFill>
          <a:ln>
            <a:noFill/>
          </a:ln>
        </p:spPr>
      </p:sp>
      <p:pic>
        <p:nvPicPr>
          <p:cNvPr id="352" name="G"/>
          <p:cNvPicPr>
            <a:picLocks noChangeAspect="1"/>
          </p:cNvPicPr>
          <p:nvPr/>
        </p:nvPicPr>
        <p:blipFill>
          <a:blip r:embed="rIdM11"/>
          <a:stretch>
            <a:fillRect/>
          </a:stretch>
        </p:blipFill>
        <p:spPr>
          <a:xfrm>
            <a:off x="1890037" y="5393131"/>
            <a:ext cx="76809" cy="76809"/>
          </a:xfrm>
          <a:prstGeom prst="rect">
            <a:avLst/>
          </a:prstGeom>
        </p:spPr>
      </p:pic>
      <p:sp>
        <p:nvSpPr>
          <p:cNvPr id="353" name="T"/>
          <p:cNvSpPr txBox="1"/>
          <p:nvPr/>
        </p:nvSpPr>
        <p:spPr>
          <a:xfrm>
            <a:off x="1966847" y="5367528"/>
            <a:ext cx="547599" cy="128016"/>
          </a:xfrm>
          <a:prstGeom prst="rect">
            <a:avLst/>
          </a:prstGeom>
          <a:noFill/>
        </p:spPr>
        <p:txBody>
          <a:bodyPr wrap="none" lIns="0" tIns="0" rIns="0" bIns="0" anchor="ctr"/>
          <a:lstStyle/>
          <a:p>
            <a:pPr algn="ctr">
              <a:buNone/>
            </a:pPr>
            <a:r>
              <a:rPr lang="id-ID" sz="700" b="1" dirty="0">
                <a:solidFill>
                  <a:srgbClr val="0E7490"/>
                </a:solidFill>
                <a:latin typeface="Roboto"/>
                <a:ea typeface="Roboto"/>
                <a:cs typeface="Roboto"/>
              </a:rPr>
              <a:t>2 kejadian</a:t>
            </a:r>
            <a:endParaRPr lang="id-ID" sz="700"/>
          </a:p>
        </p:txBody>
      </p:sp>
      <p:sp>
        <p:nvSpPr>
          <p:cNvPr id="355" name="K"/>
          <p:cNvSpPr/>
          <p:nvPr/>
        </p:nvSpPr>
        <p:spPr>
          <a:xfrm>
            <a:off x="731520" y="5559552"/>
            <a:ext cx="146304" cy="146304"/>
          </a:xfrm>
          <a:prstGeom prst="ellipse">
            <a:avLst/>
          </a:prstGeom>
          <a:solidFill>
            <a:srgbClr val="D9600B"/>
          </a:solidFill>
          <a:ln>
            <a:noFill/>
          </a:ln>
        </p:spPr>
      </p:sp>
      <p:pic>
        <p:nvPicPr>
          <p:cNvPr id="356" name="G"/>
          <p:cNvPicPr>
            <a:picLocks noChangeAspect="1"/>
          </p:cNvPicPr>
          <p:nvPr/>
        </p:nvPicPr>
        <p:blipFill>
          <a:blip r:embed="rIdM7"/>
          <a:stretch>
            <a:fillRect/>
          </a:stretch>
        </p:blipFill>
        <p:spPr>
          <a:xfrm>
            <a:off x="757854" y="5585886"/>
            <a:ext cx="93634" cy="93634"/>
          </a:xfrm>
          <a:prstGeom prst="rect">
            <a:avLst/>
          </a:prstGeom>
        </p:spPr>
      </p:pic>
      <p:sp>
        <p:nvSpPr>
          <p:cNvPr id="357" name="T"/>
          <p:cNvSpPr txBox="1"/>
          <p:nvPr/>
        </p:nvSpPr>
        <p:spPr>
          <a:xfrm>
            <a:off x="932688" y="5541264"/>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Jawa Timur</a:t>
            </a:r>
            <a:r>
              <a:rPr lang="id-ID" sz="760" dirty="0">
                <a:solidFill>
                  <a:srgbClr val="1A1A1A"/>
                </a:solidFill>
                <a:latin typeface="Roboto"/>
                <a:ea typeface="Roboto"/>
                <a:cs typeface="Roboto"/>
              </a:rPr>
              <a:t>, Jombang</a:t>
            </a:r>
            <a:endParaRPr lang="id-ID" sz="760"/>
          </a:p>
        </p:txBody>
      </p:sp>
      <p:sp>
        <p:nvSpPr>
          <p:cNvPr id="358" name="K"/>
          <p:cNvSpPr/>
          <p:nvPr/>
        </p:nvSpPr>
        <p:spPr>
          <a:xfrm>
            <a:off x="5863667" y="5550408"/>
            <a:ext cx="1222932" cy="164592"/>
          </a:xfrm>
          <a:prstGeom prst="roundRect">
            <a:avLst>
              <a:gd name="adj" fmla="val 50000"/>
            </a:avLst>
          </a:prstGeom>
          <a:solidFill>
            <a:srgbClr val="FBE7D6"/>
          </a:solidFill>
          <a:ln>
            <a:noFill/>
          </a:ln>
        </p:spPr>
      </p:sp>
      <p:pic>
        <p:nvPicPr>
          <p:cNvPr id="359" name="G"/>
          <p:cNvPicPr>
            <a:picLocks noChangeAspect="1"/>
          </p:cNvPicPr>
          <p:nvPr/>
        </p:nvPicPr>
        <p:blipFill>
          <a:blip r:embed="rIdM8"/>
          <a:stretch>
            <a:fillRect/>
          </a:stretch>
        </p:blipFill>
        <p:spPr>
          <a:xfrm>
            <a:off x="5921274" y="5583326"/>
            <a:ext cx="98755" cy="98755"/>
          </a:xfrm>
          <a:prstGeom prst="rect">
            <a:avLst/>
          </a:prstGeom>
        </p:spPr>
      </p:pic>
      <p:sp>
        <p:nvSpPr>
          <p:cNvPr id="360" name="T"/>
          <p:cNvSpPr txBox="1"/>
          <p:nvPr/>
        </p:nvSpPr>
        <p:spPr>
          <a:xfrm>
            <a:off x="6020029" y="5550408"/>
            <a:ext cx="10665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Masih dalam penanganan</a:t>
            </a:r>
            <a:endParaRPr lang="id-ID" sz="700"/>
          </a:p>
        </p:txBody>
      </p:sp>
      <p:sp>
        <p:nvSpPr>
          <p:cNvPr id="361" name="K"/>
          <p:cNvSpPr/>
          <p:nvPr/>
        </p:nvSpPr>
        <p:spPr>
          <a:xfrm>
            <a:off x="5280270" y="5550408"/>
            <a:ext cx="528532" cy="164592"/>
          </a:xfrm>
          <a:prstGeom prst="roundRect">
            <a:avLst>
              <a:gd name="adj" fmla="val 50000"/>
            </a:avLst>
          </a:prstGeom>
          <a:solidFill>
            <a:srgbClr val="F7F8FA"/>
          </a:solidFill>
          <a:ln>
            <a:noFill/>
          </a:ln>
        </p:spPr>
      </p:sp>
      <p:pic>
        <p:nvPicPr>
          <p:cNvPr id="362" name="G"/>
          <p:cNvPicPr>
            <a:picLocks noChangeAspect="1"/>
          </p:cNvPicPr>
          <p:nvPr/>
        </p:nvPicPr>
        <p:blipFill>
          <a:blip r:embed="rIdM6"/>
          <a:stretch>
            <a:fillRect/>
          </a:stretch>
        </p:blipFill>
        <p:spPr>
          <a:xfrm>
            <a:off x="5337877" y="5583326"/>
            <a:ext cx="98755" cy="98755"/>
          </a:xfrm>
          <a:prstGeom prst="rect">
            <a:avLst/>
          </a:prstGeom>
        </p:spPr>
      </p:pic>
      <p:sp>
        <p:nvSpPr>
          <p:cNvPr id="363" name="T"/>
          <p:cNvSpPr txBox="1"/>
          <p:nvPr/>
        </p:nvSpPr>
        <p:spPr>
          <a:xfrm>
            <a:off x="5436632" y="5550408"/>
            <a:ext cx="372170" cy="164592"/>
          </a:xfrm>
          <a:prstGeom prst="rect">
            <a:avLst/>
          </a:prstGeom>
          <a:noFill/>
        </p:spPr>
        <p:txBody>
          <a:bodyPr wrap="none" lIns="0" tIns="0" rIns="0" bIns="0" anchor="ctr"/>
          <a:lstStyle/>
          <a:p>
            <a:pPr algn="ctr">
              <a:buNone/>
            </a:pPr>
            <a:r>
              <a:rPr lang="id-ID" sz="700" b="1" dirty="0">
                <a:solidFill>
                  <a:srgbClr val="1A1A1A"/>
                </a:solidFill>
                <a:latin typeface="Roboto"/>
                <a:ea typeface="Roboto"/>
                <a:cs typeface="Roboto"/>
              </a:rPr>
              <a:t>±25 KK</a:t>
            </a:r>
            <a:endParaRPr lang="id-ID" sz="700"/>
          </a:p>
        </p:txBody>
      </p:sp>
      <p:sp>
        <p:nvSpPr>
          <p:cNvPr id="364" name="K"/>
          <p:cNvSpPr/>
          <p:nvPr/>
        </p:nvSpPr>
        <p:spPr>
          <a:xfrm>
            <a:off x="4393073" y="5550408"/>
            <a:ext cx="832332" cy="164592"/>
          </a:xfrm>
          <a:prstGeom prst="roundRect">
            <a:avLst>
              <a:gd name="adj" fmla="val 50000"/>
            </a:avLst>
          </a:prstGeom>
          <a:solidFill>
            <a:srgbClr val="F7F8FA"/>
          </a:solidFill>
          <a:ln>
            <a:noFill/>
          </a:ln>
        </p:spPr>
      </p:sp>
      <p:pic>
        <p:nvPicPr>
          <p:cNvPr id="365" name="G"/>
          <p:cNvPicPr>
            <a:picLocks noChangeAspect="1"/>
          </p:cNvPicPr>
          <p:nvPr/>
        </p:nvPicPr>
        <p:blipFill>
          <a:blip r:embed="rIdM9"/>
          <a:stretch>
            <a:fillRect/>
          </a:stretch>
        </p:blipFill>
        <p:spPr>
          <a:xfrm>
            <a:off x="4450680" y="5583326"/>
            <a:ext cx="98755" cy="98755"/>
          </a:xfrm>
          <a:prstGeom prst="rect">
            <a:avLst/>
          </a:prstGeom>
        </p:spPr>
      </p:pic>
      <p:sp>
        <p:nvSpPr>
          <p:cNvPr id="366" name="T"/>
          <p:cNvSpPr txBox="1"/>
          <p:nvPr/>
        </p:nvSpPr>
        <p:spPr>
          <a:xfrm>
            <a:off x="4549436" y="5550408"/>
            <a:ext cx="675970" cy="164592"/>
          </a:xfrm>
          <a:prstGeom prst="rect">
            <a:avLst/>
          </a:prstGeom>
          <a:noFill/>
        </p:spPr>
        <p:txBody>
          <a:bodyPr wrap="none" lIns="0" tIns="0" rIns="0" bIns="0" anchor="ctr"/>
          <a:lstStyle/>
          <a:p>
            <a:pPr algn="ctr">
              <a:buNone/>
            </a:pPr>
            <a:r>
              <a:rPr lang="id-ID" sz="700" b="1" dirty="0">
                <a:solidFill>
                  <a:srgbClr val="1A1A1A"/>
                </a:solidFill>
                <a:latin typeface="Roboto"/>
                <a:ea typeface="Roboto"/>
                <a:cs typeface="Roboto"/>
              </a:rPr>
              <a:t>1 rumah rusak</a:t>
            </a:r>
            <a:endParaRPr lang="id-ID" sz="700"/>
          </a:p>
        </p:txBody>
      </p:sp>
      <p:sp>
        <p:nvSpPr>
          <p:cNvPr id="367" name="K"/>
          <p:cNvSpPr/>
          <p:nvPr/>
        </p:nvSpPr>
        <p:spPr>
          <a:xfrm>
            <a:off x="731520" y="5760720"/>
            <a:ext cx="146304" cy="146304"/>
          </a:xfrm>
          <a:prstGeom prst="ellipse">
            <a:avLst/>
          </a:prstGeom>
          <a:solidFill>
            <a:srgbClr val="D9600B"/>
          </a:solidFill>
          <a:ln>
            <a:noFill/>
          </a:ln>
        </p:spPr>
      </p:sp>
      <p:pic>
        <p:nvPicPr>
          <p:cNvPr id="368" name="G"/>
          <p:cNvPicPr>
            <a:picLocks noChangeAspect="1"/>
          </p:cNvPicPr>
          <p:nvPr/>
        </p:nvPicPr>
        <p:blipFill>
          <a:blip r:embed="rIdM7"/>
          <a:stretch>
            <a:fillRect/>
          </a:stretch>
        </p:blipFill>
        <p:spPr>
          <a:xfrm>
            <a:off x="757854" y="5787054"/>
            <a:ext cx="93634" cy="93634"/>
          </a:xfrm>
          <a:prstGeom prst="rect">
            <a:avLst/>
          </a:prstGeom>
        </p:spPr>
      </p:pic>
      <p:sp>
        <p:nvSpPr>
          <p:cNvPr id="369" name="T"/>
          <p:cNvSpPr txBox="1"/>
          <p:nvPr/>
        </p:nvSpPr>
        <p:spPr>
          <a:xfrm>
            <a:off x="932688" y="5742432"/>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Kalimantan Selatan</a:t>
            </a:r>
            <a:r>
              <a:rPr lang="id-ID" sz="760" dirty="0">
                <a:solidFill>
                  <a:srgbClr val="1A1A1A"/>
                </a:solidFill>
                <a:latin typeface="Roboto"/>
                <a:ea typeface="Roboto"/>
                <a:cs typeface="Roboto"/>
              </a:rPr>
              <a:t>, Tapin</a:t>
            </a:r>
            <a:endParaRPr lang="id-ID" sz="760"/>
          </a:p>
        </p:txBody>
      </p:sp>
      <p:sp>
        <p:nvSpPr>
          <p:cNvPr id="370" name="K"/>
          <p:cNvSpPr/>
          <p:nvPr/>
        </p:nvSpPr>
        <p:spPr>
          <a:xfrm>
            <a:off x="6124067" y="5751576"/>
            <a:ext cx="962532" cy="164592"/>
          </a:xfrm>
          <a:prstGeom prst="roundRect">
            <a:avLst>
              <a:gd name="adj" fmla="val 50000"/>
            </a:avLst>
          </a:prstGeom>
          <a:solidFill>
            <a:srgbClr val="FBE7D6"/>
          </a:solidFill>
          <a:ln>
            <a:noFill/>
          </a:ln>
        </p:spPr>
      </p:sp>
      <p:pic>
        <p:nvPicPr>
          <p:cNvPr id="371" name="G"/>
          <p:cNvPicPr>
            <a:picLocks noChangeAspect="1"/>
          </p:cNvPicPr>
          <p:nvPr/>
        </p:nvPicPr>
        <p:blipFill>
          <a:blip r:embed="rIdM8"/>
          <a:stretch>
            <a:fillRect/>
          </a:stretch>
        </p:blipFill>
        <p:spPr>
          <a:xfrm>
            <a:off x="6181674" y="5784494"/>
            <a:ext cx="98755" cy="98755"/>
          </a:xfrm>
          <a:prstGeom prst="rect">
            <a:avLst/>
          </a:prstGeom>
        </p:spPr>
      </p:pic>
      <p:sp>
        <p:nvSpPr>
          <p:cNvPr id="372" name="T"/>
          <p:cNvSpPr txBox="1"/>
          <p:nvPr/>
        </p:nvSpPr>
        <p:spPr>
          <a:xfrm>
            <a:off x="6280429" y="5751576"/>
            <a:ext cx="8061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Dalam penanganan</a:t>
            </a:r>
            <a:endParaRPr lang="id-ID" sz="700"/>
          </a:p>
        </p:txBody>
      </p:sp>
      <p:sp>
        <p:nvSpPr>
          <p:cNvPr id="373" name="K"/>
          <p:cNvSpPr/>
          <p:nvPr/>
        </p:nvSpPr>
        <p:spPr>
          <a:xfrm>
            <a:off x="5540670" y="5751576"/>
            <a:ext cx="528532" cy="164592"/>
          </a:xfrm>
          <a:prstGeom prst="roundRect">
            <a:avLst>
              <a:gd name="adj" fmla="val 50000"/>
            </a:avLst>
          </a:prstGeom>
          <a:solidFill>
            <a:srgbClr val="F7F8FA"/>
          </a:solidFill>
          <a:ln>
            <a:noFill/>
          </a:ln>
        </p:spPr>
      </p:sp>
      <p:pic>
        <p:nvPicPr>
          <p:cNvPr id="374" name="G"/>
          <p:cNvPicPr>
            <a:picLocks noChangeAspect="1"/>
          </p:cNvPicPr>
          <p:nvPr/>
        </p:nvPicPr>
        <p:blipFill>
          <a:blip r:embed="rIdM6"/>
          <a:stretch>
            <a:fillRect/>
          </a:stretch>
        </p:blipFill>
        <p:spPr>
          <a:xfrm>
            <a:off x="5598277" y="5784494"/>
            <a:ext cx="98755" cy="98755"/>
          </a:xfrm>
          <a:prstGeom prst="rect">
            <a:avLst/>
          </a:prstGeom>
        </p:spPr>
      </p:pic>
      <p:sp>
        <p:nvSpPr>
          <p:cNvPr id="375" name="T"/>
          <p:cNvSpPr txBox="1"/>
          <p:nvPr/>
        </p:nvSpPr>
        <p:spPr>
          <a:xfrm>
            <a:off x="5697032" y="5751576"/>
            <a:ext cx="372170" cy="164592"/>
          </a:xfrm>
          <a:prstGeom prst="rect">
            <a:avLst/>
          </a:prstGeom>
          <a:noFill/>
        </p:spPr>
        <p:txBody>
          <a:bodyPr wrap="none" lIns="0" tIns="0" rIns="0" bIns="0" anchor="ctr"/>
          <a:lstStyle/>
          <a:p>
            <a:pPr algn="ctr">
              <a:buNone/>
            </a:pPr>
            <a:r>
              <a:rPr lang="id-ID" sz="700" b="1" dirty="0">
                <a:solidFill>
                  <a:srgbClr val="1A1A1A"/>
                </a:solidFill>
                <a:latin typeface="Roboto"/>
                <a:ea typeface="Roboto"/>
                <a:cs typeface="Roboto"/>
              </a:rPr>
              <a:t>±28 KK</a:t>
            </a:r>
            <a:endParaRPr lang="id-ID" sz="700"/>
          </a:p>
        </p:txBody>
      </p:sp>
      <p:sp>
        <p:nvSpPr>
          <p:cNvPr id="376" name="K"/>
          <p:cNvSpPr/>
          <p:nvPr/>
        </p:nvSpPr>
        <p:spPr>
          <a:xfrm>
            <a:off x="4393073" y="5751576"/>
            <a:ext cx="1092732" cy="164592"/>
          </a:xfrm>
          <a:prstGeom prst="roundRect">
            <a:avLst>
              <a:gd name="adj" fmla="val 50000"/>
            </a:avLst>
          </a:prstGeom>
          <a:solidFill>
            <a:srgbClr val="F7F8FA"/>
          </a:solidFill>
          <a:ln>
            <a:noFill/>
          </a:ln>
        </p:spPr>
      </p:sp>
      <p:pic>
        <p:nvPicPr>
          <p:cNvPr id="377" name="G"/>
          <p:cNvPicPr>
            <a:picLocks noChangeAspect="1"/>
          </p:cNvPicPr>
          <p:nvPr/>
        </p:nvPicPr>
        <p:blipFill>
          <a:blip r:embed="rIdM9"/>
          <a:stretch>
            <a:fillRect/>
          </a:stretch>
        </p:blipFill>
        <p:spPr>
          <a:xfrm>
            <a:off x="4450680" y="5784494"/>
            <a:ext cx="98755" cy="98755"/>
          </a:xfrm>
          <a:prstGeom prst="rect">
            <a:avLst/>
          </a:prstGeom>
        </p:spPr>
      </p:pic>
      <p:sp>
        <p:nvSpPr>
          <p:cNvPr id="378" name="T"/>
          <p:cNvSpPr txBox="1"/>
          <p:nvPr/>
        </p:nvSpPr>
        <p:spPr>
          <a:xfrm>
            <a:off x="4549436" y="5751576"/>
            <a:ext cx="936370" cy="164592"/>
          </a:xfrm>
          <a:prstGeom prst="rect">
            <a:avLst/>
          </a:prstGeom>
          <a:noFill/>
        </p:spPr>
        <p:txBody>
          <a:bodyPr wrap="none" lIns="0" tIns="0" rIns="0" bIns="0" anchor="ctr"/>
          <a:lstStyle/>
          <a:p>
            <a:pPr algn="ctr">
              <a:buNone/>
            </a:pPr>
            <a:r>
              <a:rPr lang="id-ID" sz="700" b="1" dirty="0">
                <a:solidFill>
                  <a:srgbClr val="1A1A1A"/>
                </a:solidFill>
                <a:latin typeface="Roboto"/>
                <a:ea typeface="Roboto"/>
                <a:cs typeface="Roboto"/>
              </a:rPr>
              <a:t>±28 rumah terdampak</a:t>
            </a:r>
            <a:endParaRPr lang="id-ID" sz="700"/>
          </a:p>
        </p:txBody>
      </p:sp>
      <p:sp>
        <p:nvSpPr>
          <p:cNvPr id="423" name="K"/>
          <p:cNvSpPr/>
          <p:nvPr/>
        </p:nvSpPr>
        <p:spPr>
          <a:xfrm>
            <a:off x="548640" y="6080760"/>
            <a:ext cx="6720840" cy="274320"/>
          </a:xfrm>
          <a:prstGeom prst="roundRect">
            <a:avLst>
              <a:gd name="adj" fmla="val 30000"/>
            </a:avLst>
          </a:prstGeom>
          <a:solidFill>
            <a:srgbClr val="F7F8FA"/>
          </a:solidFill>
          <a:ln>
            <a:noFill/>
          </a:ln>
        </p:spPr>
      </p:sp>
      <p:sp>
        <p:nvSpPr>
          <p:cNvPr id="424" name="T"/>
          <p:cNvSpPr txBox="1"/>
          <p:nvPr/>
        </p:nvSpPr>
        <p:spPr>
          <a:xfrm>
            <a:off x="676656" y="6080760"/>
            <a:ext cx="868680" cy="274320"/>
          </a:xfrm>
          <a:prstGeom prst="rect">
            <a:avLst/>
          </a:prstGeom>
          <a:noFill/>
        </p:spPr>
        <p:txBody>
          <a:bodyPr wrap="square" lIns="0" tIns="0" rIns="0" bIns="0" anchor="ctr"/>
          <a:lstStyle/>
          <a:p>
            <a:pPr algn="l">
              <a:buNone/>
            </a:pPr>
            <a:r>
              <a:rPr lang="id-ID" sz="700" b="1" spc="100" dirty="0">
                <a:solidFill>
                  <a:srgbClr val="1A1A1A"/>
                </a:solidFill>
                <a:latin typeface="Roboto"/>
                <a:ea typeface="Roboto"/>
                <a:cs typeface="Roboto"/>
              </a:rPr>
              <a:t>KETERANGAN</a:t>
            </a:r>
            <a:endParaRPr lang="id-ID" sz="680"/>
          </a:p>
        </p:txBody>
      </p:sp>
      <p:sp>
        <p:nvSpPr>
          <p:cNvPr id="425" name="K"/>
          <p:cNvSpPr/>
          <p:nvPr/>
        </p:nvSpPr>
        <p:spPr>
          <a:xfrm>
            <a:off x="1648640" y="6140196"/>
            <a:ext cx="155448" cy="155448"/>
          </a:xfrm>
          <a:prstGeom prst="ellipse">
            <a:avLst/>
          </a:prstGeom>
          <a:solidFill>
            <a:srgbClr val="051C2C"/>
          </a:solidFill>
          <a:ln>
            <a:noFill/>
          </a:ln>
        </p:spPr>
      </p:sp>
      <p:pic>
        <p:nvPicPr>
          <p:cNvPr id="426" name="G"/>
          <p:cNvPicPr>
            <a:picLocks noChangeAspect="1"/>
          </p:cNvPicPr>
          <p:nvPr/>
        </p:nvPicPr>
        <p:blipFill>
          <a:blip r:embed="rIdM3"/>
          <a:stretch>
            <a:fillRect/>
          </a:stretch>
        </p:blipFill>
        <p:spPr>
          <a:xfrm>
            <a:off x="1680644" y="6172200"/>
            <a:ext cx="91440" cy="91440"/>
          </a:xfrm>
          <a:prstGeom prst="rect">
            <a:avLst/>
          </a:prstGeom>
        </p:spPr>
      </p:pic>
      <p:sp>
        <p:nvSpPr>
          <p:cNvPr id="427" name="T"/>
          <p:cNvSpPr txBox="1"/>
          <p:nvPr/>
        </p:nvSpPr>
        <p:spPr>
          <a:xfrm>
            <a:off x="1858952" y="6080760"/>
            <a:ext cx="1064362" cy="274320"/>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selesai</a:t>
            </a:r>
            <a:endParaRPr lang="id-ID" sz="750"/>
          </a:p>
        </p:txBody>
      </p:sp>
      <p:sp>
        <p:nvSpPr>
          <p:cNvPr id="428" name="K"/>
          <p:cNvSpPr/>
          <p:nvPr/>
        </p:nvSpPr>
        <p:spPr>
          <a:xfrm>
            <a:off x="2548640" y="6140196"/>
            <a:ext cx="155448" cy="155448"/>
          </a:xfrm>
          <a:prstGeom prst="ellipse">
            <a:avLst/>
          </a:prstGeom>
          <a:solidFill>
            <a:srgbClr val="D9600B"/>
          </a:solidFill>
          <a:ln>
            <a:noFill/>
          </a:ln>
        </p:spPr>
      </p:sp>
      <p:pic>
        <p:nvPicPr>
          <p:cNvPr id="429" name="G"/>
          <p:cNvPicPr>
            <a:picLocks noChangeAspect="1"/>
          </p:cNvPicPr>
          <p:nvPr/>
        </p:nvPicPr>
        <p:blipFill>
          <a:blip r:embed="rIdM7"/>
          <a:stretch>
            <a:fillRect/>
          </a:stretch>
        </p:blipFill>
        <p:spPr>
          <a:xfrm>
            <a:off x="2580644" y="6172200"/>
            <a:ext cx="91440" cy="91440"/>
          </a:xfrm>
          <a:prstGeom prst="rect">
            <a:avLst/>
          </a:prstGeom>
        </p:spPr>
      </p:pic>
      <p:sp>
        <p:nvSpPr>
          <p:cNvPr id="430" name="T"/>
          <p:cNvSpPr txBox="1"/>
          <p:nvPr/>
        </p:nvSpPr>
        <p:spPr>
          <a:xfrm>
            <a:off x="2758952" y="6080760"/>
            <a:ext cx="1064362" cy="274320"/>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dalam penanganan</a:t>
            </a:r>
            <a:endParaRPr lang="id-ID" sz="750"/>
          </a:p>
        </p:txBody>
      </p:sp>
      <p:sp>
        <p:nvSpPr>
          <p:cNvPr id="431" name="T"/>
          <p:cNvSpPr txBox="1"/>
          <p:nvPr/>
        </p:nvSpPr>
        <p:spPr>
          <a:xfrm>
            <a:off x="3848640" y="6080760"/>
            <a:ext cx="3292824" cy="274320"/>
          </a:xfrm>
          <a:prstGeom prst="rect">
            <a:avLst/>
          </a:prstGeom>
          <a:noFill/>
        </p:spPr>
        <p:txBody>
          <a:bodyPr wrap="square" lIns="0" tIns="0" rIns="0" bIns="0" anchor="ctr"/>
          <a:lstStyle/>
          <a:p>
            <a:pPr algn="r">
              <a:buNone/>
            </a:pPr>
            <a:r>
              <a:rPr lang="id-ID" sz="700" dirty="0">
                <a:solidFill>
                  <a:srgbClr val="2E3440"/>
                </a:solidFill>
                <a:latin typeface="Roboto"/>
                <a:ea typeface="Roboto"/>
                <a:cs typeface="Roboto"/>
              </a:rPr>
              <a:t>Pengkinian kejadian sebelumnya: halaman 4</a:t>
            </a:r>
            <a:endParaRPr lang="id-ID" sz="700"/>
          </a:p>
        </p:txBody>
      </p:sp>
      <p:sp>
        <p:nvSpPr>
          <p:cNvPr id="432" name="K"/>
          <p:cNvSpPr/>
          <p:nvPr/>
        </p:nvSpPr>
        <p:spPr>
          <a:xfrm>
            <a:off x="7406640" y="1325880"/>
            <a:ext cx="4236415" cy="4681728"/>
          </a:xfrm>
          <a:prstGeom prst="roundRect">
            <a:avLst>
              <a:gd name="adj" fmla="val 3000"/>
            </a:avLst>
          </a:prstGeom>
          <a:solidFill>
            <a:srgbClr val="FFFFFF"/>
          </a:solidFill>
          <a:ln w="9525">
            <a:solidFill>
              <a:srgbClr val="BFC5CC"/>
            </a:solidFill>
          </a:ln>
        </p:spPr>
      </p:sp>
      <p:sp>
        <p:nvSpPr>
          <p:cNvPr id="433" name="K"/>
          <p:cNvSpPr/>
          <p:nvPr/>
        </p:nvSpPr>
        <p:spPr>
          <a:xfrm>
            <a:off x="7406640" y="1325880"/>
            <a:ext cx="4236415" cy="365760"/>
          </a:xfrm>
          <a:prstGeom prst="roundRect">
            <a:avLst>
              <a:gd name="adj" fmla="val 16000"/>
            </a:avLst>
          </a:prstGeom>
          <a:solidFill>
            <a:srgbClr val="FBE7DC"/>
          </a:solidFill>
          <a:ln>
            <a:noFill/>
          </a:ln>
        </p:spPr>
      </p:sp>
      <p:sp>
        <p:nvSpPr>
          <p:cNvPr id="434" name="K"/>
          <p:cNvSpPr/>
          <p:nvPr/>
        </p:nvSpPr>
        <p:spPr>
          <a:xfrm>
            <a:off x="7406640" y="1545336"/>
            <a:ext cx="4236415" cy="146304"/>
          </a:xfrm>
          <a:prstGeom prst="rect">
            <a:avLst/>
          </a:prstGeom>
          <a:solidFill>
            <a:srgbClr val="FBE7DC"/>
          </a:solidFill>
          <a:ln>
            <a:noFill/>
          </a:ln>
        </p:spPr>
      </p:sp>
      <p:sp>
        <p:nvSpPr>
          <p:cNvPr id="435" name="K"/>
          <p:cNvSpPr/>
          <p:nvPr/>
        </p:nvSpPr>
        <p:spPr>
          <a:xfrm>
            <a:off x="7534656" y="1362456"/>
            <a:ext cx="292608" cy="292608"/>
          </a:xfrm>
          <a:prstGeom prst="ellipse">
            <a:avLst/>
          </a:prstGeom>
          <a:solidFill>
            <a:srgbClr val="9A3412"/>
          </a:solidFill>
          <a:ln>
            <a:noFill/>
          </a:ln>
        </p:spPr>
      </p:sp>
      <p:pic>
        <p:nvPicPr>
          <p:cNvPr id="436" name="G"/>
          <p:cNvPicPr>
            <a:picLocks noChangeAspect="1"/>
          </p:cNvPicPr>
          <p:nvPr/>
        </p:nvPicPr>
        <p:blipFill>
          <a:blip r:embed="rIdM16"/>
          <a:stretch>
            <a:fillRect/>
          </a:stretch>
        </p:blipFill>
        <p:spPr>
          <a:xfrm>
            <a:off x="7589520" y="1417320"/>
            <a:ext cx="182880" cy="182880"/>
          </a:xfrm>
          <a:prstGeom prst="rect">
            <a:avLst/>
          </a:prstGeom>
        </p:spPr>
      </p:pic>
      <p:sp>
        <p:nvSpPr>
          <p:cNvPr id="437" name="T"/>
          <p:cNvSpPr txBox="1"/>
          <p:nvPr/>
        </p:nvSpPr>
        <p:spPr>
          <a:xfrm>
            <a:off x="7909560" y="1325880"/>
            <a:ext cx="3136415" cy="365760"/>
          </a:xfrm>
          <a:prstGeom prst="rect">
            <a:avLst/>
          </a:prstGeom>
          <a:noFill/>
        </p:spPr>
        <p:txBody>
          <a:bodyPr wrap="square" lIns="0" tIns="0" rIns="0" bIns="0" anchor="ctr"/>
          <a:lstStyle/>
          <a:p>
            <a:pPr algn="l">
              <a:buNone/>
            </a:pPr>
            <a:r>
              <a:rPr lang="id-ID" sz="1100" b="1" dirty="0">
                <a:solidFill>
                  <a:srgbClr val="1A1A1A"/>
                </a:solidFill>
                <a:latin typeface="Roboto"/>
                <a:ea typeface="Roboto"/>
                <a:cs typeface="Roboto"/>
              </a:rPr>
              <a:t>Gunung api</a:t>
            </a:r>
            <a:endParaRPr lang="id-ID" sz="1100"/>
          </a:p>
        </p:txBody>
      </p:sp>
      <p:sp>
        <p:nvSpPr>
          <p:cNvPr id="438" name="T"/>
          <p:cNvSpPr txBox="1"/>
          <p:nvPr/>
        </p:nvSpPr>
        <p:spPr>
          <a:xfrm>
            <a:off x="11002975" y="1325880"/>
            <a:ext cx="512064" cy="365760"/>
          </a:xfrm>
          <a:prstGeom prst="rect">
            <a:avLst/>
          </a:prstGeom>
          <a:noFill/>
        </p:spPr>
        <p:txBody>
          <a:bodyPr wrap="square" lIns="0" tIns="0" rIns="0" bIns="0" anchor="ctr"/>
          <a:lstStyle/>
          <a:p>
            <a:pPr algn="r">
              <a:buNone/>
            </a:pPr>
            <a:r>
              <a:rPr lang="id-ID" sz="1800" b="1" dirty="0">
                <a:solidFill>
                  <a:srgbClr val="9A3412"/>
                </a:solidFill>
                <a:latin typeface="Roboto"/>
                <a:ea typeface="Roboto"/>
                <a:cs typeface="Roboto"/>
              </a:rPr>
              <a:t>3</a:t>
            </a:r>
            <a:endParaRPr lang="id-ID" sz="1800"/>
          </a:p>
        </p:txBody>
      </p:sp>
      <p:sp>
        <p:nvSpPr>
          <p:cNvPr id="439" name="K"/>
          <p:cNvSpPr/>
          <p:nvPr/>
        </p:nvSpPr>
        <p:spPr>
          <a:xfrm>
            <a:off x="7534656" y="1746504"/>
            <a:ext cx="2278000" cy="182880"/>
          </a:xfrm>
          <a:prstGeom prst="roundRect">
            <a:avLst>
              <a:gd name="adj" fmla="val 50000"/>
            </a:avLst>
          </a:prstGeom>
          <a:solidFill>
            <a:srgbClr val="E6EAF0"/>
          </a:solidFill>
          <a:ln>
            <a:noFill/>
          </a:ln>
        </p:spPr>
      </p:sp>
      <p:pic>
        <p:nvPicPr>
          <p:cNvPr id="440" name="G"/>
          <p:cNvPicPr>
            <a:picLocks noChangeAspect="1"/>
          </p:cNvPicPr>
          <p:nvPr/>
        </p:nvPicPr>
        <p:blipFill>
          <a:blip r:embed="rIdM5"/>
          <a:stretch>
            <a:fillRect/>
          </a:stretch>
        </p:blipFill>
        <p:spPr>
          <a:xfrm>
            <a:off x="7589520" y="1783080"/>
            <a:ext cx="109728" cy="109728"/>
          </a:xfrm>
          <a:prstGeom prst="rect">
            <a:avLst/>
          </a:prstGeom>
        </p:spPr>
      </p:pic>
      <p:sp>
        <p:nvSpPr>
          <p:cNvPr id="441" name="T"/>
          <p:cNvSpPr txBox="1"/>
          <p:nvPr/>
        </p:nvSpPr>
        <p:spPr>
          <a:xfrm>
            <a:off x="7744968" y="1746504"/>
            <a:ext cx="2049400" cy="182880"/>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Status PVMBG Jumat, 30 Oktober 2026, 06.00 WIB</a:t>
            </a:r>
            <a:endParaRPr lang="id-ID" sz="680"/>
          </a:p>
        </p:txBody>
      </p:sp>
      <p:sp>
        <p:nvSpPr>
          <p:cNvPr id="442" name="K"/>
          <p:cNvSpPr/>
          <p:nvPr/>
        </p:nvSpPr>
        <p:spPr>
          <a:xfrm>
            <a:off x="7534656" y="2011680"/>
            <a:ext cx="953947" cy="384048"/>
          </a:xfrm>
          <a:prstGeom prst="roundRect">
            <a:avLst>
              <a:gd name="adj" fmla="val 12000"/>
            </a:avLst>
          </a:prstGeom>
          <a:solidFill>
            <a:srgbClr val="F8DDE0"/>
          </a:solidFill>
          <a:ln>
            <a:noFill/>
          </a:ln>
        </p:spPr>
      </p:sp>
      <p:pic>
        <p:nvPicPr>
          <p:cNvPr id="443" name="G"/>
          <p:cNvPicPr>
            <a:picLocks noChangeAspect="1"/>
          </p:cNvPicPr>
          <p:nvPr/>
        </p:nvPicPr>
        <p:blipFill>
          <a:blip r:embed="rIdM17"/>
          <a:stretch>
            <a:fillRect/>
          </a:stretch>
        </p:blipFill>
        <p:spPr>
          <a:xfrm>
            <a:off x="7626096" y="2103120"/>
            <a:ext cx="201168" cy="201168"/>
          </a:xfrm>
          <a:prstGeom prst="rect">
            <a:avLst/>
          </a:prstGeom>
        </p:spPr>
      </p:pic>
      <p:sp>
        <p:nvSpPr>
          <p:cNvPr id="444" name="T"/>
          <p:cNvSpPr txBox="1"/>
          <p:nvPr/>
        </p:nvSpPr>
        <p:spPr>
          <a:xfrm>
            <a:off x="7946136" y="2029968"/>
            <a:ext cx="505891" cy="228600"/>
          </a:xfrm>
          <a:prstGeom prst="rect">
            <a:avLst/>
          </a:prstGeom>
          <a:noFill/>
        </p:spPr>
        <p:txBody>
          <a:bodyPr wrap="square" lIns="0" tIns="0" rIns="0" bIns="0" anchor="ctr"/>
          <a:lstStyle/>
          <a:p>
            <a:pPr algn="l">
              <a:buNone/>
            </a:pPr>
            <a:r>
              <a:rPr lang="id-ID" sz="1400" b="1" dirty="0">
                <a:solidFill>
                  <a:srgbClr val="C8102E"/>
                </a:solidFill>
                <a:latin typeface="Roboto"/>
                <a:ea typeface="Roboto"/>
                <a:cs typeface="Roboto"/>
              </a:rPr>
              <a:t>0</a:t>
            </a:r>
            <a:endParaRPr lang="id-ID" sz="1400"/>
          </a:p>
        </p:txBody>
      </p:sp>
      <p:sp>
        <p:nvSpPr>
          <p:cNvPr id="445" name="T"/>
          <p:cNvSpPr txBox="1"/>
          <p:nvPr/>
        </p:nvSpPr>
        <p:spPr>
          <a:xfrm>
            <a:off x="7946136" y="2249424"/>
            <a:ext cx="505891" cy="128016"/>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Awas</a:t>
            </a:r>
            <a:r>
              <a:rPr lang="id-ID" sz="700" dirty="0">
                <a:solidFill>
                  <a:srgbClr val="2E3440"/>
                </a:solidFill>
                <a:latin typeface="Roboto"/>
                <a:ea typeface="Roboto"/>
                <a:cs typeface="Roboto"/>
              </a:rPr>
              <a:t> (IV)</a:t>
            </a:r>
            <a:endParaRPr lang="id-ID" sz="620"/>
          </a:p>
        </p:txBody>
      </p:sp>
      <p:sp>
        <p:nvSpPr>
          <p:cNvPr id="446" name="K"/>
          <p:cNvSpPr/>
          <p:nvPr/>
        </p:nvSpPr>
        <p:spPr>
          <a:xfrm>
            <a:off x="8543467" y="2011680"/>
            <a:ext cx="953947" cy="384048"/>
          </a:xfrm>
          <a:prstGeom prst="roundRect">
            <a:avLst>
              <a:gd name="adj" fmla="val 12000"/>
            </a:avLst>
          </a:prstGeom>
          <a:solidFill>
            <a:srgbClr val="FBE7D6"/>
          </a:solidFill>
          <a:ln>
            <a:noFill/>
          </a:ln>
        </p:spPr>
      </p:sp>
      <p:pic>
        <p:nvPicPr>
          <p:cNvPr id="447" name="G"/>
          <p:cNvPicPr>
            <a:picLocks noChangeAspect="1"/>
          </p:cNvPicPr>
          <p:nvPr/>
        </p:nvPicPr>
        <p:blipFill>
          <a:blip r:embed="rIdM18"/>
          <a:stretch>
            <a:fillRect/>
          </a:stretch>
        </p:blipFill>
        <p:spPr>
          <a:xfrm>
            <a:off x="8634907" y="2103120"/>
            <a:ext cx="201168" cy="201168"/>
          </a:xfrm>
          <a:prstGeom prst="rect">
            <a:avLst/>
          </a:prstGeom>
        </p:spPr>
      </p:pic>
      <p:sp>
        <p:nvSpPr>
          <p:cNvPr id="448" name="T"/>
          <p:cNvSpPr txBox="1"/>
          <p:nvPr/>
        </p:nvSpPr>
        <p:spPr>
          <a:xfrm>
            <a:off x="8954947" y="2029968"/>
            <a:ext cx="505891" cy="228600"/>
          </a:xfrm>
          <a:prstGeom prst="rect">
            <a:avLst/>
          </a:prstGeom>
          <a:noFill/>
        </p:spPr>
        <p:txBody>
          <a:bodyPr wrap="square" lIns="0" tIns="0" rIns="0" bIns="0" anchor="ctr"/>
          <a:lstStyle/>
          <a:p>
            <a:pPr algn="l">
              <a:buNone/>
            </a:pPr>
            <a:r>
              <a:rPr lang="id-ID" sz="1400" b="1" dirty="0">
                <a:solidFill>
                  <a:srgbClr val="D9600B"/>
                </a:solidFill>
                <a:latin typeface="Roboto"/>
                <a:ea typeface="Roboto"/>
                <a:cs typeface="Roboto"/>
              </a:rPr>
              <a:t>3</a:t>
            </a:r>
            <a:endParaRPr lang="id-ID" sz="1400"/>
          </a:p>
        </p:txBody>
      </p:sp>
      <p:sp>
        <p:nvSpPr>
          <p:cNvPr id="449" name="T"/>
          <p:cNvSpPr txBox="1"/>
          <p:nvPr/>
        </p:nvSpPr>
        <p:spPr>
          <a:xfrm>
            <a:off x="8954947" y="2249424"/>
            <a:ext cx="505891" cy="12801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Siaga</a:t>
            </a:r>
            <a:r>
              <a:rPr lang="id-ID" sz="700" dirty="0">
                <a:solidFill>
                  <a:srgbClr val="2E3440"/>
                </a:solidFill>
                <a:latin typeface="Roboto"/>
                <a:ea typeface="Roboto"/>
                <a:cs typeface="Roboto"/>
              </a:rPr>
              <a:t> (III)</a:t>
            </a:r>
            <a:endParaRPr lang="id-ID" sz="620"/>
          </a:p>
        </p:txBody>
      </p:sp>
      <p:sp>
        <p:nvSpPr>
          <p:cNvPr id="450" name="K"/>
          <p:cNvSpPr/>
          <p:nvPr/>
        </p:nvSpPr>
        <p:spPr>
          <a:xfrm>
            <a:off x="9552278" y="2011680"/>
            <a:ext cx="953947" cy="384048"/>
          </a:xfrm>
          <a:prstGeom prst="roundRect">
            <a:avLst>
              <a:gd name="adj" fmla="val 12000"/>
            </a:avLst>
          </a:prstGeom>
          <a:solidFill>
            <a:srgbClr val="F4ECDC"/>
          </a:solidFill>
          <a:ln>
            <a:noFill/>
          </a:ln>
        </p:spPr>
      </p:sp>
      <p:pic>
        <p:nvPicPr>
          <p:cNvPr id="451" name="G"/>
          <p:cNvPicPr>
            <a:picLocks noChangeAspect="1"/>
          </p:cNvPicPr>
          <p:nvPr/>
        </p:nvPicPr>
        <p:blipFill>
          <a:blip r:embed="rIdM19"/>
          <a:stretch>
            <a:fillRect/>
          </a:stretch>
        </p:blipFill>
        <p:spPr>
          <a:xfrm>
            <a:off x="9643718" y="2103120"/>
            <a:ext cx="201168" cy="201168"/>
          </a:xfrm>
          <a:prstGeom prst="rect">
            <a:avLst/>
          </a:prstGeom>
        </p:spPr>
      </p:pic>
      <p:sp>
        <p:nvSpPr>
          <p:cNvPr id="452" name="T"/>
          <p:cNvSpPr txBox="1"/>
          <p:nvPr/>
        </p:nvSpPr>
        <p:spPr>
          <a:xfrm>
            <a:off x="9963758" y="2029968"/>
            <a:ext cx="505891" cy="228600"/>
          </a:xfrm>
          <a:prstGeom prst="rect">
            <a:avLst/>
          </a:prstGeom>
          <a:noFill/>
        </p:spPr>
        <p:txBody>
          <a:bodyPr wrap="square" lIns="0" tIns="0" rIns="0" bIns="0" anchor="ctr"/>
          <a:lstStyle/>
          <a:p>
            <a:pPr algn="l">
              <a:buNone/>
            </a:pPr>
            <a:r>
              <a:rPr lang="id-ID" sz="1400" b="1" dirty="0">
                <a:solidFill>
                  <a:srgbClr val="B08A3E"/>
                </a:solidFill>
                <a:latin typeface="Roboto"/>
                <a:ea typeface="Roboto"/>
                <a:cs typeface="Roboto"/>
              </a:rPr>
              <a:t>24</a:t>
            </a:r>
            <a:endParaRPr lang="id-ID" sz="1400"/>
          </a:p>
        </p:txBody>
      </p:sp>
      <p:sp>
        <p:nvSpPr>
          <p:cNvPr id="453" name="T"/>
          <p:cNvSpPr txBox="1"/>
          <p:nvPr/>
        </p:nvSpPr>
        <p:spPr>
          <a:xfrm>
            <a:off x="9963758" y="2249424"/>
            <a:ext cx="505891" cy="128016"/>
          </a:xfrm>
          <a:prstGeom prst="rect">
            <a:avLst/>
          </a:prstGeom>
          <a:noFill/>
        </p:spPr>
        <p:txBody>
          <a:bodyPr wrap="none" lIns="0" tIns="0" rIns="0" bIns="0" anchor="ctr"/>
          <a:lstStyle/>
          <a:p>
            <a:pPr algn="l">
              <a:buNone/>
            </a:pPr>
            <a:r>
              <a:rPr lang="id-ID" sz="700" b="1" dirty="0">
                <a:solidFill>
                  <a:srgbClr val="B08A3E"/>
                </a:solidFill>
                <a:latin typeface="Roboto"/>
                <a:ea typeface="Roboto"/>
                <a:cs typeface="Roboto"/>
              </a:rPr>
              <a:t>Waspada</a:t>
            </a:r>
            <a:r>
              <a:rPr lang="id-ID" sz="700" dirty="0">
                <a:solidFill>
                  <a:srgbClr val="2E3440"/>
                </a:solidFill>
                <a:latin typeface="Roboto"/>
                <a:ea typeface="Roboto"/>
                <a:cs typeface="Roboto"/>
              </a:rPr>
              <a:t> (II)</a:t>
            </a:r>
            <a:endParaRPr lang="id-ID" sz="620"/>
          </a:p>
        </p:txBody>
      </p:sp>
      <p:sp>
        <p:nvSpPr>
          <p:cNvPr id="454" name="K"/>
          <p:cNvSpPr/>
          <p:nvPr/>
        </p:nvSpPr>
        <p:spPr>
          <a:xfrm>
            <a:off x="10561089" y="2011680"/>
            <a:ext cx="953947" cy="384048"/>
          </a:xfrm>
          <a:prstGeom prst="roundRect">
            <a:avLst>
              <a:gd name="adj" fmla="val 12000"/>
            </a:avLst>
          </a:prstGeom>
          <a:solidFill>
            <a:srgbClr val="E3EAF1"/>
          </a:solidFill>
          <a:ln>
            <a:noFill/>
          </a:ln>
        </p:spPr>
      </p:sp>
      <p:pic>
        <p:nvPicPr>
          <p:cNvPr id="455" name="G"/>
          <p:cNvPicPr>
            <a:picLocks noChangeAspect="1"/>
          </p:cNvPicPr>
          <p:nvPr/>
        </p:nvPicPr>
        <p:blipFill>
          <a:blip r:embed="rIdM20"/>
          <a:stretch>
            <a:fillRect/>
          </a:stretch>
        </p:blipFill>
        <p:spPr>
          <a:xfrm>
            <a:off x="10652529" y="2103120"/>
            <a:ext cx="201168" cy="201168"/>
          </a:xfrm>
          <a:prstGeom prst="rect">
            <a:avLst/>
          </a:prstGeom>
        </p:spPr>
      </p:pic>
      <p:sp>
        <p:nvSpPr>
          <p:cNvPr id="456" name="T"/>
          <p:cNvSpPr txBox="1"/>
          <p:nvPr/>
        </p:nvSpPr>
        <p:spPr>
          <a:xfrm>
            <a:off x="10972569" y="2029968"/>
            <a:ext cx="505891" cy="228600"/>
          </a:xfrm>
          <a:prstGeom prst="rect">
            <a:avLst/>
          </a:prstGeom>
          <a:noFill/>
        </p:spPr>
        <p:txBody>
          <a:bodyPr wrap="square" lIns="0" tIns="0" rIns="0" bIns="0" anchor="ctr"/>
          <a:lstStyle/>
          <a:p>
            <a:pPr algn="l">
              <a:buNone/>
            </a:pPr>
            <a:r>
              <a:rPr lang="id-ID" sz="1400" b="1" dirty="0">
                <a:solidFill>
                  <a:srgbClr val="5B7A99"/>
                </a:solidFill>
                <a:latin typeface="Roboto"/>
                <a:ea typeface="Roboto"/>
                <a:cs typeface="Roboto"/>
              </a:rPr>
              <a:t>42</a:t>
            </a:r>
            <a:endParaRPr lang="id-ID" sz="1400"/>
          </a:p>
        </p:txBody>
      </p:sp>
      <p:sp>
        <p:nvSpPr>
          <p:cNvPr id="457" name="T"/>
          <p:cNvSpPr txBox="1"/>
          <p:nvPr/>
        </p:nvSpPr>
        <p:spPr>
          <a:xfrm>
            <a:off x="10972569" y="2249424"/>
            <a:ext cx="505891" cy="128016"/>
          </a:xfrm>
          <a:prstGeom prst="rect">
            <a:avLst/>
          </a:prstGeom>
          <a:noFill/>
        </p:spPr>
        <p:txBody>
          <a:bodyPr wrap="none" lIns="0" tIns="0" rIns="0" bIns="0" anchor="ctr"/>
          <a:lstStyle/>
          <a:p>
            <a:pPr algn="l">
              <a:buNone/>
            </a:pPr>
            <a:r>
              <a:rPr lang="id-ID" sz="700" b="1" dirty="0">
                <a:solidFill>
                  <a:srgbClr val="5B7A99"/>
                </a:solidFill>
                <a:latin typeface="Roboto"/>
                <a:ea typeface="Roboto"/>
                <a:cs typeface="Roboto"/>
              </a:rPr>
              <a:t>Normal</a:t>
            </a:r>
            <a:r>
              <a:rPr lang="id-ID" sz="700" dirty="0">
                <a:solidFill>
                  <a:srgbClr val="2E3440"/>
                </a:solidFill>
                <a:latin typeface="Roboto"/>
                <a:ea typeface="Roboto"/>
                <a:cs typeface="Roboto"/>
              </a:rPr>
              <a:t> (I)</a:t>
            </a:r>
            <a:endParaRPr lang="id-ID" sz="620"/>
          </a:p>
        </p:txBody>
      </p:sp>
      <p:sp>
        <p:nvSpPr>
          <p:cNvPr id="458" name="K"/>
          <p:cNvSpPr/>
          <p:nvPr/>
        </p:nvSpPr>
        <p:spPr>
          <a:xfrm>
            <a:off x="7406640" y="6080760"/>
            <a:ext cx="4236415" cy="274320"/>
          </a:xfrm>
          <a:prstGeom prst="roundRect">
            <a:avLst>
              <a:gd name="adj" fmla="val 30000"/>
            </a:avLst>
          </a:prstGeom>
          <a:solidFill>
            <a:srgbClr val="F7F8FA"/>
          </a:solidFill>
          <a:ln>
            <a:noFill/>
          </a:ln>
        </p:spPr>
      </p:sp>
      <p:sp>
        <p:nvSpPr>
          <p:cNvPr id="459" name="T"/>
          <p:cNvSpPr txBox="1"/>
          <p:nvPr/>
        </p:nvSpPr>
        <p:spPr>
          <a:xfrm>
            <a:off x="7534656" y="6080760"/>
            <a:ext cx="868680" cy="274320"/>
          </a:xfrm>
          <a:prstGeom prst="rect">
            <a:avLst/>
          </a:prstGeom>
          <a:noFill/>
        </p:spPr>
        <p:txBody>
          <a:bodyPr wrap="square" lIns="0" tIns="0" rIns="0" bIns="0" anchor="ctr"/>
          <a:lstStyle/>
          <a:p>
            <a:pPr algn="l">
              <a:buNone/>
            </a:pPr>
            <a:r>
              <a:rPr lang="id-ID" sz="700" b="1" spc="100" dirty="0">
                <a:solidFill>
                  <a:srgbClr val="1A1A1A"/>
                </a:solidFill>
                <a:latin typeface="Roboto"/>
                <a:ea typeface="Roboto"/>
                <a:cs typeface="Roboto"/>
              </a:rPr>
              <a:t>KETERANGAN</a:t>
            </a:r>
            <a:endParaRPr lang="id-ID" sz="680"/>
          </a:p>
        </p:txBody>
      </p:sp>
      <p:sp>
        <p:nvSpPr>
          <p:cNvPr id="460" name="K"/>
          <p:cNvSpPr/>
          <p:nvPr/>
        </p:nvSpPr>
        <p:spPr>
          <a:xfrm>
            <a:off x="8467344" y="6140196"/>
            <a:ext cx="155448" cy="155448"/>
          </a:xfrm>
          <a:prstGeom prst="ellipse">
            <a:avLst/>
          </a:prstGeom>
          <a:solidFill>
            <a:srgbClr val="C8102E"/>
          </a:solidFill>
          <a:ln>
            <a:noFill/>
          </a:ln>
        </p:spPr>
      </p:sp>
      <p:sp>
        <p:nvSpPr>
          <p:cNvPr id="461" name="T"/>
          <p:cNvSpPr txBox="1"/>
          <p:nvPr/>
        </p:nvSpPr>
        <p:spPr>
          <a:xfrm>
            <a:off x="8677656" y="6080760"/>
            <a:ext cx="350000" cy="274320"/>
          </a:xfrm>
          <a:prstGeom prst="rect">
            <a:avLst/>
          </a:prstGeom>
          <a:noFill/>
        </p:spPr>
        <p:txBody>
          <a:bodyPr wrap="none" lIns="0" tIns="0" rIns="0" bIns="0" anchor="ctr"/>
          <a:lstStyle/>
          <a:p>
            <a:pPr algn="l">
              <a:buNone/>
            </a:pPr>
            <a:r>
              <a:rPr lang="id-ID" sz="750" dirty="0">
                <a:solidFill>
                  <a:srgbClr val="1A1A1A"/>
                </a:solidFill>
                <a:latin typeface="Roboto"/>
                <a:ea typeface="Roboto"/>
                <a:cs typeface="Roboto"/>
              </a:rPr>
              <a:t>ancaman</a:t>
            </a:r>
            <a:endParaRPr lang="id-ID" sz="750"/>
          </a:p>
        </p:txBody>
      </p:sp>
      <p:sp>
        <p:nvSpPr>
          <p:cNvPr id="462" name="K"/>
          <p:cNvSpPr/>
          <p:nvPr/>
        </p:nvSpPr>
        <p:spPr>
          <a:xfrm>
            <a:off x="9164816" y="6140196"/>
            <a:ext cx="155448" cy="155448"/>
          </a:xfrm>
          <a:prstGeom prst="ellipse">
            <a:avLst/>
          </a:prstGeom>
          <a:solidFill>
            <a:srgbClr val="5B7A99"/>
          </a:solidFill>
          <a:ln>
            <a:noFill/>
          </a:ln>
        </p:spPr>
      </p:sp>
      <p:sp>
        <p:nvSpPr>
          <p:cNvPr id="463" name="T"/>
          <p:cNvSpPr txBox="1"/>
          <p:nvPr/>
        </p:nvSpPr>
        <p:spPr>
          <a:xfrm>
            <a:off x="9375128" y="6080760"/>
            <a:ext cx="850000" cy="274320"/>
          </a:xfrm>
          <a:prstGeom prst="rect">
            <a:avLst/>
          </a:prstGeom>
          <a:noFill/>
        </p:spPr>
        <p:txBody>
          <a:bodyPr wrap="none" lIns="0" tIns="0" rIns="0" bIns="0" anchor="ctr"/>
          <a:lstStyle/>
          <a:p>
            <a:pPr algn="l">
              <a:buNone/>
            </a:pPr>
            <a:r>
              <a:rPr lang="id-ID" sz="750" dirty="0">
                <a:solidFill>
                  <a:srgbClr val="1A1A1A"/>
                </a:solidFill>
                <a:latin typeface="Roboto"/>
                <a:ea typeface="Roboto"/>
                <a:cs typeface="Roboto"/>
              </a:rPr>
              <a:t>kawasan dihindari</a:t>
            </a:r>
            <a:endParaRPr lang="id-ID" sz="750"/>
          </a:p>
        </p:txBody>
      </p:sp>
      <p:sp>
        <p:nvSpPr>
          <p:cNvPr id="464" name="K"/>
          <p:cNvSpPr/>
          <p:nvPr/>
        </p:nvSpPr>
        <p:spPr>
          <a:xfrm>
            <a:off x="10362288" y="6140196"/>
            <a:ext cx="155448" cy="155448"/>
          </a:xfrm>
          <a:prstGeom prst="ellipse">
            <a:avLst/>
          </a:prstGeom>
          <a:solidFill>
            <a:srgbClr val="051C2C"/>
          </a:solidFill>
          <a:ln>
            <a:noFill/>
          </a:ln>
        </p:spPr>
      </p:sp>
      <p:sp>
        <p:nvSpPr>
          <p:cNvPr id="465" name="T"/>
          <p:cNvSpPr txBox="1"/>
          <p:nvPr/>
        </p:nvSpPr>
        <p:spPr>
          <a:xfrm>
            <a:off x="10572600" y="6080760"/>
            <a:ext cx="350000" cy="274320"/>
          </a:xfrm>
          <a:prstGeom prst="rect">
            <a:avLst/>
          </a:prstGeom>
          <a:noFill/>
        </p:spPr>
        <p:txBody>
          <a:bodyPr wrap="none" lIns="0" tIns="0" rIns="0" bIns="0" anchor="ctr"/>
          <a:lstStyle/>
          <a:p>
            <a:pPr algn="l">
              <a:buNone/>
            </a:pPr>
            <a:r>
              <a:rPr lang="id-ID" sz="750" dirty="0">
                <a:solidFill>
                  <a:srgbClr val="1A1A1A"/>
                </a:solidFill>
                <a:latin typeface="Roboto"/>
                <a:ea typeface="Roboto"/>
                <a:cs typeface="Roboto"/>
              </a:rPr>
              <a:t>imbauan</a:t>
            </a:r>
            <a:endParaRPr lang="id-ID" sz="750"/>
          </a:p>
        </p:txBody>
      </p:sp>
      <p:sp>
        <p:nvSpPr>
          <p:cNvPr id="586" name="K"/>
          <p:cNvSpPr/>
          <p:nvPr/>
        </p:nvSpPr>
        <p:spPr>
          <a:xfrm>
            <a:off x="7534656" y="2514600"/>
            <a:ext cx="3980383" cy="1219200"/>
          </a:xfrm>
          <a:prstGeom prst="roundRect">
            <a:avLst>
              <a:gd name="adj" fmla="val 7381"/>
            </a:avLst>
          </a:prstGeom>
          <a:solidFill>
            <a:srgbClr val="F7F8FA"/>
          </a:solidFill>
          <a:ln>
            <a:noFill/>
          </a:ln>
        </p:spPr>
      </p:sp>
      <p:sp>
        <p:nvSpPr>
          <p:cNvPr id="587" name="K"/>
          <p:cNvSpPr/>
          <p:nvPr/>
        </p:nvSpPr>
        <p:spPr>
          <a:xfrm>
            <a:off x="7607808" y="2583688"/>
            <a:ext cx="182880" cy="182880"/>
          </a:xfrm>
          <a:prstGeom prst="ellipse">
            <a:avLst/>
          </a:prstGeom>
          <a:solidFill>
            <a:srgbClr val="D9600B"/>
          </a:solidFill>
          <a:ln>
            <a:noFill/>
          </a:ln>
        </p:spPr>
      </p:sp>
      <p:pic>
        <p:nvPicPr>
          <p:cNvPr id="588" name="G"/>
          <p:cNvPicPr>
            <a:picLocks noChangeAspect="1"/>
          </p:cNvPicPr>
          <p:nvPr/>
        </p:nvPicPr>
        <p:blipFill>
          <a:blip r:embed="rIdM16"/>
          <a:stretch>
            <a:fillRect/>
          </a:stretch>
        </p:blipFill>
        <p:spPr>
          <a:xfrm>
            <a:off x="7639812" y="2615692"/>
            <a:ext cx="118872" cy="118872"/>
          </a:xfrm>
          <a:prstGeom prst="rect">
            <a:avLst/>
          </a:prstGeom>
        </p:spPr>
      </p:pic>
      <p:sp>
        <p:nvSpPr>
          <p:cNvPr id="589" name="T"/>
          <p:cNvSpPr txBox="1"/>
          <p:nvPr/>
        </p:nvSpPr>
        <p:spPr>
          <a:xfrm>
            <a:off x="7854696" y="2574544"/>
            <a:ext cx="2880383" cy="201168"/>
          </a:xfrm>
          <a:prstGeom prst="rect">
            <a:avLst/>
          </a:prstGeom>
          <a:noFill/>
        </p:spPr>
        <p:txBody>
          <a:bodyPr wrap="none" lIns="0" tIns="0" rIns="0" bIns="0" anchor="ctr"/>
          <a:lstStyle/>
          <a:p>
            <a:pPr algn="l">
              <a:buNone/>
            </a:pPr>
            <a:r>
              <a:rPr lang="id-ID" sz="950" b="1" dirty="0">
                <a:solidFill>
                  <a:srgbClr val="1A1A1A"/>
                </a:solidFill>
                <a:latin typeface="Roboto"/>
                <a:ea typeface="Roboto"/>
                <a:cs typeface="Roboto"/>
              </a:rPr>
              <a:t>Gn. Anak Krakatau</a:t>
            </a:r>
            <a:endParaRPr lang="id-ID" sz="950"/>
          </a:p>
        </p:txBody>
      </p:sp>
      <p:sp>
        <p:nvSpPr>
          <p:cNvPr id="590" name="K"/>
          <p:cNvSpPr/>
          <p:nvPr/>
        </p:nvSpPr>
        <p:spPr>
          <a:xfrm>
            <a:off x="10710367" y="2592832"/>
            <a:ext cx="731520" cy="164592"/>
          </a:xfrm>
          <a:prstGeom prst="roundRect">
            <a:avLst>
              <a:gd name="adj" fmla="val 50000"/>
            </a:avLst>
          </a:prstGeom>
          <a:solidFill>
            <a:srgbClr val="FBE7D6"/>
          </a:solidFill>
          <a:ln>
            <a:noFill/>
          </a:ln>
        </p:spPr>
      </p:sp>
      <p:sp>
        <p:nvSpPr>
          <p:cNvPr id="591" name="T"/>
          <p:cNvSpPr txBox="1"/>
          <p:nvPr/>
        </p:nvSpPr>
        <p:spPr>
          <a:xfrm>
            <a:off x="10710367" y="2592832"/>
            <a:ext cx="731520" cy="164592"/>
          </a:xfrm>
          <a:prstGeom prst="rect">
            <a:avLst/>
          </a:prstGeom>
          <a:noFill/>
        </p:spPr>
        <p:txBody>
          <a:bodyPr wrap="square" lIns="0" tIns="0" rIns="0" bIns="0" anchor="ctr"/>
          <a:lstStyle/>
          <a:p>
            <a:pPr algn="ctr">
              <a:buNone/>
            </a:pPr>
            <a:r>
              <a:rPr lang="id-ID" sz="700" b="1" dirty="0">
                <a:solidFill>
                  <a:srgbClr val="D9600B"/>
                </a:solidFill>
                <a:latin typeface="Roboto"/>
                <a:ea typeface="Roboto"/>
                <a:cs typeface="Roboto"/>
              </a:rPr>
              <a:t>Siaga  Level III</a:t>
            </a:r>
            <a:endParaRPr lang="id-ID" sz="620"/>
          </a:p>
        </p:txBody>
      </p:sp>
      <p:sp>
        <p:nvSpPr>
          <p:cNvPr id="592" name="K"/>
          <p:cNvSpPr/>
          <p:nvPr/>
        </p:nvSpPr>
        <p:spPr>
          <a:xfrm>
            <a:off x="7607808" y="2826512"/>
            <a:ext cx="1092000" cy="164592"/>
          </a:xfrm>
          <a:prstGeom prst="roundRect">
            <a:avLst>
              <a:gd name="adj" fmla="val 50000"/>
            </a:avLst>
          </a:prstGeom>
          <a:solidFill>
            <a:srgbClr val="FFFFFF"/>
          </a:solidFill>
          <a:ln w="9525">
            <a:solidFill>
              <a:srgbClr val="F2C9A8"/>
            </a:solidFill>
          </a:ln>
        </p:spPr>
      </p:sp>
      <p:pic>
        <p:nvPicPr>
          <p:cNvPr id="593" name="G"/>
          <p:cNvPicPr>
            <a:picLocks noChangeAspect="1"/>
          </p:cNvPicPr>
          <p:nvPr/>
        </p:nvPicPr>
        <p:blipFill>
          <a:blip r:embed="rIdM23"/>
          <a:stretch>
            <a:fillRect/>
          </a:stretch>
        </p:blipFill>
        <p:spPr>
          <a:xfrm>
            <a:off x="7653528" y="2853944"/>
            <a:ext cx="109728" cy="109728"/>
          </a:xfrm>
          <a:prstGeom prst="rect">
            <a:avLst/>
          </a:prstGeom>
        </p:spPr>
      </p:pic>
      <p:sp>
        <p:nvSpPr>
          <p:cNvPr id="594" name="T"/>
          <p:cNvSpPr txBox="1"/>
          <p:nvPr/>
        </p:nvSpPr>
        <p:spPr>
          <a:xfrm>
            <a:off x="7799832" y="2826512"/>
            <a:ext cx="882000" cy="164592"/>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5 km</a:t>
            </a:r>
            <a:r>
              <a:rPr lang="id-ID" sz="700" dirty="0">
                <a:solidFill>
                  <a:srgbClr val="2E3440"/>
                </a:solidFill>
                <a:latin typeface="Roboto"/>
                <a:ea typeface="Roboto"/>
                <a:cs typeface="Roboto"/>
              </a:rPr>
              <a:t>  radius bahaya</a:t>
            </a:r>
            <a:endParaRPr lang="id-ID" sz="700"/>
          </a:p>
        </p:txBody>
      </p:sp>
      <p:sp>
        <p:nvSpPr>
          <p:cNvPr id="559" name="K"/>
          <p:cNvSpPr/>
          <p:nvPr/>
        </p:nvSpPr>
        <p:spPr>
          <a:xfrm>
            <a:off x="7607808" y="3074416"/>
            <a:ext cx="696480" cy="155448"/>
          </a:xfrm>
          <a:prstGeom prst="roundRect">
            <a:avLst>
              <a:gd name="adj" fmla="val 50000"/>
            </a:avLst>
          </a:prstGeom>
          <a:solidFill>
            <a:srgbClr val="F8DDE0"/>
          </a:solidFill>
          <a:ln>
            <a:noFill/>
          </a:ln>
        </p:spPr>
      </p:sp>
      <p:pic>
        <p:nvPicPr>
          <p:cNvPr id="560" name="G"/>
          <p:cNvPicPr>
            <a:picLocks noChangeAspect="1"/>
          </p:cNvPicPr>
          <p:nvPr/>
        </p:nvPicPr>
        <p:blipFill>
          <a:blip r:embed="rIdM17"/>
          <a:stretch>
            <a:fillRect/>
          </a:stretch>
        </p:blipFill>
        <p:spPr>
          <a:xfrm>
            <a:off x="7653528" y="3101848"/>
            <a:ext cx="100584" cy="100584"/>
          </a:xfrm>
          <a:prstGeom prst="rect">
            <a:avLst/>
          </a:prstGeom>
        </p:spPr>
      </p:pic>
      <p:sp>
        <p:nvSpPr>
          <p:cNvPr id="561" name="T"/>
          <p:cNvSpPr txBox="1"/>
          <p:nvPr/>
        </p:nvSpPr>
        <p:spPr>
          <a:xfrm>
            <a:off x="7790688" y="3074416"/>
            <a:ext cx="49531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Aliran lava</a:t>
            </a:r>
            <a:endParaRPr lang="id-ID" sz="620"/>
          </a:p>
        </p:txBody>
      </p:sp>
      <p:sp>
        <p:nvSpPr>
          <p:cNvPr id="562" name="K"/>
          <p:cNvSpPr/>
          <p:nvPr/>
        </p:nvSpPr>
        <p:spPr>
          <a:xfrm>
            <a:off x="8350008" y="3074416"/>
            <a:ext cx="1013920" cy="155448"/>
          </a:xfrm>
          <a:prstGeom prst="roundRect">
            <a:avLst>
              <a:gd name="adj" fmla="val 50000"/>
            </a:avLst>
          </a:prstGeom>
          <a:solidFill>
            <a:srgbClr val="F8DDE0"/>
          </a:solidFill>
          <a:ln>
            <a:noFill/>
          </a:ln>
        </p:spPr>
      </p:sp>
      <p:pic>
        <p:nvPicPr>
          <p:cNvPr id="563" name="G"/>
          <p:cNvPicPr>
            <a:picLocks noChangeAspect="1"/>
          </p:cNvPicPr>
          <p:nvPr/>
        </p:nvPicPr>
        <p:blipFill>
          <a:blip r:embed="rIdM17"/>
          <a:stretch>
            <a:fillRect/>
          </a:stretch>
        </p:blipFill>
        <p:spPr>
          <a:xfrm>
            <a:off x="8395728" y="3101848"/>
            <a:ext cx="100584" cy="100584"/>
          </a:xfrm>
          <a:prstGeom prst="rect">
            <a:avLst/>
          </a:prstGeom>
        </p:spPr>
      </p:pic>
      <p:sp>
        <p:nvSpPr>
          <p:cNvPr id="564" name="T"/>
          <p:cNvSpPr txBox="1"/>
          <p:nvPr/>
        </p:nvSpPr>
        <p:spPr>
          <a:xfrm>
            <a:off x="8532888" y="3074416"/>
            <a:ext cx="81275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Lontaran batu pijar</a:t>
            </a:r>
            <a:endParaRPr lang="id-ID" sz="620"/>
          </a:p>
        </p:txBody>
      </p:sp>
      <p:sp>
        <p:nvSpPr>
          <p:cNvPr id="565" name="K"/>
          <p:cNvSpPr/>
          <p:nvPr/>
        </p:nvSpPr>
        <p:spPr>
          <a:xfrm>
            <a:off x="9409648" y="3074416"/>
            <a:ext cx="617120" cy="155448"/>
          </a:xfrm>
          <a:prstGeom prst="roundRect">
            <a:avLst>
              <a:gd name="adj" fmla="val 50000"/>
            </a:avLst>
          </a:prstGeom>
          <a:solidFill>
            <a:srgbClr val="F8DDE0"/>
          </a:solidFill>
          <a:ln>
            <a:noFill/>
          </a:ln>
        </p:spPr>
      </p:sp>
      <p:pic>
        <p:nvPicPr>
          <p:cNvPr id="566" name="G"/>
          <p:cNvPicPr>
            <a:picLocks noChangeAspect="1"/>
          </p:cNvPicPr>
          <p:nvPr/>
        </p:nvPicPr>
        <p:blipFill>
          <a:blip r:embed="rIdM17"/>
          <a:stretch>
            <a:fillRect/>
          </a:stretch>
        </p:blipFill>
        <p:spPr>
          <a:xfrm>
            <a:off x="9455368" y="3101848"/>
            <a:ext cx="100584" cy="100584"/>
          </a:xfrm>
          <a:prstGeom prst="rect">
            <a:avLst/>
          </a:prstGeom>
        </p:spPr>
      </p:pic>
      <p:sp>
        <p:nvSpPr>
          <p:cNvPr id="567" name="T"/>
          <p:cNvSpPr txBox="1"/>
          <p:nvPr/>
        </p:nvSpPr>
        <p:spPr>
          <a:xfrm>
            <a:off x="9592528" y="3074416"/>
            <a:ext cx="41595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Hujan abu</a:t>
            </a:r>
            <a:endParaRPr lang="id-ID" sz="620"/>
          </a:p>
        </p:txBody>
      </p:sp>
      <p:sp>
        <p:nvSpPr>
          <p:cNvPr id="568" name="K"/>
          <p:cNvSpPr/>
          <p:nvPr/>
        </p:nvSpPr>
        <p:spPr>
          <a:xfrm>
            <a:off x="10072488" y="3074416"/>
            <a:ext cx="855200" cy="155448"/>
          </a:xfrm>
          <a:prstGeom prst="roundRect">
            <a:avLst>
              <a:gd name="adj" fmla="val 50000"/>
            </a:avLst>
          </a:prstGeom>
          <a:solidFill>
            <a:srgbClr val="F8DDE0"/>
          </a:solidFill>
          <a:ln>
            <a:noFill/>
          </a:ln>
        </p:spPr>
      </p:sp>
      <p:pic>
        <p:nvPicPr>
          <p:cNvPr id="569" name="G"/>
          <p:cNvPicPr>
            <a:picLocks noChangeAspect="1"/>
          </p:cNvPicPr>
          <p:nvPr/>
        </p:nvPicPr>
        <p:blipFill>
          <a:blip r:embed="rIdM17"/>
          <a:stretch>
            <a:fillRect/>
          </a:stretch>
        </p:blipFill>
        <p:spPr>
          <a:xfrm>
            <a:off x="10118208" y="3101848"/>
            <a:ext cx="100584" cy="100584"/>
          </a:xfrm>
          <a:prstGeom prst="rect">
            <a:avLst/>
          </a:prstGeom>
        </p:spPr>
      </p:pic>
      <p:sp>
        <p:nvSpPr>
          <p:cNvPr id="570" name="T"/>
          <p:cNvSpPr txBox="1"/>
          <p:nvPr/>
        </p:nvSpPr>
        <p:spPr>
          <a:xfrm>
            <a:off x="10255368" y="3074416"/>
            <a:ext cx="65403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Erupsi sekunder</a:t>
            </a:r>
            <a:endParaRPr lang="id-ID" sz="620"/>
          </a:p>
        </p:txBody>
      </p:sp>
      <p:sp>
        <p:nvSpPr>
          <p:cNvPr id="571" name="K"/>
          <p:cNvSpPr/>
          <p:nvPr/>
        </p:nvSpPr>
        <p:spPr>
          <a:xfrm>
            <a:off x="7607808" y="3275584"/>
            <a:ext cx="775840" cy="155448"/>
          </a:xfrm>
          <a:prstGeom prst="roundRect">
            <a:avLst>
              <a:gd name="adj" fmla="val 50000"/>
            </a:avLst>
          </a:prstGeom>
          <a:solidFill>
            <a:srgbClr val="E3EAF1"/>
          </a:solidFill>
          <a:ln>
            <a:noFill/>
          </a:ln>
        </p:spPr>
      </p:sp>
      <p:pic>
        <p:nvPicPr>
          <p:cNvPr id="572" name="G"/>
          <p:cNvPicPr>
            <a:picLocks noChangeAspect="1"/>
          </p:cNvPicPr>
          <p:nvPr/>
        </p:nvPicPr>
        <p:blipFill>
          <a:blip r:embed="rIdM21"/>
          <a:stretch>
            <a:fillRect/>
          </a:stretch>
        </p:blipFill>
        <p:spPr>
          <a:xfrm>
            <a:off x="7653528" y="3303016"/>
            <a:ext cx="100584" cy="100584"/>
          </a:xfrm>
          <a:prstGeom prst="rect">
            <a:avLst/>
          </a:prstGeom>
        </p:spPr>
      </p:pic>
      <p:sp>
        <p:nvSpPr>
          <p:cNvPr id="573" name="T"/>
          <p:cNvSpPr txBox="1"/>
          <p:nvPr/>
        </p:nvSpPr>
        <p:spPr>
          <a:xfrm>
            <a:off x="7790688" y="3275584"/>
            <a:ext cx="574672" cy="155448"/>
          </a:xfrm>
          <a:prstGeom prst="rect">
            <a:avLst/>
          </a:prstGeom>
          <a:noFill/>
        </p:spPr>
        <p:txBody>
          <a:bodyPr wrap="none" lIns="0" tIns="0" rIns="0" bIns="0" anchor="ctr"/>
          <a:lstStyle/>
          <a:p>
            <a:pPr algn="l">
              <a:buNone/>
            </a:pPr>
            <a:r>
              <a:rPr lang="id-ID" sz="700" b="1" dirty="0">
                <a:solidFill>
                  <a:srgbClr val="5B7A99"/>
                </a:solidFill>
                <a:latin typeface="Roboto"/>
                <a:ea typeface="Roboto"/>
                <a:cs typeface="Roboto"/>
              </a:rPr>
              <a:t>Sektor BL, Tg</a:t>
            </a:r>
            <a:endParaRPr lang="id-ID" sz="620"/>
          </a:p>
        </p:txBody>
      </p:sp>
      <p:sp>
        <p:nvSpPr>
          <p:cNvPr id="574" name="K"/>
          <p:cNvSpPr/>
          <p:nvPr/>
        </p:nvSpPr>
        <p:spPr>
          <a:xfrm>
            <a:off x="8429368" y="3275584"/>
            <a:ext cx="1410720" cy="155448"/>
          </a:xfrm>
          <a:prstGeom prst="roundRect">
            <a:avLst>
              <a:gd name="adj" fmla="val 50000"/>
            </a:avLst>
          </a:prstGeom>
          <a:solidFill>
            <a:srgbClr val="E3EAF1"/>
          </a:solidFill>
          <a:ln>
            <a:noFill/>
          </a:ln>
        </p:spPr>
      </p:sp>
      <p:pic>
        <p:nvPicPr>
          <p:cNvPr id="575" name="G"/>
          <p:cNvPicPr>
            <a:picLocks noChangeAspect="1"/>
          </p:cNvPicPr>
          <p:nvPr/>
        </p:nvPicPr>
        <p:blipFill>
          <a:blip r:embed="rIdM21"/>
          <a:stretch>
            <a:fillRect/>
          </a:stretch>
        </p:blipFill>
        <p:spPr>
          <a:xfrm>
            <a:off x="8475088" y="3303016"/>
            <a:ext cx="100584" cy="100584"/>
          </a:xfrm>
          <a:prstGeom prst="rect">
            <a:avLst/>
          </a:prstGeom>
        </p:spPr>
      </p:pic>
      <p:sp>
        <p:nvSpPr>
          <p:cNvPr id="576" name="T"/>
          <p:cNvSpPr txBox="1"/>
          <p:nvPr/>
        </p:nvSpPr>
        <p:spPr>
          <a:xfrm>
            <a:off x="8612248" y="3275584"/>
            <a:ext cx="1209552" cy="155448"/>
          </a:xfrm>
          <a:prstGeom prst="rect">
            <a:avLst/>
          </a:prstGeom>
          <a:noFill/>
        </p:spPr>
        <p:txBody>
          <a:bodyPr wrap="none" lIns="0" tIns="0" rIns="0" bIns="0" anchor="ctr"/>
          <a:lstStyle/>
          <a:p>
            <a:pPr algn="l">
              <a:buNone/>
            </a:pPr>
            <a:r>
              <a:rPr lang="id-ID" sz="700" b="1" dirty="0">
                <a:solidFill>
                  <a:srgbClr val="5B7A99"/>
                </a:solidFill>
                <a:latin typeface="Roboto"/>
                <a:ea typeface="Roboto"/>
                <a:cs typeface="Roboto"/>
              </a:rPr>
              <a:t>1 km dari pulau baru (BL, Tg)</a:t>
            </a:r>
            <a:endParaRPr lang="id-ID" sz="620"/>
          </a:p>
        </p:txBody>
      </p:sp>
      <p:sp>
        <p:nvSpPr>
          <p:cNvPr id="577" name="K"/>
          <p:cNvSpPr/>
          <p:nvPr/>
        </p:nvSpPr>
        <p:spPr>
          <a:xfrm>
            <a:off x="9885808" y="3275584"/>
            <a:ext cx="1410720" cy="155448"/>
          </a:xfrm>
          <a:prstGeom prst="roundRect">
            <a:avLst>
              <a:gd name="adj" fmla="val 50000"/>
            </a:avLst>
          </a:prstGeom>
          <a:solidFill>
            <a:srgbClr val="E6EAF0"/>
          </a:solidFill>
          <a:ln>
            <a:noFill/>
          </a:ln>
        </p:spPr>
      </p:sp>
      <p:pic>
        <p:nvPicPr>
          <p:cNvPr id="578" name="G"/>
          <p:cNvPicPr>
            <a:picLocks noChangeAspect="1"/>
          </p:cNvPicPr>
          <p:nvPr/>
        </p:nvPicPr>
        <p:blipFill>
          <a:blip r:embed="rIdM22"/>
          <a:stretch>
            <a:fillRect/>
          </a:stretch>
        </p:blipFill>
        <p:spPr>
          <a:xfrm>
            <a:off x="9931528" y="3303016"/>
            <a:ext cx="100584" cy="100584"/>
          </a:xfrm>
          <a:prstGeom prst="rect">
            <a:avLst/>
          </a:prstGeom>
        </p:spPr>
      </p:pic>
      <p:sp>
        <p:nvSpPr>
          <p:cNvPr id="579" name="T"/>
          <p:cNvSpPr txBox="1"/>
          <p:nvPr/>
        </p:nvSpPr>
        <p:spPr>
          <a:xfrm>
            <a:off x="10068688" y="3275584"/>
            <a:ext cx="1209552" cy="155448"/>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Larangan wisata dan pendakian</a:t>
            </a:r>
            <a:endParaRPr lang="id-ID" sz="620"/>
          </a:p>
        </p:txBody>
      </p:sp>
      <p:sp>
        <p:nvSpPr>
          <p:cNvPr id="580" name="K"/>
          <p:cNvSpPr/>
          <p:nvPr/>
        </p:nvSpPr>
        <p:spPr>
          <a:xfrm>
            <a:off x="7607808" y="3476752"/>
            <a:ext cx="1013920" cy="155448"/>
          </a:xfrm>
          <a:prstGeom prst="roundRect">
            <a:avLst>
              <a:gd name="adj" fmla="val 50000"/>
            </a:avLst>
          </a:prstGeom>
          <a:solidFill>
            <a:srgbClr val="E6EAF0"/>
          </a:solidFill>
          <a:ln>
            <a:noFill/>
          </a:ln>
        </p:spPr>
      </p:sp>
      <p:pic>
        <p:nvPicPr>
          <p:cNvPr id="581" name="G"/>
          <p:cNvPicPr>
            <a:picLocks noChangeAspect="1"/>
          </p:cNvPicPr>
          <p:nvPr/>
        </p:nvPicPr>
        <p:blipFill>
          <a:blip r:embed="rIdM22"/>
          <a:stretch>
            <a:fillRect/>
          </a:stretch>
        </p:blipFill>
        <p:spPr>
          <a:xfrm>
            <a:off x="7653528" y="3504184"/>
            <a:ext cx="100584" cy="100584"/>
          </a:xfrm>
          <a:prstGeom prst="rect">
            <a:avLst/>
          </a:prstGeom>
        </p:spPr>
      </p:pic>
      <p:sp>
        <p:nvSpPr>
          <p:cNvPr id="582" name="T"/>
          <p:cNvSpPr txBox="1"/>
          <p:nvPr/>
        </p:nvSpPr>
        <p:spPr>
          <a:xfrm>
            <a:off x="7790688" y="3476752"/>
            <a:ext cx="812752" cy="155448"/>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Abaikan isu tsunami</a:t>
            </a:r>
            <a:endParaRPr lang="id-ID" sz="620"/>
          </a:p>
        </p:txBody>
      </p:sp>
      <p:sp>
        <p:nvSpPr>
          <p:cNvPr id="583" name="K"/>
          <p:cNvSpPr/>
          <p:nvPr/>
        </p:nvSpPr>
        <p:spPr>
          <a:xfrm>
            <a:off x="8667448" y="3476752"/>
            <a:ext cx="934560" cy="155448"/>
          </a:xfrm>
          <a:prstGeom prst="roundRect">
            <a:avLst>
              <a:gd name="adj" fmla="val 50000"/>
            </a:avLst>
          </a:prstGeom>
          <a:solidFill>
            <a:srgbClr val="E6EAF0"/>
          </a:solidFill>
          <a:ln>
            <a:noFill/>
          </a:ln>
        </p:spPr>
      </p:sp>
      <p:pic>
        <p:nvPicPr>
          <p:cNvPr id="584" name="G"/>
          <p:cNvPicPr>
            <a:picLocks noChangeAspect="1"/>
          </p:cNvPicPr>
          <p:nvPr/>
        </p:nvPicPr>
        <p:blipFill>
          <a:blip r:embed="rIdM22"/>
          <a:stretch>
            <a:fillRect/>
          </a:stretch>
        </p:blipFill>
        <p:spPr>
          <a:xfrm>
            <a:off x="8713168" y="3504184"/>
            <a:ext cx="100584" cy="100584"/>
          </a:xfrm>
          <a:prstGeom prst="rect">
            <a:avLst/>
          </a:prstGeom>
        </p:spPr>
      </p:pic>
      <p:sp>
        <p:nvSpPr>
          <p:cNvPr id="585" name="T"/>
          <p:cNvSpPr txBox="1"/>
          <p:nvPr/>
        </p:nvSpPr>
        <p:spPr>
          <a:xfrm>
            <a:off x="8850328" y="3476752"/>
            <a:ext cx="733392" cy="155448"/>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Ikuti arahan BPBD</a:t>
            </a:r>
            <a:endParaRPr lang="id-ID" sz="620"/>
          </a:p>
        </p:txBody>
      </p:sp>
      <p:sp>
        <p:nvSpPr>
          <p:cNvPr id="610" name="K"/>
          <p:cNvSpPr/>
          <p:nvPr/>
        </p:nvSpPr>
        <p:spPr>
          <a:xfrm>
            <a:off x="7534656" y="3806952"/>
            <a:ext cx="3980383" cy="1018032"/>
          </a:xfrm>
          <a:prstGeom prst="roundRect">
            <a:avLst>
              <a:gd name="adj" fmla="val 8840"/>
            </a:avLst>
          </a:prstGeom>
          <a:solidFill>
            <a:srgbClr val="F7F8FA"/>
          </a:solidFill>
          <a:ln>
            <a:noFill/>
          </a:ln>
        </p:spPr>
      </p:sp>
      <p:sp>
        <p:nvSpPr>
          <p:cNvPr id="611" name="K"/>
          <p:cNvSpPr/>
          <p:nvPr/>
        </p:nvSpPr>
        <p:spPr>
          <a:xfrm>
            <a:off x="7607808" y="3876040"/>
            <a:ext cx="182880" cy="182880"/>
          </a:xfrm>
          <a:prstGeom prst="ellipse">
            <a:avLst/>
          </a:prstGeom>
          <a:solidFill>
            <a:srgbClr val="D9600B"/>
          </a:solidFill>
          <a:ln>
            <a:noFill/>
          </a:ln>
        </p:spPr>
      </p:sp>
      <p:pic>
        <p:nvPicPr>
          <p:cNvPr id="612" name="G"/>
          <p:cNvPicPr>
            <a:picLocks noChangeAspect="1"/>
          </p:cNvPicPr>
          <p:nvPr/>
        </p:nvPicPr>
        <p:blipFill>
          <a:blip r:embed="rIdM16"/>
          <a:stretch>
            <a:fillRect/>
          </a:stretch>
        </p:blipFill>
        <p:spPr>
          <a:xfrm>
            <a:off x="7639812" y="3908044"/>
            <a:ext cx="118872" cy="118872"/>
          </a:xfrm>
          <a:prstGeom prst="rect">
            <a:avLst/>
          </a:prstGeom>
        </p:spPr>
      </p:pic>
      <p:sp>
        <p:nvSpPr>
          <p:cNvPr id="613" name="T"/>
          <p:cNvSpPr txBox="1"/>
          <p:nvPr/>
        </p:nvSpPr>
        <p:spPr>
          <a:xfrm>
            <a:off x="7854696" y="3866896"/>
            <a:ext cx="2880383" cy="201168"/>
          </a:xfrm>
          <a:prstGeom prst="rect">
            <a:avLst/>
          </a:prstGeom>
          <a:noFill/>
        </p:spPr>
        <p:txBody>
          <a:bodyPr wrap="none" lIns="0" tIns="0" rIns="0" bIns="0" anchor="ctr"/>
          <a:lstStyle/>
          <a:p>
            <a:pPr algn="l">
              <a:buNone/>
            </a:pPr>
            <a:r>
              <a:rPr lang="id-ID" sz="950" b="1" dirty="0">
                <a:solidFill>
                  <a:srgbClr val="1A1A1A"/>
                </a:solidFill>
                <a:latin typeface="Roboto"/>
                <a:ea typeface="Roboto"/>
                <a:cs typeface="Roboto"/>
              </a:rPr>
              <a:t>Gn. Merapi</a:t>
            </a:r>
            <a:endParaRPr lang="id-ID" sz="950"/>
          </a:p>
        </p:txBody>
      </p:sp>
      <p:sp>
        <p:nvSpPr>
          <p:cNvPr id="614" name="K"/>
          <p:cNvSpPr/>
          <p:nvPr/>
        </p:nvSpPr>
        <p:spPr>
          <a:xfrm>
            <a:off x="10710367" y="3885184"/>
            <a:ext cx="731520" cy="164592"/>
          </a:xfrm>
          <a:prstGeom prst="roundRect">
            <a:avLst>
              <a:gd name="adj" fmla="val 50000"/>
            </a:avLst>
          </a:prstGeom>
          <a:solidFill>
            <a:srgbClr val="FBE7D6"/>
          </a:solidFill>
          <a:ln>
            <a:noFill/>
          </a:ln>
        </p:spPr>
      </p:sp>
      <p:sp>
        <p:nvSpPr>
          <p:cNvPr id="615" name="T"/>
          <p:cNvSpPr txBox="1"/>
          <p:nvPr/>
        </p:nvSpPr>
        <p:spPr>
          <a:xfrm>
            <a:off x="10710367" y="3885184"/>
            <a:ext cx="731520" cy="164592"/>
          </a:xfrm>
          <a:prstGeom prst="rect">
            <a:avLst/>
          </a:prstGeom>
          <a:noFill/>
        </p:spPr>
        <p:txBody>
          <a:bodyPr wrap="square" lIns="0" tIns="0" rIns="0" bIns="0" anchor="ctr"/>
          <a:lstStyle/>
          <a:p>
            <a:pPr algn="ctr">
              <a:buNone/>
            </a:pPr>
            <a:r>
              <a:rPr lang="id-ID" sz="700" b="1" dirty="0">
                <a:solidFill>
                  <a:srgbClr val="D9600B"/>
                </a:solidFill>
                <a:latin typeface="Roboto"/>
                <a:ea typeface="Roboto"/>
                <a:cs typeface="Roboto"/>
              </a:rPr>
              <a:t>Siaga  Level III</a:t>
            </a:r>
            <a:endParaRPr lang="id-ID" sz="620"/>
          </a:p>
        </p:txBody>
      </p:sp>
      <p:sp>
        <p:nvSpPr>
          <p:cNvPr id="616" name="K"/>
          <p:cNvSpPr/>
          <p:nvPr/>
        </p:nvSpPr>
        <p:spPr>
          <a:xfrm>
            <a:off x="7607808" y="4118864"/>
            <a:ext cx="1092000" cy="164592"/>
          </a:xfrm>
          <a:prstGeom prst="roundRect">
            <a:avLst>
              <a:gd name="adj" fmla="val 50000"/>
            </a:avLst>
          </a:prstGeom>
          <a:solidFill>
            <a:srgbClr val="FFFFFF"/>
          </a:solidFill>
          <a:ln w="9525">
            <a:solidFill>
              <a:srgbClr val="F2C9A8"/>
            </a:solidFill>
          </a:ln>
        </p:spPr>
      </p:sp>
      <p:pic>
        <p:nvPicPr>
          <p:cNvPr id="617" name="G"/>
          <p:cNvPicPr>
            <a:picLocks noChangeAspect="1"/>
          </p:cNvPicPr>
          <p:nvPr/>
        </p:nvPicPr>
        <p:blipFill>
          <a:blip r:embed="rIdM23"/>
          <a:stretch>
            <a:fillRect/>
          </a:stretch>
        </p:blipFill>
        <p:spPr>
          <a:xfrm>
            <a:off x="7653528" y="4146296"/>
            <a:ext cx="109728" cy="109728"/>
          </a:xfrm>
          <a:prstGeom prst="rect">
            <a:avLst/>
          </a:prstGeom>
        </p:spPr>
      </p:pic>
      <p:sp>
        <p:nvSpPr>
          <p:cNvPr id="618" name="T"/>
          <p:cNvSpPr txBox="1"/>
          <p:nvPr/>
        </p:nvSpPr>
        <p:spPr>
          <a:xfrm>
            <a:off x="7799832" y="4118864"/>
            <a:ext cx="882000" cy="164592"/>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3 km</a:t>
            </a:r>
            <a:r>
              <a:rPr lang="id-ID" sz="700" dirty="0">
                <a:solidFill>
                  <a:srgbClr val="2E3440"/>
                </a:solidFill>
                <a:latin typeface="Roboto"/>
                <a:ea typeface="Roboto"/>
                <a:cs typeface="Roboto"/>
              </a:rPr>
              <a:t>  radius bahaya</a:t>
            </a:r>
            <a:endParaRPr lang="id-ID" sz="700"/>
          </a:p>
        </p:txBody>
      </p:sp>
      <p:sp>
        <p:nvSpPr>
          <p:cNvPr id="619" name="K"/>
          <p:cNvSpPr/>
          <p:nvPr/>
        </p:nvSpPr>
        <p:spPr>
          <a:xfrm>
            <a:off x="8745528" y="4118864"/>
            <a:ext cx="1136000" cy="164592"/>
          </a:xfrm>
          <a:prstGeom prst="roundRect">
            <a:avLst>
              <a:gd name="adj" fmla="val 50000"/>
            </a:avLst>
          </a:prstGeom>
          <a:solidFill>
            <a:srgbClr val="FFFFFF"/>
          </a:solidFill>
          <a:ln w="9525">
            <a:solidFill>
              <a:srgbClr val="F2C9A8"/>
            </a:solidFill>
          </a:ln>
        </p:spPr>
      </p:sp>
      <p:pic>
        <p:nvPicPr>
          <p:cNvPr id="620" name="G"/>
          <p:cNvPicPr>
            <a:picLocks noChangeAspect="1"/>
          </p:cNvPicPr>
          <p:nvPr/>
        </p:nvPicPr>
        <p:blipFill>
          <a:blip r:embed="rIdM24"/>
          <a:stretch>
            <a:fillRect/>
          </a:stretch>
        </p:blipFill>
        <p:spPr>
          <a:xfrm>
            <a:off x="8791248" y="4146296"/>
            <a:ext cx="109728" cy="109728"/>
          </a:xfrm>
          <a:prstGeom prst="rect">
            <a:avLst/>
          </a:prstGeom>
        </p:spPr>
      </p:pic>
      <p:sp>
        <p:nvSpPr>
          <p:cNvPr id="621" name="T"/>
          <p:cNvSpPr txBox="1"/>
          <p:nvPr/>
        </p:nvSpPr>
        <p:spPr>
          <a:xfrm>
            <a:off x="8937552" y="4118864"/>
            <a:ext cx="926000" cy="164592"/>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7 km</a:t>
            </a:r>
            <a:r>
              <a:rPr lang="id-ID" sz="700" dirty="0">
                <a:solidFill>
                  <a:srgbClr val="2E3440"/>
                </a:solidFill>
                <a:latin typeface="Roboto"/>
                <a:ea typeface="Roboto"/>
                <a:cs typeface="Roboto"/>
              </a:rPr>
              <a:t>  sektor terjauh</a:t>
            </a:r>
            <a:endParaRPr lang="id-ID" sz="700"/>
          </a:p>
        </p:txBody>
      </p:sp>
      <p:sp>
        <p:nvSpPr>
          <p:cNvPr id="595" name="K"/>
          <p:cNvSpPr/>
          <p:nvPr/>
        </p:nvSpPr>
        <p:spPr>
          <a:xfrm>
            <a:off x="7607808" y="4366768"/>
            <a:ext cx="656800" cy="155448"/>
          </a:xfrm>
          <a:prstGeom prst="roundRect">
            <a:avLst>
              <a:gd name="adj" fmla="val 50000"/>
            </a:avLst>
          </a:prstGeom>
          <a:solidFill>
            <a:srgbClr val="F8DDE0"/>
          </a:solidFill>
          <a:ln>
            <a:noFill/>
          </a:ln>
        </p:spPr>
      </p:sp>
      <p:pic>
        <p:nvPicPr>
          <p:cNvPr id="596" name="G"/>
          <p:cNvPicPr>
            <a:picLocks noChangeAspect="1"/>
          </p:cNvPicPr>
          <p:nvPr/>
        </p:nvPicPr>
        <p:blipFill>
          <a:blip r:embed="rIdM17"/>
          <a:stretch>
            <a:fillRect/>
          </a:stretch>
        </p:blipFill>
        <p:spPr>
          <a:xfrm>
            <a:off x="7653528" y="4394200"/>
            <a:ext cx="100584" cy="100584"/>
          </a:xfrm>
          <a:prstGeom prst="rect">
            <a:avLst/>
          </a:prstGeom>
        </p:spPr>
      </p:pic>
      <p:sp>
        <p:nvSpPr>
          <p:cNvPr id="597" name="T"/>
          <p:cNvSpPr txBox="1"/>
          <p:nvPr/>
        </p:nvSpPr>
        <p:spPr>
          <a:xfrm>
            <a:off x="7790688" y="4366768"/>
            <a:ext cx="45563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Awan panas</a:t>
            </a:r>
            <a:endParaRPr lang="id-ID" sz="620"/>
          </a:p>
        </p:txBody>
      </p:sp>
      <p:sp>
        <p:nvSpPr>
          <p:cNvPr id="598" name="K"/>
          <p:cNvSpPr/>
          <p:nvPr/>
        </p:nvSpPr>
        <p:spPr>
          <a:xfrm>
            <a:off x="8310328" y="4366768"/>
            <a:ext cx="736160" cy="155448"/>
          </a:xfrm>
          <a:prstGeom prst="roundRect">
            <a:avLst>
              <a:gd name="adj" fmla="val 50000"/>
            </a:avLst>
          </a:prstGeom>
          <a:solidFill>
            <a:srgbClr val="F8DDE0"/>
          </a:solidFill>
          <a:ln>
            <a:noFill/>
          </a:ln>
        </p:spPr>
      </p:sp>
      <p:pic>
        <p:nvPicPr>
          <p:cNvPr id="599" name="G"/>
          <p:cNvPicPr>
            <a:picLocks noChangeAspect="1"/>
          </p:cNvPicPr>
          <p:nvPr/>
        </p:nvPicPr>
        <p:blipFill>
          <a:blip r:embed="rIdM17"/>
          <a:stretch>
            <a:fillRect/>
          </a:stretch>
        </p:blipFill>
        <p:spPr>
          <a:xfrm>
            <a:off x="8356048" y="4394200"/>
            <a:ext cx="100584" cy="100584"/>
          </a:xfrm>
          <a:prstGeom prst="rect">
            <a:avLst/>
          </a:prstGeom>
        </p:spPr>
      </p:pic>
      <p:sp>
        <p:nvSpPr>
          <p:cNvPr id="600" name="T"/>
          <p:cNvSpPr txBox="1"/>
          <p:nvPr/>
        </p:nvSpPr>
        <p:spPr>
          <a:xfrm>
            <a:off x="8493208" y="4366768"/>
            <a:ext cx="53499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Guguran lava</a:t>
            </a:r>
            <a:endParaRPr lang="id-ID" sz="620"/>
          </a:p>
        </p:txBody>
      </p:sp>
      <p:sp>
        <p:nvSpPr>
          <p:cNvPr id="601" name="K"/>
          <p:cNvSpPr/>
          <p:nvPr/>
        </p:nvSpPr>
        <p:spPr>
          <a:xfrm>
            <a:off x="9092208" y="4366768"/>
            <a:ext cx="934560" cy="155448"/>
          </a:xfrm>
          <a:prstGeom prst="roundRect">
            <a:avLst>
              <a:gd name="adj" fmla="val 50000"/>
            </a:avLst>
          </a:prstGeom>
          <a:solidFill>
            <a:srgbClr val="F8DDE0"/>
          </a:solidFill>
          <a:ln>
            <a:noFill/>
          </a:ln>
        </p:spPr>
      </p:sp>
      <p:pic>
        <p:nvPicPr>
          <p:cNvPr id="602" name="G"/>
          <p:cNvPicPr>
            <a:picLocks noChangeAspect="1"/>
          </p:cNvPicPr>
          <p:nvPr/>
        </p:nvPicPr>
        <p:blipFill>
          <a:blip r:embed="rIdM17"/>
          <a:stretch>
            <a:fillRect/>
          </a:stretch>
        </p:blipFill>
        <p:spPr>
          <a:xfrm>
            <a:off x="9137928" y="4394200"/>
            <a:ext cx="100584" cy="100584"/>
          </a:xfrm>
          <a:prstGeom prst="rect">
            <a:avLst/>
          </a:prstGeom>
        </p:spPr>
      </p:pic>
      <p:sp>
        <p:nvSpPr>
          <p:cNvPr id="603" name="T"/>
          <p:cNvSpPr txBox="1"/>
          <p:nvPr/>
        </p:nvSpPr>
        <p:spPr>
          <a:xfrm>
            <a:off x="9275088" y="4366768"/>
            <a:ext cx="73339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Lontaran material</a:t>
            </a:r>
            <a:endParaRPr lang="id-ID" sz="620"/>
          </a:p>
        </p:txBody>
      </p:sp>
      <p:sp>
        <p:nvSpPr>
          <p:cNvPr id="604" name="K"/>
          <p:cNvSpPr/>
          <p:nvPr/>
        </p:nvSpPr>
        <p:spPr>
          <a:xfrm>
            <a:off x="10072488" y="4366768"/>
            <a:ext cx="855200" cy="155448"/>
          </a:xfrm>
          <a:prstGeom prst="roundRect">
            <a:avLst>
              <a:gd name="adj" fmla="val 50000"/>
            </a:avLst>
          </a:prstGeom>
          <a:solidFill>
            <a:srgbClr val="E3EAF1"/>
          </a:solidFill>
          <a:ln>
            <a:noFill/>
          </a:ln>
        </p:spPr>
      </p:sp>
      <p:pic>
        <p:nvPicPr>
          <p:cNvPr id="605" name="G"/>
          <p:cNvPicPr>
            <a:picLocks noChangeAspect="1"/>
          </p:cNvPicPr>
          <p:nvPr/>
        </p:nvPicPr>
        <p:blipFill>
          <a:blip r:embed="rIdM21"/>
          <a:stretch>
            <a:fillRect/>
          </a:stretch>
        </p:blipFill>
        <p:spPr>
          <a:xfrm>
            <a:off x="10118208" y="4394200"/>
            <a:ext cx="100584" cy="100584"/>
          </a:xfrm>
          <a:prstGeom prst="rect">
            <a:avLst/>
          </a:prstGeom>
        </p:spPr>
      </p:pic>
      <p:sp>
        <p:nvSpPr>
          <p:cNvPr id="606" name="T"/>
          <p:cNvSpPr txBox="1"/>
          <p:nvPr/>
        </p:nvSpPr>
        <p:spPr>
          <a:xfrm>
            <a:off x="10255368" y="4366768"/>
            <a:ext cx="654032" cy="155448"/>
          </a:xfrm>
          <a:prstGeom prst="rect">
            <a:avLst/>
          </a:prstGeom>
          <a:noFill/>
        </p:spPr>
        <p:txBody>
          <a:bodyPr wrap="none" lIns="0" tIns="0" rIns="0" bIns="0" anchor="ctr"/>
          <a:lstStyle/>
          <a:p>
            <a:pPr algn="l">
              <a:buNone/>
            </a:pPr>
            <a:r>
              <a:rPr lang="id-ID" sz="700" b="1" dirty="0">
                <a:solidFill>
                  <a:srgbClr val="5B7A99"/>
                </a:solidFill>
                <a:latin typeface="Roboto"/>
                <a:ea typeface="Roboto"/>
                <a:cs typeface="Roboto"/>
              </a:rPr>
              <a:t>Sektor S-BD, Tg</a:t>
            </a:r>
            <a:endParaRPr lang="id-ID" sz="620"/>
          </a:p>
        </p:txBody>
      </p:sp>
      <p:sp>
        <p:nvSpPr>
          <p:cNvPr id="607" name="K"/>
          <p:cNvSpPr/>
          <p:nvPr/>
        </p:nvSpPr>
        <p:spPr>
          <a:xfrm>
            <a:off x="7607808" y="4567936"/>
            <a:ext cx="2244000" cy="155448"/>
          </a:xfrm>
          <a:prstGeom prst="roundRect">
            <a:avLst>
              <a:gd name="adj" fmla="val 50000"/>
            </a:avLst>
          </a:prstGeom>
          <a:solidFill>
            <a:srgbClr val="E3EAF1"/>
          </a:solidFill>
          <a:ln>
            <a:noFill/>
          </a:ln>
        </p:spPr>
      </p:sp>
      <p:pic>
        <p:nvPicPr>
          <p:cNvPr id="608" name="G"/>
          <p:cNvPicPr>
            <a:picLocks noChangeAspect="1"/>
          </p:cNvPicPr>
          <p:nvPr/>
        </p:nvPicPr>
        <p:blipFill>
          <a:blip r:embed="rIdM21"/>
          <a:stretch>
            <a:fillRect/>
          </a:stretch>
        </p:blipFill>
        <p:spPr>
          <a:xfrm>
            <a:off x="7653528" y="4595368"/>
            <a:ext cx="100584" cy="100584"/>
          </a:xfrm>
          <a:prstGeom prst="rect">
            <a:avLst/>
          </a:prstGeom>
        </p:spPr>
      </p:pic>
      <p:sp>
        <p:nvSpPr>
          <p:cNvPr id="609" name="T"/>
          <p:cNvSpPr txBox="1"/>
          <p:nvPr/>
        </p:nvSpPr>
        <p:spPr>
          <a:xfrm>
            <a:off x="7790688" y="4567936"/>
            <a:ext cx="2042832" cy="155448"/>
          </a:xfrm>
          <a:prstGeom prst="rect">
            <a:avLst/>
          </a:prstGeom>
          <a:noFill/>
        </p:spPr>
        <p:txBody>
          <a:bodyPr wrap="none" lIns="0" tIns="0" rIns="0" bIns="0" anchor="ctr"/>
          <a:lstStyle/>
          <a:p>
            <a:pPr algn="l">
              <a:buNone/>
            </a:pPr>
            <a:r>
              <a:rPr lang="id-ID" sz="700" b="1" dirty="0">
                <a:solidFill>
                  <a:srgbClr val="5B7A99"/>
                </a:solidFill>
                <a:latin typeface="Roboto"/>
                <a:ea typeface="Roboto"/>
                <a:cs typeface="Roboto"/>
              </a:rPr>
              <a:t>Sungai Boyong, Bedog, Krasak, Bebeng, Woro, Gendol</a:t>
            </a:r>
            <a:endParaRPr lang="id-ID" sz="620"/>
          </a:p>
        </p:txBody>
      </p:sp>
      <p:sp>
        <p:nvSpPr>
          <p:cNvPr id="640" name="K"/>
          <p:cNvSpPr/>
          <p:nvPr/>
        </p:nvSpPr>
        <p:spPr>
          <a:xfrm>
            <a:off x="7534656" y="4898136"/>
            <a:ext cx="3980383" cy="1018032"/>
          </a:xfrm>
          <a:prstGeom prst="roundRect">
            <a:avLst>
              <a:gd name="adj" fmla="val 8840"/>
            </a:avLst>
          </a:prstGeom>
          <a:solidFill>
            <a:srgbClr val="F7F8FA"/>
          </a:solidFill>
          <a:ln>
            <a:noFill/>
          </a:ln>
        </p:spPr>
      </p:sp>
      <p:sp>
        <p:nvSpPr>
          <p:cNvPr id="641" name="K"/>
          <p:cNvSpPr/>
          <p:nvPr/>
        </p:nvSpPr>
        <p:spPr>
          <a:xfrm>
            <a:off x="7607808" y="4967224"/>
            <a:ext cx="182880" cy="182880"/>
          </a:xfrm>
          <a:prstGeom prst="ellipse">
            <a:avLst/>
          </a:prstGeom>
          <a:solidFill>
            <a:srgbClr val="D9600B"/>
          </a:solidFill>
          <a:ln>
            <a:noFill/>
          </a:ln>
        </p:spPr>
      </p:sp>
      <p:pic>
        <p:nvPicPr>
          <p:cNvPr id="642" name="G"/>
          <p:cNvPicPr>
            <a:picLocks noChangeAspect="1"/>
          </p:cNvPicPr>
          <p:nvPr/>
        </p:nvPicPr>
        <p:blipFill>
          <a:blip r:embed="rIdM16"/>
          <a:stretch>
            <a:fillRect/>
          </a:stretch>
        </p:blipFill>
        <p:spPr>
          <a:xfrm>
            <a:off x="7639812" y="4999228"/>
            <a:ext cx="118872" cy="118872"/>
          </a:xfrm>
          <a:prstGeom prst="rect">
            <a:avLst/>
          </a:prstGeom>
        </p:spPr>
      </p:pic>
      <p:sp>
        <p:nvSpPr>
          <p:cNvPr id="643" name="T"/>
          <p:cNvSpPr txBox="1"/>
          <p:nvPr/>
        </p:nvSpPr>
        <p:spPr>
          <a:xfrm>
            <a:off x="7854696" y="4958080"/>
            <a:ext cx="2880383" cy="201168"/>
          </a:xfrm>
          <a:prstGeom prst="rect">
            <a:avLst/>
          </a:prstGeom>
          <a:noFill/>
        </p:spPr>
        <p:txBody>
          <a:bodyPr wrap="none" lIns="0" tIns="0" rIns="0" bIns="0" anchor="ctr"/>
          <a:lstStyle/>
          <a:p>
            <a:pPr algn="l">
              <a:buNone/>
            </a:pPr>
            <a:r>
              <a:rPr lang="id-ID" sz="950" b="1" dirty="0">
                <a:solidFill>
                  <a:srgbClr val="1A1A1A"/>
                </a:solidFill>
                <a:latin typeface="Roboto"/>
                <a:ea typeface="Roboto"/>
                <a:cs typeface="Roboto"/>
              </a:rPr>
              <a:t>Gn. Semeru</a:t>
            </a:r>
            <a:endParaRPr lang="id-ID" sz="950"/>
          </a:p>
        </p:txBody>
      </p:sp>
      <p:sp>
        <p:nvSpPr>
          <p:cNvPr id="644" name="K"/>
          <p:cNvSpPr/>
          <p:nvPr/>
        </p:nvSpPr>
        <p:spPr>
          <a:xfrm>
            <a:off x="10710367" y="4976368"/>
            <a:ext cx="731520" cy="164592"/>
          </a:xfrm>
          <a:prstGeom prst="roundRect">
            <a:avLst>
              <a:gd name="adj" fmla="val 50000"/>
            </a:avLst>
          </a:prstGeom>
          <a:solidFill>
            <a:srgbClr val="FBE7D6"/>
          </a:solidFill>
          <a:ln>
            <a:noFill/>
          </a:ln>
        </p:spPr>
      </p:sp>
      <p:sp>
        <p:nvSpPr>
          <p:cNvPr id="645" name="T"/>
          <p:cNvSpPr txBox="1"/>
          <p:nvPr/>
        </p:nvSpPr>
        <p:spPr>
          <a:xfrm>
            <a:off x="10710367" y="4976368"/>
            <a:ext cx="731520" cy="164592"/>
          </a:xfrm>
          <a:prstGeom prst="rect">
            <a:avLst/>
          </a:prstGeom>
          <a:noFill/>
        </p:spPr>
        <p:txBody>
          <a:bodyPr wrap="square" lIns="0" tIns="0" rIns="0" bIns="0" anchor="ctr"/>
          <a:lstStyle/>
          <a:p>
            <a:pPr algn="ctr">
              <a:buNone/>
            </a:pPr>
            <a:r>
              <a:rPr lang="id-ID" sz="700" b="1" dirty="0">
                <a:solidFill>
                  <a:srgbClr val="D9600B"/>
                </a:solidFill>
                <a:latin typeface="Roboto"/>
                <a:ea typeface="Roboto"/>
                <a:cs typeface="Roboto"/>
              </a:rPr>
              <a:t>Siaga  Level III</a:t>
            </a:r>
            <a:endParaRPr lang="id-ID" sz="620"/>
          </a:p>
        </p:txBody>
      </p:sp>
      <p:sp>
        <p:nvSpPr>
          <p:cNvPr id="646" name="K"/>
          <p:cNvSpPr/>
          <p:nvPr/>
        </p:nvSpPr>
        <p:spPr>
          <a:xfrm>
            <a:off x="7607808" y="5210048"/>
            <a:ext cx="1092000" cy="164592"/>
          </a:xfrm>
          <a:prstGeom prst="roundRect">
            <a:avLst>
              <a:gd name="adj" fmla="val 50000"/>
            </a:avLst>
          </a:prstGeom>
          <a:solidFill>
            <a:srgbClr val="FFFFFF"/>
          </a:solidFill>
          <a:ln w="9525">
            <a:solidFill>
              <a:srgbClr val="F2C9A8"/>
            </a:solidFill>
          </a:ln>
        </p:spPr>
      </p:sp>
      <p:pic>
        <p:nvPicPr>
          <p:cNvPr id="647" name="G"/>
          <p:cNvPicPr>
            <a:picLocks noChangeAspect="1"/>
          </p:cNvPicPr>
          <p:nvPr/>
        </p:nvPicPr>
        <p:blipFill>
          <a:blip r:embed="rIdM23"/>
          <a:stretch>
            <a:fillRect/>
          </a:stretch>
        </p:blipFill>
        <p:spPr>
          <a:xfrm>
            <a:off x="7653528" y="5237480"/>
            <a:ext cx="109728" cy="109728"/>
          </a:xfrm>
          <a:prstGeom prst="rect">
            <a:avLst/>
          </a:prstGeom>
        </p:spPr>
      </p:pic>
      <p:sp>
        <p:nvSpPr>
          <p:cNvPr id="648" name="T"/>
          <p:cNvSpPr txBox="1"/>
          <p:nvPr/>
        </p:nvSpPr>
        <p:spPr>
          <a:xfrm>
            <a:off x="7799832" y="5210048"/>
            <a:ext cx="882000" cy="164592"/>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5 km</a:t>
            </a:r>
            <a:r>
              <a:rPr lang="id-ID" sz="700" dirty="0">
                <a:solidFill>
                  <a:srgbClr val="2E3440"/>
                </a:solidFill>
                <a:latin typeface="Roboto"/>
                <a:ea typeface="Roboto"/>
                <a:cs typeface="Roboto"/>
              </a:rPr>
              <a:t>  radius bahaya</a:t>
            </a:r>
            <a:endParaRPr lang="id-ID" sz="700"/>
          </a:p>
        </p:txBody>
      </p:sp>
      <p:sp>
        <p:nvSpPr>
          <p:cNvPr id="649" name="K"/>
          <p:cNvSpPr/>
          <p:nvPr/>
        </p:nvSpPr>
        <p:spPr>
          <a:xfrm>
            <a:off x="8745528" y="5210048"/>
            <a:ext cx="1180000" cy="164592"/>
          </a:xfrm>
          <a:prstGeom prst="roundRect">
            <a:avLst>
              <a:gd name="adj" fmla="val 50000"/>
            </a:avLst>
          </a:prstGeom>
          <a:solidFill>
            <a:srgbClr val="FFFFFF"/>
          </a:solidFill>
          <a:ln w="9525">
            <a:solidFill>
              <a:srgbClr val="F2C9A8"/>
            </a:solidFill>
          </a:ln>
        </p:spPr>
      </p:sp>
      <p:pic>
        <p:nvPicPr>
          <p:cNvPr id="650" name="G"/>
          <p:cNvPicPr>
            <a:picLocks noChangeAspect="1"/>
          </p:cNvPicPr>
          <p:nvPr/>
        </p:nvPicPr>
        <p:blipFill>
          <a:blip r:embed="rIdM24"/>
          <a:stretch>
            <a:fillRect/>
          </a:stretch>
        </p:blipFill>
        <p:spPr>
          <a:xfrm>
            <a:off x="8791248" y="5237480"/>
            <a:ext cx="109728" cy="109728"/>
          </a:xfrm>
          <a:prstGeom prst="rect">
            <a:avLst/>
          </a:prstGeom>
        </p:spPr>
      </p:pic>
      <p:sp>
        <p:nvSpPr>
          <p:cNvPr id="651" name="T"/>
          <p:cNvSpPr txBox="1"/>
          <p:nvPr/>
        </p:nvSpPr>
        <p:spPr>
          <a:xfrm>
            <a:off x="8937552" y="5210048"/>
            <a:ext cx="970000" cy="164592"/>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13 km</a:t>
            </a:r>
            <a:r>
              <a:rPr lang="id-ID" sz="700" dirty="0">
                <a:solidFill>
                  <a:srgbClr val="2E3440"/>
                </a:solidFill>
                <a:latin typeface="Roboto"/>
                <a:ea typeface="Roboto"/>
                <a:cs typeface="Roboto"/>
              </a:rPr>
              <a:t>  sektor terjauh</a:t>
            </a:r>
            <a:endParaRPr lang="id-ID" sz="700"/>
          </a:p>
        </p:txBody>
      </p:sp>
      <p:sp>
        <p:nvSpPr>
          <p:cNvPr id="622" name="K"/>
          <p:cNvSpPr/>
          <p:nvPr/>
        </p:nvSpPr>
        <p:spPr>
          <a:xfrm>
            <a:off x="7607808" y="5457952"/>
            <a:ext cx="656800" cy="155448"/>
          </a:xfrm>
          <a:prstGeom prst="roundRect">
            <a:avLst>
              <a:gd name="adj" fmla="val 50000"/>
            </a:avLst>
          </a:prstGeom>
          <a:solidFill>
            <a:srgbClr val="F8DDE0"/>
          </a:solidFill>
          <a:ln>
            <a:noFill/>
          </a:ln>
        </p:spPr>
      </p:sp>
      <p:pic>
        <p:nvPicPr>
          <p:cNvPr id="623" name="G"/>
          <p:cNvPicPr>
            <a:picLocks noChangeAspect="1"/>
          </p:cNvPicPr>
          <p:nvPr/>
        </p:nvPicPr>
        <p:blipFill>
          <a:blip r:embed="rIdM17"/>
          <a:stretch>
            <a:fillRect/>
          </a:stretch>
        </p:blipFill>
        <p:spPr>
          <a:xfrm>
            <a:off x="7653528" y="5485384"/>
            <a:ext cx="100584" cy="100584"/>
          </a:xfrm>
          <a:prstGeom prst="rect">
            <a:avLst/>
          </a:prstGeom>
        </p:spPr>
      </p:pic>
      <p:sp>
        <p:nvSpPr>
          <p:cNvPr id="624" name="T"/>
          <p:cNvSpPr txBox="1"/>
          <p:nvPr/>
        </p:nvSpPr>
        <p:spPr>
          <a:xfrm>
            <a:off x="7790688" y="5457952"/>
            <a:ext cx="45563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Awan panas</a:t>
            </a:r>
            <a:endParaRPr lang="id-ID" sz="620"/>
          </a:p>
        </p:txBody>
      </p:sp>
      <p:sp>
        <p:nvSpPr>
          <p:cNvPr id="625" name="K"/>
          <p:cNvSpPr/>
          <p:nvPr/>
        </p:nvSpPr>
        <p:spPr>
          <a:xfrm>
            <a:off x="8310328" y="5457952"/>
            <a:ext cx="736160" cy="155448"/>
          </a:xfrm>
          <a:prstGeom prst="roundRect">
            <a:avLst>
              <a:gd name="adj" fmla="val 50000"/>
            </a:avLst>
          </a:prstGeom>
          <a:solidFill>
            <a:srgbClr val="F8DDE0"/>
          </a:solidFill>
          <a:ln>
            <a:noFill/>
          </a:ln>
        </p:spPr>
      </p:sp>
      <p:pic>
        <p:nvPicPr>
          <p:cNvPr id="626" name="G"/>
          <p:cNvPicPr>
            <a:picLocks noChangeAspect="1"/>
          </p:cNvPicPr>
          <p:nvPr/>
        </p:nvPicPr>
        <p:blipFill>
          <a:blip r:embed="rIdM17"/>
          <a:stretch>
            <a:fillRect/>
          </a:stretch>
        </p:blipFill>
        <p:spPr>
          <a:xfrm>
            <a:off x="8356048" y="5485384"/>
            <a:ext cx="100584" cy="100584"/>
          </a:xfrm>
          <a:prstGeom prst="rect">
            <a:avLst/>
          </a:prstGeom>
        </p:spPr>
      </p:pic>
      <p:sp>
        <p:nvSpPr>
          <p:cNvPr id="627" name="T"/>
          <p:cNvSpPr txBox="1"/>
          <p:nvPr/>
        </p:nvSpPr>
        <p:spPr>
          <a:xfrm>
            <a:off x="8493208" y="5457952"/>
            <a:ext cx="53499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Guguran lava</a:t>
            </a:r>
            <a:endParaRPr lang="id-ID" sz="620"/>
          </a:p>
        </p:txBody>
      </p:sp>
      <p:sp>
        <p:nvSpPr>
          <p:cNvPr id="628" name="K"/>
          <p:cNvSpPr/>
          <p:nvPr/>
        </p:nvSpPr>
        <p:spPr>
          <a:xfrm>
            <a:off x="9092208" y="5457952"/>
            <a:ext cx="1013920" cy="155448"/>
          </a:xfrm>
          <a:prstGeom prst="roundRect">
            <a:avLst>
              <a:gd name="adj" fmla="val 50000"/>
            </a:avLst>
          </a:prstGeom>
          <a:solidFill>
            <a:srgbClr val="F8DDE0"/>
          </a:solidFill>
          <a:ln>
            <a:noFill/>
          </a:ln>
        </p:spPr>
      </p:sp>
      <p:pic>
        <p:nvPicPr>
          <p:cNvPr id="629" name="G"/>
          <p:cNvPicPr>
            <a:picLocks noChangeAspect="1"/>
          </p:cNvPicPr>
          <p:nvPr/>
        </p:nvPicPr>
        <p:blipFill>
          <a:blip r:embed="rIdM17"/>
          <a:stretch>
            <a:fillRect/>
          </a:stretch>
        </p:blipFill>
        <p:spPr>
          <a:xfrm>
            <a:off x="9137928" y="5485384"/>
            <a:ext cx="100584" cy="100584"/>
          </a:xfrm>
          <a:prstGeom prst="rect">
            <a:avLst/>
          </a:prstGeom>
        </p:spPr>
      </p:pic>
      <p:sp>
        <p:nvSpPr>
          <p:cNvPr id="630" name="T"/>
          <p:cNvSpPr txBox="1"/>
          <p:nvPr/>
        </p:nvSpPr>
        <p:spPr>
          <a:xfrm>
            <a:off x="9275088" y="5457952"/>
            <a:ext cx="81275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Lontaran batu pijar</a:t>
            </a:r>
            <a:endParaRPr lang="id-ID" sz="620"/>
          </a:p>
        </p:txBody>
      </p:sp>
      <p:sp>
        <p:nvSpPr>
          <p:cNvPr id="631" name="K"/>
          <p:cNvSpPr/>
          <p:nvPr/>
        </p:nvSpPr>
        <p:spPr>
          <a:xfrm>
            <a:off x="10151848" y="5457952"/>
            <a:ext cx="458400" cy="155448"/>
          </a:xfrm>
          <a:prstGeom prst="roundRect">
            <a:avLst>
              <a:gd name="adj" fmla="val 50000"/>
            </a:avLst>
          </a:prstGeom>
          <a:solidFill>
            <a:srgbClr val="F8DDE0"/>
          </a:solidFill>
          <a:ln>
            <a:noFill/>
          </a:ln>
        </p:spPr>
      </p:sp>
      <p:pic>
        <p:nvPicPr>
          <p:cNvPr id="632" name="G"/>
          <p:cNvPicPr>
            <a:picLocks noChangeAspect="1"/>
          </p:cNvPicPr>
          <p:nvPr/>
        </p:nvPicPr>
        <p:blipFill>
          <a:blip r:embed="rIdM17"/>
          <a:stretch>
            <a:fillRect/>
          </a:stretch>
        </p:blipFill>
        <p:spPr>
          <a:xfrm>
            <a:off x="10197568" y="5485384"/>
            <a:ext cx="100584" cy="100584"/>
          </a:xfrm>
          <a:prstGeom prst="rect">
            <a:avLst/>
          </a:prstGeom>
        </p:spPr>
      </p:pic>
      <p:sp>
        <p:nvSpPr>
          <p:cNvPr id="633" name="T"/>
          <p:cNvSpPr txBox="1"/>
          <p:nvPr/>
        </p:nvSpPr>
        <p:spPr>
          <a:xfrm>
            <a:off x="10334728" y="5457952"/>
            <a:ext cx="25723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Lahar</a:t>
            </a:r>
            <a:endParaRPr lang="id-ID" sz="620"/>
          </a:p>
        </p:txBody>
      </p:sp>
      <p:sp>
        <p:nvSpPr>
          <p:cNvPr id="634" name="K"/>
          <p:cNvSpPr/>
          <p:nvPr/>
        </p:nvSpPr>
        <p:spPr>
          <a:xfrm>
            <a:off x="10655968" y="5457952"/>
            <a:ext cx="617120" cy="155448"/>
          </a:xfrm>
          <a:prstGeom prst="roundRect">
            <a:avLst>
              <a:gd name="adj" fmla="val 50000"/>
            </a:avLst>
          </a:prstGeom>
          <a:solidFill>
            <a:srgbClr val="E3EAF1"/>
          </a:solidFill>
          <a:ln>
            <a:noFill/>
          </a:ln>
        </p:spPr>
      </p:sp>
      <p:pic>
        <p:nvPicPr>
          <p:cNvPr id="635" name="G"/>
          <p:cNvPicPr>
            <a:picLocks noChangeAspect="1"/>
          </p:cNvPicPr>
          <p:nvPr/>
        </p:nvPicPr>
        <p:blipFill>
          <a:blip r:embed="rIdM21"/>
          <a:stretch>
            <a:fillRect/>
          </a:stretch>
        </p:blipFill>
        <p:spPr>
          <a:xfrm>
            <a:off x="10701688" y="5485384"/>
            <a:ext cx="100584" cy="100584"/>
          </a:xfrm>
          <a:prstGeom prst="rect">
            <a:avLst/>
          </a:prstGeom>
        </p:spPr>
      </p:pic>
      <p:sp>
        <p:nvSpPr>
          <p:cNvPr id="636" name="T"/>
          <p:cNvSpPr txBox="1"/>
          <p:nvPr/>
        </p:nvSpPr>
        <p:spPr>
          <a:xfrm>
            <a:off x="10838848" y="5457952"/>
            <a:ext cx="415952" cy="155448"/>
          </a:xfrm>
          <a:prstGeom prst="rect">
            <a:avLst/>
          </a:prstGeom>
          <a:noFill/>
        </p:spPr>
        <p:txBody>
          <a:bodyPr wrap="none" lIns="0" tIns="0" rIns="0" bIns="0" anchor="ctr"/>
          <a:lstStyle/>
          <a:p>
            <a:pPr algn="l">
              <a:buNone/>
            </a:pPr>
            <a:r>
              <a:rPr lang="id-ID" sz="700" b="1" dirty="0">
                <a:solidFill>
                  <a:srgbClr val="5B7A99"/>
                </a:solidFill>
                <a:latin typeface="Roboto"/>
                <a:ea typeface="Roboto"/>
                <a:cs typeface="Roboto"/>
              </a:rPr>
              <a:t>Sektor Tg</a:t>
            </a:r>
            <a:endParaRPr lang="id-ID" sz="620"/>
          </a:p>
        </p:txBody>
      </p:sp>
      <p:sp>
        <p:nvSpPr>
          <p:cNvPr id="637" name="K"/>
          <p:cNvSpPr/>
          <p:nvPr/>
        </p:nvSpPr>
        <p:spPr>
          <a:xfrm>
            <a:off x="7607808" y="5659120"/>
            <a:ext cx="1529760" cy="155448"/>
          </a:xfrm>
          <a:prstGeom prst="roundRect">
            <a:avLst>
              <a:gd name="adj" fmla="val 50000"/>
            </a:avLst>
          </a:prstGeom>
          <a:solidFill>
            <a:srgbClr val="E3EAF1"/>
          </a:solidFill>
          <a:ln>
            <a:noFill/>
          </a:ln>
        </p:spPr>
      </p:sp>
      <p:pic>
        <p:nvPicPr>
          <p:cNvPr id="638" name="G"/>
          <p:cNvPicPr>
            <a:picLocks noChangeAspect="1"/>
          </p:cNvPicPr>
          <p:nvPr/>
        </p:nvPicPr>
        <p:blipFill>
          <a:blip r:embed="rIdM21"/>
          <a:stretch>
            <a:fillRect/>
          </a:stretch>
        </p:blipFill>
        <p:spPr>
          <a:xfrm>
            <a:off x="7653528" y="5686552"/>
            <a:ext cx="100584" cy="100584"/>
          </a:xfrm>
          <a:prstGeom prst="rect">
            <a:avLst/>
          </a:prstGeom>
        </p:spPr>
      </p:pic>
      <p:sp>
        <p:nvSpPr>
          <p:cNvPr id="639" name="T"/>
          <p:cNvSpPr txBox="1"/>
          <p:nvPr/>
        </p:nvSpPr>
        <p:spPr>
          <a:xfrm>
            <a:off x="7790688" y="5659120"/>
            <a:ext cx="1328592" cy="155448"/>
          </a:xfrm>
          <a:prstGeom prst="rect">
            <a:avLst/>
          </a:prstGeom>
          <a:noFill/>
        </p:spPr>
        <p:txBody>
          <a:bodyPr wrap="none" lIns="0" tIns="0" rIns="0" bIns="0" anchor="ctr"/>
          <a:lstStyle/>
          <a:p>
            <a:pPr algn="l">
              <a:buNone/>
            </a:pPr>
            <a:r>
              <a:rPr lang="id-ID" sz="700" b="1" dirty="0">
                <a:solidFill>
                  <a:srgbClr val="5B7A99"/>
                </a:solidFill>
                <a:latin typeface="Roboto"/>
                <a:ea typeface="Roboto"/>
                <a:cs typeface="Roboto"/>
              </a:rPr>
              <a:t>Besuk Kobokan, Bang, Kembar, Sat</a:t>
            </a:r>
            <a:endParaRPr lang="id-ID" sz="62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48640" y="502920"/>
            <a:ext cx="1005840" cy="1005840"/>
          </a:xfrm>
          <a:prstGeom prst="ellipse">
            <a:avLst/>
          </a:prstGeom>
          <a:solidFill>
            <a:srgbClr val="FFFFFF"/>
          </a:solidFill>
          <a:ln/>
          <a:effectLst>
            <a:outerShdw sx="100000" sy="100000" kx="0" ky="0" algn="bl" rotWithShape="0" blurRad="101600" dist="25400" dir="5400000">
              <a:srgbClr val="000000">
                <a:alpha val="25000"/>
              </a:srgbClr>
            </a:outerShdw>
          </a:effectLst>
        </p:spPr>
      </p:sp>
      <p:pic>
        <p:nvPicPr>
          <p:cNvPr id="4" name="Image 1" descr="preencoded.png">    </p:cNvPr>
          <p:cNvPicPr>
            <a:picLocks noChangeAspect="1"/>
          </p:cNvPicPr>
          <p:nvPr/>
        </p:nvPicPr>
        <p:blipFill>
          <a:blip r:embed="rId2"/>
          <a:stretch>
            <a:fillRect/>
          </a:stretch>
        </p:blipFill>
        <p:spPr>
          <a:xfrm>
            <a:off x="780143" y="663854"/>
            <a:ext cx="542834" cy="683971"/>
          </a:xfrm>
          <a:prstGeom prst="rect">
            <a:avLst/>
          </a:prstGeom>
        </p:spPr>
      </p:pic>
      <p:sp>
        <p:nvSpPr>
          <p:cNvPr id="5" name="Text 1"/>
          <p:cNvSpPr txBox="1"/>
          <p:nvPr/>
        </p:nvSpPr>
        <p:spPr>
          <a:xfrm>
            <a:off x="548640" y="2468880"/>
            <a:ext cx="7315200" cy="1005840"/>
          </a:xfrm>
          <a:prstGeom prst="rect">
            <a:avLst/>
          </a:prstGeom>
          <a:noFill/>
          <a:ln/>
        </p:spPr>
        <p:txBody>
          <a:bodyPr wrap="square" lIns="0" tIns="0" rIns="0" bIns="0" rtlCol="0" anchor="b"/>
          <a:lstStyle/>
          <a:p>
            <a:pPr indent="0" marL="0">
              <a:buNone/>
            </a:pPr>
            <a:r>
              <a:rPr lang="en-US" sz="5400" b="1" dirty="0">
                <a:solidFill>
                  <a:srgbClr val="FFFFFF"/>
                </a:solidFill>
                <a:latin typeface="Roboto" pitchFamily="34" charset="0"/>
                <a:ea typeface="Roboto" pitchFamily="34" charset="-122"/>
                <a:cs typeface="Roboto" pitchFamily="34" charset="-120"/>
              </a:rPr>
              <a:t>Terima kasih</a:t>
            </a:r>
            <a:endParaRPr lang="en-US" sz="5400" dirty="0"/>
          </a:p>
        </p:txBody>
      </p:sp>
      <p:sp>
        <p:nvSpPr>
          <p:cNvPr id="6" name="Shape 2"/>
          <p:cNvSpPr/>
          <p:nvPr/>
        </p:nvSpPr>
        <p:spPr>
          <a:xfrm>
            <a:off x="548640" y="3657600"/>
            <a:ext cx="4754880" cy="0"/>
          </a:xfrm>
          <a:prstGeom prst="line">
            <a:avLst/>
          </a:prstGeom>
          <a:noFill/>
          <a:ln w="25400">
            <a:solidFill>
              <a:srgbClr val="F28C28"/>
            </a:solidFill>
            <a:prstDash val="solid"/>
          </a:ln>
        </p:spPr>
      </p:sp>
      <p:sp>
        <p:nvSpPr>
          <p:cNvPr id="7" name="Text 3"/>
          <p:cNvSpPr txBox="1"/>
          <p:nvPr/>
        </p:nvSpPr>
        <p:spPr>
          <a:xfrm>
            <a:off x="548640" y="3840480"/>
            <a:ext cx="7315200" cy="365760"/>
          </a:xfrm>
          <a:prstGeom prst="rect">
            <a:avLst/>
          </a:prstGeom>
          <a:noFill/>
          <a:ln/>
        </p:spPr>
        <p:txBody>
          <a:bodyPr wrap="square" lIns="0" tIns="0" rIns="0" bIns="0" rtlCol="0" anchor="t"/>
          <a:lstStyle/>
          <a:p>
            <a:pPr indent="0" marL="0">
              <a:buNone/>
            </a:pPr>
            <a:r>
              <a:rPr lang="en-US" sz="1800" b="1" dirty="0">
                <a:solidFill>
                  <a:srgbClr val="FFFFFF"/>
                </a:solidFill>
                <a:latin typeface="Roboto" pitchFamily="34" charset="0"/>
                <a:ea typeface="Roboto" pitchFamily="34" charset="-122"/>
                <a:cs typeface="Roboto" pitchFamily="34" charset="-120"/>
              </a:rPr>
              <a:t>Badan Nasional Penanggulangan Bencana</a:t>
            </a:r>
            <a:endParaRPr lang="en-US" sz="1800" dirty="0"/>
          </a:p>
        </p:txBody>
      </p:sp>
      <p:sp>
        <p:nvSpPr>
          <p:cNvPr id="8" name="Text 4"/>
          <p:cNvSpPr txBox="1"/>
          <p:nvPr/>
        </p:nvSpPr>
        <p:spPr>
          <a:xfrm>
            <a:off x="548640" y="4251960"/>
            <a:ext cx="9144000" cy="320040"/>
          </a:xfrm>
          <a:prstGeom prst="rect">
            <a:avLst/>
          </a:prstGeom>
          <a:noFill/>
          <a:ln/>
        </p:spPr>
        <p:txBody>
          <a:bodyPr wrap="square" lIns="0" tIns="0" rIns="0" bIns="0" rtlCol="0" anchor="t"/>
          <a:lstStyle/>
          <a:p>
            <a:pPr indent="0" marL="0">
              <a:buNone/>
            </a:pPr>
            <a:r>
              <a:rPr lang="en-US" sz="1300" dirty="0">
                <a:solidFill>
                  <a:srgbClr val="C9D1E3"/>
                </a:solidFill>
                <a:latin typeface="Roboto" pitchFamily="34" charset="0"/>
                <a:ea typeface="Roboto" pitchFamily="34" charset="-122"/>
                <a:cs typeface="Roboto" pitchFamily="34" charset="-120"/>
              </a:rPr>
              <a:t>Laporan Kejadian Bencana Harian, 29–30 Oktober 2026</a:t>
            </a:r>
            <a:endParaRPr lang="en-US" sz="1300" dirty="0"/>
          </a:p>
        </p:txBody>
      </p:sp>
      <p:sp>
        <p:nvSpPr>
          <p:cNvPr id="10" name="Text 6"/>
          <p:cNvSpPr txBox="1"/>
          <p:nvPr/>
        </p:nvSpPr>
        <p:spPr>
          <a:xfrm>
            <a:off x="7985455" y="6565392"/>
            <a:ext cx="3931920" cy="182880"/>
          </a:xfrm>
          <a:prstGeom prst="rect">
            <a:avLst/>
          </a:prstGeom>
          <a:noFill/>
          <a:ln/>
        </p:spPr>
        <p:txBody>
          <a:bodyPr wrap="square" lIns="0" tIns="0" rIns="0" bIns="0" rtlCol="0" anchor="t"/>
          <a:lstStyle/>
          <a:p>
            <a:pPr algn="r" indent="0" marL="0">
              <a:buNone/>
            </a:pPr>
            <a:r>
              <a:rPr lang="en-US" sz="700" dirty="0">
                <a:solidFill>
                  <a:srgbClr val="C9D1E3"/>
                </a:solidFill>
                <a:latin typeface="Roboto" pitchFamily="34" charset="0"/>
                <a:ea typeface="Roboto" pitchFamily="34" charset="-122"/>
                <a:cs typeface="Roboto" pitchFamily="34" charset="-120"/>
              </a:rPr>
              <a:t>Foto: DenY Krisbiyantoro, CC BY-SA 4.0</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1"/>
          <p:cNvSpPr/>
          <p:nvPr/>
        </p:nvSpPr>
        <p:spPr>
          <a:xfrm>
            <a:off x="548640" y="1207008"/>
            <a:ext cx="11094415" cy="0"/>
          </a:xfrm>
          <a:prstGeom prst="line">
            <a:avLst/>
          </a:prstGeom>
          <a:noFill/>
          <a:ln w="9525">
            <a:solidFill>
              <a:srgbClr val="1A1A1A"/>
            </a:solidFill>
            <a:prstDash val="solid"/>
          </a:ln>
        </p:spPr>
      </p:sp>
      <p:sp>
        <p:nvSpPr>
          <p:cNvPr id="4" name="Shape 2"/>
          <p:cNvSpPr/>
          <p:nvPr/>
        </p:nvSpPr>
        <p:spPr>
          <a:xfrm>
            <a:off x="548640" y="6446520"/>
            <a:ext cx="11094415" cy="0"/>
          </a:xfrm>
          <a:prstGeom prst="line">
            <a:avLst/>
          </a:prstGeom>
          <a:noFill/>
          <a:ln w="9525">
            <a:solidFill>
              <a:srgbClr val="1A1A1A"/>
            </a:solidFill>
            <a:prstDash val="solid"/>
          </a:ln>
        </p:spPr>
      </p:sp>
      <p:pic>
        <p:nvPicPr>
          <p:cNvPr id="5" name="Image 0" descr="preencoded.png">    </p:cNvPr>
          <p:cNvPicPr>
            <a:picLocks noChangeAspect="1"/>
          </p:cNvPicPr>
          <p:nvPr/>
        </p:nvPicPr>
        <p:blipFill>
          <a:blip r:embed="rId1"/>
          <a:stretch>
            <a:fillRect/>
          </a:stretch>
        </p:blipFill>
        <p:spPr>
          <a:xfrm>
            <a:off x="11295583" y="365760"/>
            <a:ext cx="347472" cy="438912"/>
          </a:xfrm>
          <a:prstGeom prst="rect">
            <a:avLst/>
          </a:prstGeom>
        </p:spPr>
      </p:pic>
      <p:sp>
        <p:nvSpPr>
          <p:cNvPr id="6" name="Text 3"/>
          <p:cNvSpPr txBox="1"/>
          <p:nvPr/>
        </p:nvSpPr>
        <p:spPr>
          <a:xfrm>
            <a:off x="548640" y="6510528"/>
            <a:ext cx="5486400" cy="201168"/>
          </a:xfrm>
          <a:prstGeom prst="rect">
            <a:avLst/>
          </a:prstGeom>
          <a:noFill/>
          <a:ln/>
        </p:spPr>
        <p:txBody>
          <a:bodyPr wrap="square" lIns="0" tIns="0" rIns="0" bIns="0" rtlCol="0" anchor="t"/>
          <a:lstStyle/>
          <a:p>
            <a:pPr indent="0" marL="0">
              <a:buNone/>
            </a:pPr>
            <a:r>
              <a:rPr lang="en-US" sz="850" dirty="0">
                <a:solidFill>
                  <a:srgbClr val="1A1A1A"/>
                </a:solidFill>
                <a:latin typeface="Roboto" pitchFamily="34" charset="0"/>
                <a:ea typeface="Roboto" pitchFamily="34" charset="-122"/>
                <a:cs typeface="Roboto" pitchFamily="34" charset="-120"/>
              </a:rPr>
              <a:t>Badan Nasional Penanggulangan Bencana  |  Copyright 2026</a:t>
            </a:r>
            <a:endParaRPr lang="en-US" sz="850" dirty="0"/>
          </a:p>
        </p:txBody>
      </p:sp>
      <p:sp>
        <p:nvSpPr>
          <p:cNvPr id="7" name="Text 4"/>
          <p:cNvSpPr txBox="1"/>
          <p:nvPr/>
        </p:nvSpPr>
        <p:spPr>
          <a:xfrm>
            <a:off x="10728655" y="6510528"/>
            <a:ext cx="914400" cy="201168"/>
          </a:xfrm>
          <a:prstGeom prst="rect">
            <a:avLst/>
          </a:prstGeom>
          <a:noFill/>
          <a:ln/>
        </p:spPr>
        <p:txBody>
          <a:bodyPr wrap="square" lIns="0" tIns="0" rIns="0" bIns="0" rtlCol="0" anchor="t"/>
          <a:lstStyle/>
          <a:p>
            <a:pPr algn="r" indent="0" marL="0">
              <a:buNone/>
            </a:pPr>
            <a:r>
              <a:rPr lang="en-US" sz="850" b="1" dirty="0">
                <a:solidFill>
                  <a:srgbClr val="1A1A1A"/>
                </a:solidFill>
                <a:latin typeface="Roboto" pitchFamily="34" charset="0"/>
                <a:ea typeface="Roboto" pitchFamily="34" charset="-122"/>
                <a:cs typeface="Roboto" pitchFamily="34" charset="-120"/>
              </a:rPr>
              <a:t>4</a:t>
            </a:r>
            <a:endParaRPr lang="en-US" sz="850" dirty="0"/>
          </a:p>
        </p:txBody>
      </p:sp>
      <p:sp>
        <p:nvSpPr>
          <p:cNvPr id="890" name="T"/>
          <p:cNvSpPr txBox="1"/>
          <p:nvPr/>
        </p:nvSpPr>
        <p:spPr>
          <a:xfrm>
            <a:off x="548640" y="292608"/>
            <a:ext cx="10454335" cy="822960"/>
          </a:xfrm>
          <a:prstGeom prst="rect">
            <a:avLst/>
          </a:prstGeom>
          <a:noFill/>
        </p:spPr>
        <p:txBody>
          <a:bodyPr wrap="square" lIns="0" tIns="0" rIns="0" bIns="0" anchor="b"/>
          <a:lstStyle/>
          <a:p>
            <a:pPr algn="l">
              <a:buNone/>
            </a:pPr>
            <a:r>
              <a:rPr lang="id-ID" sz="2200" b="1" dirty="0">
                <a:solidFill>
                  <a:srgbClr val="1A1A1A"/>
                </a:solidFill>
                <a:latin typeface="Roboto"/>
                <a:ea typeface="Roboto"/>
                <a:cs typeface="Roboto"/>
              </a:rPr>
              <a:t>Pengkinian kejadian sebelumnya: </a:t>
            </a:r>
            <a:r>
              <a:rPr lang="id-ID" sz="2200" b="1" dirty="0">
                <a:solidFill>
                  <a:srgbClr val="D9600B"/>
                </a:solidFill>
                <a:latin typeface="Roboto"/>
                <a:ea typeface="Roboto"/>
                <a:cs typeface="Roboto"/>
              </a:rPr>
              <a:t>16</a:t>
            </a:r>
            <a:r>
              <a:rPr lang="id-ID" sz="2200" b="1" dirty="0">
                <a:solidFill>
                  <a:srgbClr val="1A1A1A"/>
                </a:solidFill>
                <a:latin typeface="Roboto"/>
                <a:ea typeface="Roboto"/>
                <a:cs typeface="Roboto"/>
              </a:rPr>
              <a:t> karhutla</a:t>
            </a:r>
            <a:r>
              <a:rPr lang="id-ID" sz="2200" b="1" dirty="0">
                <a:solidFill>
                  <a:srgbClr val="1A1A1A"/>
                </a:solidFill>
                <a:latin typeface="Roboto"/>
                <a:ea typeface="Roboto"/>
                <a:cs typeface="Roboto"/>
              </a:rPr>
              <a:t>, </a:t>
            </a:r>
            <a:r>
              <a:rPr lang="id-ID" sz="2200" b="1" dirty="0">
                <a:solidFill>
                  <a:srgbClr val="D9600B"/>
                </a:solidFill>
                <a:latin typeface="Roboto"/>
                <a:ea typeface="Roboto"/>
                <a:cs typeface="Roboto"/>
              </a:rPr>
              <a:t>4</a:t>
            </a:r>
            <a:r>
              <a:rPr lang="id-ID" sz="2200" b="1" dirty="0">
                <a:solidFill>
                  <a:srgbClr val="1A1A1A"/>
                </a:solidFill>
                <a:latin typeface="Roboto"/>
                <a:ea typeface="Roboto"/>
                <a:cs typeface="Roboto"/>
              </a:rPr>
              <a:t> kekeringan</a:t>
            </a:r>
            <a:r>
              <a:rPr lang="id-ID" sz="2200" b="1" dirty="0">
                <a:solidFill>
                  <a:srgbClr val="1A1A1A"/>
                </a:solidFill>
                <a:latin typeface="Roboto"/>
                <a:ea typeface="Roboto"/>
                <a:cs typeface="Roboto"/>
              </a:rPr>
              <a:t>, dan </a:t>
            </a:r>
            <a:r>
              <a:rPr lang="id-ID" sz="2200" b="1" dirty="0">
                <a:solidFill>
                  <a:srgbClr val="D9600B"/>
                </a:solidFill>
                <a:latin typeface="Roboto"/>
                <a:ea typeface="Roboto"/>
                <a:cs typeface="Roboto"/>
              </a:rPr>
              <a:t>8</a:t>
            </a:r>
            <a:r>
              <a:rPr lang="id-ID" sz="2200" b="1" dirty="0">
                <a:solidFill>
                  <a:srgbClr val="1A1A1A"/>
                </a:solidFill>
                <a:latin typeface="Roboto"/>
                <a:ea typeface="Roboto"/>
                <a:cs typeface="Roboto"/>
              </a:rPr>
              <a:t> bencana lainnya</a:t>
            </a:r>
            <a:endParaRPr lang="id-ID" sz="2200"/>
          </a:p>
        </p:txBody>
      </p:sp>
      <p:sp>
        <p:nvSpPr>
          <p:cNvPr id="301" name="K"/>
          <p:cNvSpPr/>
          <p:nvPr/>
        </p:nvSpPr>
        <p:spPr>
          <a:xfrm>
            <a:off x="548640" y="1325880"/>
            <a:ext cx="6720840" cy="5029200"/>
          </a:xfrm>
          <a:prstGeom prst="roundRect">
            <a:avLst>
              <a:gd name="adj" fmla="val 2000"/>
            </a:avLst>
          </a:prstGeom>
          <a:solidFill>
            <a:srgbClr val="FFFFFF"/>
          </a:solidFill>
          <a:ln w="9525">
            <a:solidFill>
              <a:srgbClr val="BFC5CC"/>
            </a:solidFill>
          </a:ln>
        </p:spPr>
      </p:sp>
      <p:sp>
        <p:nvSpPr>
          <p:cNvPr id="302" name="K"/>
          <p:cNvSpPr/>
          <p:nvPr/>
        </p:nvSpPr>
        <p:spPr>
          <a:xfrm>
            <a:off x="548640" y="1325880"/>
            <a:ext cx="6720840" cy="457200"/>
          </a:xfrm>
          <a:prstGeom prst="roundRect">
            <a:avLst>
              <a:gd name="adj" fmla="val 16000"/>
            </a:avLst>
          </a:prstGeom>
          <a:solidFill>
            <a:srgbClr val="FBE7D6"/>
          </a:solidFill>
          <a:ln>
            <a:noFill/>
          </a:ln>
        </p:spPr>
      </p:sp>
      <p:sp>
        <p:nvSpPr>
          <p:cNvPr id="303" name="K"/>
          <p:cNvSpPr/>
          <p:nvPr/>
        </p:nvSpPr>
        <p:spPr>
          <a:xfrm>
            <a:off x="548640" y="1600200"/>
            <a:ext cx="6720840" cy="182880"/>
          </a:xfrm>
          <a:prstGeom prst="rect">
            <a:avLst/>
          </a:prstGeom>
          <a:solidFill>
            <a:srgbClr val="FBE7D6"/>
          </a:solidFill>
          <a:ln>
            <a:noFill/>
          </a:ln>
        </p:spPr>
      </p:sp>
      <p:sp>
        <p:nvSpPr>
          <p:cNvPr id="304" name="K"/>
          <p:cNvSpPr/>
          <p:nvPr/>
        </p:nvSpPr>
        <p:spPr>
          <a:xfrm>
            <a:off x="676656" y="1408176"/>
            <a:ext cx="292608" cy="292608"/>
          </a:xfrm>
          <a:prstGeom prst="ellipse">
            <a:avLst/>
          </a:prstGeom>
          <a:solidFill>
            <a:srgbClr val="D9600B"/>
          </a:solidFill>
          <a:ln>
            <a:noFill/>
          </a:ln>
        </p:spPr>
      </p:sp>
      <p:pic>
        <p:nvPicPr>
          <p:cNvPr id="305" name="G"/>
          <p:cNvPicPr>
            <a:picLocks noChangeAspect="1"/>
          </p:cNvPicPr>
          <p:nvPr/>
        </p:nvPicPr>
        <p:blipFill>
          <a:blip r:embed="rIdM1"/>
          <a:stretch>
            <a:fillRect/>
          </a:stretch>
        </p:blipFill>
        <p:spPr>
          <a:xfrm>
            <a:off x="731520" y="1463040"/>
            <a:ext cx="182880" cy="182880"/>
          </a:xfrm>
          <a:prstGeom prst="rect">
            <a:avLst/>
          </a:prstGeom>
        </p:spPr>
      </p:pic>
      <p:sp>
        <p:nvSpPr>
          <p:cNvPr id="306" name="T"/>
          <p:cNvSpPr txBox="1"/>
          <p:nvPr/>
        </p:nvSpPr>
        <p:spPr>
          <a:xfrm>
            <a:off x="1051560" y="1325880"/>
            <a:ext cx="5620840" cy="457200"/>
          </a:xfrm>
          <a:prstGeom prst="rect">
            <a:avLst/>
          </a:prstGeom>
          <a:noFill/>
        </p:spPr>
        <p:txBody>
          <a:bodyPr wrap="square" lIns="0" tIns="0" rIns="0" bIns="0" anchor="ctr"/>
          <a:lstStyle/>
          <a:p>
            <a:pPr algn="l">
              <a:buNone/>
            </a:pPr>
            <a:r>
              <a:rPr lang="id-ID" sz="1100" b="1" dirty="0">
                <a:solidFill>
                  <a:srgbClr val="1A1A1A"/>
                </a:solidFill>
                <a:latin typeface="Roboto"/>
                <a:ea typeface="Roboto"/>
                <a:cs typeface="Roboto"/>
              </a:rPr>
              <a:t>Karhutla</a:t>
            </a:r>
            <a:endParaRPr lang="id-ID" sz="1100"/>
          </a:p>
        </p:txBody>
      </p:sp>
      <p:sp>
        <p:nvSpPr>
          <p:cNvPr id="307" name="T"/>
          <p:cNvSpPr txBox="1"/>
          <p:nvPr/>
        </p:nvSpPr>
        <p:spPr>
          <a:xfrm>
            <a:off x="6629400" y="1325880"/>
            <a:ext cx="512064" cy="457200"/>
          </a:xfrm>
          <a:prstGeom prst="rect">
            <a:avLst/>
          </a:prstGeom>
          <a:noFill/>
        </p:spPr>
        <p:txBody>
          <a:bodyPr wrap="square" lIns="0" tIns="0" rIns="0" bIns="0" anchor="ctr"/>
          <a:lstStyle/>
          <a:p>
            <a:pPr algn="r">
              <a:buNone/>
            </a:pPr>
            <a:r>
              <a:rPr lang="id-ID" sz="1800" b="1" dirty="0">
                <a:solidFill>
                  <a:srgbClr val="D9600B"/>
                </a:solidFill>
                <a:latin typeface="Roboto"/>
                <a:ea typeface="Roboto"/>
                <a:cs typeface="Roboto"/>
              </a:rPr>
              <a:t>16</a:t>
            </a:r>
            <a:endParaRPr lang="id-ID" sz="1800"/>
          </a:p>
        </p:txBody>
      </p:sp>
      <p:sp>
        <p:nvSpPr>
          <p:cNvPr id="308" name="T"/>
          <p:cNvSpPr txBox="1"/>
          <p:nvPr/>
        </p:nvSpPr>
        <p:spPr>
          <a:xfrm>
            <a:off x="676656" y="1856232"/>
            <a:ext cx="2194560" cy="164592"/>
          </a:xfrm>
          <a:prstGeom prst="rect">
            <a:avLst/>
          </a:prstGeom>
          <a:noFill/>
        </p:spPr>
        <p:txBody>
          <a:bodyPr wrap="square" lIns="0" tIns="0" rIns="0" bIns="0" anchor="t"/>
          <a:lstStyle/>
          <a:p>
            <a:pPr algn="l">
              <a:buNone/>
            </a:pPr>
            <a:r>
              <a:rPr lang="id-ID" sz="700" b="1" spc="60" dirty="0">
                <a:solidFill>
                  <a:srgbClr val="6B7280"/>
                </a:solidFill>
                <a:latin typeface="Roboto"/>
                <a:ea typeface="Roboto"/>
                <a:cs typeface="Roboto"/>
              </a:rPr>
              <a:t>LOKASI</a:t>
            </a:r>
            <a:endParaRPr lang="id-ID" sz="650"/>
          </a:p>
        </p:txBody>
      </p:sp>
      <p:sp>
        <p:nvSpPr>
          <p:cNvPr id="309" name="T"/>
          <p:cNvSpPr txBox="1"/>
          <p:nvPr/>
        </p:nvSpPr>
        <p:spPr>
          <a:xfrm>
            <a:off x="3291840" y="1856232"/>
            <a:ext cx="1280160" cy="164592"/>
          </a:xfrm>
          <a:prstGeom prst="rect">
            <a:avLst/>
          </a:prstGeom>
          <a:noFill/>
        </p:spPr>
        <p:txBody>
          <a:bodyPr wrap="square" lIns="0" tIns="0" rIns="0" bIns="0" anchor="t"/>
          <a:lstStyle/>
          <a:p>
            <a:pPr algn="l">
              <a:buNone/>
            </a:pPr>
            <a:r>
              <a:rPr lang="id-ID" sz="700" b="1" spc="60" dirty="0">
                <a:solidFill>
                  <a:srgbClr val="6B7280"/>
                </a:solidFill>
                <a:latin typeface="Roboto"/>
                <a:ea typeface="Roboto"/>
                <a:cs typeface="Roboto"/>
              </a:rPr>
              <a:t>TERBAKAR 1 JAN–29 OKT</a:t>
            </a:r>
            <a:endParaRPr lang="id-ID" sz="650"/>
          </a:p>
        </p:txBody>
      </p:sp>
      <p:sp>
        <p:nvSpPr>
          <p:cNvPr id="310" name="T"/>
          <p:cNvSpPr txBox="1"/>
          <p:nvPr/>
        </p:nvSpPr>
        <p:spPr>
          <a:xfrm>
            <a:off x="4617720" y="1856232"/>
            <a:ext cx="2523744" cy="164592"/>
          </a:xfrm>
          <a:prstGeom prst="rect">
            <a:avLst/>
          </a:prstGeom>
          <a:noFill/>
        </p:spPr>
        <p:txBody>
          <a:bodyPr wrap="square" lIns="0" tIns="0" rIns="0" bIns="0" anchor="t"/>
          <a:lstStyle/>
          <a:p>
            <a:pPr algn="ctr">
              <a:buNone/>
            </a:pPr>
            <a:r>
              <a:rPr lang="id-ID" sz="700" b="1" spc="60" dirty="0">
                <a:solidFill>
                  <a:srgbClr val="6B7280"/>
                </a:solidFill>
                <a:latin typeface="Roboto"/>
                <a:ea typeface="Roboto"/>
                <a:cs typeface="Roboto"/>
              </a:rPr>
              <a:t>FIRESPOT DAN SISA 29 OKT</a:t>
            </a:r>
            <a:endParaRPr lang="id-ID" sz="650"/>
          </a:p>
        </p:txBody>
      </p:sp>
      <p:cxnSp>
        <p:nvCxnSpPr>
          <p:cNvPr id="311" name="L"/>
          <p:cNvCxnSpPr/>
          <p:nvPr/>
        </p:nvCxnSpPr>
        <p:spPr>
          <a:xfrm>
            <a:off x="676656" y="2039112"/>
            <a:ext cx="6464808" cy="0"/>
          </a:xfrm>
          <a:prstGeom prst="line">
            <a:avLst/>
          </a:prstGeom>
          <a:ln w="9525">
            <a:solidFill>
              <a:srgbClr val="1A1A1A"/>
            </a:solidFill>
          </a:ln>
        </p:spPr>
      </p:cxnSp>
      <p:sp>
        <p:nvSpPr>
          <p:cNvPr id="312" name="K"/>
          <p:cNvSpPr/>
          <p:nvPr/>
        </p:nvSpPr>
        <p:spPr>
          <a:xfrm>
            <a:off x="676656" y="2109932"/>
            <a:ext cx="157597" cy="157597"/>
          </a:xfrm>
          <a:prstGeom prst="ellipse">
            <a:avLst/>
          </a:prstGeom>
          <a:solidFill>
            <a:srgbClr val="D9600B"/>
          </a:solidFill>
          <a:ln>
            <a:noFill/>
          </a:ln>
        </p:spPr>
      </p:sp>
      <p:pic>
        <p:nvPicPr>
          <p:cNvPr id="313" name="G"/>
          <p:cNvPicPr>
            <a:picLocks noChangeAspect="1"/>
          </p:cNvPicPr>
          <p:nvPr/>
        </p:nvPicPr>
        <p:blipFill>
          <a:blip r:embed="rIdM2"/>
          <a:stretch>
            <a:fillRect/>
          </a:stretch>
        </p:blipFill>
        <p:spPr>
          <a:xfrm>
            <a:off x="705023" y="2138299"/>
            <a:ext cx="100862" cy="100862"/>
          </a:xfrm>
          <a:prstGeom prst="rect">
            <a:avLst/>
          </a:prstGeom>
        </p:spPr>
      </p:pic>
      <p:sp>
        <p:nvSpPr>
          <p:cNvPr id="314" name="T"/>
          <p:cNvSpPr txBox="1"/>
          <p:nvPr/>
        </p:nvSpPr>
        <p:spPr>
          <a:xfrm>
            <a:off x="990000" y="2057400"/>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Papua Selatan</a:t>
            </a:r>
            <a:endParaRPr lang="id-ID" sz="804"/>
          </a:p>
        </p:txBody>
      </p:sp>
      <p:sp>
        <p:nvSpPr>
          <p:cNvPr id="315" name="T"/>
          <p:cNvSpPr txBox="1"/>
          <p:nvPr/>
        </p:nvSpPr>
        <p:spPr>
          <a:xfrm>
            <a:off x="3291840" y="2057400"/>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297.081</a:t>
            </a:r>
            <a:endParaRPr lang="id-ID" sz="787"/>
          </a:p>
        </p:txBody>
      </p:sp>
      <p:sp>
        <p:nvSpPr>
          <p:cNvPr id="316" name="T"/>
          <p:cNvSpPr txBox="1"/>
          <p:nvPr/>
        </p:nvSpPr>
        <p:spPr>
          <a:xfrm>
            <a:off x="4135450" y="2057400"/>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sp>
        <p:nvSpPr>
          <p:cNvPr id="317" name="K"/>
          <p:cNvSpPr/>
          <p:nvPr/>
        </p:nvSpPr>
        <p:spPr>
          <a:xfrm>
            <a:off x="4739006" y="2102053"/>
            <a:ext cx="1152584" cy="173356"/>
          </a:xfrm>
          <a:prstGeom prst="roundRect">
            <a:avLst>
              <a:gd name="adj" fmla="val 50000"/>
            </a:avLst>
          </a:prstGeom>
          <a:solidFill>
            <a:srgbClr val="E6EAF0"/>
          </a:solidFill>
          <a:ln>
            <a:noFill/>
          </a:ln>
        </p:spPr>
      </p:sp>
      <p:pic>
        <p:nvPicPr>
          <p:cNvPr id="318" name="G"/>
          <p:cNvPicPr>
            <a:picLocks noChangeAspect="1"/>
          </p:cNvPicPr>
          <p:nvPr/>
        </p:nvPicPr>
        <p:blipFill>
          <a:blip r:embed="rIdM3"/>
          <a:stretch>
            <a:fillRect/>
          </a:stretch>
        </p:blipFill>
        <p:spPr>
          <a:xfrm>
            <a:off x="4812158" y="2134991"/>
            <a:ext cx="107480" cy="107480"/>
          </a:xfrm>
          <a:prstGeom prst="rect">
            <a:avLst/>
          </a:prstGeom>
        </p:spPr>
      </p:pic>
      <p:sp>
        <p:nvSpPr>
          <p:cNvPr id="319" name="T"/>
          <p:cNvSpPr txBox="1"/>
          <p:nvPr/>
        </p:nvSpPr>
        <p:spPr>
          <a:xfrm>
            <a:off x="4995894" y="2102053"/>
            <a:ext cx="360000" cy="173356"/>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337</a:t>
            </a:r>
            <a:endParaRPr lang="id-ID" sz="664"/>
          </a:p>
        </p:txBody>
      </p:sp>
      <p:sp>
        <p:nvSpPr>
          <p:cNvPr id="320" name="T"/>
          <p:cNvSpPr txBox="1"/>
          <p:nvPr/>
        </p:nvSpPr>
        <p:spPr>
          <a:xfrm>
            <a:off x="5375814" y="2102053"/>
            <a:ext cx="480000" cy="173356"/>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64"/>
          </a:p>
        </p:txBody>
      </p:sp>
      <p:sp>
        <p:nvSpPr>
          <p:cNvPr id="321" name="K"/>
          <p:cNvSpPr/>
          <p:nvPr/>
        </p:nvSpPr>
        <p:spPr>
          <a:xfrm>
            <a:off x="5964742" y="2102053"/>
            <a:ext cx="1155436" cy="173356"/>
          </a:xfrm>
          <a:prstGeom prst="roundRect">
            <a:avLst>
              <a:gd name="adj" fmla="val 50000"/>
            </a:avLst>
          </a:prstGeom>
          <a:solidFill>
            <a:srgbClr val="FBE7D6"/>
          </a:solidFill>
          <a:ln>
            <a:noFill/>
          </a:ln>
        </p:spPr>
      </p:sp>
      <p:pic>
        <p:nvPicPr>
          <p:cNvPr id="322" name="G"/>
          <p:cNvPicPr>
            <a:picLocks noChangeAspect="1"/>
          </p:cNvPicPr>
          <p:nvPr/>
        </p:nvPicPr>
        <p:blipFill>
          <a:blip r:embed="rIdM4"/>
          <a:stretch>
            <a:fillRect/>
          </a:stretch>
        </p:blipFill>
        <p:spPr>
          <a:xfrm>
            <a:off x="6037894" y="2134991"/>
            <a:ext cx="107480" cy="107480"/>
          </a:xfrm>
          <a:prstGeom prst="rect">
            <a:avLst/>
          </a:prstGeom>
        </p:spPr>
      </p:pic>
      <p:sp>
        <p:nvSpPr>
          <p:cNvPr id="323" name="T"/>
          <p:cNvSpPr txBox="1"/>
          <p:nvPr/>
        </p:nvSpPr>
        <p:spPr>
          <a:xfrm>
            <a:off x="6211630" y="2102053"/>
            <a:ext cx="26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64"/>
          </a:p>
        </p:txBody>
      </p:sp>
      <p:sp>
        <p:nvSpPr>
          <p:cNvPr id="324" name="T"/>
          <p:cNvSpPr txBox="1"/>
          <p:nvPr/>
        </p:nvSpPr>
        <p:spPr>
          <a:xfrm>
            <a:off x="6481630" y="2102053"/>
            <a:ext cx="420000" cy="173356"/>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502</a:t>
            </a:r>
            <a:endParaRPr lang="id-ID" sz="664"/>
          </a:p>
        </p:txBody>
      </p:sp>
      <p:sp>
        <p:nvSpPr>
          <p:cNvPr id="325" name="T"/>
          <p:cNvSpPr txBox="1"/>
          <p:nvPr/>
        </p:nvSpPr>
        <p:spPr>
          <a:xfrm>
            <a:off x="6921550" y="2102053"/>
            <a:ext cx="18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64"/>
          </a:p>
        </p:txBody>
      </p:sp>
      <p:cxnSp>
        <p:nvCxnSpPr>
          <p:cNvPr id="326" name="L"/>
          <p:cNvCxnSpPr/>
          <p:nvPr/>
        </p:nvCxnSpPr>
        <p:spPr>
          <a:xfrm>
            <a:off x="676656" y="2320062"/>
            <a:ext cx="6464808" cy="0"/>
          </a:xfrm>
          <a:prstGeom prst="line">
            <a:avLst/>
          </a:prstGeom>
          <a:ln w="9525">
            <a:solidFill>
              <a:srgbClr val="EEF0F3"/>
            </a:solidFill>
          </a:ln>
        </p:spPr>
      </p:cxnSp>
      <p:sp>
        <p:nvSpPr>
          <p:cNvPr id="327" name="K"/>
          <p:cNvSpPr/>
          <p:nvPr/>
        </p:nvSpPr>
        <p:spPr>
          <a:xfrm>
            <a:off x="676656" y="2372594"/>
            <a:ext cx="157597" cy="157597"/>
          </a:xfrm>
          <a:prstGeom prst="ellipse">
            <a:avLst/>
          </a:prstGeom>
          <a:solidFill>
            <a:srgbClr val="D9600B"/>
          </a:solidFill>
          <a:ln>
            <a:noFill/>
          </a:ln>
        </p:spPr>
      </p:sp>
      <p:pic>
        <p:nvPicPr>
          <p:cNvPr id="328" name="G"/>
          <p:cNvPicPr>
            <a:picLocks noChangeAspect="1"/>
          </p:cNvPicPr>
          <p:nvPr/>
        </p:nvPicPr>
        <p:blipFill>
          <a:blip r:embed="rIdM2"/>
          <a:stretch>
            <a:fillRect/>
          </a:stretch>
        </p:blipFill>
        <p:spPr>
          <a:xfrm>
            <a:off x="705023" y="2400961"/>
            <a:ext cx="100862" cy="100862"/>
          </a:xfrm>
          <a:prstGeom prst="rect">
            <a:avLst/>
          </a:prstGeom>
        </p:spPr>
      </p:pic>
      <p:sp>
        <p:nvSpPr>
          <p:cNvPr id="329" name="T"/>
          <p:cNvSpPr txBox="1"/>
          <p:nvPr/>
        </p:nvSpPr>
        <p:spPr>
          <a:xfrm>
            <a:off x="990000" y="2320062"/>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Sulawesi Tengah</a:t>
            </a:r>
            <a:endParaRPr lang="id-ID" sz="804"/>
          </a:p>
        </p:txBody>
      </p:sp>
      <p:sp>
        <p:nvSpPr>
          <p:cNvPr id="330" name="T"/>
          <p:cNvSpPr txBox="1"/>
          <p:nvPr/>
        </p:nvSpPr>
        <p:spPr>
          <a:xfrm>
            <a:off x="3291840" y="2320062"/>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44.914</a:t>
            </a:r>
            <a:endParaRPr lang="id-ID" sz="787"/>
          </a:p>
        </p:txBody>
      </p:sp>
      <p:sp>
        <p:nvSpPr>
          <p:cNvPr id="331" name="T"/>
          <p:cNvSpPr txBox="1"/>
          <p:nvPr/>
        </p:nvSpPr>
        <p:spPr>
          <a:xfrm>
            <a:off x="4135450" y="2320062"/>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sp>
        <p:nvSpPr>
          <p:cNvPr id="332" name="K"/>
          <p:cNvSpPr/>
          <p:nvPr/>
        </p:nvSpPr>
        <p:spPr>
          <a:xfrm>
            <a:off x="4739006" y="2364715"/>
            <a:ext cx="1152584" cy="173356"/>
          </a:xfrm>
          <a:prstGeom prst="roundRect">
            <a:avLst>
              <a:gd name="adj" fmla="val 50000"/>
            </a:avLst>
          </a:prstGeom>
          <a:solidFill>
            <a:srgbClr val="E6EAF0"/>
          </a:solidFill>
          <a:ln>
            <a:noFill/>
          </a:ln>
        </p:spPr>
      </p:sp>
      <p:pic>
        <p:nvPicPr>
          <p:cNvPr id="333" name="G"/>
          <p:cNvPicPr>
            <a:picLocks noChangeAspect="1"/>
          </p:cNvPicPr>
          <p:nvPr/>
        </p:nvPicPr>
        <p:blipFill>
          <a:blip r:embed="rIdM3"/>
          <a:stretch>
            <a:fillRect/>
          </a:stretch>
        </p:blipFill>
        <p:spPr>
          <a:xfrm>
            <a:off x="4812158" y="2397653"/>
            <a:ext cx="107480" cy="107480"/>
          </a:xfrm>
          <a:prstGeom prst="rect">
            <a:avLst/>
          </a:prstGeom>
        </p:spPr>
      </p:pic>
      <p:sp>
        <p:nvSpPr>
          <p:cNvPr id="334" name="T"/>
          <p:cNvSpPr txBox="1"/>
          <p:nvPr/>
        </p:nvSpPr>
        <p:spPr>
          <a:xfrm>
            <a:off x="4995894" y="2364715"/>
            <a:ext cx="360000" cy="173356"/>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259</a:t>
            </a:r>
            <a:endParaRPr lang="id-ID" sz="664"/>
          </a:p>
        </p:txBody>
      </p:sp>
      <p:sp>
        <p:nvSpPr>
          <p:cNvPr id="335" name="T"/>
          <p:cNvSpPr txBox="1"/>
          <p:nvPr/>
        </p:nvSpPr>
        <p:spPr>
          <a:xfrm>
            <a:off x="5375814" y="2364715"/>
            <a:ext cx="480000" cy="173356"/>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64"/>
          </a:p>
        </p:txBody>
      </p:sp>
      <p:sp>
        <p:nvSpPr>
          <p:cNvPr id="336" name="K"/>
          <p:cNvSpPr/>
          <p:nvPr/>
        </p:nvSpPr>
        <p:spPr>
          <a:xfrm>
            <a:off x="5964742" y="2364715"/>
            <a:ext cx="1155436" cy="173356"/>
          </a:xfrm>
          <a:prstGeom prst="roundRect">
            <a:avLst>
              <a:gd name="adj" fmla="val 50000"/>
            </a:avLst>
          </a:prstGeom>
          <a:solidFill>
            <a:srgbClr val="FBE7D6"/>
          </a:solidFill>
          <a:ln>
            <a:noFill/>
          </a:ln>
        </p:spPr>
      </p:sp>
      <p:pic>
        <p:nvPicPr>
          <p:cNvPr id="337" name="G"/>
          <p:cNvPicPr>
            <a:picLocks noChangeAspect="1"/>
          </p:cNvPicPr>
          <p:nvPr/>
        </p:nvPicPr>
        <p:blipFill>
          <a:blip r:embed="rIdM4"/>
          <a:stretch>
            <a:fillRect/>
          </a:stretch>
        </p:blipFill>
        <p:spPr>
          <a:xfrm>
            <a:off x="6037894" y="2397653"/>
            <a:ext cx="107480" cy="107480"/>
          </a:xfrm>
          <a:prstGeom prst="rect">
            <a:avLst/>
          </a:prstGeom>
        </p:spPr>
      </p:pic>
      <p:sp>
        <p:nvSpPr>
          <p:cNvPr id="338" name="T"/>
          <p:cNvSpPr txBox="1"/>
          <p:nvPr/>
        </p:nvSpPr>
        <p:spPr>
          <a:xfrm>
            <a:off x="6211630" y="2364715"/>
            <a:ext cx="26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64"/>
          </a:p>
        </p:txBody>
      </p:sp>
      <p:sp>
        <p:nvSpPr>
          <p:cNvPr id="339" name="T"/>
          <p:cNvSpPr txBox="1"/>
          <p:nvPr/>
        </p:nvSpPr>
        <p:spPr>
          <a:xfrm>
            <a:off x="6481630" y="2364715"/>
            <a:ext cx="420000" cy="173356"/>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295</a:t>
            </a:r>
            <a:endParaRPr lang="id-ID" sz="664"/>
          </a:p>
        </p:txBody>
      </p:sp>
      <p:sp>
        <p:nvSpPr>
          <p:cNvPr id="340" name="T"/>
          <p:cNvSpPr txBox="1"/>
          <p:nvPr/>
        </p:nvSpPr>
        <p:spPr>
          <a:xfrm>
            <a:off x="6921550" y="2364715"/>
            <a:ext cx="18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64"/>
          </a:p>
        </p:txBody>
      </p:sp>
      <p:cxnSp>
        <p:nvCxnSpPr>
          <p:cNvPr id="341" name="L"/>
          <p:cNvCxnSpPr/>
          <p:nvPr/>
        </p:nvCxnSpPr>
        <p:spPr>
          <a:xfrm>
            <a:off x="676656" y="2582724"/>
            <a:ext cx="6464808" cy="0"/>
          </a:xfrm>
          <a:prstGeom prst="line">
            <a:avLst/>
          </a:prstGeom>
          <a:ln w="9525">
            <a:solidFill>
              <a:srgbClr val="EEF0F3"/>
            </a:solidFill>
          </a:ln>
        </p:spPr>
      </p:cxnSp>
      <p:sp>
        <p:nvSpPr>
          <p:cNvPr id="342" name="K"/>
          <p:cNvSpPr/>
          <p:nvPr/>
        </p:nvSpPr>
        <p:spPr>
          <a:xfrm>
            <a:off x="676656" y="2635256"/>
            <a:ext cx="157597" cy="157597"/>
          </a:xfrm>
          <a:prstGeom prst="ellipse">
            <a:avLst/>
          </a:prstGeom>
          <a:solidFill>
            <a:srgbClr val="D9600B"/>
          </a:solidFill>
          <a:ln>
            <a:noFill/>
          </a:ln>
        </p:spPr>
      </p:sp>
      <p:pic>
        <p:nvPicPr>
          <p:cNvPr id="343" name="G"/>
          <p:cNvPicPr>
            <a:picLocks noChangeAspect="1"/>
          </p:cNvPicPr>
          <p:nvPr/>
        </p:nvPicPr>
        <p:blipFill>
          <a:blip r:embed="rIdM2"/>
          <a:stretch>
            <a:fillRect/>
          </a:stretch>
        </p:blipFill>
        <p:spPr>
          <a:xfrm>
            <a:off x="705023" y="2663623"/>
            <a:ext cx="100862" cy="100862"/>
          </a:xfrm>
          <a:prstGeom prst="rect">
            <a:avLst/>
          </a:prstGeom>
        </p:spPr>
      </p:pic>
      <p:sp>
        <p:nvSpPr>
          <p:cNvPr id="344" name="T"/>
          <p:cNvSpPr txBox="1"/>
          <p:nvPr/>
        </p:nvSpPr>
        <p:spPr>
          <a:xfrm>
            <a:off x="990000" y="2582724"/>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Sulawesi Tenggara</a:t>
            </a:r>
            <a:endParaRPr lang="id-ID" sz="804"/>
          </a:p>
        </p:txBody>
      </p:sp>
      <p:sp>
        <p:nvSpPr>
          <p:cNvPr id="345" name="T"/>
          <p:cNvSpPr txBox="1"/>
          <p:nvPr/>
        </p:nvSpPr>
        <p:spPr>
          <a:xfrm>
            <a:off x="3291840" y="2582724"/>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29.031</a:t>
            </a:r>
            <a:endParaRPr lang="id-ID" sz="787"/>
          </a:p>
        </p:txBody>
      </p:sp>
      <p:sp>
        <p:nvSpPr>
          <p:cNvPr id="346" name="T"/>
          <p:cNvSpPr txBox="1"/>
          <p:nvPr/>
        </p:nvSpPr>
        <p:spPr>
          <a:xfrm>
            <a:off x="4135450" y="2582724"/>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sp>
        <p:nvSpPr>
          <p:cNvPr id="347" name="K"/>
          <p:cNvSpPr/>
          <p:nvPr/>
        </p:nvSpPr>
        <p:spPr>
          <a:xfrm>
            <a:off x="4739006" y="2627377"/>
            <a:ext cx="1152584" cy="173356"/>
          </a:xfrm>
          <a:prstGeom prst="roundRect">
            <a:avLst>
              <a:gd name="adj" fmla="val 50000"/>
            </a:avLst>
          </a:prstGeom>
          <a:solidFill>
            <a:srgbClr val="E6EAF0"/>
          </a:solidFill>
          <a:ln>
            <a:noFill/>
          </a:ln>
        </p:spPr>
      </p:sp>
      <p:pic>
        <p:nvPicPr>
          <p:cNvPr id="348" name="G"/>
          <p:cNvPicPr>
            <a:picLocks noChangeAspect="1"/>
          </p:cNvPicPr>
          <p:nvPr/>
        </p:nvPicPr>
        <p:blipFill>
          <a:blip r:embed="rIdM3"/>
          <a:stretch>
            <a:fillRect/>
          </a:stretch>
        </p:blipFill>
        <p:spPr>
          <a:xfrm>
            <a:off x="4812158" y="2660315"/>
            <a:ext cx="107480" cy="107480"/>
          </a:xfrm>
          <a:prstGeom prst="rect">
            <a:avLst/>
          </a:prstGeom>
        </p:spPr>
      </p:pic>
      <p:sp>
        <p:nvSpPr>
          <p:cNvPr id="349" name="T"/>
          <p:cNvSpPr txBox="1"/>
          <p:nvPr/>
        </p:nvSpPr>
        <p:spPr>
          <a:xfrm>
            <a:off x="4995894" y="2627377"/>
            <a:ext cx="360000" cy="173356"/>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233</a:t>
            </a:r>
            <a:endParaRPr lang="id-ID" sz="664"/>
          </a:p>
        </p:txBody>
      </p:sp>
      <p:sp>
        <p:nvSpPr>
          <p:cNvPr id="350" name="T"/>
          <p:cNvSpPr txBox="1"/>
          <p:nvPr/>
        </p:nvSpPr>
        <p:spPr>
          <a:xfrm>
            <a:off x="5375814" y="2627377"/>
            <a:ext cx="480000" cy="173356"/>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64"/>
          </a:p>
        </p:txBody>
      </p:sp>
      <p:sp>
        <p:nvSpPr>
          <p:cNvPr id="351" name="K"/>
          <p:cNvSpPr/>
          <p:nvPr/>
        </p:nvSpPr>
        <p:spPr>
          <a:xfrm>
            <a:off x="5964742" y="2627377"/>
            <a:ext cx="1155436" cy="173356"/>
          </a:xfrm>
          <a:prstGeom prst="roundRect">
            <a:avLst>
              <a:gd name="adj" fmla="val 50000"/>
            </a:avLst>
          </a:prstGeom>
          <a:solidFill>
            <a:srgbClr val="FBE7D6"/>
          </a:solidFill>
          <a:ln>
            <a:noFill/>
          </a:ln>
        </p:spPr>
      </p:sp>
      <p:pic>
        <p:nvPicPr>
          <p:cNvPr id="352" name="G"/>
          <p:cNvPicPr>
            <a:picLocks noChangeAspect="1"/>
          </p:cNvPicPr>
          <p:nvPr/>
        </p:nvPicPr>
        <p:blipFill>
          <a:blip r:embed="rIdM4"/>
          <a:stretch>
            <a:fillRect/>
          </a:stretch>
        </p:blipFill>
        <p:spPr>
          <a:xfrm>
            <a:off x="6037894" y="2660315"/>
            <a:ext cx="107480" cy="107480"/>
          </a:xfrm>
          <a:prstGeom prst="rect">
            <a:avLst/>
          </a:prstGeom>
        </p:spPr>
      </p:pic>
      <p:sp>
        <p:nvSpPr>
          <p:cNvPr id="353" name="T"/>
          <p:cNvSpPr txBox="1"/>
          <p:nvPr/>
        </p:nvSpPr>
        <p:spPr>
          <a:xfrm>
            <a:off x="6211630" y="2627377"/>
            <a:ext cx="26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64"/>
          </a:p>
        </p:txBody>
      </p:sp>
      <p:sp>
        <p:nvSpPr>
          <p:cNvPr id="354" name="T"/>
          <p:cNvSpPr txBox="1"/>
          <p:nvPr/>
        </p:nvSpPr>
        <p:spPr>
          <a:xfrm>
            <a:off x="6481630" y="2627377"/>
            <a:ext cx="420000" cy="173356"/>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257</a:t>
            </a:r>
            <a:endParaRPr lang="id-ID" sz="664"/>
          </a:p>
        </p:txBody>
      </p:sp>
      <p:sp>
        <p:nvSpPr>
          <p:cNvPr id="355" name="T"/>
          <p:cNvSpPr txBox="1"/>
          <p:nvPr/>
        </p:nvSpPr>
        <p:spPr>
          <a:xfrm>
            <a:off x="6921550" y="2627377"/>
            <a:ext cx="18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64"/>
          </a:p>
        </p:txBody>
      </p:sp>
      <p:cxnSp>
        <p:nvCxnSpPr>
          <p:cNvPr id="356" name="L"/>
          <p:cNvCxnSpPr/>
          <p:nvPr/>
        </p:nvCxnSpPr>
        <p:spPr>
          <a:xfrm>
            <a:off x="676656" y="2845386"/>
            <a:ext cx="6464808" cy="0"/>
          </a:xfrm>
          <a:prstGeom prst="line">
            <a:avLst/>
          </a:prstGeom>
          <a:ln w="9525">
            <a:solidFill>
              <a:srgbClr val="EEF0F3"/>
            </a:solidFill>
          </a:ln>
        </p:spPr>
      </p:cxnSp>
      <p:sp>
        <p:nvSpPr>
          <p:cNvPr id="357" name="K"/>
          <p:cNvSpPr/>
          <p:nvPr/>
        </p:nvSpPr>
        <p:spPr>
          <a:xfrm>
            <a:off x="676656" y="2897918"/>
            <a:ext cx="157597" cy="157597"/>
          </a:xfrm>
          <a:prstGeom prst="ellipse">
            <a:avLst/>
          </a:prstGeom>
          <a:solidFill>
            <a:srgbClr val="D9600B"/>
          </a:solidFill>
          <a:ln>
            <a:noFill/>
          </a:ln>
        </p:spPr>
      </p:sp>
      <p:pic>
        <p:nvPicPr>
          <p:cNvPr id="358" name="G"/>
          <p:cNvPicPr>
            <a:picLocks noChangeAspect="1"/>
          </p:cNvPicPr>
          <p:nvPr/>
        </p:nvPicPr>
        <p:blipFill>
          <a:blip r:embed="rIdM2"/>
          <a:stretch>
            <a:fillRect/>
          </a:stretch>
        </p:blipFill>
        <p:spPr>
          <a:xfrm>
            <a:off x="705023" y="2926285"/>
            <a:ext cx="100862" cy="100862"/>
          </a:xfrm>
          <a:prstGeom prst="rect">
            <a:avLst/>
          </a:prstGeom>
        </p:spPr>
      </p:pic>
      <p:sp>
        <p:nvSpPr>
          <p:cNvPr id="359" name="T"/>
          <p:cNvSpPr txBox="1"/>
          <p:nvPr/>
        </p:nvSpPr>
        <p:spPr>
          <a:xfrm>
            <a:off x="990000" y="2845386"/>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Maluku</a:t>
            </a:r>
            <a:endParaRPr lang="id-ID" sz="804"/>
          </a:p>
        </p:txBody>
      </p:sp>
      <p:sp>
        <p:nvSpPr>
          <p:cNvPr id="360" name="T"/>
          <p:cNvSpPr txBox="1"/>
          <p:nvPr/>
        </p:nvSpPr>
        <p:spPr>
          <a:xfrm>
            <a:off x="3291840" y="2845386"/>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74.364</a:t>
            </a:r>
            <a:endParaRPr lang="id-ID" sz="787"/>
          </a:p>
        </p:txBody>
      </p:sp>
      <p:sp>
        <p:nvSpPr>
          <p:cNvPr id="361" name="T"/>
          <p:cNvSpPr txBox="1"/>
          <p:nvPr/>
        </p:nvSpPr>
        <p:spPr>
          <a:xfrm>
            <a:off x="4135450" y="2845386"/>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sp>
        <p:nvSpPr>
          <p:cNvPr id="362" name="K"/>
          <p:cNvSpPr/>
          <p:nvPr/>
        </p:nvSpPr>
        <p:spPr>
          <a:xfrm>
            <a:off x="4739006" y="2890039"/>
            <a:ext cx="1152584" cy="173356"/>
          </a:xfrm>
          <a:prstGeom prst="roundRect">
            <a:avLst>
              <a:gd name="adj" fmla="val 50000"/>
            </a:avLst>
          </a:prstGeom>
          <a:solidFill>
            <a:srgbClr val="E6EAF0"/>
          </a:solidFill>
          <a:ln>
            <a:noFill/>
          </a:ln>
        </p:spPr>
      </p:sp>
      <p:pic>
        <p:nvPicPr>
          <p:cNvPr id="363" name="G"/>
          <p:cNvPicPr>
            <a:picLocks noChangeAspect="1"/>
          </p:cNvPicPr>
          <p:nvPr/>
        </p:nvPicPr>
        <p:blipFill>
          <a:blip r:embed="rIdM3"/>
          <a:stretch>
            <a:fillRect/>
          </a:stretch>
        </p:blipFill>
        <p:spPr>
          <a:xfrm>
            <a:off x="4812158" y="2922977"/>
            <a:ext cx="107480" cy="107480"/>
          </a:xfrm>
          <a:prstGeom prst="rect">
            <a:avLst/>
          </a:prstGeom>
        </p:spPr>
      </p:pic>
      <p:sp>
        <p:nvSpPr>
          <p:cNvPr id="364" name="T"/>
          <p:cNvSpPr txBox="1"/>
          <p:nvPr/>
        </p:nvSpPr>
        <p:spPr>
          <a:xfrm>
            <a:off x="4995894" y="2890039"/>
            <a:ext cx="360000" cy="173356"/>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75</a:t>
            </a:r>
            <a:endParaRPr lang="id-ID" sz="664"/>
          </a:p>
        </p:txBody>
      </p:sp>
      <p:sp>
        <p:nvSpPr>
          <p:cNvPr id="365" name="T"/>
          <p:cNvSpPr txBox="1"/>
          <p:nvPr/>
        </p:nvSpPr>
        <p:spPr>
          <a:xfrm>
            <a:off x="5375814" y="2890039"/>
            <a:ext cx="480000" cy="173356"/>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64"/>
          </a:p>
        </p:txBody>
      </p:sp>
      <p:sp>
        <p:nvSpPr>
          <p:cNvPr id="366" name="K"/>
          <p:cNvSpPr/>
          <p:nvPr/>
        </p:nvSpPr>
        <p:spPr>
          <a:xfrm>
            <a:off x="5964742" y="2890039"/>
            <a:ext cx="1155436" cy="173356"/>
          </a:xfrm>
          <a:prstGeom prst="roundRect">
            <a:avLst>
              <a:gd name="adj" fmla="val 50000"/>
            </a:avLst>
          </a:prstGeom>
          <a:solidFill>
            <a:srgbClr val="FBE7D6"/>
          </a:solidFill>
          <a:ln>
            <a:noFill/>
          </a:ln>
        </p:spPr>
      </p:sp>
      <p:pic>
        <p:nvPicPr>
          <p:cNvPr id="367" name="G"/>
          <p:cNvPicPr>
            <a:picLocks noChangeAspect="1"/>
          </p:cNvPicPr>
          <p:nvPr/>
        </p:nvPicPr>
        <p:blipFill>
          <a:blip r:embed="rIdM4"/>
          <a:stretch>
            <a:fillRect/>
          </a:stretch>
        </p:blipFill>
        <p:spPr>
          <a:xfrm>
            <a:off x="6037894" y="2922977"/>
            <a:ext cx="107480" cy="107480"/>
          </a:xfrm>
          <a:prstGeom prst="rect">
            <a:avLst/>
          </a:prstGeom>
        </p:spPr>
      </p:pic>
      <p:sp>
        <p:nvSpPr>
          <p:cNvPr id="368" name="T"/>
          <p:cNvSpPr txBox="1"/>
          <p:nvPr/>
        </p:nvSpPr>
        <p:spPr>
          <a:xfrm>
            <a:off x="6211630" y="2890039"/>
            <a:ext cx="26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64"/>
          </a:p>
        </p:txBody>
      </p:sp>
      <p:sp>
        <p:nvSpPr>
          <p:cNvPr id="369" name="T"/>
          <p:cNvSpPr txBox="1"/>
          <p:nvPr/>
        </p:nvSpPr>
        <p:spPr>
          <a:xfrm>
            <a:off x="6481630" y="2890039"/>
            <a:ext cx="420000" cy="173356"/>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182</a:t>
            </a:r>
            <a:endParaRPr lang="id-ID" sz="664"/>
          </a:p>
        </p:txBody>
      </p:sp>
      <p:sp>
        <p:nvSpPr>
          <p:cNvPr id="370" name="T"/>
          <p:cNvSpPr txBox="1"/>
          <p:nvPr/>
        </p:nvSpPr>
        <p:spPr>
          <a:xfrm>
            <a:off x="6921550" y="2890039"/>
            <a:ext cx="18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64"/>
          </a:p>
        </p:txBody>
      </p:sp>
      <p:cxnSp>
        <p:nvCxnSpPr>
          <p:cNvPr id="371" name="L"/>
          <p:cNvCxnSpPr/>
          <p:nvPr/>
        </p:nvCxnSpPr>
        <p:spPr>
          <a:xfrm>
            <a:off x="676656" y="3108048"/>
            <a:ext cx="6464808" cy="0"/>
          </a:xfrm>
          <a:prstGeom prst="line">
            <a:avLst/>
          </a:prstGeom>
          <a:ln w="9525">
            <a:solidFill>
              <a:srgbClr val="EEF0F3"/>
            </a:solidFill>
          </a:ln>
        </p:spPr>
      </p:cxnSp>
      <p:sp>
        <p:nvSpPr>
          <p:cNvPr id="372" name="K"/>
          <p:cNvSpPr/>
          <p:nvPr/>
        </p:nvSpPr>
        <p:spPr>
          <a:xfrm>
            <a:off x="676656" y="3160580"/>
            <a:ext cx="157597" cy="157597"/>
          </a:xfrm>
          <a:prstGeom prst="ellipse">
            <a:avLst/>
          </a:prstGeom>
          <a:solidFill>
            <a:srgbClr val="D9600B"/>
          </a:solidFill>
          <a:ln>
            <a:noFill/>
          </a:ln>
        </p:spPr>
      </p:sp>
      <p:pic>
        <p:nvPicPr>
          <p:cNvPr id="373" name="G"/>
          <p:cNvPicPr>
            <a:picLocks noChangeAspect="1"/>
          </p:cNvPicPr>
          <p:nvPr/>
        </p:nvPicPr>
        <p:blipFill>
          <a:blip r:embed="rIdM2"/>
          <a:stretch>
            <a:fillRect/>
          </a:stretch>
        </p:blipFill>
        <p:spPr>
          <a:xfrm>
            <a:off x="705023" y="3188947"/>
            <a:ext cx="100862" cy="100862"/>
          </a:xfrm>
          <a:prstGeom prst="rect">
            <a:avLst/>
          </a:prstGeom>
        </p:spPr>
      </p:pic>
      <p:sp>
        <p:nvSpPr>
          <p:cNvPr id="374" name="T"/>
          <p:cNvSpPr txBox="1"/>
          <p:nvPr/>
        </p:nvSpPr>
        <p:spPr>
          <a:xfrm>
            <a:off x="990000" y="3108048"/>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Kalimantan Timur</a:t>
            </a:r>
            <a:endParaRPr lang="id-ID" sz="804"/>
          </a:p>
        </p:txBody>
      </p:sp>
      <p:sp>
        <p:nvSpPr>
          <p:cNvPr id="375" name="T"/>
          <p:cNvSpPr txBox="1"/>
          <p:nvPr/>
        </p:nvSpPr>
        <p:spPr>
          <a:xfrm>
            <a:off x="3291840" y="3108048"/>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126.796</a:t>
            </a:r>
            <a:endParaRPr lang="id-ID" sz="787"/>
          </a:p>
        </p:txBody>
      </p:sp>
      <p:sp>
        <p:nvSpPr>
          <p:cNvPr id="376" name="T"/>
          <p:cNvSpPr txBox="1"/>
          <p:nvPr/>
        </p:nvSpPr>
        <p:spPr>
          <a:xfrm>
            <a:off x="4135450" y="3108048"/>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sp>
        <p:nvSpPr>
          <p:cNvPr id="377" name="K"/>
          <p:cNvSpPr/>
          <p:nvPr/>
        </p:nvSpPr>
        <p:spPr>
          <a:xfrm>
            <a:off x="4739006" y="3152701"/>
            <a:ext cx="1152584" cy="173356"/>
          </a:xfrm>
          <a:prstGeom prst="roundRect">
            <a:avLst>
              <a:gd name="adj" fmla="val 50000"/>
            </a:avLst>
          </a:prstGeom>
          <a:solidFill>
            <a:srgbClr val="E6EAF0"/>
          </a:solidFill>
          <a:ln>
            <a:noFill/>
          </a:ln>
        </p:spPr>
      </p:sp>
      <p:pic>
        <p:nvPicPr>
          <p:cNvPr id="378" name="G"/>
          <p:cNvPicPr>
            <a:picLocks noChangeAspect="1"/>
          </p:cNvPicPr>
          <p:nvPr/>
        </p:nvPicPr>
        <p:blipFill>
          <a:blip r:embed="rIdM3"/>
          <a:stretch>
            <a:fillRect/>
          </a:stretch>
        </p:blipFill>
        <p:spPr>
          <a:xfrm>
            <a:off x="4812158" y="3185639"/>
            <a:ext cx="107480" cy="107480"/>
          </a:xfrm>
          <a:prstGeom prst="rect">
            <a:avLst/>
          </a:prstGeom>
        </p:spPr>
      </p:pic>
      <p:sp>
        <p:nvSpPr>
          <p:cNvPr id="379" name="T"/>
          <p:cNvSpPr txBox="1"/>
          <p:nvPr/>
        </p:nvSpPr>
        <p:spPr>
          <a:xfrm>
            <a:off x="4995894" y="3152701"/>
            <a:ext cx="360000" cy="173356"/>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316</a:t>
            </a:r>
            <a:endParaRPr lang="id-ID" sz="664"/>
          </a:p>
        </p:txBody>
      </p:sp>
      <p:sp>
        <p:nvSpPr>
          <p:cNvPr id="380" name="T"/>
          <p:cNvSpPr txBox="1"/>
          <p:nvPr/>
        </p:nvSpPr>
        <p:spPr>
          <a:xfrm>
            <a:off x="5375814" y="3152701"/>
            <a:ext cx="480000" cy="173356"/>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64"/>
          </a:p>
        </p:txBody>
      </p:sp>
      <p:sp>
        <p:nvSpPr>
          <p:cNvPr id="381" name="K"/>
          <p:cNvSpPr/>
          <p:nvPr/>
        </p:nvSpPr>
        <p:spPr>
          <a:xfrm>
            <a:off x="5964742" y="3152701"/>
            <a:ext cx="1155436" cy="173356"/>
          </a:xfrm>
          <a:prstGeom prst="roundRect">
            <a:avLst>
              <a:gd name="adj" fmla="val 50000"/>
            </a:avLst>
          </a:prstGeom>
          <a:solidFill>
            <a:srgbClr val="FBE7D6"/>
          </a:solidFill>
          <a:ln>
            <a:noFill/>
          </a:ln>
        </p:spPr>
      </p:sp>
      <p:pic>
        <p:nvPicPr>
          <p:cNvPr id="382" name="G"/>
          <p:cNvPicPr>
            <a:picLocks noChangeAspect="1"/>
          </p:cNvPicPr>
          <p:nvPr/>
        </p:nvPicPr>
        <p:blipFill>
          <a:blip r:embed="rIdM4"/>
          <a:stretch>
            <a:fillRect/>
          </a:stretch>
        </p:blipFill>
        <p:spPr>
          <a:xfrm>
            <a:off x="6037894" y="3185639"/>
            <a:ext cx="107480" cy="107480"/>
          </a:xfrm>
          <a:prstGeom prst="rect">
            <a:avLst/>
          </a:prstGeom>
        </p:spPr>
      </p:pic>
      <p:sp>
        <p:nvSpPr>
          <p:cNvPr id="383" name="T"/>
          <p:cNvSpPr txBox="1"/>
          <p:nvPr/>
        </p:nvSpPr>
        <p:spPr>
          <a:xfrm>
            <a:off x="6211630" y="3152701"/>
            <a:ext cx="26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64"/>
          </a:p>
        </p:txBody>
      </p:sp>
      <p:sp>
        <p:nvSpPr>
          <p:cNvPr id="384" name="T"/>
          <p:cNvSpPr txBox="1"/>
          <p:nvPr/>
        </p:nvSpPr>
        <p:spPr>
          <a:xfrm>
            <a:off x="6481630" y="3152701"/>
            <a:ext cx="420000" cy="173356"/>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174</a:t>
            </a:r>
            <a:endParaRPr lang="id-ID" sz="664"/>
          </a:p>
        </p:txBody>
      </p:sp>
      <p:sp>
        <p:nvSpPr>
          <p:cNvPr id="385" name="T"/>
          <p:cNvSpPr txBox="1"/>
          <p:nvPr/>
        </p:nvSpPr>
        <p:spPr>
          <a:xfrm>
            <a:off x="6921550" y="3152701"/>
            <a:ext cx="18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64"/>
          </a:p>
        </p:txBody>
      </p:sp>
      <p:cxnSp>
        <p:nvCxnSpPr>
          <p:cNvPr id="386" name="L"/>
          <p:cNvCxnSpPr/>
          <p:nvPr/>
        </p:nvCxnSpPr>
        <p:spPr>
          <a:xfrm>
            <a:off x="676656" y="3370710"/>
            <a:ext cx="6464808" cy="0"/>
          </a:xfrm>
          <a:prstGeom prst="line">
            <a:avLst/>
          </a:prstGeom>
          <a:ln w="9525">
            <a:solidFill>
              <a:srgbClr val="EEF0F3"/>
            </a:solidFill>
          </a:ln>
        </p:spPr>
      </p:cxnSp>
      <p:sp>
        <p:nvSpPr>
          <p:cNvPr id="387" name="K"/>
          <p:cNvSpPr/>
          <p:nvPr/>
        </p:nvSpPr>
        <p:spPr>
          <a:xfrm>
            <a:off x="676656" y="3423242"/>
            <a:ext cx="157597" cy="157597"/>
          </a:xfrm>
          <a:prstGeom prst="ellipse">
            <a:avLst/>
          </a:prstGeom>
          <a:solidFill>
            <a:srgbClr val="D9600B"/>
          </a:solidFill>
          <a:ln>
            <a:noFill/>
          </a:ln>
        </p:spPr>
      </p:sp>
      <p:pic>
        <p:nvPicPr>
          <p:cNvPr id="388" name="G"/>
          <p:cNvPicPr>
            <a:picLocks noChangeAspect="1"/>
          </p:cNvPicPr>
          <p:nvPr/>
        </p:nvPicPr>
        <p:blipFill>
          <a:blip r:embed="rIdM2"/>
          <a:stretch>
            <a:fillRect/>
          </a:stretch>
        </p:blipFill>
        <p:spPr>
          <a:xfrm>
            <a:off x="705023" y="3451609"/>
            <a:ext cx="100862" cy="100862"/>
          </a:xfrm>
          <a:prstGeom prst="rect">
            <a:avLst/>
          </a:prstGeom>
        </p:spPr>
      </p:pic>
      <p:sp>
        <p:nvSpPr>
          <p:cNvPr id="389" name="T"/>
          <p:cNvSpPr txBox="1"/>
          <p:nvPr/>
        </p:nvSpPr>
        <p:spPr>
          <a:xfrm>
            <a:off x="990000" y="3370710"/>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Maluku Utara</a:t>
            </a:r>
            <a:endParaRPr lang="id-ID" sz="804"/>
          </a:p>
        </p:txBody>
      </p:sp>
      <p:sp>
        <p:nvSpPr>
          <p:cNvPr id="390" name="T"/>
          <p:cNvSpPr txBox="1"/>
          <p:nvPr/>
        </p:nvSpPr>
        <p:spPr>
          <a:xfrm>
            <a:off x="3291840" y="3370710"/>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40.183</a:t>
            </a:r>
            <a:endParaRPr lang="id-ID" sz="787"/>
          </a:p>
        </p:txBody>
      </p:sp>
      <p:sp>
        <p:nvSpPr>
          <p:cNvPr id="391" name="T"/>
          <p:cNvSpPr txBox="1"/>
          <p:nvPr/>
        </p:nvSpPr>
        <p:spPr>
          <a:xfrm>
            <a:off x="4135450" y="3370710"/>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sp>
        <p:nvSpPr>
          <p:cNvPr id="392" name="K"/>
          <p:cNvSpPr/>
          <p:nvPr/>
        </p:nvSpPr>
        <p:spPr>
          <a:xfrm>
            <a:off x="4739006" y="3415363"/>
            <a:ext cx="1152584" cy="173356"/>
          </a:xfrm>
          <a:prstGeom prst="roundRect">
            <a:avLst>
              <a:gd name="adj" fmla="val 50000"/>
            </a:avLst>
          </a:prstGeom>
          <a:solidFill>
            <a:srgbClr val="E6EAF0"/>
          </a:solidFill>
          <a:ln>
            <a:noFill/>
          </a:ln>
        </p:spPr>
      </p:sp>
      <p:pic>
        <p:nvPicPr>
          <p:cNvPr id="393" name="G"/>
          <p:cNvPicPr>
            <a:picLocks noChangeAspect="1"/>
          </p:cNvPicPr>
          <p:nvPr/>
        </p:nvPicPr>
        <p:blipFill>
          <a:blip r:embed="rIdM3"/>
          <a:stretch>
            <a:fillRect/>
          </a:stretch>
        </p:blipFill>
        <p:spPr>
          <a:xfrm>
            <a:off x="4812158" y="3448301"/>
            <a:ext cx="107480" cy="107480"/>
          </a:xfrm>
          <a:prstGeom prst="rect">
            <a:avLst/>
          </a:prstGeom>
        </p:spPr>
      </p:pic>
      <p:sp>
        <p:nvSpPr>
          <p:cNvPr id="394" name="T"/>
          <p:cNvSpPr txBox="1"/>
          <p:nvPr/>
        </p:nvSpPr>
        <p:spPr>
          <a:xfrm>
            <a:off x="4995894" y="3415363"/>
            <a:ext cx="360000" cy="173356"/>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46</a:t>
            </a:r>
            <a:endParaRPr lang="id-ID" sz="664"/>
          </a:p>
        </p:txBody>
      </p:sp>
      <p:sp>
        <p:nvSpPr>
          <p:cNvPr id="395" name="T"/>
          <p:cNvSpPr txBox="1"/>
          <p:nvPr/>
        </p:nvSpPr>
        <p:spPr>
          <a:xfrm>
            <a:off x="5375814" y="3415363"/>
            <a:ext cx="480000" cy="173356"/>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64"/>
          </a:p>
        </p:txBody>
      </p:sp>
      <p:sp>
        <p:nvSpPr>
          <p:cNvPr id="396" name="K"/>
          <p:cNvSpPr/>
          <p:nvPr/>
        </p:nvSpPr>
        <p:spPr>
          <a:xfrm>
            <a:off x="5964742" y="3415363"/>
            <a:ext cx="1155436" cy="173356"/>
          </a:xfrm>
          <a:prstGeom prst="roundRect">
            <a:avLst>
              <a:gd name="adj" fmla="val 50000"/>
            </a:avLst>
          </a:prstGeom>
          <a:solidFill>
            <a:srgbClr val="FBE7D6"/>
          </a:solidFill>
          <a:ln>
            <a:noFill/>
          </a:ln>
        </p:spPr>
      </p:sp>
      <p:pic>
        <p:nvPicPr>
          <p:cNvPr id="397" name="G"/>
          <p:cNvPicPr>
            <a:picLocks noChangeAspect="1"/>
          </p:cNvPicPr>
          <p:nvPr/>
        </p:nvPicPr>
        <p:blipFill>
          <a:blip r:embed="rIdM4"/>
          <a:stretch>
            <a:fillRect/>
          </a:stretch>
        </p:blipFill>
        <p:spPr>
          <a:xfrm>
            <a:off x="6037894" y="3448301"/>
            <a:ext cx="107480" cy="107480"/>
          </a:xfrm>
          <a:prstGeom prst="rect">
            <a:avLst/>
          </a:prstGeom>
        </p:spPr>
      </p:pic>
      <p:sp>
        <p:nvSpPr>
          <p:cNvPr id="398" name="T"/>
          <p:cNvSpPr txBox="1"/>
          <p:nvPr/>
        </p:nvSpPr>
        <p:spPr>
          <a:xfrm>
            <a:off x="6211630" y="3415363"/>
            <a:ext cx="26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64"/>
          </a:p>
        </p:txBody>
      </p:sp>
      <p:sp>
        <p:nvSpPr>
          <p:cNvPr id="399" name="T"/>
          <p:cNvSpPr txBox="1"/>
          <p:nvPr/>
        </p:nvSpPr>
        <p:spPr>
          <a:xfrm>
            <a:off x="6481630" y="3415363"/>
            <a:ext cx="420000" cy="173356"/>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96</a:t>
            </a:r>
            <a:endParaRPr lang="id-ID" sz="664"/>
          </a:p>
        </p:txBody>
      </p:sp>
      <p:sp>
        <p:nvSpPr>
          <p:cNvPr id="400" name="T"/>
          <p:cNvSpPr txBox="1"/>
          <p:nvPr/>
        </p:nvSpPr>
        <p:spPr>
          <a:xfrm>
            <a:off x="6921550" y="3415363"/>
            <a:ext cx="18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64"/>
          </a:p>
        </p:txBody>
      </p:sp>
      <p:cxnSp>
        <p:nvCxnSpPr>
          <p:cNvPr id="401" name="L"/>
          <p:cNvCxnSpPr/>
          <p:nvPr/>
        </p:nvCxnSpPr>
        <p:spPr>
          <a:xfrm>
            <a:off x="676656" y="3633372"/>
            <a:ext cx="6464808" cy="0"/>
          </a:xfrm>
          <a:prstGeom prst="line">
            <a:avLst/>
          </a:prstGeom>
          <a:ln w="9525">
            <a:solidFill>
              <a:srgbClr val="EEF0F3"/>
            </a:solidFill>
          </a:ln>
        </p:spPr>
      </p:cxnSp>
      <p:sp>
        <p:nvSpPr>
          <p:cNvPr id="402" name="K"/>
          <p:cNvSpPr/>
          <p:nvPr/>
        </p:nvSpPr>
        <p:spPr>
          <a:xfrm>
            <a:off x="676656" y="3685904"/>
            <a:ext cx="157597" cy="157597"/>
          </a:xfrm>
          <a:prstGeom prst="ellipse">
            <a:avLst/>
          </a:prstGeom>
          <a:solidFill>
            <a:srgbClr val="D9600B"/>
          </a:solidFill>
          <a:ln>
            <a:noFill/>
          </a:ln>
        </p:spPr>
      </p:sp>
      <p:pic>
        <p:nvPicPr>
          <p:cNvPr id="403" name="G"/>
          <p:cNvPicPr>
            <a:picLocks noChangeAspect="1"/>
          </p:cNvPicPr>
          <p:nvPr/>
        </p:nvPicPr>
        <p:blipFill>
          <a:blip r:embed="rIdM2"/>
          <a:stretch>
            <a:fillRect/>
          </a:stretch>
        </p:blipFill>
        <p:spPr>
          <a:xfrm>
            <a:off x="705023" y="3714271"/>
            <a:ext cx="100862" cy="100862"/>
          </a:xfrm>
          <a:prstGeom prst="rect">
            <a:avLst/>
          </a:prstGeom>
        </p:spPr>
      </p:pic>
      <p:sp>
        <p:nvSpPr>
          <p:cNvPr id="404" name="T"/>
          <p:cNvSpPr txBox="1"/>
          <p:nvPr/>
        </p:nvSpPr>
        <p:spPr>
          <a:xfrm>
            <a:off x="990000" y="3633372"/>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Sulawesi Selatan</a:t>
            </a:r>
            <a:endParaRPr lang="id-ID" sz="804"/>
          </a:p>
        </p:txBody>
      </p:sp>
      <p:sp>
        <p:nvSpPr>
          <p:cNvPr id="405" name="T"/>
          <p:cNvSpPr txBox="1"/>
          <p:nvPr/>
        </p:nvSpPr>
        <p:spPr>
          <a:xfrm>
            <a:off x="3291840" y="3633372"/>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33.745</a:t>
            </a:r>
            <a:endParaRPr lang="id-ID" sz="787"/>
          </a:p>
        </p:txBody>
      </p:sp>
      <p:sp>
        <p:nvSpPr>
          <p:cNvPr id="406" name="T"/>
          <p:cNvSpPr txBox="1"/>
          <p:nvPr/>
        </p:nvSpPr>
        <p:spPr>
          <a:xfrm>
            <a:off x="4135450" y="3633372"/>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sp>
        <p:nvSpPr>
          <p:cNvPr id="407" name="K"/>
          <p:cNvSpPr/>
          <p:nvPr/>
        </p:nvSpPr>
        <p:spPr>
          <a:xfrm>
            <a:off x="4739006" y="3678025"/>
            <a:ext cx="1152584" cy="173356"/>
          </a:xfrm>
          <a:prstGeom prst="roundRect">
            <a:avLst>
              <a:gd name="adj" fmla="val 50000"/>
            </a:avLst>
          </a:prstGeom>
          <a:solidFill>
            <a:srgbClr val="E6EAF0"/>
          </a:solidFill>
          <a:ln>
            <a:noFill/>
          </a:ln>
        </p:spPr>
      </p:sp>
      <p:pic>
        <p:nvPicPr>
          <p:cNvPr id="408" name="G"/>
          <p:cNvPicPr>
            <a:picLocks noChangeAspect="1"/>
          </p:cNvPicPr>
          <p:nvPr/>
        </p:nvPicPr>
        <p:blipFill>
          <a:blip r:embed="rIdM3"/>
          <a:stretch>
            <a:fillRect/>
          </a:stretch>
        </p:blipFill>
        <p:spPr>
          <a:xfrm>
            <a:off x="4812158" y="3710963"/>
            <a:ext cx="107480" cy="107480"/>
          </a:xfrm>
          <a:prstGeom prst="rect">
            <a:avLst/>
          </a:prstGeom>
        </p:spPr>
      </p:pic>
      <p:sp>
        <p:nvSpPr>
          <p:cNvPr id="409" name="T"/>
          <p:cNvSpPr txBox="1"/>
          <p:nvPr/>
        </p:nvSpPr>
        <p:spPr>
          <a:xfrm>
            <a:off x="4995894" y="3678025"/>
            <a:ext cx="360000" cy="173356"/>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125</a:t>
            </a:r>
            <a:endParaRPr lang="id-ID" sz="664"/>
          </a:p>
        </p:txBody>
      </p:sp>
      <p:sp>
        <p:nvSpPr>
          <p:cNvPr id="410" name="T"/>
          <p:cNvSpPr txBox="1"/>
          <p:nvPr/>
        </p:nvSpPr>
        <p:spPr>
          <a:xfrm>
            <a:off x="5375814" y="3678025"/>
            <a:ext cx="480000" cy="173356"/>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64"/>
          </a:p>
        </p:txBody>
      </p:sp>
      <p:sp>
        <p:nvSpPr>
          <p:cNvPr id="411" name="K"/>
          <p:cNvSpPr/>
          <p:nvPr/>
        </p:nvSpPr>
        <p:spPr>
          <a:xfrm>
            <a:off x="5964742" y="3678025"/>
            <a:ext cx="1155436" cy="173356"/>
          </a:xfrm>
          <a:prstGeom prst="roundRect">
            <a:avLst>
              <a:gd name="adj" fmla="val 50000"/>
            </a:avLst>
          </a:prstGeom>
          <a:solidFill>
            <a:srgbClr val="FBE7D6"/>
          </a:solidFill>
          <a:ln>
            <a:noFill/>
          </a:ln>
        </p:spPr>
      </p:sp>
      <p:pic>
        <p:nvPicPr>
          <p:cNvPr id="412" name="G"/>
          <p:cNvPicPr>
            <a:picLocks noChangeAspect="1"/>
          </p:cNvPicPr>
          <p:nvPr/>
        </p:nvPicPr>
        <p:blipFill>
          <a:blip r:embed="rIdM4"/>
          <a:stretch>
            <a:fillRect/>
          </a:stretch>
        </p:blipFill>
        <p:spPr>
          <a:xfrm>
            <a:off x="6037894" y="3710963"/>
            <a:ext cx="107480" cy="107480"/>
          </a:xfrm>
          <a:prstGeom prst="rect">
            <a:avLst/>
          </a:prstGeom>
        </p:spPr>
      </p:pic>
      <p:sp>
        <p:nvSpPr>
          <p:cNvPr id="413" name="T"/>
          <p:cNvSpPr txBox="1"/>
          <p:nvPr/>
        </p:nvSpPr>
        <p:spPr>
          <a:xfrm>
            <a:off x="6211630" y="3678025"/>
            <a:ext cx="26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64"/>
          </a:p>
        </p:txBody>
      </p:sp>
      <p:sp>
        <p:nvSpPr>
          <p:cNvPr id="414" name="T"/>
          <p:cNvSpPr txBox="1"/>
          <p:nvPr/>
        </p:nvSpPr>
        <p:spPr>
          <a:xfrm>
            <a:off x="6481630" y="3678025"/>
            <a:ext cx="420000" cy="173356"/>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89</a:t>
            </a:r>
            <a:endParaRPr lang="id-ID" sz="664"/>
          </a:p>
        </p:txBody>
      </p:sp>
      <p:sp>
        <p:nvSpPr>
          <p:cNvPr id="415" name="T"/>
          <p:cNvSpPr txBox="1"/>
          <p:nvPr/>
        </p:nvSpPr>
        <p:spPr>
          <a:xfrm>
            <a:off x="6921550" y="3678025"/>
            <a:ext cx="18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64"/>
          </a:p>
        </p:txBody>
      </p:sp>
      <p:cxnSp>
        <p:nvCxnSpPr>
          <p:cNvPr id="416" name="L"/>
          <p:cNvCxnSpPr/>
          <p:nvPr/>
        </p:nvCxnSpPr>
        <p:spPr>
          <a:xfrm>
            <a:off x="676656" y="3896034"/>
            <a:ext cx="6464808" cy="0"/>
          </a:xfrm>
          <a:prstGeom prst="line">
            <a:avLst/>
          </a:prstGeom>
          <a:ln w="9525">
            <a:solidFill>
              <a:srgbClr val="EEF0F3"/>
            </a:solidFill>
          </a:ln>
        </p:spPr>
      </p:cxnSp>
      <p:sp>
        <p:nvSpPr>
          <p:cNvPr id="417" name="K"/>
          <p:cNvSpPr/>
          <p:nvPr/>
        </p:nvSpPr>
        <p:spPr>
          <a:xfrm>
            <a:off x="676656" y="3948566"/>
            <a:ext cx="157597" cy="157597"/>
          </a:xfrm>
          <a:prstGeom prst="ellipse">
            <a:avLst/>
          </a:prstGeom>
          <a:solidFill>
            <a:srgbClr val="D9600B"/>
          </a:solidFill>
          <a:ln>
            <a:noFill/>
          </a:ln>
        </p:spPr>
      </p:sp>
      <p:pic>
        <p:nvPicPr>
          <p:cNvPr id="418" name="G"/>
          <p:cNvPicPr>
            <a:picLocks noChangeAspect="1"/>
          </p:cNvPicPr>
          <p:nvPr/>
        </p:nvPicPr>
        <p:blipFill>
          <a:blip r:embed="rIdM2"/>
          <a:stretch>
            <a:fillRect/>
          </a:stretch>
        </p:blipFill>
        <p:spPr>
          <a:xfrm>
            <a:off x="705023" y="3976933"/>
            <a:ext cx="100862" cy="100862"/>
          </a:xfrm>
          <a:prstGeom prst="rect">
            <a:avLst/>
          </a:prstGeom>
        </p:spPr>
      </p:pic>
      <p:sp>
        <p:nvSpPr>
          <p:cNvPr id="419" name="T"/>
          <p:cNvSpPr txBox="1"/>
          <p:nvPr/>
        </p:nvSpPr>
        <p:spPr>
          <a:xfrm>
            <a:off x="990000" y="3896034"/>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Papua Barat</a:t>
            </a:r>
            <a:endParaRPr lang="id-ID" sz="804"/>
          </a:p>
        </p:txBody>
      </p:sp>
      <p:sp>
        <p:nvSpPr>
          <p:cNvPr id="420" name="T"/>
          <p:cNvSpPr txBox="1"/>
          <p:nvPr/>
        </p:nvSpPr>
        <p:spPr>
          <a:xfrm>
            <a:off x="3291840" y="3896034"/>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54.491</a:t>
            </a:r>
            <a:endParaRPr lang="id-ID" sz="787"/>
          </a:p>
        </p:txBody>
      </p:sp>
      <p:sp>
        <p:nvSpPr>
          <p:cNvPr id="421" name="T"/>
          <p:cNvSpPr txBox="1"/>
          <p:nvPr/>
        </p:nvSpPr>
        <p:spPr>
          <a:xfrm>
            <a:off x="4135450" y="3896034"/>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sp>
        <p:nvSpPr>
          <p:cNvPr id="422" name="K"/>
          <p:cNvSpPr/>
          <p:nvPr/>
        </p:nvSpPr>
        <p:spPr>
          <a:xfrm>
            <a:off x="4739006" y="3940687"/>
            <a:ext cx="1152584" cy="173356"/>
          </a:xfrm>
          <a:prstGeom prst="roundRect">
            <a:avLst>
              <a:gd name="adj" fmla="val 50000"/>
            </a:avLst>
          </a:prstGeom>
          <a:solidFill>
            <a:srgbClr val="E6EAF0"/>
          </a:solidFill>
          <a:ln>
            <a:noFill/>
          </a:ln>
        </p:spPr>
      </p:sp>
      <p:pic>
        <p:nvPicPr>
          <p:cNvPr id="423" name="G"/>
          <p:cNvPicPr>
            <a:picLocks noChangeAspect="1"/>
          </p:cNvPicPr>
          <p:nvPr/>
        </p:nvPicPr>
        <p:blipFill>
          <a:blip r:embed="rIdM3"/>
          <a:stretch>
            <a:fillRect/>
          </a:stretch>
        </p:blipFill>
        <p:spPr>
          <a:xfrm>
            <a:off x="4812158" y="3973625"/>
            <a:ext cx="107480" cy="107480"/>
          </a:xfrm>
          <a:prstGeom prst="rect">
            <a:avLst/>
          </a:prstGeom>
        </p:spPr>
      </p:pic>
      <p:sp>
        <p:nvSpPr>
          <p:cNvPr id="424" name="T"/>
          <p:cNvSpPr txBox="1"/>
          <p:nvPr/>
        </p:nvSpPr>
        <p:spPr>
          <a:xfrm>
            <a:off x="4995894" y="3940687"/>
            <a:ext cx="360000" cy="173356"/>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14</a:t>
            </a:r>
            <a:endParaRPr lang="id-ID" sz="664"/>
          </a:p>
        </p:txBody>
      </p:sp>
      <p:sp>
        <p:nvSpPr>
          <p:cNvPr id="425" name="T"/>
          <p:cNvSpPr txBox="1"/>
          <p:nvPr/>
        </p:nvSpPr>
        <p:spPr>
          <a:xfrm>
            <a:off x="5375814" y="3940687"/>
            <a:ext cx="480000" cy="173356"/>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64"/>
          </a:p>
        </p:txBody>
      </p:sp>
      <p:sp>
        <p:nvSpPr>
          <p:cNvPr id="426" name="K"/>
          <p:cNvSpPr/>
          <p:nvPr/>
        </p:nvSpPr>
        <p:spPr>
          <a:xfrm>
            <a:off x="5964742" y="3940687"/>
            <a:ext cx="1155436" cy="173356"/>
          </a:xfrm>
          <a:prstGeom prst="roundRect">
            <a:avLst>
              <a:gd name="adj" fmla="val 50000"/>
            </a:avLst>
          </a:prstGeom>
          <a:solidFill>
            <a:srgbClr val="FBE7D6"/>
          </a:solidFill>
          <a:ln>
            <a:noFill/>
          </a:ln>
        </p:spPr>
      </p:sp>
      <p:pic>
        <p:nvPicPr>
          <p:cNvPr id="427" name="G"/>
          <p:cNvPicPr>
            <a:picLocks noChangeAspect="1"/>
          </p:cNvPicPr>
          <p:nvPr/>
        </p:nvPicPr>
        <p:blipFill>
          <a:blip r:embed="rIdM4"/>
          <a:stretch>
            <a:fillRect/>
          </a:stretch>
        </p:blipFill>
        <p:spPr>
          <a:xfrm>
            <a:off x="6037894" y="3973625"/>
            <a:ext cx="107480" cy="107480"/>
          </a:xfrm>
          <a:prstGeom prst="rect">
            <a:avLst/>
          </a:prstGeom>
        </p:spPr>
      </p:pic>
      <p:sp>
        <p:nvSpPr>
          <p:cNvPr id="428" name="T"/>
          <p:cNvSpPr txBox="1"/>
          <p:nvPr/>
        </p:nvSpPr>
        <p:spPr>
          <a:xfrm>
            <a:off x="6211630" y="3940687"/>
            <a:ext cx="26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64"/>
          </a:p>
        </p:txBody>
      </p:sp>
      <p:sp>
        <p:nvSpPr>
          <p:cNvPr id="429" name="T"/>
          <p:cNvSpPr txBox="1"/>
          <p:nvPr/>
        </p:nvSpPr>
        <p:spPr>
          <a:xfrm>
            <a:off x="6481630" y="3940687"/>
            <a:ext cx="420000" cy="173356"/>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87</a:t>
            </a:r>
            <a:endParaRPr lang="id-ID" sz="664"/>
          </a:p>
        </p:txBody>
      </p:sp>
      <p:sp>
        <p:nvSpPr>
          <p:cNvPr id="430" name="T"/>
          <p:cNvSpPr txBox="1"/>
          <p:nvPr/>
        </p:nvSpPr>
        <p:spPr>
          <a:xfrm>
            <a:off x="6921550" y="3940687"/>
            <a:ext cx="18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64"/>
          </a:p>
        </p:txBody>
      </p:sp>
      <p:cxnSp>
        <p:nvCxnSpPr>
          <p:cNvPr id="431" name="L"/>
          <p:cNvCxnSpPr/>
          <p:nvPr/>
        </p:nvCxnSpPr>
        <p:spPr>
          <a:xfrm>
            <a:off x="676656" y="4158696"/>
            <a:ext cx="6464808" cy="0"/>
          </a:xfrm>
          <a:prstGeom prst="line">
            <a:avLst/>
          </a:prstGeom>
          <a:ln w="9525">
            <a:solidFill>
              <a:srgbClr val="EEF0F3"/>
            </a:solidFill>
          </a:ln>
        </p:spPr>
      </p:cxnSp>
      <p:sp>
        <p:nvSpPr>
          <p:cNvPr id="432" name="K"/>
          <p:cNvSpPr/>
          <p:nvPr/>
        </p:nvSpPr>
        <p:spPr>
          <a:xfrm>
            <a:off x="676656" y="4211228"/>
            <a:ext cx="157597" cy="157597"/>
          </a:xfrm>
          <a:prstGeom prst="ellipse">
            <a:avLst/>
          </a:prstGeom>
          <a:solidFill>
            <a:srgbClr val="D9600B"/>
          </a:solidFill>
          <a:ln>
            <a:noFill/>
          </a:ln>
        </p:spPr>
      </p:sp>
      <p:pic>
        <p:nvPicPr>
          <p:cNvPr id="433" name="G"/>
          <p:cNvPicPr>
            <a:picLocks noChangeAspect="1"/>
          </p:cNvPicPr>
          <p:nvPr/>
        </p:nvPicPr>
        <p:blipFill>
          <a:blip r:embed="rIdM2"/>
          <a:stretch>
            <a:fillRect/>
          </a:stretch>
        </p:blipFill>
        <p:spPr>
          <a:xfrm>
            <a:off x="705023" y="4239595"/>
            <a:ext cx="100862" cy="100862"/>
          </a:xfrm>
          <a:prstGeom prst="rect">
            <a:avLst/>
          </a:prstGeom>
        </p:spPr>
      </p:pic>
      <p:sp>
        <p:nvSpPr>
          <p:cNvPr id="434" name="T"/>
          <p:cNvSpPr txBox="1"/>
          <p:nvPr/>
        </p:nvSpPr>
        <p:spPr>
          <a:xfrm>
            <a:off x="990000" y="4158696"/>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Nusa Tenggara Timur</a:t>
            </a:r>
            <a:endParaRPr lang="id-ID" sz="804"/>
          </a:p>
        </p:txBody>
      </p:sp>
      <p:sp>
        <p:nvSpPr>
          <p:cNvPr id="435" name="T"/>
          <p:cNvSpPr txBox="1"/>
          <p:nvPr/>
        </p:nvSpPr>
        <p:spPr>
          <a:xfrm>
            <a:off x="3291840" y="4158696"/>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56.871</a:t>
            </a:r>
            <a:endParaRPr lang="id-ID" sz="787"/>
          </a:p>
        </p:txBody>
      </p:sp>
      <p:sp>
        <p:nvSpPr>
          <p:cNvPr id="436" name="T"/>
          <p:cNvSpPr txBox="1"/>
          <p:nvPr/>
        </p:nvSpPr>
        <p:spPr>
          <a:xfrm>
            <a:off x="4135450" y="4158696"/>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sp>
        <p:nvSpPr>
          <p:cNvPr id="437" name="K"/>
          <p:cNvSpPr/>
          <p:nvPr/>
        </p:nvSpPr>
        <p:spPr>
          <a:xfrm>
            <a:off x="4739006" y="4203349"/>
            <a:ext cx="1152584" cy="173356"/>
          </a:xfrm>
          <a:prstGeom prst="roundRect">
            <a:avLst>
              <a:gd name="adj" fmla="val 50000"/>
            </a:avLst>
          </a:prstGeom>
          <a:solidFill>
            <a:srgbClr val="E6EAF0"/>
          </a:solidFill>
          <a:ln>
            <a:noFill/>
          </a:ln>
        </p:spPr>
      </p:sp>
      <p:pic>
        <p:nvPicPr>
          <p:cNvPr id="438" name="G"/>
          <p:cNvPicPr>
            <a:picLocks noChangeAspect="1"/>
          </p:cNvPicPr>
          <p:nvPr/>
        </p:nvPicPr>
        <p:blipFill>
          <a:blip r:embed="rIdM3"/>
          <a:stretch>
            <a:fillRect/>
          </a:stretch>
        </p:blipFill>
        <p:spPr>
          <a:xfrm>
            <a:off x="4812158" y="4236287"/>
            <a:ext cx="107480" cy="107480"/>
          </a:xfrm>
          <a:prstGeom prst="rect">
            <a:avLst/>
          </a:prstGeom>
        </p:spPr>
      </p:pic>
      <p:sp>
        <p:nvSpPr>
          <p:cNvPr id="439" name="T"/>
          <p:cNvSpPr txBox="1"/>
          <p:nvPr/>
        </p:nvSpPr>
        <p:spPr>
          <a:xfrm>
            <a:off x="4995894" y="4203349"/>
            <a:ext cx="360000" cy="173356"/>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60</a:t>
            </a:r>
            <a:endParaRPr lang="id-ID" sz="664"/>
          </a:p>
        </p:txBody>
      </p:sp>
      <p:sp>
        <p:nvSpPr>
          <p:cNvPr id="440" name="T"/>
          <p:cNvSpPr txBox="1"/>
          <p:nvPr/>
        </p:nvSpPr>
        <p:spPr>
          <a:xfrm>
            <a:off x="5375814" y="4203349"/>
            <a:ext cx="480000" cy="173356"/>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64"/>
          </a:p>
        </p:txBody>
      </p:sp>
      <p:sp>
        <p:nvSpPr>
          <p:cNvPr id="441" name="K"/>
          <p:cNvSpPr/>
          <p:nvPr/>
        </p:nvSpPr>
        <p:spPr>
          <a:xfrm>
            <a:off x="5964742" y="4203349"/>
            <a:ext cx="1155436" cy="173356"/>
          </a:xfrm>
          <a:prstGeom prst="roundRect">
            <a:avLst>
              <a:gd name="adj" fmla="val 50000"/>
            </a:avLst>
          </a:prstGeom>
          <a:solidFill>
            <a:srgbClr val="FBE7D6"/>
          </a:solidFill>
          <a:ln>
            <a:noFill/>
          </a:ln>
        </p:spPr>
      </p:sp>
      <p:pic>
        <p:nvPicPr>
          <p:cNvPr id="442" name="G"/>
          <p:cNvPicPr>
            <a:picLocks noChangeAspect="1"/>
          </p:cNvPicPr>
          <p:nvPr/>
        </p:nvPicPr>
        <p:blipFill>
          <a:blip r:embed="rIdM4"/>
          <a:stretch>
            <a:fillRect/>
          </a:stretch>
        </p:blipFill>
        <p:spPr>
          <a:xfrm>
            <a:off x="6037894" y="4236287"/>
            <a:ext cx="107480" cy="107480"/>
          </a:xfrm>
          <a:prstGeom prst="rect">
            <a:avLst/>
          </a:prstGeom>
        </p:spPr>
      </p:pic>
      <p:sp>
        <p:nvSpPr>
          <p:cNvPr id="443" name="T"/>
          <p:cNvSpPr txBox="1"/>
          <p:nvPr/>
        </p:nvSpPr>
        <p:spPr>
          <a:xfrm>
            <a:off x="6211630" y="4203349"/>
            <a:ext cx="26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64"/>
          </a:p>
        </p:txBody>
      </p:sp>
      <p:sp>
        <p:nvSpPr>
          <p:cNvPr id="444" name="T"/>
          <p:cNvSpPr txBox="1"/>
          <p:nvPr/>
        </p:nvSpPr>
        <p:spPr>
          <a:xfrm>
            <a:off x="6481630" y="4203349"/>
            <a:ext cx="420000" cy="173356"/>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52</a:t>
            </a:r>
            <a:endParaRPr lang="id-ID" sz="664"/>
          </a:p>
        </p:txBody>
      </p:sp>
      <p:sp>
        <p:nvSpPr>
          <p:cNvPr id="445" name="T"/>
          <p:cNvSpPr txBox="1"/>
          <p:nvPr/>
        </p:nvSpPr>
        <p:spPr>
          <a:xfrm>
            <a:off x="6921550" y="4203349"/>
            <a:ext cx="18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64"/>
          </a:p>
        </p:txBody>
      </p:sp>
      <p:cxnSp>
        <p:nvCxnSpPr>
          <p:cNvPr id="446" name="L"/>
          <p:cNvCxnSpPr/>
          <p:nvPr/>
        </p:nvCxnSpPr>
        <p:spPr>
          <a:xfrm>
            <a:off x="676656" y="4421358"/>
            <a:ext cx="6464808" cy="0"/>
          </a:xfrm>
          <a:prstGeom prst="line">
            <a:avLst/>
          </a:prstGeom>
          <a:ln w="9525">
            <a:solidFill>
              <a:srgbClr val="EEF0F3"/>
            </a:solidFill>
          </a:ln>
        </p:spPr>
      </p:cxnSp>
      <p:sp>
        <p:nvSpPr>
          <p:cNvPr id="447" name="K"/>
          <p:cNvSpPr/>
          <p:nvPr/>
        </p:nvSpPr>
        <p:spPr>
          <a:xfrm>
            <a:off x="676656" y="4473890"/>
            <a:ext cx="157597" cy="157597"/>
          </a:xfrm>
          <a:prstGeom prst="ellipse">
            <a:avLst/>
          </a:prstGeom>
          <a:solidFill>
            <a:srgbClr val="D9600B"/>
          </a:solidFill>
          <a:ln>
            <a:noFill/>
          </a:ln>
        </p:spPr>
      </p:sp>
      <p:pic>
        <p:nvPicPr>
          <p:cNvPr id="448" name="G"/>
          <p:cNvPicPr>
            <a:picLocks noChangeAspect="1"/>
          </p:cNvPicPr>
          <p:nvPr/>
        </p:nvPicPr>
        <p:blipFill>
          <a:blip r:embed="rIdM2"/>
          <a:stretch>
            <a:fillRect/>
          </a:stretch>
        </p:blipFill>
        <p:spPr>
          <a:xfrm>
            <a:off x="705023" y="4502257"/>
            <a:ext cx="100862" cy="100862"/>
          </a:xfrm>
          <a:prstGeom prst="rect">
            <a:avLst/>
          </a:prstGeom>
        </p:spPr>
      </p:pic>
      <p:sp>
        <p:nvSpPr>
          <p:cNvPr id="449" name="T"/>
          <p:cNvSpPr txBox="1"/>
          <p:nvPr/>
        </p:nvSpPr>
        <p:spPr>
          <a:xfrm>
            <a:off x="990000" y="4421358"/>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Kalimantan Tengah</a:t>
            </a:r>
            <a:endParaRPr lang="id-ID" sz="804"/>
          </a:p>
        </p:txBody>
      </p:sp>
      <p:sp>
        <p:nvSpPr>
          <p:cNvPr id="450" name="T"/>
          <p:cNvSpPr txBox="1"/>
          <p:nvPr/>
        </p:nvSpPr>
        <p:spPr>
          <a:xfrm>
            <a:off x="3291840" y="4421358"/>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688.227</a:t>
            </a:r>
            <a:endParaRPr lang="id-ID" sz="787"/>
          </a:p>
        </p:txBody>
      </p:sp>
      <p:sp>
        <p:nvSpPr>
          <p:cNvPr id="451" name="T"/>
          <p:cNvSpPr txBox="1"/>
          <p:nvPr/>
        </p:nvSpPr>
        <p:spPr>
          <a:xfrm>
            <a:off x="4135450" y="4421358"/>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sp>
        <p:nvSpPr>
          <p:cNvPr id="452" name="K"/>
          <p:cNvSpPr/>
          <p:nvPr/>
        </p:nvSpPr>
        <p:spPr>
          <a:xfrm>
            <a:off x="4739006" y="4466011"/>
            <a:ext cx="1152584" cy="173356"/>
          </a:xfrm>
          <a:prstGeom prst="roundRect">
            <a:avLst>
              <a:gd name="adj" fmla="val 50000"/>
            </a:avLst>
          </a:prstGeom>
          <a:solidFill>
            <a:srgbClr val="E6EAF0"/>
          </a:solidFill>
          <a:ln>
            <a:noFill/>
          </a:ln>
        </p:spPr>
      </p:sp>
      <p:pic>
        <p:nvPicPr>
          <p:cNvPr id="453" name="G"/>
          <p:cNvPicPr>
            <a:picLocks noChangeAspect="1"/>
          </p:cNvPicPr>
          <p:nvPr/>
        </p:nvPicPr>
        <p:blipFill>
          <a:blip r:embed="rIdM3"/>
          <a:stretch>
            <a:fillRect/>
          </a:stretch>
        </p:blipFill>
        <p:spPr>
          <a:xfrm>
            <a:off x="4812158" y="4498949"/>
            <a:ext cx="107480" cy="107480"/>
          </a:xfrm>
          <a:prstGeom prst="rect">
            <a:avLst/>
          </a:prstGeom>
        </p:spPr>
      </p:pic>
      <p:sp>
        <p:nvSpPr>
          <p:cNvPr id="454" name="T"/>
          <p:cNvSpPr txBox="1"/>
          <p:nvPr/>
        </p:nvSpPr>
        <p:spPr>
          <a:xfrm>
            <a:off x="4995894" y="4466011"/>
            <a:ext cx="360000" cy="173356"/>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260</a:t>
            </a:r>
            <a:endParaRPr lang="id-ID" sz="664"/>
          </a:p>
        </p:txBody>
      </p:sp>
      <p:sp>
        <p:nvSpPr>
          <p:cNvPr id="455" name="T"/>
          <p:cNvSpPr txBox="1"/>
          <p:nvPr/>
        </p:nvSpPr>
        <p:spPr>
          <a:xfrm>
            <a:off x="5375814" y="4466011"/>
            <a:ext cx="480000" cy="173356"/>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64"/>
          </a:p>
        </p:txBody>
      </p:sp>
      <p:sp>
        <p:nvSpPr>
          <p:cNvPr id="456" name="K"/>
          <p:cNvSpPr/>
          <p:nvPr/>
        </p:nvSpPr>
        <p:spPr>
          <a:xfrm>
            <a:off x="5964742" y="4466011"/>
            <a:ext cx="1155436" cy="173356"/>
          </a:xfrm>
          <a:prstGeom prst="roundRect">
            <a:avLst>
              <a:gd name="adj" fmla="val 50000"/>
            </a:avLst>
          </a:prstGeom>
          <a:solidFill>
            <a:srgbClr val="FBE7D6"/>
          </a:solidFill>
          <a:ln>
            <a:noFill/>
          </a:ln>
        </p:spPr>
      </p:sp>
      <p:pic>
        <p:nvPicPr>
          <p:cNvPr id="457" name="G"/>
          <p:cNvPicPr>
            <a:picLocks noChangeAspect="1"/>
          </p:cNvPicPr>
          <p:nvPr/>
        </p:nvPicPr>
        <p:blipFill>
          <a:blip r:embed="rIdM4"/>
          <a:stretch>
            <a:fillRect/>
          </a:stretch>
        </p:blipFill>
        <p:spPr>
          <a:xfrm>
            <a:off x="6037894" y="4498949"/>
            <a:ext cx="107480" cy="107480"/>
          </a:xfrm>
          <a:prstGeom prst="rect">
            <a:avLst/>
          </a:prstGeom>
        </p:spPr>
      </p:pic>
      <p:sp>
        <p:nvSpPr>
          <p:cNvPr id="458" name="T"/>
          <p:cNvSpPr txBox="1"/>
          <p:nvPr/>
        </p:nvSpPr>
        <p:spPr>
          <a:xfrm>
            <a:off x="6211630" y="4466011"/>
            <a:ext cx="26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64"/>
          </a:p>
        </p:txBody>
      </p:sp>
      <p:sp>
        <p:nvSpPr>
          <p:cNvPr id="459" name="T"/>
          <p:cNvSpPr txBox="1"/>
          <p:nvPr/>
        </p:nvSpPr>
        <p:spPr>
          <a:xfrm>
            <a:off x="6481630" y="4466011"/>
            <a:ext cx="420000" cy="173356"/>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15</a:t>
            </a:r>
            <a:endParaRPr lang="id-ID" sz="664"/>
          </a:p>
        </p:txBody>
      </p:sp>
      <p:sp>
        <p:nvSpPr>
          <p:cNvPr id="460" name="T"/>
          <p:cNvSpPr txBox="1"/>
          <p:nvPr/>
        </p:nvSpPr>
        <p:spPr>
          <a:xfrm>
            <a:off x="6921550" y="4466011"/>
            <a:ext cx="18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64"/>
          </a:p>
        </p:txBody>
      </p:sp>
      <p:cxnSp>
        <p:nvCxnSpPr>
          <p:cNvPr id="461" name="L"/>
          <p:cNvCxnSpPr/>
          <p:nvPr/>
        </p:nvCxnSpPr>
        <p:spPr>
          <a:xfrm>
            <a:off x="676656" y="4684020"/>
            <a:ext cx="6464808" cy="0"/>
          </a:xfrm>
          <a:prstGeom prst="line">
            <a:avLst/>
          </a:prstGeom>
          <a:ln w="9525">
            <a:solidFill>
              <a:srgbClr val="EEF0F3"/>
            </a:solidFill>
          </a:ln>
        </p:spPr>
      </p:cxnSp>
      <p:sp>
        <p:nvSpPr>
          <p:cNvPr id="462" name="K"/>
          <p:cNvSpPr/>
          <p:nvPr/>
        </p:nvSpPr>
        <p:spPr>
          <a:xfrm>
            <a:off x="676656" y="4736552"/>
            <a:ext cx="157597" cy="157597"/>
          </a:xfrm>
          <a:prstGeom prst="ellipse">
            <a:avLst/>
          </a:prstGeom>
          <a:solidFill>
            <a:srgbClr val="D9600B"/>
          </a:solidFill>
          <a:ln>
            <a:noFill/>
          </a:ln>
        </p:spPr>
      </p:sp>
      <p:pic>
        <p:nvPicPr>
          <p:cNvPr id="463" name="G"/>
          <p:cNvPicPr>
            <a:picLocks noChangeAspect="1"/>
          </p:cNvPicPr>
          <p:nvPr/>
        </p:nvPicPr>
        <p:blipFill>
          <a:blip r:embed="rIdM2"/>
          <a:stretch>
            <a:fillRect/>
          </a:stretch>
        </p:blipFill>
        <p:spPr>
          <a:xfrm>
            <a:off x="705023" y="4764919"/>
            <a:ext cx="100862" cy="100862"/>
          </a:xfrm>
          <a:prstGeom prst="rect">
            <a:avLst/>
          </a:prstGeom>
        </p:spPr>
      </p:pic>
      <p:sp>
        <p:nvSpPr>
          <p:cNvPr id="464" name="T"/>
          <p:cNvSpPr txBox="1"/>
          <p:nvPr/>
        </p:nvSpPr>
        <p:spPr>
          <a:xfrm>
            <a:off x="990000" y="4684020"/>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Kalimantan Selatan</a:t>
            </a:r>
            <a:endParaRPr lang="id-ID" sz="804"/>
          </a:p>
        </p:txBody>
      </p:sp>
      <p:sp>
        <p:nvSpPr>
          <p:cNvPr id="465" name="T"/>
          <p:cNvSpPr txBox="1"/>
          <p:nvPr/>
        </p:nvSpPr>
        <p:spPr>
          <a:xfrm>
            <a:off x="3291840" y="4684020"/>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105.211</a:t>
            </a:r>
            <a:endParaRPr lang="id-ID" sz="787"/>
          </a:p>
        </p:txBody>
      </p:sp>
      <p:sp>
        <p:nvSpPr>
          <p:cNvPr id="466" name="T"/>
          <p:cNvSpPr txBox="1"/>
          <p:nvPr/>
        </p:nvSpPr>
        <p:spPr>
          <a:xfrm>
            <a:off x="4135450" y="4684020"/>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sp>
        <p:nvSpPr>
          <p:cNvPr id="467" name="K"/>
          <p:cNvSpPr/>
          <p:nvPr/>
        </p:nvSpPr>
        <p:spPr>
          <a:xfrm>
            <a:off x="4739006" y="4728673"/>
            <a:ext cx="1152584" cy="173356"/>
          </a:xfrm>
          <a:prstGeom prst="roundRect">
            <a:avLst>
              <a:gd name="adj" fmla="val 50000"/>
            </a:avLst>
          </a:prstGeom>
          <a:solidFill>
            <a:srgbClr val="E6EAF0"/>
          </a:solidFill>
          <a:ln>
            <a:noFill/>
          </a:ln>
        </p:spPr>
      </p:sp>
      <p:pic>
        <p:nvPicPr>
          <p:cNvPr id="468" name="G"/>
          <p:cNvPicPr>
            <a:picLocks noChangeAspect="1"/>
          </p:cNvPicPr>
          <p:nvPr/>
        </p:nvPicPr>
        <p:blipFill>
          <a:blip r:embed="rIdM3"/>
          <a:stretch>
            <a:fillRect/>
          </a:stretch>
        </p:blipFill>
        <p:spPr>
          <a:xfrm>
            <a:off x="4812158" y="4761611"/>
            <a:ext cx="107480" cy="107480"/>
          </a:xfrm>
          <a:prstGeom prst="rect">
            <a:avLst/>
          </a:prstGeom>
        </p:spPr>
      </p:pic>
      <p:sp>
        <p:nvSpPr>
          <p:cNvPr id="469" name="T"/>
          <p:cNvSpPr txBox="1"/>
          <p:nvPr/>
        </p:nvSpPr>
        <p:spPr>
          <a:xfrm>
            <a:off x="4995894" y="4728673"/>
            <a:ext cx="360000" cy="173356"/>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32</a:t>
            </a:r>
            <a:endParaRPr lang="id-ID" sz="664"/>
          </a:p>
        </p:txBody>
      </p:sp>
      <p:sp>
        <p:nvSpPr>
          <p:cNvPr id="470" name="T"/>
          <p:cNvSpPr txBox="1"/>
          <p:nvPr/>
        </p:nvSpPr>
        <p:spPr>
          <a:xfrm>
            <a:off x="5375814" y="4728673"/>
            <a:ext cx="480000" cy="173356"/>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64"/>
          </a:p>
        </p:txBody>
      </p:sp>
      <p:sp>
        <p:nvSpPr>
          <p:cNvPr id="471" name="K"/>
          <p:cNvSpPr/>
          <p:nvPr/>
        </p:nvSpPr>
        <p:spPr>
          <a:xfrm>
            <a:off x="5964742" y="4728673"/>
            <a:ext cx="1155436" cy="173356"/>
          </a:xfrm>
          <a:prstGeom prst="roundRect">
            <a:avLst>
              <a:gd name="adj" fmla="val 50000"/>
            </a:avLst>
          </a:prstGeom>
          <a:solidFill>
            <a:srgbClr val="FBE7D6"/>
          </a:solidFill>
          <a:ln>
            <a:noFill/>
          </a:ln>
        </p:spPr>
      </p:sp>
      <p:pic>
        <p:nvPicPr>
          <p:cNvPr id="472" name="G"/>
          <p:cNvPicPr>
            <a:picLocks noChangeAspect="1"/>
          </p:cNvPicPr>
          <p:nvPr/>
        </p:nvPicPr>
        <p:blipFill>
          <a:blip r:embed="rIdM4"/>
          <a:stretch>
            <a:fillRect/>
          </a:stretch>
        </p:blipFill>
        <p:spPr>
          <a:xfrm>
            <a:off x="6037894" y="4761611"/>
            <a:ext cx="107480" cy="107480"/>
          </a:xfrm>
          <a:prstGeom prst="rect">
            <a:avLst/>
          </a:prstGeom>
        </p:spPr>
      </p:pic>
      <p:sp>
        <p:nvSpPr>
          <p:cNvPr id="473" name="T"/>
          <p:cNvSpPr txBox="1"/>
          <p:nvPr/>
        </p:nvSpPr>
        <p:spPr>
          <a:xfrm>
            <a:off x="6211630" y="4728673"/>
            <a:ext cx="26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64"/>
          </a:p>
        </p:txBody>
      </p:sp>
      <p:sp>
        <p:nvSpPr>
          <p:cNvPr id="474" name="T"/>
          <p:cNvSpPr txBox="1"/>
          <p:nvPr/>
        </p:nvSpPr>
        <p:spPr>
          <a:xfrm>
            <a:off x="6481630" y="4728673"/>
            <a:ext cx="420000" cy="173356"/>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6</a:t>
            </a:r>
            <a:endParaRPr lang="id-ID" sz="664"/>
          </a:p>
        </p:txBody>
      </p:sp>
      <p:sp>
        <p:nvSpPr>
          <p:cNvPr id="475" name="T"/>
          <p:cNvSpPr txBox="1"/>
          <p:nvPr/>
        </p:nvSpPr>
        <p:spPr>
          <a:xfrm>
            <a:off x="6921550" y="4728673"/>
            <a:ext cx="18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64"/>
          </a:p>
        </p:txBody>
      </p:sp>
      <p:cxnSp>
        <p:nvCxnSpPr>
          <p:cNvPr id="476" name="L"/>
          <p:cNvCxnSpPr/>
          <p:nvPr/>
        </p:nvCxnSpPr>
        <p:spPr>
          <a:xfrm>
            <a:off x="676656" y="4946682"/>
            <a:ext cx="6464808" cy="0"/>
          </a:xfrm>
          <a:prstGeom prst="line">
            <a:avLst/>
          </a:prstGeom>
          <a:ln w="9525">
            <a:solidFill>
              <a:srgbClr val="EEF0F3"/>
            </a:solidFill>
          </a:ln>
        </p:spPr>
      </p:cxnSp>
      <p:sp>
        <p:nvSpPr>
          <p:cNvPr id="477" name="K"/>
          <p:cNvSpPr/>
          <p:nvPr/>
        </p:nvSpPr>
        <p:spPr>
          <a:xfrm>
            <a:off x="676656" y="4999214"/>
            <a:ext cx="157597" cy="157597"/>
          </a:xfrm>
          <a:prstGeom prst="ellipse">
            <a:avLst/>
          </a:prstGeom>
          <a:solidFill>
            <a:srgbClr val="D9600B"/>
          </a:solidFill>
          <a:ln>
            <a:noFill/>
          </a:ln>
        </p:spPr>
      </p:sp>
      <p:pic>
        <p:nvPicPr>
          <p:cNvPr id="478" name="G"/>
          <p:cNvPicPr>
            <a:picLocks noChangeAspect="1"/>
          </p:cNvPicPr>
          <p:nvPr/>
        </p:nvPicPr>
        <p:blipFill>
          <a:blip r:embed="rIdM2"/>
          <a:stretch>
            <a:fillRect/>
          </a:stretch>
        </p:blipFill>
        <p:spPr>
          <a:xfrm>
            <a:off x="705023" y="5027581"/>
            <a:ext cx="100862" cy="100862"/>
          </a:xfrm>
          <a:prstGeom prst="rect">
            <a:avLst/>
          </a:prstGeom>
        </p:spPr>
      </p:pic>
      <p:sp>
        <p:nvSpPr>
          <p:cNvPr id="479" name="T"/>
          <p:cNvSpPr txBox="1"/>
          <p:nvPr/>
        </p:nvSpPr>
        <p:spPr>
          <a:xfrm>
            <a:off x="990000" y="4946682"/>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Sumatera Selatan</a:t>
            </a:r>
            <a:endParaRPr lang="id-ID" sz="804"/>
          </a:p>
        </p:txBody>
      </p:sp>
      <p:sp>
        <p:nvSpPr>
          <p:cNvPr id="480" name="T"/>
          <p:cNvSpPr txBox="1"/>
          <p:nvPr/>
        </p:nvSpPr>
        <p:spPr>
          <a:xfrm>
            <a:off x="3291840" y="4946682"/>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212.769</a:t>
            </a:r>
            <a:endParaRPr lang="id-ID" sz="787"/>
          </a:p>
        </p:txBody>
      </p:sp>
      <p:sp>
        <p:nvSpPr>
          <p:cNvPr id="481" name="T"/>
          <p:cNvSpPr txBox="1"/>
          <p:nvPr/>
        </p:nvSpPr>
        <p:spPr>
          <a:xfrm>
            <a:off x="4135450" y="4946682"/>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sp>
        <p:nvSpPr>
          <p:cNvPr id="482" name="K"/>
          <p:cNvSpPr/>
          <p:nvPr/>
        </p:nvSpPr>
        <p:spPr>
          <a:xfrm>
            <a:off x="4739006" y="4991335"/>
            <a:ext cx="1152584" cy="173356"/>
          </a:xfrm>
          <a:prstGeom prst="roundRect">
            <a:avLst>
              <a:gd name="adj" fmla="val 50000"/>
            </a:avLst>
          </a:prstGeom>
          <a:solidFill>
            <a:srgbClr val="E6EAF0"/>
          </a:solidFill>
          <a:ln>
            <a:noFill/>
          </a:ln>
        </p:spPr>
      </p:sp>
      <p:pic>
        <p:nvPicPr>
          <p:cNvPr id="483" name="G"/>
          <p:cNvPicPr>
            <a:picLocks noChangeAspect="1"/>
          </p:cNvPicPr>
          <p:nvPr/>
        </p:nvPicPr>
        <p:blipFill>
          <a:blip r:embed="rIdM3"/>
          <a:stretch>
            <a:fillRect/>
          </a:stretch>
        </p:blipFill>
        <p:spPr>
          <a:xfrm>
            <a:off x="4812158" y="5024273"/>
            <a:ext cx="107480" cy="107480"/>
          </a:xfrm>
          <a:prstGeom prst="rect">
            <a:avLst/>
          </a:prstGeom>
        </p:spPr>
      </p:pic>
      <p:sp>
        <p:nvSpPr>
          <p:cNvPr id="484" name="T"/>
          <p:cNvSpPr txBox="1"/>
          <p:nvPr/>
        </p:nvSpPr>
        <p:spPr>
          <a:xfrm>
            <a:off x="4995894" y="4991335"/>
            <a:ext cx="360000" cy="173356"/>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1</a:t>
            </a:r>
            <a:endParaRPr lang="id-ID" sz="664"/>
          </a:p>
        </p:txBody>
      </p:sp>
      <p:sp>
        <p:nvSpPr>
          <p:cNvPr id="485" name="T"/>
          <p:cNvSpPr txBox="1"/>
          <p:nvPr/>
        </p:nvSpPr>
        <p:spPr>
          <a:xfrm>
            <a:off x="5375814" y="4991335"/>
            <a:ext cx="480000" cy="173356"/>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64"/>
          </a:p>
        </p:txBody>
      </p:sp>
      <p:sp>
        <p:nvSpPr>
          <p:cNvPr id="486" name="K"/>
          <p:cNvSpPr/>
          <p:nvPr/>
        </p:nvSpPr>
        <p:spPr>
          <a:xfrm>
            <a:off x="5964742" y="4991335"/>
            <a:ext cx="1155436" cy="173356"/>
          </a:xfrm>
          <a:prstGeom prst="roundRect">
            <a:avLst>
              <a:gd name="adj" fmla="val 50000"/>
            </a:avLst>
          </a:prstGeom>
          <a:solidFill>
            <a:srgbClr val="FBE7D6"/>
          </a:solidFill>
          <a:ln>
            <a:noFill/>
          </a:ln>
        </p:spPr>
      </p:sp>
      <p:pic>
        <p:nvPicPr>
          <p:cNvPr id="487" name="G"/>
          <p:cNvPicPr>
            <a:picLocks noChangeAspect="1"/>
          </p:cNvPicPr>
          <p:nvPr/>
        </p:nvPicPr>
        <p:blipFill>
          <a:blip r:embed="rIdM4"/>
          <a:stretch>
            <a:fillRect/>
          </a:stretch>
        </p:blipFill>
        <p:spPr>
          <a:xfrm>
            <a:off x="6037894" y="5024273"/>
            <a:ext cx="107480" cy="107480"/>
          </a:xfrm>
          <a:prstGeom prst="rect">
            <a:avLst/>
          </a:prstGeom>
        </p:spPr>
      </p:pic>
      <p:sp>
        <p:nvSpPr>
          <p:cNvPr id="488" name="T"/>
          <p:cNvSpPr txBox="1"/>
          <p:nvPr/>
        </p:nvSpPr>
        <p:spPr>
          <a:xfrm>
            <a:off x="6211630" y="4991335"/>
            <a:ext cx="26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64"/>
          </a:p>
        </p:txBody>
      </p:sp>
      <p:sp>
        <p:nvSpPr>
          <p:cNvPr id="489" name="T"/>
          <p:cNvSpPr txBox="1"/>
          <p:nvPr/>
        </p:nvSpPr>
        <p:spPr>
          <a:xfrm>
            <a:off x="6481630" y="4991335"/>
            <a:ext cx="420000" cy="173356"/>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2</a:t>
            </a:r>
            <a:endParaRPr lang="id-ID" sz="664"/>
          </a:p>
        </p:txBody>
      </p:sp>
      <p:sp>
        <p:nvSpPr>
          <p:cNvPr id="490" name="T"/>
          <p:cNvSpPr txBox="1"/>
          <p:nvPr/>
        </p:nvSpPr>
        <p:spPr>
          <a:xfrm>
            <a:off x="6921550" y="4991335"/>
            <a:ext cx="180000"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64"/>
          </a:p>
        </p:txBody>
      </p:sp>
      <p:cxnSp>
        <p:nvCxnSpPr>
          <p:cNvPr id="491" name="L"/>
          <p:cNvCxnSpPr/>
          <p:nvPr/>
        </p:nvCxnSpPr>
        <p:spPr>
          <a:xfrm>
            <a:off x="676656" y="5209344"/>
            <a:ext cx="6464808" cy="0"/>
          </a:xfrm>
          <a:prstGeom prst="line">
            <a:avLst/>
          </a:prstGeom>
          <a:ln w="9525">
            <a:solidFill>
              <a:srgbClr val="EEF0F3"/>
            </a:solidFill>
          </a:ln>
        </p:spPr>
      </p:cxnSp>
      <p:sp>
        <p:nvSpPr>
          <p:cNvPr id="492" name="K"/>
          <p:cNvSpPr/>
          <p:nvPr/>
        </p:nvSpPr>
        <p:spPr>
          <a:xfrm>
            <a:off x="676656" y="5261876"/>
            <a:ext cx="157597" cy="157597"/>
          </a:xfrm>
          <a:prstGeom prst="ellipse">
            <a:avLst/>
          </a:prstGeom>
          <a:solidFill>
            <a:srgbClr val="D9600B"/>
          </a:solidFill>
          <a:ln>
            <a:noFill/>
          </a:ln>
        </p:spPr>
      </p:sp>
      <p:pic>
        <p:nvPicPr>
          <p:cNvPr id="493" name="G"/>
          <p:cNvPicPr>
            <a:picLocks noChangeAspect="1"/>
          </p:cNvPicPr>
          <p:nvPr/>
        </p:nvPicPr>
        <p:blipFill>
          <a:blip r:embed="rIdM2"/>
          <a:stretch>
            <a:fillRect/>
          </a:stretch>
        </p:blipFill>
        <p:spPr>
          <a:xfrm>
            <a:off x="705023" y="5290243"/>
            <a:ext cx="100862" cy="100862"/>
          </a:xfrm>
          <a:prstGeom prst="rect">
            <a:avLst/>
          </a:prstGeom>
        </p:spPr>
      </p:pic>
      <p:sp>
        <p:nvSpPr>
          <p:cNvPr id="494" name="T"/>
          <p:cNvSpPr txBox="1"/>
          <p:nvPr/>
        </p:nvSpPr>
        <p:spPr>
          <a:xfrm>
            <a:off x="990000" y="5209344"/>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Kalimantan Barat</a:t>
            </a:r>
            <a:endParaRPr lang="id-ID" sz="804"/>
          </a:p>
        </p:txBody>
      </p:sp>
      <p:sp>
        <p:nvSpPr>
          <p:cNvPr id="495" name="T"/>
          <p:cNvSpPr txBox="1"/>
          <p:nvPr/>
        </p:nvSpPr>
        <p:spPr>
          <a:xfrm>
            <a:off x="3291840" y="5209344"/>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326.270</a:t>
            </a:r>
            <a:endParaRPr lang="id-ID" sz="787"/>
          </a:p>
        </p:txBody>
      </p:sp>
      <p:sp>
        <p:nvSpPr>
          <p:cNvPr id="496" name="T"/>
          <p:cNvSpPr txBox="1"/>
          <p:nvPr/>
        </p:nvSpPr>
        <p:spPr>
          <a:xfrm>
            <a:off x="4135450" y="5209344"/>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sp>
        <p:nvSpPr>
          <p:cNvPr id="497" name="K"/>
          <p:cNvSpPr/>
          <p:nvPr/>
        </p:nvSpPr>
        <p:spPr>
          <a:xfrm>
            <a:off x="4739006" y="5253997"/>
            <a:ext cx="1152584" cy="173356"/>
          </a:xfrm>
          <a:prstGeom prst="roundRect">
            <a:avLst>
              <a:gd name="adj" fmla="val 50000"/>
            </a:avLst>
          </a:prstGeom>
          <a:solidFill>
            <a:srgbClr val="E6EAF0"/>
          </a:solidFill>
          <a:ln>
            <a:noFill/>
          </a:ln>
        </p:spPr>
      </p:sp>
      <p:pic>
        <p:nvPicPr>
          <p:cNvPr id="498" name="G"/>
          <p:cNvPicPr>
            <a:picLocks noChangeAspect="1"/>
          </p:cNvPicPr>
          <p:nvPr/>
        </p:nvPicPr>
        <p:blipFill>
          <a:blip r:embed="rIdM3"/>
          <a:stretch>
            <a:fillRect/>
          </a:stretch>
        </p:blipFill>
        <p:spPr>
          <a:xfrm>
            <a:off x="4812158" y="5286935"/>
            <a:ext cx="107480" cy="107480"/>
          </a:xfrm>
          <a:prstGeom prst="rect">
            <a:avLst/>
          </a:prstGeom>
        </p:spPr>
      </p:pic>
      <p:sp>
        <p:nvSpPr>
          <p:cNvPr id="499" name="T"/>
          <p:cNvSpPr txBox="1"/>
          <p:nvPr/>
        </p:nvSpPr>
        <p:spPr>
          <a:xfrm>
            <a:off x="4995894" y="5253997"/>
            <a:ext cx="360000" cy="173356"/>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13</a:t>
            </a:r>
            <a:endParaRPr lang="id-ID" sz="664"/>
          </a:p>
        </p:txBody>
      </p:sp>
      <p:sp>
        <p:nvSpPr>
          <p:cNvPr id="500" name="T"/>
          <p:cNvSpPr txBox="1"/>
          <p:nvPr/>
        </p:nvSpPr>
        <p:spPr>
          <a:xfrm>
            <a:off x="5375814" y="5253997"/>
            <a:ext cx="480000" cy="173356"/>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64"/>
          </a:p>
        </p:txBody>
      </p:sp>
      <p:sp>
        <p:nvSpPr>
          <p:cNvPr id="501" name="K"/>
          <p:cNvSpPr/>
          <p:nvPr/>
        </p:nvSpPr>
        <p:spPr>
          <a:xfrm>
            <a:off x="5964742" y="5253997"/>
            <a:ext cx="1155436" cy="173356"/>
          </a:xfrm>
          <a:prstGeom prst="roundRect">
            <a:avLst>
              <a:gd name="adj" fmla="val 50000"/>
            </a:avLst>
          </a:prstGeom>
          <a:solidFill>
            <a:srgbClr val="FBE7D6"/>
          </a:solidFill>
          <a:ln>
            <a:noFill/>
          </a:ln>
        </p:spPr>
      </p:sp>
      <p:pic>
        <p:nvPicPr>
          <p:cNvPr id="502" name="G"/>
          <p:cNvPicPr>
            <a:picLocks noChangeAspect="1"/>
          </p:cNvPicPr>
          <p:nvPr/>
        </p:nvPicPr>
        <p:blipFill>
          <a:blip r:embed="rIdM4"/>
          <a:stretch>
            <a:fillRect/>
          </a:stretch>
        </p:blipFill>
        <p:spPr>
          <a:xfrm>
            <a:off x="6037894" y="5286935"/>
            <a:ext cx="107480" cy="107480"/>
          </a:xfrm>
          <a:prstGeom prst="rect">
            <a:avLst/>
          </a:prstGeom>
        </p:spPr>
      </p:pic>
      <p:sp>
        <p:nvSpPr>
          <p:cNvPr id="503" name="T"/>
          <p:cNvSpPr txBox="1"/>
          <p:nvPr/>
        </p:nvSpPr>
        <p:spPr>
          <a:xfrm>
            <a:off x="6211630" y="5253997"/>
            <a:ext cx="899404" cy="17335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41 ha baru 29 Okt</a:t>
            </a:r>
            <a:endParaRPr lang="id-ID" sz="664"/>
          </a:p>
        </p:txBody>
      </p:sp>
      <p:cxnSp>
        <p:nvCxnSpPr>
          <p:cNvPr id="504" name="L"/>
          <p:cNvCxnSpPr/>
          <p:nvPr/>
        </p:nvCxnSpPr>
        <p:spPr>
          <a:xfrm>
            <a:off x="676656" y="5472006"/>
            <a:ext cx="6464808" cy="0"/>
          </a:xfrm>
          <a:prstGeom prst="line">
            <a:avLst/>
          </a:prstGeom>
          <a:ln w="9525">
            <a:solidFill>
              <a:srgbClr val="EEF0F3"/>
            </a:solidFill>
          </a:ln>
        </p:spPr>
      </p:cxnSp>
      <p:sp>
        <p:nvSpPr>
          <p:cNvPr id="505" name="K"/>
          <p:cNvSpPr/>
          <p:nvPr/>
        </p:nvSpPr>
        <p:spPr>
          <a:xfrm>
            <a:off x="676656" y="5524538"/>
            <a:ext cx="157597" cy="157597"/>
          </a:xfrm>
          <a:prstGeom prst="ellipse">
            <a:avLst/>
          </a:prstGeom>
          <a:solidFill>
            <a:srgbClr val="051C2C"/>
          </a:solidFill>
          <a:ln>
            <a:noFill/>
          </a:ln>
        </p:spPr>
      </p:sp>
      <p:pic>
        <p:nvPicPr>
          <p:cNvPr id="506" name="G"/>
          <p:cNvPicPr>
            <a:picLocks noChangeAspect="1"/>
          </p:cNvPicPr>
          <p:nvPr/>
        </p:nvPicPr>
        <p:blipFill>
          <a:blip r:embed="rIdM5"/>
          <a:stretch>
            <a:fillRect/>
          </a:stretch>
        </p:blipFill>
        <p:spPr>
          <a:xfrm>
            <a:off x="705023" y="5552905"/>
            <a:ext cx="100862" cy="100862"/>
          </a:xfrm>
          <a:prstGeom prst="rect">
            <a:avLst/>
          </a:prstGeom>
        </p:spPr>
      </p:pic>
      <p:sp>
        <p:nvSpPr>
          <p:cNvPr id="507" name="T"/>
          <p:cNvSpPr txBox="1"/>
          <p:nvPr/>
        </p:nvSpPr>
        <p:spPr>
          <a:xfrm>
            <a:off x="990000" y="5472006"/>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Riau</a:t>
            </a:r>
            <a:endParaRPr lang="id-ID" sz="804"/>
          </a:p>
        </p:txBody>
      </p:sp>
      <p:sp>
        <p:nvSpPr>
          <p:cNvPr id="508" name="T"/>
          <p:cNvSpPr txBox="1"/>
          <p:nvPr/>
        </p:nvSpPr>
        <p:spPr>
          <a:xfrm>
            <a:off x="3291840" y="5472006"/>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26.945</a:t>
            </a:r>
            <a:endParaRPr lang="id-ID" sz="787"/>
          </a:p>
        </p:txBody>
      </p:sp>
      <p:sp>
        <p:nvSpPr>
          <p:cNvPr id="509" name="T"/>
          <p:cNvSpPr txBox="1"/>
          <p:nvPr/>
        </p:nvSpPr>
        <p:spPr>
          <a:xfrm>
            <a:off x="4135450" y="5472006"/>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cxnSp>
        <p:nvCxnSpPr>
          <p:cNvPr id="510" name="L"/>
          <p:cNvCxnSpPr/>
          <p:nvPr/>
        </p:nvCxnSpPr>
        <p:spPr>
          <a:xfrm>
            <a:off x="676656" y="5734668"/>
            <a:ext cx="6464808" cy="0"/>
          </a:xfrm>
          <a:prstGeom prst="line">
            <a:avLst/>
          </a:prstGeom>
          <a:ln w="9525">
            <a:solidFill>
              <a:srgbClr val="EEF0F3"/>
            </a:solidFill>
          </a:ln>
        </p:spPr>
      </p:cxnSp>
      <p:sp>
        <p:nvSpPr>
          <p:cNvPr id="511" name="K"/>
          <p:cNvSpPr/>
          <p:nvPr/>
        </p:nvSpPr>
        <p:spPr>
          <a:xfrm>
            <a:off x="676656" y="5787200"/>
            <a:ext cx="157597" cy="157597"/>
          </a:xfrm>
          <a:prstGeom prst="ellipse">
            <a:avLst/>
          </a:prstGeom>
          <a:solidFill>
            <a:srgbClr val="051C2C"/>
          </a:solidFill>
          <a:ln>
            <a:noFill/>
          </a:ln>
        </p:spPr>
      </p:sp>
      <p:pic>
        <p:nvPicPr>
          <p:cNvPr id="512" name="G"/>
          <p:cNvPicPr>
            <a:picLocks noChangeAspect="1"/>
          </p:cNvPicPr>
          <p:nvPr/>
        </p:nvPicPr>
        <p:blipFill>
          <a:blip r:embed="rIdM5"/>
          <a:stretch>
            <a:fillRect/>
          </a:stretch>
        </p:blipFill>
        <p:spPr>
          <a:xfrm>
            <a:off x="705023" y="5815567"/>
            <a:ext cx="100862" cy="100862"/>
          </a:xfrm>
          <a:prstGeom prst="rect">
            <a:avLst/>
          </a:prstGeom>
        </p:spPr>
      </p:pic>
      <p:sp>
        <p:nvSpPr>
          <p:cNvPr id="513" name="T"/>
          <p:cNvSpPr txBox="1"/>
          <p:nvPr/>
        </p:nvSpPr>
        <p:spPr>
          <a:xfrm>
            <a:off x="990000" y="5734668"/>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Jambi</a:t>
            </a:r>
            <a:endParaRPr lang="id-ID" sz="804"/>
          </a:p>
        </p:txBody>
      </p:sp>
      <p:sp>
        <p:nvSpPr>
          <p:cNvPr id="514" name="T"/>
          <p:cNvSpPr txBox="1"/>
          <p:nvPr/>
        </p:nvSpPr>
        <p:spPr>
          <a:xfrm>
            <a:off x="3291840" y="5734668"/>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35.256</a:t>
            </a:r>
            <a:endParaRPr lang="id-ID" sz="787"/>
          </a:p>
        </p:txBody>
      </p:sp>
      <p:sp>
        <p:nvSpPr>
          <p:cNvPr id="515" name="T"/>
          <p:cNvSpPr txBox="1"/>
          <p:nvPr/>
        </p:nvSpPr>
        <p:spPr>
          <a:xfrm>
            <a:off x="4135450" y="5734668"/>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cxnSp>
        <p:nvCxnSpPr>
          <p:cNvPr id="516" name="L"/>
          <p:cNvCxnSpPr/>
          <p:nvPr/>
        </p:nvCxnSpPr>
        <p:spPr>
          <a:xfrm>
            <a:off x="676656" y="5997330"/>
            <a:ext cx="6464808" cy="0"/>
          </a:xfrm>
          <a:prstGeom prst="line">
            <a:avLst/>
          </a:prstGeom>
          <a:ln w="9525">
            <a:solidFill>
              <a:srgbClr val="EEF0F3"/>
            </a:solidFill>
          </a:ln>
        </p:spPr>
      </p:cxnSp>
      <p:sp>
        <p:nvSpPr>
          <p:cNvPr id="517" name="K"/>
          <p:cNvSpPr/>
          <p:nvPr/>
        </p:nvSpPr>
        <p:spPr>
          <a:xfrm>
            <a:off x="676656" y="6049862"/>
            <a:ext cx="157597" cy="157597"/>
          </a:xfrm>
          <a:prstGeom prst="ellipse">
            <a:avLst/>
          </a:prstGeom>
          <a:solidFill>
            <a:srgbClr val="051C2C"/>
          </a:solidFill>
          <a:ln>
            <a:noFill/>
          </a:ln>
        </p:spPr>
      </p:sp>
      <p:pic>
        <p:nvPicPr>
          <p:cNvPr id="518" name="G"/>
          <p:cNvPicPr>
            <a:picLocks noChangeAspect="1"/>
          </p:cNvPicPr>
          <p:nvPr/>
        </p:nvPicPr>
        <p:blipFill>
          <a:blip r:embed="rIdM5"/>
          <a:stretch>
            <a:fillRect/>
          </a:stretch>
        </p:blipFill>
        <p:spPr>
          <a:xfrm>
            <a:off x="705023" y="6078229"/>
            <a:ext cx="100862" cy="100862"/>
          </a:xfrm>
          <a:prstGeom prst="rect">
            <a:avLst/>
          </a:prstGeom>
        </p:spPr>
      </p:pic>
      <p:sp>
        <p:nvSpPr>
          <p:cNvPr id="519" name="T"/>
          <p:cNvSpPr txBox="1"/>
          <p:nvPr/>
        </p:nvSpPr>
        <p:spPr>
          <a:xfrm>
            <a:off x="990000" y="5997330"/>
            <a:ext cx="2073240" cy="262662"/>
          </a:xfrm>
          <a:prstGeom prst="rect">
            <a:avLst/>
          </a:prstGeom>
          <a:noFill/>
        </p:spPr>
        <p:txBody>
          <a:bodyPr wrap="none" lIns="0" tIns="0" rIns="0" bIns="0" anchor="ctr"/>
          <a:lstStyle/>
          <a:p>
            <a:pPr algn="l">
              <a:buNone/>
            </a:pPr>
            <a:r>
              <a:rPr lang="id-ID" sz="804" b="1" dirty="0">
                <a:solidFill>
                  <a:srgbClr val="1A1A1A"/>
                </a:solidFill>
                <a:latin typeface="Roboto"/>
                <a:ea typeface="Roboto"/>
                <a:cs typeface="Roboto"/>
              </a:rPr>
              <a:t>Lampung</a:t>
            </a:r>
            <a:r>
              <a:rPr lang="id-ID" sz="804" dirty="0">
                <a:solidFill>
                  <a:srgbClr val="1A1A1A"/>
                </a:solidFill>
                <a:latin typeface="Roboto"/>
                <a:ea typeface="Roboto"/>
                <a:cs typeface="Roboto"/>
              </a:rPr>
              <a:t>, TN Way Kambas</a:t>
            </a:r>
            <a:endParaRPr lang="id-ID" sz="804"/>
          </a:p>
        </p:txBody>
      </p:sp>
      <p:sp>
        <p:nvSpPr>
          <p:cNvPr id="520" name="T"/>
          <p:cNvSpPr txBox="1"/>
          <p:nvPr/>
        </p:nvSpPr>
        <p:spPr>
          <a:xfrm>
            <a:off x="3291840" y="5997330"/>
            <a:ext cx="820000" cy="262662"/>
          </a:xfrm>
          <a:prstGeom prst="rect">
            <a:avLst/>
          </a:prstGeom>
          <a:noFill/>
        </p:spPr>
        <p:txBody>
          <a:bodyPr wrap="none" lIns="0" tIns="0" rIns="0" bIns="0" anchor="ctr"/>
          <a:lstStyle/>
          <a:p>
            <a:pPr algn="r">
              <a:buNone/>
            </a:pPr>
            <a:r>
              <a:rPr lang="id-ID" sz="787" b="1" dirty="0">
                <a:solidFill>
                  <a:srgbClr val="1A1A1A"/>
                </a:solidFill>
                <a:latin typeface="Roboto"/>
                <a:ea typeface="Roboto"/>
                <a:cs typeface="Roboto"/>
              </a:rPr>
              <a:t>± 2.306</a:t>
            </a:r>
            <a:endParaRPr lang="id-ID" sz="787"/>
          </a:p>
        </p:txBody>
      </p:sp>
      <p:sp>
        <p:nvSpPr>
          <p:cNvPr id="521" name="T"/>
          <p:cNvSpPr txBox="1"/>
          <p:nvPr/>
        </p:nvSpPr>
        <p:spPr>
          <a:xfrm>
            <a:off x="4135450" y="5997330"/>
            <a:ext cx="900000" cy="262662"/>
          </a:xfrm>
          <a:prstGeom prst="rect">
            <a:avLst/>
          </a:prstGeom>
          <a:noFill/>
        </p:spPr>
        <p:txBody>
          <a:bodyPr wrap="none" lIns="0" tIns="0" rIns="0" bIns="0" anchor="ctr"/>
          <a:lstStyle/>
          <a:p>
            <a:pPr algn="l">
              <a:buNone/>
            </a:pPr>
            <a:r>
              <a:rPr lang="id-ID" sz="787" b="1" dirty="0">
                <a:solidFill>
                  <a:srgbClr val="1A1A1A"/>
                </a:solidFill>
                <a:latin typeface="Roboto"/>
                <a:ea typeface="Roboto"/>
                <a:cs typeface="Roboto"/>
              </a:rPr>
              <a:t>ha</a:t>
            </a:r>
            <a:endParaRPr lang="id-ID" sz="787"/>
          </a:p>
        </p:txBody>
      </p:sp>
      <p:sp>
        <p:nvSpPr>
          <p:cNvPr id="809" name="K"/>
          <p:cNvSpPr/>
          <p:nvPr/>
        </p:nvSpPr>
        <p:spPr>
          <a:xfrm>
            <a:off x="7406640" y="1325880"/>
            <a:ext cx="4236415" cy="1883664"/>
          </a:xfrm>
          <a:prstGeom prst="roundRect">
            <a:avLst>
              <a:gd name="adj" fmla="val 3000"/>
            </a:avLst>
          </a:prstGeom>
          <a:solidFill>
            <a:srgbClr val="FFFFFF"/>
          </a:solidFill>
          <a:ln w="9525">
            <a:solidFill>
              <a:srgbClr val="BFC5CC"/>
            </a:solidFill>
          </a:ln>
        </p:spPr>
      </p:sp>
      <p:sp>
        <p:nvSpPr>
          <p:cNvPr id="810" name="K"/>
          <p:cNvSpPr/>
          <p:nvPr/>
        </p:nvSpPr>
        <p:spPr>
          <a:xfrm>
            <a:off x="7406640" y="1325880"/>
            <a:ext cx="4236415" cy="457200"/>
          </a:xfrm>
          <a:prstGeom prst="roundRect">
            <a:avLst>
              <a:gd name="adj" fmla="val 16000"/>
            </a:avLst>
          </a:prstGeom>
          <a:solidFill>
            <a:srgbClr val="F4ECDC"/>
          </a:solidFill>
          <a:ln>
            <a:noFill/>
          </a:ln>
        </p:spPr>
      </p:sp>
      <p:sp>
        <p:nvSpPr>
          <p:cNvPr id="811" name="K"/>
          <p:cNvSpPr/>
          <p:nvPr/>
        </p:nvSpPr>
        <p:spPr>
          <a:xfrm>
            <a:off x="7406640" y="1600200"/>
            <a:ext cx="4236415" cy="182880"/>
          </a:xfrm>
          <a:prstGeom prst="rect">
            <a:avLst/>
          </a:prstGeom>
          <a:solidFill>
            <a:srgbClr val="F4ECDC"/>
          </a:solidFill>
          <a:ln>
            <a:noFill/>
          </a:ln>
        </p:spPr>
      </p:sp>
      <p:sp>
        <p:nvSpPr>
          <p:cNvPr id="812" name="K"/>
          <p:cNvSpPr/>
          <p:nvPr/>
        </p:nvSpPr>
        <p:spPr>
          <a:xfrm>
            <a:off x="7534656" y="1408176"/>
            <a:ext cx="292608" cy="292608"/>
          </a:xfrm>
          <a:prstGeom prst="ellipse">
            <a:avLst/>
          </a:prstGeom>
          <a:solidFill>
            <a:srgbClr val="B08A3E"/>
          </a:solidFill>
          <a:ln>
            <a:noFill/>
          </a:ln>
        </p:spPr>
      </p:sp>
      <p:pic>
        <p:nvPicPr>
          <p:cNvPr id="813" name="G"/>
          <p:cNvPicPr>
            <a:picLocks noChangeAspect="1"/>
          </p:cNvPicPr>
          <p:nvPr/>
        </p:nvPicPr>
        <p:blipFill>
          <a:blip r:embed="rIdM19"/>
          <a:stretch>
            <a:fillRect/>
          </a:stretch>
        </p:blipFill>
        <p:spPr>
          <a:xfrm>
            <a:off x="7589520" y="1463040"/>
            <a:ext cx="182880" cy="182880"/>
          </a:xfrm>
          <a:prstGeom prst="rect">
            <a:avLst/>
          </a:prstGeom>
        </p:spPr>
      </p:pic>
      <p:sp>
        <p:nvSpPr>
          <p:cNvPr id="814" name="T"/>
          <p:cNvSpPr txBox="1"/>
          <p:nvPr/>
        </p:nvSpPr>
        <p:spPr>
          <a:xfrm>
            <a:off x="7909560" y="1325880"/>
            <a:ext cx="3136415" cy="457200"/>
          </a:xfrm>
          <a:prstGeom prst="rect">
            <a:avLst/>
          </a:prstGeom>
          <a:noFill/>
        </p:spPr>
        <p:txBody>
          <a:bodyPr wrap="square" lIns="0" tIns="0" rIns="0" bIns="0" anchor="ctr"/>
          <a:lstStyle/>
          <a:p>
            <a:pPr algn="l">
              <a:buNone/>
            </a:pPr>
            <a:r>
              <a:rPr lang="id-ID" sz="1100" b="1" dirty="0">
                <a:solidFill>
                  <a:srgbClr val="1A1A1A"/>
                </a:solidFill>
                <a:latin typeface="Roboto"/>
                <a:ea typeface="Roboto"/>
                <a:cs typeface="Roboto"/>
              </a:rPr>
              <a:t>Kekeringan</a:t>
            </a:r>
            <a:endParaRPr lang="id-ID" sz="1100"/>
          </a:p>
        </p:txBody>
      </p:sp>
      <p:sp>
        <p:nvSpPr>
          <p:cNvPr id="815" name="T"/>
          <p:cNvSpPr txBox="1"/>
          <p:nvPr/>
        </p:nvSpPr>
        <p:spPr>
          <a:xfrm>
            <a:off x="11002975" y="1325880"/>
            <a:ext cx="512064" cy="457200"/>
          </a:xfrm>
          <a:prstGeom prst="rect">
            <a:avLst/>
          </a:prstGeom>
          <a:noFill/>
        </p:spPr>
        <p:txBody>
          <a:bodyPr wrap="square" lIns="0" tIns="0" rIns="0" bIns="0" anchor="ctr"/>
          <a:lstStyle/>
          <a:p>
            <a:pPr algn="r">
              <a:buNone/>
            </a:pPr>
            <a:r>
              <a:rPr lang="id-ID" sz="1800" b="1" dirty="0">
                <a:solidFill>
                  <a:srgbClr val="B08A3E"/>
                </a:solidFill>
                <a:latin typeface="Roboto"/>
                <a:ea typeface="Roboto"/>
                <a:cs typeface="Roboto"/>
              </a:rPr>
              <a:t>4</a:t>
            </a:r>
            <a:endParaRPr lang="id-ID" sz="1800"/>
          </a:p>
        </p:txBody>
      </p:sp>
      <p:sp>
        <p:nvSpPr>
          <p:cNvPr id="816" name="T"/>
          <p:cNvSpPr txBox="1"/>
          <p:nvPr/>
        </p:nvSpPr>
        <p:spPr>
          <a:xfrm>
            <a:off x="7571232" y="1856232"/>
            <a:ext cx="1200000" cy="146304"/>
          </a:xfrm>
          <a:prstGeom prst="rect">
            <a:avLst/>
          </a:prstGeom>
          <a:noFill/>
        </p:spPr>
        <p:txBody>
          <a:bodyPr wrap="square" lIns="0" tIns="0" rIns="0" bIns="0" anchor="t"/>
          <a:lstStyle/>
          <a:p>
            <a:pPr algn="l">
              <a:buNone/>
            </a:pPr>
            <a:r>
              <a:rPr lang="id-ID" sz="700" b="1" spc="60" dirty="0">
                <a:solidFill>
                  <a:srgbClr val="6B7280"/>
                </a:solidFill>
                <a:latin typeface="Roboto"/>
                <a:ea typeface="Roboto"/>
                <a:cs typeface="Roboto"/>
              </a:rPr>
              <a:t>LOKASI</a:t>
            </a:r>
            <a:endParaRPr lang="id-ID" sz="620"/>
          </a:p>
        </p:txBody>
      </p:sp>
      <p:sp>
        <p:nvSpPr>
          <p:cNvPr id="817" name="T"/>
          <p:cNvSpPr txBox="1"/>
          <p:nvPr/>
        </p:nvSpPr>
        <p:spPr>
          <a:xfrm>
            <a:off x="8620000" y="1856232"/>
            <a:ext cx="1280000" cy="146304"/>
          </a:xfrm>
          <a:prstGeom prst="rect">
            <a:avLst/>
          </a:prstGeom>
          <a:noFill/>
        </p:spPr>
        <p:txBody>
          <a:bodyPr wrap="square" lIns="0" tIns="0" rIns="0" bIns="0" anchor="t"/>
          <a:lstStyle/>
          <a:p>
            <a:pPr algn="ctr">
              <a:buNone/>
            </a:pPr>
            <a:r>
              <a:rPr lang="id-ID" sz="700" b="1" spc="60" dirty="0">
                <a:solidFill>
                  <a:srgbClr val="6B7280"/>
                </a:solidFill>
                <a:latin typeface="Roboto"/>
                <a:ea typeface="Roboto"/>
                <a:cs typeface="Roboto"/>
              </a:rPr>
              <a:t>TERDAMPAK</a:t>
            </a:r>
            <a:endParaRPr lang="id-ID" sz="620"/>
          </a:p>
        </p:txBody>
      </p:sp>
      <p:sp>
        <p:nvSpPr>
          <p:cNvPr id="818" name="T"/>
          <p:cNvSpPr txBox="1"/>
          <p:nvPr/>
        </p:nvSpPr>
        <p:spPr>
          <a:xfrm>
            <a:off x="9930000" y="1856232"/>
            <a:ext cx="1548463" cy="146304"/>
          </a:xfrm>
          <a:prstGeom prst="rect">
            <a:avLst/>
          </a:prstGeom>
          <a:noFill/>
        </p:spPr>
        <p:txBody>
          <a:bodyPr wrap="square" lIns="0" tIns="0" rIns="0" bIns="0" anchor="t"/>
          <a:lstStyle/>
          <a:p>
            <a:pPr algn="ctr">
              <a:buNone/>
            </a:pPr>
            <a:r>
              <a:rPr lang="id-ID" sz="700" b="1" spc="60" dirty="0">
                <a:solidFill>
                  <a:srgbClr val="6B7280"/>
                </a:solidFill>
                <a:latin typeface="Roboto"/>
                <a:ea typeface="Roboto"/>
                <a:cs typeface="Roboto"/>
              </a:rPr>
              <a:t>BANTUAN AIR</a:t>
            </a:r>
            <a:endParaRPr lang="id-ID" sz="620"/>
          </a:p>
        </p:txBody>
      </p:sp>
      <p:cxnSp>
        <p:nvCxnSpPr>
          <p:cNvPr id="819" name="L"/>
          <p:cNvCxnSpPr/>
          <p:nvPr/>
        </p:nvCxnSpPr>
        <p:spPr>
          <a:xfrm>
            <a:off x="7571232" y="2020824"/>
            <a:ext cx="3907231" cy="0"/>
          </a:xfrm>
          <a:prstGeom prst="line">
            <a:avLst/>
          </a:prstGeom>
          <a:ln w="9525">
            <a:solidFill>
              <a:srgbClr val="1A1A1A"/>
            </a:solidFill>
          </a:ln>
        </p:spPr>
      </p:cxnSp>
      <p:sp>
        <p:nvSpPr>
          <p:cNvPr id="820" name="K"/>
          <p:cNvSpPr/>
          <p:nvPr/>
        </p:nvSpPr>
        <p:spPr>
          <a:xfrm>
            <a:off x="7571232" y="2056375"/>
            <a:ext cx="3907231" cy="181270"/>
          </a:xfrm>
          <a:prstGeom prst="roundRect">
            <a:avLst>
              <a:gd name="adj" fmla="val 12000"/>
            </a:avLst>
          </a:prstGeom>
          <a:solidFill>
            <a:srgbClr val="F3F5F8"/>
          </a:solidFill>
          <a:ln>
            <a:noFill/>
          </a:ln>
        </p:spPr>
      </p:sp>
      <p:sp>
        <p:nvSpPr>
          <p:cNvPr id="821" name="T"/>
          <p:cNvSpPr txBox="1"/>
          <p:nvPr/>
        </p:nvSpPr>
        <p:spPr>
          <a:xfrm>
            <a:off x="7662672" y="2039112"/>
            <a:ext cx="1000000" cy="215798"/>
          </a:xfrm>
          <a:prstGeom prst="rect">
            <a:avLst/>
          </a:prstGeom>
          <a:noFill/>
        </p:spPr>
        <p:txBody>
          <a:bodyPr wrap="square" lIns="0" tIns="0" rIns="0" bIns="0" anchor="ctr"/>
          <a:lstStyle/>
          <a:p>
            <a:pPr algn="l">
              <a:buNone/>
            </a:pPr>
            <a:r>
              <a:rPr lang="id-ID" sz="700" b="1" spc="60" dirty="0">
                <a:solidFill>
                  <a:srgbClr val="6B7280"/>
                </a:solidFill>
                <a:latin typeface="Roboto"/>
                <a:ea typeface="Roboto"/>
                <a:cs typeface="Roboto"/>
              </a:rPr>
              <a:t>TOTAL</a:t>
            </a:r>
            <a:endParaRPr lang="id-ID" sz="700"/>
          </a:p>
        </p:txBody>
      </p:sp>
      <p:sp>
        <p:nvSpPr>
          <p:cNvPr id="822" name="T"/>
          <p:cNvSpPr txBox="1"/>
          <p:nvPr/>
        </p:nvSpPr>
        <p:spPr>
          <a:xfrm>
            <a:off x="8620000" y="2039112"/>
            <a:ext cx="380000" cy="215798"/>
          </a:xfrm>
          <a:prstGeom prst="rect">
            <a:avLst/>
          </a:prstGeom>
          <a:noFill/>
        </p:spPr>
        <p:txBody>
          <a:bodyPr wrap="none" lIns="0" tIns="0" rIns="0" bIns="0" anchor="ctr"/>
          <a:lstStyle/>
          <a:p>
            <a:pPr algn="r">
              <a:buNone/>
            </a:pPr>
            <a:r>
              <a:rPr lang="id-ID" sz="800" b="1" dirty="0">
                <a:solidFill>
                  <a:srgbClr val="1A1A1A"/>
                </a:solidFill>
                <a:latin typeface="Roboto"/>
                <a:ea typeface="Roboto"/>
                <a:cs typeface="Roboto"/>
              </a:rPr>
              <a:t>31.742</a:t>
            </a:r>
            <a:endParaRPr lang="id-ID" sz="800"/>
          </a:p>
        </p:txBody>
      </p:sp>
      <p:sp>
        <p:nvSpPr>
          <p:cNvPr id="823" name="T"/>
          <p:cNvSpPr txBox="1"/>
          <p:nvPr/>
        </p:nvSpPr>
        <p:spPr>
          <a:xfrm>
            <a:off x="9024000" y="2039112"/>
            <a:ext cx="200000" cy="215798"/>
          </a:xfrm>
          <a:prstGeom prst="rect">
            <a:avLst/>
          </a:prstGeom>
          <a:noFill/>
        </p:spPr>
        <p:txBody>
          <a:bodyPr wrap="none" lIns="0" tIns="0" rIns="0" bIns="0" anchor="ctr"/>
          <a:lstStyle/>
          <a:p>
            <a:pPr algn="l">
              <a:buNone/>
            </a:pPr>
            <a:r>
              <a:rPr lang="id-ID" sz="800" b="1" dirty="0">
                <a:solidFill>
                  <a:srgbClr val="1A1A1A"/>
                </a:solidFill>
                <a:latin typeface="Roboto"/>
                <a:ea typeface="Roboto"/>
                <a:cs typeface="Roboto"/>
              </a:rPr>
              <a:t>KK</a:t>
            </a:r>
            <a:endParaRPr lang="id-ID" sz="800"/>
          </a:p>
        </p:txBody>
      </p:sp>
      <p:sp>
        <p:nvSpPr>
          <p:cNvPr id="824" name="T"/>
          <p:cNvSpPr txBox="1"/>
          <p:nvPr/>
        </p:nvSpPr>
        <p:spPr>
          <a:xfrm>
            <a:off x="9240000" y="2039112"/>
            <a:ext cx="400000" cy="215798"/>
          </a:xfrm>
          <a:prstGeom prst="rect">
            <a:avLst/>
          </a:prstGeom>
          <a:noFill/>
        </p:spPr>
        <p:txBody>
          <a:bodyPr wrap="none" lIns="0" tIns="0" rIns="0" bIns="0" anchor="ctr"/>
          <a:lstStyle/>
          <a:p>
            <a:pPr algn="r">
              <a:buNone/>
            </a:pPr>
            <a:r>
              <a:rPr lang="id-ID" sz="800" dirty="0">
                <a:solidFill>
                  <a:srgbClr val="2E3440"/>
                </a:solidFill>
                <a:latin typeface="Roboto"/>
                <a:ea typeface="Roboto"/>
                <a:cs typeface="Roboto"/>
              </a:rPr>
              <a:t>49.464</a:t>
            </a:r>
            <a:endParaRPr lang="id-ID" sz="800"/>
          </a:p>
        </p:txBody>
      </p:sp>
      <p:sp>
        <p:nvSpPr>
          <p:cNvPr id="825" name="T"/>
          <p:cNvSpPr txBox="1"/>
          <p:nvPr/>
        </p:nvSpPr>
        <p:spPr>
          <a:xfrm>
            <a:off x="9664000" y="2039112"/>
            <a:ext cx="260000" cy="215798"/>
          </a:xfrm>
          <a:prstGeom prst="rect">
            <a:avLst/>
          </a:prstGeom>
          <a:noFill/>
        </p:spPr>
        <p:txBody>
          <a:bodyPr wrap="none" lIns="0" tIns="0" rIns="0" bIns="0" anchor="ctr"/>
          <a:lstStyle/>
          <a:p>
            <a:pPr algn="l">
              <a:buNone/>
            </a:pPr>
            <a:r>
              <a:rPr lang="id-ID" sz="800" dirty="0">
                <a:solidFill>
                  <a:srgbClr val="2E3440"/>
                </a:solidFill>
                <a:latin typeface="Roboto"/>
                <a:ea typeface="Roboto"/>
                <a:cs typeface="Roboto"/>
              </a:rPr>
              <a:t>jiwa</a:t>
            </a:r>
            <a:endParaRPr lang="id-ID" sz="800"/>
          </a:p>
        </p:txBody>
      </p:sp>
      <p:sp>
        <p:nvSpPr>
          <p:cNvPr id="826" name="K"/>
          <p:cNvSpPr/>
          <p:nvPr/>
        </p:nvSpPr>
        <p:spPr>
          <a:xfrm>
            <a:off x="9930000" y="2064715"/>
            <a:ext cx="880000" cy="164592"/>
          </a:xfrm>
          <a:prstGeom prst="roundRect">
            <a:avLst>
              <a:gd name="adj" fmla="val 50000"/>
            </a:avLst>
          </a:prstGeom>
          <a:solidFill>
            <a:srgbClr val="FFFFFF"/>
          </a:solidFill>
          <a:ln w="9525">
            <a:solidFill>
              <a:srgbClr val="B08A3E"/>
            </a:solidFill>
          </a:ln>
        </p:spPr>
      </p:sp>
      <p:pic>
        <p:nvPicPr>
          <p:cNvPr id="827" name="G"/>
          <p:cNvPicPr>
            <a:picLocks noChangeAspect="1"/>
          </p:cNvPicPr>
          <p:nvPr/>
        </p:nvPicPr>
        <p:blipFill>
          <a:blip r:embed="rIdM20"/>
          <a:stretch>
            <a:fillRect/>
          </a:stretch>
        </p:blipFill>
        <p:spPr>
          <a:xfrm>
            <a:off x="9985000" y="2096715"/>
            <a:ext cx="100584" cy="100584"/>
          </a:xfrm>
          <a:prstGeom prst="rect">
            <a:avLst/>
          </a:prstGeom>
        </p:spPr>
      </p:pic>
      <p:sp>
        <p:nvSpPr>
          <p:cNvPr id="828" name="T"/>
          <p:cNvSpPr txBox="1"/>
          <p:nvPr/>
        </p:nvSpPr>
        <p:spPr>
          <a:xfrm>
            <a:off x="10120000" y="2064715"/>
            <a:ext cx="430000" cy="164592"/>
          </a:xfrm>
          <a:prstGeom prst="rect">
            <a:avLst/>
          </a:prstGeom>
          <a:noFill/>
        </p:spPr>
        <p:txBody>
          <a:bodyPr wrap="none" lIns="0" tIns="0" rIns="0" bIns="0" anchor="ctr"/>
          <a:lstStyle/>
          <a:p>
            <a:pPr algn="r">
              <a:buNone/>
            </a:pPr>
            <a:r>
              <a:rPr lang="id-ID" sz="720" b="1" dirty="0">
                <a:solidFill>
                  <a:srgbClr val="8A6A2E"/>
                </a:solidFill>
                <a:latin typeface="Roboto"/>
                <a:ea typeface="Roboto"/>
                <a:cs typeface="Roboto"/>
              </a:rPr>
              <a:t>204.000</a:t>
            </a:r>
            <a:endParaRPr lang="id-ID" sz="720"/>
          </a:p>
        </p:txBody>
      </p:sp>
      <p:sp>
        <p:nvSpPr>
          <p:cNvPr id="829" name="T"/>
          <p:cNvSpPr txBox="1"/>
          <p:nvPr/>
        </p:nvSpPr>
        <p:spPr>
          <a:xfrm>
            <a:off x="10571600" y="2064715"/>
            <a:ext cx="200000" cy="164592"/>
          </a:xfrm>
          <a:prstGeom prst="rect">
            <a:avLst/>
          </a:prstGeom>
          <a:noFill/>
        </p:spPr>
        <p:txBody>
          <a:bodyPr wrap="none" lIns="0" tIns="0" rIns="0" bIns="0" anchor="ctr"/>
          <a:lstStyle/>
          <a:p>
            <a:pPr algn="l">
              <a:buNone/>
            </a:pPr>
            <a:r>
              <a:rPr lang="id-ID" sz="720" b="1" dirty="0">
                <a:solidFill>
                  <a:srgbClr val="8A6A2E"/>
                </a:solidFill>
                <a:latin typeface="Roboto"/>
                <a:ea typeface="Roboto"/>
                <a:cs typeface="Roboto"/>
              </a:rPr>
              <a:t>liter</a:t>
            </a:r>
            <a:endParaRPr lang="id-ID" sz="720"/>
          </a:p>
        </p:txBody>
      </p:sp>
      <p:sp>
        <p:nvSpPr>
          <p:cNvPr id="830" name="K"/>
          <p:cNvSpPr/>
          <p:nvPr/>
        </p:nvSpPr>
        <p:spPr>
          <a:xfrm>
            <a:off x="7571232" y="2280513"/>
            <a:ext cx="164592" cy="164592"/>
          </a:xfrm>
          <a:prstGeom prst="ellipse">
            <a:avLst/>
          </a:prstGeom>
          <a:solidFill>
            <a:srgbClr val="D9600B"/>
          </a:solidFill>
          <a:ln>
            <a:noFill/>
          </a:ln>
        </p:spPr>
      </p:sp>
      <p:pic>
        <p:nvPicPr>
          <p:cNvPr id="831" name="G"/>
          <p:cNvPicPr>
            <a:picLocks noChangeAspect="1"/>
          </p:cNvPicPr>
          <p:nvPr/>
        </p:nvPicPr>
        <p:blipFill>
          <a:blip r:embed="rIdM2"/>
          <a:stretch>
            <a:fillRect/>
          </a:stretch>
        </p:blipFill>
        <p:spPr>
          <a:xfrm>
            <a:off x="7600858" y="2310139"/>
            <a:ext cx="105338" cy="105338"/>
          </a:xfrm>
          <a:prstGeom prst="rect">
            <a:avLst/>
          </a:prstGeom>
        </p:spPr>
      </p:pic>
      <p:sp>
        <p:nvSpPr>
          <p:cNvPr id="832" name="T"/>
          <p:cNvSpPr txBox="1"/>
          <p:nvPr/>
        </p:nvSpPr>
        <p:spPr>
          <a:xfrm>
            <a:off x="7799832" y="2254910"/>
            <a:ext cx="1100000" cy="215798"/>
          </a:xfrm>
          <a:prstGeom prst="rect">
            <a:avLst/>
          </a:prstGeom>
          <a:noFill/>
        </p:spPr>
        <p:txBody>
          <a:bodyPr wrap="square" lIns="0" tIns="0" rIns="0" bIns="0" anchor="ctr"/>
          <a:lstStyle/>
          <a:p>
            <a:pPr algn="l">
              <a:buNone/>
            </a:pPr>
            <a:r>
              <a:rPr lang="id-ID" sz="850" b="1" dirty="0">
                <a:solidFill>
                  <a:srgbClr val="1A1A1A"/>
                </a:solidFill>
                <a:latin typeface="Roboto"/>
                <a:ea typeface="Roboto"/>
                <a:cs typeface="Roboto"/>
              </a:rPr>
              <a:t>Pangandaran</a:t>
            </a:r>
            <a:endParaRPr lang="id-ID" sz="850"/>
          </a:p>
        </p:txBody>
      </p:sp>
      <p:sp>
        <p:nvSpPr>
          <p:cNvPr id="833" name="T"/>
          <p:cNvSpPr txBox="1"/>
          <p:nvPr/>
        </p:nvSpPr>
        <p:spPr>
          <a:xfrm>
            <a:off x="8620000" y="2254910"/>
            <a:ext cx="380000" cy="215798"/>
          </a:xfrm>
          <a:prstGeom prst="rect">
            <a:avLst/>
          </a:prstGeom>
          <a:noFill/>
        </p:spPr>
        <p:txBody>
          <a:bodyPr wrap="none" lIns="0" tIns="0" rIns="0" bIns="0" anchor="ctr"/>
          <a:lstStyle/>
          <a:p>
            <a:pPr algn="r">
              <a:buNone/>
            </a:pPr>
            <a:r>
              <a:rPr lang="id-ID" sz="800" b="1" dirty="0">
                <a:solidFill>
                  <a:srgbClr val="1A1A1A"/>
                </a:solidFill>
                <a:latin typeface="Roboto"/>
                <a:ea typeface="Roboto"/>
                <a:cs typeface="Roboto"/>
              </a:rPr>
              <a:t>14.739</a:t>
            </a:r>
            <a:endParaRPr lang="id-ID" sz="800"/>
          </a:p>
        </p:txBody>
      </p:sp>
      <p:sp>
        <p:nvSpPr>
          <p:cNvPr id="834" name="T"/>
          <p:cNvSpPr txBox="1"/>
          <p:nvPr/>
        </p:nvSpPr>
        <p:spPr>
          <a:xfrm>
            <a:off x="9024000" y="2254910"/>
            <a:ext cx="200000" cy="215798"/>
          </a:xfrm>
          <a:prstGeom prst="rect">
            <a:avLst/>
          </a:prstGeom>
          <a:noFill/>
        </p:spPr>
        <p:txBody>
          <a:bodyPr wrap="none" lIns="0" tIns="0" rIns="0" bIns="0" anchor="ctr"/>
          <a:lstStyle/>
          <a:p>
            <a:pPr algn="l">
              <a:buNone/>
            </a:pPr>
            <a:r>
              <a:rPr lang="id-ID" sz="800" b="1" dirty="0">
                <a:solidFill>
                  <a:srgbClr val="1A1A1A"/>
                </a:solidFill>
                <a:latin typeface="Roboto"/>
                <a:ea typeface="Roboto"/>
                <a:cs typeface="Roboto"/>
              </a:rPr>
              <a:t>KK</a:t>
            </a:r>
            <a:endParaRPr lang="id-ID" sz="800"/>
          </a:p>
        </p:txBody>
      </p:sp>
      <p:sp>
        <p:nvSpPr>
          <p:cNvPr id="835" name="T"/>
          <p:cNvSpPr txBox="1"/>
          <p:nvPr/>
        </p:nvSpPr>
        <p:spPr>
          <a:xfrm>
            <a:off x="9240000" y="2254910"/>
            <a:ext cx="400000" cy="215798"/>
          </a:xfrm>
          <a:prstGeom prst="rect">
            <a:avLst/>
          </a:prstGeom>
          <a:noFill/>
        </p:spPr>
        <p:txBody>
          <a:bodyPr wrap="none" lIns="0" tIns="0" rIns="0" bIns="0" anchor="ctr"/>
          <a:lstStyle/>
          <a:p>
            <a:pPr algn="r">
              <a:buNone/>
            </a:pPr>
            <a:r>
              <a:rPr lang="id-ID" sz="800" dirty="0">
                <a:solidFill>
                  <a:srgbClr val="2E3440"/>
                </a:solidFill>
                <a:latin typeface="Roboto"/>
                <a:ea typeface="Roboto"/>
                <a:cs typeface="Roboto"/>
              </a:rPr>
              <a:t>42.423</a:t>
            </a:r>
            <a:endParaRPr lang="id-ID" sz="800"/>
          </a:p>
        </p:txBody>
      </p:sp>
      <p:sp>
        <p:nvSpPr>
          <p:cNvPr id="836" name="T"/>
          <p:cNvSpPr txBox="1"/>
          <p:nvPr/>
        </p:nvSpPr>
        <p:spPr>
          <a:xfrm>
            <a:off x="9664000" y="2254910"/>
            <a:ext cx="260000" cy="215798"/>
          </a:xfrm>
          <a:prstGeom prst="rect">
            <a:avLst/>
          </a:prstGeom>
          <a:noFill/>
        </p:spPr>
        <p:txBody>
          <a:bodyPr wrap="none" lIns="0" tIns="0" rIns="0" bIns="0" anchor="ctr"/>
          <a:lstStyle/>
          <a:p>
            <a:pPr algn="l">
              <a:buNone/>
            </a:pPr>
            <a:r>
              <a:rPr lang="id-ID" sz="800" dirty="0">
                <a:solidFill>
                  <a:srgbClr val="2E3440"/>
                </a:solidFill>
                <a:latin typeface="Roboto"/>
                <a:ea typeface="Roboto"/>
                <a:cs typeface="Roboto"/>
              </a:rPr>
              <a:t>jiwa</a:t>
            </a:r>
            <a:endParaRPr lang="id-ID" sz="800"/>
          </a:p>
        </p:txBody>
      </p:sp>
      <p:sp>
        <p:nvSpPr>
          <p:cNvPr id="837" name="K"/>
          <p:cNvSpPr/>
          <p:nvPr/>
        </p:nvSpPr>
        <p:spPr>
          <a:xfrm>
            <a:off x="9930000" y="2280513"/>
            <a:ext cx="880000" cy="164592"/>
          </a:xfrm>
          <a:prstGeom prst="roundRect">
            <a:avLst>
              <a:gd name="adj" fmla="val 50000"/>
            </a:avLst>
          </a:prstGeom>
          <a:solidFill>
            <a:srgbClr val="FFFFFF"/>
          </a:solidFill>
          <a:ln w="9525">
            <a:solidFill>
              <a:srgbClr val="E2D3B5"/>
            </a:solidFill>
          </a:ln>
        </p:spPr>
      </p:sp>
      <p:pic>
        <p:nvPicPr>
          <p:cNvPr id="838" name="G"/>
          <p:cNvPicPr>
            <a:picLocks noChangeAspect="1"/>
          </p:cNvPicPr>
          <p:nvPr/>
        </p:nvPicPr>
        <p:blipFill>
          <a:blip r:embed="rIdM20"/>
          <a:stretch>
            <a:fillRect/>
          </a:stretch>
        </p:blipFill>
        <p:spPr>
          <a:xfrm>
            <a:off x="9985000" y="2312513"/>
            <a:ext cx="100584" cy="100584"/>
          </a:xfrm>
          <a:prstGeom prst="rect">
            <a:avLst/>
          </a:prstGeom>
        </p:spPr>
      </p:pic>
      <p:sp>
        <p:nvSpPr>
          <p:cNvPr id="839" name="T"/>
          <p:cNvSpPr txBox="1"/>
          <p:nvPr/>
        </p:nvSpPr>
        <p:spPr>
          <a:xfrm>
            <a:off x="10120000" y="2280513"/>
            <a:ext cx="430000" cy="164592"/>
          </a:xfrm>
          <a:prstGeom prst="rect">
            <a:avLst/>
          </a:prstGeom>
          <a:noFill/>
        </p:spPr>
        <p:txBody>
          <a:bodyPr wrap="none" lIns="0" tIns="0" rIns="0" bIns="0" anchor="ctr"/>
          <a:lstStyle/>
          <a:p>
            <a:pPr algn="r">
              <a:buNone/>
            </a:pPr>
            <a:r>
              <a:rPr lang="id-ID" sz="720" b="1" dirty="0">
                <a:solidFill>
                  <a:srgbClr val="1A1A1A"/>
                </a:solidFill>
                <a:latin typeface="Roboto"/>
                <a:ea typeface="Roboto"/>
                <a:cs typeface="Roboto"/>
              </a:rPr>
              <a:t>24.000</a:t>
            </a:r>
            <a:endParaRPr lang="id-ID" sz="720"/>
          </a:p>
        </p:txBody>
      </p:sp>
      <p:sp>
        <p:nvSpPr>
          <p:cNvPr id="840" name="T"/>
          <p:cNvSpPr txBox="1"/>
          <p:nvPr/>
        </p:nvSpPr>
        <p:spPr>
          <a:xfrm>
            <a:off x="10571600" y="2280513"/>
            <a:ext cx="200000" cy="164592"/>
          </a:xfrm>
          <a:prstGeom prst="rect">
            <a:avLst/>
          </a:prstGeom>
          <a:noFill/>
        </p:spPr>
        <p:txBody>
          <a:bodyPr wrap="none" lIns="0" tIns="0" rIns="0" bIns="0" anchor="ctr"/>
          <a:lstStyle/>
          <a:p>
            <a:pPr algn="l">
              <a:buNone/>
            </a:pPr>
            <a:r>
              <a:rPr lang="id-ID" sz="720" b="1" dirty="0">
                <a:solidFill>
                  <a:srgbClr val="1A1A1A"/>
                </a:solidFill>
                <a:latin typeface="Roboto"/>
                <a:ea typeface="Roboto"/>
                <a:cs typeface="Roboto"/>
              </a:rPr>
              <a:t>liter</a:t>
            </a:r>
            <a:endParaRPr lang="id-ID" sz="720"/>
          </a:p>
        </p:txBody>
      </p:sp>
      <p:cxnSp>
        <p:nvCxnSpPr>
          <p:cNvPr id="841" name="L"/>
          <p:cNvCxnSpPr/>
          <p:nvPr/>
        </p:nvCxnSpPr>
        <p:spPr>
          <a:xfrm>
            <a:off x="7571232" y="2470708"/>
            <a:ext cx="3907231" cy="0"/>
          </a:xfrm>
          <a:prstGeom prst="line">
            <a:avLst/>
          </a:prstGeom>
          <a:ln w="9525">
            <a:solidFill>
              <a:srgbClr val="EEF0F3"/>
            </a:solidFill>
          </a:ln>
        </p:spPr>
      </p:cxnSp>
      <p:sp>
        <p:nvSpPr>
          <p:cNvPr id="842" name="K"/>
          <p:cNvSpPr/>
          <p:nvPr/>
        </p:nvSpPr>
        <p:spPr>
          <a:xfrm>
            <a:off x="7571232" y="2496311"/>
            <a:ext cx="164592" cy="164592"/>
          </a:xfrm>
          <a:prstGeom prst="ellipse">
            <a:avLst/>
          </a:prstGeom>
          <a:solidFill>
            <a:srgbClr val="D9600B"/>
          </a:solidFill>
          <a:ln>
            <a:noFill/>
          </a:ln>
        </p:spPr>
      </p:sp>
      <p:pic>
        <p:nvPicPr>
          <p:cNvPr id="843" name="G"/>
          <p:cNvPicPr>
            <a:picLocks noChangeAspect="1"/>
          </p:cNvPicPr>
          <p:nvPr/>
        </p:nvPicPr>
        <p:blipFill>
          <a:blip r:embed="rIdM2"/>
          <a:stretch>
            <a:fillRect/>
          </a:stretch>
        </p:blipFill>
        <p:spPr>
          <a:xfrm>
            <a:off x="7600858" y="2525937"/>
            <a:ext cx="105338" cy="105338"/>
          </a:xfrm>
          <a:prstGeom prst="rect">
            <a:avLst/>
          </a:prstGeom>
        </p:spPr>
      </p:pic>
      <p:sp>
        <p:nvSpPr>
          <p:cNvPr id="844" name="T"/>
          <p:cNvSpPr txBox="1"/>
          <p:nvPr/>
        </p:nvSpPr>
        <p:spPr>
          <a:xfrm>
            <a:off x="7799832" y="2470708"/>
            <a:ext cx="1100000" cy="215798"/>
          </a:xfrm>
          <a:prstGeom prst="rect">
            <a:avLst/>
          </a:prstGeom>
          <a:noFill/>
        </p:spPr>
        <p:txBody>
          <a:bodyPr wrap="square" lIns="0" tIns="0" rIns="0" bIns="0" anchor="ctr"/>
          <a:lstStyle/>
          <a:p>
            <a:pPr algn="l">
              <a:buNone/>
            </a:pPr>
            <a:r>
              <a:rPr lang="id-ID" sz="850" b="1" dirty="0">
                <a:solidFill>
                  <a:srgbClr val="1A1A1A"/>
                </a:solidFill>
                <a:latin typeface="Roboto"/>
                <a:ea typeface="Roboto"/>
                <a:cs typeface="Roboto"/>
              </a:rPr>
              <a:t>Pati</a:t>
            </a:r>
            <a:endParaRPr lang="id-ID" sz="850"/>
          </a:p>
        </p:txBody>
      </p:sp>
      <p:sp>
        <p:nvSpPr>
          <p:cNvPr id="845" name="T"/>
          <p:cNvSpPr txBox="1"/>
          <p:nvPr/>
        </p:nvSpPr>
        <p:spPr>
          <a:xfrm>
            <a:off x="8620000" y="2470708"/>
            <a:ext cx="380000" cy="215798"/>
          </a:xfrm>
          <a:prstGeom prst="rect">
            <a:avLst/>
          </a:prstGeom>
          <a:noFill/>
        </p:spPr>
        <p:txBody>
          <a:bodyPr wrap="none" lIns="0" tIns="0" rIns="0" bIns="0" anchor="ctr"/>
          <a:lstStyle/>
          <a:p>
            <a:pPr algn="r">
              <a:buNone/>
            </a:pPr>
            <a:r>
              <a:rPr lang="id-ID" sz="800" b="1" dirty="0">
                <a:solidFill>
                  <a:srgbClr val="1A1A1A"/>
                </a:solidFill>
                <a:latin typeface="Roboto"/>
                <a:ea typeface="Roboto"/>
                <a:cs typeface="Roboto"/>
              </a:rPr>
              <a:t>1.470</a:t>
            </a:r>
            <a:endParaRPr lang="id-ID" sz="800"/>
          </a:p>
        </p:txBody>
      </p:sp>
      <p:sp>
        <p:nvSpPr>
          <p:cNvPr id="846" name="T"/>
          <p:cNvSpPr txBox="1"/>
          <p:nvPr/>
        </p:nvSpPr>
        <p:spPr>
          <a:xfrm>
            <a:off x="9024000" y="2470708"/>
            <a:ext cx="200000" cy="215798"/>
          </a:xfrm>
          <a:prstGeom prst="rect">
            <a:avLst/>
          </a:prstGeom>
          <a:noFill/>
        </p:spPr>
        <p:txBody>
          <a:bodyPr wrap="none" lIns="0" tIns="0" rIns="0" bIns="0" anchor="ctr"/>
          <a:lstStyle/>
          <a:p>
            <a:pPr algn="l">
              <a:buNone/>
            </a:pPr>
            <a:r>
              <a:rPr lang="id-ID" sz="800" b="1" dirty="0">
                <a:solidFill>
                  <a:srgbClr val="1A1A1A"/>
                </a:solidFill>
                <a:latin typeface="Roboto"/>
                <a:ea typeface="Roboto"/>
                <a:cs typeface="Roboto"/>
              </a:rPr>
              <a:t>KK</a:t>
            </a:r>
            <a:endParaRPr lang="id-ID" sz="800"/>
          </a:p>
        </p:txBody>
      </p:sp>
      <p:sp>
        <p:nvSpPr>
          <p:cNvPr id="847" name="T"/>
          <p:cNvSpPr txBox="1"/>
          <p:nvPr/>
        </p:nvSpPr>
        <p:spPr>
          <a:xfrm>
            <a:off x="9240000" y="2470708"/>
            <a:ext cx="400000" cy="215798"/>
          </a:xfrm>
          <a:prstGeom prst="rect">
            <a:avLst/>
          </a:prstGeom>
          <a:noFill/>
        </p:spPr>
        <p:txBody>
          <a:bodyPr wrap="none" lIns="0" tIns="0" rIns="0" bIns="0" anchor="ctr"/>
          <a:lstStyle/>
          <a:p>
            <a:pPr algn="r">
              <a:buNone/>
            </a:pPr>
            <a:r>
              <a:rPr lang="id-ID" sz="800" dirty="0">
                <a:solidFill>
                  <a:srgbClr val="2E3440"/>
                </a:solidFill>
                <a:latin typeface="Roboto"/>
                <a:ea typeface="Roboto"/>
                <a:cs typeface="Roboto"/>
              </a:rPr>
              <a:t>4.707</a:t>
            </a:r>
            <a:endParaRPr lang="id-ID" sz="800"/>
          </a:p>
        </p:txBody>
      </p:sp>
      <p:sp>
        <p:nvSpPr>
          <p:cNvPr id="848" name="T"/>
          <p:cNvSpPr txBox="1"/>
          <p:nvPr/>
        </p:nvSpPr>
        <p:spPr>
          <a:xfrm>
            <a:off x="9664000" y="2470708"/>
            <a:ext cx="260000" cy="215798"/>
          </a:xfrm>
          <a:prstGeom prst="rect">
            <a:avLst/>
          </a:prstGeom>
          <a:noFill/>
        </p:spPr>
        <p:txBody>
          <a:bodyPr wrap="none" lIns="0" tIns="0" rIns="0" bIns="0" anchor="ctr"/>
          <a:lstStyle/>
          <a:p>
            <a:pPr algn="l">
              <a:buNone/>
            </a:pPr>
            <a:r>
              <a:rPr lang="id-ID" sz="800" dirty="0">
                <a:solidFill>
                  <a:srgbClr val="2E3440"/>
                </a:solidFill>
                <a:latin typeface="Roboto"/>
                <a:ea typeface="Roboto"/>
                <a:cs typeface="Roboto"/>
              </a:rPr>
              <a:t>jiwa</a:t>
            </a:r>
            <a:endParaRPr lang="id-ID" sz="800"/>
          </a:p>
        </p:txBody>
      </p:sp>
      <p:sp>
        <p:nvSpPr>
          <p:cNvPr id="849" name="K"/>
          <p:cNvSpPr/>
          <p:nvPr/>
        </p:nvSpPr>
        <p:spPr>
          <a:xfrm>
            <a:off x="9930000" y="2496311"/>
            <a:ext cx="880000" cy="164592"/>
          </a:xfrm>
          <a:prstGeom prst="roundRect">
            <a:avLst>
              <a:gd name="adj" fmla="val 50000"/>
            </a:avLst>
          </a:prstGeom>
          <a:solidFill>
            <a:srgbClr val="FFFFFF"/>
          </a:solidFill>
          <a:ln w="9525">
            <a:solidFill>
              <a:srgbClr val="E2D3B5"/>
            </a:solidFill>
          </a:ln>
        </p:spPr>
      </p:sp>
      <p:pic>
        <p:nvPicPr>
          <p:cNvPr id="850" name="G"/>
          <p:cNvPicPr>
            <a:picLocks noChangeAspect="1"/>
          </p:cNvPicPr>
          <p:nvPr/>
        </p:nvPicPr>
        <p:blipFill>
          <a:blip r:embed="rIdM20"/>
          <a:stretch>
            <a:fillRect/>
          </a:stretch>
        </p:blipFill>
        <p:spPr>
          <a:xfrm>
            <a:off x="9985000" y="2528311"/>
            <a:ext cx="100584" cy="100584"/>
          </a:xfrm>
          <a:prstGeom prst="rect">
            <a:avLst/>
          </a:prstGeom>
        </p:spPr>
      </p:pic>
      <p:sp>
        <p:nvSpPr>
          <p:cNvPr id="851" name="T"/>
          <p:cNvSpPr txBox="1"/>
          <p:nvPr/>
        </p:nvSpPr>
        <p:spPr>
          <a:xfrm>
            <a:off x="10120000" y="2496311"/>
            <a:ext cx="430000" cy="164592"/>
          </a:xfrm>
          <a:prstGeom prst="rect">
            <a:avLst/>
          </a:prstGeom>
          <a:noFill/>
        </p:spPr>
        <p:txBody>
          <a:bodyPr wrap="none" lIns="0" tIns="0" rIns="0" bIns="0" anchor="ctr"/>
          <a:lstStyle/>
          <a:p>
            <a:pPr algn="r">
              <a:buNone/>
            </a:pPr>
            <a:r>
              <a:rPr lang="id-ID" sz="720" b="1" dirty="0">
                <a:solidFill>
                  <a:srgbClr val="1A1A1A"/>
                </a:solidFill>
                <a:latin typeface="Roboto"/>
                <a:ea typeface="Roboto"/>
                <a:cs typeface="Roboto"/>
              </a:rPr>
              <a:t>53.000</a:t>
            </a:r>
            <a:endParaRPr lang="id-ID" sz="720"/>
          </a:p>
        </p:txBody>
      </p:sp>
      <p:sp>
        <p:nvSpPr>
          <p:cNvPr id="852" name="T"/>
          <p:cNvSpPr txBox="1"/>
          <p:nvPr/>
        </p:nvSpPr>
        <p:spPr>
          <a:xfrm>
            <a:off x="10571600" y="2496311"/>
            <a:ext cx="200000" cy="164592"/>
          </a:xfrm>
          <a:prstGeom prst="rect">
            <a:avLst/>
          </a:prstGeom>
          <a:noFill/>
        </p:spPr>
        <p:txBody>
          <a:bodyPr wrap="none" lIns="0" tIns="0" rIns="0" bIns="0" anchor="ctr"/>
          <a:lstStyle/>
          <a:p>
            <a:pPr algn="l">
              <a:buNone/>
            </a:pPr>
            <a:r>
              <a:rPr lang="id-ID" sz="720" b="1" dirty="0">
                <a:solidFill>
                  <a:srgbClr val="1A1A1A"/>
                </a:solidFill>
                <a:latin typeface="Roboto"/>
                <a:ea typeface="Roboto"/>
                <a:cs typeface="Roboto"/>
              </a:rPr>
              <a:t>liter</a:t>
            </a:r>
            <a:endParaRPr lang="id-ID" sz="720"/>
          </a:p>
        </p:txBody>
      </p:sp>
      <p:cxnSp>
        <p:nvCxnSpPr>
          <p:cNvPr id="853" name="L"/>
          <p:cNvCxnSpPr/>
          <p:nvPr/>
        </p:nvCxnSpPr>
        <p:spPr>
          <a:xfrm>
            <a:off x="7571232" y="2686506"/>
            <a:ext cx="3907231" cy="0"/>
          </a:xfrm>
          <a:prstGeom prst="line">
            <a:avLst/>
          </a:prstGeom>
          <a:ln w="9525">
            <a:solidFill>
              <a:srgbClr val="EEF0F3"/>
            </a:solidFill>
          </a:ln>
        </p:spPr>
      </p:cxnSp>
      <p:sp>
        <p:nvSpPr>
          <p:cNvPr id="854" name="K"/>
          <p:cNvSpPr/>
          <p:nvPr/>
        </p:nvSpPr>
        <p:spPr>
          <a:xfrm>
            <a:off x="7571232" y="2712109"/>
            <a:ext cx="164592" cy="164592"/>
          </a:xfrm>
          <a:prstGeom prst="ellipse">
            <a:avLst/>
          </a:prstGeom>
          <a:solidFill>
            <a:srgbClr val="D9600B"/>
          </a:solidFill>
          <a:ln>
            <a:noFill/>
          </a:ln>
        </p:spPr>
      </p:sp>
      <p:pic>
        <p:nvPicPr>
          <p:cNvPr id="855" name="G"/>
          <p:cNvPicPr>
            <a:picLocks noChangeAspect="1"/>
          </p:cNvPicPr>
          <p:nvPr/>
        </p:nvPicPr>
        <p:blipFill>
          <a:blip r:embed="rIdM2"/>
          <a:stretch>
            <a:fillRect/>
          </a:stretch>
        </p:blipFill>
        <p:spPr>
          <a:xfrm>
            <a:off x="7600858" y="2741735"/>
            <a:ext cx="105338" cy="105338"/>
          </a:xfrm>
          <a:prstGeom prst="rect">
            <a:avLst/>
          </a:prstGeom>
        </p:spPr>
      </p:pic>
      <p:sp>
        <p:nvSpPr>
          <p:cNvPr id="856" name="T"/>
          <p:cNvSpPr txBox="1"/>
          <p:nvPr/>
        </p:nvSpPr>
        <p:spPr>
          <a:xfrm>
            <a:off x="7799832" y="2686506"/>
            <a:ext cx="1100000" cy="215798"/>
          </a:xfrm>
          <a:prstGeom prst="rect">
            <a:avLst/>
          </a:prstGeom>
          <a:noFill/>
        </p:spPr>
        <p:txBody>
          <a:bodyPr wrap="square" lIns="0" tIns="0" rIns="0" bIns="0" anchor="ctr"/>
          <a:lstStyle/>
          <a:p>
            <a:pPr algn="l">
              <a:buNone/>
            </a:pPr>
            <a:r>
              <a:rPr lang="id-ID" sz="850" b="1" dirty="0">
                <a:solidFill>
                  <a:srgbClr val="1A1A1A"/>
                </a:solidFill>
                <a:latin typeface="Roboto"/>
                <a:ea typeface="Roboto"/>
                <a:cs typeface="Roboto"/>
              </a:rPr>
              <a:t>Pemalang</a:t>
            </a:r>
            <a:endParaRPr lang="id-ID" sz="850"/>
          </a:p>
        </p:txBody>
      </p:sp>
      <p:sp>
        <p:nvSpPr>
          <p:cNvPr id="857" name="T"/>
          <p:cNvSpPr txBox="1"/>
          <p:nvPr/>
        </p:nvSpPr>
        <p:spPr>
          <a:xfrm>
            <a:off x="8620000" y="2686506"/>
            <a:ext cx="380000" cy="215798"/>
          </a:xfrm>
          <a:prstGeom prst="rect">
            <a:avLst/>
          </a:prstGeom>
          <a:noFill/>
        </p:spPr>
        <p:txBody>
          <a:bodyPr wrap="none" lIns="0" tIns="0" rIns="0" bIns="0" anchor="ctr"/>
          <a:lstStyle/>
          <a:p>
            <a:pPr algn="r">
              <a:buNone/>
            </a:pPr>
            <a:r>
              <a:rPr lang="id-ID" sz="800" b="1" dirty="0">
                <a:solidFill>
                  <a:srgbClr val="1A1A1A"/>
                </a:solidFill>
                <a:latin typeface="Roboto"/>
                <a:ea typeface="Roboto"/>
                <a:cs typeface="Roboto"/>
              </a:rPr>
              <a:t>14.847</a:t>
            </a:r>
            <a:endParaRPr lang="id-ID" sz="800"/>
          </a:p>
        </p:txBody>
      </p:sp>
      <p:sp>
        <p:nvSpPr>
          <p:cNvPr id="858" name="T"/>
          <p:cNvSpPr txBox="1"/>
          <p:nvPr/>
        </p:nvSpPr>
        <p:spPr>
          <a:xfrm>
            <a:off x="9024000" y="2686506"/>
            <a:ext cx="200000" cy="215798"/>
          </a:xfrm>
          <a:prstGeom prst="rect">
            <a:avLst/>
          </a:prstGeom>
          <a:noFill/>
        </p:spPr>
        <p:txBody>
          <a:bodyPr wrap="none" lIns="0" tIns="0" rIns="0" bIns="0" anchor="ctr"/>
          <a:lstStyle/>
          <a:p>
            <a:pPr algn="l">
              <a:buNone/>
            </a:pPr>
            <a:r>
              <a:rPr lang="id-ID" sz="800" b="1" dirty="0">
                <a:solidFill>
                  <a:srgbClr val="1A1A1A"/>
                </a:solidFill>
                <a:latin typeface="Roboto"/>
                <a:ea typeface="Roboto"/>
                <a:cs typeface="Roboto"/>
              </a:rPr>
              <a:t>KK</a:t>
            </a:r>
            <a:endParaRPr lang="id-ID" sz="800"/>
          </a:p>
        </p:txBody>
      </p:sp>
      <p:sp>
        <p:nvSpPr>
          <p:cNvPr id="859" name="T"/>
          <p:cNvSpPr txBox="1"/>
          <p:nvPr/>
        </p:nvSpPr>
        <p:spPr>
          <a:xfrm>
            <a:off x="9240000" y="2686506"/>
            <a:ext cx="400000" cy="215798"/>
          </a:xfrm>
          <a:prstGeom prst="rect">
            <a:avLst/>
          </a:prstGeom>
          <a:noFill/>
        </p:spPr>
        <p:txBody>
          <a:bodyPr wrap="none" lIns="0" tIns="0" rIns="0" bIns="0" anchor="ctr"/>
          <a:lstStyle/>
          <a:p>
            <a:pPr algn="r">
              <a:buNone/>
            </a:pPr>
            <a:r>
              <a:rPr lang="id-ID" sz="800" dirty="0">
                <a:solidFill>
                  <a:srgbClr val="2E3440"/>
                </a:solidFill>
                <a:latin typeface="Roboto"/>
                <a:ea typeface="Roboto"/>
                <a:cs typeface="Roboto"/>
              </a:rPr>
              <a:t>–</a:t>
            </a:r>
            <a:endParaRPr lang="id-ID" sz="800"/>
          </a:p>
        </p:txBody>
      </p:sp>
      <p:sp>
        <p:nvSpPr>
          <p:cNvPr id="860" name="T"/>
          <p:cNvSpPr txBox="1"/>
          <p:nvPr/>
        </p:nvSpPr>
        <p:spPr>
          <a:xfrm>
            <a:off x="9664000" y="2686506"/>
            <a:ext cx="260000" cy="215798"/>
          </a:xfrm>
          <a:prstGeom prst="rect">
            <a:avLst/>
          </a:prstGeom>
          <a:noFill/>
        </p:spPr>
        <p:txBody>
          <a:bodyPr wrap="none" lIns="0" tIns="0" rIns="0" bIns="0" anchor="ctr"/>
          <a:lstStyle/>
          <a:p>
            <a:pPr algn="l">
              <a:buNone/>
            </a:pPr>
            <a:r>
              <a:rPr lang="id-ID" sz="800" dirty="0">
                <a:solidFill>
                  <a:srgbClr val="2E3440"/>
                </a:solidFill>
                <a:latin typeface="Roboto"/>
                <a:ea typeface="Roboto"/>
                <a:cs typeface="Roboto"/>
              </a:rPr>
              <a:t>jiwa</a:t>
            </a:r>
            <a:endParaRPr lang="id-ID" sz="800"/>
          </a:p>
        </p:txBody>
      </p:sp>
      <p:sp>
        <p:nvSpPr>
          <p:cNvPr id="861" name="K"/>
          <p:cNvSpPr/>
          <p:nvPr/>
        </p:nvSpPr>
        <p:spPr>
          <a:xfrm>
            <a:off x="9930000" y="2712109"/>
            <a:ext cx="880000" cy="164592"/>
          </a:xfrm>
          <a:prstGeom prst="roundRect">
            <a:avLst>
              <a:gd name="adj" fmla="val 50000"/>
            </a:avLst>
          </a:prstGeom>
          <a:solidFill>
            <a:srgbClr val="FFFFFF"/>
          </a:solidFill>
          <a:ln w="9525">
            <a:solidFill>
              <a:srgbClr val="E2D3B5"/>
            </a:solidFill>
          </a:ln>
        </p:spPr>
      </p:sp>
      <p:pic>
        <p:nvPicPr>
          <p:cNvPr id="862" name="G"/>
          <p:cNvPicPr>
            <a:picLocks noChangeAspect="1"/>
          </p:cNvPicPr>
          <p:nvPr/>
        </p:nvPicPr>
        <p:blipFill>
          <a:blip r:embed="rIdM20"/>
          <a:stretch>
            <a:fillRect/>
          </a:stretch>
        </p:blipFill>
        <p:spPr>
          <a:xfrm>
            <a:off x="9985000" y="2744109"/>
            <a:ext cx="100584" cy="100584"/>
          </a:xfrm>
          <a:prstGeom prst="rect">
            <a:avLst/>
          </a:prstGeom>
        </p:spPr>
      </p:pic>
      <p:sp>
        <p:nvSpPr>
          <p:cNvPr id="863" name="T"/>
          <p:cNvSpPr txBox="1"/>
          <p:nvPr/>
        </p:nvSpPr>
        <p:spPr>
          <a:xfrm>
            <a:off x="10120000" y="2712109"/>
            <a:ext cx="430000" cy="164592"/>
          </a:xfrm>
          <a:prstGeom prst="rect">
            <a:avLst/>
          </a:prstGeom>
          <a:noFill/>
        </p:spPr>
        <p:txBody>
          <a:bodyPr wrap="none" lIns="0" tIns="0" rIns="0" bIns="0" anchor="ctr"/>
          <a:lstStyle/>
          <a:p>
            <a:pPr algn="r">
              <a:buNone/>
            </a:pPr>
            <a:r>
              <a:rPr lang="id-ID" sz="720" b="1" dirty="0">
                <a:solidFill>
                  <a:srgbClr val="1A1A1A"/>
                </a:solidFill>
                <a:latin typeface="Roboto"/>
                <a:ea typeface="Roboto"/>
                <a:cs typeface="Roboto"/>
              </a:rPr>
              <a:t>70.000</a:t>
            </a:r>
            <a:endParaRPr lang="id-ID" sz="720"/>
          </a:p>
        </p:txBody>
      </p:sp>
      <p:sp>
        <p:nvSpPr>
          <p:cNvPr id="864" name="T"/>
          <p:cNvSpPr txBox="1"/>
          <p:nvPr/>
        </p:nvSpPr>
        <p:spPr>
          <a:xfrm>
            <a:off x="10571600" y="2712109"/>
            <a:ext cx="200000" cy="164592"/>
          </a:xfrm>
          <a:prstGeom prst="rect">
            <a:avLst/>
          </a:prstGeom>
          <a:noFill/>
        </p:spPr>
        <p:txBody>
          <a:bodyPr wrap="none" lIns="0" tIns="0" rIns="0" bIns="0" anchor="ctr"/>
          <a:lstStyle/>
          <a:p>
            <a:pPr algn="l">
              <a:buNone/>
            </a:pPr>
            <a:r>
              <a:rPr lang="id-ID" sz="720" b="1" dirty="0">
                <a:solidFill>
                  <a:srgbClr val="1A1A1A"/>
                </a:solidFill>
                <a:latin typeface="Roboto"/>
                <a:ea typeface="Roboto"/>
                <a:cs typeface="Roboto"/>
              </a:rPr>
              <a:t>liter</a:t>
            </a:r>
            <a:endParaRPr lang="id-ID" sz="720"/>
          </a:p>
        </p:txBody>
      </p:sp>
      <p:cxnSp>
        <p:nvCxnSpPr>
          <p:cNvPr id="865" name="L"/>
          <p:cNvCxnSpPr/>
          <p:nvPr/>
        </p:nvCxnSpPr>
        <p:spPr>
          <a:xfrm>
            <a:off x="7571232" y="2902304"/>
            <a:ext cx="3907231" cy="0"/>
          </a:xfrm>
          <a:prstGeom prst="line">
            <a:avLst/>
          </a:prstGeom>
          <a:ln w="9525">
            <a:solidFill>
              <a:srgbClr val="EEF0F3"/>
            </a:solidFill>
          </a:ln>
        </p:spPr>
      </p:cxnSp>
      <p:sp>
        <p:nvSpPr>
          <p:cNvPr id="866" name="K"/>
          <p:cNvSpPr/>
          <p:nvPr/>
        </p:nvSpPr>
        <p:spPr>
          <a:xfrm>
            <a:off x="7571232" y="2927907"/>
            <a:ext cx="164592" cy="164592"/>
          </a:xfrm>
          <a:prstGeom prst="ellipse">
            <a:avLst/>
          </a:prstGeom>
          <a:solidFill>
            <a:srgbClr val="D9600B"/>
          </a:solidFill>
          <a:ln>
            <a:noFill/>
          </a:ln>
        </p:spPr>
      </p:sp>
      <p:pic>
        <p:nvPicPr>
          <p:cNvPr id="867" name="G"/>
          <p:cNvPicPr>
            <a:picLocks noChangeAspect="1"/>
          </p:cNvPicPr>
          <p:nvPr/>
        </p:nvPicPr>
        <p:blipFill>
          <a:blip r:embed="rIdM2"/>
          <a:stretch>
            <a:fillRect/>
          </a:stretch>
        </p:blipFill>
        <p:spPr>
          <a:xfrm>
            <a:off x="7600858" y="2957533"/>
            <a:ext cx="105338" cy="105338"/>
          </a:xfrm>
          <a:prstGeom prst="rect">
            <a:avLst/>
          </a:prstGeom>
        </p:spPr>
      </p:pic>
      <p:sp>
        <p:nvSpPr>
          <p:cNvPr id="868" name="T"/>
          <p:cNvSpPr txBox="1"/>
          <p:nvPr/>
        </p:nvSpPr>
        <p:spPr>
          <a:xfrm>
            <a:off x="7799832" y="2902304"/>
            <a:ext cx="1100000" cy="215798"/>
          </a:xfrm>
          <a:prstGeom prst="rect">
            <a:avLst/>
          </a:prstGeom>
          <a:noFill/>
        </p:spPr>
        <p:txBody>
          <a:bodyPr wrap="square" lIns="0" tIns="0" rIns="0" bIns="0" anchor="ctr"/>
          <a:lstStyle/>
          <a:p>
            <a:pPr algn="l">
              <a:buNone/>
            </a:pPr>
            <a:r>
              <a:rPr lang="id-ID" sz="850" b="1" dirty="0">
                <a:solidFill>
                  <a:srgbClr val="1A1A1A"/>
                </a:solidFill>
                <a:latin typeface="Roboto"/>
                <a:ea typeface="Roboto"/>
                <a:cs typeface="Roboto"/>
              </a:rPr>
              <a:t>Kulon Progo</a:t>
            </a:r>
            <a:endParaRPr lang="id-ID" sz="850"/>
          </a:p>
        </p:txBody>
      </p:sp>
      <p:sp>
        <p:nvSpPr>
          <p:cNvPr id="869" name="T"/>
          <p:cNvSpPr txBox="1"/>
          <p:nvPr/>
        </p:nvSpPr>
        <p:spPr>
          <a:xfrm>
            <a:off x="8620000" y="2902304"/>
            <a:ext cx="380000" cy="215798"/>
          </a:xfrm>
          <a:prstGeom prst="rect">
            <a:avLst/>
          </a:prstGeom>
          <a:noFill/>
        </p:spPr>
        <p:txBody>
          <a:bodyPr wrap="none" lIns="0" tIns="0" rIns="0" bIns="0" anchor="ctr"/>
          <a:lstStyle/>
          <a:p>
            <a:pPr algn="r">
              <a:buNone/>
            </a:pPr>
            <a:r>
              <a:rPr lang="id-ID" sz="800" b="1" dirty="0">
                <a:solidFill>
                  <a:srgbClr val="1A1A1A"/>
                </a:solidFill>
                <a:latin typeface="Roboto"/>
                <a:ea typeface="Roboto"/>
                <a:cs typeface="Roboto"/>
              </a:rPr>
              <a:t>686</a:t>
            </a:r>
            <a:endParaRPr lang="id-ID" sz="800"/>
          </a:p>
        </p:txBody>
      </p:sp>
      <p:sp>
        <p:nvSpPr>
          <p:cNvPr id="870" name="T"/>
          <p:cNvSpPr txBox="1"/>
          <p:nvPr/>
        </p:nvSpPr>
        <p:spPr>
          <a:xfrm>
            <a:off x="9024000" y="2902304"/>
            <a:ext cx="200000" cy="215798"/>
          </a:xfrm>
          <a:prstGeom prst="rect">
            <a:avLst/>
          </a:prstGeom>
          <a:noFill/>
        </p:spPr>
        <p:txBody>
          <a:bodyPr wrap="none" lIns="0" tIns="0" rIns="0" bIns="0" anchor="ctr"/>
          <a:lstStyle/>
          <a:p>
            <a:pPr algn="l">
              <a:buNone/>
            </a:pPr>
            <a:r>
              <a:rPr lang="id-ID" sz="800" b="1" dirty="0">
                <a:solidFill>
                  <a:srgbClr val="1A1A1A"/>
                </a:solidFill>
                <a:latin typeface="Roboto"/>
                <a:ea typeface="Roboto"/>
                <a:cs typeface="Roboto"/>
              </a:rPr>
              <a:t>KK</a:t>
            </a:r>
            <a:endParaRPr lang="id-ID" sz="800"/>
          </a:p>
        </p:txBody>
      </p:sp>
      <p:sp>
        <p:nvSpPr>
          <p:cNvPr id="871" name="T"/>
          <p:cNvSpPr txBox="1"/>
          <p:nvPr/>
        </p:nvSpPr>
        <p:spPr>
          <a:xfrm>
            <a:off x="9240000" y="2902304"/>
            <a:ext cx="400000" cy="215798"/>
          </a:xfrm>
          <a:prstGeom prst="rect">
            <a:avLst/>
          </a:prstGeom>
          <a:noFill/>
        </p:spPr>
        <p:txBody>
          <a:bodyPr wrap="none" lIns="0" tIns="0" rIns="0" bIns="0" anchor="ctr"/>
          <a:lstStyle/>
          <a:p>
            <a:pPr algn="r">
              <a:buNone/>
            </a:pPr>
            <a:r>
              <a:rPr lang="id-ID" sz="800" dirty="0">
                <a:solidFill>
                  <a:srgbClr val="2E3440"/>
                </a:solidFill>
                <a:latin typeface="Roboto"/>
                <a:ea typeface="Roboto"/>
                <a:cs typeface="Roboto"/>
              </a:rPr>
              <a:t>2.334</a:t>
            </a:r>
            <a:endParaRPr lang="id-ID" sz="800"/>
          </a:p>
        </p:txBody>
      </p:sp>
      <p:sp>
        <p:nvSpPr>
          <p:cNvPr id="872" name="T"/>
          <p:cNvSpPr txBox="1"/>
          <p:nvPr/>
        </p:nvSpPr>
        <p:spPr>
          <a:xfrm>
            <a:off x="9664000" y="2902304"/>
            <a:ext cx="260000" cy="215798"/>
          </a:xfrm>
          <a:prstGeom prst="rect">
            <a:avLst/>
          </a:prstGeom>
          <a:noFill/>
        </p:spPr>
        <p:txBody>
          <a:bodyPr wrap="none" lIns="0" tIns="0" rIns="0" bIns="0" anchor="ctr"/>
          <a:lstStyle/>
          <a:p>
            <a:pPr algn="l">
              <a:buNone/>
            </a:pPr>
            <a:r>
              <a:rPr lang="id-ID" sz="800" dirty="0">
                <a:solidFill>
                  <a:srgbClr val="2E3440"/>
                </a:solidFill>
                <a:latin typeface="Roboto"/>
                <a:ea typeface="Roboto"/>
                <a:cs typeface="Roboto"/>
              </a:rPr>
              <a:t>jiwa</a:t>
            </a:r>
            <a:endParaRPr lang="id-ID" sz="800"/>
          </a:p>
        </p:txBody>
      </p:sp>
      <p:sp>
        <p:nvSpPr>
          <p:cNvPr id="873" name="K"/>
          <p:cNvSpPr/>
          <p:nvPr/>
        </p:nvSpPr>
        <p:spPr>
          <a:xfrm>
            <a:off x="9930000" y="2927907"/>
            <a:ext cx="880000" cy="164592"/>
          </a:xfrm>
          <a:prstGeom prst="roundRect">
            <a:avLst>
              <a:gd name="adj" fmla="val 50000"/>
            </a:avLst>
          </a:prstGeom>
          <a:solidFill>
            <a:srgbClr val="FFFFFF"/>
          </a:solidFill>
          <a:ln w="9525">
            <a:solidFill>
              <a:srgbClr val="E2D3B5"/>
            </a:solidFill>
          </a:ln>
        </p:spPr>
      </p:sp>
      <p:pic>
        <p:nvPicPr>
          <p:cNvPr id="874" name="G"/>
          <p:cNvPicPr>
            <a:picLocks noChangeAspect="1"/>
          </p:cNvPicPr>
          <p:nvPr/>
        </p:nvPicPr>
        <p:blipFill>
          <a:blip r:embed="rIdM20"/>
          <a:stretch>
            <a:fillRect/>
          </a:stretch>
        </p:blipFill>
        <p:spPr>
          <a:xfrm>
            <a:off x="9985000" y="2959907"/>
            <a:ext cx="100584" cy="100584"/>
          </a:xfrm>
          <a:prstGeom prst="rect">
            <a:avLst/>
          </a:prstGeom>
        </p:spPr>
      </p:pic>
      <p:sp>
        <p:nvSpPr>
          <p:cNvPr id="875" name="T"/>
          <p:cNvSpPr txBox="1"/>
          <p:nvPr/>
        </p:nvSpPr>
        <p:spPr>
          <a:xfrm>
            <a:off x="10120000" y="2927907"/>
            <a:ext cx="430000" cy="164592"/>
          </a:xfrm>
          <a:prstGeom prst="rect">
            <a:avLst/>
          </a:prstGeom>
          <a:noFill/>
        </p:spPr>
        <p:txBody>
          <a:bodyPr wrap="none" lIns="0" tIns="0" rIns="0" bIns="0" anchor="ctr"/>
          <a:lstStyle/>
          <a:p>
            <a:pPr algn="r">
              <a:buNone/>
            </a:pPr>
            <a:r>
              <a:rPr lang="id-ID" sz="720" b="1" dirty="0">
                <a:solidFill>
                  <a:srgbClr val="1A1A1A"/>
                </a:solidFill>
                <a:latin typeface="Roboto"/>
                <a:ea typeface="Roboto"/>
                <a:cs typeface="Roboto"/>
              </a:rPr>
              <a:t>57.000</a:t>
            </a:r>
            <a:endParaRPr lang="id-ID" sz="720"/>
          </a:p>
        </p:txBody>
      </p:sp>
      <p:sp>
        <p:nvSpPr>
          <p:cNvPr id="876" name="T"/>
          <p:cNvSpPr txBox="1"/>
          <p:nvPr/>
        </p:nvSpPr>
        <p:spPr>
          <a:xfrm>
            <a:off x="10571600" y="2927907"/>
            <a:ext cx="200000" cy="164592"/>
          </a:xfrm>
          <a:prstGeom prst="rect">
            <a:avLst/>
          </a:prstGeom>
          <a:noFill/>
        </p:spPr>
        <p:txBody>
          <a:bodyPr wrap="none" lIns="0" tIns="0" rIns="0" bIns="0" anchor="ctr"/>
          <a:lstStyle/>
          <a:p>
            <a:pPr algn="l">
              <a:buNone/>
            </a:pPr>
            <a:r>
              <a:rPr lang="id-ID" sz="720" b="1" dirty="0">
                <a:solidFill>
                  <a:srgbClr val="1A1A1A"/>
                </a:solidFill>
                <a:latin typeface="Roboto"/>
                <a:ea typeface="Roboto"/>
                <a:cs typeface="Roboto"/>
              </a:rPr>
              <a:t>liter</a:t>
            </a:r>
            <a:endParaRPr lang="id-ID" sz="720"/>
          </a:p>
        </p:txBody>
      </p:sp>
      <p:sp>
        <p:nvSpPr>
          <p:cNvPr id="877" name="K"/>
          <p:cNvSpPr/>
          <p:nvPr/>
        </p:nvSpPr>
        <p:spPr>
          <a:xfrm>
            <a:off x="7406640" y="3300984"/>
            <a:ext cx="4236415" cy="3008376"/>
          </a:xfrm>
          <a:prstGeom prst="roundRect">
            <a:avLst>
              <a:gd name="adj" fmla="val 4000"/>
            </a:avLst>
          </a:prstGeom>
          <a:solidFill>
            <a:srgbClr val="FFFFFF"/>
          </a:solidFill>
          <a:ln w="9525">
            <a:solidFill>
              <a:srgbClr val="BFC5CC"/>
            </a:solidFill>
          </a:ln>
        </p:spPr>
      </p:sp>
      <p:sp>
        <p:nvSpPr>
          <p:cNvPr id="878" name="K"/>
          <p:cNvSpPr/>
          <p:nvPr/>
        </p:nvSpPr>
        <p:spPr>
          <a:xfrm>
            <a:off x="7406640" y="3300984"/>
            <a:ext cx="4236415" cy="365760"/>
          </a:xfrm>
          <a:prstGeom prst="roundRect">
            <a:avLst>
              <a:gd name="adj" fmla="val 16000"/>
            </a:avLst>
          </a:prstGeom>
          <a:solidFill>
            <a:srgbClr val="E3EAF1"/>
          </a:solidFill>
          <a:ln>
            <a:noFill/>
          </a:ln>
        </p:spPr>
      </p:sp>
      <p:sp>
        <p:nvSpPr>
          <p:cNvPr id="879" name="K"/>
          <p:cNvSpPr/>
          <p:nvPr/>
        </p:nvSpPr>
        <p:spPr>
          <a:xfrm>
            <a:off x="7406640" y="3520440"/>
            <a:ext cx="4236415" cy="146304"/>
          </a:xfrm>
          <a:prstGeom prst="rect">
            <a:avLst/>
          </a:prstGeom>
          <a:solidFill>
            <a:srgbClr val="E3EAF1"/>
          </a:solidFill>
          <a:ln>
            <a:noFill/>
          </a:ln>
        </p:spPr>
      </p:sp>
      <p:sp>
        <p:nvSpPr>
          <p:cNvPr id="880" name="K"/>
          <p:cNvSpPr/>
          <p:nvPr/>
        </p:nvSpPr>
        <p:spPr>
          <a:xfrm>
            <a:off x="7534656" y="3337560"/>
            <a:ext cx="292608" cy="292608"/>
          </a:xfrm>
          <a:prstGeom prst="ellipse">
            <a:avLst/>
          </a:prstGeom>
          <a:solidFill>
            <a:srgbClr val="5B7A99"/>
          </a:solidFill>
          <a:ln>
            <a:noFill/>
          </a:ln>
        </p:spPr>
      </p:sp>
      <p:pic>
        <p:nvPicPr>
          <p:cNvPr id="881" name="G"/>
          <p:cNvPicPr>
            <a:picLocks noChangeAspect="1"/>
          </p:cNvPicPr>
          <p:nvPr/>
        </p:nvPicPr>
        <p:blipFill>
          <a:blip r:embed="rIdM21"/>
          <a:stretch>
            <a:fillRect/>
          </a:stretch>
        </p:blipFill>
        <p:spPr>
          <a:xfrm>
            <a:off x="7589520" y="3392424"/>
            <a:ext cx="182880" cy="182880"/>
          </a:xfrm>
          <a:prstGeom prst="rect">
            <a:avLst/>
          </a:prstGeom>
        </p:spPr>
      </p:pic>
      <p:sp>
        <p:nvSpPr>
          <p:cNvPr id="882" name="T"/>
          <p:cNvSpPr txBox="1"/>
          <p:nvPr/>
        </p:nvSpPr>
        <p:spPr>
          <a:xfrm>
            <a:off x="7909560" y="3300984"/>
            <a:ext cx="3136415" cy="365760"/>
          </a:xfrm>
          <a:prstGeom prst="rect">
            <a:avLst/>
          </a:prstGeom>
          <a:noFill/>
        </p:spPr>
        <p:txBody>
          <a:bodyPr wrap="square" lIns="0" tIns="0" rIns="0" bIns="0" anchor="ctr"/>
          <a:lstStyle/>
          <a:p>
            <a:pPr algn="l">
              <a:buNone/>
            </a:pPr>
            <a:r>
              <a:rPr lang="id-ID" sz="1100" b="1" dirty="0">
                <a:solidFill>
                  <a:srgbClr val="1A1A1A"/>
                </a:solidFill>
                <a:latin typeface="Roboto"/>
                <a:ea typeface="Roboto"/>
                <a:cs typeface="Roboto"/>
              </a:rPr>
              <a:t>Bencana lainnya</a:t>
            </a:r>
            <a:endParaRPr lang="id-ID" sz="1100"/>
          </a:p>
        </p:txBody>
      </p:sp>
      <p:sp>
        <p:nvSpPr>
          <p:cNvPr id="883" name="T"/>
          <p:cNvSpPr txBox="1"/>
          <p:nvPr/>
        </p:nvSpPr>
        <p:spPr>
          <a:xfrm>
            <a:off x="11002975" y="3300984"/>
            <a:ext cx="512064" cy="365760"/>
          </a:xfrm>
          <a:prstGeom prst="rect">
            <a:avLst/>
          </a:prstGeom>
          <a:noFill/>
        </p:spPr>
        <p:txBody>
          <a:bodyPr wrap="square" lIns="0" tIns="0" rIns="0" bIns="0" anchor="ctr"/>
          <a:lstStyle/>
          <a:p>
            <a:pPr algn="r">
              <a:buNone/>
            </a:pPr>
            <a:r>
              <a:rPr lang="id-ID" sz="1800" b="1" dirty="0">
                <a:solidFill>
                  <a:srgbClr val="5B7A99"/>
                </a:solidFill>
                <a:latin typeface="Roboto"/>
                <a:ea typeface="Roboto"/>
                <a:cs typeface="Roboto"/>
              </a:rPr>
              <a:t>8</a:t>
            </a:r>
            <a:endParaRPr lang="id-ID" sz="1800"/>
          </a:p>
        </p:txBody>
      </p:sp>
      <p:sp>
        <p:nvSpPr>
          <p:cNvPr id="643" name="K"/>
          <p:cNvSpPr/>
          <p:nvPr/>
        </p:nvSpPr>
        <p:spPr>
          <a:xfrm>
            <a:off x="7589520" y="3739896"/>
            <a:ext cx="128016" cy="128016"/>
          </a:xfrm>
          <a:prstGeom prst="ellipse">
            <a:avLst/>
          </a:prstGeom>
          <a:solidFill>
            <a:srgbClr val="5B7A99"/>
          </a:solidFill>
          <a:ln>
            <a:noFill/>
          </a:ln>
        </p:spPr>
      </p:sp>
      <p:pic>
        <p:nvPicPr>
          <p:cNvPr id="644" name="G"/>
          <p:cNvPicPr>
            <a:picLocks noChangeAspect="1"/>
          </p:cNvPicPr>
          <p:nvPr/>
        </p:nvPicPr>
        <p:blipFill>
          <a:blip r:embed="rIdM6"/>
          <a:stretch>
            <a:fillRect/>
          </a:stretch>
        </p:blipFill>
        <p:spPr>
          <a:xfrm>
            <a:off x="7616952" y="3767328"/>
            <a:ext cx="73152" cy="73152"/>
          </a:xfrm>
          <a:prstGeom prst="rect">
            <a:avLst/>
          </a:prstGeom>
        </p:spPr>
      </p:pic>
      <p:sp>
        <p:nvSpPr>
          <p:cNvPr id="645" name="T"/>
          <p:cNvSpPr txBox="1"/>
          <p:nvPr/>
        </p:nvSpPr>
        <p:spPr>
          <a:xfrm>
            <a:off x="7754112" y="3712464"/>
            <a:ext cx="480000" cy="182880"/>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Gempa bumi</a:t>
            </a:r>
            <a:endParaRPr lang="id-ID" sz="700"/>
          </a:p>
        </p:txBody>
      </p:sp>
      <p:sp>
        <p:nvSpPr>
          <p:cNvPr id="646" name="K"/>
          <p:cNvSpPr/>
          <p:nvPr/>
        </p:nvSpPr>
        <p:spPr>
          <a:xfrm>
            <a:off x="8371272" y="3739896"/>
            <a:ext cx="128016" cy="128016"/>
          </a:xfrm>
          <a:prstGeom prst="ellipse">
            <a:avLst/>
          </a:prstGeom>
          <a:solidFill>
            <a:srgbClr val="A23B2A"/>
          </a:solidFill>
          <a:ln>
            <a:noFill/>
          </a:ln>
        </p:spPr>
      </p:sp>
      <p:pic>
        <p:nvPicPr>
          <p:cNvPr id="647" name="G"/>
          <p:cNvPicPr>
            <a:picLocks noChangeAspect="1"/>
          </p:cNvPicPr>
          <p:nvPr/>
        </p:nvPicPr>
        <p:blipFill>
          <a:blip r:embed="rIdM12"/>
          <a:stretch>
            <a:fillRect/>
          </a:stretch>
        </p:blipFill>
        <p:spPr>
          <a:xfrm>
            <a:off x="8398704" y="3767328"/>
            <a:ext cx="73152" cy="73152"/>
          </a:xfrm>
          <a:prstGeom prst="rect">
            <a:avLst/>
          </a:prstGeom>
        </p:spPr>
      </p:pic>
      <p:sp>
        <p:nvSpPr>
          <p:cNvPr id="648" name="T"/>
          <p:cNvSpPr txBox="1"/>
          <p:nvPr/>
        </p:nvSpPr>
        <p:spPr>
          <a:xfrm>
            <a:off x="8535864" y="3712464"/>
            <a:ext cx="624000" cy="182880"/>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Kebakaran TPA</a:t>
            </a:r>
            <a:endParaRPr lang="id-ID" sz="700"/>
          </a:p>
        </p:txBody>
      </p:sp>
      <p:sp>
        <p:nvSpPr>
          <p:cNvPr id="649" name="K"/>
          <p:cNvSpPr/>
          <p:nvPr/>
        </p:nvSpPr>
        <p:spPr>
          <a:xfrm>
            <a:off x="9297024" y="3739896"/>
            <a:ext cx="128016" cy="128016"/>
          </a:xfrm>
          <a:prstGeom prst="ellipse">
            <a:avLst/>
          </a:prstGeom>
          <a:solidFill>
            <a:srgbClr val="2F6FB5"/>
          </a:solidFill>
          <a:ln>
            <a:noFill/>
          </a:ln>
        </p:spPr>
      </p:sp>
      <p:pic>
        <p:nvPicPr>
          <p:cNvPr id="650" name="G"/>
          <p:cNvPicPr>
            <a:picLocks noChangeAspect="1"/>
          </p:cNvPicPr>
          <p:nvPr/>
        </p:nvPicPr>
        <p:blipFill>
          <a:blip r:embed="rIdM15"/>
          <a:stretch>
            <a:fillRect/>
          </a:stretch>
        </p:blipFill>
        <p:spPr>
          <a:xfrm>
            <a:off x="9324456" y="3767328"/>
            <a:ext cx="73152" cy="73152"/>
          </a:xfrm>
          <a:prstGeom prst="rect">
            <a:avLst/>
          </a:prstGeom>
        </p:spPr>
      </p:pic>
      <p:sp>
        <p:nvSpPr>
          <p:cNvPr id="651" name="T"/>
          <p:cNvSpPr txBox="1"/>
          <p:nvPr/>
        </p:nvSpPr>
        <p:spPr>
          <a:xfrm>
            <a:off x="9461616" y="3712464"/>
            <a:ext cx="288000" cy="182880"/>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Banjir</a:t>
            </a:r>
            <a:endParaRPr lang="id-ID" sz="700"/>
          </a:p>
        </p:txBody>
      </p:sp>
      <p:sp>
        <p:nvSpPr>
          <p:cNvPr id="652" name="K"/>
          <p:cNvSpPr/>
          <p:nvPr/>
        </p:nvSpPr>
        <p:spPr>
          <a:xfrm>
            <a:off x="7589520" y="3959352"/>
            <a:ext cx="146304" cy="146304"/>
          </a:xfrm>
          <a:prstGeom prst="ellipse">
            <a:avLst/>
          </a:prstGeom>
          <a:solidFill>
            <a:srgbClr val="D9600B"/>
          </a:solidFill>
          <a:ln>
            <a:noFill/>
          </a:ln>
        </p:spPr>
      </p:sp>
      <p:pic>
        <p:nvPicPr>
          <p:cNvPr id="653" name="G"/>
          <p:cNvPicPr>
            <a:picLocks noChangeAspect="1"/>
          </p:cNvPicPr>
          <p:nvPr/>
        </p:nvPicPr>
        <p:blipFill>
          <a:blip r:embed="rIdM2"/>
          <a:stretch>
            <a:fillRect/>
          </a:stretch>
        </p:blipFill>
        <p:spPr>
          <a:xfrm>
            <a:off x="7615854" y="3985686"/>
            <a:ext cx="93634" cy="93634"/>
          </a:xfrm>
          <a:prstGeom prst="rect">
            <a:avLst/>
          </a:prstGeom>
        </p:spPr>
      </p:pic>
      <p:sp>
        <p:nvSpPr>
          <p:cNvPr id="654" name="K"/>
          <p:cNvSpPr/>
          <p:nvPr/>
        </p:nvSpPr>
        <p:spPr>
          <a:xfrm>
            <a:off x="7772400" y="3959352"/>
            <a:ext cx="146304" cy="146304"/>
          </a:xfrm>
          <a:prstGeom prst="ellipse">
            <a:avLst/>
          </a:prstGeom>
          <a:solidFill>
            <a:srgbClr val="5B7A99"/>
          </a:solidFill>
          <a:ln>
            <a:noFill/>
          </a:ln>
        </p:spPr>
      </p:sp>
      <p:pic>
        <p:nvPicPr>
          <p:cNvPr id="655" name="G"/>
          <p:cNvPicPr>
            <a:picLocks noChangeAspect="1"/>
          </p:cNvPicPr>
          <p:nvPr/>
        </p:nvPicPr>
        <p:blipFill>
          <a:blip r:embed="rIdM6"/>
          <a:stretch>
            <a:fillRect/>
          </a:stretch>
        </p:blipFill>
        <p:spPr>
          <a:xfrm>
            <a:off x="7799832" y="3986784"/>
            <a:ext cx="91440" cy="91440"/>
          </a:xfrm>
          <a:prstGeom prst="rect">
            <a:avLst/>
          </a:prstGeom>
        </p:spPr>
      </p:pic>
      <p:sp>
        <p:nvSpPr>
          <p:cNvPr id="656" name="T"/>
          <p:cNvSpPr txBox="1"/>
          <p:nvPr/>
        </p:nvSpPr>
        <p:spPr>
          <a:xfrm>
            <a:off x="7971232" y="3941064"/>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Nusa Tenggara Timur</a:t>
            </a:r>
            <a:endParaRPr lang="id-ID" sz="760"/>
          </a:p>
        </p:txBody>
      </p:sp>
      <p:sp>
        <p:nvSpPr>
          <p:cNvPr id="669" name="K"/>
          <p:cNvSpPr/>
          <p:nvPr/>
        </p:nvSpPr>
        <p:spPr>
          <a:xfrm>
            <a:off x="10324042" y="3950208"/>
            <a:ext cx="1136132" cy="164592"/>
          </a:xfrm>
          <a:prstGeom prst="roundRect">
            <a:avLst>
              <a:gd name="adj" fmla="val 50000"/>
            </a:avLst>
          </a:prstGeom>
          <a:solidFill>
            <a:srgbClr val="FBE7D6"/>
          </a:solidFill>
          <a:ln>
            <a:noFill/>
          </a:ln>
        </p:spPr>
      </p:sp>
      <p:pic>
        <p:nvPicPr>
          <p:cNvPr id="670" name="G"/>
          <p:cNvPicPr>
            <a:picLocks noChangeAspect="1"/>
          </p:cNvPicPr>
          <p:nvPr/>
        </p:nvPicPr>
        <p:blipFill>
          <a:blip r:embed="rIdM8"/>
          <a:stretch>
            <a:fillRect/>
          </a:stretch>
        </p:blipFill>
        <p:spPr>
          <a:xfrm>
            <a:off x="10381649" y="3983126"/>
            <a:ext cx="98755" cy="98755"/>
          </a:xfrm>
          <a:prstGeom prst="rect">
            <a:avLst/>
          </a:prstGeom>
        </p:spPr>
      </p:pic>
      <p:sp>
        <p:nvSpPr>
          <p:cNvPr id="671" name="T"/>
          <p:cNvSpPr txBox="1"/>
          <p:nvPr/>
        </p:nvSpPr>
        <p:spPr>
          <a:xfrm>
            <a:off x="10480404" y="3950208"/>
            <a:ext cx="9797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Transisi s.d. 27 Des</a:t>
            </a:r>
            <a:endParaRPr lang="id-ID" sz="700"/>
          </a:p>
        </p:txBody>
      </p:sp>
      <p:sp>
        <p:nvSpPr>
          <p:cNvPr id="672" name="K"/>
          <p:cNvSpPr/>
          <p:nvPr/>
        </p:nvSpPr>
        <p:spPr>
          <a:xfrm>
            <a:off x="10758042" y="4142232"/>
            <a:ext cx="702132" cy="164592"/>
          </a:xfrm>
          <a:prstGeom prst="roundRect">
            <a:avLst>
              <a:gd name="adj" fmla="val 50000"/>
            </a:avLst>
          </a:prstGeom>
          <a:solidFill>
            <a:srgbClr val="F7F8FA"/>
          </a:solidFill>
          <a:ln>
            <a:noFill/>
          </a:ln>
        </p:spPr>
      </p:sp>
      <p:pic>
        <p:nvPicPr>
          <p:cNvPr id="673" name="G"/>
          <p:cNvPicPr>
            <a:picLocks noChangeAspect="1"/>
          </p:cNvPicPr>
          <p:nvPr/>
        </p:nvPicPr>
        <p:blipFill>
          <a:blip r:embed="rIdM11"/>
          <a:stretch>
            <a:fillRect/>
          </a:stretch>
        </p:blipFill>
        <p:spPr>
          <a:xfrm>
            <a:off x="10815649" y="4175150"/>
            <a:ext cx="98755" cy="98755"/>
          </a:xfrm>
          <a:prstGeom prst="rect">
            <a:avLst/>
          </a:prstGeom>
        </p:spPr>
      </p:pic>
      <p:sp>
        <p:nvSpPr>
          <p:cNvPr id="674" name="T"/>
          <p:cNvSpPr txBox="1"/>
          <p:nvPr/>
        </p:nvSpPr>
        <p:spPr>
          <a:xfrm>
            <a:off x="10914404" y="4142232"/>
            <a:ext cx="5457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±17.707 KK</a:t>
            </a:r>
            <a:endParaRPr lang="id-ID" sz="700"/>
          </a:p>
        </p:txBody>
      </p:sp>
      <p:sp>
        <p:nvSpPr>
          <p:cNvPr id="675" name="K"/>
          <p:cNvSpPr/>
          <p:nvPr/>
        </p:nvSpPr>
        <p:spPr>
          <a:xfrm>
            <a:off x="9870845" y="4142232"/>
            <a:ext cx="832332" cy="164592"/>
          </a:xfrm>
          <a:prstGeom prst="roundRect">
            <a:avLst>
              <a:gd name="adj" fmla="val 50000"/>
            </a:avLst>
          </a:prstGeom>
          <a:solidFill>
            <a:srgbClr val="F7F8FA"/>
          </a:solidFill>
          <a:ln>
            <a:noFill/>
          </a:ln>
        </p:spPr>
      </p:sp>
      <p:pic>
        <p:nvPicPr>
          <p:cNvPr id="676" name="G"/>
          <p:cNvPicPr>
            <a:picLocks noChangeAspect="1"/>
          </p:cNvPicPr>
          <p:nvPr/>
        </p:nvPicPr>
        <p:blipFill>
          <a:blip r:embed="rIdM10"/>
          <a:stretch>
            <a:fillRect/>
          </a:stretch>
        </p:blipFill>
        <p:spPr>
          <a:xfrm>
            <a:off x="9928452" y="4175150"/>
            <a:ext cx="98755" cy="98755"/>
          </a:xfrm>
          <a:prstGeom prst="rect">
            <a:avLst/>
          </a:prstGeom>
        </p:spPr>
      </p:pic>
      <p:sp>
        <p:nvSpPr>
          <p:cNvPr id="677" name="T"/>
          <p:cNvSpPr txBox="1"/>
          <p:nvPr/>
        </p:nvSpPr>
        <p:spPr>
          <a:xfrm>
            <a:off x="10027207" y="4142232"/>
            <a:ext cx="675970" cy="164592"/>
          </a:xfrm>
          <a:prstGeom prst="rect">
            <a:avLst/>
          </a:prstGeom>
          <a:noFill/>
        </p:spPr>
        <p:txBody>
          <a:bodyPr wrap="none" lIns="0" tIns="0" rIns="0" bIns="0" anchor="ctr"/>
          <a:lstStyle/>
          <a:p>
            <a:pPr algn="ctr">
              <a:buNone/>
            </a:pPr>
            <a:r>
              <a:rPr lang="id-ID" sz="700" b="1" dirty="0">
                <a:solidFill>
                  <a:srgbClr val="C8102E"/>
                </a:solidFill>
                <a:latin typeface="Roboto"/>
                <a:ea typeface="Roboto"/>
                <a:cs typeface="Roboto"/>
              </a:rPr>
              <a:t>156 meninggal</a:t>
            </a:r>
            <a:endParaRPr lang="id-ID" sz="700"/>
          </a:p>
        </p:txBody>
      </p:sp>
      <p:sp>
        <p:nvSpPr>
          <p:cNvPr id="678" name="K"/>
          <p:cNvSpPr/>
          <p:nvPr/>
        </p:nvSpPr>
        <p:spPr>
          <a:xfrm>
            <a:off x="8810048" y="4142232"/>
            <a:ext cx="1005932" cy="164592"/>
          </a:xfrm>
          <a:prstGeom prst="roundRect">
            <a:avLst>
              <a:gd name="adj" fmla="val 50000"/>
            </a:avLst>
          </a:prstGeom>
          <a:solidFill>
            <a:srgbClr val="F7F8FA"/>
          </a:solidFill>
          <a:ln>
            <a:noFill/>
          </a:ln>
        </p:spPr>
      </p:sp>
      <p:pic>
        <p:nvPicPr>
          <p:cNvPr id="679" name="G"/>
          <p:cNvPicPr>
            <a:picLocks noChangeAspect="1"/>
          </p:cNvPicPr>
          <p:nvPr/>
        </p:nvPicPr>
        <p:blipFill>
          <a:blip r:embed="rIdM9"/>
          <a:stretch>
            <a:fillRect/>
          </a:stretch>
        </p:blipFill>
        <p:spPr>
          <a:xfrm>
            <a:off x="8867655" y="4175150"/>
            <a:ext cx="98755" cy="98755"/>
          </a:xfrm>
          <a:prstGeom prst="rect">
            <a:avLst/>
          </a:prstGeom>
        </p:spPr>
      </p:pic>
      <p:sp>
        <p:nvSpPr>
          <p:cNvPr id="680" name="T"/>
          <p:cNvSpPr txBox="1"/>
          <p:nvPr/>
        </p:nvSpPr>
        <p:spPr>
          <a:xfrm>
            <a:off x="8966410" y="4142232"/>
            <a:ext cx="8495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±27.307 mengungsi</a:t>
            </a:r>
            <a:endParaRPr lang="id-ID" sz="700"/>
          </a:p>
        </p:txBody>
      </p:sp>
      <p:sp>
        <p:nvSpPr>
          <p:cNvPr id="681" name="K"/>
          <p:cNvSpPr/>
          <p:nvPr/>
        </p:nvSpPr>
        <p:spPr>
          <a:xfrm>
            <a:off x="7589520" y="4343400"/>
            <a:ext cx="146304" cy="146304"/>
          </a:xfrm>
          <a:prstGeom prst="ellipse">
            <a:avLst/>
          </a:prstGeom>
          <a:solidFill>
            <a:srgbClr val="D9600B"/>
          </a:solidFill>
          <a:ln>
            <a:noFill/>
          </a:ln>
        </p:spPr>
      </p:sp>
      <p:pic>
        <p:nvPicPr>
          <p:cNvPr id="682" name="G"/>
          <p:cNvPicPr>
            <a:picLocks noChangeAspect="1"/>
          </p:cNvPicPr>
          <p:nvPr/>
        </p:nvPicPr>
        <p:blipFill>
          <a:blip r:embed="rIdM2"/>
          <a:stretch>
            <a:fillRect/>
          </a:stretch>
        </p:blipFill>
        <p:spPr>
          <a:xfrm>
            <a:off x="7615854" y="4369734"/>
            <a:ext cx="93634" cy="93634"/>
          </a:xfrm>
          <a:prstGeom prst="rect">
            <a:avLst/>
          </a:prstGeom>
        </p:spPr>
      </p:pic>
      <p:sp>
        <p:nvSpPr>
          <p:cNvPr id="683" name="K"/>
          <p:cNvSpPr/>
          <p:nvPr/>
        </p:nvSpPr>
        <p:spPr>
          <a:xfrm>
            <a:off x="7772400" y="4343400"/>
            <a:ext cx="146304" cy="146304"/>
          </a:xfrm>
          <a:prstGeom prst="ellipse">
            <a:avLst/>
          </a:prstGeom>
          <a:solidFill>
            <a:srgbClr val="A23B2A"/>
          </a:solidFill>
          <a:ln>
            <a:noFill/>
          </a:ln>
        </p:spPr>
      </p:sp>
      <p:pic>
        <p:nvPicPr>
          <p:cNvPr id="684" name="G"/>
          <p:cNvPicPr>
            <a:picLocks noChangeAspect="1"/>
          </p:cNvPicPr>
          <p:nvPr/>
        </p:nvPicPr>
        <p:blipFill>
          <a:blip r:embed="rIdM12"/>
          <a:stretch>
            <a:fillRect/>
          </a:stretch>
        </p:blipFill>
        <p:spPr>
          <a:xfrm>
            <a:off x="7799832" y="4370832"/>
            <a:ext cx="91440" cy="91440"/>
          </a:xfrm>
          <a:prstGeom prst="rect">
            <a:avLst/>
          </a:prstGeom>
        </p:spPr>
      </p:pic>
      <p:sp>
        <p:nvSpPr>
          <p:cNvPr id="685" name="T"/>
          <p:cNvSpPr txBox="1"/>
          <p:nvPr/>
        </p:nvSpPr>
        <p:spPr>
          <a:xfrm>
            <a:off x="7971232" y="4325112"/>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Jawa Timur</a:t>
            </a:r>
            <a:r>
              <a:rPr lang="id-ID" sz="760" dirty="0">
                <a:solidFill>
                  <a:srgbClr val="1A1A1A"/>
                </a:solidFill>
                <a:latin typeface="Roboto"/>
                <a:ea typeface="Roboto"/>
                <a:cs typeface="Roboto"/>
              </a:rPr>
              <a:t>, TPA Supit Urang</a:t>
            </a:r>
            <a:endParaRPr lang="id-ID" sz="760"/>
          </a:p>
        </p:txBody>
      </p:sp>
      <p:sp>
        <p:nvSpPr>
          <p:cNvPr id="686" name="K"/>
          <p:cNvSpPr/>
          <p:nvPr/>
        </p:nvSpPr>
        <p:spPr>
          <a:xfrm>
            <a:off x="10410842" y="4334256"/>
            <a:ext cx="1049332" cy="164592"/>
          </a:xfrm>
          <a:prstGeom prst="roundRect">
            <a:avLst>
              <a:gd name="adj" fmla="val 50000"/>
            </a:avLst>
          </a:prstGeom>
          <a:solidFill>
            <a:srgbClr val="F7F8FA"/>
          </a:solidFill>
          <a:ln>
            <a:noFill/>
          </a:ln>
        </p:spPr>
      </p:sp>
      <p:pic>
        <p:nvPicPr>
          <p:cNvPr id="687" name="G"/>
          <p:cNvPicPr>
            <a:picLocks noChangeAspect="1"/>
          </p:cNvPicPr>
          <p:nvPr/>
        </p:nvPicPr>
        <p:blipFill>
          <a:blip r:embed="rIdM14"/>
          <a:stretch>
            <a:fillRect/>
          </a:stretch>
        </p:blipFill>
        <p:spPr>
          <a:xfrm>
            <a:off x="10468449" y="4367174"/>
            <a:ext cx="98755" cy="98755"/>
          </a:xfrm>
          <a:prstGeom prst="rect">
            <a:avLst/>
          </a:prstGeom>
        </p:spPr>
      </p:pic>
      <p:sp>
        <p:nvSpPr>
          <p:cNvPr id="688" name="T"/>
          <p:cNvSpPr txBox="1"/>
          <p:nvPr/>
        </p:nvSpPr>
        <p:spPr>
          <a:xfrm>
            <a:off x="10567204" y="4334256"/>
            <a:ext cx="892970" cy="164592"/>
          </a:xfrm>
          <a:prstGeom prst="rect">
            <a:avLst/>
          </a:prstGeom>
          <a:noFill/>
        </p:spPr>
        <p:txBody>
          <a:bodyPr wrap="none" lIns="0" tIns="0" rIns="0" bIns="0" anchor="ctr"/>
          <a:lstStyle/>
          <a:p>
            <a:pPr algn="ctr">
              <a:buNone/>
            </a:pPr>
            <a:r>
              <a:rPr lang="id-ID" sz="700" b="1" dirty="0">
                <a:solidFill>
                  <a:srgbClr val="1A1A1A"/>
                </a:solidFill>
                <a:latin typeface="Roboto"/>
                <a:ea typeface="Roboto"/>
                <a:cs typeface="Roboto"/>
              </a:rPr>
              <a:t>± 15,5 ha terbakar</a:t>
            </a:r>
            <a:endParaRPr lang="id-ID" sz="700"/>
          </a:p>
        </p:txBody>
      </p:sp>
      <p:sp>
        <p:nvSpPr>
          <p:cNvPr id="689" name="K"/>
          <p:cNvSpPr/>
          <p:nvPr/>
        </p:nvSpPr>
        <p:spPr>
          <a:xfrm>
            <a:off x="7589520" y="4535424"/>
            <a:ext cx="146304" cy="146304"/>
          </a:xfrm>
          <a:prstGeom prst="ellipse">
            <a:avLst/>
          </a:prstGeom>
          <a:solidFill>
            <a:srgbClr val="D9600B"/>
          </a:solidFill>
          <a:ln>
            <a:noFill/>
          </a:ln>
        </p:spPr>
      </p:sp>
      <p:pic>
        <p:nvPicPr>
          <p:cNvPr id="690" name="G"/>
          <p:cNvPicPr>
            <a:picLocks noChangeAspect="1"/>
          </p:cNvPicPr>
          <p:nvPr/>
        </p:nvPicPr>
        <p:blipFill>
          <a:blip r:embed="rIdM2"/>
          <a:stretch>
            <a:fillRect/>
          </a:stretch>
        </p:blipFill>
        <p:spPr>
          <a:xfrm>
            <a:off x="7615854" y="4561758"/>
            <a:ext cx="93634" cy="93634"/>
          </a:xfrm>
          <a:prstGeom prst="rect">
            <a:avLst/>
          </a:prstGeom>
        </p:spPr>
      </p:pic>
      <p:sp>
        <p:nvSpPr>
          <p:cNvPr id="691" name="K"/>
          <p:cNvSpPr/>
          <p:nvPr/>
        </p:nvSpPr>
        <p:spPr>
          <a:xfrm>
            <a:off x="7772400" y="4535424"/>
            <a:ext cx="146304" cy="146304"/>
          </a:xfrm>
          <a:prstGeom prst="ellipse">
            <a:avLst/>
          </a:prstGeom>
          <a:solidFill>
            <a:srgbClr val="A23B2A"/>
          </a:solidFill>
          <a:ln>
            <a:noFill/>
          </a:ln>
        </p:spPr>
      </p:sp>
      <p:pic>
        <p:nvPicPr>
          <p:cNvPr id="692" name="G"/>
          <p:cNvPicPr>
            <a:picLocks noChangeAspect="1"/>
          </p:cNvPicPr>
          <p:nvPr/>
        </p:nvPicPr>
        <p:blipFill>
          <a:blip r:embed="rIdM12"/>
          <a:stretch>
            <a:fillRect/>
          </a:stretch>
        </p:blipFill>
        <p:spPr>
          <a:xfrm>
            <a:off x="7799832" y="4562856"/>
            <a:ext cx="91440" cy="91440"/>
          </a:xfrm>
          <a:prstGeom prst="rect">
            <a:avLst/>
          </a:prstGeom>
        </p:spPr>
      </p:pic>
      <p:sp>
        <p:nvSpPr>
          <p:cNvPr id="693" name="T"/>
          <p:cNvSpPr txBox="1"/>
          <p:nvPr/>
        </p:nvSpPr>
        <p:spPr>
          <a:xfrm>
            <a:off x="7971232" y="4517136"/>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Papua Barat Daya</a:t>
            </a:r>
            <a:r>
              <a:rPr lang="id-ID" sz="760" dirty="0">
                <a:solidFill>
                  <a:srgbClr val="1A1A1A"/>
                </a:solidFill>
                <a:latin typeface="Roboto"/>
                <a:ea typeface="Roboto"/>
                <a:cs typeface="Roboto"/>
              </a:rPr>
              <a:t>, TPA Makbon</a:t>
            </a:r>
            <a:endParaRPr lang="id-ID" sz="760"/>
          </a:p>
        </p:txBody>
      </p:sp>
      <p:sp>
        <p:nvSpPr>
          <p:cNvPr id="694" name="K"/>
          <p:cNvSpPr/>
          <p:nvPr/>
        </p:nvSpPr>
        <p:spPr>
          <a:xfrm>
            <a:off x="10541042" y="4526280"/>
            <a:ext cx="919132" cy="164592"/>
          </a:xfrm>
          <a:prstGeom prst="roundRect">
            <a:avLst>
              <a:gd name="adj" fmla="val 50000"/>
            </a:avLst>
          </a:prstGeom>
          <a:solidFill>
            <a:srgbClr val="F7F8FA"/>
          </a:solidFill>
          <a:ln>
            <a:noFill/>
          </a:ln>
        </p:spPr>
      </p:sp>
      <p:pic>
        <p:nvPicPr>
          <p:cNvPr id="695" name="G"/>
          <p:cNvPicPr>
            <a:picLocks noChangeAspect="1"/>
          </p:cNvPicPr>
          <p:nvPr/>
        </p:nvPicPr>
        <p:blipFill>
          <a:blip r:embed="rIdM14"/>
          <a:stretch>
            <a:fillRect/>
          </a:stretch>
        </p:blipFill>
        <p:spPr>
          <a:xfrm>
            <a:off x="10598649" y="4559198"/>
            <a:ext cx="98755" cy="98755"/>
          </a:xfrm>
          <a:prstGeom prst="rect">
            <a:avLst/>
          </a:prstGeom>
        </p:spPr>
      </p:pic>
      <p:sp>
        <p:nvSpPr>
          <p:cNvPr id="696" name="T"/>
          <p:cNvSpPr txBox="1"/>
          <p:nvPr/>
        </p:nvSpPr>
        <p:spPr>
          <a:xfrm>
            <a:off x="10697404" y="4526280"/>
            <a:ext cx="762770" cy="164592"/>
          </a:xfrm>
          <a:prstGeom prst="rect">
            <a:avLst/>
          </a:prstGeom>
          <a:noFill/>
        </p:spPr>
        <p:txBody>
          <a:bodyPr wrap="none" lIns="0" tIns="0" rIns="0" bIns="0" anchor="ctr"/>
          <a:lstStyle/>
          <a:p>
            <a:pPr algn="ctr">
              <a:buNone/>
            </a:pPr>
            <a:r>
              <a:rPr lang="id-ID" sz="700" b="1" dirty="0">
                <a:solidFill>
                  <a:srgbClr val="1A1A1A"/>
                </a:solidFill>
                <a:latin typeface="Roboto"/>
                <a:ea typeface="Roboto"/>
                <a:cs typeface="Roboto"/>
              </a:rPr>
              <a:t>± 5 ha terbakar</a:t>
            </a:r>
            <a:endParaRPr lang="id-ID" sz="700"/>
          </a:p>
        </p:txBody>
      </p:sp>
      <p:sp>
        <p:nvSpPr>
          <p:cNvPr id="697" name="K"/>
          <p:cNvSpPr/>
          <p:nvPr/>
        </p:nvSpPr>
        <p:spPr>
          <a:xfrm>
            <a:off x="7589520" y="4727448"/>
            <a:ext cx="146304" cy="146304"/>
          </a:xfrm>
          <a:prstGeom prst="ellipse">
            <a:avLst/>
          </a:prstGeom>
          <a:solidFill>
            <a:srgbClr val="D9600B"/>
          </a:solidFill>
          <a:ln>
            <a:noFill/>
          </a:ln>
        </p:spPr>
      </p:sp>
      <p:pic>
        <p:nvPicPr>
          <p:cNvPr id="698" name="G"/>
          <p:cNvPicPr>
            <a:picLocks noChangeAspect="1"/>
          </p:cNvPicPr>
          <p:nvPr/>
        </p:nvPicPr>
        <p:blipFill>
          <a:blip r:embed="rIdM2"/>
          <a:stretch>
            <a:fillRect/>
          </a:stretch>
        </p:blipFill>
        <p:spPr>
          <a:xfrm>
            <a:off x="7615854" y="4753782"/>
            <a:ext cx="93634" cy="93634"/>
          </a:xfrm>
          <a:prstGeom prst="rect">
            <a:avLst/>
          </a:prstGeom>
        </p:spPr>
      </p:pic>
      <p:sp>
        <p:nvSpPr>
          <p:cNvPr id="699" name="K"/>
          <p:cNvSpPr/>
          <p:nvPr/>
        </p:nvSpPr>
        <p:spPr>
          <a:xfrm>
            <a:off x="7772400" y="4727448"/>
            <a:ext cx="146304" cy="146304"/>
          </a:xfrm>
          <a:prstGeom prst="ellipse">
            <a:avLst/>
          </a:prstGeom>
          <a:solidFill>
            <a:srgbClr val="2F6FB5"/>
          </a:solidFill>
          <a:ln>
            <a:noFill/>
          </a:ln>
        </p:spPr>
      </p:sp>
      <p:pic>
        <p:nvPicPr>
          <p:cNvPr id="700" name="G"/>
          <p:cNvPicPr>
            <a:picLocks noChangeAspect="1"/>
          </p:cNvPicPr>
          <p:nvPr/>
        </p:nvPicPr>
        <p:blipFill>
          <a:blip r:embed="rIdM15"/>
          <a:stretch>
            <a:fillRect/>
          </a:stretch>
        </p:blipFill>
        <p:spPr>
          <a:xfrm>
            <a:off x="7799832" y="4754880"/>
            <a:ext cx="91440" cy="91440"/>
          </a:xfrm>
          <a:prstGeom prst="rect">
            <a:avLst/>
          </a:prstGeom>
        </p:spPr>
      </p:pic>
      <p:sp>
        <p:nvSpPr>
          <p:cNvPr id="701" name="T"/>
          <p:cNvSpPr txBox="1"/>
          <p:nvPr/>
        </p:nvSpPr>
        <p:spPr>
          <a:xfrm>
            <a:off x="7971232" y="4709160"/>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Aceh</a:t>
            </a:r>
            <a:r>
              <a:rPr lang="id-ID" sz="760" dirty="0">
                <a:solidFill>
                  <a:srgbClr val="1A1A1A"/>
                </a:solidFill>
                <a:latin typeface="Roboto"/>
                <a:ea typeface="Roboto"/>
                <a:cs typeface="Roboto"/>
              </a:rPr>
              <a:t>, Gayo Lues</a:t>
            </a:r>
            <a:endParaRPr lang="id-ID" sz="760"/>
          </a:p>
        </p:txBody>
      </p:sp>
      <p:sp>
        <p:nvSpPr>
          <p:cNvPr id="702" name="K"/>
          <p:cNvSpPr/>
          <p:nvPr/>
        </p:nvSpPr>
        <p:spPr>
          <a:xfrm>
            <a:off x="10888242" y="4718304"/>
            <a:ext cx="571932" cy="164592"/>
          </a:xfrm>
          <a:prstGeom prst="roundRect">
            <a:avLst>
              <a:gd name="adj" fmla="val 50000"/>
            </a:avLst>
          </a:prstGeom>
          <a:solidFill>
            <a:srgbClr val="F7F8FA"/>
          </a:solidFill>
          <a:ln>
            <a:noFill/>
          </a:ln>
        </p:spPr>
      </p:sp>
      <p:pic>
        <p:nvPicPr>
          <p:cNvPr id="703" name="G"/>
          <p:cNvPicPr>
            <a:picLocks noChangeAspect="1"/>
          </p:cNvPicPr>
          <p:nvPr/>
        </p:nvPicPr>
        <p:blipFill>
          <a:blip r:embed="rIdM11"/>
          <a:stretch>
            <a:fillRect/>
          </a:stretch>
        </p:blipFill>
        <p:spPr>
          <a:xfrm>
            <a:off x="10945849" y="4751222"/>
            <a:ext cx="98755" cy="98755"/>
          </a:xfrm>
          <a:prstGeom prst="rect">
            <a:avLst/>
          </a:prstGeom>
        </p:spPr>
      </p:pic>
      <p:sp>
        <p:nvSpPr>
          <p:cNvPr id="704" name="T"/>
          <p:cNvSpPr txBox="1"/>
          <p:nvPr/>
        </p:nvSpPr>
        <p:spPr>
          <a:xfrm>
            <a:off x="11044604" y="4718304"/>
            <a:ext cx="4155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±400 KK</a:t>
            </a:r>
            <a:endParaRPr lang="id-ID" sz="700"/>
          </a:p>
        </p:txBody>
      </p:sp>
      <p:sp>
        <p:nvSpPr>
          <p:cNvPr id="705" name="K"/>
          <p:cNvSpPr/>
          <p:nvPr/>
        </p:nvSpPr>
        <p:spPr>
          <a:xfrm>
            <a:off x="9610445" y="4718304"/>
            <a:ext cx="1222932" cy="164592"/>
          </a:xfrm>
          <a:prstGeom prst="roundRect">
            <a:avLst>
              <a:gd name="adj" fmla="val 50000"/>
            </a:avLst>
          </a:prstGeom>
          <a:solidFill>
            <a:srgbClr val="FBE7D6"/>
          </a:solidFill>
          <a:ln>
            <a:noFill/>
          </a:ln>
        </p:spPr>
      </p:sp>
      <p:pic>
        <p:nvPicPr>
          <p:cNvPr id="706" name="G"/>
          <p:cNvPicPr>
            <a:picLocks noChangeAspect="1"/>
          </p:cNvPicPr>
          <p:nvPr/>
        </p:nvPicPr>
        <p:blipFill>
          <a:blip r:embed="rIdM17"/>
          <a:stretch>
            <a:fillRect/>
          </a:stretch>
        </p:blipFill>
        <p:spPr>
          <a:xfrm>
            <a:off x="9668052" y="4751222"/>
            <a:ext cx="98755" cy="98755"/>
          </a:xfrm>
          <a:prstGeom prst="rect">
            <a:avLst/>
          </a:prstGeom>
        </p:spPr>
      </p:pic>
      <p:sp>
        <p:nvSpPr>
          <p:cNvPr id="707" name="T"/>
          <p:cNvSpPr txBox="1"/>
          <p:nvPr/>
        </p:nvSpPr>
        <p:spPr>
          <a:xfrm>
            <a:off x="9766807" y="4718304"/>
            <a:ext cx="10665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Banjir berangsur surut</a:t>
            </a:r>
            <a:endParaRPr lang="id-ID" sz="700"/>
          </a:p>
        </p:txBody>
      </p:sp>
      <p:sp>
        <p:nvSpPr>
          <p:cNvPr id="708" name="K"/>
          <p:cNvSpPr/>
          <p:nvPr/>
        </p:nvSpPr>
        <p:spPr>
          <a:xfrm>
            <a:off x="7589520" y="4919472"/>
            <a:ext cx="146304" cy="146304"/>
          </a:xfrm>
          <a:prstGeom prst="ellipse">
            <a:avLst/>
          </a:prstGeom>
          <a:solidFill>
            <a:srgbClr val="D9600B"/>
          </a:solidFill>
          <a:ln>
            <a:noFill/>
          </a:ln>
        </p:spPr>
      </p:sp>
      <p:pic>
        <p:nvPicPr>
          <p:cNvPr id="709" name="G"/>
          <p:cNvPicPr>
            <a:picLocks noChangeAspect="1"/>
          </p:cNvPicPr>
          <p:nvPr/>
        </p:nvPicPr>
        <p:blipFill>
          <a:blip r:embed="rIdM2"/>
          <a:stretch>
            <a:fillRect/>
          </a:stretch>
        </p:blipFill>
        <p:spPr>
          <a:xfrm>
            <a:off x="7615854" y="4945806"/>
            <a:ext cx="93634" cy="93634"/>
          </a:xfrm>
          <a:prstGeom prst="rect">
            <a:avLst/>
          </a:prstGeom>
        </p:spPr>
      </p:pic>
      <p:sp>
        <p:nvSpPr>
          <p:cNvPr id="710" name="K"/>
          <p:cNvSpPr/>
          <p:nvPr/>
        </p:nvSpPr>
        <p:spPr>
          <a:xfrm>
            <a:off x="7772400" y="4919472"/>
            <a:ext cx="146304" cy="146304"/>
          </a:xfrm>
          <a:prstGeom prst="ellipse">
            <a:avLst/>
          </a:prstGeom>
          <a:solidFill>
            <a:srgbClr val="2F6FB5"/>
          </a:solidFill>
          <a:ln>
            <a:noFill/>
          </a:ln>
        </p:spPr>
      </p:sp>
      <p:pic>
        <p:nvPicPr>
          <p:cNvPr id="711" name="G"/>
          <p:cNvPicPr>
            <a:picLocks noChangeAspect="1"/>
          </p:cNvPicPr>
          <p:nvPr/>
        </p:nvPicPr>
        <p:blipFill>
          <a:blip r:embed="rIdM15"/>
          <a:stretch>
            <a:fillRect/>
          </a:stretch>
        </p:blipFill>
        <p:spPr>
          <a:xfrm>
            <a:off x="7799832" y="4946904"/>
            <a:ext cx="91440" cy="91440"/>
          </a:xfrm>
          <a:prstGeom prst="rect">
            <a:avLst/>
          </a:prstGeom>
        </p:spPr>
      </p:pic>
      <p:sp>
        <p:nvSpPr>
          <p:cNvPr id="712" name="T"/>
          <p:cNvSpPr txBox="1"/>
          <p:nvPr/>
        </p:nvSpPr>
        <p:spPr>
          <a:xfrm>
            <a:off x="7971232" y="4901184"/>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Aceh</a:t>
            </a:r>
            <a:r>
              <a:rPr lang="id-ID" sz="760" dirty="0">
                <a:solidFill>
                  <a:srgbClr val="1A1A1A"/>
                </a:solidFill>
                <a:latin typeface="Roboto"/>
                <a:ea typeface="Roboto"/>
                <a:cs typeface="Roboto"/>
              </a:rPr>
              <a:t>, Aceh Selatan</a:t>
            </a:r>
            <a:endParaRPr lang="id-ID" sz="760"/>
          </a:p>
        </p:txBody>
      </p:sp>
      <p:sp>
        <p:nvSpPr>
          <p:cNvPr id="713" name="K"/>
          <p:cNvSpPr/>
          <p:nvPr/>
        </p:nvSpPr>
        <p:spPr>
          <a:xfrm>
            <a:off x="10931642" y="4910328"/>
            <a:ext cx="528532" cy="164592"/>
          </a:xfrm>
          <a:prstGeom prst="roundRect">
            <a:avLst>
              <a:gd name="adj" fmla="val 50000"/>
            </a:avLst>
          </a:prstGeom>
          <a:solidFill>
            <a:srgbClr val="F7F8FA"/>
          </a:solidFill>
          <a:ln>
            <a:noFill/>
          </a:ln>
        </p:spPr>
      </p:sp>
      <p:pic>
        <p:nvPicPr>
          <p:cNvPr id="714" name="G"/>
          <p:cNvPicPr>
            <a:picLocks noChangeAspect="1"/>
          </p:cNvPicPr>
          <p:nvPr/>
        </p:nvPicPr>
        <p:blipFill>
          <a:blip r:embed="rIdM11"/>
          <a:stretch>
            <a:fillRect/>
          </a:stretch>
        </p:blipFill>
        <p:spPr>
          <a:xfrm>
            <a:off x="10989249" y="4943246"/>
            <a:ext cx="98755" cy="98755"/>
          </a:xfrm>
          <a:prstGeom prst="rect">
            <a:avLst/>
          </a:prstGeom>
        </p:spPr>
      </p:pic>
      <p:sp>
        <p:nvSpPr>
          <p:cNvPr id="715" name="T"/>
          <p:cNvSpPr txBox="1"/>
          <p:nvPr/>
        </p:nvSpPr>
        <p:spPr>
          <a:xfrm>
            <a:off x="11088004" y="4910328"/>
            <a:ext cx="3721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±60 KK</a:t>
            </a:r>
            <a:endParaRPr lang="id-ID" sz="700"/>
          </a:p>
        </p:txBody>
      </p:sp>
      <p:sp>
        <p:nvSpPr>
          <p:cNvPr id="716" name="K"/>
          <p:cNvSpPr/>
          <p:nvPr/>
        </p:nvSpPr>
        <p:spPr>
          <a:xfrm>
            <a:off x="10001045" y="4910328"/>
            <a:ext cx="875732" cy="164592"/>
          </a:xfrm>
          <a:prstGeom prst="roundRect">
            <a:avLst>
              <a:gd name="adj" fmla="val 50000"/>
            </a:avLst>
          </a:prstGeom>
          <a:solidFill>
            <a:srgbClr val="F7F8FA"/>
          </a:solidFill>
          <a:ln>
            <a:noFill/>
          </a:ln>
        </p:spPr>
      </p:sp>
      <p:pic>
        <p:nvPicPr>
          <p:cNvPr id="717" name="G"/>
          <p:cNvPicPr>
            <a:picLocks noChangeAspect="1"/>
          </p:cNvPicPr>
          <p:nvPr/>
        </p:nvPicPr>
        <p:blipFill>
          <a:blip r:embed="rIdM9"/>
          <a:stretch>
            <a:fillRect/>
          </a:stretch>
        </p:blipFill>
        <p:spPr>
          <a:xfrm>
            <a:off x="10058652" y="4943246"/>
            <a:ext cx="98755" cy="98755"/>
          </a:xfrm>
          <a:prstGeom prst="rect">
            <a:avLst/>
          </a:prstGeom>
        </p:spPr>
      </p:pic>
      <p:sp>
        <p:nvSpPr>
          <p:cNvPr id="718" name="T"/>
          <p:cNvSpPr txBox="1"/>
          <p:nvPr/>
        </p:nvSpPr>
        <p:spPr>
          <a:xfrm>
            <a:off x="10157407" y="4910328"/>
            <a:ext cx="7193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±132 mengungsi</a:t>
            </a:r>
            <a:endParaRPr lang="id-ID" sz="700"/>
          </a:p>
        </p:txBody>
      </p:sp>
      <p:sp>
        <p:nvSpPr>
          <p:cNvPr id="719" name="K"/>
          <p:cNvSpPr/>
          <p:nvPr/>
        </p:nvSpPr>
        <p:spPr>
          <a:xfrm>
            <a:off x="7589520" y="5111496"/>
            <a:ext cx="146304" cy="146304"/>
          </a:xfrm>
          <a:prstGeom prst="ellipse">
            <a:avLst/>
          </a:prstGeom>
          <a:solidFill>
            <a:srgbClr val="D9600B"/>
          </a:solidFill>
          <a:ln>
            <a:noFill/>
          </a:ln>
        </p:spPr>
      </p:sp>
      <p:pic>
        <p:nvPicPr>
          <p:cNvPr id="720" name="G"/>
          <p:cNvPicPr>
            <a:picLocks noChangeAspect="1"/>
          </p:cNvPicPr>
          <p:nvPr/>
        </p:nvPicPr>
        <p:blipFill>
          <a:blip r:embed="rIdM2"/>
          <a:stretch>
            <a:fillRect/>
          </a:stretch>
        </p:blipFill>
        <p:spPr>
          <a:xfrm>
            <a:off x="7615854" y="5137830"/>
            <a:ext cx="93634" cy="93634"/>
          </a:xfrm>
          <a:prstGeom prst="rect">
            <a:avLst/>
          </a:prstGeom>
        </p:spPr>
      </p:pic>
      <p:sp>
        <p:nvSpPr>
          <p:cNvPr id="721" name="K"/>
          <p:cNvSpPr/>
          <p:nvPr/>
        </p:nvSpPr>
        <p:spPr>
          <a:xfrm>
            <a:off x="7772400" y="5111496"/>
            <a:ext cx="146304" cy="146304"/>
          </a:xfrm>
          <a:prstGeom prst="ellipse">
            <a:avLst/>
          </a:prstGeom>
          <a:solidFill>
            <a:srgbClr val="2F6FB5"/>
          </a:solidFill>
          <a:ln>
            <a:noFill/>
          </a:ln>
        </p:spPr>
      </p:sp>
      <p:pic>
        <p:nvPicPr>
          <p:cNvPr id="722" name="G"/>
          <p:cNvPicPr>
            <a:picLocks noChangeAspect="1"/>
          </p:cNvPicPr>
          <p:nvPr/>
        </p:nvPicPr>
        <p:blipFill>
          <a:blip r:embed="rIdM15"/>
          <a:stretch>
            <a:fillRect/>
          </a:stretch>
        </p:blipFill>
        <p:spPr>
          <a:xfrm>
            <a:off x="7799832" y="5138928"/>
            <a:ext cx="91440" cy="91440"/>
          </a:xfrm>
          <a:prstGeom prst="rect">
            <a:avLst/>
          </a:prstGeom>
        </p:spPr>
      </p:pic>
      <p:sp>
        <p:nvSpPr>
          <p:cNvPr id="723" name="T"/>
          <p:cNvSpPr txBox="1"/>
          <p:nvPr/>
        </p:nvSpPr>
        <p:spPr>
          <a:xfrm>
            <a:off x="7971232" y="5093208"/>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Aceh</a:t>
            </a:r>
            <a:r>
              <a:rPr lang="id-ID" sz="760" dirty="0">
                <a:solidFill>
                  <a:srgbClr val="1A1A1A"/>
                </a:solidFill>
                <a:latin typeface="Roboto"/>
                <a:ea typeface="Roboto"/>
                <a:cs typeface="Roboto"/>
              </a:rPr>
              <a:t>, Aceh Tenggara</a:t>
            </a:r>
            <a:endParaRPr lang="id-ID" sz="760"/>
          </a:p>
        </p:txBody>
      </p:sp>
      <p:sp>
        <p:nvSpPr>
          <p:cNvPr id="724" name="K"/>
          <p:cNvSpPr/>
          <p:nvPr/>
        </p:nvSpPr>
        <p:spPr>
          <a:xfrm>
            <a:off x="10888242" y="5102352"/>
            <a:ext cx="571932" cy="164592"/>
          </a:xfrm>
          <a:prstGeom prst="roundRect">
            <a:avLst>
              <a:gd name="adj" fmla="val 50000"/>
            </a:avLst>
          </a:prstGeom>
          <a:solidFill>
            <a:srgbClr val="F7F8FA"/>
          </a:solidFill>
          <a:ln>
            <a:noFill/>
          </a:ln>
        </p:spPr>
      </p:sp>
      <p:pic>
        <p:nvPicPr>
          <p:cNvPr id="725" name="G"/>
          <p:cNvPicPr>
            <a:picLocks noChangeAspect="1"/>
          </p:cNvPicPr>
          <p:nvPr/>
        </p:nvPicPr>
        <p:blipFill>
          <a:blip r:embed="rIdM11"/>
          <a:stretch>
            <a:fillRect/>
          </a:stretch>
        </p:blipFill>
        <p:spPr>
          <a:xfrm>
            <a:off x="10945849" y="5135270"/>
            <a:ext cx="98755" cy="98755"/>
          </a:xfrm>
          <a:prstGeom prst="rect">
            <a:avLst/>
          </a:prstGeom>
        </p:spPr>
      </p:pic>
      <p:sp>
        <p:nvSpPr>
          <p:cNvPr id="726" name="T"/>
          <p:cNvSpPr txBox="1"/>
          <p:nvPr/>
        </p:nvSpPr>
        <p:spPr>
          <a:xfrm>
            <a:off x="11044604" y="5102352"/>
            <a:ext cx="4155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±532 KK</a:t>
            </a:r>
            <a:endParaRPr lang="id-ID" sz="700"/>
          </a:p>
        </p:txBody>
      </p:sp>
      <p:sp>
        <p:nvSpPr>
          <p:cNvPr id="727" name="K"/>
          <p:cNvSpPr/>
          <p:nvPr/>
        </p:nvSpPr>
        <p:spPr>
          <a:xfrm>
            <a:off x="9219845" y="5102352"/>
            <a:ext cx="1613532" cy="164592"/>
          </a:xfrm>
          <a:prstGeom prst="roundRect">
            <a:avLst>
              <a:gd name="adj" fmla="val 50000"/>
            </a:avLst>
          </a:prstGeom>
          <a:solidFill>
            <a:srgbClr val="FBE7D6"/>
          </a:solidFill>
          <a:ln>
            <a:noFill/>
          </a:ln>
        </p:spPr>
      </p:sp>
      <p:pic>
        <p:nvPicPr>
          <p:cNvPr id="728" name="G"/>
          <p:cNvPicPr>
            <a:picLocks noChangeAspect="1"/>
          </p:cNvPicPr>
          <p:nvPr/>
        </p:nvPicPr>
        <p:blipFill>
          <a:blip r:embed="rIdM17"/>
          <a:stretch>
            <a:fillRect/>
          </a:stretch>
        </p:blipFill>
        <p:spPr>
          <a:xfrm>
            <a:off x="9277452" y="5135270"/>
            <a:ext cx="98755" cy="98755"/>
          </a:xfrm>
          <a:prstGeom prst="rect">
            <a:avLst/>
          </a:prstGeom>
        </p:spPr>
      </p:pic>
      <p:sp>
        <p:nvSpPr>
          <p:cNvPr id="729" name="T"/>
          <p:cNvSpPr txBox="1"/>
          <p:nvPr/>
        </p:nvSpPr>
        <p:spPr>
          <a:xfrm>
            <a:off x="9376207" y="5102352"/>
            <a:ext cx="14571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Rumah warga masih tergenang air</a:t>
            </a:r>
            <a:endParaRPr lang="id-ID" sz="700"/>
          </a:p>
        </p:txBody>
      </p:sp>
      <p:sp>
        <p:nvSpPr>
          <p:cNvPr id="730" name="K"/>
          <p:cNvSpPr/>
          <p:nvPr/>
        </p:nvSpPr>
        <p:spPr>
          <a:xfrm>
            <a:off x="7589520" y="5303520"/>
            <a:ext cx="146304" cy="146304"/>
          </a:xfrm>
          <a:prstGeom prst="ellipse">
            <a:avLst/>
          </a:prstGeom>
          <a:solidFill>
            <a:srgbClr val="D9600B"/>
          </a:solidFill>
          <a:ln>
            <a:noFill/>
          </a:ln>
        </p:spPr>
      </p:sp>
      <p:pic>
        <p:nvPicPr>
          <p:cNvPr id="731" name="G"/>
          <p:cNvPicPr>
            <a:picLocks noChangeAspect="1"/>
          </p:cNvPicPr>
          <p:nvPr/>
        </p:nvPicPr>
        <p:blipFill>
          <a:blip r:embed="rIdM2"/>
          <a:stretch>
            <a:fillRect/>
          </a:stretch>
        </p:blipFill>
        <p:spPr>
          <a:xfrm>
            <a:off x="7615854" y="5329854"/>
            <a:ext cx="93634" cy="93634"/>
          </a:xfrm>
          <a:prstGeom prst="rect">
            <a:avLst/>
          </a:prstGeom>
        </p:spPr>
      </p:pic>
      <p:sp>
        <p:nvSpPr>
          <p:cNvPr id="732" name="K"/>
          <p:cNvSpPr/>
          <p:nvPr/>
        </p:nvSpPr>
        <p:spPr>
          <a:xfrm>
            <a:off x="7772400" y="5303520"/>
            <a:ext cx="146304" cy="146304"/>
          </a:xfrm>
          <a:prstGeom prst="ellipse">
            <a:avLst/>
          </a:prstGeom>
          <a:solidFill>
            <a:srgbClr val="2F6FB5"/>
          </a:solidFill>
          <a:ln>
            <a:noFill/>
          </a:ln>
        </p:spPr>
      </p:sp>
      <p:pic>
        <p:nvPicPr>
          <p:cNvPr id="733" name="G"/>
          <p:cNvPicPr>
            <a:picLocks noChangeAspect="1"/>
          </p:cNvPicPr>
          <p:nvPr/>
        </p:nvPicPr>
        <p:blipFill>
          <a:blip r:embed="rIdM15"/>
          <a:stretch>
            <a:fillRect/>
          </a:stretch>
        </p:blipFill>
        <p:spPr>
          <a:xfrm>
            <a:off x="7799832" y="5330952"/>
            <a:ext cx="91440" cy="91440"/>
          </a:xfrm>
          <a:prstGeom prst="rect">
            <a:avLst/>
          </a:prstGeom>
        </p:spPr>
      </p:pic>
      <p:sp>
        <p:nvSpPr>
          <p:cNvPr id="734" name="T"/>
          <p:cNvSpPr txBox="1"/>
          <p:nvPr/>
        </p:nvSpPr>
        <p:spPr>
          <a:xfrm>
            <a:off x="7971232" y="5285232"/>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Sumatera Utara</a:t>
            </a:r>
            <a:r>
              <a:rPr lang="id-ID" sz="760" dirty="0">
                <a:solidFill>
                  <a:srgbClr val="1A1A1A"/>
                </a:solidFill>
                <a:latin typeface="Roboto"/>
                <a:ea typeface="Roboto"/>
                <a:cs typeface="Roboto"/>
              </a:rPr>
              <a:t>, Langkat</a:t>
            </a:r>
            <a:endParaRPr lang="id-ID" sz="760"/>
          </a:p>
        </p:txBody>
      </p:sp>
      <p:sp>
        <p:nvSpPr>
          <p:cNvPr id="747" name="K"/>
          <p:cNvSpPr/>
          <p:nvPr/>
        </p:nvSpPr>
        <p:spPr>
          <a:xfrm>
            <a:off x="10324042" y="5294376"/>
            <a:ext cx="1136132" cy="164592"/>
          </a:xfrm>
          <a:prstGeom prst="roundRect">
            <a:avLst>
              <a:gd name="adj" fmla="val 50000"/>
            </a:avLst>
          </a:prstGeom>
          <a:solidFill>
            <a:srgbClr val="FBE7D6"/>
          </a:solidFill>
          <a:ln>
            <a:noFill/>
          </a:ln>
        </p:spPr>
      </p:sp>
      <p:pic>
        <p:nvPicPr>
          <p:cNvPr id="748" name="G"/>
          <p:cNvPicPr>
            <a:picLocks noChangeAspect="1"/>
          </p:cNvPicPr>
          <p:nvPr/>
        </p:nvPicPr>
        <p:blipFill>
          <a:blip r:embed="rIdM8"/>
          <a:stretch>
            <a:fillRect/>
          </a:stretch>
        </p:blipFill>
        <p:spPr>
          <a:xfrm>
            <a:off x="10381649" y="5327294"/>
            <a:ext cx="98755" cy="98755"/>
          </a:xfrm>
          <a:prstGeom prst="rect">
            <a:avLst/>
          </a:prstGeom>
        </p:spPr>
      </p:pic>
      <p:sp>
        <p:nvSpPr>
          <p:cNvPr id="749" name="T"/>
          <p:cNvSpPr txBox="1"/>
          <p:nvPr/>
        </p:nvSpPr>
        <p:spPr>
          <a:xfrm>
            <a:off x="10480404" y="5294376"/>
            <a:ext cx="9797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Transisi s.d. 25 Des</a:t>
            </a:r>
            <a:endParaRPr lang="id-ID" sz="700"/>
          </a:p>
        </p:txBody>
      </p:sp>
      <p:sp>
        <p:nvSpPr>
          <p:cNvPr id="750" name="K"/>
          <p:cNvSpPr/>
          <p:nvPr/>
        </p:nvSpPr>
        <p:spPr>
          <a:xfrm>
            <a:off x="10410842" y="5486400"/>
            <a:ext cx="1049332" cy="164592"/>
          </a:xfrm>
          <a:prstGeom prst="roundRect">
            <a:avLst>
              <a:gd name="adj" fmla="val 50000"/>
            </a:avLst>
          </a:prstGeom>
          <a:solidFill>
            <a:srgbClr val="F7F8FA"/>
          </a:solidFill>
          <a:ln>
            <a:noFill/>
          </a:ln>
        </p:spPr>
      </p:sp>
      <p:pic>
        <p:nvPicPr>
          <p:cNvPr id="751" name="G"/>
          <p:cNvPicPr>
            <a:picLocks noChangeAspect="1"/>
          </p:cNvPicPr>
          <p:nvPr/>
        </p:nvPicPr>
        <p:blipFill>
          <a:blip r:embed="rIdM11"/>
          <a:stretch>
            <a:fillRect/>
          </a:stretch>
        </p:blipFill>
        <p:spPr>
          <a:xfrm>
            <a:off x="10468449" y="5519318"/>
            <a:ext cx="98755" cy="98755"/>
          </a:xfrm>
          <a:prstGeom prst="rect">
            <a:avLst/>
          </a:prstGeom>
        </p:spPr>
      </p:pic>
      <p:sp>
        <p:nvSpPr>
          <p:cNvPr id="752" name="T"/>
          <p:cNvSpPr txBox="1"/>
          <p:nvPr/>
        </p:nvSpPr>
        <p:spPr>
          <a:xfrm>
            <a:off x="10567204" y="5486400"/>
            <a:ext cx="8929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±691 KK berpotensi</a:t>
            </a:r>
            <a:endParaRPr lang="id-ID" sz="700"/>
          </a:p>
        </p:txBody>
      </p:sp>
      <p:sp>
        <p:nvSpPr>
          <p:cNvPr id="753" name="K"/>
          <p:cNvSpPr/>
          <p:nvPr/>
        </p:nvSpPr>
        <p:spPr>
          <a:xfrm>
            <a:off x="9784045" y="5486400"/>
            <a:ext cx="571932" cy="164592"/>
          </a:xfrm>
          <a:prstGeom prst="roundRect">
            <a:avLst>
              <a:gd name="adj" fmla="val 50000"/>
            </a:avLst>
          </a:prstGeom>
          <a:solidFill>
            <a:srgbClr val="F7F8FA"/>
          </a:solidFill>
          <a:ln>
            <a:noFill/>
          </a:ln>
        </p:spPr>
      </p:sp>
      <p:pic>
        <p:nvPicPr>
          <p:cNvPr id="754" name="G"/>
          <p:cNvPicPr>
            <a:picLocks noChangeAspect="1"/>
          </p:cNvPicPr>
          <p:nvPr/>
        </p:nvPicPr>
        <p:blipFill>
          <a:blip r:embed="rIdM11"/>
          <a:stretch>
            <a:fillRect/>
          </a:stretch>
        </p:blipFill>
        <p:spPr>
          <a:xfrm>
            <a:off x="9841652" y="5519318"/>
            <a:ext cx="98755" cy="98755"/>
          </a:xfrm>
          <a:prstGeom prst="rect">
            <a:avLst/>
          </a:prstGeom>
        </p:spPr>
      </p:pic>
      <p:sp>
        <p:nvSpPr>
          <p:cNvPr id="755" name="T"/>
          <p:cNvSpPr txBox="1"/>
          <p:nvPr/>
        </p:nvSpPr>
        <p:spPr>
          <a:xfrm>
            <a:off x="9940407" y="5486400"/>
            <a:ext cx="4155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±155 KK</a:t>
            </a:r>
            <a:endParaRPr lang="id-ID" sz="700"/>
          </a:p>
        </p:txBody>
      </p:sp>
      <p:sp>
        <p:nvSpPr>
          <p:cNvPr id="756" name="K"/>
          <p:cNvSpPr/>
          <p:nvPr/>
        </p:nvSpPr>
        <p:spPr>
          <a:xfrm>
            <a:off x="8853448" y="5486400"/>
            <a:ext cx="875732" cy="164592"/>
          </a:xfrm>
          <a:prstGeom prst="roundRect">
            <a:avLst>
              <a:gd name="adj" fmla="val 50000"/>
            </a:avLst>
          </a:prstGeom>
          <a:solidFill>
            <a:srgbClr val="F7F8FA"/>
          </a:solidFill>
          <a:ln>
            <a:noFill/>
          </a:ln>
        </p:spPr>
      </p:sp>
      <p:pic>
        <p:nvPicPr>
          <p:cNvPr id="757" name="G"/>
          <p:cNvPicPr>
            <a:picLocks noChangeAspect="1"/>
          </p:cNvPicPr>
          <p:nvPr/>
        </p:nvPicPr>
        <p:blipFill>
          <a:blip r:embed="rIdM9"/>
          <a:stretch>
            <a:fillRect/>
          </a:stretch>
        </p:blipFill>
        <p:spPr>
          <a:xfrm>
            <a:off x="8911055" y="5519318"/>
            <a:ext cx="98755" cy="98755"/>
          </a:xfrm>
          <a:prstGeom prst="rect">
            <a:avLst/>
          </a:prstGeom>
        </p:spPr>
      </p:pic>
      <p:sp>
        <p:nvSpPr>
          <p:cNvPr id="758" name="T"/>
          <p:cNvSpPr txBox="1"/>
          <p:nvPr/>
        </p:nvSpPr>
        <p:spPr>
          <a:xfrm>
            <a:off x="9009810" y="5486400"/>
            <a:ext cx="7193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±694 mengungsi</a:t>
            </a:r>
            <a:endParaRPr lang="id-ID" sz="700"/>
          </a:p>
        </p:txBody>
      </p:sp>
      <p:sp>
        <p:nvSpPr>
          <p:cNvPr id="759" name="K"/>
          <p:cNvSpPr/>
          <p:nvPr/>
        </p:nvSpPr>
        <p:spPr>
          <a:xfrm>
            <a:off x="7589520" y="5687568"/>
            <a:ext cx="146304" cy="146304"/>
          </a:xfrm>
          <a:prstGeom prst="ellipse">
            <a:avLst/>
          </a:prstGeom>
          <a:solidFill>
            <a:srgbClr val="D9600B"/>
          </a:solidFill>
          <a:ln>
            <a:noFill/>
          </a:ln>
        </p:spPr>
      </p:sp>
      <p:pic>
        <p:nvPicPr>
          <p:cNvPr id="760" name="G"/>
          <p:cNvPicPr>
            <a:picLocks noChangeAspect="1"/>
          </p:cNvPicPr>
          <p:nvPr/>
        </p:nvPicPr>
        <p:blipFill>
          <a:blip r:embed="rIdM2"/>
          <a:stretch>
            <a:fillRect/>
          </a:stretch>
        </p:blipFill>
        <p:spPr>
          <a:xfrm>
            <a:off x="7615854" y="5713902"/>
            <a:ext cx="93634" cy="93634"/>
          </a:xfrm>
          <a:prstGeom prst="rect">
            <a:avLst/>
          </a:prstGeom>
        </p:spPr>
      </p:pic>
      <p:sp>
        <p:nvSpPr>
          <p:cNvPr id="761" name="K"/>
          <p:cNvSpPr/>
          <p:nvPr/>
        </p:nvSpPr>
        <p:spPr>
          <a:xfrm>
            <a:off x="7772400" y="5687568"/>
            <a:ext cx="146304" cy="146304"/>
          </a:xfrm>
          <a:prstGeom prst="ellipse">
            <a:avLst/>
          </a:prstGeom>
          <a:solidFill>
            <a:srgbClr val="2F6FB5"/>
          </a:solidFill>
          <a:ln>
            <a:noFill/>
          </a:ln>
        </p:spPr>
      </p:sp>
      <p:pic>
        <p:nvPicPr>
          <p:cNvPr id="762" name="G"/>
          <p:cNvPicPr>
            <a:picLocks noChangeAspect="1"/>
          </p:cNvPicPr>
          <p:nvPr/>
        </p:nvPicPr>
        <p:blipFill>
          <a:blip r:embed="rIdM15"/>
          <a:stretch>
            <a:fillRect/>
          </a:stretch>
        </p:blipFill>
        <p:spPr>
          <a:xfrm>
            <a:off x="7799832" y="5715000"/>
            <a:ext cx="91440" cy="91440"/>
          </a:xfrm>
          <a:prstGeom prst="rect">
            <a:avLst/>
          </a:prstGeom>
        </p:spPr>
      </p:pic>
      <p:sp>
        <p:nvSpPr>
          <p:cNvPr id="763" name="T"/>
          <p:cNvSpPr txBox="1"/>
          <p:nvPr/>
        </p:nvSpPr>
        <p:spPr>
          <a:xfrm>
            <a:off x="7971232" y="5669280"/>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Sumatera Utara</a:t>
            </a:r>
            <a:r>
              <a:rPr lang="id-ID" sz="760" dirty="0">
                <a:solidFill>
                  <a:srgbClr val="1A1A1A"/>
                </a:solidFill>
                <a:latin typeface="Roboto"/>
                <a:ea typeface="Roboto"/>
                <a:cs typeface="Roboto"/>
              </a:rPr>
              <a:t>, Deli Serdang</a:t>
            </a:r>
            <a:endParaRPr lang="id-ID" sz="760"/>
          </a:p>
        </p:txBody>
      </p:sp>
      <p:sp>
        <p:nvSpPr>
          <p:cNvPr id="779" name="K"/>
          <p:cNvSpPr/>
          <p:nvPr/>
        </p:nvSpPr>
        <p:spPr>
          <a:xfrm>
            <a:off x="10324042" y="5870448"/>
            <a:ext cx="1136132" cy="164592"/>
          </a:xfrm>
          <a:prstGeom prst="roundRect">
            <a:avLst>
              <a:gd name="adj" fmla="val 50000"/>
            </a:avLst>
          </a:prstGeom>
          <a:solidFill>
            <a:srgbClr val="FBE7D6"/>
          </a:solidFill>
          <a:ln>
            <a:noFill/>
          </a:ln>
        </p:spPr>
      </p:sp>
      <p:pic>
        <p:nvPicPr>
          <p:cNvPr id="780" name="G"/>
          <p:cNvPicPr>
            <a:picLocks noChangeAspect="1"/>
          </p:cNvPicPr>
          <p:nvPr/>
        </p:nvPicPr>
        <p:blipFill>
          <a:blip r:embed="rIdM8"/>
          <a:stretch>
            <a:fillRect/>
          </a:stretch>
        </p:blipFill>
        <p:spPr>
          <a:xfrm>
            <a:off x="10381649" y="5903366"/>
            <a:ext cx="98755" cy="98755"/>
          </a:xfrm>
          <a:prstGeom prst="rect">
            <a:avLst/>
          </a:prstGeom>
        </p:spPr>
      </p:pic>
      <p:sp>
        <p:nvSpPr>
          <p:cNvPr id="781" name="T"/>
          <p:cNvSpPr txBox="1"/>
          <p:nvPr/>
        </p:nvSpPr>
        <p:spPr>
          <a:xfrm>
            <a:off x="10480404" y="5870448"/>
            <a:ext cx="9797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Transisi s.d. 31 Des</a:t>
            </a:r>
            <a:endParaRPr lang="id-ID" sz="700"/>
          </a:p>
        </p:txBody>
      </p:sp>
      <p:sp>
        <p:nvSpPr>
          <p:cNvPr id="782" name="K"/>
          <p:cNvSpPr/>
          <p:nvPr/>
        </p:nvSpPr>
        <p:spPr>
          <a:xfrm>
            <a:off x="9046245" y="5870448"/>
            <a:ext cx="1222932" cy="164592"/>
          </a:xfrm>
          <a:prstGeom prst="roundRect">
            <a:avLst>
              <a:gd name="adj" fmla="val 50000"/>
            </a:avLst>
          </a:prstGeom>
          <a:solidFill>
            <a:srgbClr val="FBE7D6"/>
          </a:solidFill>
          <a:ln>
            <a:noFill/>
          </a:ln>
        </p:spPr>
      </p:sp>
      <p:pic>
        <p:nvPicPr>
          <p:cNvPr id="783" name="G"/>
          <p:cNvPicPr>
            <a:picLocks noChangeAspect="1"/>
          </p:cNvPicPr>
          <p:nvPr/>
        </p:nvPicPr>
        <p:blipFill>
          <a:blip r:embed="rIdM17"/>
          <a:stretch>
            <a:fillRect/>
          </a:stretch>
        </p:blipFill>
        <p:spPr>
          <a:xfrm>
            <a:off x="9103852" y="5903366"/>
            <a:ext cx="98755" cy="98755"/>
          </a:xfrm>
          <a:prstGeom prst="rect">
            <a:avLst/>
          </a:prstGeom>
        </p:spPr>
      </p:pic>
      <p:sp>
        <p:nvSpPr>
          <p:cNvPr id="784" name="T"/>
          <p:cNvSpPr txBox="1"/>
          <p:nvPr/>
        </p:nvSpPr>
        <p:spPr>
          <a:xfrm>
            <a:off x="9202607" y="5870448"/>
            <a:ext cx="10665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Banjir berangsur surut</a:t>
            </a:r>
            <a:endParaRPr lang="id-ID" sz="700"/>
          </a:p>
        </p:txBody>
      </p:sp>
      <p:sp>
        <p:nvSpPr>
          <p:cNvPr id="800" name="K"/>
          <p:cNvSpPr/>
          <p:nvPr/>
        </p:nvSpPr>
        <p:spPr>
          <a:xfrm>
            <a:off x="10801442" y="6062472"/>
            <a:ext cx="658732" cy="164592"/>
          </a:xfrm>
          <a:prstGeom prst="roundRect">
            <a:avLst>
              <a:gd name="adj" fmla="val 50000"/>
            </a:avLst>
          </a:prstGeom>
          <a:solidFill>
            <a:srgbClr val="F7F8FA"/>
          </a:solidFill>
          <a:ln>
            <a:noFill/>
          </a:ln>
        </p:spPr>
      </p:sp>
      <p:pic>
        <p:nvPicPr>
          <p:cNvPr id="801" name="G"/>
          <p:cNvPicPr>
            <a:picLocks noChangeAspect="1"/>
          </p:cNvPicPr>
          <p:nvPr/>
        </p:nvPicPr>
        <p:blipFill>
          <a:blip r:embed="rIdM11"/>
          <a:stretch>
            <a:fillRect/>
          </a:stretch>
        </p:blipFill>
        <p:spPr>
          <a:xfrm>
            <a:off x="10859049" y="6095390"/>
            <a:ext cx="98755" cy="98755"/>
          </a:xfrm>
          <a:prstGeom prst="rect">
            <a:avLst/>
          </a:prstGeom>
        </p:spPr>
      </p:pic>
      <p:sp>
        <p:nvSpPr>
          <p:cNvPr id="802" name="T"/>
          <p:cNvSpPr txBox="1"/>
          <p:nvPr/>
        </p:nvSpPr>
        <p:spPr>
          <a:xfrm>
            <a:off x="10957804" y="6062472"/>
            <a:ext cx="5023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±7.615 KK</a:t>
            </a:r>
            <a:endParaRPr lang="id-ID" sz="700"/>
          </a:p>
        </p:txBody>
      </p:sp>
      <p:sp>
        <p:nvSpPr>
          <p:cNvPr id="803" name="K"/>
          <p:cNvSpPr/>
          <p:nvPr/>
        </p:nvSpPr>
        <p:spPr>
          <a:xfrm>
            <a:off x="9957645" y="6062472"/>
            <a:ext cx="788932" cy="164592"/>
          </a:xfrm>
          <a:prstGeom prst="roundRect">
            <a:avLst>
              <a:gd name="adj" fmla="val 50000"/>
            </a:avLst>
          </a:prstGeom>
          <a:solidFill>
            <a:srgbClr val="F7F8FA"/>
          </a:solidFill>
          <a:ln>
            <a:noFill/>
          </a:ln>
        </p:spPr>
      </p:sp>
      <p:pic>
        <p:nvPicPr>
          <p:cNvPr id="804" name="G"/>
          <p:cNvPicPr>
            <a:picLocks noChangeAspect="1"/>
          </p:cNvPicPr>
          <p:nvPr/>
        </p:nvPicPr>
        <p:blipFill>
          <a:blip r:embed="rIdM18"/>
          <a:stretch>
            <a:fillRect/>
          </a:stretch>
        </p:blipFill>
        <p:spPr>
          <a:xfrm>
            <a:off x="10015252" y="6095390"/>
            <a:ext cx="98755" cy="98755"/>
          </a:xfrm>
          <a:prstGeom prst="rect">
            <a:avLst/>
          </a:prstGeom>
        </p:spPr>
      </p:pic>
      <p:sp>
        <p:nvSpPr>
          <p:cNvPr id="805" name="T"/>
          <p:cNvSpPr txBox="1"/>
          <p:nvPr/>
        </p:nvSpPr>
        <p:spPr>
          <a:xfrm>
            <a:off x="10114007" y="6062472"/>
            <a:ext cx="6325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±7.327 rumah</a:t>
            </a:r>
            <a:endParaRPr lang="id-ID" sz="700"/>
          </a:p>
        </p:txBody>
      </p:sp>
      <p:sp>
        <p:nvSpPr>
          <p:cNvPr id="806" name="K"/>
          <p:cNvSpPr/>
          <p:nvPr/>
        </p:nvSpPr>
        <p:spPr>
          <a:xfrm>
            <a:off x="9027048" y="6062472"/>
            <a:ext cx="875732" cy="164592"/>
          </a:xfrm>
          <a:prstGeom prst="roundRect">
            <a:avLst>
              <a:gd name="adj" fmla="val 50000"/>
            </a:avLst>
          </a:prstGeom>
          <a:solidFill>
            <a:srgbClr val="F7F8FA"/>
          </a:solidFill>
          <a:ln>
            <a:noFill/>
          </a:ln>
        </p:spPr>
      </p:sp>
      <p:pic>
        <p:nvPicPr>
          <p:cNvPr id="807" name="G"/>
          <p:cNvPicPr>
            <a:picLocks noChangeAspect="1"/>
          </p:cNvPicPr>
          <p:nvPr/>
        </p:nvPicPr>
        <p:blipFill>
          <a:blip r:embed="rIdM9"/>
          <a:stretch>
            <a:fillRect/>
          </a:stretch>
        </p:blipFill>
        <p:spPr>
          <a:xfrm>
            <a:off x="9084655" y="6095390"/>
            <a:ext cx="98755" cy="98755"/>
          </a:xfrm>
          <a:prstGeom prst="rect">
            <a:avLst/>
          </a:prstGeom>
        </p:spPr>
      </p:pic>
      <p:sp>
        <p:nvSpPr>
          <p:cNvPr id="808" name="T"/>
          <p:cNvSpPr txBox="1"/>
          <p:nvPr/>
        </p:nvSpPr>
        <p:spPr>
          <a:xfrm>
            <a:off x="9183410" y="6062472"/>
            <a:ext cx="719370" cy="164592"/>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±596 mengungsi</a:t>
            </a:r>
            <a:endParaRPr lang="id-ID" sz="700"/>
          </a:p>
        </p:txBody>
      </p:sp>
      <p:sp>
        <p:nvSpPr>
          <p:cNvPr id="884" name="T"/>
          <p:cNvSpPr txBox="1"/>
          <p:nvPr/>
        </p:nvSpPr>
        <p:spPr>
          <a:xfrm>
            <a:off x="10756175" y="3712464"/>
            <a:ext cx="704000" cy="182880"/>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dalam penanganan</a:t>
            </a:r>
            <a:endParaRPr lang="id-ID" sz="700"/>
          </a:p>
        </p:txBody>
      </p:sp>
      <p:sp>
        <p:nvSpPr>
          <p:cNvPr id="885" name="K"/>
          <p:cNvSpPr/>
          <p:nvPr/>
        </p:nvSpPr>
        <p:spPr>
          <a:xfrm>
            <a:off x="10591583" y="3739896"/>
            <a:ext cx="128016" cy="128016"/>
          </a:xfrm>
          <a:prstGeom prst="ellipse">
            <a:avLst/>
          </a:prstGeom>
          <a:solidFill>
            <a:srgbClr val="D9600B"/>
          </a:solidFill>
          <a:ln>
            <a:noFill/>
          </a:ln>
        </p:spPr>
      </p:sp>
      <p:pic>
        <p:nvPicPr>
          <p:cNvPr id="886" name="G"/>
          <p:cNvPicPr>
            <a:picLocks noChangeAspect="1"/>
          </p:cNvPicPr>
          <p:nvPr/>
        </p:nvPicPr>
        <p:blipFill>
          <a:blip r:embed="rIdM2"/>
          <a:stretch>
            <a:fillRect/>
          </a:stretch>
        </p:blipFill>
        <p:spPr>
          <a:xfrm>
            <a:off x="10619015" y="3767328"/>
            <a:ext cx="73152" cy="73152"/>
          </a:xfrm>
          <a:prstGeom prst="rect">
            <a:avLst/>
          </a:prstGeom>
        </p:spPr>
      </p:pic>
      <p:sp>
        <p:nvSpPr>
          <p:cNvPr id="887" name="T"/>
          <p:cNvSpPr txBox="1"/>
          <p:nvPr/>
        </p:nvSpPr>
        <p:spPr>
          <a:xfrm>
            <a:off x="10146423" y="3712464"/>
            <a:ext cx="308000" cy="182880"/>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selesai</a:t>
            </a:r>
            <a:endParaRPr lang="id-ID" sz="700"/>
          </a:p>
        </p:txBody>
      </p:sp>
      <p:sp>
        <p:nvSpPr>
          <p:cNvPr id="888" name="K"/>
          <p:cNvSpPr/>
          <p:nvPr/>
        </p:nvSpPr>
        <p:spPr>
          <a:xfrm>
            <a:off x="9981831" y="3739896"/>
            <a:ext cx="128016" cy="128016"/>
          </a:xfrm>
          <a:prstGeom prst="ellipse">
            <a:avLst/>
          </a:prstGeom>
          <a:solidFill>
            <a:srgbClr val="051C2C"/>
          </a:solidFill>
          <a:ln>
            <a:noFill/>
          </a:ln>
        </p:spPr>
      </p:sp>
      <p:pic>
        <p:nvPicPr>
          <p:cNvPr id="889" name="G"/>
          <p:cNvPicPr>
            <a:picLocks noChangeAspect="1"/>
          </p:cNvPicPr>
          <p:nvPr/>
        </p:nvPicPr>
        <p:blipFill>
          <a:blip r:embed="rIdM5"/>
          <a:stretch>
            <a:fillRect/>
          </a:stretch>
        </p:blipFill>
        <p:spPr>
          <a:xfrm>
            <a:off x="10009263" y="3767328"/>
            <a:ext cx="73152" cy="731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Badan Nasional Penanggulangan Bencana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Paparan Kepala BNPB kepada Presiden: Karhutla 6 Provinsi Prioritas</dc:title>
  <dc:subject>PptxGenJS Presentation</dc:subject>
  <dc:creator>BNPB</dc:creator>
  <cp:lastModifiedBy>BNPB</cp:lastModifiedBy>
  <cp:revision>1</cp:revision>
  <dcterms:created xsi:type="dcterms:W3CDTF">2026-10-22T07:37:45Z</dcterms:created>
  <dcterms:modified xsi:type="dcterms:W3CDTF">2026-10-22T07:37:45Z</dcterms:modified>
</cp:coreProperties>
</file>