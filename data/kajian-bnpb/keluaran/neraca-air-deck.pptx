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Roboto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Roboto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Roboto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Roboto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3.png"/><Relationship Id="rId10" Type="http://schemas.openxmlformats.org/officeDocument/2006/relationships/image" Target="../media/image12.png"/><Relationship Id="rId11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Relationship Id="rId6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5.png"/><Relationship Id="rId8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-sampul-air-bengawan-solo-k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0"/>
            <a:ext cx="58801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Bengawan Solo pada musim kemarau, Juli 2015; Crisco 1492, CC BY-SA 4.0,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2819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00200"/>
            <a:ext cx="5669280" cy="1524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Neraca Air Pulau Jawa</a:t>
            </a:r>
          </a:p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per Kabupaten/Kota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25800"/>
            <a:ext cx="566928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lang="id-ID">
                <a:solidFill>
                  <a:srgbClr val="C9D1E3"/>
                </a:solidFill>
                <a:latin typeface="Roboto"/>
              </a:rPr>
              <a:t>Pasokan dan Kebutuhan Air Bulanan, Musim Kemarau Juni–Oktober, dan Tahun Kering 1997, 2015, 2019, dan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22700"/>
            <a:ext cx="566928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lang="id-ID">
                <a:solidFill>
                  <a:srgbClr val="F6B26B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27500"/>
            <a:ext cx="5669280" cy="198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lang="id-ID">
                <a:solidFill>
                  <a:srgbClr val="C9D1E3"/>
                </a:solidFill>
                <a:latin typeface="Roboto"/>
              </a:rPr>
              <a:t>Disampaikan kepada Kepala Badan Nasional Penanggulangan Bencana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4478338"/>
            <a:ext cx="5120640" cy="0"/>
          </a:xfrm>
          <a:prstGeom prst="line">
            <a:avLst/>
          </a:prstGeom>
          <a:ln w="9525">
            <a:solidFill>
              <a:srgbClr val="8C9AA8"/>
            </a:solidFill>
          </a:ln>
        </p:spPr>
      </p:cxnSp>
      <p:sp>
        <p:nvSpPr>
          <p:cNvPr id="11" name="Rounded Rectangle 10"/>
          <p:cNvSpPr/>
          <p:nvPr/>
        </p:nvSpPr>
        <p:spPr>
          <a:xfrm>
            <a:off x="548640" y="5760720"/>
            <a:ext cx="2926080" cy="3835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lang="id-ID">
                <a:solidFill>
                  <a:srgbClr val="051C2C"/>
                </a:solidFill>
                <a:latin typeface="Roboto"/>
              </a:rPr>
              <a:t>Rabu, 28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Pesan Kunci: air Jawa cukup setahun, kurang di sebagian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kab/kota saat kemarau, dan dua keputusan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27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20886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ESTIMASI MODEL</a:t>
            </a:r>
          </a:p>
        </p:txBody>
      </p:sp>
      <p:pic>
        <p:nvPicPr>
          <p:cNvPr id="11" name="Picture 10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air-baku-2F86D1-271d6c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2F86D1"/>
                </a:solidFill>
                <a:latin typeface="Roboto"/>
              </a:rPr>
              <a:t>sekitar 32%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konsumtif/limpasan kemarau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kekeringan-D9600B-bd7fcb5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D9600B"/>
                </a:solidFill>
                <a:latin typeface="Roboto"/>
              </a:rPr>
              <a:t>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kemarau andalan negatif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data-051C2C-608a1e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sekitar 1,3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median rasio kemarau lawan GloFAS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DF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D9600B"/>
                </a:solidFill>
                <a:latin typeface="Roboto"/>
              </a:rPr>
              <a:t>KEPUTUSAN YANG DIMINTA DARI KEPALA BNPB</a:t>
            </a:r>
          </a:p>
        </p:txBody>
      </p:sp>
      <p:sp>
        <p:nvSpPr>
          <p:cNvPr id="29" name="Oval 28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kekeringan-FFFFFF-bd7fcb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Daftar periksa kemarau 2027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720" b="0" lang="id-ID">
                <a:solidFill>
                  <a:srgbClr val="2E3440"/>
                </a:solidFill>
                <a:latin typeface="Roboto"/>
              </a:rPr>
              <a:t>Pakai peringkat sebagai daftar periksa BPBD sebelum Juni 2027, dipasangkan dengan data penyaluran air.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F4C3A0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Data pos duga dan waduk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720" b="0" lang="id-ID">
                <a:solidFill>
                  <a:srgbClr val="2E3440"/>
                </a:solidFill>
                <a:latin typeface="Roboto"/>
              </a:rPr>
              <a:t>Minta debit pos duga dan operasi waduk dari Kementerian PU untuk validasi.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F4C3A0"/>
            </a:solidFill>
          </a:ln>
        </p:spPr>
      </p:cxnSp>
      <p:sp>
        <p:nvSpPr>
          <p:cNvPr id="39" name="Oval 38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regulasi-FFFFFF-e639fe9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Batas pemakaian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720" b="0" lang="id-ID">
                <a:solidFill>
                  <a:srgbClr val="2E3440"/>
                </a:solidFill>
                <a:latin typeface="Roboto"/>
              </a:rPr>
              <a:t>Volume air darurat tetap dihitung dari data BPBD; angka model tidak dipakai untuk volume.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2346960"/>
            <a:ext cx="11094720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8640" y="234696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257556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8640" y="2346960"/>
            <a:ext cx="11094720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8" name="Picture 47" descr="ringkasan-FFFFFF-28e5662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56640" y="2346960"/>
            <a:ext cx="10459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Pesan kunci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5640" y="2905760"/>
            <a:ext cx="1084072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lang="id-ID">
                <a:solidFill>
                  <a:srgbClr val="051C2C"/>
                </a:solidFill>
                <a:latin typeface="Roboto"/>
              </a:rPr>
              <a:t>Konsumtif 2025 sama dengan 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sekitar 18%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 limpasan tahunan dan 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sekitar 32%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 limpasan Juni–Oktober; peringkat kab/kota menjadi daftar periksa, dipasangkan dengan data BPBD karena belum cocok dengan catatan kejadian DIBI.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75640" y="333756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Oval 51"/>
          <p:cNvSpPr/>
          <p:nvPr/>
        </p:nvSpPr>
        <p:spPr>
          <a:xfrm>
            <a:off x="675640" y="341264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air-baku-FFFFFF-271d6c2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1586" y="3488595"/>
            <a:ext cx="178308" cy="17830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120140" y="3315017"/>
            <a:ext cx="4721860" cy="5254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Pasokan.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Air permukaan terbarukan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sekitar 186 miliar m³ per tahun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, selisih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sekitar 5,9%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dari angka BPS 2020. Kedua angka adalah keluaran model. Limpasan Juni–Oktober hanya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sekitar 16%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dari total.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5640" y="3937000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6" name="Oval 55"/>
          <p:cNvSpPr/>
          <p:nvPr/>
        </p:nvSpPr>
        <p:spPr>
          <a:xfrm>
            <a:off x="675640" y="396128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7" name="Picture 56" descr="wilayah-FFFFFF-37dca10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1586" y="4037235"/>
            <a:ext cx="178308" cy="17830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120140" y="3863658"/>
            <a:ext cx="4721860" cy="5254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Setahun.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Neraca tahunan negatif hanya di dua kota pantai kecil; kekurangan terjadi di musim kemarau. Kebutuhan konsumtif setahun hanya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sekitar 18%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limpasan.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75640" y="4485640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0" name="Oval 59"/>
          <p:cNvSpPr/>
          <p:nvPr/>
        </p:nvSpPr>
        <p:spPr>
          <a:xfrm>
            <a:off x="675640" y="450992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1" name="Picture 60" descr="kekeringan-FFFFFF-bd7fcb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586" y="4585875"/>
            <a:ext cx="178308" cy="17830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120140" y="4412297"/>
            <a:ext cx="4721860" cy="5254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Kemarau.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68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kab/kota kurang air pada satu dari lima kemarau bila irigasi potensial dipenuhi. Nilai per kab/kota dibaca sebagai urutan. Jawa Timur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28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, Jawa Tengah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18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sp>
        <p:nvSpPr>
          <p:cNvPr id="63" name="Oval 62"/>
          <p:cNvSpPr/>
          <p:nvPr/>
        </p:nvSpPr>
        <p:spPr>
          <a:xfrm>
            <a:off x="6248400" y="341264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4" name="Picture 63" descr="kalender-FFFFFF-a840cf9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346" y="3488595"/>
            <a:ext cx="178308" cy="17830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692900" y="3315017"/>
            <a:ext cx="4721860" cy="5254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Tahun kering.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Iklim 1997 membuat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99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kab/kota negatif; bias tiap tahun berbeda arah. Angka itu indikasi tekanan tanpa batas atas atau bawah. Iklim 2015 membuat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63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kab/kota negatif.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248400" y="3937000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7" name="Oval 66"/>
          <p:cNvSpPr/>
          <p:nvPr/>
        </p:nvSpPr>
        <p:spPr>
          <a:xfrm>
            <a:off x="6248400" y="396128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8" name="Picture 67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346" y="4037235"/>
            <a:ext cx="178308" cy="17830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692900" y="3863658"/>
            <a:ext cx="4721860" cy="5254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Validasi.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Aliran tahunan sejalan GloFAS; median aliran Juni–Oktober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sekitar 1,3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kali, belum lolos. Pembandingnya sendiri model. Tahunan bermedian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sekitar 1,0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kali di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12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muara.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248400" y="4485640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1" name="Oval 70"/>
          <p:cNvSpPr/>
          <p:nvPr/>
        </p:nvSpPr>
        <p:spPr>
          <a:xfrm>
            <a:off x="6248400" y="450992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2" name="Picture 71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346" y="4585875"/>
            <a:ext cx="178308" cy="17830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6692900" y="4412297"/>
            <a:ext cx="4721860" cy="5254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Data.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Kebutuhan industri kosong di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44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kab/kota; lima dari enam tampungan waduk bersumber sekunder. Kebutuhan Jawa Timur dan DI Yogyakarta menjadi batas bawah.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Pengolahan data Pantau Bencana, model neraca air kajian ini; BPS 2020; GloFAS; estimasi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A1. Kebutuhan konsumtif Jawa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sekitar 18%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dari limpasan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tahunan, naik ke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sekitar 32%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pada Juni–Oktober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27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709127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PASOKAN DAN KEBUTUHAN</a:t>
            </a:r>
          </a:p>
        </p:txBody>
      </p:sp>
      <p:pic>
        <p:nvPicPr>
          <p:cNvPr id="11" name="Picture 10" descr="air-baku-FFFFFF-271d6c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air-baku-2F86D1-271d6c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2F86D1"/>
                </a:solidFill>
                <a:latin typeface="Roboto"/>
              </a:rPr>
              <a:t>sekitar 186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miliar m³ limpasan per tahun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irigasi-051C2C-3c813d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sekitar 85%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kebutuhan kotor dari irigasi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kalender-051C2C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sekitar 16%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limpasan jatuh Juni–Oktober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KEBUTUHAN 2025 PER SEKTOR</a:t>
            </a:r>
          </a:p>
        </p:txBody>
      </p:sp>
      <p:sp>
        <p:nvSpPr>
          <p:cNvPr id="29" name="Oval 28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irigasi-FFFFFF-3c813d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Irigasi potensial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720" b="1" lang="id-ID">
                <a:solidFill>
                  <a:srgbClr val="2E3440"/>
                </a:solidFill>
                <a:latin typeface="Roboto"/>
              </a:rPr>
              <a:t>sekitar 38.000 juta m³ per tahun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, gaya KP-01.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jiwa-FFFFFF-9b7037f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Domestik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720" b="1" lang="id-ID">
                <a:solidFill>
                  <a:srgbClr val="2E3440"/>
                </a:solidFill>
                <a:latin typeface="Roboto"/>
              </a:rPr>
              <a:t>sekitar 5.900 juta m³ per tahun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untuk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sekitar 160 juta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jiwa.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9" name="Oval 38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data-FFFFFF-608a1e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Industri besar-sedang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720" b="1" lang="id-ID">
                <a:solidFill>
                  <a:srgbClr val="2E3440"/>
                </a:solidFill>
                <a:latin typeface="Roboto"/>
              </a:rPr>
              <a:t>sekitar 750 juta m³ per tahun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, hanya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75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kab/kota ber-data.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8" name="Picture 47" descr="kalender-FFFFFF-a840cf9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56640" y="2346960"/>
            <a:ext cx="611672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Limpasan lokal dan kebutuhan konsumtif bulanan Pulau Jawa, juta m³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5640" y="2905760"/>
            <a:ext cx="259909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BULAN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25531" y="2905760"/>
            <a:ext cx="2000504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LIMPASAN LOKAL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27635" y="2905760"/>
            <a:ext cx="177113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KONSUMTIF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675640" y="3116580"/>
            <a:ext cx="2599091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25531" y="3116580"/>
            <a:ext cx="2000504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27.000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27635" y="3116580"/>
            <a:ext cx="1771132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1.000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75640" y="327638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675640" y="3276388"/>
            <a:ext cx="2599091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Feb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5531" y="3276388"/>
            <a:ext cx="2000504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30.000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27635" y="3276388"/>
            <a:ext cx="1771132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560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75640" y="343619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675640" y="3436197"/>
            <a:ext cx="2599091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Mar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25531" y="3436197"/>
            <a:ext cx="2000504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27.000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27635" y="3436197"/>
            <a:ext cx="1771132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7.300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75640" y="359600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6" name="TextBox 65"/>
          <p:cNvSpPr txBox="1"/>
          <p:nvPr/>
        </p:nvSpPr>
        <p:spPr>
          <a:xfrm>
            <a:off x="675640" y="3596005"/>
            <a:ext cx="2599091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Apr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25531" y="3596005"/>
            <a:ext cx="2000504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20.000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27635" y="3596005"/>
            <a:ext cx="1771132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2.000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75640" y="375581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675640" y="3755813"/>
            <a:ext cx="2599091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Mei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25531" y="3755813"/>
            <a:ext cx="2000504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14.000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27635" y="3755813"/>
            <a:ext cx="1771132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3.400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75640" y="391562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4" name="TextBox 73"/>
          <p:cNvSpPr txBox="1"/>
          <p:nvPr/>
        </p:nvSpPr>
        <p:spPr>
          <a:xfrm>
            <a:off x="675640" y="3915622"/>
            <a:ext cx="2599091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Jun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25531" y="3915622"/>
            <a:ext cx="2000504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8.300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27635" y="3915622"/>
            <a:ext cx="1771132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3.300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75640" y="407543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8" name="TextBox 77"/>
          <p:cNvSpPr txBox="1"/>
          <p:nvPr/>
        </p:nvSpPr>
        <p:spPr>
          <a:xfrm>
            <a:off x="675640" y="4075430"/>
            <a:ext cx="2599091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Jul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25531" y="4075430"/>
            <a:ext cx="2000504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5.200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27635" y="4075430"/>
            <a:ext cx="1771132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1.300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675640" y="423523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2" name="TextBox 81"/>
          <p:cNvSpPr txBox="1"/>
          <p:nvPr/>
        </p:nvSpPr>
        <p:spPr>
          <a:xfrm>
            <a:off x="675640" y="4235238"/>
            <a:ext cx="2599091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Agu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25531" y="4235238"/>
            <a:ext cx="2000504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3.400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27635" y="4235238"/>
            <a:ext cx="1771132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1.700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675640" y="439504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6" name="TextBox 85"/>
          <p:cNvSpPr txBox="1"/>
          <p:nvPr/>
        </p:nvSpPr>
        <p:spPr>
          <a:xfrm>
            <a:off x="675640" y="4395047"/>
            <a:ext cx="2599091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25531" y="4395047"/>
            <a:ext cx="2000504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4.000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27635" y="4395047"/>
            <a:ext cx="1771132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1.700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75640" y="455485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0" name="TextBox 89"/>
          <p:cNvSpPr txBox="1"/>
          <p:nvPr/>
        </p:nvSpPr>
        <p:spPr>
          <a:xfrm>
            <a:off x="675640" y="4554855"/>
            <a:ext cx="2599091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Okt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25531" y="4554855"/>
            <a:ext cx="2000504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8.000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27635" y="4554855"/>
            <a:ext cx="1771132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1.300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675640" y="471466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4" name="TextBox 93"/>
          <p:cNvSpPr txBox="1"/>
          <p:nvPr/>
        </p:nvSpPr>
        <p:spPr>
          <a:xfrm>
            <a:off x="675640" y="4714663"/>
            <a:ext cx="2599091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Nov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25531" y="4714663"/>
            <a:ext cx="2000504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16.000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27635" y="4714663"/>
            <a:ext cx="1771132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8.400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75640" y="487447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8" name="TextBox 97"/>
          <p:cNvSpPr txBox="1"/>
          <p:nvPr/>
        </p:nvSpPr>
        <p:spPr>
          <a:xfrm>
            <a:off x="675640" y="4874472"/>
            <a:ext cx="2599091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325531" y="4874472"/>
            <a:ext cx="2000504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23.000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27635" y="4874472"/>
            <a:ext cx="1771132" cy="1598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1.200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6" name="Picture 105" descr="ringkasan-FFFFFF-28e5662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8072526" y="2346960"/>
            <a:ext cx="3316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Cara membaca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67116" y="2905760"/>
            <a:ext cx="147913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PROVINSI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97050" y="2905760"/>
            <a:ext cx="191771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KONSUMTIF/LIMPASAN %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7691526" y="3116580"/>
            <a:ext cx="382483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11" name="Oval 110"/>
          <p:cNvSpPr/>
          <p:nvPr/>
        </p:nvSpPr>
        <p:spPr>
          <a:xfrm>
            <a:off x="7691526" y="3135630"/>
            <a:ext cx="169079" cy="16907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67116" y="3116580"/>
            <a:ext cx="1479133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DKI Jakarta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97050" y="3116580"/>
            <a:ext cx="1917710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97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7691526" y="3323759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5" name="Oval 114"/>
          <p:cNvSpPr/>
          <p:nvPr/>
        </p:nvSpPr>
        <p:spPr>
          <a:xfrm>
            <a:off x="7691526" y="3342809"/>
            <a:ext cx="169079" cy="16907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67116" y="3323759"/>
            <a:ext cx="1479133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Timur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497050" y="3323759"/>
            <a:ext cx="1917710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27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7691526" y="3530939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9" name="Oval 118"/>
          <p:cNvSpPr/>
          <p:nvPr/>
        </p:nvSpPr>
        <p:spPr>
          <a:xfrm>
            <a:off x="7691526" y="3549989"/>
            <a:ext cx="169079" cy="16907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967116" y="3530939"/>
            <a:ext cx="1479133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DI Yogyakarta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497050" y="3530939"/>
            <a:ext cx="1917710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24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7691526" y="3738118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3" name="Oval 122"/>
          <p:cNvSpPr/>
          <p:nvPr/>
        </p:nvSpPr>
        <p:spPr>
          <a:xfrm>
            <a:off x="7691526" y="3757168"/>
            <a:ext cx="169079" cy="16907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967116" y="3738118"/>
            <a:ext cx="1479133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Tengah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97050" y="3738118"/>
            <a:ext cx="1917710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16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7691526" y="3945297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7" name="Oval 126"/>
          <p:cNvSpPr/>
          <p:nvPr/>
        </p:nvSpPr>
        <p:spPr>
          <a:xfrm>
            <a:off x="7691526" y="3964347"/>
            <a:ext cx="169079" cy="16907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967116" y="3945297"/>
            <a:ext cx="1479133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Barat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497050" y="3945297"/>
            <a:ext cx="1917710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14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7691526" y="4152477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31" name="Oval 130"/>
          <p:cNvSpPr/>
          <p:nvPr/>
        </p:nvSpPr>
        <p:spPr>
          <a:xfrm>
            <a:off x="7691526" y="4171527"/>
            <a:ext cx="169079" cy="16907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967116" y="4152477"/>
            <a:ext cx="1479133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Banten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497050" y="4152477"/>
            <a:ext cx="1917710" cy="2071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691526" y="4486656"/>
            <a:ext cx="3824834" cy="547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 marL="76081" indent="-76081"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Konsumtif = domestik, ternak, industri, dan irigasi dikurangi aliran balik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30%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Irigasi adalah kebutuhan potensial,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sekitar 40%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dari angka standar SNI.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Jawa Timur dan DI Yogyakarta tanpa data industri: angkanya batas bawah.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Pengolahan data Pantau Bencana: CHIRPS 1991–2025, NASA POWER, HydroBASINS, BPS, WorldPop; estimasi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A2. Di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47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kab/kota kebutuhan Juni–Oktober melebihi limpasan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lokalnya; kab/kota ini bergantung pada aliran dari hulu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27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293337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KETERGANTUNGAN</a:t>
            </a:r>
          </a:p>
        </p:txBody>
      </p:sp>
      <p:pic>
        <p:nvPicPr>
          <p:cNvPr id="11" name="Picture 10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5391912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wilayah-051C2C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477088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4770882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kebutuhan melebihi limpasan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1720" y="1593850"/>
            <a:ext cx="5391912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50940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air-baku-051C2C-271d6c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140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53530" y="1630680"/>
            <a:ext cx="477088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sekitar 79%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3530" y="1896110"/>
            <a:ext cx="4770882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air Indramayu dari hulu</a:t>
            </a:r>
          </a:p>
        </p:txBody>
      </p:sp>
      <p:pic>
        <p:nvPicPr>
          <p:cNvPr id="22" name="Picture 21" descr="peta-rasi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731764"/>
            <a:ext cx="6741566" cy="257303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25645" y="5380996"/>
            <a:ext cx="1737575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>
                <a:solidFill>
                  <a:srgbClr val="1A1A1A"/>
                </a:solidFill>
                <a:latin typeface="Roboto"/>
              </a:rPr>
              <a:t>Konsumtif/limpasan lokal Juni–Oktober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0220" y="5419096"/>
            <a:ext cx="101600" cy="101600"/>
          </a:xfrm>
          <a:prstGeom prst="rect">
            <a:avLst/>
          </a:prstGeom>
          <a:solidFill>
            <a:srgbClr val="F4ECDC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42620" y="5380996"/>
            <a:ext cx="274129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≤ 25%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3749" y="5419096"/>
            <a:ext cx="101600" cy="101600"/>
          </a:xfrm>
          <a:prstGeom prst="rect">
            <a:avLst/>
          </a:prstGeom>
          <a:solidFill>
            <a:srgbClr val="DCC79C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96149" y="5380996"/>
            <a:ext cx="371611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25–50%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94760" y="5419096"/>
            <a:ext cx="101600" cy="101600"/>
          </a:xfrm>
          <a:prstGeom prst="rect">
            <a:avLst/>
          </a:prstGeom>
          <a:solidFill>
            <a:srgbClr val="C4A262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7160" y="5380996"/>
            <a:ext cx="425097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50–100%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99257" y="5419096"/>
            <a:ext cx="101600" cy="101600"/>
          </a:xfrm>
          <a:prstGeom prst="rect">
            <a:avLst/>
          </a:prstGeom>
          <a:solidFill>
            <a:srgbClr val="A07A32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51657" y="5380996"/>
            <a:ext cx="478582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100–200%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57238" y="5419096"/>
            <a:ext cx="101600" cy="101600"/>
          </a:xfrm>
          <a:prstGeom prst="rect">
            <a:avLst/>
          </a:prstGeom>
          <a:solidFill>
            <a:srgbClr val="6E5424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09638" y="5380996"/>
            <a:ext cx="328963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&gt; 200%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558796"/>
            <a:ext cx="6741566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Sumber batas: public/geo Pantau Bencana (asal belum terdokumentasi); WGS84 geografis; Ekuirektangular; Batas wilayah bukan rujukan resmi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27366" y="2346960"/>
            <a:ext cx="421599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27366" y="2575560"/>
            <a:ext cx="421599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55436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ringkasan-FFFFFF-28e566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1516" y="2486660"/>
            <a:ext cx="177800" cy="177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935366" y="2346960"/>
            <a:ext cx="345399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Cara membaca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9956" y="2905760"/>
            <a:ext cx="157911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KAB/KOTA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59872" y="2905760"/>
            <a:ext cx="195488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RASIO KEMARAU %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554366" y="3116580"/>
            <a:ext cx="396199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7554366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29956" y="3116580"/>
            <a:ext cx="15791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Administrasi Jakarta Pusat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59872" y="3116580"/>
            <a:ext cx="195488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700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554366" y="33832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9" name="Oval 48"/>
          <p:cNvSpPr/>
          <p:nvPr/>
        </p:nvSpPr>
        <p:spPr>
          <a:xfrm>
            <a:off x="7554366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29956" y="3383280"/>
            <a:ext cx="15791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Probolinggo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59872" y="3383280"/>
            <a:ext cx="195488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630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554366" y="36499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3" name="Oval 52"/>
          <p:cNvSpPr/>
          <p:nvPr/>
        </p:nvSpPr>
        <p:spPr>
          <a:xfrm>
            <a:off x="7554366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29956" y="3649980"/>
            <a:ext cx="15791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Administrasi Jakarta Barat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59872" y="3649980"/>
            <a:ext cx="195488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620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554366" y="39166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7554366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29956" y="3916680"/>
            <a:ext cx="15791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Pasuruan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59872" y="3916680"/>
            <a:ext cx="195488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550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554366" y="41833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1" name="Oval 60"/>
          <p:cNvSpPr/>
          <p:nvPr/>
        </p:nvSpPr>
        <p:spPr>
          <a:xfrm>
            <a:off x="7554366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29956" y="4183380"/>
            <a:ext cx="15791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Administrasi Jakarta Utara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59872" y="4183380"/>
            <a:ext cx="195488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540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554366" y="44500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Oval 64"/>
          <p:cNvSpPr/>
          <p:nvPr/>
        </p:nvSpPr>
        <p:spPr>
          <a:xfrm>
            <a:off x="7554366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29956" y="4450080"/>
            <a:ext cx="15791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Mojokerto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59872" y="4450080"/>
            <a:ext cx="195488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420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554366" y="47167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9" name="Oval 68"/>
          <p:cNvSpPr/>
          <p:nvPr/>
        </p:nvSpPr>
        <p:spPr>
          <a:xfrm>
            <a:off x="7554366" y="47631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29956" y="4716780"/>
            <a:ext cx="15791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Tangerang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59872" y="4716780"/>
            <a:ext cx="195488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320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54366" y="5110480"/>
            <a:ext cx="3961994" cy="883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 marL="76081" indent="-76081"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Limpasan lokal tidak menghitung aliran masuk dari hulu.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Kab/kota hilir menanggung akibat pemakaian dan operasi waduk di hulu.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Jawa bagian timur paling tertekan; Jawa Barat bagian selatan paling longgar.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Rasio Jawa seluruhnya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sekitar 32%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, dengan kebutuhan 2030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sekitar 33%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Perpipaan antarwilayah dan air tanah tidak dimodelkan.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Pengolahan data Pantau Bencana, model neraca air kajian ini, iklim 1991–2025 dan kebutuhan 2025; estimasi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050" b="1" lang="id-ID">
                <a:solidFill>
                  <a:srgbClr val="1A1A1A"/>
                </a:solidFill>
                <a:latin typeface="Roboto"/>
              </a:rPr>
              <a:t>A3. Air Kabupaten Indramayu</a:t>
            </a:r>
            <a:r>
              <a:rPr sz="2050" b="1" lang="id-ID">
                <a:solidFill>
                  <a:srgbClr val="D9600B"/>
                </a:solidFill>
                <a:latin typeface="Roboto"/>
              </a:rPr>
              <a:t> sekitar 79%</a:t>
            </a:r>
            <a:r>
              <a:rPr sz="2050" b="1" lang="id-ID">
                <a:solidFill>
                  <a:srgbClr val="1A1A1A"/>
                </a:solidFill>
                <a:latin typeface="Roboto"/>
              </a:rPr>
              <a:t> berasal dari hulu; delapan</a:t>
            </a:r>
            <a:br/>
            <a:r>
              <a:rPr sz="2050" b="1" lang="id-ID">
                <a:solidFill>
                  <a:srgbClr val="1A1A1A"/>
                </a:solidFill>
                <a:latin typeface="Roboto"/>
              </a:rPr>
              <a:t>dari sepuluh surplus lokal terbesar ada di Jawa Barat dan Banten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27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592663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KETERGANTUNGAN HULU</a:t>
            </a:r>
          </a:p>
        </p:txBody>
      </p:sp>
      <p:pic>
        <p:nvPicPr>
          <p:cNvPr id="11" name="Picture 10" descr="air-baku-FFFFFF-271d6c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5391912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air-baku-051C2C-271d6c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477088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sekitar 79%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4770882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air Indramayu dari hulu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1720" y="1593850"/>
            <a:ext cx="5391912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50940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air-baku-051C2C-271d6c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140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53530" y="1630680"/>
            <a:ext cx="477088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sekitar 28%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3530" y="1896110"/>
            <a:ext cx="4770882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air Jakarta Utara dari hulu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wilayah-FFFFFF-37dca1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56640" y="2346960"/>
            <a:ext cx="611672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Sepuluh kab/kota dengan surplus lokal tahunan terbesar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1230" y="2905760"/>
            <a:ext cx="259909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KAB/KOTA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1121" y="2905760"/>
            <a:ext cx="196085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SURPLUS LOKAL, JUTA M³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3576" y="2905760"/>
            <a:ext cx="153519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AIR DARI HULU %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675640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1230" y="3116580"/>
            <a:ext cx="2599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Sukabumi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1121" y="3116580"/>
            <a:ext cx="196085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8.200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3576" y="3116580"/>
            <a:ext cx="153519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27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75640" y="33832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8" name="Oval 37"/>
          <p:cNvSpPr/>
          <p:nvPr/>
        </p:nvSpPr>
        <p:spPr>
          <a:xfrm>
            <a:off x="675640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1230" y="3383280"/>
            <a:ext cx="2599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Cianjur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1121" y="3383280"/>
            <a:ext cx="196085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7.300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3576" y="3383280"/>
            <a:ext cx="153519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59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75640" y="36499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3" name="Oval 42"/>
          <p:cNvSpPr/>
          <p:nvPr/>
        </p:nvSpPr>
        <p:spPr>
          <a:xfrm>
            <a:off x="675640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1230" y="3649980"/>
            <a:ext cx="2599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Lebak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01121" y="3649980"/>
            <a:ext cx="196085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7.200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3576" y="3649980"/>
            <a:ext cx="153519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13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75640" y="39166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8" name="Oval 47"/>
          <p:cNvSpPr/>
          <p:nvPr/>
        </p:nvSpPr>
        <p:spPr>
          <a:xfrm>
            <a:off x="675640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1230" y="3916680"/>
            <a:ext cx="2599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Bogor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01121" y="3916680"/>
            <a:ext cx="196085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6.700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3576" y="3916680"/>
            <a:ext cx="153519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29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5640" y="41833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3" name="Oval 52"/>
          <p:cNvSpPr/>
          <p:nvPr/>
        </p:nvSpPr>
        <p:spPr>
          <a:xfrm>
            <a:off x="675640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1230" y="4183380"/>
            <a:ext cx="2599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Garut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01121" y="4183380"/>
            <a:ext cx="196085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5.700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3576" y="4183380"/>
            <a:ext cx="153519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10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75640" y="44500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8" name="Oval 57"/>
          <p:cNvSpPr/>
          <p:nvPr/>
        </p:nvSpPr>
        <p:spPr>
          <a:xfrm>
            <a:off x="675640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1230" y="4450080"/>
            <a:ext cx="2599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Pandeglang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01121" y="4450080"/>
            <a:ext cx="196085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5.200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3576" y="4450080"/>
            <a:ext cx="153519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18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75640" y="47167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3" name="Oval 62"/>
          <p:cNvSpPr/>
          <p:nvPr/>
        </p:nvSpPr>
        <p:spPr>
          <a:xfrm>
            <a:off x="675640" y="47631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1230" y="4716780"/>
            <a:ext cx="2599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Tasikmalaya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01121" y="4716780"/>
            <a:ext cx="196085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5.200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3576" y="4716780"/>
            <a:ext cx="153519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13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75640" y="49834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8" name="Oval 67"/>
          <p:cNvSpPr/>
          <p:nvPr/>
        </p:nvSpPr>
        <p:spPr>
          <a:xfrm>
            <a:off x="675640" y="50298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1230" y="4983480"/>
            <a:ext cx="2599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Cilacap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01121" y="4983480"/>
            <a:ext cx="196085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4.200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3576" y="4983480"/>
            <a:ext cx="153519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82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75640" y="52501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3" name="Oval 72"/>
          <p:cNvSpPr/>
          <p:nvPr/>
        </p:nvSpPr>
        <p:spPr>
          <a:xfrm>
            <a:off x="675640" y="52965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1230" y="5250180"/>
            <a:ext cx="2599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Ciamis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01121" y="5250180"/>
            <a:ext cx="196085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3.000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3576" y="5250180"/>
            <a:ext cx="153519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71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75640" y="55168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8" name="Oval 77"/>
          <p:cNvSpPr/>
          <p:nvPr/>
        </p:nvSpPr>
        <p:spPr>
          <a:xfrm>
            <a:off x="675640" y="55632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1230" y="5516880"/>
            <a:ext cx="2599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Malang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01121" y="5516880"/>
            <a:ext cx="196085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3.000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3576" y="5516880"/>
            <a:ext cx="153519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26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7" name="Picture 86" descr="ringkasan-FFFFFF-28e566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8072526" y="2346960"/>
            <a:ext cx="3316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Cara membaca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67116" y="2905760"/>
            <a:ext cx="147913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KAB/KOTA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497050" y="2905760"/>
            <a:ext cx="191771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DARI HULU %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691526" y="3116580"/>
            <a:ext cx="382483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92" name="Oval 91"/>
          <p:cNvSpPr/>
          <p:nvPr/>
        </p:nvSpPr>
        <p:spPr>
          <a:xfrm>
            <a:off x="7691526" y="314785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67116" y="3116580"/>
            <a:ext cx="1479133" cy="2365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Mojokerto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497050" y="3116580"/>
            <a:ext cx="1917710" cy="2365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98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7691526" y="3353117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6" name="Oval 95"/>
          <p:cNvSpPr/>
          <p:nvPr/>
        </p:nvSpPr>
        <p:spPr>
          <a:xfrm>
            <a:off x="7691526" y="338439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67116" y="3353117"/>
            <a:ext cx="1479133" cy="2365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Madiun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497050" y="3353117"/>
            <a:ext cx="1917710" cy="2365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97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7691526" y="3589655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0" name="Oval 99"/>
          <p:cNvSpPr/>
          <p:nvPr/>
        </p:nvSpPr>
        <p:spPr>
          <a:xfrm>
            <a:off x="7691526" y="362092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67116" y="3589655"/>
            <a:ext cx="1479133" cy="2365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Sidoarjo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497050" y="3589655"/>
            <a:ext cx="1917710" cy="2365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97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7691526" y="3826192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4" name="Oval 103"/>
          <p:cNvSpPr/>
          <p:nvPr/>
        </p:nvSpPr>
        <p:spPr>
          <a:xfrm>
            <a:off x="7691526" y="385746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967116" y="3826192"/>
            <a:ext cx="1479133" cy="2365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Surakarta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497050" y="3826192"/>
            <a:ext cx="1917710" cy="2365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96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7691526" y="406273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8" name="Oval 107"/>
          <p:cNvSpPr/>
          <p:nvPr/>
        </p:nvSpPr>
        <p:spPr>
          <a:xfrm>
            <a:off x="7691526" y="409400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967116" y="4062730"/>
            <a:ext cx="1479133" cy="2365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Gresik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497050" y="4062730"/>
            <a:ext cx="1917710" cy="2365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95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7691526" y="4299268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2" name="Oval 111"/>
          <p:cNvSpPr/>
          <p:nvPr/>
        </p:nvSpPr>
        <p:spPr>
          <a:xfrm>
            <a:off x="7691526" y="433054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967116" y="4299268"/>
            <a:ext cx="1479133" cy="2365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Tuban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97050" y="4299268"/>
            <a:ext cx="1917710" cy="2365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94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7691526" y="4535805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6" name="Oval 115"/>
          <p:cNvSpPr/>
          <p:nvPr/>
        </p:nvSpPr>
        <p:spPr>
          <a:xfrm>
            <a:off x="7691526" y="456707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967116" y="4535805"/>
            <a:ext cx="1479133" cy="2365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Lamongan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497050" y="4535805"/>
            <a:ext cx="1917710" cy="2365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94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7691526" y="4772342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0" name="Oval 119"/>
          <p:cNvSpPr/>
          <p:nvPr/>
        </p:nvSpPr>
        <p:spPr>
          <a:xfrm>
            <a:off x="7691526" y="480361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967116" y="4772342"/>
            <a:ext cx="1479133" cy="2365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Banjar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497050" y="4772342"/>
            <a:ext cx="1917710" cy="2365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94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691526" y="5135880"/>
            <a:ext cx="3824834" cy="858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 marL="76081" indent="-76081"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Surplus lokal = limpasan lokal dikurangi konsumtif; air yang lewat tidak dihitung.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Surplus hulu mengalir menjadi pasokan kab/kota hilir.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Neraca kab/kota hilir memuat air lewat dan tidak boleh dijumlahkan.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Penelusuran memakai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534 sub-DAS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HydroBASINS.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Sub-DAS rerata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248 km²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: kota kecil membaca sungai yang lewat.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Pengolahan data Pantau Bencana: penelusuran aliran HydroBASINS, model neraca air kajian ini; estimasi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B1.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68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kab/kota kekurangan air Juni–Oktober pada sedikitnya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satu dari lima tahun bila irigasi potensial dipenuhi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27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241862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INDIKASI URUTAN</a:t>
            </a:r>
          </a:p>
        </p:txBody>
      </p:sp>
      <p:pic>
        <p:nvPicPr>
          <p:cNvPr id="11" name="Picture 10" descr="kekeringan-FFFFFF-bd7fcb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wilayah-051C2C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di Jawa Timur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wilayah-051C2C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di Jawa Tengah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wilayah-051C2C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di Jawa Barat</a:t>
            </a:r>
          </a:p>
        </p:txBody>
      </p:sp>
      <p:pic>
        <p:nvPicPr>
          <p:cNvPr id="27" name="Picture 26" descr="peta-n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31764"/>
            <a:ext cx="6741566" cy="257303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00426" y="5380996"/>
            <a:ext cx="130383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>
                <a:solidFill>
                  <a:srgbClr val="1A1A1A"/>
                </a:solidFill>
                <a:latin typeface="Roboto"/>
              </a:rPr>
              <a:t>Neraca kemarau andalan, mm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31260" y="5419096"/>
            <a:ext cx="101600" cy="101600"/>
          </a:xfrm>
          <a:prstGeom prst="rect">
            <a:avLst/>
          </a:prstGeom>
          <a:solidFill>
            <a:srgbClr val="DCEBF8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83660" y="5380996"/>
            <a:ext cx="56146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Kurang &gt;100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2120" y="5419096"/>
            <a:ext cx="101600" cy="101600"/>
          </a:xfrm>
          <a:prstGeom prst="rect">
            <a:avLst/>
          </a:prstGeom>
          <a:solidFill>
            <a:srgbClr val="A4CAEE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24520" y="5380996"/>
            <a:ext cx="68117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Kurang 25–100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2694" y="5419096"/>
            <a:ext cx="101600" cy="101600"/>
          </a:xfrm>
          <a:prstGeom prst="rect">
            <a:avLst/>
          </a:prstGeom>
          <a:solidFill>
            <a:srgbClr val="68A8E0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85094" y="5380996"/>
            <a:ext cx="57420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Kurang 0–25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6298" y="5419096"/>
            <a:ext cx="101600" cy="101600"/>
          </a:xfrm>
          <a:prstGeom prst="rect">
            <a:avLst/>
          </a:prstGeom>
          <a:solidFill>
            <a:srgbClr val="2F86D1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38698" y="5380996"/>
            <a:ext cx="505975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Sisa 0–150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71673" y="5419096"/>
            <a:ext cx="101600" cy="101600"/>
          </a:xfrm>
          <a:prstGeom prst="rect">
            <a:avLst/>
          </a:prstGeom>
          <a:solidFill>
            <a:srgbClr val="1B5A93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4073" y="5380996"/>
            <a:ext cx="439747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Sisa &gt;150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558796"/>
            <a:ext cx="6741566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Sumber batas: public/geo Pantau Bencana (asal belum terdokumentasi); WGS84 geografis; Ekuirektangular; Batas wilayah bukan rujukan resmi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27366" y="2346960"/>
            <a:ext cx="421599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27366" y="2575560"/>
            <a:ext cx="421599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55436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5" name="Picture 44" descr="ringkasan-FFFFFF-28e566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516" y="2486660"/>
            <a:ext cx="177800" cy="1778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935366" y="2346960"/>
            <a:ext cx="345399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Definisi dan batas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29956" y="2905760"/>
            <a:ext cx="157911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KAB/KOTA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59872" y="2905760"/>
            <a:ext cx="195488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ANDALAN PER LUAS, MM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554366" y="3116580"/>
            <a:ext cx="396199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0" name="Oval 49"/>
          <p:cNvSpPr/>
          <p:nvPr/>
        </p:nvSpPr>
        <p:spPr>
          <a:xfrm>
            <a:off x="7554366" y="315364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29956" y="3116580"/>
            <a:ext cx="1579116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Administrasi Jakarta Pusat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59872" y="3116580"/>
            <a:ext cx="1954888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-220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554366" y="3364702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4" name="Oval 53"/>
          <p:cNvSpPr/>
          <p:nvPr/>
        </p:nvSpPr>
        <p:spPr>
          <a:xfrm>
            <a:off x="7554366" y="3401768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29956" y="3364702"/>
            <a:ext cx="1579116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Administrasi Jakarta Barat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59872" y="3364702"/>
            <a:ext cx="1954888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-220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554366" y="3612823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8" name="Oval 57"/>
          <p:cNvSpPr/>
          <p:nvPr/>
        </p:nvSpPr>
        <p:spPr>
          <a:xfrm>
            <a:off x="7554366" y="364988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29956" y="3612823"/>
            <a:ext cx="1579116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Pasuruan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59872" y="3612823"/>
            <a:ext cx="1954888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-210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554366" y="3860945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2" name="Oval 61"/>
          <p:cNvSpPr/>
          <p:nvPr/>
        </p:nvSpPr>
        <p:spPr>
          <a:xfrm>
            <a:off x="7554366" y="389801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29956" y="3860945"/>
            <a:ext cx="1579116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Bandung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59872" y="3860945"/>
            <a:ext cx="1954888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-200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554366" y="4109067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6" name="Oval 65"/>
          <p:cNvSpPr/>
          <p:nvPr/>
        </p:nvSpPr>
        <p:spPr>
          <a:xfrm>
            <a:off x="7554366" y="414613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29956" y="4109067"/>
            <a:ext cx="1579116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Probolinggo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59872" y="4109067"/>
            <a:ext cx="1954888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-200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554366" y="4357189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0" name="Oval 69"/>
          <p:cNvSpPr/>
          <p:nvPr/>
        </p:nvSpPr>
        <p:spPr>
          <a:xfrm>
            <a:off x="7554366" y="439425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29956" y="4357189"/>
            <a:ext cx="1579116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Mojokerto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59872" y="4357189"/>
            <a:ext cx="1954888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-190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554366" y="460531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4" name="Oval 73"/>
          <p:cNvSpPr/>
          <p:nvPr/>
        </p:nvSpPr>
        <p:spPr>
          <a:xfrm>
            <a:off x="7554366" y="464237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29956" y="4605310"/>
            <a:ext cx="1579116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Tangerang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59872" y="4605310"/>
            <a:ext cx="1954888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-190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54366" y="4980432"/>
            <a:ext cx="3961994" cy="10139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 marL="76081" indent="-76081"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Neraca kemarau andalan = persentil kedua puluh total Juni–Oktober 1991–2025.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Aliran kemarau model belum lolos validasi: nilai per kab/kota dibaca sebagai urutan.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Pemakaian sah: daftar periksa dan pemilihan wilayah; volume tangki dihitung dari data BPBD.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1" lang="id-ID">
                <a:solidFill>
                  <a:srgbClr val="1A1A1A"/>
                </a:solidFill>
                <a:latin typeface="Roboto"/>
              </a:rPr>
              <a:t>27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dari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68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adalah kota kecil yang airnya kiriman hulu.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Penduduk kab/kota itu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sekitar 83 juta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jiwa.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Rerata Juni–Oktober negatif di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16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kab/kota.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Pengolahan data Pantau Bencana, model neraca air kajian ini, iklim 1991–2025 dan kebutuhan 2025; estimasi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B2.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Kab. Indramayu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mencatat neraca kemarau andalan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sekitar</a:t>
            </a:r>
            <a:br/>
            <a:r>
              <a:rPr sz="2200" b="1" lang="id-ID">
                <a:solidFill>
                  <a:srgbClr val="D9600B"/>
                </a:solidFill>
                <a:latin typeface="Roboto"/>
              </a:rPr>
              <a:t>-200 juta m³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, terendah di Pulau Jawa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27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6878726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1130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282700"/>
            <a:ext cx="6878726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kekeringan-FFFFFF-bd7fcb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6640" y="1282700"/>
            <a:ext cx="611672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Dua belas kab/kota dengan neraca kemarau andalan terendah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1230" y="1841500"/>
            <a:ext cx="259909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KAB/KOTA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1121" y="1841500"/>
            <a:ext cx="94885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TAHUNAN, JUTA M³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1573" y="1841500"/>
            <a:ext cx="143010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KEMARAU ANDALAN, JUTA M³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3278" y="1841500"/>
            <a:ext cx="101548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IKLIM 1997, JUTA M³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5640" y="205232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21" name="Oval 20"/>
          <p:cNvSpPr/>
          <p:nvPr/>
        </p:nvSpPr>
        <p:spPr>
          <a:xfrm>
            <a:off x="675640" y="2096728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1230" y="2052320"/>
            <a:ext cx="2599091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Indramayu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1121" y="2052320"/>
            <a:ext cx="948852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7.000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1573" y="2052320"/>
            <a:ext cx="1430105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3278" y="2052320"/>
            <a:ext cx="1015488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-300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5640" y="231512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675640" y="235953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1230" y="2315125"/>
            <a:ext cx="2599091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Subang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1121" y="2315125"/>
            <a:ext cx="948852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3.100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51573" y="2315125"/>
            <a:ext cx="1430105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-180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3278" y="2315125"/>
            <a:ext cx="1015488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-240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75640" y="2577931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675640" y="2622338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1230" y="2577931"/>
            <a:ext cx="2599091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Jember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1121" y="2577931"/>
            <a:ext cx="948852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3.300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51573" y="2577931"/>
            <a:ext cx="1430105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-170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83278" y="2577931"/>
            <a:ext cx="1015488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-250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5640" y="2840736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9" name="Oval 38"/>
          <p:cNvSpPr/>
          <p:nvPr/>
        </p:nvSpPr>
        <p:spPr>
          <a:xfrm>
            <a:off x="675640" y="288514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1230" y="2840736"/>
            <a:ext cx="2599091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Cirebon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01121" y="2840736"/>
            <a:ext cx="948852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2.300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51573" y="2840736"/>
            <a:ext cx="1430105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-130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3278" y="2840736"/>
            <a:ext cx="1015488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-170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75640" y="3103541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675640" y="314794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1230" y="3103541"/>
            <a:ext cx="2599091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Jombang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01121" y="3103541"/>
            <a:ext cx="948852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10.000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51573" y="3103541"/>
            <a:ext cx="1430105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-120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83278" y="3103541"/>
            <a:ext cx="1015488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-190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75640" y="336634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1" name="Oval 50"/>
          <p:cNvSpPr/>
          <p:nvPr/>
        </p:nvSpPr>
        <p:spPr>
          <a:xfrm>
            <a:off x="675640" y="341075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1230" y="3366347"/>
            <a:ext cx="2599091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Banyuwangi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01121" y="3366347"/>
            <a:ext cx="948852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2.000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51573" y="3366347"/>
            <a:ext cx="1430105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-110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83278" y="3366347"/>
            <a:ext cx="1015488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-170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75640" y="362915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675640" y="3673560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1230" y="3629152"/>
            <a:ext cx="2599091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Pasuruan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01121" y="3629152"/>
            <a:ext cx="948852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9.000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51573" y="3629152"/>
            <a:ext cx="1430105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-94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83278" y="3629152"/>
            <a:ext cx="1015488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-150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75640" y="389195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3" name="Oval 62"/>
          <p:cNvSpPr/>
          <p:nvPr/>
        </p:nvSpPr>
        <p:spPr>
          <a:xfrm>
            <a:off x="675640" y="393636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1230" y="3891957"/>
            <a:ext cx="2599091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Grobogan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01121" y="3891957"/>
            <a:ext cx="948852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4.700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51573" y="3891957"/>
            <a:ext cx="1430105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-90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83278" y="3891957"/>
            <a:ext cx="1015488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-160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75640" y="415476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9" name="Oval 68"/>
          <p:cNvSpPr/>
          <p:nvPr/>
        </p:nvSpPr>
        <p:spPr>
          <a:xfrm>
            <a:off x="675640" y="4199170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1230" y="4154763"/>
            <a:ext cx="2599091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Kediri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01121" y="4154763"/>
            <a:ext cx="948852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7.400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51573" y="4154763"/>
            <a:ext cx="1430105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-85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83278" y="4154763"/>
            <a:ext cx="1015488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-180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75640" y="441756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5" name="Oval 74"/>
          <p:cNvSpPr/>
          <p:nvPr/>
        </p:nvSpPr>
        <p:spPr>
          <a:xfrm>
            <a:off x="675640" y="446197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1230" y="4417568"/>
            <a:ext cx="2599091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Nganjuk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01121" y="4417568"/>
            <a:ext cx="948852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6.100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51573" y="4417568"/>
            <a:ext cx="1430105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-84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83278" y="4417568"/>
            <a:ext cx="1015488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-150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5640" y="468037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1" name="Oval 80"/>
          <p:cNvSpPr/>
          <p:nvPr/>
        </p:nvSpPr>
        <p:spPr>
          <a:xfrm>
            <a:off x="675640" y="472478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1230" y="4680373"/>
            <a:ext cx="2599091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Pati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01121" y="4680373"/>
            <a:ext cx="948852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1.600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51573" y="4680373"/>
            <a:ext cx="1430105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-84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83278" y="4680373"/>
            <a:ext cx="1015488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-130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75640" y="4943179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Oval 86"/>
          <p:cNvSpPr/>
          <p:nvPr/>
        </p:nvSpPr>
        <p:spPr>
          <a:xfrm>
            <a:off x="675640" y="498758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1230" y="4943179"/>
            <a:ext cx="2599091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Jepara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01121" y="4943179"/>
            <a:ext cx="948852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1.100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651573" y="4943179"/>
            <a:ext cx="1430105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-84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83278" y="4943179"/>
            <a:ext cx="1015488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-110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75640" y="5205984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3" name="Oval 92"/>
          <p:cNvSpPr/>
          <p:nvPr/>
        </p:nvSpPr>
        <p:spPr>
          <a:xfrm>
            <a:off x="675640" y="5250392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51230" y="5205984"/>
            <a:ext cx="2599091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Situbondo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01121" y="5205984"/>
            <a:ext cx="948852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1.100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651573" y="5205984"/>
            <a:ext cx="1430105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-82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83278" y="5205984"/>
            <a:ext cx="1015488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-110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75640" y="5468789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9" name="Oval 98"/>
          <p:cNvSpPr/>
          <p:nvPr/>
        </p:nvSpPr>
        <p:spPr>
          <a:xfrm>
            <a:off x="675640" y="5513197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1230" y="5468789"/>
            <a:ext cx="2599091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Sleman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601121" y="5468789"/>
            <a:ext cx="948852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1.200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651573" y="5468789"/>
            <a:ext cx="1430105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-81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183278" y="5468789"/>
            <a:ext cx="1015488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-110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675640" y="573159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5" name="Oval 104"/>
          <p:cNvSpPr/>
          <p:nvPr/>
        </p:nvSpPr>
        <p:spPr>
          <a:xfrm>
            <a:off x="675640" y="5776002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51230" y="5731595"/>
            <a:ext cx="2599091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Semarang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601121" y="5731595"/>
            <a:ext cx="948852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1.400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651573" y="5731595"/>
            <a:ext cx="1430105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-78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183278" y="5731595"/>
            <a:ext cx="1015488" cy="2628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-120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564526" y="1282700"/>
            <a:ext cx="4078834" cy="4800600"/>
          </a:xfrm>
          <a:prstGeom prst="roundRect">
            <a:avLst>
              <a:gd name="adj" fmla="val 13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7564526" y="128270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564526" y="151130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7564526" y="1282700"/>
            <a:ext cx="4078834" cy="4800600"/>
          </a:xfrm>
          <a:prstGeom prst="roundRect">
            <a:avLst>
              <a:gd name="adj" fmla="val 133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691526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5" name="Picture 114" descr="ringkasan-FFFFFF-28e566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8676" y="1422400"/>
            <a:ext cx="177800" cy="177800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8072526" y="1282700"/>
            <a:ext cx="3316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Cara membaca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967116" y="1841500"/>
            <a:ext cx="166017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KAB/KOTA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678094" y="1841500"/>
            <a:ext cx="173666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JUN–OKT RERATA, JUTA M³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7691526" y="2052320"/>
            <a:ext cx="382483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20" name="Oval 119"/>
          <p:cNvSpPr/>
          <p:nvPr/>
        </p:nvSpPr>
        <p:spPr>
          <a:xfrm>
            <a:off x="7691526" y="20986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967116" y="2052320"/>
            <a:ext cx="166017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Surabaya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678094" y="2052320"/>
            <a:ext cx="17366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-36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7691526" y="23190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4" name="Oval 123"/>
          <p:cNvSpPr/>
          <p:nvPr/>
        </p:nvSpPr>
        <p:spPr>
          <a:xfrm>
            <a:off x="7691526" y="23653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967116" y="2319020"/>
            <a:ext cx="166017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Administrasi Jakarta Barat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678094" y="2319020"/>
            <a:ext cx="17366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-24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7691526" y="25857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8" name="Oval 127"/>
          <p:cNvSpPr/>
          <p:nvPr/>
        </p:nvSpPr>
        <p:spPr>
          <a:xfrm>
            <a:off x="7691526" y="26320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967116" y="2585720"/>
            <a:ext cx="166017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Situbondo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678094" y="2585720"/>
            <a:ext cx="17366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-23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7691526" y="28524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32" name="Oval 131"/>
          <p:cNvSpPr/>
          <p:nvPr/>
        </p:nvSpPr>
        <p:spPr>
          <a:xfrm>
            <a:off x="7691526" y="28987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967116" y="2852420"/>
            <a:ext cx="166017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Administrasi Jakarta Utara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678094" y="2852420"/>
            <a:ext cx="17366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-22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7691526" y="31191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36" name="Oval 135"/>
          <p:cNvSpPr/>
          <p:nvPr/>
        </p:nvSpPr>
        <p:spPr>
          <a:xfrm>
            <a:off x="7691526" y="31654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967116" y="3119120"/>
            <a:ext cx="166017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Jepara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678094" y="3119120"/>
            <a:ext cx="17366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-20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7691526" y="33858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40" name="Oval 139"/>
          <p:cNvSpPr/>
          <p:nvPr/>
        </p:nvSpPr>
        <p:spPr>
          <a:xfrm>
            <a:off x="7691526" y="34321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967116" y="3385820"/>
            <a:ext cx="166017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Kab. Rembang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678094" y="3385820"/>
            <a:ext cx="17366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-15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7691526" y="36525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44" name="Oval 143"/>
          <p:cNvSpPr/>
          <p:nvPr/>
        </p:nvSpPr>
        <p:spPr>
          <a:xfrm>
            <a:off x="7691526" y="36988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967116" y="3652520"/>
            <a:ext cx="166017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Administrasi Jakarta Timur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678094" y="3652520"/>
            <a:ext cx="17366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-12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7691526" y="39192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48" name="Oval 147"/>
          <p:cNvSpPr/>
          <p:nvPr/>
        </p:nvSpPr>
        <p:spPr>
          <a:xfrm>
            <a:off x="7691526" y="39655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967116" y="3919220"/>
            <a:ext cx="166017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Probolinggo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678094" y="3919220"/>
            <a:ext cx="17366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-9,8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7691526" y="41859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52" name="Oval 151"/>
          <p:cNvSpPr/>
          <p:nvPr/>
        </p:nvSpPr>
        <p:spPr>
          <a:xfrm>
            <a:off x="7691526" y="42322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9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967116" y="4185920"/>
            <a:ext cx="166017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Administrasi Jakarta Pusat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678094" y="4185920"/>
            <a:ext cx="17366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-9,0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7691526" y="44526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56" name="Oval 155"/>
          <p:cNvSpPr/>
          <p:nvPr/>
        </p:nvSpPr>
        <p:spPr>
          <a:xfrm>
            <a:off x="7691526" y="44989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967116" y="4452620"/>
            <a:ext cx="166017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Administrasi Jakarta Selatan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678094" y="4452620"/>
            <a:ext cx="17366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-7,4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691526" y="4846320"/>
            <a:ext cx="3824834" cy="1148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 marL="76081" indent="-76081"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Neraca tahunan positif besar: kekurangan muncul saat irigasi bertemu aliran rendah.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Neraca memuat air lewat dari hulu dan tidak boleh dijumlahkan antar-kab/kota.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Tanpa data industri di Jawa Timur: kekurangannya batas bawah.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Lima belas terdalam semuanya kabupaten, tujuh di Jawa Timur.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Kab/kota yang sama muncul lagi di daftar iklim 1997.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Volume per kab/kota belum dipakai untuk menghitung tangki atau embung.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Pengolahan data Pantau Bencana, model neraca air kajian ini; indikasi urutan, estimasi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B3. Iklim 1997 membuat neraca Juni–Oktober negatif di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99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kab/kota, dibanding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16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pada iklim rerata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27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176067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RASIO KEMARAU</a:t>
            </a:r>
          </a:p>
        </p:txBody>
      </p:sp>
      <p:pic>
        <p:nvPicPr>
          <p:cNvPr id="11" name="Picture 10" descr="kekeringan-FFFFFF-bd7fcb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5391912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kekeringan-051C2C-bd7fcb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477088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sekitar 140%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4770882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konsumtif/limpasan, iklim 2015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1720" y="1593850"/>
            <a:ext cx="5391912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50940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kekeringan-051C2C-bd7fcb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140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53530" y="1630680"/>
            <a:ext cx="477088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sekitar 160%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3530" y="1896110"/>
            <a:ext cx="4770882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konsumtif/limpasan, iklim 2019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kalender-FFFFFF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56640" y="2346960"/>
            <a:ext cx="611672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Kab/kota dengan neraca Juni–Oktober negatif per skenario iklim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5640" y="2905760"/>
            <a:ext cx="3974836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lang="id-ID">
                <a:solidFill>
                  <a:srgbClr val="1A1A1A"/>
                </a:solidFill>
                <a:latin typeface="Roboto"/>
              </a:rPr>
              <a:t>Kab/kota negatif</a:t>
            </a:r>
            <a:r>
              <a:rPr sz="1000" b="0" lang="id-ID">
                <a:solidFill>
                  <a:srgbClr val="1A1A1A"/>
                </a:solidFill>
                <a:latin typeface="Roboto"/>
              </a:rPr>
              <a:t>, iklim 1991–2025 dan tahun kering</a:t>
            </a:r>
          </a:p>
        </p:txBody>
      </p:sp>
      <p:sp>
        <p:nvSpPr>
          <p:cNvPr id="30" name="Round Same Side Corner Rectangle 29"/>
          <p:cNvSpPr/>
          <p:nvPr/>
        </p:nvSpPr>
        <p:spPr>
          <a:xfrm>
            <a:off x="927380" y="5320505"/>
            <a:ext cx="821466" cy="394495"/>
          </a:xfrm>
          <a:prstGeom prst="round2SameRect">
            <a:avLst>
              <a:gd name="adj1" fmla="val 45811"/>
              <a:gd name="adj2" fmla="val 0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640" y="5168105"/>
            <a:ext cx="1324945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sekitar 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640" y="5740400"/>
            <a:ext cx="1324945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Rerata 1991–2025</a:t>
            </a:r>
          </a:p>
        </p:txBody>
      </p:sp>
      <p:sp>
        <p:nvSpPr>
          <p:cNvPr id="33" name="Round Same Side Corner Rectangle 32"/>
          <p:cNvSpPr/>
          <p:nvPr/>
        </p:nvSpPr>
        <p:spPr>
          <a:xfrm>
            <a:off x="2252325" y="3274060"/>
            <a:ext cx="821466" cy="244094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CC7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00585" y="3121660"/>
            <a:ext cx="1324945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sekitar 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00585" y="5740400"/>
            <a:ext cx="1324945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1997</a:t>
            </a:r>
          </a:p>
        </p:txBody>
      </p:sp>
      <p:sp>
        <p:nvSpPr>
          <p:cNvPr id="36" name="Round Same Side Corner Rectangle 35"/>
          <p:cNvSpPr/>
          <p:nvPr/>
        </p:nvSpPr>
        <p:spPr>
          <a:xfrm>
            <a:off x="3577270" y="4161675"/>
            <a:ext cx="821466" cy="1553325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08A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25531" y="4009275"/>
            <a:ext cx="1324945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sekitar 63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25531" y="5740400"/>
            <a:ext cx="1324945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2015</a:t>
            </a:r>
          </a:p>
        </p:txBody>
      </p:sp>
      <p:sp>
        <p:nvSpPr>
          <p:cNvPr id="39" name="Round Same Side Corner Rectangle 38"/>
          <p:cNvSpPr/>
          <p:nvPr/>
        </p:nvSpPr>
        <p:spPr>
          <a:xfrm>
            <a:off x="4902215" y="3890459"/>
            <a:ext cx="821466" cy="1824541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08A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50476" y="3738059"/>
            <a:ext cx="1324945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sekitar 74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50476" y="5740400"/>
            <a:ext cx="1324945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2019</a:t>
            </a:r>
          </a:p>
        </p:txBody>
      </p:sp>
      <p:sp>
        <p:nvSpPr>
          <p:cNvPr id="42" name="Round Same Side Corner Rectangle 41"/>
          <p:cNvSpPr/>
          <p:nvPr/>
        </p:nvSpPr>
        <p:spPr>
          <a:xfrm>
            <a:off x="6227161" y="4556170"/>
            <a:ext cx="821466" cy="115883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08A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75421" y="4403770"/>
            <a:ext cx="1324945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sekitar 47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75421" y="5740400"/>
            <a:ext cx="1324945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2023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75640" y="5715000"/>
            <a:ext cx="6624726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46" name="Rounded Rectangle 45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1" name="Picture 50" descr="ringkasan-FFFFFF-28e566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072526" y="2346960"/>
            <a:ext cx="3316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Arah bias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67116" y="2905760"/>
            <a:ext cx="147913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SUNGAI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97050" y="2905760"/>
            <a:ext cx="90805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RASIO 1997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06705" y="2905760"/>
            <a:ext cx="90805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RASIO 2019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691526" y="3116580"/>
            <a:ext cx="382483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7691526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67116" y="3116580"/>
            <a:ext cx="147913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Bengawan Solo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7050" y="3116580"/>
            <a:ext cx="90805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06705" y="3116580"/>
            <a:ext cx="90805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1,8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691526" y="33832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2" name="Oval 61"/>
          <p:cNvSpPr/>
          <p:nvPr/>
        </p:nvSpPr>
        <p:spPr>
          <a:xfrm>
            <a:off x="7691526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67116" y="3383280"/>
            <a:ext cx="147913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Brantas (Porong)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7050" y="3383280"/>
            <a:ext cx="90805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06705" y="3383280"/>
            <a:ext cx="90805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0,13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691526" y="36499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7" name="Oval 66"/>
          <p:cNvSpPr/>
          <p:nvPr/>
        </p:nvSpPr>
        <p:spPr>
          <a:xfrm>
            <a:off x="7691526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67116" y="3649980"/>
            <a:ext cx="147913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Citarum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97050" y="3649980"/>
            <a:ext cx="90805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1,3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06705" y="3649980"/>
            <a:ext cx="90805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1,7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691526" y="39166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2" name="Oval 71"/>
          <p:cNvSpPr/>
          <p:nvPr/>
        </p:nvSpPr>
        <p:spPr>
          <a:xfrm>
            <a:off x="7691526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67116" y="3916680"/>
            <a:ext cx="147913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Citanduy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97050" y="3916680"/>
            <a:ext cx="90805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0,41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06705" y="3916680"/>
            <a:ext cx="90805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1,6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691526" y="41833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Oval 76"/>
          <p:cNvSpPr/>
          <p:nvPr/>
        </p:nvSpPr>
        <p:spPr>
          <a:xfrm>
            <a:off x="7691526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67116" y="4183380"/>
            <a:ext cx="147913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Serayu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97050" y="4183380"/>
            <a:ext cx="90805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0,24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06705" y="4183380"/>
            <a:ext cx="90805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1,2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691526" y="44500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2" name="Oval 81"/>
          <p:cNvSpPr/>
          <p:nvPr/>
        </p:nvSpPr>
        <p:spPr>
          <a:xfrm>
            <a:off x="7691526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967116" y="4450080"/>
            <a:ext cx="147913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Cimanuk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497050" y="4450080"/>
            <a:ext cx="90805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0,73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06705" y="4450080"/>
            <a:ext cx="90805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4,6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91526" y="4843780"/>
            <a:ext cx="3824834" cy="1150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 marL="76081" indent="-76081"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Iklim 1997: model memadamkan aliran di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5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dari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12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muara, kekurangan dilebih-lebihkan.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Iklim 2019: aliran Jratunseluna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sekitar 8,5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kali GloFAS, kekurangan terhitung terlalu kecil.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Angka tahun kering tidak menjadi batas atas atau batas bawah.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Median rasio Juni–Oktober model/GloFAS: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sekitar 0,25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pada 1997,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sekitar 1,6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pada 2023.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Konsumtif naik di tahun kering karena hujan efektif padi berkurang.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Skenario dipakai memilih wilayah rencana kontinjensi.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Pengolahan data Pantau Bencana, model neraca air kajian ini; GloFAS; estimasi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B4. Cara daya dukung Permen LH menandai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83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kab/kota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defisit;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81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di antaranya punya neraca tahunan positif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27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46728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BUKAN STATUS RESMI</a:t>
            </a:r>
          </a:p>
        </p:txBody>
      </p:sp>
      <p:pic>
        <p:nvPicPr>
          <p:cNvPr id="11" name="Picture 10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5391912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wilayah-051C2C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477088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4770882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defisit gaya Permen LH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1720" y="1593850"/>
            <a:ext cx="5391912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50940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jiwa-051C2C-9b7037f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140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53530" y="1630680"/>
            <a:ext cx="477088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sekitar 110 juta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3530" y="1896110"/>
            <a:ext cx="4770882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di kab/kota itu</a:t>
            </a:r>
          </a:p>
        </p:txBody>
      </p:sp>
      <p:pic>
        <p:nvPicPr>
          <p:cNvPr id="22" name="Picture 21" descr="peta-dd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731764"/>
            <a:ext cx="6741566" cy="257303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09843" y="5380996"/>
            <a:ext cx="2011279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>
                <a:solidFill>
                  <a:srgbClr val="1A1A1A"/>
                </a:solidFill>
                <a:latin typeface="Roboto"/>
              </a:rPr>
              <a:t>Ketersediaan/kebutuhan, di bawah satu defisit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8122" y="5419096"/>
            <a:ext cx="101600" cy="101600"/>
          </a:xfrm>
          <a:prstGeom prst="rect">
            <a:avLst/>
          </a:prstGeom>
          <a:solidFill>
            <a:srgbClr val="DCEBF8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00522" y="5380996"/>
            <a:ext cx="25296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≤0,25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80490" y="5419096"/>
            <a:ext cx="101600" cy="101600"/>
          </a:xfrm>
          <a:prstGeom prst="rect">
            <a:avLst/>
          </a:prstGeom>
          <a:solidFill>
            <a:srgbClr val="A4CAEE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2890" y="5380996"/>
            <a:ext cx="392726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0,25–0,5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52616" y="5419096"/>
            <a:ext cx="101600" cy="101600"/>
          </a:xfrm>
          <a:prstGeom prst="rect">
            <a:avLst/>
          </a:prstGeom>
          <a:solidFill>
            <a:srgbClr val="68A8E0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05016" y="5380996"/>
            <a:ext cx="26706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0,5–1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99076" y="5419096"/>
            <a:ext cx="101600" cy="101600"/>
          </a:xfrm>
          <a:prstGeom prst="rect">
            <a:avLst/>
          </a:prstGeom>
          <a:solidFill>
            <a:srgbClr val="2F86D1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51476" y="5380996"/>
            <a:ext cx="19487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1–2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73354" y="5419096"/>
            <a:ext cx="101600" cy="101600"/>
          </a:xfrm>
          <a:prstGeom prst="rect">
            <a:avLst/>
          </a:prstGeom>
          <a:solidFill>
            <a:srgbClr val="1B5A93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5754" y="5380996"/>
            <a:ext cx="12865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&gt;2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558796"/>
            <a:ext cx="6741566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Sumber batas: public/geo Pantau Bencana (asal belum terdokumentasi); WGS84 geografis; Ekuirektangular; Batas wilayah bukan rujukan resmi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27366" y="2346960"/>
            <a:ext cx="421599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27366" y="2575560"/>
            <a:ext cx="421599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55436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ringkasan-FFFFFF-28e566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1516" y="2486660"/>
            <a:ext cx="177800" cy="177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935366" y="2346960"/>
            <a:ext cx="345399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Mengapa berbeda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9956" y="2905760"/>
            <a:ext cx="166017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KAB/KOTA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40934" y="2905760"/>
            <a:ext cx="187382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KETERSEDIAAN/KEBUTUHAN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554366" y="3116580"/>
            <a:ext cx="396199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7554366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29956" y="3116580"/>
            <a:ext cx="166017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Administrasi Jakarta Pusat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40934" y="3116580"/>
            <a:ext cx="187382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0,020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554366" y="33832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9" name="Oval 48"/>
          <p:cNvSpPr/>
          <p:nvPr/>
        </p:nvSpPr>
        <p:spPr>
          <a:xfrm>
            <a:off x="7554366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29956" y="3383280"/>
            <a:ext cx="166017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Administrasi Jakarta Barat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40934" y="3383280"/>
            <a:ext cx="187382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0,020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554366" y="36499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3" name="Oval 52"/>
          <p:cNvSpPr/>
          <p:nvPr/>
        </p:nvSpPr>
        <p:spPr>
          <a:xfrm>
            <a:off x="7554366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29956" y="3649980"/>
            <a:ext cx="166017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Administrasi Jakarta Utara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40934" y="3649980"/>
            <a:ext cx="187382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0,030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554366" y="39166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7554366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29956" y="3916680"/>
            <a:ext cx="166017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Administrasi Jakarta Selatan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40934" y="3916680"/>
            <a:ext cx="187382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0,040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554366" y="41833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1" name="Oval 60"/>
          <p:cNvSpPr/>
          <p:nvPr/>
        </p:nvSpPr>
        <p:spPr>
          <a:xfrm>
            <a:off x="7554366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29956" y="4183380"/>
            <a:ext cx="166017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Administrasi Jakarta Timur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40934" y="4183380"/>
            <a:ext cx="187382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0,040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554366" y="44500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Oval 64"/>
          <p:cNvSpPr/>
          <p:nvPr/>
        </p:nvSpPr>
        <p:spPr>
          <a:xfrm>
            <a:off x="7554366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29956" y="4450080"/>
            <a:ext cx="166017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Kota Tangerang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40934" y="4450080"/>
            <a:ext cx="187382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0,040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54366" y="4843780"/>
            <a:ext cx="3961994" cy="1150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 marL="76081" indent="-76081"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Ketersediaan = limpasan lokal model, tanpa air kiriman hulu.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Kebutuhan = penduduk kali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1.600 m³ per kapita per tahun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, jauh di atas kebutuhan sektor.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Status resmi daerah memakai koefisien limpasan dan hujan tahunan.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Peraturan tidak menetapkan ambang rasio; status hanya surplus atau defisit.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Neraca tahunan kajian ini negatif hanya di dua kota pantai kecil.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Kajian ini tidak menetapkan status daya dukung daerah.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Pengolahan data Pantau Bencana, model neraca air kajian ini; Permen LH 17/2009; bukan status resmi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C1. Aliran tahunan model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0,69–1,31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kali GloFAS di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12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muara;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median Juni–Oktober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sekitar 1,3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kali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27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392407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PEMBANDING MODEL</a:t>
            </a:r>
          </a:p>
        </p:txBody>
      </p:sp>
      <p:pic>
        <p:nvPicPr>
          <p:cNvPr id="11" name="Picture 10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data-051C2C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sekitar 1,0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median rasio tahunan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data-051C2C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sekitar 0,85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median korelasi bulanan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kekeringan-D9600B-bd7fcb5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D9600B"/>
                </a:solidFill>
                <a:latin typeface="Roboto"/>
              </a:rPr>
              <a:t>sekitar 1,3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median rasio Juni–Oktober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air-baku-FFFFFF-271d6c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56640" y="2346960"/>
            <a:ext cx="611672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Debit model dibanding GloFAS per muara, 1991–2024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640" y="2905760"/>
            <a:ext cx="259909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SUNGAI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25531" y="2905760"/>
            <a:ext cx="175400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RASIO TAHUNAN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1136" y="2905760"/>
            <a:ext cx="201763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RASIO JUNI–OKTOBER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675640" y="3116580"/>
            <a:ext cx="2599091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Bengawan Solo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25531" y="3116580"/>
            <a:ext cx="1754006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0,90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1136" y="3116580"/>
            <a:ext cx="2017630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1,0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5640" y="335639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675640" y="3356398"/>
            <a:ext cx="2599091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Brantas (Porong)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25531" y="3356398"/>
            <a:ext cx="1754006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0,69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81136" y="3356398"/>
            <a:ext cx="2017630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0,55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75640" y="359621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675640" y="3596217"/>
            <a:ext cx="2599091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Citarum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25531" y="3596217"/>
            <a:ext cx="1754006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0,93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81136" y="3596217"/>
            <a:ext cx="2017630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1,3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75640" y="383603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75640" y="3836035"/>
            <a:ext cx="2599091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Citanduy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25531" y="3836035"/>
            <a:ext cx="1754006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1,0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81136" y="3836035"/>
            <a:ext cx="2017630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1,7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75640" y="407585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675640" y="4075853"/>
            <a:ext cx="2599091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Serayu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25531" y="4075853"/>
            <a:ext cx="1754006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1,1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81136" y="4075853"/>
            <a:ext cx="2017630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1,2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75640" y="431567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675640" y="4315672"/>
            <a:ext cx="2599091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Cimanuk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5531" y="4315672"/>
            <a:ext cx="1754006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0,98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81136" y="4315672"/>
            <a:ext cx="2017630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1,4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75640" y="455549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675640" y="4555490"/>
            <a:ext cx="2599091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Jratunseluna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25531" y="4555490"/>
            <a:ext cx="1754006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1,0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81136" y="4555490"/>
            <a:ext cx="2017630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2,2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75640" y="479530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6" name="TextBox 65"/>
          <p:cNvSpPr txBox="1"/>
          <p:nvPr/>
        </p:nvSpPr>
        <p:spPr>
          <a:xfrm>
            <a:off x="675640" y="4795308"/>
            <a:ext cx="2599091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Progo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25531" y="4795308"/>
            <a:ext cx="1754006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0,78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81136" y="4795308"/>
            <a:ext cx="2017630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0,66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75640" y="503512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675640" y="5035127"/>
            <a:ext cx="2599091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Ciujung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25531" y="5035127"/>
            <a:ext cx="1754006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0,96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81136" y="5035127"/>
            <a:ext cx="2017630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1,5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75640" y="527494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4" name="TextBox 73"/>
          <p:cNvSpPr txBox="1"/>
          <p:nvPr/>
        </p:nvSpPr>
        <p:spPr>
          <a:xfrm>
            <a:off x="675640" y="5274945"/>
            <a:ext cx="2599091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Cisadane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25531" y="5274945"/>
            <a:ext cx="1754006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1,3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81136" y="5274945"/>
            <a:ext cx="2017630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1,8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75640" y="551476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8" name="TextBox 77"/>
          <p:cNvSpPr txBox="1"/>
          <p:nvPr/>
        </p:nvSpPr>
        <p:spPr>
          <a:xfrm>
            <a:off x="675640" y="5514763"/>
            <a:ext cx="2599091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Pemali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25531" y="5514763"/>
            <a:ext cx="1754006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1,2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81136" y="5514763"/>
            <a:ext cx="2017630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1,4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675640" y="575458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2" name="TextBox 81"/>
          <p:cNvSpPr txBox="1"/>
          <p:nvPr/>
        </p:nvSpPr>
        <p:spPr>
          <a:xfrm>
            <a:off x="675640" y="5754582"/>
            <a:ext cx="2599091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Opak-Oyo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25531" y="5754582"/>
            <a:ext cx="1754006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1,0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81136" y="5754582"/>
            <a:ext cx="2017630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0,86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0" name="Picture 89" descr="ringkasan-FFFFFF-28e566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8072526" y="2346960"/>
            <a:ext cx="3316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Batas validasi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967116" y="2905760"/>
            <a:ext cx="147913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SUNGAI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497050" y="2905760"/>
            <a:ext cx="191771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KORELASI BULANAN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7691526" y="3116580"/>
            <a:ext cx="382483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95" name="Oval 94"/>
          <p:cNvSpPr/>
          <p:nvPr/>
        </p:nvSpPr>
        <p:spPr>
          <a:xfrm>
            <a:off x="7691526" y="315364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967116" y="3116580"/>
            <a:ext cx="1479133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Citarum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497050" y="3116580"/>
            <a:ext cx="1917710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0,61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7691526" y="3364702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9" name="Oval 98"/>
          <p:cNvSpPr/>
          <p:nvPr/>
        </p:nvSpPr>
        <p:spPr>
          <a:xfrm>
            <a:off x="7691526" y="3401768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967116" y="3364702"/>
            <a:ext cx="1479133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Ciujung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497050" y="3364702"/>
            <a:ext cx="1917710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0,63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7691526" y="3612823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3" name="Oval 102"/>
          <p:cNvSpPr/>
          <p:nvPr/>
        </p:nvSpPr>
        <p:spPr>
          <a:xfrm>
            <a:off x="7691526" y="364988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967116" y="3612823"/>
            <a:ext cx="1479133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Cisadane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497050" y="3612823"/>
            <a:ext cx="1917710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0,72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7691526" y="3860945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7" name="Oval 106"/>
          <p:cNvSpPr/>
          <p:nvPr/>
        </p:nvSpPr>
        <p:spPr>
          <a:xfrm>
            <a:off x="7691526" y="389801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67116" y="3860945"/>
            <a:ext cx="1479133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Citanduy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97050" y="3860945"/>
            <a:ext cx="1917710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0,82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7691526" y="4109067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1" name="Oval 110"/>
          <p:cNvSpPr/>
          <p:nvPr/>
        </p:nvSpPr>
        <p:spPr>
          <a:xfrm>
            <a:off x="7691526" y="414613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67116" y="4109067"/>
            <a:ext cx="1479133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Jratunseluna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97050" y="4109067"/>
            <a:ext cx="1917710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0,83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7691526" y="4357189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5" name="Oval 114"/>
          <p:cNvSpPr/>
          <p:nvPr/>
        </p:nvSpPr>
        <p:spPr>
          <a:xfrm>
            <a:off x="7691526" y="439425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67116" y="4357189"/>
            <a:ext cx="1479133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Cimanuk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497050" y="4357189"/>
            <a:ext cx="1917710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0,84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7691526" y="460531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9" name="Oval 118"/>
          <p:cNvSpPr/>
          <p:nvPr/>
        </p:nvSpPr>
        <p:spPr>
          <a:xfrm>
            <a:off x="7691526" y="464237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967116" y="4605310"/>
            <a:ext cx="1479133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Brantas (Porong)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497050" y="4605310"/>
            <a:ext cx="1917710" cy="2481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sekitar 0,86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91526" y="4980432"/>
            <a:ext cx="3824834" cy="10139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 marL="76081" indent="-76081"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Kalibrasi dan validasi memakai GloFAS yang sama: uji dalam sampel.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GloFAS dan BPS 2020 sama-sama model; belum ada pos duga air.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Ambang rasio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0,80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–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1,25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dipenuhi tahunan, tidak dipenuhi kemarau.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Limpasan total selisih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sekitar 5,9%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dari BPS 2020; tahun 2020 saja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sekitar 16,9%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Kab/kota neraca kemarau negatif lebih jarang tercatat kekeringan di DIBI: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68%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 lawan </a:t>
            </a:r>
            <a:r>
              <a:rPr sz="720" b="1" lang="id-ID">
                <a:solidFill>
                  <a:srgbClr val="1A1A1A"/>
                </a:solidFill>
                <a:latin typeface="Roboto"/>
              </a:rPr>
              <a:t>94%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Korelasi bulanan terendah di Citarum, sungai dengan tiga waduk besar berurutan.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Pengolahan data Pantau Bencana; GloFAS Copernicus lewat Open-Meteo; BPS 2020; estimasi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C2. Kebutuhan industri kosong di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44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kab/kota dan lima dari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enam tampungan waduk bersumber sekunder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27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132794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CAKUPAN DATA</a:t>
            </a:r>
          </a:p>
        </p:txBody>
      </p:sp>
      <p:pic>
        <p:nvPicPr>
          <p:cNvPr id="11" name="Picture 10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5391912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data-051C2C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477088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4770882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tanpa data industri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1720" y="1593850"/>
            <a:ext cx="5391912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50940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bendungan-051C2C-45c287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140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53530" y="1630680"/>
            <a:ext cx="477088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3530" y="1896110"/>
            <a:ext cx="4770882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hilir waduk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DF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D9600B"/>
                </a:solidFill>
                <a:latin typeface="Roboto"/>
              </a:rPr>
              <a:t>PERMINTAAN DATA YANG DIUSULKAN</a:t>
            </a:r>
          </a:p>
        </p:txBody>
      </p:sp>
      <p:sp>
        <p:nvSpPr>
          <p:cNvPr id="24" name="Oval 23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air-baku-FFFFFF-271d6c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Pos duga BBWS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720" b="0" lang="id-ID">
                <a:solidFill>
                  <a:srgbClr val="2E3440"/>
                </a:solidFill>
                <a:latin typeface="Roboto"/>
              </a:rPr>
              <a:t>Debit bulanan dua belas muara dan titik batas kab/kota.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F4C3A0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bendungan-FFFFFF-45c2877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Operasi waduk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720" b="0" lang="id-ID">
                <a:solidFill>
                  <a:srgbClr val="2E3440"/>
                </a:solidFill>
                <a:latin typeface="Roboto"/>
              </a:rPr>
              <a:t>Tampungan efektif dan pelepasan bulanan enam waduk.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F4C3A0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Air industri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720" b="0" lang="id-ID">
                <a:solidFill>
                  <a:srgbClr val="2E3440"/>
                </a:solidFill>
                <a:latin typeface="Roboto"/>
              </a:rPr>
              <a:t>Tenaga kerja atau pengambilan air per kab/kota Jatim dan DIY.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56640" y="2346960"/>
            <a:ext cx="611672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Celah data dan pemegangnya, dengan akibat pada angka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640" y="2905760"/>
            <a:ext cx="21574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CELAH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3882" y="2905760"/>
            <a:ext cx="21574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PEMEGANG DATA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92124" y="2905760"/>
            <a:ext cx="21574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AKIBAT PADA ANGKA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675640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Debit pos duga air bulanan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3882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2E3440"/>
                </a:solidFill>
                <a:latin typeface="Roboto"/>
              </a:rPr>
              <a:t>Kementerian PU (BBWS)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92124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2E3440"/>
                </a:solidFill>
                <a:latin typeface="Roboto"/>
              </a:rPr>
              <a:t>Aliran kemarau belum terukur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5640" y="33832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675640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Operasi waduk besar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83882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2E3440"/>
                </a:solidFill>
                <a:latin typeface="Roboto"/>
              </a:rPr>
              <a:t>Kementerian PU, pengelola waduk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92124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2E3440"/>
                </a:solidFill>
                <a:latin typeface="Roboto"/>
              </a:rPr>
              <a:t>Hilir waduk memakai pelepasan rata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75640" y="36499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675640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industri per kab/kota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83882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2E3440"/>
                </a:solidFill>
                <a:latin typeface="Roboto"/>
              </a:rPr>
              <a:t>BPS, Kementerian Perindustrian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92124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2E3440"/>
                </a:solidFill>
                <a:latin typeface="Roboto"/>
              </a:rPr>
              <a:t>Jatim dan DIY batas bawah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75640" y="39166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675640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Luas tanam per musim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83882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2E3440"/>
                </a:solidFill>
                <a:latin typeface="Roboto"/>
              </a:rPr>
              <a:t>Kementerian PU, Kementerian Pertanian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92124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2E3440"/>
                </a:solidFill>
                <a:latin typeface="Roboto"/>
              </a:rPr>
              <a:t>Irigasi dihitung potensial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75640" y="41833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675640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Penyaluran air darurat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83882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2E3440"/>
                </a:solidFill>
                <a:latin typeface="Roboto"/>
              </a:rPr>
              <a:t>BPBD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92124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2E3440"/>
                </a:solidFill>
                <a:latin typeface="Roboto"/>
              </a:rPr>
              <a:t>Peringkat belum dicocokkan lapangan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75640" y="44500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9" name="TextBox 68"/>
          <p:cNvSpPr txBox="1"/>
          <p:nvPr/>
        </p:nvSpPr>
        <p:spPr>
          <a:xfrm>
            <a:off x="675640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baku perpipaan dan air tanah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83882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2E3440"/>
                </a:solidFill>
                <a:latin typeface="Roboto"/>
              </a:rPr>
              <a:t>Kementerian PU, Kementerian ESDM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92124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2E3440"/>
                </a:solidFill>
                <a:latin typeface="Roboto"/>
              </a:rPr>
              <a:t>Kota tampak defisit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75640" y="47167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3" name="TextBox 72"/>
          <p:cNvSpPr txBox="1"/>
          <p:nvPr/>
        </p:nvSpPr>
        <p:spPr>
          <a:xfrm>
            <a:off x="675640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Teks SNI 2015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83882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2E3440"/>
                </a:solidFill>
                <a:latin typeface="Roboto"/>
              </a:rPr>
              <a:t>BSN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92124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2E3440"/>
                </a:solidFill>
                <a:latin typeface="Roboto"/>
              </a:rPr>
              <a:t>Koefisien memakai SNI 2002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1" name="Picture 80" descr="ringkasan-FFFFFF-28e5662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8072526" y="2346960"/>
            <a:ext cx="3316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Pemakaian sekarang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967116" y="2905760"/>
            <a:ext cx="172382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WADUK ATAU TRANSFER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41738" y="2905760"/>
            <a:ext cx="172382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50" b="1" lang="id-ID" spc="80">
                <a:solidFill>
                  <a:srgbClr val="6B7280"/>
                </a:solidFill>
                <a:latin typeface="Roboto"/>
              </a:rPr>
              <a:t>LABEL SUMBER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7691526" y="3116580"/>
            <a:ext cx="382483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86" name="Oval 85"/>
          <p:cNvSpPr/>
          <p:nvPr/>
        </p:nvSpPr>
        <p:spPr>
          <a:xfrm>
            <a:off x="7691526" y="3135630"/>
            <a:ext cx="117246" cy="11724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67116" y="3116580"/>
            <a:ext cx="1723822" cy="15534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Saguling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41738" y="3116580"/>
            <a:ext cx="1723822" cy="15534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2E3440"/>
                </a:solidFill>
                <a:latin typeface="Roboto"/>
              </a:rPr>
              <a:t>asumsi-kebijakan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691526" y="3271926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0" name="Oval 89"/>
          <p:cNvSpPr/>
          <p:nvPr/>
        </p:nvSpPr>
        <p:spPr>
          <a:xfrm>
            <a:off x="7691526" y="3290976"/>
            <a:ext cx="117246" cy="11724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967116" y="3271926"/>
            <a:ext cx="1723822" cy="15534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Cirata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41738" y="3271926"/>
            <a:ext cx="1723822" cy="15534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2E3440"/>
                </a:solidFill>
                <a:latin typeface="Roboto"/>
              </a:rPr>
              <a:t>asumsi-kebijakan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7691526" y="3427273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4" name="Oval 93"/>
          <p:cNvSpPr/>
          <p:nvPr/>
        </p:nvSpPr>
        <p:spPr>
          <a:xfrm>
            <a:off x="7691526" y="3446323"/>
            <a:ext cx="117246" cy="11724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967116" y="3427273"/>
            <a:ext cx="1723822" cy="15534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Jatiluhur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741738" y="3427273"/>
            <a:ext cx="1723822" cy="15534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2E3440"/>
                </a:solidFill>
                <a:latin typeface="Roboto"/>
              </a:rPr>
              <a:t>asumsi-kebijakan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7691526" y="3582619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8" name="Oval 97"/>
          <p:cNvSpPr/>
          <p:nvPr/>
        </p:nvSpPr>
        <p:spPr>
          <a:xfrm>
            <a:off x="7691526" y="3601669"/>
            <a:ext cx="117246" cy="11724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967116" y="3582619"/>
            <a:ext cx="1723822" cy="15534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Kedung Ombo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741738" y="3582619"/>
            <a:ext cx="1723822" cy="15534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2E3440"/>
                </a:solidFill>
                <a:latin typeface="Roboto"/>
              </a:rPr>
              <a:t>resmi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7691526" y="3737966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2" name="Oval 101"/>
          <p:cNvSpPr/>
          <p:nvPr/>
        </p:nvSpPr>
        <p:spPr>
          <a:xfrm>
            <a:off x="7691526" y="3757016"/>
            <a:ext cx="117246" cy="11724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967116" y="3737966"/>
            <a:ext cx="1723822" cy="15534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Gajah Mungkur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741738" y="3737966"/>
            <a:ext cx="1723822" cy="15534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2E3440"/>
                </a:solidFill>
                <a:latin typeface="Roboto"/>
              </a:rPr>
              <a:t>asumsi-kebijakan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691526" y="4020312"/>
            <a:ext cx="3824834" cy="10139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 marL="76081" indent="-76081"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Peringkat dipakai sebagai urutan pemeriksaan; volume kekurangan belum dipakai.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Tiap data yang diterima menaikkan label satu bagian model.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Model dan uji konservasi massanya bisa dijalankan ulang.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Industri hanya besar-sedang; mikro-kecil tidak termasuk.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Hanya Kedung Ombo dan Tarum Barat yang bersumber resmi.</a:t>
            </a:r>
          </a:p>
          <a:p>
            <a:pPr algn="just" marL="76081" indent="-76081">
              <a:spcBef>
                <a:spcPts val="360"/>
              </a:spcBef>
              <a:buClr>
                <a:srgbClr val="6B7280"/>
              </a:buClr>
              <a:buFont typeface="Roboto"/>
              <a:buChar char="•"/>
            </a:pPr>
            <a:r>
              <a:rPr sz="720" b="0" lang="id-ID">
                <a:solidFill>
                  <a:srgbClr val="1A1A1A"/>
                </a:solidFill>
                <a:latin typeface="Roboto"/>
              </a:rPr>
              <a:t>Model dan uji konservasi massanya bisa dijalankan ulang begitu data baru diterima.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Analisis kajian ini; BPS; tabel waduk kajian ini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Rekomendasi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100 hari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dan peta jalan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2026–2027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: langkah,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rincian, penanggung jawab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27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548640" y="177800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853946"/>
            <a:ext cx="178308" cy="1783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3140" y="172847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Pakai peringkat kemarau sebagai daftar periksa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3140" y="1963420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7" name="Picture 1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994789"/>
            <a:ext cx="102362" cy="10236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661327" y="1963420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9898" y="1485900"/>
            <a:ext cx="4320235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BPBD di kab/kota dengan neraca kemarau andalan negatif memeriksa sumber air darurat sebelum Juni 2027.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58733" y="1860550"/>
            <a:ext cx="99906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Dir. Kesiapsiagaan</a:t>
            </a:r>
          </a:p>
        </p:txBody>
      </p:sp>
      <p:pic>
        <p:nvPicPr>
          <p:cNvPr id="21" name="Picture 2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891919"/>
            <a:ext cx="102362" cy="102362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808594" y="1860550"/>
            <a:ext cx="104434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Dir. PD Wilayah I–III</a:t>
            </a:r>
          </a:p>
        </p:txBody>
      </p:sp>
      <p:pic>
        <p:nvPicPr>
          <p:cNvPr id="23" name="Picture 2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1144" y="1891919"/>
            <a:ext cx="102362" cy="10236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10903739" y="1860550"/>
            <a:ext cx="52598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</a:t>
            </a:r>
          </a:p>
        </p:txBody>
      </p:sp>
      <p:pic>
        <p:nvPicPr>
          <p:cNvPr id="25" name="Picture 2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6289" y="1891919"/>
            <a:ext cx="102362" cy="102362"/>
          </a:xfrm>
          <a:prstGeom prst="rect">
            <a:avLst/>
          </a:prstGeom>
        </p:spPr>
      </p:pic>
      <p:cxnSp>
        <p:nvCxnSpPr>
          <p:cNvPr id="26" name="Connector 25"/>
          <p:cNvCxnSpPr/>
          <p:nvPr/>
        </p:nvCxnSpPr>
        <p:spPr>
          <a:xfrm>
            <a:off x="548640" y="240030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548640" y="269240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data-FFFFFF-608a1e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2768346"/>
            <a:ext cx="178308" cy="17830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93140" y="264287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Minta debit pos duga dan neraca Pola PSDA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3140" y="2877820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31" name="Picture 30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909189"/>
            <a:ext cx="102362" cy="102362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661327" y="2877820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9898" y="2400300"/>
            <a:ext cx="4320235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Debit bulanan pos duga di dua belas muara dan batas kab/kota dipakai menguji aliran kemarau.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58733" y="2774950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Pusdatinkom</a:t>
            </a:r>
          </a:p>
        </p:txBody>
      </p:sp>
      <p:pic>
        <p:nvPicPr>
          <p:cNvPr id="35" name="Picture 34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806319"/>
            <a:ext cx="102362" cy="102362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9609879" y="2774950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37" name="Picture 3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429" y="2806319"/>
            <a:ext cx="102362" cy="102362"/>
          </a:xfrm>
          <a:prstGeom prst="rect">
            <a:avLst/>
          </a:prstGeom>
        </p:spPr>
      </p:pic>
      <p:cxnSp>
        <p:nvCxnSpPr>
          <p:cNvPr id="38" name="Connector 37"/>
          <p:cNvCxnSpPr/>
          <p:nvPr/>
        </p:nvCxnSpPr>
        <p:spPr>
          <a:xfrm>
            <a:off x="548640" y="331470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9" name="Oval 38"/>
          <p:cNvSpPr/>
          <p:nvPr/>
        </p:nvSpPr>
        <p:spPr>
          <a:xfrm>
            <a:off x="548640" y="360680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3682746"/>
            <a:ext cx="178308" cy="1783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93140" y="355727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Masukkan skenario kering ke rencana kontinjensi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3140" y="379222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43" name="Picture 42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823589"/>
            <a:ext cx="102362" cy="102362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1785350" y="3792220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9898" y="3314700"/>
            <a:ext cx="4320235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Kab/kota yang negatif di semua skenario tahun kering memuat skenario iklim 2015 atau 2019.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58733" y="3689350"/>
            <a:ext cx="99906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Dir. Kesiapsiagaan</a:t>
            </a:r>
          </a:p>
        </p:txBody>
      </p:sp>
      <p:pic>
        <p:nvPicPr>
          <p:cNvPr id="47" name="Picture 46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720719"/>
            <a:ext cx="102362" cy="102362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9808594" y="3689350"/>
            <a:ext cx="66675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Dir. PERB</a:t>
            </a:r>
          </a:p>
        </p:txBody>
      </p:sp>
      <p:pic>
        <p:nvPicPr>
          <p:cNvPr id="49" name="Picture 4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1144" y="3720719"/>
            <a:ext cx="102362" cy="102362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10526152" y="3689350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51" name="Picture 50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8702" y="3720719"/>
            <a:ext cx="102362" cy="102362"/>
          </a:xfrm>
          <a:prstGeom prst="rect">
            <a:avLst/>
          </a:prstGeom>
        </p:spPr>
      </p:pic>
      <p:cxnSp>
        <p:nvCxnSpPr>
          <p:cNvPr id="52" name="Connector 51"/>
          <p:cNvCxnSpPr/>
          <p:nvPr/>
        </p:nvCxnSpPr>
        <p:spPr>
          <a:xfrm>
            <a:off x="548640" y="422910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3" name="Oval 52"/>
          <p:cNvSpPr/>
          <p:nvPr/>
        </p:nvSpPr>
        <p:spPr>
          <a:xfrm>
            <a:off x="548640" y="452120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4" name="Picture 53" descr="data-FFFFFF-608a1e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4597146"/>
            <a:ext cx="178308" cy="17830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93140" y="447167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Minta tampungan dan pelepasan waduk besar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3140" y="470662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57" name="Picture 5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737989"/>
            <a:ext cx="102362" cy="102362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1785350" y="4706620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09898" y="4229100"/>
            <a:ext cx="4320235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Tampungan efektif dan pelepasan bulanan enam waduk besar tersedia dengan sumber resmi per baris.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758733" y="4603750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Pusdatinkom</a:t>
            </a:r>
          </a:p>
        </p:txBody>
      </p:sp>
      <p:pic>
        <p:nvPicPr>
          <p:cNvPr id="61" name="Picture 6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635119"/>
            <a:ext cx="102362" cy="102362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9609879" y="4603750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63" name="Picture 6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429" y="4635119"/>
            <a:ext cx="102362" cy="102362"/>
          </a:xfrm>
          <a:prstGeom prst="rect">
            <a:avLst/>
          </a:prstGeom>
        </p:spPr>
      </p:pic>
      <p:cxnSp>
        <p:nvCxnSpPr>
          <p:cNvPr id="64" name="Connector 63"/>
          <p:cNvCxnSpPr/>
          <p:nvPr/>
        </p:nvCxnSpPr>
        <p:spPr>
          <a:xfrm>
            <a:off x="548640" y="514350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Oval 64"/>
          <p:cNvSpPr/>
          <p:nvPr/>
        </p:nvSpPr>
        <p:spPr>
          <a:xfrm>
            <a:off x="548640" y="543560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6" name="Picture 65" descr="data-FFFFFF-608a1e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5511546"/>
            <a:ext cx="178308" cy="17830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93140" y="538607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Minta data air industri per kab/kota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3140" y="562102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69" name="Picture 68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652389"/>
            <a:ext cx="102362" cy="102362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1785350" y="5621020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09898" y="5143500"/>
            <a:ext cx="4320235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Tenaga kerja atau pengambilan air industri DI Yogyakarta dan Jawa Timur tersedia untuk pembaruan.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758733" y="5518150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Pusdatinkom</a:t>
            </a:r>
          </a:p>
        </p:txBody>
      </p:sp>
      <p:pic>
        <p:nvPicPr>
          <p:cNvPr id="73" name="Picture 7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549519"/>
            <a:ext cx="102362" cy="102362"/>
          </a:xfrm>
          <a:prstGeom prst="rect">
            <a:avLst/>
          </a:prstGeom>
        </p:spPr>
      </p:pic>
      <p:sp>
        <p:nvSpPr>
          <p:cNvPr id="74" name="Rounded Rectangle 73"/>
          <p:cNvSpPr/>
          <p:nvPr/>
        </p:nvSpPr>
        <p:spPr>
          <a:xfrm>
            <a:off x="9609879" y="5518150"/>
            <a:ext cx="471257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BPS</a:t>
            </a:r>
          </a:p>
        </p:txBody>
      </p:sp>
      <p:pic>
        <p:nvPicPr>
          <p:cNvPr id="75" name="Picture 7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429" y="5549519"/>
            <a:ext cx="102362" cy="102362"/>
          </a:xfrm>
          <a:prstGeom prst="rect">
            <a:avLst/>
          </a:prstGeom>
        </p:spPr>
      </p:pic>
      <p:sp>
        <p:nvSpPr>
          <p:cNvPr id="76" name="Rounded Rectangle 75"/>
          <p:cNvSpPr/>
          <p:nvPr/>
        </p:nvSpPr>
        <p:spPr>
          <a:xfrm>
            <a:off x="10131936" y="5518150"/>
            <a:ext cx="75875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Kemenperin</a:t>
            </a:r>
          </a:p>
        </p:txBody>
      </p:sp>
      <p:pic>
        <p:nvPicPr>
          <p:cNvPr id="77" name="Picture 7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4486" y="5549519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Kesimpulan: delapan temuan berangka tentang neraca air Jawa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dan keputusan yang diminta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27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74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air-baku-051C2C-271d6c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23" y="1601883"/>
            <a:ext cx="221425" cy="221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7081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74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PASOKAN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74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Limpasan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74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sekitar 186 miliar m³ per tahun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, estimasi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661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171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kalender-051C2C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293" y="1601883"/>
            <a:ext cx="221425" cy="2214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7878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171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PASOKAN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171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Musim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171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sekitar 16%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limpasan jatuh pada Juni–Oktober.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458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2968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irigasi-051C2C-3c813d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263" y="1601883"/>
            <a:ext cx="221425" cy="2214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8675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968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KEBUTUHAN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968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Irigasi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968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sekitar 85%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kebutuhan kotor, dihitung potensial.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255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3765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wilayah-051C2C-37dca1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8233" y="1601883"/>
            <a:ext cx="221425" cy="2214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09472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765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NERACA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765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Tahunan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765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Negatif hanya di dua kota pantai kecil.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1374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kekeringan-D9600B-bd7fcb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323" y="3613563"/>
            <a:ext cx="221425" cy="2214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67081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74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KEMARAU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74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Andalan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74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68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kab/kota negatif, indikasi urutan.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5661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52171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kekeringan-D9600B-bd7fcb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2293" y="3613563"/>
            <a:ext cx="221425" cy="22142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47878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171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KEMARAU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171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Iklim 1997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171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99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kab/kota negatif; bias melebih-lebihkan.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6458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29680" y="352298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data-051C2C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0263" y="3613563"/>
            <a:ext cx="221425" cy="22142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28675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2968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VALIDASI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968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Kemarau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968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Median rasio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sekitar 1,3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kali GloFAS, belum lolos.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7255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137650" y="352298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data-051C2C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8233" y="3613563"/>
            <a:ext cx="221425" cy="22142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109472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3765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DATA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765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Industri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3765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Kosong di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44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kab/kota Jatim, DIY, Kep. Seribu.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5369560"/>
            <a:ext cx="11094720" cy="558800"/>
          </a:xfrm>
          <a:prstGeom prst="roundRect">
            <a:avLst>
              <a:gd name="adj" fmla="val 13181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13740" y="5483860"/>
            <a:ext cx="330200" cy="33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" name="Picture 66" descr="regulasi-D9600B-e639fe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035" y="5558155"/>
            <a:ext cx="181610" cy="18161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209040" y="5369560"/>
            <a:ext cx="667004" cy="55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 spc="150">
                <a:solidFill>
                  <a:srgbClr val="FFFFFF"/>
                </a:solidFill>
                <a:latin typeface="Roboto"/>
              </a:rPr>
              <a:t>ARAHAN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76044" y="5369560"/>
            <a:ext cx="9602216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FFFFFF"/>
                </a:solidFill>
                <a:latin typeface="Roboto"/>
              </a:rPr>
              <a:t>Tetapkan peringkat neraca kemarau sebagai daftar periksa kemarau 2027 dan minta data pos duga serta operasi waduk dari Kementerian PU.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Pengolahan data Pantau Bencana, model neraca air kajian ini; GloFAS; BPS; estimasi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-penutup-air-bengawan-solo-k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Bengawan Solo pada musim kemarau, Juli 2015; Crisco 1492, CC BY-SA 4.0,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7391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468880"/>
            <a:ext cx="9144000" cy="100584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sz="5400" b="1" lang="id-ID">
                <a:solidFill>
                  <a:srgbClr val="FFFFFF"/>
                </a:solidFill>
                <a:latin typeface="Roboto"/>
              </a:rPr>
              <a:t>Terima kasih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44900"/>
            <a:ext cx="4754880" cy="254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914400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 lang="id-ID">
                <a:solidFill>
                  <a:srgbClr val="FFFFFF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4180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C9D1E3"/>
                </a:solidFill>
                <a:latin typeface="Roboto"/>
              </a:rPr>
              <a:t>Neraca Air Pulau Jawa per Kabupaten/Kota, Rabu, 28 Oktober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Neraca Air Pulau Jawa per Kabupaten/Kota</dc:title>
  <dc:subject>Pasokan dan kebutuhan air bulanan, musim kemarau Juni–Oktober, dan tahun kering</dc:subject>
  <dc:creator>Badan Nasional Penanggulangan Bencana</dc:creator>
  <cp:lastModifiedBy>Badan Nasional Penanggulangan Bencana</cp:lastModifiedBy>
  <cp:revision>1</cp:revision>
  <dcterms:created xsi:type="dcterms:W3CDTF">2026-10-22T07:37:45Z</dcterms:created>
  <dcterms:modified xsi:type="dcterms:W3CDTF">2026-10-22T07:37:45Z</dcterms:modified>
  <cp:keywords>BNPB; neraca air; kekeringan; Pulau Jawa; kabupaten/kota; musim kemarau; estimasi model</cp:keywords>
  <dc:language>id-ID</dc:language>
  <cp:category>Kajian</cp:category>
  <dc:description>Air Pulau Jawa cukup dalam setahun tetapi kurang di sebagian kab/kota pada musim kemarau; peringkat kab/kota model dipakai sebagai daftar periksa kemarau 2027 bersama data BPBD sambil data pos duga dan waduk diminta untuk validasi.</dc:description>
</cp:coreProperties>
</file>