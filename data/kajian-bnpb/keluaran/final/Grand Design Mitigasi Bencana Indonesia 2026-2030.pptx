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Relationship Id="rId9" Type="http://schemas.openxmlformats.org/officeDocument/2006/relationships/image" Target="../media/image18.png"/><Relationship Id="rId10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Relationship Id="rId9" Type="http://schemas.openxmlformats.org/officeDocument/2006/relationships/image" Target="../media/image14.png"/><Relationship Id="rId10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30.png"/><Relationship Id="rId8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9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4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37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29.png"/><Relationship Id="rId8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14.png"/><Relationship Id="rId8" Type="http://schemas.openxmlformats.org/officeDocument/2006/relationships/image" Target="../media/image5.png"/><Relationship Id="rId9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40.png"/><Relationship Id="rId6" Type="http://schemas.openxmlformats.org/officeDocument/2006/relationships/image" Target="../media/image12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ge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Ungkeito,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Mitigasi Bencana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Indonesia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Strategi Prabencana, Tanggap Darurat, dan Pascabencana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0045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525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25608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Minggu, 25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Pesan Kunci: korban jiwa sebagai ukuran keberhasilan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Grand Design, tiga keputusan Kepala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KEPUTUSAN YANG DIMINTA DARI KEPALA BNPB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Masukan Renas PB dan hari ke-0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Tetapkan dalam November 2026; bila ditunda, perubahan target tertutup sesudah jalur berkala 2027.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Target cakupan peringatan dini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Selaraskan IKP Renstra dan indikator Renas PB atas evaluasi tahun ketiga Renstra.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kapasitas-FFFFFF-22e80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Penyebut kapasitas daerah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Pilih provinsi atau kab/kota sebagai penyebut sasaran kapasitas 2029, lewat perubahan Kepka.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Bencana alam 2025 menelan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1.956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jiwa meninggal dan hilang, tertinggi sejak 2018, padahal IRB nasional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turun 10,76%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pada 2019–2024; Grand Design 2026–2030 menjadikan indikator korban Renas PB yang terukur dari DIBI sebagai sasaran utama.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67564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86" y="2601711"/>
            <a:ext cx="178308" cy="1783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2014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3437" y="2525765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Histori.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1.735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221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hilang pada 2025; banjir dan longsor Sumatra November 2025 menyumbang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68,6%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48987" y="2608315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67564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wilayah-FFFFFF-37dca1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3505105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014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343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Profil risiko.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169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514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berstatus Tinggi pada IRBI 2025, tetapi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47,2%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kejadian tercatat berada di Jawa.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0721" y="3511709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675640" y="433255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banjir-FFFFFF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4408498"/>
            <a:ext cx="178308" cy="178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0140" y="433255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3437" y="4332552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Skenario terburuk.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Musim hujan 2025/2026 mencatat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1.692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dan hilang, lantai Rencana Aksi Musim Hujan 2026/2027.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48987" y="441510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Oval 50"/>
          <p:cNvSpPr/>
          <p:nvPr/>
        </p:nvSpPr>
        <p:spPr>
          <a:xfrm>
            <a:off x="624840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46" y="2601711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9290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6197" y="2525765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Kesenjangan.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Target peringatan dini Renstra naik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0,22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poin persen, sedangkan target Renas PB naik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4,7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kali.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121747" y="2608315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24840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624840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346" y="3505105"/>
            <a:ext cx="178308" cy="1783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69290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619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Grand design.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24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sel fase dan jenis bencana tanpa program berbukti kuat atau sedang.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03481" y="3511709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2015–2026; InaRISK BNPB, IRBI 2019–2025; Renas PB 2025–2029; Renstra BNPB 2025–2029; kompendium program Pantau Bencana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A1. Bencana alam 2025 menelan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1.956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jiwa meninggal dan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hilang, tertinggi sejak 2018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3,4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kali median 2015–2024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419391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BENCANA ALAM 2025</a:t>
            </a:r>
          </a:p>
        </p:txBody>
      </p:sp>
      <p:pic>
        <p:nvPicPr>
          <p:cNvPr id="11" name="Picture 10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jiwa-C8102E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1.735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meninggal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jiwa-051C2C-9b703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hilang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69676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SUMATRA NOVEMBER 2025</a:t>
            </a:r>
          </a:p>
        </p:txBody>
      </p:sp>
      <p:pic>
        <p:nvPicPr>
          <p:cNvPr id="25" name="Picture 24" descr="banjir-FFFFFF-364735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banjir-051C2C-364735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1.342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data-051C2C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68,6%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dari korban alam 2025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Meninggal dan hilang akibat bencana alam per tahun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lang="id-ID">
                <a:solidFill>
                  <a:srgbClr val="1A1A1A"/>
                </a:solidFill>
                <a:latin typeface="Roboto"/>
              </a:rPr>
              <a:t>Meninggal dan hilang</a:t>
            </a:r>
            <a:r>
              <a:rPr sz="1000" b="0" lang="id-ID">
                <a:solidFill>
                  <a:srgbClr val="1A1A1A"/>
                </a:solidFill>
                <a:latin typeface="Roboto"/>
              </a:rPr>
              <a:t>, jiwa, 2015–2025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7946" y="2905760"/>
            <a:ext cx="63242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D9600B"/>
                </a:solidFill>
                <a:latin typeface="Roboto"/>
              </a:rPr>
              <a:t>naik 608,7%</a:t>
            </a:r>
          </a:p>
        </p:txBody>
      </p:sp>
      <p:sp>
        <p:nvSpPr>
          <p:cNvPr id="47" name="Isosceles Triangle 46"/>
          <p:cNvSpPr/>
          <p:nvPr/>
        </p:nvSpPr>
        <p:spPr>
          <a:xfrm>
            <a:off x="6553646" y="297688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790067" y="5607035"/>
            <a:ext cx="373394" cy="1079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5640" y="5454635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5640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2015</a:t>
            </a:r>
          </a:p>
        </p:txBody>
      </p:sp>
      <p:sp>
        <p:nvSpPr>
          <p:cNvPr id="51" name="Round Same Side Corner Rectangle 50"/>
          <p:cNvSpPr/>
          <p:nvPr/>
        </p:nvSpPr>
        <p:spPr>
          <a:xfrm>
            <a:off x="1392315" y="5488900"/>
            <a:ext cx="373394" cy="226100"/>
          </a:xfrm>
          <a:prstGeom prst="round2SameRect">
            <a:avLst>
              <a:gd name="adj1" fmla="val 36331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77888" y="5336500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578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77888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2016</a:t>
            </a:r>
          </a:p>
        </p:txBody>
      </p:sp>
      <p:sp>
        <p:nvSpPr>
          <p:cNvPr id="54" name="Isosceles Triangle 53"/>
          <p:cNvSpPr/>
          <p:nvPr/>
        </p:nvSpPr>
        <p:spPr>
          <a:xfrm>
            <a:off x="1416045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92245" y="586740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109,4%</a:t>
            </a:r>
          </a:p>
        </p:txBody>
      </p:sp>
      <p:sp>
        <p:nvSpPr>
          <p:cNvPr id="56" name="Round Same Side Corner Rectangle 55"/>
          <p:cNvSpPr/>
          <p:nvPr/>
        </p:nvSpPr>
        <p:spPr>
          <a:xfrm>
            <a:off x="1994563" y="5567135"/>
            <a:ext cx="373394" cy="1478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80136" y="5414735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378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80136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2017</a:t>
            </a:r>
          </a:p>
        </p:txBody>
      </p:sp>
      <p:sp>
        <p:nvSpPr>
          <p:cNvPr id="59" name="Isosceles Triangle 58"/>
          <p:cNvSpPr/>
          <p:nvPr/>
        </p:nvSpPr>
        <p:spPr>
          <a:xfrm rot="10800000">
            <a:off x="2040152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16352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34,6%</a:t>
            </a:r>
          </a:p>
        </p:txBody>
      </p:sp>
      <p:sp>
        <p:nvSpPr>
          <p:cNvPr id="61" name="Round Same Side Corner Rectangle 60"/>
          <p:cNvSpPr/>
          <p:nvPr/>
        </p:nvSpPr>
        <p:spPr>
          <a:xfrm>
            <a:off x="2596811" y="3274060"/>
            <a:ext cx="373394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82384" y="3121660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6.240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2384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2018</a:t>
            </a:r>
          </a:p>
        </p:txBody>
      </p:sp>
      <p:sp>
        <p:nvSpPr>
          <p:cNvPr id="64" name="Isosceles Triangle 63"/>
          <p:cNvSpPr/>
          <p:nvPr/>
        </p:nvSpPr>
        <p:spPr>
          <a:xfrm>
            <a:off x="2587612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63812" y="5867400"/>
            <a:ext cx="34099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1.550,8%</a:t>
            </a:r>
          </a:p>
        </p:txBody>
      </p:sp>
      <p:sp>
        <p:nvSpPr>
          <p:cNvPr id="66" name="Round Same Side Corner Rectangle 65"/>
          <p:cNvSpPr/>
          <p:nvPr/>
        </p:nvSpPr>
        <p:spPr>
          <a:xfrm>
            <a:off x="3199059" y="5484597"/>
            <a:ext cx="373394" cy="230403"/>
          </a:xfrm>
          <a:prstGeom prst="round2SameRect">
            <a:avLst>
              <a:gd name="adj1" fmla="val 35653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84631" y="5332197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589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84631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69" name="Isosceles Triangle 68"/>
          <p:cNvSpPr/>
          <p:nvPr/>
        </p:nvSpPr>
        <p:spPr>
          <a:xfrm rot="10800000">
            <a:off x="3244648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20848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90,6%</a:t>
            </a:r>
          </a:p>
        </p:txBody>
      </p:sp>
      <p:sp>
        <p:nvSpPr>
          <p:cNvPr id="71" name="Round Same Side Corner Rectangle 70"/>
          <p:cNvSpPr/>
          <p:nvPr/>
        </p:nvSpPr>
        <p:spPr>
          <a:xfrm>
            <a:off x="3801306" y="5551488"/>
            <a:ext cx="373394" cy="16351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86879" y="5399088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6879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74" name="Isosceles Triangle 73"/>
          <p:cNvSpPr/>
          <p:nvPr/>
        </p:nvSpPr>
        <p:spPr>
          <a:xfrm rot="10800000">
            <a:off x="3846896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23096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29,0%</a:t>
            </a:r>
          </a:p>
        </p:txBody>
      </p:sp>
      <p:sp>
        <p:nvSpPr>
          <p:cNvPr id="76" name="Round Same Side Corner Rectangle 75"/>
          <p:cNvSpPr/>
          <p:nvPr/>
        </p:nvSpPr>
        <p:spPr>
          <a:xfrm>
            <a:off x="4403554" y="5396191"/>
            <a:ext cx="373394" cy="318809"/>
          </a:xfrm>
          <a:prstGeom prst="round2SameRect">
            <a:avLst>
              <a:gd name="adj1" fmla="val 25766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89127" y="5243791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815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89127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79" name="Isosceles Triangle 78"/>
          <p:cNvSpPr/>
          <p:nvPr/>
        </p:nvSpPr>
        <p:spPr>
          <a:xfrm>
            <a:off x="4449143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25343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95,0%</a:t>
            </a:r>
          </a:p>
        </p:txBody>
      </p:sp>
      <p:sp>
        <p:nvSpPr>
          <p:cNvPr id="81" name="Round Same Side Corner Rectangle 80"/>
          <p:cNvSpPr/>
          <p:nvPr/>
        </p:nvSpPr>
        <p:spPr>
          <a:xfrm>
            <a:off x="5005802" y="5364897"/>
            <a:ext cx="373394" cy="350103"/>
          </a:xfrm>
          <a:prstGeom prst="round2SameRect">
            <a:avLst>
              <a:gd name="adj1" fmla="val 23463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91375" y="5212497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895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91375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84" name="Isosceles Triangle 83"/>
          <p:cNvSpPr/>
          <p:nvPr/>
        </p:nvSpPr>
        <p:spPr>
          <a:xfrm>
            <a:off x="5073250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49450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9,8%</a:t>
            </a:r>
          </a:p>
        </p:txBody>
      </p:sp>
      <p:sp>
        <p:nvSpPr>
          <p:cNvPr id="86" name="Round Same Side Corner Rectangle 85"/>
          <p:cNvSpPr/>
          <p:nvPr/>
        </p:nvSpPr>
        <p:spPr>
          <a:xfrm>
            <a:off x="5608050" y="5594518"/>
            <a:ext cx="373394" cy="12048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93623" y="5442118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308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93623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89" name="Isosceles Triangle 88"/>
          <p:cNvSpPr/>
          <p:nvPr/>
        </p:nvSpPr>
        <p:spPr>
          <a:xfrm rot="10800000">
            <a:off x="5653639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29839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65,6%</a:t>
            </a:r>
          </a:p>
        </p:txBody>
      </p:sp>
      <p:sp>
        <p:nvSpPr>
          <p:cNvPr id="91" name="Round Same Side Corner Rectangle 90"/>
          <p:cNvSpPr/>
          <p:nvPr/>
        </p:nvSpPr>
        <p:spPr>
          <a:xfrm>
            <a:off x="6210298" y="5479121"/>
            <a:ext cx="373394" cy="235879"/>
          </a:xfrm>
          <a:prstGeom prst="round2SameRect">
            <a:avLst>
              <a:gd name="adj1" fmla="val 34825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95871" y="5326721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603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95871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94" name="Isosceles Triangle 93"/>
          <p:cNvSpPr/>
          <p:nvPr/>
        </p:nvSpPr>
        <p:spPr>
          <a:xfrm>
            <a:off x="6255887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32087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95,8%</a:t>
            </a:r>
          </a:p>
        </p:txBody>
      </p:sp>
      <p:sp>
        <p:nvSpPr>
          <p:cNvPr id="96" name="Round Same Side Corner Rectangle 95"/>
          <p:cNvSpPr/>
          <p:nvPr/>
        </p:nvSpPr>
        <p:spPr>
          <a:xfrm>
            <a:off x="6812546" y="4949859"/>
            <a:ext cx="373394" cy="76514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98119" y="4797459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1.956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98119" y="574040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</a:t>
            </a:r>
          </a:p>
        </p:txBody>
      </p:sp>
      <p:sp>
        <p:nvSpPr>
          <p:cNvPr id="99" name="Isosceles Triangle 98"/>
          <p:cNvSpPr/>
          <p:nvPr/>
        </p:nvSpPr>
        <p:spPr>
          <a:xfrm>
            <a:off x="6836276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12476" y="586740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224,4%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75640" y="571500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2" name="Rounded Rectangle 101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7" name="Picture 106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Semua klasifikasi DIBI mencatat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2.030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meninggal pada 2025, termasuk kebakaran permukiman dan nonalam.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LKIP BNPB 2025 mencatat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1.666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meninggal dan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214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hilang dari data terverifikasi.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Angka 2025 setara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3,1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kali proyeksi indikator korban Renas 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Seri bencana alam dipakai karena sebanding antartahun; nonalam baru tercatat sejak 2024.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2015–2025 (tarik 23 Okt 2026); LKIP BNPB 2025; Renas PB 2025–2029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B1.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169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514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berstatus Tinggi pada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IRBI 2025, terbanyak di</a:t>
            </a:r>
            <a:r>
              <a:rPr sz="2200" b="1" lang="id-ID">
                <a:solidFill>
                  <a:srgbClr val="00499D"/>
                </a:solidFill>
                <a:latin typeface="Roboto"/>
              </a:rPr>
              <a:t> Sumatra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dengan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50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6262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STATUS IRBI 2025</a:t>
            </a:r>
          </a:p>
        </p:txBody>
      </p:sp>
      <p:pic>
        <p:nvPicPr>
          <p:cNvPr id="11" name="Picture 10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ringatan-8F3F07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status Tinggi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wilayah-8F3F07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status Tinggi di Papua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25823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PEMBANDING DIBI</a:t>
            </a:r>
          </a:p>
        </p:txBody>
      </p:sp>
      <p:pic>
        <p:nvPicPr>
          <p:cNvPr id="25" name="Picture 24" descr="data-FFFFFF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kalender-051C2C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47,2%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kejadian 2015–2025 di Jawa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data-051C2C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-0,38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korelasi peringkat IRBI dan DIBI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40394" y="1346200"/>
            <a:ext cx="209323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analisis penyusun atas data resmi</a:t>
            </a:r>
          </a:p>
        </p:txBody>
      </p:sp>
      <p:pic>
        <p:nvPicPr>
          <p:cNvPr id="37" name="Picture 36" descr="deck-peta-irbi-20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752130"/>
            <a:ext cx="6741566" cy="253230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827439" y="5360630"/>
            <a:ext cx="1018781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Status IRBI BNPB 2025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3220" y="5398730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25620" y="5360630"/>
            <a:ext cx="287896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Tinggi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516" y="5398730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92916" y="5360630"/>
            <a:ext cx="343892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Sedang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95594" y="536698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538430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819" y="3953456"/>
            <a:ext cx="55269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01533" y="3087409"/>
            <a:ext cx="68297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17819" y="4882811"/>
            <a:ext cx="40545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29888" y="3284929"/>
            <a:ext cx="57457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803" y="5098056"/>
            <a:ext cx="12547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8241" y="4226945"/>
            <a:ext cx="5034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52157" y="4999296"/>
            <a:ext cx="4536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Status Tinggi per pulau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29956" y="2905760"/>
            <a:ext cx="18852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PULAU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45269" y="2919730"/>
            <a:ext cx="701423" cy="182880"/>
          </a:xfrm>
          <a:prstGeom prst="roundRect">
            <a:avLst>
              <a:gd name="adj" fmla="val 50000"/>
            </a:avLst>
          </a:prstGeom>
          <a:solidFill>
            <a:srgbClr val="8F3F07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TINGGI</a:t>
            </a:r>
          </a:p>
        </p:txBody>
      </p:sp>
      <p:pic>
        <p:nvPicPr>
          <p:cNvPr id="62" name="Picture 61" descr="peringatan-FFFFFF-6a80b7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6709" y="2954477"/>
            <a:ext cx="113386" cy="113386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0548292" y="2919730"/>
            <a:ext cx="8664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KAB/KOTA</a:t>
            </a:r>
          </a:p>
        </p:txBody>
      </p:sp>
      <p:pic>
        <p:nvPicPr>
          <p:cNvPr id="64" name="Picture 63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732" y="2954477"/>
            <a:ext cx="113386" cy="113386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29956" y="31165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15172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48292" y="31165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29956" y="33832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15172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48292" y="33832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29956" y="36499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15172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48292" y="36499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Oval 80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29956" y="39166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15172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48292" y="39166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41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9956" y="41833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15172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48292" y="41833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29956" y="44500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15172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48292" y="44500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119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554366" y="47167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6" name="Oval 95"/>
          <p:cNvSpPr/>
          <p:nvPr/>
        </p:nvSpPr>
        <p:spPr>
          <a:xfrm>
            <a:off x="7554366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29956" y="47167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15172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48292" y="47167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56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54366" y="5034280"/>
            <a:ext cx="3961994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29956" y="5034280"/>
            <a:ext cx="18852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15172" y="5034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FFFFFF"/>
                </a:solidFill>
                <a:latin typeface="Roboto"/>
              </a:rPr>
              <a:t>169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48292" y="50342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FFFFFF"/>
                </a:solidFill>
                <a:latin typeface="Roboto"/>
              </a:rPr>
              <a:t>514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54366" y="5427980"/>
            <a:ext cx="3961994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2025 berskala baru; tidak dibandingkan dengan seri 2015–2024.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Penempatan program memakai IRBI dan DIBI berdampingan, dengan aturan syarat.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2025; DIBI BNPB 2015–2025 (olah Pantau Bencana)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5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15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jenis bencana berkelas fatalitas tertinggi;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peluang lima tahun hanya dapat dinilai untuk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 jenis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12604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KELAS DAMPAK</a:t>
            </a:r>
          </a:p>
        </p:txBody>
      </p:sp>
      <p:pic>
        <p:nvPicPr>
          <p:cNvPr id="11" name="Picture 10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jenis berfatalitas kelas lima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pengungsi-051C2C-65a2f7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 bila pengungsi dihitung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004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47739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PELUANG LIMA TAHUN</a:t>
            </a:r>
          </a:p>
        </p:txBody>
      </p:sp>
      <p:pic>
        <p:nvPicPr>
          <p:cNvPr id="25" name="Picture 24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gempa-051C2C-5740f7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0,83%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megathrust selatan Jawa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051C2C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23,7%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musim hujan seburuk lantai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97974" y="1346200"/>
            <a:ext cx="11356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turunan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Kelas dampak kependudukan dan dasar kemungkinan per jenis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822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FATALITAS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88003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MENGUNGSI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44185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LIMA TAHUN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75640" y="311658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darat dan majemuk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822" y="311658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8003" y="311658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44185" y="311658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675640" y="335639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Tsunami nasional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822" y="335639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88003" y="335639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44185" y="335639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359621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banjir bandang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822" y="359621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88003" y="359621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44185" y="359621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pita empat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383603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Epidemi dan pandemi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31822" y="383603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88003" y="383603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berlaku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44185" y="383603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75640" y="407585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Konflik sosial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822" y="407585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8003" y="407585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44185" y="407585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431567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Megathrust selatan Jawa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822" y="431567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empat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88003" y="431567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tercatat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44185" y="431567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pita dua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675640" y="455549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Gunung api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31822" y="455549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empat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88003" y="455549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44185" y="455549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479530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Tanah longsor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822" y="479530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paling tinggi empat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88003" y="479530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tiga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44185" y="479530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fase iklim saja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TextBox 89"/>
          <p:cNvSpPr txBox="1"/>
          <p:nvPr/>
        </p:nvSpPr>
        <p:spPr>
          <a:xfrm>
            <a:off x="675640" y="503512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31822" y="503512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paling tinggi tiga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88003" y="503512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tiga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44185" y="503512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fase iklim saja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675640" y="527494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Karhutla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31822" y="527494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dua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88003" y="527494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44185" y="527494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fase iklim saja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675640" y="551476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Kebakaran industri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31822" y="551476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dua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88003" y="551476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44185" y="551476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675640" y="575458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Kekeringan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331822" y="575458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88003" y="575458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44185" y="575458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fase iklim saja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4" name="Picture 113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Kelas memakai pita fatalitas NRR Inggris sebagai pembanding, belum standar Indonesia.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Kemungkinan dan dampak tidak dikalikan; matriks menampilkan posisi, bukan peringkat.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Kelas lima terbuka: pandemi COVID dan tsunami Aceh dua orde di atas ambangnya.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Angka estimasi model tidak menentukan kelas.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2008–2025; PuSGeN 2024; Cabinet Office, NRR; NOAA CPC; olah Pantau Bencana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50" b="1" lang="id-ID">
                <a:solidFill>
                  <a:srgbClr val="1A1A1A"/>
                </a:solidFill>
                <a:latin typeface="Roboto"/>
              </a:rPr>
              <a:t>C1. Penduduk terpapar tsunami mencapai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 5.341.282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jiwa menurut</a:t>
            </a:r>
            <a:br/>
            <a:r>
              <a:rPr sz="1950" b="1" lang="id-ID">
                <a:solidFill>
                  <a:srgbClr val="1A1A1A"/>
                </a:solidFill>
                <a:latin typeface="Roboto"/>
              </a:rPr>
              <a:t>KRB 2022–2026; korban skenario belum dihitung dari genangan resmi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F1E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F1E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8A4B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tsunami-FFFFFF-44d067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Geologi: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tsunami dekat sumber megathrust selatan Jawa dan barat Sumatra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terpapar tsunami, nasional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5.341.282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36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lantai Pangandaran 2006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665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91705" y="24765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lantai Mentawai 2010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447 jiwa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lantai Selat Sunda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437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lantai nasional Aceh 2004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127.720 jiwa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Tinggi tsunami model, selatan Banten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 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91705" y="38481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Sekolah di kelas bahaya tinggi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59.839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43608" y="4191000"/>
            <a:ext cx="127428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Resmi, arti field dari nama API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44894" y="1866900"/>
            <a:ext cx="0" cy="288671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36311" y="1860550"/>
            <a:ext cx="198004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turunan periode ulang PuSGeN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8A4B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0,2–1%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121747" y="2571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Sarana diseminasi 2024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72376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Renas PB 2029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703560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530</a:t>
            </a:r>
          </a:p>
        </p:txBody>
      </p:sp>
      <p:sp>
        <p:nvSpPr>
          <p:cNvPr id="67" name="Isosceles Triangle 66"/>
          <p:cNvSpPr/>
          <p:nvPr/>
        </p:nvSpPr>
        <p:spPr>
          <a:xfrm>
            <a:off x="8253013" y="341630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naik 10%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sarana diseminasi informasi gempa dan tsunami, BMKG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1894" y="3619500"/>
            <a:ext cx="4944466" cy="1134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Korban tsunami skenario tidak dikuantifikasi sampai genangan resmi InaRISK dipakai.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Kemungkinan diturunkan penyusun dari periode ulang PuSGeN dengan asumsi Poisson.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482981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75640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5640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Evakuasi mandiri saat guncangan kuat di pantai yang dicapai tsunami dalam hitungan menit.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Sensor muka laut di dalam teluk tetap mengirim data saat jaringan terganggu.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tsunami provinsi memuat lantai tercatat per wilayah.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31547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1547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Penataan permukiman pesisir mengikuti genangan tsunami resmi saat tersedia.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Instrumen rumah rusak yang sama untuk DIBI dan rencana rehabilitasi.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Pemulihan layanan pesisir di kelas bahaya tinggi tsunami.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87453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987453" y="50584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BMKG</a:t>
            </a:r>
          </a:p>
        </p:txBody>
      </p:sp>
      <p:pic>
        <p:nvPicPr>
          <p:cNvPr id="77" name="Picture 76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089779"/>
            <a:ext cx="102362" cy="102362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8585274" y="5058410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79" name="Picture 78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824" y="5089779"/>
            <a:ext cx="102362" cy="102362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10233305" y="505841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1" name="Picture 80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855" y="5089779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7987453" y="5274310"/>
            <a:ext cx="110534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 pesisir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305679"/>
            <a:ext cx="102362" cy="102362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KRB BNPB 2022–2026; Renas PB 2025–2029; PuSGeN 2024; Widiyantoro dkk. (2020); USGS; DIBI BNPB; BRR NAD-Nias (2009)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C2. Musim hujan 2025/2026 mencatat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1.692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meninggal dan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hilang, lantai skenario terburuk hidrometeorologi nasional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Hidrometeorologi: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musim hujan tercatat terburuk nasional, setara 2025/2026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lantai 2025/2026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1.692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36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kasus Sumatra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1.342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3282" y="24765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Ekspektasi musim El Niño kuat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199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sampai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373 jiwa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 tercatat semusim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1.043.740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Menderita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8.242.120 jiwa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65.929 unit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Zona musim berawal mundur, 2026/2027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529 ZOM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3282" y="41910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44894" y="1866900"/>
            <a:ext cx="0" cy="301625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92876" y="1860550"/>
            <a:ext cx="152348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posisi plot Weibull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5–25%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Lantai tanpa longsor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03560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1.490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Renas PB 2029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31729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899</a:t>
            </a:r>
          </a:p>
        </p:txBody>
      </p:sp>
      <p:sp>
        <p:nvSpPr>
          <p:cNvPr id="67" name="Isosceles Triangle 66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40%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lantai, longsor tidak dihitung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53013" y="3543300"/>
            <a:ext cx="326334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Asosiasi lintas negara, belum terbukti kausal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71894" y="3771900"/>
            <a:ext cx="4944466" cy="1111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Pita model rasio hanya pembanding karena tidak menangkap kejadian katastrofik.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Musim 2025/2026 bukan La Niña; fase ENSO tidak cukup sebagai penanda musim terburuk.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495935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501015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5640" y="5187950"/>
            <a:ext cx="3528907" cy="806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BPBD mengkaji ulang rencana kontinjensi banjir dan longsor sebelum puncak musim.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Cadangan logistik per wilayah dibandingkan dengan kebutuhan pengungsi lantai.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provinsi memuat lantai musim, bukan pita model.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1547" y="501015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1547" y="5187950"/>
            <a:ext cx="3528907" cy="806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Kajian kebutuhan dan rencana rehabilitasi Sumatra 2025 ditarik untuk kerugian kejadian.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Rumah rusak per jenis dicatat terpisah untuk menghitung stimulan.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Lantai musim diperbarui dari DIBI setiap akhir musim.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87453" y="501015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7453" y="5187950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21931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9635485" y="5187950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035" y="5219319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7987453" y="540385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43521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9275162" y="540385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7712" y="5435219"/>
            <a:ext cx="102362" cy="102362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9872983" y="540385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86" name="Picture 85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533" y="5435219"/>
            <a:ext cx="102362" cy="102362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BMKG, prakiraan musim hujan 2026/2027; NOAA CPC (ONI); Renas PB 2025–2029; UNDRR-WMO 2022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50" b="1" lang="id-ID">
                <a:solidFill>
                  <a:srgbClr val="1A1A1A"/>
                </a:solidFill>
                <a:latin typeface="Roboto"/>
              </a:rPr>
              <a:t>C3. Pandemi COVID menjadi analog nonalam terburuk dengan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 161.870</a:t>
            </a:r>
            <a:br/>
            <a:r>
              <a:rPr sz="1950" b="1" lang="id-ID">
                <a:solidFill>
                  <a:srgbClr val="1A1A1A"/>
                </a:solidFill>
                <a:latin typeface="Roboto"/>
              </a:rPr>
              <a:t>kematian tercatat resmi; konflik Maluku sedikitnya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 5.000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meninggal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847874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NONALAM</a:t>
            </a:r>
          </a:p>
        </p:txBody>
      </p:sp>
      <p:pic>
        <p:nvPicPr>
          <p:cNvPr id="11" name="Picture 10" descr="pandemi-FFFFFF-cf29e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andemi-C8102E-cf29e8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161.870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kematian resmi pandemi COVID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2364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158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pandemi-051C2C-cf29e88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784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94174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0,8–1,3 juta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4174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kematian berlebih, model WHO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8163" y="1346200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348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076" y="1337310"/>
            <a:ext cx="71447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SOSIAL</a:t>
            </a:r>
          </a:p>
        </p:txBody>
      </p:sp>
      <p:pic>
        <p:nvPicPr>
          <p:cNvPr id="25" name="Picture 24" descr="konflik-sosial-FFFFFF-d761ad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2516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konflik-sosial-051C2C-d761add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meninggal, konflik Maluku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0744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pandemi-FFFFFF-cf29e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674177" y="249301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640" y="2346960"/>
            <a:ext cx="549053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Kematian pandemi COVID terlapor per tahun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lang="id-ID">
                <a:solidFill>
                  <a:srgbClr val="1A1A1A"/>
                </a:solidFill>
                <a:latin typeface="Roboto"/>
              </a:rPr>
              <a:t>Kematian terlapor</a:t>
            </a:r>
            <a:r>
              <a:rPr sz="1000" b="0" lang="id-ID">
                <a:solidFill>
                  <a:srgbClr val="1A1A1A"/>
                </a:solidFill>
                <a:latin typeface="Roboto"/>
              </a:rPr>
              <a:t>, jiwa, 2020–2025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2359" y="2905760"/>
            <a:ext cx="688008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F86D1"/>
                </a:solidFill>
                <a:latin typeface="Roboto"/>
              </a:rPr>
              <a:t>turun 100,0%</a:t>
            </a:r>
          </a:p>
        </p:txBody>
      </p:sp>
      <p:sp>
        <p:nvSpPr>
          <p:cNvPr id="42" name="Isosceles Triangle 41"/>
          <p:cNvSpPr/>
          <p:nvPr/>
        </p:nvSpPr>
        <p:spPr>
          <a:xfrm rot="10800000">
            <a:off x="6498059" y="2976880"/>
            <a:ext cx="76200" cy="6096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885423" y="5292926"/>
            <a:ext cx="684555" cy="422074"/>
          </a:xfrm>
          <a:prstGeom prst="round2SameRect">
            <a:avLst>
              <a:gd name="adj1" fmla="val 35681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5640" y="5140526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21.237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574040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46" name="Round Same Side Corner Rectangle 45"/>
          <p:cNvSpPr/>
          <p:nvPr/>
        </p:nvSpPr>
        <p:spPr>
          <a:xfrm>
            <a:off x="1989544" y="3274060"/>
            <a:ext cx="684555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79761" y="312166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122.818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79761" y="574040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49" name="Isosceles Triangle 48"/>
          <p:cNvSpPr/>
          <p:nvPr/>
        </p:nvSpPr>
        <p:spPr>
          <a:xfrm>
            <a:off x="2168855" y="590423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5055" y="586740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478,3%</a:t>
            </a:r>
          </a:p>
        </p:txBody>
      </p:sp>
      <p:sp>
        <p:nvSpPr>
          <p:cNvPr id="51" name="Round Same Side Corner Rectangle 50"/>
          <p:cNvSpPr/>
          <p:nvPr/>
        </p:nvSpPr>
        <p:spPr>
          <a:xfrm>
            <a:off x="3093665" y="5387429"/>
            <a:ext cx="684555" cy="327571"/>
          </a:xfrm>
          <a:prstGeom prst="round2SameRect">
            <a:avLst>
              <a:gd name="adj1" fmla="val 45975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3882" y="5235029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16.482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3882" y="574040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54" name="Isosceles Triangle 53"/>
          <p:cNvSpPr/>
          <p:nvPr/>
        </p:nvSpPr>
        <p:spPr>
          <a:xfrm rot="10800000">
            <a:off x="3294835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71035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86,6%</a:t>
            </a:r>
          </a:p>
        </p:txBody>
      </p:sp>
      <p:sp>
        <p:nvSpPr>
          <p:cNvPr id="56" name="Round Same Side Corner Rectangle 55"/>
          <p:cNvSpPr/>
          <p:nvPr/>
        </p:nvSpPr>
        <p:spPr>
          <a:xfrm>
            <a:off x="4197786" y="5686480"/>
            <a:ext cx="684555" cy="285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88003" y="553408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1.435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88003" y="574040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59" name="Isosceles Triangle 58"/>
          <p:cNvSpPr/>
          <p:nvPr/>
        </p:nvSpPr>
        <p:spPr>
          <a:xfrm rot="10800000">
            <a:off x="4398956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75156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91,3%</a:t>
            </a:r>
          </a:p>
        </p:txBody>
      </p:sp>
      <p:sp>
        <p:nvSpPr>
          <p:cNvPr id="61" name="Round Same Side Corner Rectangle 60"/>
          <p:cNvSpPr/>
          <p:nvPr/>
        </p:nvSpPr>
        <p:spPr>
          <a:xfrm>
            <a:off x="5301907" y="5708650"/>
            <a:ext cx="684555" cy="63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92124" y="555625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574040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64" name="Isosceles Triangle 63"/>
          <p:cNvSpPr/>
          <p:nvPr/>
        </p:nvSpPr>
        <p:spPr>
          <a:xfrm rot="10800000">
            <a:off x="5503077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79277" y="586740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93,9%</a:t>
            </a:r>
          </a:p>
        </p:txBody>
      </p:sp>
      <p:sp>
        <p:nvSpPr>
          <p:cNvPr id="66" name="Round Same Side Corner Rectangle 65"/>
          <p:cNvSpPr/>
          <p:nvPr/>
        </p:nvSpPr>
        <p:spPr>
          <a:xfrm>
            <a:off x="6406028" y="5708650"/>
            <a:ext cx="684555" cy="63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96245" y="555625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96245" y="574040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</a:t>
            </a:r>
          </a:p>
        </p:txBody>
      </p:sp>
      <p:sp>
        <p:nvSpPr>
          <p:cNvPr id="69" name="Isosceles Triangle 68"/>
          <p:cNvSpPr/>
          <p:nvPr/>
        </p:nvSpPr>
        <p:spPr>
          <a:xfrm rot="10800000">
            <a:off x="6585339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61539" y="586740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100,0%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571500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72" name="Rounded Rectangle 71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ringkasan-FFFFFF-28e5662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Analog lain dan status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Kebakaran depo BBM Plumpang 2023: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17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meninggal pada data hari kedua.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Kemarau 2026: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4 TPA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terbakar;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369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485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TPA masih pembuangan terbuka.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Status bencana nasional nonalam pandemi COVID berlaku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1.165 hari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Korban nonalam dan sosial dari analog tercatat, tanpa perkalian model.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Kemenkes dikutip Renstra BNPB 2025–2029; WHO; ICG (2002); BPBD DKI; KLH/BPLH; BNPB; Keppres 12/2020 dan 17/2023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D1. Target cakupan peringatan dini 2029: Renstra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6,32%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lawan Renas</a:t>
            </a:r>
            <a:br/>
            <a:r>
              <a:rPr sz="2000" b="1" lang="id-ID">
                <a:solidFill>
                  <a:srgbClr val="1A1A1A"/>
                </a:solidFill>
                <a:latin typeface="Roboto"/>
              </a:rPr>
              <a:t>PB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52.000 per 100.000 penduduk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;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17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celah kewenangan tercatat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44277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PERINGATAN DINI</a:t>
            </a:r>
          </a:p>
        </p:txBody>
      </p:sp>
      <p:pic>
        <p:nvPicPr>
          <p:cNvPr id="11" name="Picture 10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ringatan-051C2C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6,32%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IKP Renstra 2029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52.000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Renas PB 2029, per penduduk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58022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PERATURAN PELAKSANA</a:t>
            </a:r>
          </a:p>
        </p:txBody>
      </p:sp>
      <p:pic>
        <p:nvPicPr>
          <p:cNvPr id="25" name="Picture 24" descr="regulasi-FFFFFF-e639f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regulasi-051C2C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disahkan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regulasi-051C2C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diinisiasi BNPB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ringkasan-FFFFFF-28e5662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6640" y="2346960"/>
            <a:ext cx="6243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Kesenjangan yang menuntut keputusan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640" y="2905760"/>
            <a:ext cx="6624726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Dua indikator peringatan dini berpenyebut berbeda dan Perpres status bencana belum terbit; perubahan target hanya lewat jalur berkala Renas PB dan evaluasi Renstra.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333756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675640" y="365601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6" y="3731958"/>
            <a:ext cx="178308" cy="178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0140" y="3656012"/>
            <a:ext cx="840823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0963" y="3656012"/>
            <a:ext cx="4424924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IKP Renstra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6,10%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adalah rerata cakupan tsunami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12,19%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dan banjir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0,01%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2025.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5754" y="373856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425704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675640" y="45246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FFFFFF-e639f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4600638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20140" y="4524692"/>
            <a:ext cx="840823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0963" y="4524692"/>
            <a:ext cx="4424924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Perpres status dan tingkatan bencana belum terbit, padahal MK mewajibkan jumlah korban di antara sekurang-kurangnya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indikator.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05754" y="460724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512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675640" y="539337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86" y="5469318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20140" y="5393372"/>
            <a:ext cx="840823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60963" y="5393372"/>
            <a:ext cx="4424924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12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sel nonalam dan sosial tanpa program; program berjalan seperti Destana diberi evaluasi dampak.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87487" y="5475922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regulasi-FFFFFF-e639f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1121747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72526" y="2346960"/>
            <a:ext cx="292222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Celah dan tumpang tindih terpilih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91526" y="2905760"/>
            <a:ext cx="19124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TOPIK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3943" y="2905760"/>
            <a:ext cx="19124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7691526" y="31165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Kewenangan PB ambigu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3943" y="31165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Tumpang tindih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691526" y="33832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7691526" y="33832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Dana darurat belum sinkron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3943" y="33832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691526" y="36499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7691526" y="36499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Peringatan dini multiancaman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03943" y="36499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691526" y="39166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7691526" y="39166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Konflik sosial dua rezim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3943" y="39166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Tumpang tindih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691526" y="41833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TextBox 85"/>
          <p:cNvSpPr txBox="1"/>
          <p:nvPr/>
        </p:nvSpPr>
        <p:spPr>
          <a:xfrm>
            <a:off x="7691526" y="41833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Gagal teknologi tanpa K/L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3943" y="41833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691526" y="44500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7691526" y="44500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Peringatan lintas Kemenko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03943" y="44500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691526" y="47167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TextBox 91"/>
          <p:cNvSpPr txBox="1"/>
          <p:nvPr/>
        </p:nvSpPr>
        <p:spPr>
          <a:xfrm>
            <a:off x="7691526" y="47167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Penyedia peringatan per bahaya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3943" y="47167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Renstra BNPB 2025–2029; Renas PB 2025–2029; LKIP BNPB 2025; BPK IHPS II 2024; Putusan MK Agustus 2026; paket lembaga dan kompendium Pantau Bencana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E1. Langkah Grand Design per Fase,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Bertaut ke Kode Rekomendasi 2026–2030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270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6007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SASARAN 2029 DAN ARAH 2030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jiwa-FFFFFF-9b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9512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Indikator korban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Meninggal dan hilang per penduduk menurut Renas PB, terukur dari DIBI.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22320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3395345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45" y="59512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5715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Catatan metode IRBI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5715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Baseline IRBI 2025 berskala baru dipakai setelah catatan metodenya terbit.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22975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609600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kapasitas-FFFFFF-22e80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9512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16370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Kapasitas daerah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370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Penyebut provinsi atau kab/kota diputus sebelum target ditetapkan ulang.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23630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8796655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pembiayaan-FFFFFF-5387a3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55" y="5951220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17025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Arsitektur pendanaan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025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Tanpa pagu; sumber dana dipetakan per fase.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prabencana-FFFFFF-572c04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5664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5640" y="1958848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1946148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Kirim prakiraan BMKG, minta kaji ulang rencana kontinjensi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2263648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0" name="Picture 39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2295017"/>
            <a:ext cx="102362" cy="10236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674027" y="2263648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42" name="Picture 41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6577" y="2295017"/>
            <a:ext cx="102362" cy="102362"/>
          </a:xfrm>
          <a:prstGeom prst="rect">
            <a:avLst/>
          </a:prstGeom>
        </p:spPr>
      </p:pic>
      <p:cxnSp>
        <p:nvCxnSpPr>
          <p:cNvPr id="43" name="Connector 42"/>
          <p:cNvCxnSpPr/>
          <p:nvPr/>
        </p:nvCxnSpPr>
        <p:spPr>
          <a:xfrm>
            <a:off x="675640" y="2533396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675640" y="2650744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2638044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Uji rantai peringatan dini banjir dan longsor sampai warga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" y="295554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7" name="Picture 46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2986913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1674027" y="2955544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49" name="Picture 48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6577" y="2986913"/>
            <a:ext cx="102362" cy="102362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675640" y="3225292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Rounded Rectangle 50"/>
          <p:cNvSpPr/>
          <p:nvPr/>
        </p:nvSpPr>
        <p:spPr>
          <a:xfrm>
            <a:off x="67564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Masukkan skenario megathrust ke rencana kontinjensi pesisir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4" name="Picture 53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3678809"/>
            <a:ext cx="102362" cy="10236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798050" y="364744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56" name="Picture 55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0600" y="3678809"/>
            <a:ext cx="102362" cy="102362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675640" y="3917188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Rounded Rectangle 57"/>
          <p:cNvSpPr/>
          <p:nvPr/>
        </p:nvSpPr>
        <p:spPr>
          <a:xfrm>
            <a:off x="675640" y="4034536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4021836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Susun rencana induk peringatan dini multiancaman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5840" y="433933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1" name="Picture 60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4370705"/>
            <a:ext cx="102362" cy="102362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798050" y="4339336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63" name="Picture 62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0600" y="4370705"/>
            <a:ext cx="102362" cy="102362"/>
          </a:xfrm>
          <a:prstGeom prst="rect">
            <a:avLst/>
          </a:prstGeom>
        </p:spPr>
      </p:pic>
      <p:cxnSp>
        <p:nvCxnSpPr>
          <p:cNvPr id="64" name="Connector 63"/>
          <p:cNvCxnSpPr/>
          <p:nvPr/>
        </p:nvCxnSpPr>
        <p:spPr>
          <a:xfrm>
            <a:off x="675640" y="4609084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Rounded Rectangle 64"/>
          <p:cNvSpPr/>
          <p:nvPr/>
        </p:nvSpPr>
        <p:spPr>
          <a:xfrm>
            <a:off x="675640" y="4726432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4713732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Evaluasi dampak program berjalan di desa dan sekolah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5840" y="503123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68" name="Picture 67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5062601"/>
            <a:ext cx="102362" cy="102362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798050" y="5031232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70" name="Picture 69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0600" y="5062601"/>
            <a:ext cx="102362" cy="102362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29260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9260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41960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6" name="Picture 75" descr="tanggap-darurat-FFFFFF-d40eccc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6750" y="1422400"/>
            <a:ext cx="177800" cy="1778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0060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19600" y="2045335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49800" y="2032635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Tetapkan hari ke-0 dan unit Rencana Aksi Musim Hujan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749800" y="2350135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1" name="Picture 80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2381504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5417987" y="2350135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83" name="Picture 82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537" y="2381504"/>
            <a:ext cx="102362" cy="102362"/>
          </a:xfrm>
          <a:prstGeom prst="rect">
            <a:avLst/>
          </a:prstGeom>
        </p:spPr>
      </p:pic>
      <p:cxnSp>
        <p:nvCxnSpPr>
          <p:cNvPr id="84" name="Connector 83"/>
          <p:cNvCxnSpPr/>
          <p:nvPr/>
        </p:nvCxnSpPr>
        <p:spPr>
          <a:xfrm>
            <a:off x="4419600" y="270637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Rounded Rectangle 84"/>
          <p:cNvSpPr/>
          <p:nvPr/>
        </p:nvSpPr>
        <p:spPr>
          <a:xfrm>
            <a:off x="4419600" y="2910205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49800" y="2897505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Siapkan logistik terhadap lantai kebutuhan respons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49800" y="3215005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8" name="Picture 87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3246374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5417987" y="3215005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90" name="Picture 89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537" y="3246374"/>
            <a:ext cx="102362" cy="102362"/>
          </a:xfrm>
          <a:prstGeom prst="rect">
            <a:avLst/>
          </a:prstGeom>
        </p:spPr>
      </p:pic>
      <p:cxnSp>
        <p:nvCxnSpPr>
          <p:cNvPr id="91" name="Connector 90"/>
          <p:cNvCxnSpPr/>
          <p:nvPr/>
        </p:nvCxnSpPr>
        <p:spPr>
          <a:xfrm>
            <a:off x="4419600" y="357124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Rounded Rectangle 91"/>
          <p:cNvSpPr/>
          <p:nvPr/>
        </p:nvSpPr>
        <p:spPr>
          <a:xfrm>
            <a:off x="4419600" y="3775075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49800" y="3762375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Susun pedoman keadaan tertentu untuk faktor sosial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749800" y="4079875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95" name="Picture 94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4111244"/>
            <a:ext cx="102362" cy="10236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5417987" y="4079875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97" name="Picture 96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537" y="4111244"/>
            <a:ext cx="102362" cy="102362"/>
          </a:xfrm>
          <a:prstGeom prst="rect">
            <a:avLst/>
          </a:prstGeom>
        </p:spPr>
      </p:pic>
      <p:cxnSp>
        <p:nvCxnSpPr>
          <p:cNvPr id="98" name="Connector 97"/>
          <p:cNvCxnSpPr/>
          <p:nvPr/>
        </p:nvCxnSpPr>
        <p:spPr>
          <a:xfrm>
            <a:off x="4419600" y="443611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Rounded Rectangle 98"/>
          <p:cNvSpPr/>
          <p:nvPr/>
        </p:nvSpPr>
        <p:spPr>
          <a:xfrm>
            <a:off x="4419600" y="4639945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49800" y="4627245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Tetapkan pengait status KLB dan darurat bencana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749800" y="494474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02" name="Picture 101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4976114"/>
            <a:ext cx="102362" cy="10236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5542010" y="4944745"/>
            <a:ext cx="119114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Kesehatan</a:t>
            </a:r>
          </a:p>
        </p:txBody>
      </p:sp>
      <p:pic>
        <p:nvPicPr>
          <p:cNvPr id="104" name="Picture 103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4560" y="4976114"/>
            <a:ext cx="102362" cy="102362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03656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03656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16356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0" name="Picture 109" descr="pascabencana-FFFFFF-603074b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710" y="1422400"/>
            <a:ext cx="177800" cy="1778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854456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16356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R-M17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9376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Tarik data kerusakan dan samakan instrumen rumah rusak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493760" y="249428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15" name="Picture 114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2525649"/>
            <a:ext cx="102362" cy="102362"/>
          </a:xfrm>
          <a:prstGeom prst="rect">
            <a:avLst/>
          </a:prstGeom>
        </p:spPr>
      </p:pic>
      <p:sp>
        <p:nvSpPr>
          <p:cNvPr id="116" name="Rounded Rectangle 115"/>
          <p:cNvSpPr/>
          <p:nvPr/>
        </p:nvSpPr>
        <p:spPr>
          <a:xfrm>
            <a:off x="9285970" y="2494280"/>
            <a:ext cx="19360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Rehabilitasi dan Rekonstruksi</a:t>
            </a:r>
          </a:p>
        </p:txBody>
      </p:sp>
      <p:pic>
        <p:nvPicPr>
          <p:cNvPr id="117" name="Picture 116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520" y="2525649"/>
            <a:ext cx="102362" cy="102362"/>
          </a:xfrm>
          <a:prstGeom prst="rect">
            <a:avLst/>
          </a:prstGeom>
        </p:spPr>
      </p:pic>
      <p:cxnSp>
        <p:nvCxnSpPr>
          <p:cNvPr id="118" name="Connector 117"/>
          <p:cNvCxnSpPr/>
          <p:nvPr/>
        </p:nvCxnSpPr>
        <p:spPr>
          <a:xfrm>
            <a:off x="816356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9" name="Rounded Rectangle 118"/>
          <p:cNvSpPr/>
          <p:nvPr/>
        </p:nvSpPr>
        <p:spPr>
          <a:xfrm>
            <a:off x="816356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9376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Laporkan realisasi indikator korban Renas PB tiap tahun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49376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22" name="Picture 121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3678809"/>
            <a:ext cx="102362" cy="102362"/>
          </a:xfrm>
          <a:prstGeom prst="rect">
            <a:avLst/>
          </a:prstGeom>
        </p:spPr>
      </p:pic>
      <p:sp>
        <p:nvSpPr>
          <p:cNvPr id="123" name="Rounded Rectangle 122"/>
          <p:cNvSpPr/>
          <p:nvPr/>
        </p:nvSpPr>
        <p:spPr>
          <a:xfrm>
            <a:off x="9285970" y="3647440"/>
            <a:ext cx="171042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PB</a:t>
            </a:r>
          </a:p>
        </p:txBody>
      </p:sp>
      <p:pic>
        <p:nvPicPr>
          <p:cNvPr id="124" name="Picture 123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520" y="3678809"/>
            <a:ext cx="102362" cy="102362"/>
          </a:xfrm>
          <a:prstGeom prst="rect">
            <a:avLst/>
          </a:prstGeom>
        </p:spPr>
      </p:pic>
      <p:cxnSp>
        <p:nvCxnSpPr>
          <p:cNvPr id="125" name="Connector 124"/>
          <p:cNvCxnSpPr/>
          <p:nvPr/>
        </p:nvCxnSpPr>
        <p:spPr>
          <a:xfrm>
            <a:off x="816356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6" name="Rounded Rectangle 125"/>
          <p:cNvSpPr/>
          <p:nvPr/>
        </p:nvSpPr>
        <p:spPr>
          <a:xfrm>
            <a:off x="816356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9376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Rapikan pencatatan nonalam dan sosial di DIBI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49376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29" name="Picture 128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4831969"/>
            <a:ext cx="102362" cy="102362"/>
          </a:xfrm>
          <a:prstGeom prst="rect">
            <a:avLst/>
          </a:prstGeom>
        </p:spPr>
      </p:pic>
      <p:sp>
        <p:nvSpPr>
          <p:cNvPr id="130" name="Rounded Rectangle 129"/>
          <p:cNvSpPr/>
          <p:nvPr/>
        </p:nvSpPr>
        <p:spPr>
          <a:xfrm>
            <a:off x="9285970" y="4800600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131" name="Picture 130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520" y="4831969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E2. Kalender Rencana Aksi Musim Hujan 2026/2027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Tingkat Nasional dan Kesiapan Kemarau 2027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54087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1A1A1A"/>
                </a:solidFill>
                <a:latin typeface="Roboto"/>
              </a:rPr>
              <a:t>PRAKIRAAN BMKG</a:t>
            </a:r>
          </a:p>
        </p:txBody>
      </p:sp>
      <p:pic>
        <p:nvPicPr>
          <p:cNvPr id="11" name="Picture 10" descr="kalender-1A1A1A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zona musim berawal mundur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zona musim berpuncak Desember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218275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LANTAI RESPONS</a:t>
            </a:r>
          </a:p>
        </p:txBody>
      </p:sp>
      <p:pic>
        <p:nvPicPr>
          <p:cNvPr id="25" name="Picture 24" descr="pengungsi-FFFFFF-65a2f7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jiwa-051C2C-9b7037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1.692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lantai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pengungsi-051C2C-65a2f7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981.483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 puncak serentak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KESIAPAN KEMARAU 2027</a:t>
            </a:r>
          </a:p>
        </p:txBody>
      </p:sp>
      <p:sp>
        <p:nvSpPr>
          <p:cNvPr id="39" name="Oval 38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kekeringan-FFFFFF-bd7fcb5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Lantai kemarau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Skenario tidak lebih ringan dari kekeringan 2018 dan karhutla 2015.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karhutla-FFFFFF-1955759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Karhutla Sumatera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Rencana kontinjensi karhutla Sumatera disiapkan sebelum Februari.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kalender-FFFFFF-a840cf9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Pemicu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Prakiraan kemarau 2027 BMKG belum terbit; pemicu disiapkan dari lantai dan ENSO.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11094720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2346960"/>
            <a:ext cx="11094720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kalender-FFFFFF-a840cf9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640" y="2346960"/>
            <a:ext cx="951984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Aksi per bulan menurut pusat dan wilayah, November 2026 sampai April 2027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5640" y="2905760"/>
            <a:ext cx="271018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BULAN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5820" y="2905760"/>
            <a:ext cx="271018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PUNCAK MENURUT BMKG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0" y="2905760"/>
            <a:ext cx="271018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PUSAT (BNPB)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06180" y="2905760"/>
            <a:ext cx="271018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WILAYAH DAN DAERAH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311658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75640" y="31165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2026, hari ke-0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5820" y="31165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Awal musim; kemarau masih berjalan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0" y="31165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R-A01 sampai R-A05: keputusan awal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06180" y="31165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Sumatera dan Kalimantan siaga dulu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38328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75640" y="33832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Desember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5820" y="33832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Puncak Sumatera, Kalimantan, Sulbar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96000" y="33832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R-A06 uji rantai peringatan dini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06180" y="33832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Gladi di Jawa sampai Sulawesi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364998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675640" y="36499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Januari dan Februari 2027, hari ke-100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5820" y="36499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Puncak Jawa, Bali, Nusa Tenggara, Papua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96000" y="36499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Pendampingan status darurat dan DSP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06180" y="36499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Transisi darurat di wilayah barat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391668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39166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Maret dan April 2027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5820" y="39166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Akhir musim; Maluku menuju Mei sampai Juli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96000" y="39166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R-A09 kajian cepat untuk kemarau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06180" y="39166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Renkon Maluku untuk Mei sampai Juli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BMKG, prakiraan musim hujan 2026/2027; DIBI BNPB 2008–2026; Perban BNPB 11/2025; analisis kajian ini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E3.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129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baris peran lembaga tertulis di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norma;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13 ancaman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tanpa baris khusus jenis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0096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PERAN TERTULIS</a:t>
            </a:r>
          </a:p>
        </p:txBody>
      </p:sp>
      <p:pic>
        <p:nvPicPr>
          <p:cNvPr id="11" name="Picture 10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051C2C-e639fe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baris peran tertulis di norma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2364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158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784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94174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4174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lembaga dalam paket peran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0307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348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076" y="1337310"/>
            <a:ext cx="1230198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CELAH PER JENIS</a:t>
            </a:r>
          </a:p>
        </p:txBody>
      </p:sp>
      <p:pic>
        <p:nvPicPr>
          <p:cNvPr id="25" name="Picture 24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2516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ringatan-051C2C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ancaman tanpa baris tertulis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Mandat tertulis lintas jenis per fase, kode peran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640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00585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PRABENCANA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5531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TANGGAP DARURAT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50476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PASCABENCANA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75421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LINTAS FASE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675640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00585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25531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50476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75421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37820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00585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5531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50476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75421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639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75640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Kemenkes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00585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25531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50476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75421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390144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Kemensos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00585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5531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50476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75421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416306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75640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00585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25531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0476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75421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4424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675640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Kementerian PKP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00585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25531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50476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75421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468630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75640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00585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25531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50476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75421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75640" y="49479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8" name="TextBox 87"/>
          <p:cNvSpPr txBox="1"/>
          <p:nvPr/>
        </p:nvSpPr>
        <p:spPr>
          <a:xfrm>
            <a:off x="675640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00585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25531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50476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75421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75640" y="520954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675640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Pemda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00585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25531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50476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75421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75640" y="547116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675640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00585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25531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50476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75421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75640" y="5732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TextBox 105"/>
          <p:cNvSpPr txBox="1"/>
          <p:nvPr/>
        </p:nvSpPr>
        <p:spPr>
          <a:xfrm>
            <a:off x="675640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Basarnas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00585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25531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50476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975421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6" name="Picture 115" descr="ringkasan-FFFFFF-28e5662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Kode peran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 koordinator dan P pelaksana atau pendukung; R penetap norma atau status dan I penyedia informasi.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Tanda pisah: tidak tercatat di peraturan yang dibaca.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Komando nasional BNPB bergantung pada Perpres status dan tingkatan bencana yang belum terbit.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Gempa, tsunami, gunung api, longsor, cuaca ekstrem, dan kebakaran TPA tanpa baris khusus jenis.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Paket lembaga Pantau Bencana dari peraturan perundang-undangan; UU 24/2007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E4. Rekomendasi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pertama: keputusan empat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belas hari dan langkah sebelum puncak musim hujan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hari ke-0 dan tugaskan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Keputusan bertanggal dalam empat belas hari pertama memuat unit Rencana Aksi Musim Hujan 2026/2027 untuk seluruh provinsi.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707356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10315" y="1707356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865" y="1738725"/>
            <a:ext cx="102362" cy="102362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Kirim prakiraan, minta kaji ulang renkon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29" name="Picture 2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661327" y="2418239"/>
            <a:ext cx="54860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Prakiraan awal dan puncak musim BMKG diteruskan ke BPBD provinsi; wilayah yang memuncak Desember didahulukan.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8733" y="2207419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33" name="Picture 3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238788"/>
            <a:ext cx="102362" cy="10236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046441" y="2207419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35" name="Picture 3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2238788"/>
            <a:ext cx="102362" cy="10236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8758733" y="24233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37" name="Picture 3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454688"/>
            <a:ext cx="102362" cy="102362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data operasional kemarau 2026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3" name="Picture 4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Volume distribusi air dan desa terdampak per kab/kota diminta dari semua BPBD provinsi beserta status darurat.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8733" y="2923381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47" name="Picture 4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609879" y="2923381"/>
            <a:ext cx="17586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Penanganan Darurat Wilayah</a:t>
            </a:r>
          </a:p>
        </p:txBody>
      </p:sp>
      <p:pic>
        <p:nvPicPr>
          <p:cNvPr id="49" name="Picture 4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2954750"/>
            <a:ext cx="102362" cy="102362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Inventarisasi logistik terhadap lantai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661327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Cadangan per wilayah direktorat dibandingkan kebutuhan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1.043.740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mengungsi semusim.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58733" y="3531394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59" name="Picture 58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cxnSp>
        <p:nvCxnSpPr>
          <p:cNvPr id="60" name="Connector 59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Oval 60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Ajukan rakor peninjauan Renas PB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3140" y="424227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5" name="Picture 64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661327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Progsun 2026 tidak memuat perubahan Renas PB; rekomendasi kedua kajian dimuat ke evaluasi tahunan Renas PB 2026 per jalur.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58733" y="4139406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69" name="Picture 68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9775415" y="4139406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71" name="Picture 7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170775"/>
            <a:ext cx="102362" cy="102362"/>
          </a:xfrm>
          <a:prstGeom prst="rect">
            <a:avLst/>
          </a:prstGeom>
        </p:spPr>
      </p:pic>
      <p:cxnSp>
        <p:nvCxnSpPr>
          <p:cNvPr id="72" name="Connector 71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Uji rantai peringatan dini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3140" y="485028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77" name="Picture 7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1661327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Pesan diuji sampai warga di kab/kota daftar perhatian banjir dan longsor; umpan balik BPBD dicatat.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58733" y="4747419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81" name="Picture 8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10073548" y="47474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4778788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0671369" y="4747419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5" name="Picture 8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4778788"/>
            <a:ext cx="102362" cy="102362"/>
          </a:xfrm>
          <a:prstGeom prst="rect">
            <a:avLst/>
          </a:prstGeom>
        </p:spPr>
      </p:pic>
      <p:cxnSp>
        <p:nvCxnSpPr>
          <p:cNvPr id="86" name="Connector 85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Lantai skenario ke rencana kontinjensi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3140" y="545830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91" name="Picture 9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1661327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provinsi memuat asumsi dampak lima aspek dengan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1.692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meninggal dan hilang.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58733" y="5247481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95" name="Picture 9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278850"/>
            <a:ext cx="102362" cy="10236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758733" y="5463381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97" name="Picture 9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494750"/>
            <a:ext cx="102362" cy="102362"/>
          </a:xfrm>
          <a:prstGeom prst="rect">
            <a:avLst/>
          </a:prstGeom>
        </p:spPr>
      </p:pic>
      <p:cxnSp>
        <p:nvCxnSpPr>
          <p:cNvPr id="98" name="Connector 97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Tugaskan catatan metode IRBI 2025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3140" y="606631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3" name="Picture 10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1661327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Penugasan dalam empat belas hari; catatan metode dan rekonsiliasi IRB 2024 terbit paling lambat hari ke-100.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758733" y="5963444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107" name="Picture 10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8758733" y="6179344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Pusdatinkom</a:t>
            </a:r>
          </a:p>
        </p:txBody>
      </p:sp>
      <p:pic>
        <p:nvPicPr>
          <p:cNvPr id="109" name="Picture 10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2107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E5. Rekomendasi penutup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dan awal peta jalan 2026–2027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Ajukan izin prakarsa di luar Progsun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Izin prakarsa untuk perubahan Renas PB dan pedoman keadaan tertentu terbit dalam empat belas hari pertama.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707356"/>
            <a:ext cx="156964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Sistem dan Strategi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Susun pedoman keadaan tertentu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27" name="Picture 2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661327" y="241823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Rancangan perubahan Perban BNPB tentang keadaan tertentu memuat faktor sosial dan rekonsiliasi pascakonflik.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8733" y="2315369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31" name="Picture 3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406764" y="2315369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33" name="Picture 3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9314" y="2346738"/>
            <a:ext cx="102362" cy="102362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R-M22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Sarankan perubahan lokasi Renas PB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9" name="Picture 3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Kab/kota terdampak berat 2025 di luar lokus prioritas diusulkan lewat jalur pengendalian Renas PB.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58733" y="2923381"/>
            <a:ext cx="171042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PB</a:t>
            </a:r>
          </a:p>
        </p:txBody>
      </p:sp>
      <p:pic>
        <p:nvPicPr>
          <p:cNvPr id="43" name="Picture 4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pemicu Kesiapan Kemarau 2027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9" name="Picture 4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661327" y="3634264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Dokumen pemicu terbit sebelum Mei 2027 dengan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7.798.763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terdampak kekeringan.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8733" y="353139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53" name="Picture 5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10046441" y="353139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55" name="Picture 5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3562763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0644262" y="3531394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57" name="Picture 5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812" y="3562763"/>
            <a:ext cx="102362" cy="102362"/>
          </a:xfrm>
          <a:prstGeom prst="rect">
            <a:avLst/>
          </a:prstGeom>
        </p:spPr>
      </p:pic>
      <p:cxnSp>
        <p:nvCxnSpPr>
          <p:cNvPr id="58" name="Connector 57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Selaraskan target peringatan dini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3" name="Picture 6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785350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Putusan penyelarasan ditulis; usulan perubahan Renstra disampaikan atas evaluasi tahun ketiga pada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2027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58733" y="4139406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67" name="Picture 6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9775415" y="4139406"/>
            <a:ext cx="13586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PPN/Bappenas</a:t>
            </a:r>
          </a:p>
        </p:txBody>
      </p:sp>
      <p:pic>
        <p:nvPicPr>
          <p:cNvPr id="69" name="Picture 6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170775"/>
            <a:ext cx="102362" cy="102362"/>
          </a:xfrm>
          <a:prstGeom prst="rect">
            <a:avLst/>
          </a:prstGeom>
        </p:spPr>
      </p:pic>
      <p:cxnSp>
        <p:nvCxnSpPr>
          <p:cNvPr id="70" name="Connector 69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2" name="Picture 71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Putuskan penyebut kapasitas daerah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75" name="Picture 74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1785350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Putusan menyebut penyebut provinsi atau kab/kota; capaian provinsi dan kab/kota dilaporkan berdampingan.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58733" y="4639469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79" name="Picture 78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670838"/>
            <a:ext cx="102362" cy="102362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9775415" y="4639469"/>
            <a:ext cx="13586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PPN/Bappenas</a:t>
            </a:r>
          </a:p>
        </p:txBody>
      </p:sp>
      <p:pic>
        <p:nvPicPr>
          <p:cNvPr id="81" name="Picture 8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670838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8758733" y="4855369"/>
            <a:ext cx="7593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4886738"/>
            <a:ext cx="102362" cy="102362"/>
          </a:xfrm>
          <a:prstGeom prst="rect">
            <a:avLst/>
          </a:prstGeom>
        </p:spPr>
      </p:pic>
      <p:cxnSp>
        <p:nvCxnSpPr>
          <p:cNvPr id="84" name="Connector 83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6" name="Picture 85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Usulkan Perpres status dan tingkatan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1785350" y="545830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Rancangan diajukan lewat Kemenko PMK dengan jumlah korban sebagai indikator wajib dan DIBI sebagai sumber.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58733" y="5355431"/>
            <a:ext cx="193005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Sistem Penanggulangan Bencana</a:t>
            </a:r>
          </a:p>
        </p:txBody>
      </p:sp>
      <p:pic>
        <p:nvPicPr>
          <p:cNvPr id="93" name="Picture 9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94" name="Rounded Rectangle 93"/>
          <p:cNvSpPr/>
          <p:nvPr/>
        </p:nvSpPr>
        <p:spPr>
          <a:xfrm>
            <a:off x="10739584" y="5355431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95" name="Picture 9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2134" y="5386800"/>
            <a:ext cx="102362" cy="102362"/>
          </a:xfrm>
          <a:prstGeom prst="rect">
            <a:avLst/>
          </a:prstGeom>
        </p:spPr>
      </p:pic>
      <p:cxnSp>
        <p:nvCxnSpPr>
          <p:cNvPr id="96" name="Connector 95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8" name="Picture 97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Skenario megathrust ke renkon pesisir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01" name="Picture 10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1785350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tsunami provinsi pesisir memuat Mw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9,1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, lantai tercatat, dan paparan KRB.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758733" y="596344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5" name="Picture 10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06" name="Rounded Rectangle 105"/>
          <p:cNvSpPr/>
          <p:nvPr/>
        </p:nvSpPr>
        <p:spPr>
          <a:xfrm>
            <a:off x="10046441" y="596344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107" name="Picture 10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5994813"/>
            <a:ext cx="102362" cy="10236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10644262" y="5963444"/>
            <a:ext cx="8482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Badan Geologi</a:t>
            </a:r>
          </a:p>
        </p:txBody>
      </p:sp>
      <p:pic>
        <p:nvPicPr>
          <p:cNvPr id="109" name="Picture 10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812" y="59948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E6. Rekomendasi lanjutan peta jalan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arah 2028–2030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pengait KLB dan darurat bencana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1022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785350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Pasal pengait status KLB dengan status keadaan darurat bencana tertulis dalam Permenkes krisis kesehatan.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599406"/>
            <a:ext cx="119114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Kesehatan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630775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758733" y="1815306"/>
            <a:ext cx="193005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Sistem Penanggulangan Bencana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1846675"/>
            <a:ext cx="102362" cy="102362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Rapikan pencatatan nonalam di DIBI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140" y="241823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29" name="Picture 2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785350" y="241823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Kode jenis kebakaran TPA tersedia dan kejadian nonalam besar tercatat atau dirujuk di DIBI.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8733" y="2207419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33" name="Picture 3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238788"/>
            <a:ext cx="102362" cy="10236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758733" y="2423319"/>
            <a:ext cx="221028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Koordinasi Pengendalian Operasi Darurat</a:t>
            </a:r>
          </a:p>
        </p:txBody>
      </p:sp>
      <p:pic>
        <p:nvPicPr>
          <p:cNvPr id="35" name="Picture 3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454688"/>
            <a:ext cx="102362" cy="102362"/>
          </a:xfrm>
          <a:prstGeom prst="rect">
            <a:avLst/>
          </a:prstGeom>
        </p:spPr>
      </p:pic>
      <p:cxnSp>
        <p:nvCxnSpPr>
          <p:cNvPr id="36" name="Connector 35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Laporkan indikator korban Renas PB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3140" y="302625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1" name="Picture 4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785350" y="302625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Evaluasi tahunan memuat versi bencana alam dan semua klasifikasi dengan penanda patahan seri 2024.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58733" y="2923381"/>
            <a:ext cx="171042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PB</a:t>
            </a:r>
          </a:p>
        </p:txBody>
      </p:sp>
      <p:pic>
        <p:nvPicPr>
          <p:cNvPr id="45" name="Picture 4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0519953" y="2923381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Pusdatinkom</a:t>
            </a:r>
          </a:p>
        </p:txBody>
      </p:sp>
      <p:pic>
        <p:nvPicPr>
          <p:cNvPr id="47" name="Picture 4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2503" y="2954750"/>
            <a:ext cx="102362" cy="102362"/>
          </a:xfrm>
          <a:prstGeom prst="rect">
            <a:avLst/>
          </a:prstGeom>
        </p:spPr>
      </p:pic>
      <p:cxnSp>
        <p:nvCxnSpPr>
          <p:cNvPr id="48" name="Connector 47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R-M12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Susun rencana induk peringatan dini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3140" y="363426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3" name="Picture 5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1785350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induk multiancaman ditetapkan Kepala BNPB dan definisi penduduk tercakup dimuat.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58733" y="3531394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57" name="Picture 5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0073548" y="353139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59" name="Picture 5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3562763"/>
            <a:ext cx="102362" cy="10236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10671369" y="3531394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61" name="Picture 6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3562763"/>
            <a:ext cx="102362" cy="102362"/>
          </a:xfrm>
          <a:prstGeom prst="rect">
            <a:avLst/>
          </a:prstGeom>
        </p:spPr>
      </p:pic>
      <p:cxnSp>
        <p:nvCxnSpPr>
          <p:cNvPr id="62" name="Connector 61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R-M17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Tarik data kerusakan dan kerugian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7" name="Picture 6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1785350" y="4242276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Seri kerusakan dan kerugian rencana rehabilitasi dibuka; instrumen penilaian rumah rusak disatukan.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58733" y="4139406"/>
            <a:ext cx="19360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Rehabilitasi dan Rekonstruksi</a:t>
            </a:r>
          </a:p>
        </p:txBody>
      </p:sp>
      <p:pic>
        <p:nvPicPr>
          <p:cNvPr id="71" name="Picture 7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10745616" y="4139406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Pusdatinkom</a:t>
            </a:r>
          </a:p>
        </p:txBody>
      </p:sp>
      <p:pic>
        <p:nvPicPr>
          <p:cNvPr id="73" name="Picture 7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8166" y="4170775"/>
            <a:ext cx="102362" cy="102362"/>
          </a:xfrm>
          <a:prstGeom prst="rect">
            <a:avLst/>
          </a:prstGeom>
        </p:spPr>
      </p:pic>
      <p:cxnSp>
        <p:nvCxnSpPr>
          <p:cNvPr id="74" name="Connector 73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6" name="Picture 75" descr="kapasitas-FFFFFF-22e801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Terbitkan kalender kesiapan musiman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79" name="Picture 7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1785350" y="485028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Kalender bahaya bulanan per pulau berpemicu ENSO terbit tiap tahun, dengan kalender tersendiri untuk Maluku.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58733" y="4747419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3" name="Picture 8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0046441" y="47474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5" name="Picture 8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4778788"/>
            <a:ext cx="102362" cy="102362"/>
          </a:xfrm>
          <a:prstGeom prst="rect">
            <a:avLst/>
          </a:prstGeom>
        </p:spPr>
      </p:pic>
      <p:cxnSp>
        <p:nvCxnSpPr>
          <p:cNvPr id="86" name="Connector 85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pembiayaan-FFFFFF-5387a37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R-M18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Syaratkan manfaat-biaya Dana Bersama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91" name="Picture 9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1785350" y="545830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Kriteria penyaluran prabencana Dana Bersama memuat analisis manfaat-biaya lewat perubahan Perban.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58733" y="5355431"/>
            <a:ext cx="171042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PB</a:t>
            </a:r>
          </a:p>
        </p:txBody>
      </p:sp>
      <p:pic>
        <p:nvPicPr>
          <p:cNvPr id="95" name="Picture 9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10519953" y="5355431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Kemenkeu</a:t>
            </a:r>
          </a:p>
        </p:txBody>
      </p:sp>
      <p:pic>
        <p:nvPicPr>
          <p:cNvPr id="97" name="Picture 9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2503" y="5386800"/>
            <a:ext cx="102362" cy="102362"/>
          </a:xfrm>
          <a:prstGeom prst="rect">
            <a:avLst/>
          </a:prstGeom>
        </p:spPr>
      </p:pic>
      <p:cxnSp>
        <p:nvCxnSpPr>
          <p:cNvPr id="98" name="Connector 97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kapasitas-FFFFFF-22e801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R-M19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Jalankan evaluasi dampak program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03" name="Picture 10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1785350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Laporan evaluasi dampak InaTEWS hilir dan SPAB terbit dengan desa dan sekolah pembanding.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758733" y="5963444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107" name="Picture 10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10143954" y="596344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109" name="Picture 10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504" y="5994813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8758733" y="6179344"/>
            <a:ext cx="97409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Kemendikdasmen</a:t>
            </a:r>
          </a:p>
        </p:txBody>
      </p:sp>
      <p:pic>
        <p:nvPicPr>
          <p:cNvPr id="111" name="Picture 11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2107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Kesimpulan: delapan temuan berangka tentang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bencana Indonesia dan keputusan yang diminta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jiwa-051C2C-9b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HISTORI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Korban bencana alam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1.956 jiwa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meninggal dan hilang pada 2025,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3,1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kali proyeksi Renas PB.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PROFIL RISIKO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Indeks risiko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IRB nasional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turun 10,76%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2019–2024; indeks tidak mengukur korban.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wilayah-051C2C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PROFIL RISIKO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Sebaran wilayah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169 kab/kota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berstatus Tinggi;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di Papua.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banjir-051C2C-364735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SKENARIO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Lantai musim hujan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1.692 jiwa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meninggal dan hilang pada musim 2025/2026.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tsunami-D9600B-44d067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SKENARIO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Megathrust selatan Jawa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Mw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9,1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; rencana kontinjensi megathrust nasional belum ada.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Peringatan dini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IKP Renstra naik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0,22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poin persen; Renas PB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4,7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kali.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D9600B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Peraturan pelaksana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6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belum disahkan dan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belum diinisiasi BNPB.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lembaga-2F86D1-f44193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GRAND DESIGN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Bukti program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24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39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sel tanpa program berbukti kuat atau sedang.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09040" y="5369560"/>
            <a:ext cx="1608333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ARAHAN YANG DIMINTA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7373" y="5369560"/>
            <a:ext cx="8660887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Tetapkan kajian sebagai masukan Renas PB dan hari ke-0 dalam November 2026; selaraskan target peringatan dini; pilih penyebut kapasitas daerah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2015–2026; InaRISK BNPB, IRBI 2019–2025; PuSGeN 2024; Renstra BNPB 2025–2029; Renas PB 2025–2029; BPK IHPS II 2024; kompendium Pantau Bencana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bencana-tsun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USGS, Public domain,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Mitigasi Bencana Indonesia 2026–2030, Minggu, 25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Mitigasi Bencana Indonesia 2026–2030</dc:title>
  <dc:subject>Strategi Prabencana, Tanggap Darurat, dan Pascabencana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mitigasi bencana; Indonesia; grand design; skenario terburuk; prabencana</cp:keywords>
  <dc:language>id-ID</dc:language>
  <cp:category>Kajian</cp:category>
  <dc:description>Korban bencana alam 2025 tertinggi sejak 2018 walau indeks risiko turun; Grand Design 2026–2030 mengukur keberhasilan dengan indikator korban Renas PB, dan keputusan Kepala BNPB dalam November 2026 menjaga jalur berkala yang berakhir 2027.</dc:description>
</cp:coreProperties>
</file>