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30.png"/><Relationship Id="rId6" Type="http://schemas.openxmlformats.org/officeDocument/2006/relationships/image" Target="../media/image4.png"/><Relationship Id="rId7" Type="http://schemas.openxmlformats.org/officeDocument/2006/relationships/image" Target="../media/image31.png"/><Relationship Id="rId8" Type="http://schemas.openxmlformats.org/officeDocument/2006/relationships/image" Target="../media/image25.png"/><Relationship Id="rId9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Relationship Id="rId8" Type="http://schemas.openxmlformats.org/officeDocument/2006/relationships/image" Target="../media/image9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38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39.png"/><Relationship Id="rId8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9.png"/><Relationship Id="rId4" Type="http://schemas.openxmlformats.org/officeDocument/2006/relationships/image" Target="../media/image35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3.png"/><Relationship Id="rId8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35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39.png"/><Relationship Id="rId8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40.png"/><Relationship Id="rId8" Type="http://schemas.openxmlformats.org/officeDocument/2006/relationships/image" Target="../media/image38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ul-bencana-r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rob di Desa Bedono, Demak, Jawa Tengah; Tim LindungiHutan, CC BY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Grand Design Ketahanan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Air Pulau Jawa 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C9D1E3"/>
                </a:solidFill>
                <a:latin typeface="Roboto"/>
              </a:rPr>
              <a:t>Pengelolaan Air pada Musim Kemarau dan Musim Hujan untuk Pengurangan Risiko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2270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F6B26B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2750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Disampaikan kepada Kepala Badan Nasional Penanggulangan Bencana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478338"/>
            <a:ext cx="5120640" cy="0"/>
          </a:xfrm>
          <a:prstGeom prst="line">
            <a:avLst/>
          </a:prstGeom>
          <a:ln w="9525">
            <a:solidFill>
              <a:srgbClr val="8C9AA8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051C2C"/>
                </a:solidFill>
                <a:latin typeface="Roboto"/>
              </a:rPr>
              <a:t>Sabtu, 24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Pesan Kunci: ukuran keberhasilan musim hujan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dan musim kemarau, tiga keputusan Kepala BNPB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D9600B"/>
                </a:solidFill>
                <a:latin typeface="Roboto"/>
              </a:rPr>
              <a:t>KEPUTUSAN YANG DIMINTA DARI KEPALA BNPB</a:t>
            </a:r>
          </a:p>
        </p:txBody>
      </p:sp>
      <p:sp>
        <p:nvSpPr>
          <p:cNvPr id="11" name="Oval 1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Masukan peninjauan Renas PB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Tetapkan kajian sebagai masukan dan hari ke-0 paling lambat pertengahan November 2026; bila ditunda, hari ke-100 lewat puncak.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Target cakupan peringatan dini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Putuskan usulan penyelarasan target Renas PB dan Renstra BNPB atas evaluasi tahun ketiga Renstra.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penurunan-muka-tanah-FFFFFF-4d1f13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Tanggul Laut Pantura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Sampaikan posisi risiko lewat Kemenko PMK atau jalur pelibatan lembaga dalam Perpres BOP Pantura, sebagai kontributor Renas PB.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640" y="184150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Longsor dan banjir mencatat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1.412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dari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1.738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korban meninggal hidrometeorologi Jawa 2015–2026, sedangkan kekeringan tanpa korban jiwa; Grand Design 2026–2030 mengukur musim hujan dengan korban jiwa dan musim kemarau dengan gangguan air bersih serta pangan.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5640" y="227330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675640" y="252576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penurunan-muka-tanah-FFFFFF-4d1f13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86" y="2601711"/>
            <a:ext cx="178308" cy="1783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20140" y="252576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3437" y="2525765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Kondisi air.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GNSS Kota Pekalongan turun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10,7 cm per tahun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2010–2021; rob tercatat di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35 kab/kota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17411" y="2608315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67564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kekeringan-FFFFFF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3505105"/>
            <a:ext cx="178308" cy="1783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2014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3437" y="3429159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Musim kemarau.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Kekeringan di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76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kab/kota pada 2019 tanpa korban meninggal; volume air tersalur belum tercatat.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48987" y="351170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4130887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675640" y="433255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banjir-FFFFFF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4408498"/>
            <a:ext cx="178308" cy="1783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20140" y="4332552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3437" y="4332552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Musim hujan.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Lantai skenario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270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 dan hilang (2008/2009),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71,5%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jebolnya Situ Gintung.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48987" y="441510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Oval 50"/>
          <p:cNvSpPr/>
          <p:nvPr/>
        </p:nvSpPr>
        <p:spPr>
          <a:xfrm>
            <a:off x="6248400" y="260910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46" y="2685055"/>
            <a:ext cx="178308" cy="178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92900" y="260910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6197" y="2609109"/>
            <a:ext cx="3065683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Kesenjangan.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Peringatan dini baru memenuhi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masyarakat terpapar di kawasan berisiko tinggi.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121747" y="269165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24840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624840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346" y="3505105"/>
            <a:ext cx="178308" cy="1783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69290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6197" y="3429159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Grand design.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31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baris kewenangan air tanpa BNPB;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program air dalam negeri wajib evaluasi.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703481" y="3511709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Susilo dkk. (2023); Renstra BNPB 2025–2029; paket lembaga dan kompendium program Pantau Bencana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lang="id-ID">
                <a:solidFill>
                  <a:srgbClr val="1A1A1A"/>
                </a:solidFill>
                <a:latin typeface="Roboto"/>
              </a:rPr>
              <a:t>A1. Muka tanah di stasiun GNSS Kota Pekalongan turun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10,7 cm per</a:t>
            </a:r>
            <a:br/>
            <a:r>
              <a:rPr sz="2000" b="1" lang="id-ID">
                <a:solidFill>
                  <a:srgbClr val="D9600B"/>
                </a:solidFill>
                <a:latin typeface="Roboto"/>
              </a:rPr>
              <a:t>tahun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pada 2010–2021, tercepat di antara stasiun pesisir utara Jawa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352044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097718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LAJU TERUKUR</a:t>
            </a:r>
          </a:p>
        </p:txBody>
      </p:sp>
      <p:pic>
        <p:nvPicPr>
          <p:cNvPr id="11" name="Picture 10" descr="penurunan-muka-tanah-FFFFFF-4d1f1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300984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enurunan-muka-tanah-051C2C-4d1f1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679954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10,7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679954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 per tahun, GNSS Kota Pekalongan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3163" y="13462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5780" y="1282700"/>
            <a:ext cx="352044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45508" y="1337310"/>
            <a:ext cx="122819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BILA LAJU TETAP</a:t>
            </a:r>
          </a:p>
        </p:txBody>
      </p:sp>
      <p:pic>
        <p:nvPicPr>
          <p:cNvPr id="20" name="Picture 19" descr="kalender-FFFFFF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948" y="1372057"/>
            <a:ext cx="113386" cy="11338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45508" y="1593850"/>
            <a:ext cx="3300984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5472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kalender-051C2C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928" y="175895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57318" y="1630680"/>
            <a:ext cx="2679954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42,8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7318" y="1896110"/>
            <a:ext cx="2679954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 tambahan 2026–2030 bila laju tetap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361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2920" y="1282700"/>
            <a:ext cx="352044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32648" y="1337310"/>
            <a:ext cx="55408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ROB</a:t>
            </a:r>
          </a:p>
        </p:txBody>
      </p:sp>
      <p:pic>
        <p:nvPicPr>
          <p:cNvPr id="29" name="Picture 28" descr="rob-FFFFFF-ffd2c7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088" y="1372057"/>
            <a:ext cx="113386" cy="11338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232648" y="1593850"/>
            <a:ext cx="3300984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4186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rob-051C2C-ffd2c7e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8068" y="1758950"/>
            <a:ext cx="177800" cy="177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44458" y="1630680"/>
            <a:ext cx="2679954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4458" y="1896110"/>
            <a:ext cx="2679954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berkejadian rob 2015–2025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penurunan-muka-tanah-FFFFFF-4d1f1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674177" y="249301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640" y="2346960"/>
            <a:ext cx="549053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Laju penurunan muka tanah terukur per kota menurut periode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640" y="2905760"/>
            <a:ext cx="26365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WILAYAH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2145" y="2905760"/>
            <a:ext cx="26365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PERIODE UKUR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8649" y="2919730"/>
            <a:ext cx="125011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MAKS. CM/TAHUN</a:t>
            </a:r>
          </a:p>
        </p:txBody>
      </p:sp>
      <p:pic>
        <p:nvPicPr>
          <p:cNvPr id="47" name="Picture 46" descr="penurunan-muka-tanah-FFFFFF-4d1f1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089" y="2954477"/>
            <a:ext cx="113386" cy="113386"/>
          </a:xfrm>
          <a:prstGeom prst="rect">
            <a:avLst/>
          </a:prstGeom>
        </p:spPr>
      </p:pic>
      <p:cxnSp>
        <p:nvCxnSpPr>
          <p:cNvPr id="48" name="Connector 47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11658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2145" y="311658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1982-2010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8649" y="3116580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28,0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35639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335639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2145" y="335639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8649" y="3356398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5,0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59621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59621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2145" y="359621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1999-2011 (GPS 2008-2011)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8649" y="3596217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19,0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83603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75640" y="383603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2145" y="383603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8649" y="3836035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407585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407585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2145" y="407585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tak disebut di abstrak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8649" y="4075853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431567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431567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Pekalongan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2145" y="431567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8649" y="4315672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16,0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455549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455549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Pekalongan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12145" y="455549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48649" y="4555490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479530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479530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Pekalongan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12145" y="479530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8649" y="4795308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7,0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503512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503512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2145" y="503512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1982-2014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8649" y="5035127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10,0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527494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527494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 Utara dan Cikarang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12145" y="527494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2017-2022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8649" y="5274945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5640" y="551476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675640" y="551476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 utara-timur dan Demak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12145" y="551476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2015-2022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8649" y="5514763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12,0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575458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675640" y="575458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Kendal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12145" y="575458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2015-2022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48649" y="5754582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5,0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1" name="Picture 100" descr="ringkasan-FFFFFF-28e5662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Laju dari metode dan periode yang berbeda disandingkan tanpa diperingkat antarmetode.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Tiga cekungan air tanah yang dinyatakan rusak bertepatan dengan kota berlaju terukur.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Laju resmi berkala per kota belum terbuka; permintaan data lewat Dewan SDA Nasional.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Program berbukti kuat, pengendalian pengambilan air tanah dengan pasokan pengganti, baru ada di luar negeri.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Susilo dkk. (2023); literatur InSAR dan GNSS terverifikasi (olah Pantau Bencana); DIBI BNPB 2015–2025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B1.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53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masuk daftar perhatian kekeringan,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48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antaranya lewat syarat daerah irigasi kewenangan pusat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35594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DAFTAR PERHATIAN</a:t>
            </a:r>
          </a:p>
        </p:txBody>
      </p:sp>
      <p:pic>
        <p:nvPicPr>
          <p:cNvPr id="11" name="Picture 10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daftar perhatian kekeringan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rigasi-051C2C-3c813d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lolos lewat irigasi kewenangan pusat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004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78961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KEMARAU 2026, SEMENTARA</a:t>
            </a:r>
          </a:p>
        </p:txBody>
      </p:sp>
      <p:pic>
        <p:nvPicPr>
          <p:cNvPr id="25" name="Picture 24" descr="kekeringan-FFFFFF-bd7fcb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kekeringan-051C2C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tercatat, sementara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jiwa-051C2C-9b7037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1,3 juta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terdampak, sementara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pic>
        <p:nvPicPr>
          <p:cNvPr id="37" name="Picture 36" descr="peta-irbi-kekeringan-2025-jaw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932010" y="5380996"/>
            <a:ext cx="1423919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kekeringan 2025, kelas nilai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82929" y="5419096"/>
            <a:ext cx="101600" cy="101600"/>
          </a:xfrm>
          <a:prstGeom prst="rect">
            <a:avLst/>
          </a:prstGeom>
          <a:solidFill>
            <a:srgbClr val="FBE7D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35329" y="5380996"/>
            <a:ext cx="19487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5–8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57207" y="5419096"/>
            <a:ext cx="101600" cy="101600"/>
          </a:xfrm>
          <a:prstGeom prst="rect">
            <a:avLst/>
          </a:prstGeom>
          <a:solidFill>
            <a:srgbClr val="F4C3A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09607" y="5380996"/>
            <a:ext cx="7888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5492" y="5419096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67892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10–11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6740" y="5419096"/>
            <a:ext cx="101600" cy="101600"/>
          </a:xfrm>
          <a:prstGeom prst="rect">
            <a:avLst/>
          </a:prstGeom>
          <a:solidFill>
            <a:srgbClr val="D9600B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9140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12–13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77989" y="5419096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0389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14–19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95594" y="53873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6" name="Picture 55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dan IRBI per provinsi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3084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61" name="Picture 60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2287" y="2954477"/>
            <a:ext cx="113386" cy="113386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0856978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63" name="Picture 62" descr="kekeringan-FFFFFF-bd7fcb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8418" y="2954477"/>
            <a:ext cx="113386" cy="113386"/>
          </a:xfrm>
          <a:prstGeom prst="rect">
            <a:avLst/>
          </a:prstGeom>
        </p:spPr>
      </p:pic>
      <p:cxnSp>
        <p:nvCxnSpPr>
          <p:cNvPr id="64" name="Connector 63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29956" y="31165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30847" y="31165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83240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11,1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29956" y="33832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30847" y="33832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83240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11,4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Oval 74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29956" y="36499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30847" y="36499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83240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10,6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Oval 79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29956" y="39166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30847" y="39166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83240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9,4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Oval 84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29956" y="41833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30847" y="41833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83240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8,2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29956" y="44500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30847" y="44500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83240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54366" y="4843780"/>
            <a:ext cx="396199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Kendal, Sumedang, Gunungkidul, dan Blora di luar daftar walau termasuk sepuluh kabupaten terdampak terbanyak.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IRBI dipakai sebagai syarat daftar, tidak untuk peringkat kab/kota.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2025; DIBI BNPB 2015–2026 (olah Pantau Bencana)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B2. Skenario kemarau tidak lebih ringan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76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kab/kota (2019) dan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4,9 juta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jiwa terdampak (2018)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F4E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F4E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B08A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993810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Kekeringan: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kemarau El Niño 2026 berlanjut sampai awal musim hujan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75640" y="2044700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 kekeringan 2015–2026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0267" y="2044700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0 jiwa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3282" y="2131457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5640" y="2383314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75640" y="2383314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terdampak, lantai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0267" y="2383314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4.924.057 jiwa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23282" y="2470071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721928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721928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terdampak, lantai 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0267" y="2721928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76 kab/kota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3282" y="2808684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3060541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75640" y="3060541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terdampak 2026, sementara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0267" y="3060541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1.300.190 jiwa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23282" y="3147298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3399155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75640" y="3399155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karhutla, lantai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267" y="3399155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71.110 ha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23282" y="348591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3737769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75640" y="3737769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bahaya kekeringan tinggi, batas atas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0267" y="3737769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2,9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3282" y="382452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4076383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4076383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Padi Jawa Tengah 2024 lawan rerata 2021–2022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0267" y="4076383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turun 6,3%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3282" y="416313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4414996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75640" y="4414996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bersih per seratus ribu jiwa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0267" y="4414996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1.500 m³ per hari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23282" y="4501753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444894" y="1866900"/>
            <a:ext cx="0" cy="288671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45022" y="1866900"/>
            <a:ext cx="2671338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0" lang="id-ID">
                <a:solidFill>
                  <a:srgbClr val="2E3440"/>
                </a:solidFill>
                <a:latin typeface="Roboto"/>
              </a:rPr>
              <a:t>Tidak dinilai: peluang dampak setara lantai tanpa dasar hitung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5–25%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121747" y="2571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Daerah bertim reaksi cepat 2024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586867" y="27940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80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Renas PB 2029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703560" y="30988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84</a:t>
            </a:r>
          </a:p>
        </p:txBody>
      </p:sp>
      <p:sp>
        <p:nvSpPr>
          <p:cNvPr id="71" name="Isosceles Triangle 70"/>
          <p:cNvSpPr/>
          <p:nvPr/>
        </p:nvSpPr>
        <p:spPr>
          <a:xfrm>
            <a:off x="8253013" y="3416300"/>
            <a:ext cx="76200" cy="6096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naik 5%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daerah bertim reaksi cepat kedaruratan, termasuk kekeringan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71894" y="3619500"/>
            <a:ext cx="4944466" cy="1134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Lantai per metrik berasal dari tahun berbeda; tidak ada satu tahun analog utuh.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Kebutuhan air darurat dihitung sesudah data desa terdampak BPBD diterima.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5640" y="482981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75640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5640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BPBD menyalurkan air bersih sesuai standar dan mencatat volume serta desa terdampak.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Pemegang kewenangan wilayah sungai mendahulukan air untuk kebutuhan pokok sehari-hari.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Peringatan dini kekeringan BMKG per dasarian masuk platform peringatan dini BNPB.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31547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31547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Sumber air jangka menengah lewat SPAM bersifat khusus pusat dan provinsi.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Embung dan panen air hujan dievaluasi dampaknya sebelum diperluas.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Rekap kemarau 2026 menjadi garis dasar pemicu kemarau 2027.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87453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87453" y="5058410"/>
            <a:ext cx="52598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BPBD</a:t>
            </a:r>
          </a:p>
        </p:txBody>
      </p:sp>
      <p:pic>
        <p:nvPicPr>
          <p:cNvPr id="81" name="Picture 80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089779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8564240" y="505841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3" name="Picture 82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790" y="5089779"/>
            <a:ext cx="102362" cy="102362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9851948" y="505841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5" name="Picture 84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498" y="5089779"/>
            <a:ext cx="102362" cy="102362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10449769" y="505841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7" name="Picture 86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2319" y="5089779"/>
            <a:ext cx="102362" cy="102362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7987453" y="5274310"/>
            <a:ext cx="68890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Kementan</a:t>
            </a:r>
          </a:p>
        </p:txBody>
      </p:sp>
      <p:pic>
        <p:nvPicPr>
          <p:cNvPr id="89" name="Picture 88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305679"/>
            <a:ext cx="102362" cy="102362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SiPongi Kementerian Kehutanan; KRB BNPB 2022–2026; BPS Jawa Tengah; Perka BNPB tentang kebutuhan dasar; Renas PB 2025–2029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C1. Tanah longsor mencatat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924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1.738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korban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meninggal hidrometeorologi di Pulau Jawa pada 2015–2026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8057007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388191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KORBAN MENINGGAL</a:t>
            </a:r>
          </a:p>
        </p:txBody>
      </p:sp>
      <p:pic>
        <p:nvPicPr>
          <p:cNvPr id="11" name="Picture 10" descr="jiwa-FFFFFF-9b7037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ongsor-051C2C-c017b3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924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akibat tanah longsor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1.412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akibat longsor dan banjir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4362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53582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data-051C2C-608a1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782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56172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1.738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6172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jiwa, semua bahaya hidrometeorologi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306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72347" y="1282700"/>
            <a:ext cx="2771013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82075" y="1337310"/>
            <a:ext cx="86916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KALENDER</a:t>
            </a:r>
          </a:p>
        </p:txBody>
      </p:sp>
      <p:pic>
        <p:nvPicPr>
          <p:cNvPr id="30" name="Picture 29" descr="kalender-FFFFFF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3515" y="1372057"/>
            <a:ext cx="113386" cy="11338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kalender-051C2C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75,4%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November–April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pic>
        <p:nvPicPr>
          <p:cNvPr id="37" name="Picture 36" descr="peta-irbi-longsor-2025-jaw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04487" y="5380996"/>
            <a:ext cx="153614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tanah longsor 2025, kelas nilai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7632" y="5419096"/>
            <a:ext cx="101600" cy="101600"/>
          </a:xfrm>
          <a:prstGeom prst="rect">
            <a:avLst/>
          </a:prstGeom>
          <a:solidFill>
            <a:srgbClr val="FBE7D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20032" y="5380996"/>
            <a:ext cx="19487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1–8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41910" y="5419096"/>
            <a:ext cx="101600" cy="101600"/>
          </a:xfrm>
          <a:prstGeom prst="rect">
            <a:avLst/>
          </a:prstGeom>
          <a:solidFill>
            <a:srgbClr val="F4C3A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310" y="5380996"/>
            <a:ext cx="248363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9–10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9673" y="5419096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2073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11–12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0921" y="5419096"/>
            <a:ext cx="101600" cy="101600"/>
          </a:xfrm>
          <a:prstGeom prst="rect">
            <a:avLst/>
          </a:prstGeom>
          <a:solidFill>
            <a:srgbClr val="D9600B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03321" y="5380996"/>
            <a:ext cx="13237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62691" y="5419096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15091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14–20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43940" y="5419096"/>
            <a:ext cx="101600" cy="101600"/>
          </a:xfrm>
          <a:prstGeom prst="rect">
            <a:avLst/>
          </a:prstGeom>
          <a:solidFill>
            <a:srgbClr val="F1F3F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6340" y="5380996"/>
            <a:ext cx="46342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tanpa nilai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95594" y="53873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longsor-FFFFFF-c017b3f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dan IRBI per provinsi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3084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63" name="Picture 62" descr="data-FFFFFF-608a1e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2287" y="2954477"/>
            <a:ext cx="113386" cy="113386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10856978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65" name="Picture 64" descr="longsor-FFFFFF-c017b3f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48418" y="2954477"/>
            <a:ext cx="113386" cy="113386"/>
          </a:xfrm>
          <a:prstGeom prst="rect">
            <a:avLst/>
          </a:prstGeom>
        </p:spPr>
      </p:pic>
      <p:cxnSp>
        <p:nvCxnSpPr>
          <p:cNvPr id="66" name="Connector 65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29956" y="31165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30847" y="31165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2.346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83240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10,6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9956" y="33832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0847" y="33832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2.344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83240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11,3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29956" y="36499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30847" y="36499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83240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11,5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29956" y="39166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30847" y="39166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83240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9,3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29956" y="41833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30847" y="41833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83240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10,0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29956" y="44500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0847" y="44500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83240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54366" y="4843780"/>
            <a:ext cx="396199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Korban longsor tidak dikenai kepekaan peringatan dini karena waktu tunggunya pendek.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Peringatan gerakan tanah berbasis lokasi dan waktu sampai rumah tangga belum ada.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InaRISK BNPB, IRBI 2025 (olah Pantau Bencana)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C2. Banjir memaksa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1,2 juta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jiwa mengungsi,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87,1%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pengungsi hidrometeorologi di Pulau Jawa pada 2015–2026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8057007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178891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DAMPAK BANJIR</a:t>
            </a:r>
          </a:p>
        </p:txBody>
      </p:sp>
      <p:pic>
        <p:nvPicPr>
          <p:cNvPr id="11" name="Picture 10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jiwa-051C2C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meninggal akibat banjir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1,2 juta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mengungsi akibat banjir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4362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53582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data-051C2C-608a1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782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56172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46.268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6172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akibat banjir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306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72347" y="1282700"/>
            <a:ext cx="2771013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82075" y="1337310"/>
            <a:ext cx="93032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PENGUNGSI</a:t>
            </a:r>
          </a:p>
        </p:txBody>
      </p:sp>
      <p:pic>
        <p:nvPicPr>
          <p:cNvPr id="30" name="Picture 29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515" y="1372057"/>
            <a:ext cx="113386" cy="11338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87,1%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pengungsi hidrometeorologi akibat banjir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pic>
        <p:nvPicPr>
          <p:cNvPr id="37" name="Picture 36" descr="peta-irbi-banjir-2025-jaw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24154" y="5380996"/>
            <a:ext cx="1189841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banjir 2025, kelas nilai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40995" y="5419096"/>
            <a:ext cx="101600" cy="101600"/>
          </a:xfrm>
          <a:prstGeom prst="rect">
            <a:avLst/>
          </a:prstGeom>
          <a:solidFill>
            <a:srgbClr val="DCEBF8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93395" y="5380996"/>
            <a:ext cx="248363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7–11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68758" y="5419096"/>
            <a:ext cx="101600" cy="101600"/>
          </a:xfrm>
          <a:prstGeom prst="rect">
            <a:avLst/>
          </a:prstGeom>
          <a:solidFill>
            <a:srgbClr val="A4CAEE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21158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12–13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50006" y="5419096"/>
            <a:ext cx="101600" cy="101600"/>
          </a:xfrm>
          <a:prstGeom prst="rect">
            <a:avLst/>
          </a:prstGeom>
          <a:solidFill>
            <a:srgbClr val="68A8E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2406" y="5380996"/>
            <a:ext cx="13237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61776" y="5419096"/>
            <a:ext cx="101600" cy="101600"/>
          </a:xfrm>
          <a:prstGeom prst="rect">
            <a:avLst/>
          </a:prstGeom>
          <a:solidFill>
            <a:srgbClr val="2F86D1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4176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15–16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43024" y="5419096"/>
            <a:ext cx="101600" cy="101600"/>
          </a:xfrm>
          <a:prstGeom prst="rect">
            <a:avLst/>
          </a:prstGeom>
          <a:solidFill>
            <a:srgbClr val="1B5A93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95424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17–32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24273" y="5419096"/>
            <a:ext cx="101600" cy="101600"/>
          </a:xfrm>
          <a:prstGeom prst="rect">
            <a:avLst/>
          </a:prstGeom>
          <a:solidFill>
            <a:srgbClr val="F1F3F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76673" y="5380996"/>
            <a:ext cx="46342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tanpa nilai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95594" y="53873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dan IRBI per provinsi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3084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63" name="Picture 62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2287" y="2954477"/>
            <a:ext cx="113386" cy="113386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10856978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65" name="Picture 64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418" y="2954477"/>
            <a:ext cx="113386" cy="113386"/>
          </a:xfrm>
          <a:prstGeom prst="rect">
            <a:avLst/>
          </a:prstGeom>
        </p:spPr>
      </p:pic>
      <p:cxnSp>
        <p:nvCxnSpPr>
          <p:cNvPr id="66" name="Connector 65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29956" y="31165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30847" y="31165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1.475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83240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14,2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9956" y="33832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0847" y="33832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1.431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83240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12,5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29956" y="36499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30847" y="36499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1.322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83240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15,9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29956" y="39166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30847" y="39166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428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83240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13,1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29956" y="41833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30847" y="41833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185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83240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11,0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29956" y="44500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0847" y="44500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83240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54366" y="4843780"/>
            <a:ext cx="396199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Banjir lebih jarang menewaskan per kejadian daripada longsor, tetapi memindahkan penduduk paling banyak.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Kesiapan pengungsian (lokasi, logistik, air bersih) menentukan dampak banjir lebih dari jumlah korban jiwa.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InaRISK BNPB, IRBI 2025 (olah Pantau Bencana)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C3. Musim hujan 2026/2027 direncanakan tidak lebih ringan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270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meninggal dan hilang, angka musim 2008/2009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993810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Musim hujan: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tercatat terburuk di Pulau Jawa, setara 2008/2009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75640" y="20447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lantai 2008/2009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0267" y="20447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270 jiwa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3282" y="21336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5640" y="23876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75640" y="23876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Pita model La Niña, belum diuji balik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0267" y="23876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250–550 jiwa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2128" y="247650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7305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7305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musim 2025/2026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0267" y="27305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237 jiwa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3282" y="28194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30734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75640" y="30734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Mengungsi, lantai 2013/2014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0267" y="30734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525.861 jiwa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23282" y="31623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34163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75640" y="34163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berat, lantai 2009/2010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267" y="34163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6.905 unit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23282" y="3505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37592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75640" y="37592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bahaya tinggi banjir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0267" y="37592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1,5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3282" y="38481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41021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41021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bahaya tinggi tanah longsor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0267" y="41021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3,2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3282" y="41910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44894" y="1866900"/>
            <a:ext cx="0" cy="288671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03481" y="18605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FFFFFF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FFFFFF"/>
                </a:solidFill>
                <a:latin typeface="Roboto"/>
              </a:rPr>
              <a:t>5–25%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03481" y="2571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Lantai tercatat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03560" y="27940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Cakupan Renas PB 2029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46776" y="30988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175,6</a:t>
            </a:r>
          </a:p>
        </p:txBody>
      </p:sp>
      <p:sp>
        <p:nvSpPr>
          <p:cNvPr id="67" name="Isosceles Triangle 66"/>
          <p:cNvSpPr/>
          <p:nvPr/>
        </p:nvSpPr>
        <p:spPr>
          <a:xfrm rot="10800000">
            <a:off x="8253013" y="341630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2E3440"/>
                </a:solidFill>
                <a:latin typeface="Roboto"/>
              </a:rPr>
              <a:t>turun 35%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korban lantai, longsor tidak dihitung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53013" y="3543300"/>
            <a:ext cx="326334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Asosiasi lintas negara WMO, belum terbukti kausal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71894" y="3771900"/>
            <a:ext cx="4944466" cy="981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Pita model hanya pembanding karena batas bawahnya di bawah lantai tercatat.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Rencana aksi tidak ditutup akhir April karena sebagian korban jatuh Mei sampai September.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482981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5640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Rencana kontinjensi provinsi memakai lantai korban dan lantai pengungsi.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Cadangan logistik per wilayah dibandingkan kebutuhan pengungsi lantai.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Air minum dan air bersih pengungsi disiapkan sesuai standar kebutuhan dasar.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31547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31547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Stimulan rumah rusak akibat longsor dan banjir bandang.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Rencana kontinjensi hilir bendungan dikaji ulang terhadap RTD.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Lantai skenario diperbarui dari DIBI setiap akhir musim.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87453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87453" y="5058410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78" name="Picture 77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089779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9635485" y="505841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035" y="5089779"/>
            <a:ext cx="102362" cy="10236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10923193" y="505841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2" name="Picture 81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743" y="508977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7987453" y="527431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305679"/>
            <a:ext cx="102362" cy="102362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8948454" y="5274310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86" name="Picture 85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1004" y="5305679"/>
            <a:ext cx="102362" cy="102362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KRB BNPB 2022–2026; Renas PB 2025–2029; WMO 2022; model rasio Pantau Bencana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D1. Tidak satu pun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31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baris kewenangan air menyebut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BNPB; peringatan dini baru memenuhi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6%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masyarakat terpapar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523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KEWENANGAN AIR</a:t>
            </a:r>
          </a:p>
        </p:txBody>
      </p:sp>
      <p:pic>
        <p:nvPicPr>
          <p:cNvPr id="11" name="Picture 10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embaga-051C2C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baris kewenangan, tanpa BNPB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regulasi-051C2C-e639fe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 kewenangan 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244277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PERINGATAN DINI</a:t>
            </a:r>
          </a:p>
        </p:txBody>
      </p:sp>
      <p:pic>
        <p:nvPicPr>
          <p:cNvPr id="25" name="Picture 24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eringatan-051C2C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masyarakat terpapar terpenuhi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banjir-051C2C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19,68%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banjir berperingatan dampak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Pemegang kewenangan air tingkat pusat per komponen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KOMPONEN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DASAR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baku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3882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2124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minum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3882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2124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Irigasi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3882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2124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75640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Irigasi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3882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2124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Tertulis di norma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Waduk dan bendungan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3882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92124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tanah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83882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ESDM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92124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tanah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3882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Pemerintah Pusat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92124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Tertulis di norma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49834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Penurunan muka tanah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3882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ESDM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2124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52501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Penurunan muka tanah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83882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92124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55168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55168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 dan rob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83882" y="55168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92124" y="55168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Tertulis di norma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3" name="Picture 92" descr="regulasi-FFFFFF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Celah yang menahan kerja BNPB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Norma penghubung sistem peringatan dini per wilayah sungai ke platform BNPB belum ditemukan.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Penyedia peringatan dini kekeringan hidrologis tidak ditunjuk di peraturan yang dibaca.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Sarana diseminasi peringatan dini di desa dalam Renas PB dipimpin sebelas K/L tanpa BNPB.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Peran BNPB di air berjalan lewat koordinasi dan rencana kontinjensi BPBD.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Paket lembaga Pantau Bencana; Renstra BNPB 2025–2029; ringkasan Badan Keahlian DPR atas pemeriksaan BPK 2022; Renas PB 2025–2029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D2. Hanya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30 sel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matriks air punya program berbukti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kuat atau sedang;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program dalam negeri wajib evaluasi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539346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MATRIKS STRATEGI AIR</a:t>
            </a:r>
          </a:p>
        </p:txBody>
      </p:sp>
      <p:pic>
        <p:nvPicPr>
          <p:cNvPr id="11" name="Picture 1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sel bukti kuat atau sedang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sel matriks strategi 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1294" y="1346200"/>
            <a:ext cx="159162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pemetaan penyusun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62730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PROGRAM DALAM NEGERI</a:t>
            </a:r>
          </a:p>
        </p:txBody>
      </p:sp>
      <p:pic>
        <p:nvPicPr>
          <p:cNvPr id="25" name="Picture 24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eringatan-051C2C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wajib evaluasi dampak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air-baku-051C2C-271d6c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program air dalam negeri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2075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prabencana-FFFFFF-572c044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487487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640" y="234696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Kompendium program air dan kekuatan buktinya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PROGRAM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ASAL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KEKUATAN BUKTI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11658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Desa dan Kelurahan Tangguh Bencana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3882" y="311658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2124" y="311658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35639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335639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Sekolah Lapang Iklim BMKG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3882" y="335639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2124" y="335639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59621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59621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Embung dan panen air hujan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3882" y="359621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2124" y="359621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83603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75640" y="383603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Sumur resapan dan biopori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3882" y="383603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2124" y="383603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407585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407585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Citarum Harum, pemulihan DAS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3882" y="407585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92124" y="407585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431567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431567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PAMSIMAS, air minum berbasis masyarakat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83882" y="431567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92124" y="431567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455549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455549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Sodetan dan bendungan kering Ciliwung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3882" y="455549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92124" y="455549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479530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479530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Sistem polder dan pompa kota pesisir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3882" y="479530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2124" y="479530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503512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503512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Pengendalian pengambilan air tanah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83882" y="503512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92124" y="503512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Kuat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527494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527494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Delta Programme Belanda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83882" y="527494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92124" y="527494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5640" y="551476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675640" y="551476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Room for the River, Belanda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83882" y="551476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92124" y="551476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575458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675640" y="575458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Hibah mitigasi FEMA bersyarat manfaat-biaya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83882" y="575458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92124" y="575458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1" name="Picture 100" descr="ringkasan-FFFFFF-28e5662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Yang diusulkan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Program berjalan dievaluasi dampaknya sebelum disebut berhasil atau diperluas.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PAMSIMAS berakhir 2023; yang dievaluasi aset dan badan pengelola SPAM yang tersisa.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Tanggap darurat dan pascabencana belum punya bukti dampak program air.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Kompendium program Pantau Bencana; paket matriks strategi air kajian ini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E1. Aksi Rencana Aksi Musim Hujan 2026/2027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per Fase, Bertaut ke Kode Rekomendasi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5270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690" y="56007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KESIAPAN MUSIM KEMARAU 2027</a:t>
            </a:r>
          </a:p>
        </p:txBody>
      </p:sp>
      <p:sp>
        <p:nvSpPr>
          <p:cNvPr id="10" name="Oval 9"/>
          <p:cNvSpPr/>
          <p:nvPr/>
        </p:nvSpPr>
        <p:spPr>
          <a:xfrm>
            <a:off x="694690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951220"/>
            <a:ext cx="177800" cy="177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060" y="58191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Pemicu kemarau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060" y="60223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Dokumen pemicu terbit sebelum Mei 2027 dengan lantai tercatat terburuk.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22538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4295563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data-FFFFFF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951220"/>
            <a:ext cx="177800" cy="177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15933" y="58191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Data operasi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5933" y="60223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Liter air tersalur dan desa terdampak per kab/kota dicatat BPBD.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23412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7896437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air-baku-FFFFFF-271d6c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95122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16807" y="58191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Aset air desa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6807" y="60223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Aset PAMSIMAS yang tersisa dievaluasi saat kemarau 2027.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prabencana-FFFFFF-572c044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664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Prabencana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5640" y="1958848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1946148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Tetapkan hari ke-0 dan unit Rencana Aksi Musim Hujan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2263648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34" name="Picture 33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2295017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674027" y="2263648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36" name="Picture 35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2295017"/>
            <a:ext cx="102362" cy="102362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675640" y="2533396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8" name="Rounded Rectangle 37"/>
          <p:cNvSpPr/>
          <p:nvPr/>
        </p:nvSpPr>
        <p:spPr>
          <a:xfrm>
            <a:off x="675640" y="2650744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2638044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Kirim prakiraan BMKG, minta kaji ulang rencana kontinjensi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295554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1" name="Picture 40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2986913"/>
            <a:ext cx="102362" cy="102362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674027" y="2955544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43" name="Picture 42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2986913"/>
            <a:ext cx="102362" cy="102362"/>
          </a:xfrm>
          <a:prstGeom prst="rect">
            <a:avLst/>
          </a:prstGeom>
        </p:spPr>
      </p:pic>
      <p:cxnSp>
        <p:nvCxnSpPr>
          <p:cNvPr id="44" name="Connector 43"/>
          <p:cNvCxnSpPr/>
          <p:nvPr/>
        </p:nvCxnSpPr>
        <p:spPr>
          <a:xfrm>
            <a:off x="675640" y="3225292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Rounded Rectangle 44"/>
          <p:cNvSpPr/>
          <p:nvPr/>
        </p:nvSpPr>
        <p:spPr>
          <a:xfrm>
            <a:off x="67564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Uji rantai peringatan dini sampai warga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" y="364744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8" name="Picture 47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3678809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674027" y="3647440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50" name="Picture 49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3678809"/>
            <a:ext cx="102362" cy="102362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675640" y="3917188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Rounded Rectangle 51"/>
          <p:cNvSpPr/>
          <p:nvPr/>
        </p:nvSpPr>
        <p:spPr>
          <a:xfrm>
            <a:off x="675640" y="4034536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4021836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Minta daftar RTD bendungan hulu permukiman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" y="433933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55" name="Picture 54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4370705"/>
            <a:ext cx="102362" cy="10236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674027" y="4339336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57" name="Picture 56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4370705"/>
            <a:ext cx="102362" cy="102362"/>
          </a:xfrm>
          <a:prstGeom prst="rect">
            <a:avLst/>
          </a:prstGeom>
        </p:spPr>
      </p:pic>
      <p:cxnSp>
        <p:nvCxnSpPr>
          <p:cNvPr id="58" name="Connector 57"/>
          <p:cNvCxnSpPr/>
          <p:nvPr/>
        </p:nvCxnSpPr>
        <p:spPr>
          <a:xfrm>
            <a:off x="675640" y="4609084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Rounded Rectangle 58"/>
          <p:cNvSpPr/>
          <p:nvPr/>
        </p:nvSpPr>
        <p:spPr>
          <a:xfrm>
            <a:off x="675640" y="4726432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4713732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Inventarisasi logistik terhadap lantai musim hujan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5840" y="5031232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62" name="Picture 61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5062601"/>
            <a:ext cx="102362" cy="10236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1674027" y="5031232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64" name="Picture 63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5062601"/>
            <a:ext cx="102362" cy="102362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29260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9260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41960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0" name="Picture 69" descr="tanggap-darurat-FFFFFF-d40eccc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1422400"/>
            <a:ext cx="177800" cy="1778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80060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Tanggap darurat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1960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4980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Dukung komando dan status darurat kab/kota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49800" y="249428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75" name="Picture 74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0" y="2525649"/>
            <a:ext cx="102362" cy="102362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5417987" y="2494280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77" name="Picture 76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537" y="2525649"/>
            <a:ext cx="102362" cy="102362"/>
          </a:xfrm>
          <a:prstGeom prst="rect">
            <a:avLst/>
          </a:prstGeom>
        </p:spPr>
      </p:pic>
      <p:cxnSp>
        <p:nvCxnSpPr>
          <p:cNvPr id="78" name="Connector 77"/>
          <p:cNvCxnSpPr/>
          <p:nvPr/>
        </p:nvCxnSpPr>
        <p:spPr>
          <a:xfrm>
            <a:off x="441960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Rounded Rectangle 78"/>
          <p:cNvSpPr/>
          <p:nvPr/>
        </p:nvSpPr>
        <p:spPr>
          <a:xfrm>
            <a:off x="441960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4980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Penuhi air bersih dan sanitasi pengungsi sesuai standar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49800" y="364744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2" name="Picture 81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0" y="367880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5417987" y="3647440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84" name="Picture 83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537" y="3678809"/>
            <a:ext cx="102362" cy="102362"/>
          </a:xfrm>
          <a:prstGeom prst="rect">
            <a:avLst/>
          </a:prstGeom>
        </p:spPr>
      </p:pic>
      <p:cxnSp>
        <p:nvCxnSpPr>
          <p:cNvPr id="85" name="Connector 84"/>
          <p:cNvCxnSpPr/>
          <p:nvPr/>
        </p:nvCxnSpPr>
        <p:spPr>
          <a:xfrm>
            <a:off x="441960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Rounded Rectangle 85"/>
          <p:cNvSpPr/>
          <p:nvPr/>
        </p:nvSpPr>
        <p:spPr>
          <a:xfrm>
            <a:off x="441960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4980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Jalankan evakuasi hilir menurut RTD dan prosedur per wilayah sungai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49800" y="480060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9" name="Picture 88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0" y="4831969"/>
            <a:ext cx="102362" cy="102362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5417987" y="480060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91" name="Picture 90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537" y="4831969"/>
            <a:ext cx="102362" cy="102362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03656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3656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16356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7" name="Picture 96" descr="pascabencana-FFFFFF-603074b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0710" y="1422400"/>
            <a:ext cx="177800" cy="17780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54456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Pascabencana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16356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9376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Masukkan kejadian musim berjalan ke rencana kontinjensi provinsi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493760" y="249428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02" name="Picture 101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310" y="2525649"/>
            <a:ext cx="102362" cy="102362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9161947" y="249428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104" name="Picture 103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497" y="2525649"/>
            <a:ext cx="102362" cy="102362"/>
          </a:xfrm>
          <a:prstGeom prst="rect">
            <a:avLst/>
          </a:prstGeom>
        </p:spPr>
      </p:pic>
      <p:cxnSp>
        <p:nvCxnSpPr>
          <p:cNvPr id="105" name="Connector 104"/>
          <p:cNvCxnSpPr/>
          <p:nvPr/>
        </p:nvCxnSpPr>
        <p:spPr>
          <a:xfrm>
            <a:off x="816356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Rounded Rectangle 105"/>
          <p:cNvSpPr/>
          <p:nvPr/>
        </p:nvSpPr>
        <p:spPr>
          <a:xfrm>
            <a:off x="816356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9376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Evaluasi rantai peringatan dini musim berjalan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493760" y="364744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09" name="Picture 108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310" y="3678809"/>
            <a:ext cx="102362" cy="102362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9161947" y="3647440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111" name="Picture 110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497" y="3678809"/>
            <a:ext cx="102362" cy="102362"/>
          </a:xfrm>
          <a:prstGeom prst="rect">
            <a:avLst/>
          </a:prstGeom>
        </p:spPr>
      </p:pic>
      <p:cxnSp>
        <p:nvCxnSpPr>
          <p:cNvPr id="112" name="Connector 111"/>
          <p:cNvCxnSpPr/>
          <p:nvPr/>
        </p:nvCxnSpPr>
        <p:spPr>
          <a:xfrm>
            <a:off x="816356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3" name="Rounded Rectangle 112"/>
          <p:cNvSpPr/>
          <p:nvPr/>
        </p:nvSpPr>
        <p:spPr>
          <a:xfrm>
            <a:off x="816356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R-A21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9376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Laporkan irisan Jawa indikator korban Renas PB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93760" y="480060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116" name="Picture 115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310" y="4831969"/>
            <a:ext cx="102362" cy="102362"/>
          </a:xfrm>
          <a:prstGeom prst="rect">
            <a:avLst/>
          </a:prstGeom>
        </p:spPr>
      </p:pic>
      <p:sp>
        <p:nvSpPr>
          <p:cNvPr id="117" name="Rounded Rectangle 116"/>
          <p:cNvSpPr/>
          <p:nvPr/>
        </p:nvSpPr>
        <p:spPr>
          <a:xfrm>
            <a:off x="9285970" y="4800600"/>
            <a:ext cx="25581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Penanggulangan Bencana</a:t>
            </a:r>
          </a:p>
        </p:txBody>
      </p:sp>
      <p:pic>
        <p:nvPicPr>
          <p:cNvPr id="118" name="Picture 117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520" y="4831969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E2. Kalender Rencana Aksi Musim Hujan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2026/2027 dan Kesiapan Musim Kemarau 2027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31258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KALENDER KORBAN</a:t>
            </a:r>
          </a:p>
        </p:txBody>
      </p:sp>
      <p:pic>
        <p:nvPicPr>
          <p:cNvPr id="11" name="Picture 10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alender-051C2C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75,4%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November–April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42,3%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Desember–Februari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peringatan-D9600B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D9600B"/>
                </a:solidFill>
                <a:latin typeface="Roboto"/>
              </a:rPr>
              <a:t>21,4%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November–Desember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87487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640" y="234696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Aksi per bulan dan pelaksana, November 2026 sampai Mei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BULAN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PELAKSANA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AKSI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75640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3882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Kepala BNPB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2124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R-A01 hari ke-0 dan penugasan unit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75640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3882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ke BPBD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92124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R-A02 kaji ulang rencana kontinjensi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75640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3882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dan BPBD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92124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R-A06 uji rantai peringatan dini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75640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3882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Deputi Logistik dan Peralatan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2124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R-A04 inventarisasi logistik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75640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3882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BPBD provinsi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92124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R-A08 lantai skenario di renkon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75640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Desember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3882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dan BPBD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92124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siaga darurat bila ancaman naik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675640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Januari dan Februari 2027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3882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dan BPBD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92124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puncak dan hari ke-100: komando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49834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675640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Maret dan April 2027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3882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pusat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92124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kajian cepat untuk kemarau 2027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52501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Sebelum Mei 2027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3882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bersama K/L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92124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R-A09 pemicu kemarau 2027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Hari ke-0 adalah tanggal penetapan Kepala BNPB.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Hari ke-0 sampai pertengahan November menempatkan hari ke-100 di puncak Februari 2027.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BMKG: awal musim sebagian besar Jawa Desember 2026, puncak Januari sampai Februari 2027.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Kalender hanya memakai instrumen yang sudah berlaku.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2008–2025 (olah Pantau Bencana); BMKG, prakiraan musim hujan 2026/2027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E3. Rekomendasi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100 hari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pertama: langkah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sebelum puncak musim hujan 2026/2027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Tetapkan hari ke-0 dan tugaskan unit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6" name="Picture 1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661327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Keputusan Kepala BNPB dalam empat belas hari pertama; hari ke-0 sampai pertengahan November menaruh hari ke-100 di Februari 2027.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8733" y="1707356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20" name="Picture 1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610315" y="1707356"/>
            <a:ext cx="130195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Pencegahan</a:t>
            </a:r>
          </a:p>
        </p:txBody>
      </p:sp>
      <p:pic>
        <p:nvPicPr>
          <p:cNvPr id="22" name="Picture 2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865" y="1738725"/>
            <a:ext cx="102362" cy="102362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kaji ulang rencana kontinjensi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140" y="241823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28" name="Picture 2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661327" y="2418239"/>
            <a:ext cx="54860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Prakiraan BMKG diteruskan ke BPBD enam provinsi; rencana kontinjensi banjir dan longsor dikaji ulang sebelum Januari 2027.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8733" y="2315369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32" name="Picture 3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346738"/>
            <a:ext cx="102362" cy="10236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0046441" y="231536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34" name="Picture 3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2346738"/>
            <a:ext cx="102362" cy="102362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data operasional kemarau 2026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3140" y="302625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0" name="Picture 3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661327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Volume distribusi air dan desa terdampak per kab/kota diminta dari BPBD provinsi beserta surat status darurat.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58733" y="2923381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44" name="Picture 4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609879" y="2923381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46" name="Picture 4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2954750"/>
            <a:ext cx="102362" cy="102362"/>
          </a:xfrm>
          <a:prstGeom prst="rect">
            <a:avLst/>
          </a:prstGeom>
        </p:spPr>
      </p:pic>
      <p:cxnSp>
        <p:nvCxnSpPr>
          <p:cNvPr id="47" name="Connector 46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Oval 47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Inventarisasi logistik lawan lantai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3140" y="363426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52" name="Picture 5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1661327" y="363426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Cadangan per wilayah dibandingkan kebutuhan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525.861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mengungsi dan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6.905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rumah rusak berat.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58733" y="3531394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56" name="Picture 5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cxnSp>
        <p:nvCxnSpPr>
          <p:cNvPr id="57" name="Connector 56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Ajukan rakor peninjauan Renas PB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3140" y="424227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62" name="Picture 6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1661327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Program peraturan BNPB 2026 tidak memuat perubahan Renas PB; jalurnya izin prakarsa Kepala BNPB dan rakor Kemenko PMK.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758733" y="4139406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66" name="Picture 6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170775"/>
            <a:ext cx="102362" cy="102362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9775415" y="4139406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68" name="Picture 6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4170775"/>
            <a:ext cx="102362" cy="102362"/>
          </a:xfrm>
          <a:prstGeom prst="rect">
            <a:avLst/>
          </a:prstGeom>
        </p:spPr>
      </p:pic>
      <p:cxnSp>
        <p:nvCxnSpPr>
          <p:cNvPr id="69" name="Connector 68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Picture 70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Uji rantai peringatan dini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93140" y="485028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74" name="Picture 73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1661327" y="4850289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Pesan diuji sampai warga di kab/kota daftar perhatian banjir dan longsor; umpan balik BPBD masuk platform BNPB.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58733" y="4747419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78" name="Picture 7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10073548" y="474741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098" y="4778788"/>
            <a:ext cx="102362" cy="10236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10671369" y="4747419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2" name="Picture 8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919" y="4778788"/>
            <a:ext cx="102362" cy="102362"/>
          </a:xfrm>
          <a:prstGeom prst="rect">
            <a:avLst/>
          </a:prstGeom>
        </p:spPr>
      </p:pic>
      <p:cxnSp>
        <p:nvCxnSpPr>
          <p:cNvPr id="83" name="Connector 82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4" name="Oval 83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5" name="Picture 84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daftar RTD bendungan hulu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93140" y="545830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8" name="Picture 8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1661327" y="545830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Bendungan Jawa yang RTD-nya ditetapkan ditautkan ke rencana kontinjensi BPBD hilir; jumlahnya menjadi garis dasar 2027.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58733" y="5247481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92" name="Picture 9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278850"/>
            <a:ext cx="102362" cy="102362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10046441" y="5247481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94" name="Picture 9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5278850"/>
            <a:ext cx="102362" cy="102362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11007442" y="5247481"/>
            <a:ext cx="50904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PJT I</a:t>
            </a:r>
          </a:p>
        </p:txBody>
      </p:sp>
      <p:pic>
        <p:nvPicPr>
          <p:cNvPr id="96" name="Picture 9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9992" y="5278850"/>
            <a:ext cx="102362" cy="102362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8758733" y="5463381"/>
            <a:ext cx="53273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PJT II</a:t>
            </a:r>
          </a:p>
        </p:txBody>
      </p:sp>
      <p:pic>
        <p:nvPicPr>
          <p:cNvPr id="98" name="Picture 9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494750"/>
            <a:ext cx="102362" cy="102362"/>
          </a:xfrm>
          <a:prstGeom prst="rect">
            <a:avLst/>
          </a:prstGeom>
        </p:spPr>
      </p:pic>
      <p:cxnSp>
        <p:nvCxnSpPr>
          <p:cNvPr id="99" name="Connector 98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Oval 99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1" name="Picture 100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Lantai skenario ke rencana kontinjensi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93140" y="606631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04" name="Picture 103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05" name="Rounded Rectangle 104"/>
          <p:cNvSpPr/>
          <p:nvPr/>
        </p:nvSpPr>
        <p:spPr>
          <a:xfrm>
            <a:off x="1661327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kontinjensi enam provinsi memakai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270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meninggal dan hilang dengan asumsi dampak lima aspek.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758733" y="5963444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108" name="Picture 10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E4. Rekomendasi penutup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100 hari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awal peta jalan 2026–2027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Siapkan pemicu kemarau 2027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6" name="Picture 1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661327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Dokumen pemicu terbit sebelum Mei 2027 dengan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76 kab/kota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dan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4.924.057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terdampak.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8733" y="1707356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20" name="Picture 1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0046441" y="1707356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22" name="Picture 2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1738725"/>
            <a:ext cx="102362" cy="1023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0644262" y="170735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24" name="Picture 2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6812" y="1738725"/>
            <a:ext cx="102362" cy="10236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regulasi-FFFFFF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R-A10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Selaraskan target peringatan dini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3140" y="241823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30" name="Picture 2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785350" y="241823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Putusan penyelarasan ditulis; usulan perubahan Renstra disampaikan atas evaluasi tahun ketiga pada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2027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58733" y="2315369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34" name="Picture 3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346738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775415" y="2315369"/>
            <a:ext cx="135867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PPN/Bappenas</a:t>
            </a:r>
          </a:p>
        </p:txBody>
      </p:sp>
      <p:pic>
        <p:nvPicPr>
          <p:cNvPr id="36" name="Picture 3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2346738"/>
            <a:ext cx="102362" cy="102362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Garis dasar peringatan dini kab/kota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3140" y="302625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42" name="Picture 4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785350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Nilai indikator cakupan peringatan dini Renas PB per kab/kota Jawa terbit pada 2027; target 2029 belum bergaris dasar daerah.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58733" y="2923381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46" name="Picture 4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0073548" y="2923381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48" name="Picture 4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098" y="2954750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0671369" y="2923381"/>
            <a:ext cx="7593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Kemendagri</a:t>
            </a:r>
          </a:p>
        </p:txBody>
      </p:sp>
      <p:pic>
        <p:nvPicPr>
          <p:cNvPr id="50" name="Picture 4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919" y="2954750"/>
            <a:ext cx="102362" cy="102362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regulasi-FFFFFF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Isi kontribusi NSPK muka tanah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3140" y="363426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56" name="Picture 5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785350" y="363426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Telaah risiko bencana BNPB masuk bahan NSPK Renas PB yang sudah mencantumkan BNPB, lalu ke tata kelola BOP Pantura Jawa.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58733" y="3531394"/>
            <a:ext cx="2136227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Pemetaan dan Evaluasi Risiko Bencana</a:t>
            </a:r>
          </a:p>
        </p:txBody>
      </p:sp>
      <p:pic>
        <p:nvPicPr>
          <p:cNvPr id="60" name="Picture 5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8758733" y="3747294"/>
            <a:ext cx="70612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KLH/BPLH</a:t>
            </a:r>
          </a:p>
        </p:txBody>
      </p:sp>
      <p:pic>
        <p:nvPicPr>
          <p:cNvPr id="62" name="Picture 6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3778663"/>
            <a:ext cx="102362" cy="102362"/>
          </a:xfrm>
          <a:prstGeom prst="rect">
            <a:avLst/>
          </a:prstGeom>
        </p:spPr>
      </p:pic>
      <p:cxnSp>
        <p:nvCxnSpPr>
          <p:cNvPr id="63" name="Connector 62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Kegagalan tanggul ke renkon pesisir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3140" y="424227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8" name="Picture 6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1785350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kontinjensi kab/kota pesisir utara memuat skenario kegagalan tanggul dan polder serta prosedur evakuasi per wilayah sungai.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58733" y="4031456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72" name="Picture 7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062825"/>
            <a:ext cx="102362" cy="102362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10046441" y="403145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74" name="Picture 7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4062825"/>
            <a:ext cx="102362" cy="102362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8758733" y="4247356"/>
            <a:ext cx="99787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BOP Pantura Jawa</a:t>
            </a:r>
          </a:p>
        </p:txBody>
      </p:sp>
      <p:pic>
        <p:nvPicPr>
          <p:cNvPr id="76" name="Picture 7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4278725"/>
            <a:ext cx="102362" cy="102362"/>
          </a:xfrm>
          <a:prstGeom prst="rect">
            <a:avLst/>
          </a:prstGeom>
        </p:spPr>
      </p:pic>
      <p:cxnSp>
        <p:nvCxnSpPr>
          <p:cNvPr id="77" name="Connector 76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Oval 77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9" name="Picture 78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data struktural air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93140" y="485028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2" name="Picture 8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1785350" y="485028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Inventaris bendungan per BBWS dan laju GNSS per kota pesisir diminta ke pemegang data lewat Dewan SDA Nasional.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758733" y="4747419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86" name="Picture 8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9609879" y="4747419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8" name="Picture 8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4778788"/>
            <a:ext cx="102362" cy="102362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10570880" y="4747419"/>
            <a:ext cx="102398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ESDM</a:t>
            </a:r>
          </a:p>
        </p:txBody>
      </p:sp>
      <p:pic>
        <p:nvPicPr>
          <p:cNvPr id="90" name="Picture 8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3430" y="4778788"/>
            <a:ext cx="102362" cy="102362"/>
          </a:xfrm>
          <a:prstGeom prst="rect">
            <a:avLst/>
          </a:prstGeom>
        </p:spPr>
      </p:pic>
      <p:cxnSp>
        <p:nvCxnSpPr>
          <p:cNvPr id="91" name="Connector 90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3" name="Picture 92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Garis dasar evaluasi Destana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3140" y="545830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96" name="Picture 9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1785350" y="545830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Instrumen penilaian independen yang sama untuk desa Destana dan desa pembanding terbentuk pada 2027.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758733" y="5355431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100" name="Picture 9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386800"/>
            <a:ext cx="102362" cy="102362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10046441" y="5355431"/>
            <a:ext cx="87964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Kemendes PDT</a:t>
            </a:r>
          </a:p>
        </p:txBody>
      </p:sp>
      <p:pic>
        <p:nvPicPr>
          <p:cNvPr id="102" name="Picture 10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5386800"/>
            <a:ext cx="102362" cy="102362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8758733" y="5571331"/>
            <a:ext cx="7018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Kemensos</a:t>
            </a:r>
          </a:p>
        </p:txBody>
      </p:sp>
      <p:pic>
        <p:nvPicPr>
          <p:cNvPr id="104" name="Picture 10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602700"/>
            <a:ext cx="102362" cy="102362"/>
          </a:xfrm>
          <a:prstGeom prst="rect">
            <a:avLst/>
          </a:prstGeom>
        </p:spPr>
      </p:pic>
      <p:cxnSp>
        <p:nvCxnSpPr>
          <p:cNvPr id="105" name="Connector 104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Oval 105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7" name="Picture 106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Buka catatan modifikasi cuaca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93140" y="606631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10" name="Picture 10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11" name="Rounded Rectangle 110"/>
          <p:cNvSpPr/>
          <p:nvPr/>
        </p:nvSpPr>
        <p:spPr>
          <a:xfrm>
            <a:off x="1785350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Catatan operasi per daerah aliran sungai dibuka mulai musim berikut; protokol evaluasi disepakati untuk 2029.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758733" y="5963444"/>
            <a:ext cx="221028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Koordinasi Pengendalian Operasi Darurat</a:t>
            </a:r>
          </a:p>
        </p:txBody>
      </p:sp>
      <p:pic>
        <p:nvPicPr>
          <p:cNvPr id="114" name="Picture 11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  <p:sp>
        <p:nvSpPr>
          <p:cNvPr id="115" name="Rounded Rectangle 114"/>
          <p:cNvSpPr/>
          <p:nvPr/>
        </p:nvSpPr>
        <p:spPr>
          <a:xfrm>
            <a:off x="11019817" y="5963444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116" name="Picture 11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2367" y="59948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E5. Rekomendasi lanjutan peta jalan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2026–2027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arah 2028–2030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8640" y="172614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802088"/>
            <a:ext cx="178308" cy="1783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140" y="1676612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Serahkan data kab/kota ke Walidata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140" y="1911562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6" name="Picture 1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942931"/>
            <a:ext cx="102362" cy="10236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785350" y="1911562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9898" y="1485900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Lampiran data per kab/kota kajian diserahkan dengan pernyataan produsen untuk portal Satu Data Bencana.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8733" y="1808692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20" name="Picture 1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840061"/>
            <a:ext cx="102362" cy="1023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758733" y="2024592"/>
            <a:ext cx="213622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Pemetaan dan Evaluasi Risiko Bencana</a:t>
            </a:r>
          </a:p>
        </p:txBody>
      </p:sp>
      <p:pic>
        <p:nvPicPr>
          <p:cNvPr id="22" name="Picture 2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055961"/>
            <a:ext cx="102362" cy="102362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548640" y="229658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548640" y="253682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2612771"/>
            <a:ext cx="178308" cy="1783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3140" y="2487295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R-A22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Agenda evaluasi dampak program air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140" y="2722245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28" name="Picture 2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753614"/>
            <a:ext cx="102362" cy="10236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785350" y="2722245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9898" y="2296583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Agenda per program berisi garis dasar dan pembanding, termasuk volume embung dan lama genangan, lewat Dewan SDA Nasional.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8733" y="2619375"/>
            <a:ext cx="13344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Mitigasi Bencana</a:t>
            </a:r>
          </a:p>
        </p:txBody>
      </p:sp>
      <p:pic>
        <p:nvPicPr>
          <p:cNvPr id="32" name="Picture 3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650744"/>
            <a:ext cx="102362" cy="10236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0143954" y="2619375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34" name="Picture 3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504" y="2650744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8758733" y="2835275"/>
            <a:ext cx="68890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Kementan</a:t>
            </a:r>
          </a:p>
        </p:txBody>
      </p:sp>
      <p:pic>
        <p:nvPicPr>
          <p:cNvPr id="36" name="Picture 3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866644"/>
            <a:ext cx="102362" cy="102362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548640" y="310726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548640" y="334750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423454"/>
            <a:ext cx="178308" cy="1783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3140" y="3297978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Kalender kesiapan berpemicu El Niño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3140" y="3532928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42" name="Picture 4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564297"/>
            <a:ext cx="102362" cy="10236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785350" y="3532928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9898" y="3107267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1" lang="id-ID">
                <a:solidFill>
                  <a:srgbClr val="1A1A1A"/>
                </a:solidFill>
                <a:latin typeface="Roboto"/>
              </a:rPr>
              <a:t>75,4%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korban musim hujan jatuh November–April; kesiapan dijadwalkan dari prakiraan ENSO BMKG.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58733" y="3430058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46" name="Picture 4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461427"/>
            <a:ext cx="102362" cy="102362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0046441" y="3430058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48" name="Picture 4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3461427"/>
            <a:ext cx="102362" cy="102362"/>
          </a:xfrm>
          <a:prstGeom prst="rect">
            <a:avLst/>
          </a:prstGeom>
        </p:spPr>
      </p:pic>
      <p:cxnSp>
        <p:nvCxnSpPr>
          <p:cNvPr id="49" name="Connector 48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548640" y="415819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234138"/>
            <a:ext cx="178308" cy="17830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93140" y="4108662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Evaluasi aset PAMSIMAS saat kemarau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3140" y="4343612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54" name="Picture 53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374981"/>
            <a:ext cx="102362" cy="10236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1785350" y="4343612"/>
            <a:ext cx="54860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9898" y="3917950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Porsi desa bekas PAMSIMAS yang meminta air darurat pada kemarau 2027 dibandingkan desa lain, terbit 2028.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58733" y="4240742"/>
            <a:ext cx="13344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Mitigasi Bencana</a:t>
            </a:r>
          </a:p>
        </p:txBody>
      </p:sp>
      <p:pic>
        <p:nvPicPr>
          <p:cNvPr id="58" name="Picture 5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272111"/>
            <a:ext cx="102362" cy="102362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143954" y="4240742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60" name="Picture 5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504" y="4272111"/>
            <a:ext cx="102362" cy="102362"/>
          </a:xfrm>
          <a:prstGeom prst="rect">
            <a:avLst/>
          </a:prstGeom>
        </p:spPr>
      </p:pic>
      <p:cxnSp>
        <p:nvCxnSpPr>
          <p:cNvPr id="61" name="Connector 60"/>
          <p:cNvCxnSpPr/>
          <p:nvPr/>
        </p:nvCxnSpPr>
        <p:spPr>
          <a:xfrm>
            <a:off x="548640" y="472863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548640" y="496887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Picture 62" descr="regulasi-FFFFFF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044821"/>
            <a:ext cx="178308" cy="17830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93140" y="4919345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R-A20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Evaluasi independen tata kelola tanggul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3140" y="5154295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66" name="Picture 6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185664"/>
            <a:ext cx="102362" cy="102362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1785350" y="5154295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9898" y="4728633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Kerangka evaluasi independen tanggul dan polder tercantum dalam tata kelola BOP Pantura Jawa lewat Kemenko PMK.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58733" y="4943475"/>
            <a:ext cx="25581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Penanggulangan Bencana</a:t>
            </a:r>
          </a:p>
        </p:txBody>
      </p:sp>
      <p:pic>
        <p:nvPicPr>
          <p:cNvPr id="70" name="Picture 6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974844"/>
            <a:ext cx="102362" cy="102362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8758733" y="5159375"/>
            <a:ext cx="99787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BOP Pantura Jawa</a:t>
            </a:r>
          </a:p>
        </p:txBody>
      </p:sp>
      <p:pic>
        <p:nvPicPr>
          <p:cNvPr id="72" name="Picture 7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190744"/>
            <a:ext cx="102362" cy="102362"/>
          </a:xfrm>
          <a:prstGeom prst="rect">
            <a:avLst/>
          </a:prstGeom>
        </p:spPr>
      </p:pic>
      <p:cxnSp>
        <p:nvCxnSpPr>
          <p:cNvPr id="73" name="Connector 72"/>
          <p:cNvCxnSpPr/>
          <p:nvPr/>
        </p:nvCxnSpPr>
        <p:spPr>
          <a:xfrm>
            <a:off x="548640" y="553931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548640" y="577955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5" name="Picture 74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5855504"/>
            <a:ext cx="178308" cy="17830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93140" y="5730028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R-A21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Laporkan irisan Jawa indikator korban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93140" y="5964978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78" name="Picture 7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996347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1785350" y="5964978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09898" y="5539317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Laporan tahunan memuat irisan Jawa indikator korban Renas PB dengan pembagi penduduk yang sama dan penanda patahan DIBI.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58733" y="5754158"/>
            <a:ext cx="25581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Penanggulangan Bencana</a:t>
            </a:r>
          </a:p>
        </p:txBody>
      </p:sp>
      <p:pic>
        <p:nvPicPr>
          <p:cNvPr id="82" name="Picture 8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785527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8758733" y="5970058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6001427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Kesimpulan: delapan temuan berangka tentang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air Pulau Jawa dan keputusan yang diminta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longsor-051C2C-c017b3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MUSIM HUJAN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Longsor dan banjir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1.412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1.738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korban meninggal hidrometeorologi 2015–2026.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banjir-051C2C-364735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MUSIM HUJAN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Lantai skenario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270 jiwa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meninggal dan hilang pada musim 2008/2009; musim 2025/2026 mencatat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237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MUSIM HUJAN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Kalender korban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75,4%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korban jatuh November–April; hari ke-0 jatuh November.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penurunan-muka-tanah-051C2C-4d1f13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PESISIR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Penurunan muka tanah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10,7 cm per tahun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di GNSS Kota Pekalongan, 2010–2021; rob tercatat di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35 kab/kota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ekeringan-D9600B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MUSIM KEMARAU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Kekeringan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76 kab/kota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pada 2019 tanpa korban jiwa; volume air tersalur belum tercatat.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Peringatan dini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6%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masyarakat terpapar berisiko tinggi terpenuhi;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19,68%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kejadian banjir berperingatan berbasis dampak.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bendungan-D9600B-45c2877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Bendungan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16,0%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piezometer rusak di BBWS Pemali-Juana;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71,5%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lantai korban dari Situ Gintung.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lembaga-2F86D1-f44193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2F86D1"/>
                </a:solidFill>
                <a:latin typeface="Roboto"/>
              </a:rPr>
              <a:t>KELEMBAGAAN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Kewenangan air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Tidak satu pun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31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baris kewenangan air menyebut BNPB;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program wajib evaluasi.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09040" y="5369560"/>
            <a:ext cx="1608333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ARAHAN YANG DIMINTA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7373" y="5369560"/>
            <a:ext cx="8660887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Tetapkan kajian sebagai masukan Renas PB dan hari ke-0 dalam November 2026; putuskan penyelarasan target peringatan dini; sampaikan posisi risiko Tanggul Laut Pantura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Susilo dkk. (2023); Renstra BNPB 2025–2029; inventaris bendungan BBWS Pemali-Juana 2021; paket lembaga Pantau Bencana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utup-air-penutup-ser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Waduk Sermo, Kulon Progo, DIY; Liuzhary,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Grand Design Ketahanan Air Pulau Jawa 2026–2030, Sabtu, 24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Design Ketahanan Air Pulau Jawa 2026–2030</dc:title>
  <dc:subject>Pengelolaan Air pada Musim Kemarau dan Musim Hujan untuk Pengurangan Risiko Bencana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penanggulangan bencana; ketahanan air; Pulau Jawa; grand design; musim kemarau; musim hujan</cp:keywords>
  <dc:language>id-ID</dc:language>
  <cp:category>Kajian</cp:category>
  <dc:description>Musim hujan Jawa diukur dengan korban jiwa karena longsor dan banjir mencatat korban terbanyak, musim kemarau dengan gangguan air bersih; keputusan Kepala BNPB dalam November 2026 menentukan apakah 100 hari pertama selesai di puncak musim hujan.</dc:description>
</cp:coreProperties>
</file>