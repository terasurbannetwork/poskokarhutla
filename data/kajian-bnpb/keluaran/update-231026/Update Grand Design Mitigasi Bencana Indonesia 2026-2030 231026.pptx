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Relationship Id="rId9" Type="http://schemas.openxmlformats.org/officeDocument/2006/relationships/image" Target="../media/image10.png"/><Relationship Id="rId10" Type="http://schemas.openxmlformats.org/officeDocument/2006/relationships/image" Target="../media/image1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ge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Ungkeito,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lang="id-ID">
                <a:solidFill>
                  <a:srgbClr val="1A1A1A"/>
                </a:solidFill>
                <a:latin typeface="Roboto"/>
              </a:rPr>
              <a:t>Grand Design Mitigasi</a:t>
            </a:r>
          </a:p>
          <a:p>
            <a:pPr algn="l">
              <a:lnSpc>
                <a:spcPct val="95000"/>
              </a:lnSpc>
            </a:pPr>
            <a:r>
              <a:rPr sz="2700" b="1" lang="id-ID">
                <a:solidFill>
                  <a:srgbClr val="1A1A1A"/>
                </a:solidFill>
                <a:latin typeface="Roboto"/>
              </a:rPr>
              <a:t>Bencana Indonesia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2E3440"/>
                </a:solidFill>
                <a:latin typeface="Roboto"/>
              </a:rPr>
              <a:t>Strategi Prabencana, Tanggap Darurat, dan Pascabencana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00499D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1A1A1A"/>
                </a:solidFill>
                <a:latin typeface="Roboto"/>
              </a:rPr>
              <a:t>Pembaruan penyusunan untuk Kepala BNPB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FFFFFF"/>
                </a:solidFill>
                <a:latin typeface="Roboto"/>
              </a:rPr>
              <a:t>Jumat, 23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Lima temuan kunci sejauh ini: IRB nasional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turun 10,8%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sejak 2019, tetapi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168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masih berkelas risiko Tinggi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471209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09204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INDEKS RISIKO</a:t>
            </a:r>
          </a:p>
        </p:txBody>
      </p:sp>
      <p:pic>
        <p:nvPicPr>
          <p:cNvPr id="12" name="Picture 11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128,52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IRB nasional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766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198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turun-2E3440-2c293a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186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84576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E3440"/>
                </a:solidFill>
                <a:latin typeface="Roboto"/>
              </a:rPr>
              <a:t>turun 10,8%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4576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perubahan sejak 2019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87163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96383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8F3F07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583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8973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973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kelas Tinggi 2023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508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6549" y="1282700"/>
            <a:ext cx="4356811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96277" y="1337310"/>
            <a:ext cx="127996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PERLU PERHATIAN</a:t>
            </a:r>
          </a:p>
        </p:txBody>
      </p:sp>
      <p:pic>
        <p:nvPicPr>
          <p:cNvPr id="31" name="Picture 30" descr="peringatan-FFFFFF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717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96277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05497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peringatan-C8102E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697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08087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2.030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8087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akibat bencana 2025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0674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1989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lender-051C2C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094" y="175895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22484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5.440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2484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bencana 2025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6640" y="234696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" y="290576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Risiko bencana nasional turun, tetapi korban jiwa 2025 tertinggi sejak 2018; korban analog La Niña diperkirakan turun ke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317–726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jiwa bila cakupan peringatan dini mencapai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52%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(asumsi kebijakan).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33756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675640" y="34838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" y="3559810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0140" y="3483864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58814" y="3565620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IRB nasional turun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144,02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2019 menjadi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128,52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2024.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121747" y="356641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90956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400507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86" y="4081018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20140" y="4005072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58814" y="4086828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168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514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masih berkelas risiko Tinggi pada 2023, sama dengan angka Renas PB 2025–2029.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121747" y="408762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443077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75640" y="452628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peringatan-FFFFFF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602226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20140" y="4526280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58814" y="4608036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DIBI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2.030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 meninggal pada 2025; banjir dan longsor Sumatra akhir 2025 menyumbang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1.202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21747" y="460883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95198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675640" y="50459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banjir-FFFFFF-364735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586" y="5121846"/>
            <a:ext cx="178308" cy="1783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120140" y="5045900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58814" y="5045900"/>
            <a:ext cx="809018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Musim hujan setara La Niña 2020/2021 diperkirakan menewaskan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520–1.200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akibat banjir, longsor, dan cuaca ekstrem; musim 2025/2026 tercatat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1.506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50594" y="51284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547319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55686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pandemi-FFFFFF-cf29e88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586" y="5644642"/>
            <a:ext cx="178308" cy="17830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20140" y="5568696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58814" y="5650452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Pandemi COVID tercatat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161.870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kematian resmi; WHO memperkirakan kematian berlebih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810.000–1.300.000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789602" y="5651246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2019–2024; Renas PB 2025–2029; DIBI BNPB 2025; Kemenkes; WHO; simulasi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Posisi BNPB: Grand Design menurunkan RIPB 2020–2044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Renas PB 2025–2029 ke program lima tahun berbasis risiko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YANG DIPAKAI DARI TIAP DOKUMEN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RIPB 2020–2044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Arah dan fokus jangka panjang penanggulangan bencana.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Renas PB 2025–2029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Indikator, garis dasar, dan target 2029 untuk sasaran terukur.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Renstra BNPB 2025–2029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Program dan unit pelaksana di lingkungan BNPB.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RPJMN 2025–2029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Sasaran nasional yang diturunkan lewat Renas PB.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Arah kebijakan Renas PB 2025–2029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230" y="1841500"/>
            <a:ext cx="634913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ARAH KEBIJAKAN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675640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230" y="20523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Kerangka Regulasi untuk Mewujudkan Sistem Penanggulangan Bencana yang Efisien dan Efektif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75640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230" y="23190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Kelembagaan, Pendanaan, dan Peningkatan Kolaborasi Multi-Pihak dalam Penanggulangan Bencana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675640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1230" y="25857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Investasi Pengelolaan Risiko Bencana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675640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230" y="28524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Ketangguhan Masyarakat dan Lembaga Usaha dalam Menghadapi Bencana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230" y="31191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Kapasitas dan Kapabilitas dalam Kesiapsiagaan dan Penanganan Kedaruratan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230" y="33858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Kualitas Rehabilitasi dan Rekonstruksi Pascabencana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072526" y="128270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Dasar dan posisi kajian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1526" y="1841500"/>
            <a:ext cx="3824834" cy="3192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RIPB 2020–2044 memberi arah jangka panjang; Renas PB dan Renstra BNPB 2025–2029 menjadi pijakan lima tahun.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Sasaran RPJMN 2025–2029 dirujuk lewat Renas PB, tidak disusun ulang.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IRBI BNPB menjadi rujukan utama risiko; indeks dan simulasi platform hanya pendukung dan selalu berlabel.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Usulan memakai program berbukti kuat, sedang, atau lemah; statusnya Sudah ada, Sudah ada dan perlu dikembangkan, atau Usulan baru.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Tanpa pagu dan biaya proyek; pembiayaan cukup sampai arsitektur sumber dana.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Renas PB 2025–2029 (Perban BNPB 1/2025)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IRB nasional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turun 10,8%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dalam lima tahun, dari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144,02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2019 menjadi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128,52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CARA MEMBACA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Angka resmi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Nilai nasional 2019–2024 sama dengan angka terbit Renstra BNPB 2025–2029.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lender-FFFFFF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Skala 2025 berbeda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IRBI 2025 memakai skala baru dan tidak dibandingkan dengan seri ini.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Pengelompokan pulau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Pulau dikelompokkan oleh penyusun; batas kelompoknya tidak resmi.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nasional 2019–2024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" y="184150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Rerata sederhana kab/kota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7936" y="1841500"/>
            <a:ext cx="62243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10,8%</a:t>
            </a:r>
          </a:p>
        </p:txBody>
      </p:sp>
      <p:sp>
        <p:nvSpPr>
          <p:cNvPr id="36" name="Isosceles Triangle 35"/>
          <p:cNvSpPr/>
          <p:nvPr/>
        </p:nvSpPr>
        <p:spPr>
          <a:xfrm rot="10800000">
            <a:off x="6563636" y="191262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885423" y="2209800"/>
            <a:ext cx="684555" cy="254508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205740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144,02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89544" y="2251614"/>
            <a:ext cx="684555" cy="250326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79761" y="2099214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141,65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9761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43" name="Isosceles Triangle 42"/>
          <p:cNvSpPr/>
          <p:nvPr/>
        </p:nvSpPr>
        <p:spPr>
          <a:xfrm rot="10800000">
            <a:off x="2212573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8773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1,6%</a:t>
            </a:r>
          </a:p>
        </p:txBody>
      </p:sp>
      <p:sp>
        <p:nvSpPr>
          <p:cNvPr id="45" name="Round Same Side Corner Rectangle 44"/>
          <p:cNvSpPr/>
          <p:nvPr/>
        </p:nvSpPr>
        <p:spPr>
          <a:xfrm>
            <a:off x="3093665" y="2301862"/>
            <a:ext cx="684555" cy="245301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3882" y="2149462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138,81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3882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3316694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2894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2,0%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4197786" y="2359285"/>
            <a:ext cx="684555" cy="239559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88003" y="220688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135,56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8003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53" name="Isosceles Triangle 52"/>
          <p:cNvSpPr/>
          <p:nvPr/>
        </p:nvSpPr>
        <p:spPr>
          <a:xfrm rot="10800000">
            <a:off x="442081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97015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2,3%</a:t>
            </a:r>
          </a:p>
        </p:txBody>
      </p:sp>
      <p:sp>
        <p:nvSpPr>
          <p:cNvPr id="55" name="Round Same Side Corner Rectangle 54"/>
          <p:cNvSpPr/>
          <p:nvPr/>
        </p:nvSpPr>
        <p:spPr>
          <a:xfrm>
            <a:off x="5301907" y="2417815"/>
            <a:ext cx="684555" cy="233706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2124" y="226541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132,25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2124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58" name="Isosceles Triangle 57"/>
          <p:cNvSpPr/>
          <p:nvPr/>
        </p:nvSpPr>
        <p:spPr>
          <a:xfrm rot="10800000">
            <a:off x="5524936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01136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2,4%</a:t>
            </a:r>
          </a:p>
        </p:txBody>
      </p:sp>
      <p:sp>
        <p:nvSpPr>
          <p:cNvPr id="60" name="Round Same Side Corner Rectangle 59"/>
          <p:cNvSpPr/>
          <p:nvPr/>
        </p:nvSpPr>
        <p:spPr>
          <a:xfrm>
            <a:off x="6406028" y="2483611"/>
            <a:ext cx="684555" cy="22712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6245" y="2331211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128,52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6245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63" name="Isosceles Triangle 62"/>
          <p:cNvSpPr/>
          <p:nvPr/>
        </p:nvSpPr>
        <p:spPr>
          <a:xfrm rot="10800000">
            <a:off x="6629057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5257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2,8%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66" name="Rounded Rectangle 65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0703481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72526" y="1282700"/>
            <a:ext cx="2503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2024 per pulau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67116" y="1841500"/>
            <a:ext cx="160219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569312" y="1855470"/>
            <a:ext cx="7973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 2024</a:t>
            </a:r>
          </a:p>
        </p:txBody>
      </p:sp>
      <p:pic>
        <p:nvPicPr>
          <p:cNvPr id="76" name="Picture 75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52" y="1890217"/>
            <a:ext cx="113386" cy="113386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10468294" y="1855470"/>
            <a:ext cx="946466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SEJAK 2019</a:t>
            </a:r>
          </a:p>
        </p:txBody>
      </p:sp>
      <p:pic>
        <p:nvPicPr>
          <p:cNvPr id="78" name="Picture 77" descr="kalender-FFFFFF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734" y="1890217"/>
            <a:ext cx="113386" cy="113386"/>
          </a:xfrm>
          <a:prstGeom prst="rect">
            <a:avLst/>
          </a:prstGeom>
        </p:spPr>
      </p:pic>
      <p:cxnSp>
        <p:nvCxnSpPr>
          <p:cNvPr id="79" name="Connector 78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67116" y="20523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69312" y="20523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153,68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85664" y="20523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D9600B"/>
                </a:solidFill>
                <a:latin typeface="Roboto"/>
              </a:rPr>
              <a:t>0,2%</a:t>
            </a:r>
          </a:p>
        </p:txBody>
      </p:sp>
      <p:sp>
        <p:nvSpPr>
          <p:cNvPr id="84" name="Isosceles Triangle 83"/>
          <p:cNvSpPr/>
          <p:nvPr/>
        </p:nvSpPr>
        <p:spPr>
          <a:xfrm>
            <a:off x="11096764" y="2160270"/>
            <a:ext cx="63500" cy="5080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67116" y="23190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69312" y="23190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139,03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85664" y="23190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7,5%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11096764" y="24269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67116" y="25857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69312" y="25857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137,67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85664" y="25857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6,4%</a:t>
            </a:r>
          </a:p>
        </p:txBody>
      </p:sp>
      <p:sp>
        <p:nvSpPr>
          <p:cNvPr id="96" name="Isosceles Triangle 95"/>
          <p:cNvSpPr/>
          <p:nvPr/>
        </p:nvSpPr>
        <p:spPr>
          <a:xfrm rot="10800000">
            <a:off x="11096764" y="26936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28524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69312" y="28524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129,74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85664" y="28524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D9600B"/>
                </a:solidFill>
                <a:latin typeface="Roboto"/>
              </a:rPr>
              <a:t>1,1%</a:t>
            </a:r>
          </a:p>
        </p:txBody>
      </p:sp>
      <p:sp>
        <p:nvSpPr>
          <p:cNvPr id="102" name="Isosceles Triangle 101"/>
          <p:cNvSpPr/>
          <p:nvPr/>
        </p:nvSpPr>
        <p:spPr>
          <a:xfrm>
            <a:off x="11096764" y="2960370"/>
            <a:ext cx="63500" cy="5080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7691526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67116" y="31191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69312" y="31191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126,71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27373" y="3119120"/>
            <a:ext cx="2873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11,2%</a:t>
            </a:r>
          </a:p>
        </p:txBody>
      </p:sp>
      <p:sp>
        <p:nvSpPr>
          <p:cNvPr id="108" name="Isosceles Triangle 107"/>
          <p:cNvSpPr/>
          <p:nvPr/>
        </p:nvSpPr>
        <p:spPr>
          <a:xfrm rot="10800000">
            <a:off x="11038473" y="32270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7691526" y="33858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0" name="Oval 109"/>
          <p:cNvSpPr/>
          <p:nvPr/>
        </p:nvSpPr>
        <p:spPr>
          <a:xfrm>
            <a:off x="7691526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67116" y="33858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69312" y="33858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122,89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85664" y="33858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9,9%</a:t>
            </a:r>
          </a:p>
        </p:txBody>
      </p:sp>
      <p:sp>
        <p:nvSpPr>
          <p:cNvPr id="114" name="Isosceles Triangle 113"/>
          <p:cNvSpPr/>
          <p:nvPr/>
        </p:nvSpPr>
        <p:spPr>
          <a:xfrm rot="10800000">
            <a:off x="11096764" y="34937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7691526" y="36525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6" name="Oval 115"/>
          <p:cNvSpPr/>
          <p:nvPr/>
        </p:nvSpPr>
        <p:spPr>
          <a:xfrm>
            <a:off x="7691526" y="36988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67116" y="36525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69312" y="36525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107,46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127373" y="3652520"/>
            <a:ext cx="2873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24,9%</a:t>
            </a:r>
          </a:p>
        </p:txBody>
      </p:sp>
      <p:sp>
        <p:nvSpPr>
          <p:cNvPr id="120" name="Isosceles Triangle 119"/>
          <p:cNvSpPr/>
          <p:nvPr/>
        </p:nvSpPr>
        <p:spPr>
          <a:xfrm rot="10800000">
            <a:off x="11038473" y="37604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691526" y="4046220"/>
            <a:ext cx="3824834" cy="988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Maluku dan Papua naik sejak 2019; lima pulau lain turun, Jawa paling cepat.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Urutan memakai IRB 2024, tahun terakhir yang sebanding dengan seri resmi.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2019–2024; diolah Pantau Bencana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051C2C"/>
                </a:solidFill>
                <a:latin typeface="Roboto"/>
              </a:rPr>
              <a:t>168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berkelas risiko Tinggi pada 2023,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terbanyak di</a:t>
            </a:r>
            <a:r>
              <a:rPr sz="22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dengan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154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868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KELAS RISIKO KAB/KOTA 2023</a:t>
            </a:r>
          </a:p>
        </p:txBody>
      </p:sp>
      <p:pic>
        <p:nvPicPr>
          <p:cNvPr id="12" name="Picture 11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dinilai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peringatan-8F3F07-6a80b7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kelas Tinggi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9078" y="1337310"/>
            <a:ext cx="234733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PEMBANDING 2015, ASUMSI KEBIJAKAN</a:t>
            </a:r>
          </a:p>
        </p:txBody>
      </p:sp>
      <p:pic>
        <p:nvPicPr>
          <p:cNvPr id="26" name="Picture 25" descr="data-FFFFFF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eringatan-8F3F07-6a80b7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324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Tinggi 2015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dinilai 2015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pic>
        <p:nvPicPr>
          <p:cNvPr id="38" name="Picture 37" descr="peta-irbi-20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752130"/>
            <a:ext cx="6741566" cy="253230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846949" y="5360630"/>
            <a:ext cx="97976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Kelas IRBI BNPB 2023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53709" y="539873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06109" y="5360630"/>
            <a:ext cx="287896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Tinggi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1005" y="539873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3405" y="5360630"/>
            <a:ext cx="34389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Sedang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95594" y="536698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3843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olahan Pantau Bencana; WGS84; batas wilayah ilustratif dan tidak resmi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819" y="3953456"/>
            <a:ext cx="5526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01533" y="3087409"/>
            <a:ext cx="68297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17819" y="4882811"/>
            <a:ext cx="4054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9888" y="3284929"/>
            <a:ext cx="57457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803" y="5098056"/>
            <a:ext cx="12547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8241" y="4226945"/>
            <a:ext cx="5034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52157" y="4999296"/>
            <a:ext cx="453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Kab/kota kelas Tinggi per pulau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8852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45269" y="2919730"/>
            <a:ext cx="701423" cy="182880"/>
          </a:xfrm>
          <a:prstGeom prst="roundRect">
            <a:avLst>
              <a:gd name="adj" fmla="val 50000"/>
            </a:avLst>
          </a:prstGeom>
          <a:solidFill>
            <a:srgbClr val="8F3F07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TINGGI</a:t>
            </a:r>
          </a:p>
        </p:txBody>
      </p:sp>
      <p:pic>
        <p:nvPicPr>
          <p:cNvPr id="63" name="Picture 62" descr="peringatan-FFFFFF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6709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548292" y="2919730"/>
            <a:ext cx="8664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KAB/KOTA</a:t>
            </a:r>
          </a:p>
        </p:txBody>
      </p:sp>
      <p:pic>
        <p:nvPicPr>
          <p:cNvPr id="65" name="Picture 64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732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15172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48292" y="31165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154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15172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48292" y="3383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15172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48292" y="36499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15172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48292" y="39166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15172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48292" y="41833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5172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48292" y="44500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554366" y="47167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755436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29956" y="47167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15172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48292" y="47167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554366" y="5034280"/>
            <a:ext cx="396199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29956" y="5034280"/>
            <a:ext cx="18852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15172" y="5034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168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48292" y="5034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514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2015, 2023; Renas PB 2025–2029; diolah Pantau Bencana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Korban jiwa bencana alam terbesar sejak 2008:</a:t>
            </a:r>
            <a:r>
              <a:rPr sz="2000" b="1" lang="id-ID">
                <a:solidFill>
                  <a:srgbClr val="00499D"/>
                </a:solidFill>
                <a:latin typeface="Roboto"/>
              </a:rPr>
              <a:t> Sulawesi Tengah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2018,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4.140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jiwa; disusul banjir dan longsor</a:t>
            </a:r>
            <a:r>
              <a:rPr sz="20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2025,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1.202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jiwa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CATATAN DATA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Patahan seri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Sejak 2024 laporan di bawah ambang Juklak BNPB dikeluarkan dan nonalam mulai tercatat.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wilayah-FFFFFF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Jendela kejadian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Rentang tanggal dan wilayah tiap kejadian besar dipilih penyusun; angka bergeser bila jendela diubah.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data-FFFFFF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Sebelum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Aceh 2004, Nias 2005, dan Yogyakarta 2006 tidak tersedia di dasbor publik DIBI.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besar menurut korban meninggal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1841500"/>
            <a:ext cx="26513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KEJADIAN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611" y="1841500"/>
            <a:ext cx="26513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TAHUN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3991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37" name="Picture 36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431" y="1890217"/>
            <a:ext cx="113386" cy="113386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75640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230" y="20523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Gempa, tsunami, dan likuefaksi Sulawesi Tengah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2611" y="20523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3991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4.140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75640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230" y="23190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longsor Sumatra (Aceh, Sumut, Sumbar)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2611" y="23190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3991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1.202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675640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1230" y="25857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Sumatera Barat (Padang Pariaman)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02611" y="25857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3991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1.195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675640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230" y="28524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Cianjur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02611" y="28524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3991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602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675640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1230" y="31191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Lombok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2611" y="31191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3991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569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75640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1230" y="33858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dan tsunami Mentawai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2611" y="33858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3991" y="33858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447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6525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675640" y="36988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230" y="36525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 Selat Sunda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2611" y="36525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3991" y="36525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437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9192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675640" y="39655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1230" y="39192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Merapi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02611" y="39192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53991" y="39192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386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3" name="Picture 8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72526" y="128270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Rekap DIBI per tahun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91526" y="1841500"/>
            <a:ext cx="182606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TAHUN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17592" y="185547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88" name="Picture 87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032" y="1890217"/>
            <a:ext cx="113386" cy="113386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0469985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90" name="Picture 89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425" y="1890217"/>
            <a:ext cx="113386" cy="113386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7691526" y="20523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17592" y="20523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2.299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9985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548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6" name="TextBox 95"/>
          <p:cNvSpPr txBox="1"/>
          <p:nvPr/>
        </p:nvSpPr>
        <p:spPr>
          <a:xfrm>
            <a:off x="7691526" y="23190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17592" y="23190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5.440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9985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2.030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7691526" y="25857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17592" y="25857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3.548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9985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579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TextBox 103"/>
          <p:cNvSpPr txBox="1"/>
          <p:nvPr/>
        </p:nvSpPr>
        <p:spPr>
          <a:xfrm>
            <a:off x="7691526" y="28524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17592" y="28524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985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8" name="TextBox 107"/>
          <p:cNvSpPr txBox="1"/>
          <p:nvPr/>
        </p:nvSpPr>
        <p:spPr>
          <a:xfrm>
            <a:off x="7691526" y="31191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17592" y="31191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3.544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9985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858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91526" y="33858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7691526" y="33858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17592" y="33858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9985" y="33858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91526" y="3779520"/>
            <a:ext cx="3824834" cy="125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Data 2026 masih sementara.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kejadian Sulawesi Tengah 2018, banjir dan longsor Sumatra 2025, rekap nasional tahunan; DIBI BNPB 2008–2026, kejadian besar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Nonalam dan sosial belum punya skenario resmi; analog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pandemi COVID mencatat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161.870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kematian resmi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84787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NONALAM</a:t>
            </a:r>
          </a:p>
        </p:txBody>
      </p:sp>
      <p:pic>
        <p:nvPicPr>
          <p:cNvPr id="12" name="Picture 11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andemi-C8102E-cf29e8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161.870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resmi pandemi COVID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ebakaran-tpa-C8102E-e8abd5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TPA terbakar serentak 2023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ebakaran-tpa-051C2C-e8abd5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TPA masih pembuangan terbuka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82075" y="1337310"/>
            <a:ext cx="7144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SOSIAL</a:t>
            </a:r>
          </a:p>
        </p:txBody>
      </p:sp>
      <p:pic>
        <p:nvPicPr>
          <p:cNvPr id="31" name="Picture 30" descr="lembaga-FFFFFF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onflik-sosial-051C2C-d761add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2.031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desa dengan perkelahian massal 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6640" y="234696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kajian nonalam dan sosial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1084072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Tidak ada skenario resmi pandemi, gagal teknologi, kebakaran TPA, maupun konflik; kajian memakai analog terburuk tercatat dan menulis celah datanya.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314706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675640" y="36469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pandemi-FFFFFF-cf29e88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86" y="3722910"/>
            <a:ext cx="178308" cy="1783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20140" y="3646964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8814" y="3646964"/>
            <a:ext cx="3156428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Pandemi: WHO memperkirakan kematian berlebih pandemi COVID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810.000–1.300.000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, jauh di atas angka resmi.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6842" y="3729514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459613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504523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kebakaran-industri-FFFFFF-8c2724f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86" y="5121180"/>
            <a:ext cx="178308" cy="17830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20140" y="5045234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58814" y="5045234"/>
            <a:ext cx="3156428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Gagal teknologi: kebakaran depo BBM Plumpang 2023,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pada data hari kedua (Kepala BNPB)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data BPBD DKI (sekunder).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48987" y="512778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8" name="Oval 57"/>
          <p:cNvSpPr/>
          <p:nvPr/>
        </p:nvSpPr>
        <p:spPr>
          <a:xfrm>
            <a:off x="6248400" y="36469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kebakaran-tpa-FFFFFF-e8abd5c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346" y="3722910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92900" y="3646964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31574" y="3646964"/>
            <a:ext cx="3156428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Kebakaran TPA: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TPA terbakar serentak pada 2023;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369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485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TPA masih pembuangan terbuka pada 2026.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121747" y="372951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248400" y="459613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248400" y="51285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konflik-sosial-FFFFFF-d761add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346" y="5204524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92900" y="5128578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1574" y="5128578"/>
            <a:ext cx="3156428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Konflik: DIBI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pada kerusuhan akhir Agustus 2025; Komnas HAM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(sekunder).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21747" y="5211128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Kemenkes dikutip Renstra BNPB 2025–2029; WHO; Setkab; BPBD DKI; KLH/BPLH; BNPB; BPS Podes 2024; DIBI BNPB; Komnas HAM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lang="id-ID">
                <a:solidFill>
                  <a:srgbClr val="1A1A1A"/>
                </a:solidFill>
                <a:latin typeface="Roboto"/>
              </a:rPr>
              <a:t>Analog La Niña 2020/2021: korban jiwa</a:t>
            </a:r>
            <a:r>
              <a:rPr sz="2100" b="1" lang="id-ID">
                <a:solidFill>
                  <a:srgbClr val="D9600B"/>
                </a:solidFill>
                <a:latin typeface="Roboto"/>
              </a:rPr>
              <a:t> 520–1.200</a:t>
            </a:r>
            <a:r>
              <a:rPr sz="2100" b="1" lang="id-ID">
                <a:solidFill>
                  <a:srgbClr val="1A1A1A"/>
                </a:solidFill>
                <a:latin typeface="Roboto"/>
              </a:rPr>
              <a:t> jiwa, di bawah</a:t>
            </a:r>
            <a:br/>
            <a:r>
              <a:rPr sz="2100" b="1" lang="id-ID">
                <a:solidFill>
                  <a:srgbClr val="D9600B"/>
                </a:solidFill>
                <a:latin typeface="Roboto"/>
              </a:rPr>
              <a:t>1.506</a:t>
            </a:r>
            <a:r>
              <a:rPr sz="2100" b="1" lang="id-ID">
                <a:solidFill>
                  <a:srgbClr val="1A1A1A"/>
                </a:solidFill>
                <a:latin typeface="Roboto"/>
              </a:rPr>
              <a:t> meninggal pada musim 2025/2026 yang bukan La Niña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50594" y="14287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1282700"/>
            <a:ext cx="8966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Hidrometeorologi basah: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banjir, longsor, cuaca ekstrem; analog La Niña 2020/2021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semua jenis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520–1.200 jiwa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128" y="21336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 dari longsor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128" y="24765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Pembanding: meninggal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1.506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Terdampak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5,2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jiwa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508.914 jiwa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13.675 unit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Kerugian materiil, batas bawah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Rp1,8–2,5 triliun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05015" y="41910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44894" y="1866900"/>
            <a:ext cx="0" cy="314579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11,1%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21331" y="2794000"/>
            <a:ext cx="1382229" cy="177800"/>
          </a:xfrm>
          <a:prstGeom prst="roundRect">
            <a:avLst>
              <a:gd name="adj" fmla="val 14285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520–1.200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Bila naik ke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52%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97629" y="3098800"/>
            <a:ext cx="834028" cy="177800"/>
          </a:xfrm>
          <a:prstGeom prst="roundRect">
            <a:avLst>
              <a:gd name="adj" fmla="val 14285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317–726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jiwa bila target Renas PB 2029 tercapai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508889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5640" y="5317490"/>
            <a:ext cx="3528907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dini warga bantaran sungai dan lereng rawan longsor berdasar peringatan BMKG.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Pompa bergerak dan perahu karet di kab/kota bernilai banjir tertinggi.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Layanan kesehatan dan air bersih di tempat evakuasi.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31547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1547" y="5317490"/>
            <a:ext cx="3528907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 kebutuhan pascabencana untuk rumah rusak berat dan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Perbaikan tanggul dan alur sungai bersama balai wilayah sungai.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Stimulan perbaikan rumah sesuai standar BNPB.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87453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87453" y="531749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6" name="Picture 75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348859"/>
            <a:ext cx="102362" cy="1023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8568804" y="531749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78" name="Picture 77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54" y="534885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166625" y="531749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75" y="534885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127626" y="531749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176" y="534885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987453" y="5533390"/>
            <a:ext cx="86976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kab/kota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564759"/>
            <a:ext cx="102362" cy="102362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BNPB; NOAA CPC (ONI); Renas PB 2025–2029; UNDRR-WMO 2022; Pantau Bencana; kemungkinan dihitung penyusun dari frekuensi musim La Niña setara 2020/2021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67873" y="1860550"/>
            <a:ext cx="154848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hitungan penyusun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Batang: rentang korban jiwa, rendah sampai tinggi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lang="id-ID">
                <a:solidFill>
                  <a:srgbClr val="1A1A1A"/>
                </a:solidFill>
                <a:latin typeface="Roboto"/>
              </a:rPr>
              <a:t>Kerangka Grand Design 2026–2030: program berbukti dipetakan ke</a:t>
            </a:r>
            <a:br/>
            <a:r>
              <a:rPr sz="1900" b="1" lang="id-ID">
                <a:solidFill>
                  <a:srgbClr val="1A1A1A"/>
                </a:solidFill>
                <a:latin typeface="Roboto"/>
              </a:rPr>
              <a:t>prabencana, tanggap darurat, dan pascabencana; waktu usulan penyusun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PILAR GRAND DESIGN (DALAM PENYUSUNAN)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Risiko sebagai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IRBI per kab/kota menentukan urutan prioritas program.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232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339534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9512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571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Program berbukti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571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Bukti kuat, sedang, atau lemah disebut per program; kode di dua fase disiapkan prabencana.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22975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09600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9512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1637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Lembaga pelaksana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37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Unit BNPB dan K/L sesuai nomenklatur kabinet terkini.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2363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79665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mbiayaan-FFFFFF-5387a3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95122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702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Arsitektur pendanaan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02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Tanpa pagu; sumber dana berlapis dari pusat sampai daerah.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prabencana-FFFFFF-572c04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Kode bangunan tahan gempa beserta penegakannya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226364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798050" y="2263648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PU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2295017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Pendidikan evakuasi mandiri di sekolah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295554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798050" y="2955544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Kemendikdasmen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2986913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Hibah mitigasi bersyarat analisis manfaat dan biaya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79805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3678809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Lengkapi rantai peringatan dini tsunami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4339336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2293390" y="4339336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940" y="4370705"/>
            <a:ext cx="102362" cy="102362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Rounded Rectangle 65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Latih relawan desa untuk evakuasi preemptif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" y="503123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9" name="Picture 6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798050" y="5031232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1" name="Picture 7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5062601"/>
            <a:ext cx="102362" cy="102362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tanggap-darurat-FFFFFF-d40ecc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41960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980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Sebarkan peringatan tsunami sampai sirene dan warga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49800" y="2494280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252564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6037350" y="249428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84" name="Picture 8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900" y="2525649"/>
            <a:ext cx="102362" cy="102362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441960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Rounded Rectangle 85"/>
          <p:cNvSpPr/>
          <p:nvPr/>
        </p:nvSpPr>
        <p:spPr>
          <a:xfrm>
            <a:off x="441960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980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Relawan desa memandu evakuasi warga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980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3678809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554201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91" name="Picture 9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60" y="3678809"/>
            <a:ext cx="102362" cy="102362"/>
          </a:xfrm>
          <a:prstGeom prst="rect">
            <a:avLst/>
          </a:prstGeom>
        </p:spPr>
      </p:pic>
      <p:cxnSp>
        <p:nvCxnSpPr>
          <p:cNvPr id="92" name="Connector 91"/>
          <p:cNvCxnSpPr/>
          <p:nvPr/>
        </p:nvCxnSpPr>
        <p:spPr>
          <a:xfrm>
            <a:off x="441960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Rounded Rectangle 92"/>
          <p:cNvSpPr/>
          <p:nvPr/>
        </p:nvSpPr>
        <p:spPr>
          <a:xfrm>
            <a:off x="441960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4980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Evakuasi ke tempat evakuasi yang sudah ditetapkan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4980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6" name="Picture 95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831969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5542010" y="480060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98" name="Picture 9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60" y="4831969"/>
            <a:ext cx="102362" cy="10236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pascabencana-FFFFFF-603074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Rekonstruksi rumah berbasis komunitas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93760" y="249428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9" name="Picture 10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9285970" y="249428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PKP</a:t>
            </a:r>
          </a:p>
        </p:txBody>
      </p:sp>
      <p:pic>
        <p:nvPicPr>
          <p:cNvPr id="111" name="Picture 11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2525649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Badan rekonstruksi berbatas waktu untuk bencana besar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9376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16" name="Picture 115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928597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118" name="Picture 11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3678809"/>
            <a:ext cx="102362" cy="102362"/>
          </a:xfrm>
          <a:prstGeom prst="rect">
            <a:avLst/>
          </a:prstGeom>
        </p:spPr>
      </p:pic>
      <p:cxnSp>
        <p:nvCxnSpPr>
          <p:cNvPr id="119" name="Connector 118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Rounded Rectangle 119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Asuransi risiko bencana dan pooling regional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23" name="Picture 122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9285970" y="480060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Kemenkeu</a:t>
            </a:r>
          </a:p>
        </p:txBody>
      </p:sp>
      <p:pic>
        <p:nvPicPr>
          <p:cNvPr id="125" name="Picture 12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Contoh program kompendium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(2026–2030)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: status,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kekuatan bukti, indikator, dan waktu usulan penyusun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548640" y="17780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53946"/>
            <a:ext cx="178308" cy="1783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3140" y="17284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Tegakkan kode bangunan tahan gempa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140" y="19634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8" name="Picture 1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94789"/>
            <a:ext cx="102362" cy="1023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85350" y="19634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8" y="14859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Chile; bukti sedang. Indikator: bagian bangunan baru yang lolos pemeriksaan kode tahan gempa.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8733" y="186055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PU</a:t>
            </a:r>
          </a:p>
        </p:txBody>
      </p:sp>
      <p:pic>
        <p:nvPicPr>
          <p:cNvPr id="22" name="Picture 2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91919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719734" y="18605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284" y="1891919"/>
            <a:ext cx="102362" cy="10236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48640" y="24003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" y="26924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768346"/>
            <a:ext cx="178308" cy="1783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3140" y="26428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Perkuat pendidikan evakuasi di sekolah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40" y="28778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0" name="Picture 2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909189"/>
            <a:ext cx="102362" cy="10236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785350" y="28778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9898" y="24003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Kamaishi, bukti sedang; SPAB belum punya evaluasi dampak nasional berpembanding. Indikator: sekolah bergladi tiap tahun.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8733" y="2774950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Kemendikdasmen</a:t>
            </a:r>
          </a:p>
        </p:txBody>
      </p:sp>
      <p:pic>
        <p:nvPicPr>
          <p:cNvPr id="34" name="Picture 3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806319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83631" y="27749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81" y="2806319"/>
            <a:ext cx="102362" cy="10236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364981" y="2774950"/>
            <a:ext cx="66231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Kemenag</a:t>
            </a:r>
          </a:p>
        </p:txBody>
      </p:sp>
      <p:pic>
        <p:nvPicPr>
          <p:cNvPr id="38" name="Picture 3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531" y="2806319"/>
            <a:ext cx="102362" cy="102362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548640" y="33147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548640" y="36068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mbiayaan-FFFFFF-5387a3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3682746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3140" y="35572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hibah mitigasi bersyarat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140" y="37922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4" name="Picture 4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823589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785350" y="37922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9898" y="33147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FEMA HMGP dan BRIC; bukti sedang. Indikator: hibah daerah yang lolos analisis manfaat dan biaya.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8733" y="36893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48" name="Picture 4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72071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340083" y="368935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3720719"/>
            <a:ext cx="102362" cy="10236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096059" y="3689350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52" name="Picture 5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8609" y="3720719"/>
            <a:ext cx="102362" cy="102362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548640" y="42291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548640" y="45212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infrastruktur-FFFFFF-ba1c96e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4597146"/>
            <a:ext cx="178308" cy="17830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93140" y="44716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Lengkapi rantai peringatan dini tsunami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3140" y="4706620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58" name="Picture 5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737989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2280690" y="47066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9898" y="42291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InaTEWS; bukti sedang. Mata rantai terakhir sampai sirene dan Pusdalops dikuatkan. Indikator: waktu peringatan sampai ke warga.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58733" y="46037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62" name="Picture 6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35119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9340083" y="46037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64" name="Picture 6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4635119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9937904" y="460375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66" name="Picture 6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454" y="4635119"/>
            <a:ext cx="102362" cy="102362"/>
          </a:xfrm>
          <a:prstGeom prst="rect">
            <a:avLst/>
          </a:prstGeom>
        </p:spPr>
      </p:pic>
      <p:cxnSp>
        <p:nvCxnSpPr>
          <p:cNvPr id="67" name="Connector 66"/>
          <p:cNvCxnSpPr/>
          <p:nvPr/>
        </p:nvCxnSpPr>
        <p:spPr>
          <a:xfrm>
            <a:off x="548640" y="51435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548640" y="54356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511546"/>
            <a:ext cx="178308" cy="1783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93140" y="53860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Bangun evakuasi preemptif berbasis relawan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3140" y="56210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2" name="Picture 7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652389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785350" y="56210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09898" y="51435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Cyclone Preparedness Programme Bangladesh; bukti kuat. Indikator: desa rawan dengan relawan peringatan terlatih.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58733" y="55181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6" name="Picture 7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549519"/>
            <a:ext cx="102362" cy="1023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9340083" y="55181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78" name="Picture 7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554951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937904" y="5518150"/>
            <a:ext cx="7018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454" y="5549519"/>
            <a:ext cx="102362" cy="102362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berbukti Pantau Bencana; Renas PB 2025–2029; riset praktik baik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Contoh program kompendium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(2026–2030)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: status, kekuatan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bukti, indikator, dan waktu usulan penyusun (lanjutan)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548640" y="17780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53946"/>
            <a:ext cx="178308" cy="1783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3140" y="17284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Rencanakan evakuasi preemptif dan tempat evakuasi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140" y="19634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8" name="Picture 1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94789"/>
            <a:ext cx="102362" cy="1023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85350" y="19634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8" y="14859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OSDMA Odisha, India; bukti sedang. Indikator: kab/kota rawan dengan rencana dan tempat evakuasi yang ditetapkan.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8733" y="18605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22" name="Picture 2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91919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340083" y="18605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1891919"/>
            <a:ext cx="102362" cy="10236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937904" y="186055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26" name="Picture 2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454" y="1891919"/>
            <a:ext cx="102362" cy="102362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548640" y="24003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48640" y="26924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768346"/>
            <a:ext cx="178308" cy="1783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3140" y="26428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Rekonstruksi rumah berbasis komunitas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140" y="28778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2" name="Picture 3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909189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785350" y="28778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9898" y="24003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Rekompak pascagempa Yogyakarta; bukti lemah. Indikator: rumah terbangun ulang sesuai standar tahan gempa.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8733" y="277495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PKP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806319"/>
            <a:ext cx="102362" cy="10236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770256" y="27749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38" name="Picture 3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806" y="2806319"/>
            <a:ext cx="102362" cy="10236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351606" y="277495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40" name="Picture 3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4156" y="2806319"/>
            <a:ext cx="102362" cy="102362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548640" y="33147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548640" y="36068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682746"/>
            <a:ext cx="178308" cy="1783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93140" y="35572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badan rekonstruksi berbatas waktu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3140" y="37922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6" name="Picture 4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823589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85350" y="37922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9898" y="33147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BRR Aceh-Nias 2005–2009 yang sudah bubar; bukti lemah. Indikator: kerangka hukum badan siap sebelum bencana besar.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58733" y="36893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720719"/>
            <a:ext cx="102362" cy="10236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9340083" y="3689350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52" name="Picture 5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3720719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0069666" y="368935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54" name="Picture 5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2216" y="3720719"/>
            <a:ext cx="102362" cy="102362"/>
          </a:xfrm>
          <a:prstGeom prst="rect">
            <a:avLst/>
          </a:prstGeom>
        </p:spPr>
      </p:pic>
      <p:cxnSp>
        <p:nvCxnSpPr>
          <p:cNvPr id="55" name="Connector 54"/>
          <p:cNvCxnSpPr/>
          <p:nvPr/>
        </p:nvCxnSpPr>
        <p:spPr>
          <a:xfrm>
            <a:off x="548640" y="42291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548640" y="45212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pembiayaan-FFFFFF-5387a3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597146"/>
            <a:ext cx="178308" cy="1783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93140" y="44716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Kembangkan asuransi risiko bencana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3140" y="47066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0" name="Picture 5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737989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1785350" y="47066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9898" y="42291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CCRIF dan ARC; bukti sedang. Indikator: aset pemerintah yang diasuransikan terhadap bencana.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58733" y="460375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Kemenkeu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35119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9514708" y="46037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66" name="Picture 6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7258" y="4635119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10096059" y="4603750"/>
            <a:ext cx="47010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OJK</a:t>
            </a:r>
          </a:p>
        </p:txBody>
      </p:sp>
      <p:pic>
        <p:nvPicPr>
          <p:cNvPr id="68" name="Picture 6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8609" y="4635119"/>
            <a:ext cx="102362" cy="102362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berbukti Pantau Bencana; Renas PB 2025–2029; riset praktik baik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Status penyusunan dan syarat penyelesaian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ingkasan-051C2C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Riset pustaka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Kajian data, regulasi, dan praktik baik dalam dan luar negeri menjadi dasar semua bab.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IRBI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Tren 2015–2024, kelas kab/kota, agregat pulau dan provinsi; IRBI 2025 berskala baru.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DIBI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Rekap 2015–2026, kejadian besar, rekonsiliasi; patahan seri 2024 dicatat.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Program dan lembaga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Kompendium program berbukti berstatus usulan dan peta unit BNPB dari peraturan BNPB.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banjir-D9600B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MENUNGGU UJI BALIK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hidrometeorologi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Kartu nasional dan Jawa berlabel estimasi model; uji balik belum dijalankan.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gempa-D9600B-5740f7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DALAM PENYUSUNAN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geologi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Masih ilustratif; menunggu dokumen Peta Gempa 2024 dan lapisan genangan InaRISK.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PERLU KEPUTUSAN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Arahan pimpinan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Dibutuhkan sebelum naskah bab dikunci; rinciannya pada pita keputusan di bawah.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kalender-D9600B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Naskah bab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bab sedang ditulis dari paket data; kerugian rupiah nonalam belum tersedia.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kalender-D9600B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09040" y="5369560"/>
            <a:ext cx="1453496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KEPUTUSAN DIMINTA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62536" y="5369560"/>
            <a:ext cx="8815724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Tanggal final kedua kajian dan arahan atas empat pilar Grand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bencana-tsun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USGS, Public domain,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Mitigasi Bencana Indonesia 2026–2030, Jumat, 23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Mitigasi Bencana Indonesia 2026–2030</dc:title>
  <dc:subject>Strategi Prabencana, Tanggap Darurat, dan Pascabencana</dc:subject>
  <dc:creator>Badan Nasional Penanggulangan Bencana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