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5.png"/><Relationship Id="rId6" Type="http://schemas.openxmlformats.org/officeDocument/2006/relationships/image" Target="../media/image26.png"/><Relationship Id="rId7" Type="http://schemas.openxmlformats.org/officeDocument/2006/relationships/image" Target="../media/image8.png"/><Relationship Id="rId8" Type="http://schemas.openxmlformats.org/officeDocument/2006/relationships/image" Target="../media/image27.png"/><Relationship Id="rId9" Type="http://schemas.openxmlformats.org/officeDocument/2006/relationships/image" Target="../media/image12.png"/><Relationship Id="rId10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5" Type="http://schemas.openxmlformats.org/officeDocument/2006/relationships/image" Target="../media/image5.png"/><Relationship Id="rId6" Type="http://schemas.openxmlformats.org/officeDocument/2006/relationships/image" Target="../media/image26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ul-sampul-reh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masjid yang tetap berdiri setelah tsunami Aceh, Banda Aceh, 2005; USGS, domain publik,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Grand Design Rehabilitasi dan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Rekonstruksi Air dan Akses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Pascabencana 2026–2030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lang="id-ID">
                <a:solidFill>
                  <a:srgbClr val="C9D1E3"/>
                </a:solidFill>
                <a:latin typeface="Roboto"/>
              </a:rPr>
              <a:t>Sistem Perpipaan, Pemanfaatan Air Tanah, dan Jembatan untuk Pemulihan Daerah Terdampak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22700"/>
            <a:ext cx="566928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lang="id-ID">
                <a:solidFill>
                  <a:srgbClr val="F6B26B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27500"/>
            <a:ext cx="5669280" cy="198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lang="id-ID">
                <a:solidFill>
                  <a:srgbClr val="C9D1E3"/>
                </a:solidFill>
                <a:latin typeface="Roboto"/>
              </a:rPr>
              <a:t>Disampaikan kepada Kepala Badan Nasional Penanggulangan Bencana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4478338"/>
            <a:ext cx="5120640" cy="0"/>
          </a:xfrm>
          <a:prstGeom prst="line">
            <a:avLst/>
          </a:prstGeom>
          <a:ln w="9525">
            <a:solidFill>
              <a:srgbClr val="8C9AA8"/>
            </a:solidFill>
          </a:ln>
        </p:spPr>
      </p:cxnSp>
      <p:sp>
        <p:nvSpPr>
          <p:cNvPr id="11" name="Rounded Rectangle 10"/>
          <p:cNvSpPr/>
          <p:nvPr/>
        </p:nvSpPr>
        <p:spPr>
          <a:xfrm>
            <a:off x="548640" y="5760720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lang="id-ID">
                <a:solidFill>
                  <a:srgbClr val="051C2C"/>
                </a:solidFill>
                <a:latin typeface="Roboto"/>
              </a:rPr>
              <a:t>Senin, 26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50" b="1" lang="id-ID">
                <a:solidFill>
                  <a:srgbClr val="1A1A1A"/>
                </a:solidFill>
                <a:latin typeface="Roboto"/>
              </a:rPr>
              <a:t>Pesan Kunci: waktu pulih air dan akses sebagai ukuran keberhasilan</a:t>
            </a:r>
            <a:br/>
            <a:r>
              <a:rPr sz="2050" b="1" lang="id-ID">
                <a:solidFill>
                  <a:srgbClr val="1A1A1A"/>
                </a:solidFill>
                <a:latin typeface="Roboto"/>
              </a:rPr>
              <a:t>rehabilitasi dan rekonstruksi, empat keputusan Kepala BNPB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D9600B"/>
                </a:solidFill>
                <a:latin typeface="Roboto"/>
              </a:rPr>
              <a:t>KEPUTUSAN YANG DIMINTA DARI KEPALA BNPB</a:t>
            </a:r>
          </a:p>
        </p:txBody>
      </p:sp>
      <p:sp>
        <p:nvSpPr>
          <p:cNvPr id="11" name="Oval 10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060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Ukuran waktu pulih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060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Tetapkan waktu pulih air dan akses sebagai ukuran RR; baseline 2027.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22320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3395345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pembiayaan-FFFFFF-5387a3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545" y="5684520"/>
            <a:ext cx="177800" cy="17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15715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Jalur dana aset desa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5715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Usulkan jalur dana jembatan dan SPAM desa bersama Kemenkeu dan Kemendes.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22975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6096000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5684520"/>
            <a:ext cx="177800" cy="177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16370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Ikat jembatan ke rencana 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370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Ikat jembatan TNI AD dan Polri ke rencana RR lewat Satgas dan rakor.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23630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8796655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air-tanah-FFFFFF-400248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2855" y="5684520"/>
            <a:ext cx="177800" cy="177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17025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Protokol sumur bor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025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Tugaskan protokol sumur bor RR bersama Badan Geologi, 100 hari.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ringkasan-FFFFFF-28e56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56640" y="128270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Pesan kunci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640" y="1841500"/>
            <a:ext cx="108407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DIBI mencatat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3.833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jembatan rusak pada 2018–2025,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1.088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pada 2025 saja, tanpa satu pun kolom air; Grand Design 2026–2030 menjadikan waktu pulih akses dan air ukuran keberhasilan rehabilitasi dan rekonstruksi.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5640" y="227330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675640" y="260910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infrastruktur-FFFFFF-ba1c96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586" y="2685055"/>
            <a:ext cx="178308" cy="1783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20140" y="260910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3437" y="2609109"/>
            <a:ext cx="3483950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Beban akses.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DIBI mencatat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3.833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jembatan rusak pada 2018–2025,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1.088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pada 2025 saja.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48987" y="269165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564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675640" y="351250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rumah-FFFFFF-320df64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586" y="3588448"/>
            <a:ext cx="178308" cy="17830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120140" y="3512502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63437" y="3512502"/>
            <a:ext cx="3483950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Beban rumah.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62,4%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rumah rusak berat 2015–2025 jatuh pada 2018 dan 2025 saja.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48987" y="359505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75640" y="4130887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675640" y="441589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infrastruktur-FFFFFF-ba1c96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586" y="4491842"/>
            <a:ext cx="178308" cy="17830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120140" y="4415896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63437" y="4415896"/>
            <a:ext cx="3483950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Akses daerah.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67%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jembatan daerah Sumatra berfungsi per Mei 2026, lawan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100%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jalan dan jembatan nasional.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548987" y="449844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6" name="Oval 55"/>
          <p:cNvSpPr/>
          <p:nvPr/>
        </p:nvSpPr>
        <p:spPr>
          <a:xfrm>
            <a:off x="6248400" y="252576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7" name="Picture 56" descr="air-baku-FFFFFF-271d6c2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346" y="2601711"/>
            <a:ext cx="178308" cy="17830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92900" y="2525765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36197" y="2525765"/>
            <a:ext cx="3483950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Air perpipaan.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95,5%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178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SPAM Sumatra berfungsi pada Mei 2026, dihitung sebagai unit; jumlah jiwa yang menerima air tidak terukur.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121747" y="2608315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24840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Oval 61"/>
          <p:cNvSpPr/>
          <p:nvPr/>
        </p:nvSpPr>
        <p:spPr>
          <a:xfrm>
            <a:off x="6248400" y="342915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3" name="Picture 62" descr="wilayah-FFFFFF-37dca10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346" y="3505105"/>
            <a:ext cx="178308" cy="17830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692900" y="342915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36197" y="3429159"/>
            <a:ext cx="3483950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Program jembatan.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TNI AD mengerjakan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3.008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titik dan Polri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895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unit; biaya satuan dan tautan ke rencana RR tidak diumumkan.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121747" y="351170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248400" y="4130887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Oval 67"/>
          <p:cNvSpPr/>
          <p:nvPr/>
        </p:nvSpPr>
        <p:spPr>
          <a:xfrm>
            <a:off x="6248400" y="433255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9" name="Picture 68" descr="regulasi-FFFFFF-e639fe9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346" y="4408498"/>
            <a:ext cx="178308" cy="17830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692900" y="4332552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36197" y="4332552"/>
            <a:ext cx="3483950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Kesenjangan.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Hibah RR mengecualikan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7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jenis pembiayaan termasuk aset desa; DIBI punya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0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kolom air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19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kolom dampak.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121747" y="441510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2018–2025; Kementerian PU (rilis Februari dan Mei 2026); Kementerian Sekretariat Negara, Agustus 2026; Perban BNPB tentang hibah RR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A1. Bencana alam merusak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3.833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jembatan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pada 2018–2025,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1.088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di antaranya pada 2025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617313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PENYEBAB DAN SEBARAN</a:t>
            </a:r>
          </a:p>
        </p:txBody>
      </p:sp>
      <p:pic>
        <p:nvPicPr>
          <p:cNvPr id="11" name="Picture 10" descr="infrastruktur-FFFFFF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banjir-051C2C-364735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89,2%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jembatan rusak karena banjir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wilayah-051C2C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jembatan rusak di Aceh, 2025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wilayah-051C2C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tiga provinsi Sumatra, 2025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346960"/>
            <a:ext cx="11094720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234696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257556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346960"/>
            <a:ext cx="11094720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infrastruktur-FFFFFF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1121747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640" y="2346960"/>
            <a:ext cx="993810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Jembatan rusak akibat bencana alam per tahun, 2018–2025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640" y="2905760"/>
            <a:ext cx="6504432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lang="id-ID">
                <a:solidFill>
                  <a:srgbClr val="1A1A1A"/>
                </a:solidFill>
                <a:latin typeface="Roboto"/>
              </a:rPr>
              <a:t>Unit jembatan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3940" y="2905760"/>
            <a:ext cx="63242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lang="id-ID">
                <a:solidFill>
                  <a:srgbClr val="D9600B"/>
                </a:solidFill>
                <a:latin typeface="Roboto"/>
              </a:rPr>
              <a:t>naik 177,6%</a:t>
            </a:r>
          </a:p>
        </p:txBody>
      </p:sp>
      <p:sp>
        <p:nvSpPr>
          <p:cNvPr id="38" name="Isosceles Triangle 37"/>
          <p:cNvSpPr/>
          <p:nvPr/>
        </p:nvSpPr>
        <p:spPr>
          <a:xfrm>
            <a:off x="10769640" y="2976880"/>
            <a:ext cx="76200" cy="6096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904500" y="4835544"/>
            <a:ext cx="746805" cy="87945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5640" y="4683144"/>
            <a:ext cx="1204524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392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5640" y="5740400"/>
            <a:ext cx="1204524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Rerata 2018–2024</a:t>
            </a:r>
          </a:p>
        </p:txBody>
      </p:sp>
      <p:sp>
        <p:nvSpPr>
          <p:cNvPr id="42" name="Round Same Side Corner Rectangle 41"/>
          <p:cNvSpPr/>
          <p:nvPr/>
        </p:nvSpPr>
        <p:spPr>
          <a:xfrm>
            <a:off x="2109024" y="5098034"/>
            <a:ext cx="746805" cy="616966"/>
          </a:xfrm>
          <a:prstGeom prst="round2SameRect">
            <a:avLst>
              <a:gd name="adj1" fmla="val 26629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80164" y="4945634"/>
            <a:ext cx="1204524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275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80164" y="5740400"/>
            <a:ext cx="1204524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2018</a:t>
            </a:r>
          </a:p>
        </p:txBody>
      </p:sp>
      <p:sp>
        <p:nvSpPr>
          <p:cNvPr id="45" name="Isosceles Triangle 44"/>
          <p:cNvSpPr/>
          <p:nvPr/>
        </p:nvSpPr>
        <p:spPr>
          <a:xfrm rot="10800000">
            <a:off x="2341319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17519" y="586740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29,8%</a:t>
            </a:r>
          </a:p>
        </p:txBody>
      </p:sp>
      <p:sp>
        <p:nvSpPr>
          <p:cNvPr id="47" name="Round Same Side Corner Rectangle 46"/>
          <p:cNvSpPr/>
          <p:nvPr/>
        </p:nvSpPr>
        <p:spPr>
          <a:xfrm>
            <a:off x="3313549" y="4743560"/>
            <a:ext cx="746805" cy="97144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84689" y="4591160"/>
            <a:ext cx="1204524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433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84689" y="5740400"/>
            <a:ext cx="1204524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2019</a:t>
            </a:r>
          </a:p>
        </p:txBody>
      </p:sp>
      <p:sp>
        <p:nvSpPr>
          <p:cNvPr id="50" name="Isosceles Triangle 49"/>
          <p:cNvSpPr/>
          <p:nvPr/>
        </p:nvSpPr>
        <p:spPr>
          <a:xfrm>
            <a:off x="3545843" y="590423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22043" y="586740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57,5%</a:t>
            </a:r>
          </a:p>
        </p:txBody>
      </p:sp>
      <p:sp>
        <p:nvSpPr>
          <p:cNvPr id="52" name="Round Same Side Corner Rectangle 51"/>
          <p:cNvSpPr/>
          <p:nvPr/>
        </p:nvSpPr>
        <p:spPr>
          <a:xfrm>
            <a:off x="4518073" y="4622410"/>
            <a:ext cx="746805" cy="109259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89213" y="4470010"/>
            <a:ext cx="1204524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487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89213" y="5740400"/>
            <a:ext cx="1204524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2020</a:t>
            </a:r>
          </a:p>
        </p:txBody>
      </p:sp>
      <p:sp>
        <p:nvSpPr>
          <p:cNvPr id="55" name="Isosceles Triangle 54"/>
          <p:cNvSpPr/>
          <p:nvPr/>
        </p:nvSpPr>
        <p:spPr>
          <a:xfrm>
            <a:off x="4750368" y="590423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26568" y="586740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12,5%</a:t>
            </a:r>
          </a:p>
        </p:txBody>
      </p:sp>
      <p:sp>
        <p:nvSpPr>
          <p:cNvPr id="57" name="Round Same Side Corner Rectangle 56"/>
          <p:cNvSpPr/>
          <p:nvPr/>
        </p:nvSpPr>
        <p:spPr>
          <a:xfrm>
            <a:off x="5722597" y="4582027"/>
            <a:ext cx="746805" cy="113297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93738" y="4429627"/>
            <a:ext cx="1204524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505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93738" y="5740400"/>
            <a:ext cx="1204524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2021</a:t>
            </a:r>
          </a:p>
        </p:txBody>
      </p:sp>
      <p:sp>
        <p:nvSpPr>
          <p:cNvPr id="60" name="Isosceles Triangle 59"/>
          <p:cNvSpPr/>
          <p:nvPr/>
        </p:nvSpPr>
        <p:spPr>
          <a:xfrm>
            <a:off x="5976751" y="590423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52951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3,7%</a:t>
            </a:r>
          </a:p>
        </p:txBody>
      </p:sp>
      <p:sp>
        <p:nvSpPr>
          <p:cNvPr id="62" name="Round Same Side Corner Rectangle 61"/>
          <p:cNvSpPr/>
          <p:nvPr/>
        </p:nvSpPr>
        <p:spPr>
          <a:xfrm>
            <a:off x="6927122" y="4947719"/>
            <a:ext cx="746805" cy="767281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98262" y="4795319"/>
            <a:ext cx="1204524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342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98262" y="5740400"/>
            <a:ext cx="1204524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2022</a:t>
            </a:r>
          </a:p>
        </p:txBody>
      </p:sp>
      <p:sp>
        <p:nvSpPr>
          <p:cNvPr id="65" name="Isosceles Triangle 64"/>
          <p:cNvSpPr/>
          <p:nvPr/>
        </p:nvSpPr>
        <p:spPr>
          <a:xfrm rot="10800000">
            <a:off x="7159417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35617" y="586740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32,3%</a:t>
            </a:r>
          </a:p>
        </p:txBody>
      </p:sp>
      <p:sp>
        <p:nvSpPr>
          <p:cNvPr id="67" name="Round Same Side Corner Rectangle 66"/>
          <p:cNvSpPr/>
          <p:nvPr/>
        </p:nvSpPr>
        <p:spPr>
          <a:xfrm>
            <a:off x="8131646" y="5136174"/>
            <a:ext cx="746805" cy="578826"/>
          </a:xfrm>
          <a:prstGeom prst="round2SameRect">
            <a:avLst>
              <a:gd name="adj1" fmla="val 28384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02787" y="4983774"/>
            <a:ext cx="1204524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258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02787" y="5740400"/>
            <a:ext cx="1204524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2023</a:t>
            </a:r>
          </a:p>
        </p:txBody>
      </p:sp>
      <p:sp>
        <p:nvSpPr>
          <p:cNvPr id="70" name="Isosceles Triangle 69"/>
          <p:cNvSpPr/>
          <p:nvPr/>
        </p:nvSpPr>
        <p:spPr>
          <a:xfrm rot="10800000">
            <a:off x="8363941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40141" y="586740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24,6%</a:t>
            </a:r>
          </a:p>
        </p:txBody>
      </p:sp>
      <p:sp>
        <p:nvSpPr>
          <p:cNvPr id="72" name="Round Same Side Corner Rectangle 71"/>
          <p:cNvSpPr/>
          <p:nvPr/>
        </p:nvSpPr>
        <p:spPr>
          <a:xfrm>
            <a:off x="9336171" y="4716638"/>
            <a:ext cx="746805" cy="998362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07311" y="4564238"/>
            <a:ext cx="1204524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445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07311" y="5740400"/>
            <a:ext cx="1204524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2024</a:t>
            </a:r>
          </a:p>
        </p:txBody>
      </p:sp>
      <p:sp>
        <p:nvSpPr>
          <p:cNvPr id="75" name="Isosceles Triangle 74"/>
          <p:cNvSpPr/>
          <p:nvPr/>
        </p:nvSpPr>
        <p:spPr>
          <a:xfrm>
            <a:off x="9568466" y="590423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44666" y="586740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72,5%</a:t>
            </a:r>
          </a:p>
        </p:txBody>
      </p:sp>
      <p:sp>
        <p:nvSpPr>
          <p:cNvPr id="77" name="Round Same Side Corner Rectangle 76"/>
          <p:cNvSpPr/>
          <p:nvPr/>
        </p:nvSpPr>
        <p:spPr>
          <a:xfrm>
            <a:off x="10540695" y="3274060"/>
            <a:ext cx="746805" cy="244094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311836" y="3121660"/>
            <a:ext cx="1204524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1.088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11836" y="5740400"/>
            <a:ext cx="1204524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2025</a:t>
            </a:r>
          </a:p>
        </p:txBody>
      </p:sp>
      <p:sp>
        <p:nvSpPr>
          <p:cNvPr id="80" name="Isosceles Triangle 79"/>
          <p:cNvSpPr/>
          <p:nvPr/>
        </p:nvSpPr>
        <p:spPr>
          <a:xfrm>
            <a:off x="10751131" y="590423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827331" y="5867400"/>
            <a:ext cx="275134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144,5%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75640" y="5715000"/>
            <a:ext cx="10840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83" name="Rectangle 8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2018–2025 (olah Pantau Bencana); seri jembatan baru terisi sejak 2018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A2. Enam kejadian besar sejak 2009 masing-masing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merusak lebih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50.000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rumah menurut DIBI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6878726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6878726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rumah-FFFFFF-320df6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905754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besar menurut DIBI, jendela kejadian pilihan penyusun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41500"/>
            <a:ext cx="170769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KEJADIAN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3338" y="1841500"/>
            <a:ext cx="170769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JENIS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1037" y="1855470"/>
            <a:ext cx="107920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RUMAH RUSAK</a:t>
            </a:r>
          </a:p>
        </p:txBody>
      </p:sp>
      <p:pic>
        <p:nvPicPr>
          <p:cNvPr id="20" name="Picture 19" descr="rumah-FFFFFF-320df6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477" y="1890217"/>
            <a:ext cx="113386" cy="11338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271843" y="1855470"/>
            <a:ext cx="875636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60" b="1" lang="id-ID" spc="100">
                <a:solidFill>
                  <a:srgbClr val="FFFFFF"/>
                </a:solidFill>
                <a:latin typeface="Roboto"/>
              </a:rPr>
              <a:t>RUSAK BERAT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9080" y="1855470"/>
            <a:ext cx="949687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MENGUNGSI</a:t>
            </a:r>
          </a:p>
        </p:txBody>
      </p:sp>
      <p:pic>
        <p:nvPicPr>
          <p:cNvPr id="23" name="Picture 22" descr="pengungsi-FFFFFF-65a2f7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520" y="1890217"/>
            <a:ext cx="113386" cy="113386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675640" y="205232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75640" y="205232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Padang 2009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3338" y="205232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gempa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1037" y="2052320"/>
            <a:ext cx="107920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271.540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1843" y="2052320"/>
            <a:ext cx="8756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119.005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9080" y="20523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6.554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5640" y="23190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75640" y="231902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Lombok 2018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83338" y="231902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gempa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91037" y="2319020"/>
            <a:ext cx="107920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217.855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71843" y="2319020"/>
            <a:ext cx="8756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75.160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9080" y="23190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406.202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5640" y="25857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675640" y="258572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Sulawesi Tengah 2018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83338" y="258572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gempa, tsunami, likuefaksi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91037" y="2585720"/>
            <a:ext cx="107920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110.214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71843" y="2585720"/>
            <a:ext cx="8756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34.166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9080" y="25857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212.719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28524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675640" y="285242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Seroja 2021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83338" y="285242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banjir, longsor, cuaca ekstrem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91037" y="2852420"/>
            <a:ext cx="107920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54.268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71843" y="2852420"/>
            <a:ext cx="8756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5.882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49080" y="28524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58.192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5640" y="31191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75640" y="311912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Cianjur 2022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83338" y="311912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gempa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91037" y="3119120"/>
            <a:ext cx="107920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57.337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71843" y="3119120"/>
            <a:ext cx="8756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13.730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9080" y="31191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115.382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75640" y="33858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675640" y="338582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Sumatra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83338" y="338582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banjir, longsor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91037" y="3385820"/>
            <a:ext cx="107920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228.006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71843" y="3385820"/>
            <a:ext cx="8756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62.956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9080" y="33858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970.876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64526" y="1282700"/>
            <a:ext cx="4078834" cy="4800600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564526" y="128270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64526" y="151130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564526" y="1282700"/>
            <a:ext cx="4078834" cy="4800600"/>
          </a:xfrm>
          <a:prstGeom prst="roundRect">
            <a:avLst>
              <a:gd name="adj" fmla="val 133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691526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5" name="Picture 64" descr="ringkasan-FFFFFF-28e566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676" y="1422400"/>
            <a:ext cx="177800" cy="1778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072526" y="128270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91526" y="1841500"/>
            <a:ext cx="3824834" cy="415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Padang 2009 mencatat rusak sedang nol, sehingga rusak berat dapat memuat rusak sedang.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Cianjur 2022 punya tiga angka resmi rumah rusak yang berbeda antardokumen.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Aceh 2004 tidak ada di DIBI; angkanya dari laporan BRR pada kajian.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Tidak satu pun program RR preseden berbukti kuat.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BNPB, kejadian besar; BRR NAD–Nias (2009); rencana RR Kabupaten Cianjur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A3. Enam provinsi menanggung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54,5%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jembatan rusak pada 2018–2025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pic>
        <p:nvPicPr>
          <p:cNvPr id="9" name="Picture 8" descr="peta-jembatan-provin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2786"/>
            <a:ext cx="8072933" cy="3866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42425" y="5495714"/>
            <a:ext cx="1237605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Jembatan rusak 2018–2025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030" y="5533814"/>
            <a:ext cx="101600" cy="101600"/>
          </a:xfrm>
          <a:prstGeom prst="rect">
            <a:avLst/>
          </a:prstGeom>
          <a:solidFill>
            <a:srgbClr val="2F86D1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9430" y="5495714"/>
            <a:ext cx="179375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bulatan sebanding jumlah jembatan rusak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6960" y="5502064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73514"/>
            <a:ext cx="8072933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Batas wilayah public/geo Pantau Bencana (asal belum terdokumentasi); WGS84 geografis; ekuirektangular; Batas wilayah bukan rujukan resmi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58733" y="1282700"/>
            <a:ext cx="2884627" cy="4800600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58733" y="1282700"/>
            <a:ext cx="2884627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8733" y="1511300"/>
            <a:ext cx="2884627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58733" y="1282700"/>
            <a:ext cx="2884627" cy="4800600"/>
          </a:xfrm>
          <a:prstGeom prst="roundRect">
            <a:avLst>
              <a:gd name="adj" fmla="val 1893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85733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wilayah-FFFFFF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83" y="1422400"/>
            <a:ext cx="177800" cy="1778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6733" y="1282700"/>
            <a:ext cx="17280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Provinsi teratas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1323" y="1841500"/>
            <a:ext cx="135598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7310" y="1855470"/>
            <a:ext cx="89745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JEMBATAN</a:t>
            </a:r>
          </a:p>
        </p:txBody>
      </p:sp>
      <p:pic>
        <p:nvPicPr>
          <p:cNvPr id="25" name="Picture 24" descr="infrastruktur-FFFFFF-ba1c96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8750" y="1890217"/>
            <a:ext cx="113386" cy="113386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8885733" y="2052320"/>
            <a:ext cx="2630627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8885733" y="20986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1323" y="2052320"/>
            <a:ext cx="13051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Aceh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7310" y="2052320"/>
            <a:ext cx="8974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633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85733" y="2319020"/>
            <a:ext cx="2630627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1" name="Oval 30"/>
          <p:cNvSpPr/>
          <p:nvPr/>
        </p:nvSpPr>
        <p:spPr>
          <a:xfrm>
            <a:off x="8885733" y="23653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1323" y="2319020"/>
            <a:ext cx="13051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Sumatera Barat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7310" y="2319020"/>
            <a:ext cx="8974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521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885733" y="2585720"/>
            <a:ext cx="2630627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8885733" y="26320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1323" y="2585720"/>
            <a:ext cx="13051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Sulawesi Selatan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7310" y="2585720"/>
            <a:ext cx="8974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280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85733" y="2852420"/>
            <a:ext cx="2630627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8885733" y="28987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1323" y="2852420"/>
            <a:ext cx="13051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Barat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7310" y="2852420"/>
            <a:ext cx="8974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236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885733" y="3119120"/>
            <a:ext cx="2630627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8885733" y="31654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1323" y="3119120"/>
            <a:ext cx="13051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Tengah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7310" y="3119120"/>
            <a:ext cx="8974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885733" y="3385820"/>
            <a:ext cx="2630627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7" name="Oval 46"/>
          <p:cNvSpPr/>
          <p:nvPr/>
        </p:nvSpPr>
        <p:spPr>
          <a:xfrm>
            <a:off x="8885733" y="34321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1323" y="3385820"/>
            <a:ext cx="13051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7310" y="3385820"/>
            <a:ext cx="8974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5733" y="3779520"/>
            <a:ext cx="2630627" cy="221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Tujuh belas provinsi kehilangan jembatan di kedelapan tahun, sehingga akses darurat adalah kebutuhan rutin.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2018–2025 (olah Pantau Bencana)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lang="id-ID">
                <a:solidFill>
                  <a:srgbClr val="1A1A1A"/>
                </a:solidFill>
                <a:latin typeface="Roboto"/>
              </a:rPr>
              <a:t>B1. Program jembatan TNI AD mengerjakan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3.008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titik,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798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di daerah</a:t>
            </a:r>
            <a:br/>
            <a:r>
              <a:rPr sz="2000" b="1" lang="id-ID">
                <a:solidFill>
                  <a:srgbClr val="1A1A1A"/>
                </a:solidFill>
                <a:latin typeface="Roboto"/>
              </a:rPr>
              <a:t>bencana; biaya satuan dan tautan ke rencana RR tidak diumumkan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67443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AKSES</a:t>
            </a:r>
          </a:p>
        </p:txBody>
      </p:sp>
      <p:pic>
        <p:nvPicPr>
          <p:cNvPr id="11" name="Picture 10" descr="infrastruktur-FFFFFF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nfrastruktur-051C2C-ba1c96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2.500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titik TNI AD selesai, Agt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infrastruktur-051C2C-ba1c96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874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unit Polri selesai, Agt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infrastruktur-051C2C-ba1c96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paket jembatan gantung PU, 2025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infrastruktur-FFFFFF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Program jembatan menurut pemilik dan wilayah bencana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640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PROGRAM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822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PEMILIK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88003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WILAYAH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44185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BIAYA SATUAN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75640" y="31165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Program TNI 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822" y="31165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TNI AD, KSAD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88003" y="31165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daerah bencana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44185" y="31165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diumumkan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675640" y="33832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Merah Putih Presisi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1822" y="33832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Polri, swadaya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88003" y="33832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wilayah bencana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44185" y="33832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diumumkan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675640" y="36499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Jembatan gantung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1822" y="36499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88003" y="36499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dikaitkan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44185" y="36499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hitungan penyusun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75640" y="39166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Bailey DSP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31822" y="39166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BNPB, hibah barang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88003" y="39166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tanggap darurat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44185" y="39166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diumumkan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5" name="Picture 64" descr="ringkasan-FFFFFF-28e566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Status nama Jembatan Merah Putih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Satu-satunya pemakaian resmi yang dibuka adalah Jembatan Merah Putih Presisi Polri.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Rilis resmi TNI AD tidak memakai nama satgas atau Jembatan Garuda.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Tidak ada program nasional tunggal bernama Jembatan Merah Putih.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Kementerian Sekretariat Negara, Agustus 2026; Sekretariat Kabinet, Maret 2026; Polri; Kementerian 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B2.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95,5%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178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SPAM Sumatra berfungsi pada Mei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2026, tetapi jiwa yang kembali mendapat air tidak tercatat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13067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AIR PERPIPAAN</a:t>
            </a:r>
          </a:p>
        </p:txBody>
      </p:sp>
      <p:pic>
        <p:nvPicPr>
          <p:cNvPr id="11" name="Picture 10" descr="air-baku-FFFFFF-271d6c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kalender-051C2C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hari Kobe sampai sembilan puluh persen layanan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kalender-051C2C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hari Tohoku sampai sembilan puluh persen layanan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air-baku-051C2C-271d6c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hidran umum Cianjur pada puncak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07443" y="134620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air-baku-FFFFFF-271d6c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Aset terdampak yang kembali fungsional, Sumatra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640" y="2905760"/>
            <a:ext cx="553282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ASET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8467" y="2919730"/>
            <a:ext cx="99029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FUNGSIONAL</a:t>
            </a:r>
          </a:p>
        </p:txBody>
      </p:sp>
      <p:pic>
        <p:nvPicPr>
          <p:cNvPr id="38" name="Picture 37" descr="data-FFFFFF-608a1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907" y="2954477"/>
            <a:ext cx="113386" cy="113386"/>
          </a:xfrm>
          <a:prstGeom prst="rect">
            <a:avLst/>
          </a:prstGeom>
        </p:spPr>
      </p:pic>
      <p:cxnSp>
        <p:nvCxnSpPr>
          <p:cNvPr id="39" name="Connector 38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75640" y="3116580"/>
            <a:ext cx="548202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SPAM, Februari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8467" y="3116580"/>
            <a:ext cx="9902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81,2%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675640" y="3383280"/>
            <a:ext cx="548202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SPAM, Mei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467" y="3383280"/>
            <a:ext cx="9902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95,5%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675640" y="3649980"/>
            <a:ext cx="548202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Jalan dan jembatan nasional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8467" y="3649980"/>
            <a:ext cx="9902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100,0%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75640" y="3916680"/>
            <a:ext cx="548202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Jalan daerah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8467" y="3916680"/>
            <a:ext cx="9902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94,0%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41833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675640" y="4183380"/>
            <a:ext cx="548202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Jembatan daerah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08467" y="4183380"/>
            <a:ext cx="9902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67,0%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ringkasan-FFFFFF-28e56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Unit SPAM berfungsi tidak sama dengan jiwa yang kembali terlayani.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Satuan Jepang adalah rasio layanan, sehingga hanya arahnya yang dibandingkan.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Peralihan truk dan hidran ke pipa belum punya pemicu atau pemutus tertulis.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Kementerian PU (rilis Februari dan Mei 2026); JSCE (2011); Kementerian PUPR (2023)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150" b="1" lang="id-ID">
                <a:solidFill>
                  <a:srgbClr val="1A1A1A"/>
                </a:solidFill>
                <a:latin typeface="Roboto"/>
              </a:rPr>
              <a:t>B3. Baru</a:t>
            </a:r>
            <a:r>
              <a:rPr sz="2150" b="1" lang="id-ID">
                <a:solidFill>
                  <a:srgbClr val="D9600B"/>
                </a:solidFill>
                <a:latin typeface="Roboto"/>
              </a:rPr>
              <a:t> 37</a:t>
            </a:r>
            <a:r>
              <a:rPr sz="215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150" b="1" lang="id-ID">
                <a:solidFill>
                  <a:srgbClr val="D9600B"/>
                </a:solidFill>
                <a:latin typeface="Roboto"/>
              </a:rPr>
              <a:t> 128</a:t>
            </a:r>
            <a:r>
              <a:rPr sz="2150" b="1" lang="id-ID">
                <a:solidFill>
                  <a:srgbClr val="1A1A1A"/>
                </a:solidFill>
                <a:latin typeface="Roboto"/>
              </a:rPr>
              <a:t> sumur bor Kementerian PU untuk Sumatra</a:t>
            </a:r>
            <a:br/>
            <a:r>
              <a:rPr sz="2150" b="1" lang="id-ID">
                <a:solidFill>
                  <a:srgbClr val="1A1A1A"/>
                </a:solidFill>
                <a:latin typeface="Roboto"/>
              </a:rPr>
              <a:t>2025 selesai per Februari 2026, tanpa data E. coli sumur darurat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903684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AIR TANAH</a:t>
            </a:r>
          </a:p>
        </p:txBody>
      </p:sp>
      <p:pic>
        <p:nvPicPr>
          <p:cNvPr id="11" name="Picture 10" descr="air-tanah-FFFFFF-400248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air-tanah-051C2C-400248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cekungan air tanah ditetapkan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jiwa-051C2C-9b7037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per sumur Badan Geologi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kesehatan-051C2C-4f43d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ambang E. coli, CFU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air-tanah-FFFFFF-400248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Pelaksana sumur bor di daerah bencana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640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PELAKSANA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3882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YANG TERCATAT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2124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STATUS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75640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3882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Sumatra 2025, Februari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2124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selesai sebagian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75640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Badan Geologi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3882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data 2021–2025 belum ada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92124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hibah barang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675640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TNI 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3882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jenis sumber tidak dirinci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92124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tanpa daftar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675640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Polri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83882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target titik, media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92124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tanpa daftar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ringkasan-FFFFFF-28e56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Batas air tanah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Sumur RR mengikuti zona konservasi dan rekomendasi Badan Geologi.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Di pesisir utara Jawa Tengah, air permukaan didahulukan karena muka tanah turun.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Salinitas air tanah Aceh Barat pulih dalam dua tahun setelah tsunami.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Kementerian PU, Februari 2026; Kementerian ESDM; Permenkes air minum; Keppres cekungan air tanah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C1. Lantai skenario tertinggi: gempa Padang 2009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merusak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271.540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rumah dan banjir Sumatra 2025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228.006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6878726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6878726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rumah-FFFFFF-320df6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905754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Lantai tercatat per jenis menurut besaran 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41500"/>
            <a:ext cx="144790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JENIS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3542" y="1841500"/>
            <a:ext cx="144790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LANTAI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1443" y="1841500"/>
            <a:ext cx="144790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JEMBATAN ATAU AKSES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9345" y="1841500"/>
            <a:ext cx="144790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LAYANAN AIR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86428" y="1855470"/>
            <a:ext cx="71233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RUMAH</a:t>
            </a:r>
          </a:p>
        </p:txBody>
      </p:sp>
      <p:pic>
        <p:nvPicPr>
          <p:cNvPr id="22" name="Picture 21" descr="rumah-FFFFFF-320df6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868" y="1890217"/>
            <a:ext cx="113386" cy="113386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675640" y="205232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75640" y="20523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bumi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3542" y="20523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Padang 2009, rusak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71443" y="20523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provinsi-tahun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9345" y="20523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titik SPAM Lombok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7246" y="205232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271.540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5640" y="23190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675640" y="23190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Tsunami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3542" y="23190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Aceh 2004, RB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1443" y="23190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jembatan tak tercatat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9345" y="23190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proksi keluaran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7246" y="231902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139.195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75640" y="25857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675640" y="25857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Likuefaksi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23542" y="25857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Sulteng 2018, rusak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71443" y="25857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satu jembatan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9345" y="25857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respons saja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7246" y="258572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110.214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5640" y="28524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675640" y="28524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Banjir dan bandang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23542" y="28524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Sumatra 2025, rusak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71443" y="28524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provinsi-tahun, rilis PU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9345" y="28524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SPAM terdampak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7246" y="285242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228.006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5640" y="31191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675640" y="31191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Tanah longsor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23542" y="31191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nasional 2025, rusak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71443" y="31191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provinsi-tahun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19345" y="31191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tak dikuantifikasi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7246" y="311912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8.582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75640" y="33858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675640" y="33858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Erupsi gunung 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3542" y="33858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Kelud 2014, RB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71443" y="33858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provinsi-tahun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19345" y="33858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tak dikuantifikasi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67246" y="338582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12.404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5640" y="36525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75640" y="36525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Cuaca ekstrem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3542" y="36525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nasional 2019, rusak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71443" y="36525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provinsi-tahun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19345" y="365252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tak dikuantifikasi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67246" y="365252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33.820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64526" y="1282700"/>
            <a:ext cx="4078834" cy="4800600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564526" y="128270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564526" y="151130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564526" y="1282700"/>
            <a:ext cx="4078834" cy="4800600"/>
          </a:xfrm>
          <a:prstGeom prst="roundRect">
            <a:avLst>
              <a:gd name="adj" fmla="val 133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91526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0" name="Picture 69" descr="ringkasan-FFFFFF-28e566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8676" y="1422400"/>
            <a:ext cx="177800" cy="1778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072526" y="128270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Aturan kartu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91526" y="1841500"/>
            <a:ext cx="3824834" cy="415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Lantai adalah kejadian tercatat terburuk untuk jenis yang sama.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Periode acuan: geologi 1996–2025, hidrometeorologi 2008–2025, jembatan 2018–2025.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Sel tanpa sumber ditulis tidak dikuantifikasi; nol hanya bila sumber menyebutnya.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Jumlah setahun adalah batas atas satu kejadian, tidak dibandingkan antarkartu.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BNPB; Kementerian PU; BRR NAD–Nias; pengolahan kajian ini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C2. Kemungkinan lima tahun hanya dinilai untuk musim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hujan setara lantai (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23,7%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) dan megathrust Jawa (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0,83%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6878726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6878726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487487" y="1428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530384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Posisi jenis bencana menurut kelas dampak 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4150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JENIS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3882" y="184150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KELAS DAMPAK 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2124" y="184150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LIMA TAHUN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5640" y="205232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75640" y="20523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bumi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3882" y="20523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lima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2124" y="20523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5640" y="23190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75640" y="23190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Tsunami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3882" y="23190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lima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2124" y="23190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5640" y="25857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75640" y="25857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Banjir dan banjir bandang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3882" y="25857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lima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2124" y="25857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5640" y="28524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675640" y="28524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Megathrust Jawa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3882" y="28524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lima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2124" y="28524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dinilai, pita dua sampai tiga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5640" y="31191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675640" y="31191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Musim hujan setara lantai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3882" y="31191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empat sampai lima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2124" y="31191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dinilai, pita empat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5640" y="33858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75640" y="33858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Erupsi gunung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3882" y="33858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empat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2124" y="33858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5640" y="36525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675640" y="36525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Cuaca ekstrem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3882" y="36525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empat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2124" y="36525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5640" y="39192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75640" y="39192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Tanah longsor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3882" y="39192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tiga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92124" y="39192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41859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75640" y="41859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Likuefaksi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83882" y="41859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gabungan, batas atas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92124" y="41859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64526" y="1282700"/>
            <a:ext cx="4078834" cy="4800600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564526" y="128270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564526" y="151130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564526" y="1282700"/>
            <a:ext cx="4078834" cy="4800600"/>
          </a:xfrm>
          <a:prstGeom prst="roundRect">
            <a:avLst>
              <a:gd name="adj" fmla="val 133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91526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1" name="Picture 60" descr="ringkasan-FFFFFF-28e566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8676" y="1422400"/>
            <a:ext cx="177800" cy="1778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072526" y="128270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Dampak dinilai, kemungkinan tidak dinilai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91526" y="1841500"/>
            <a:ext cx="3824834" cy="415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Jenis tanpa dasar peluang tidak diberi kelas kemungkinan.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Kemungkinan dan dampak tidak dikalikan menjadi skor.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Kelas dampak memakai ambang rumah rusak usulan kajian.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BNPB; PuSGeN 2024; pengolahan kajian ini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D1. Hibah RR mengecualikan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jenis pembiayaan,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termasuk aset rusak milik pemerintah desa dan lahan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7988198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7988198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7988198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7988198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embiayaan-FFFFFF-5387a3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015226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683158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Jangkauan instrumen dana menurut jenis 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41500"/>
            <a:ext cx="193355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JENIS 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9190" y="1841500"/>
            <a:ext cx="193355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HIBAH 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2739" y="1841500"/>
            <a:ext cx="193355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DANA BERSAMA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289" y="1841500"/>
            <a:ext cx="193355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DANA DESA 2026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5640" y="2052320"/>
            <a:ext cx="7734198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75640" y="20523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Jembatan kab/kota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9190" y="20523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boleh bersyarat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2739" y="20523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bergantung rencana RR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6289" y="20523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diatur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5640" y="231902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75640" y="23190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Jembatan desa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9190" y="23190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boleh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2739" y="23190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bergantung rencana RR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6289" y="23190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disebut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5640" y="258572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75640" y="25857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SPAM daerah dan PDAM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9190" y="25857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boleh bersyarat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2739" y="25857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air baku saja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6289" y="25857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diatur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5640" y="285242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675640" y="28524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SPAM desa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9190" y="28524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boleh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2739" y="28524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air baku saja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6289" y="28524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parsial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5640" y="311912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675640" y="31191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Sumur darurat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9190" y="31191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boleh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2739" y="31191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diatur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6289" y="31191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diatur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5640" y="338582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75640" y="33858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Lahan relokasi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09190" y="33858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boleh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42739" y="33858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syarat dan tidak menjadi objek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6289" y="33858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diatur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365252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675640" y="36525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Pemeliharaan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09190" y="36525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boleh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42739" y="36525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diatur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6289" y="365252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parsial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73998" y="1282700"/>
            <a:ext cx="2969362" cy="480060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673998" y="1282700"/>
            <a:ext cx="2969362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673998" y="1511300"/>
            <a:ext cx="2969362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673998" y="1282700"/>
            <a:ext cx="2969362" cy="4800600"/>
          </a:xfrm>
          <a:prstGeom prst="roundRect">
            <a:avLst>
              <a:gd name="adj" fmla="val 183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800998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1" name="Picture 60" descr="regulasi-FFFFFF-e639fe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148" y="1422400"/>
            <a:ext cx="177800" cy="1778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181998" y="1282700"/>
            <a:ext cx="2334362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Akibatnya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00998" y="1841500"/>
            <a:ext cx="2715362" cy="415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Jembatan dan SPAM desa tidak punya jalur hibah RR.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Lokasi kegiatan terkunci sejak perjanjian hibah.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Usulan: ubah larangan aset desa, atau cantumkan aset desa di rencana RR.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Perban BNPB tentang hibah RR dan Dana Bersama; Juklak Dana Bersama; Permendes PDT tentang Dana Desa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D2. DIBI memuat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19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kolom dampak dan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kolom air,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sehingga pemulihan air tidak dapat diukur dari data BNPB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6878726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6878726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905754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Data pemulihan yang belum ada dan pemiliknya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4150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DATA TIDAK ADA DI DIBI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3882" y="184150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PEMILIK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2124" y="184150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JALUR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5640" y="205232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75640" y="20523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SPAM dan jiwa tanpa 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3882" y="20523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PU, PDAM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2124" y="20523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kolom DIBI baru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5640" y="23190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75640" y="23190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Jembatan per status jalan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3882" y="23190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Bina Marga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2124" y="23190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kolom DIBI baru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5640" y="25857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75640" y="25857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Desa terputus, hari akses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3882" y="25857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BPBD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2124" y="25857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baseline 2027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5640" y="28524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675640" y="28524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Hari pulih air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3882" y="28524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BPBD, PDAM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2124" y="28524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terlayani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5640" y="31191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675640" y="31191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Mutu sumur darurat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3882" y="31191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Badan Geologi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2124" y="31191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protokol sumur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5640" y="33858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75640" y="33858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Daftar jembatan dan sumur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3882" y="33858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TNI AD, Polri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2124" y="33858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daftar bersama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5640" y="36525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675640" y="36525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Stok bailey nasional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3882" y="36525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Bina Marga, TNI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2124" y="365252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hitung stok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64526" y="1282700"/>
            <a:ext cx="4078834" cy="4800600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564526" y="128270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64526" y="151130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564526" y="1282700"/>
            <a:ext cx="4078834" cy="4800600"/>
          </a:xfrm>
          <a:prstGeom prst="roundRect">
            <a:avLst>
              <a:gd name="adj" fmla="val 133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691526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ringkasan-FFFFFF-28e566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8676" y="1422400"/>
            <a:ext cx="177800" cy="1778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072526" y="128270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Akibatnya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91526" y="1841500"/>
            <a:ext cx="3824834" cy="415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Juklak BNPB standar data sudah mendaftar jaringan air bersih sebagai prasarana vital.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Standar waktu pulih air dan akses belum ada di peraturan BNPB.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Baseline waktu pulih belum dapat dibentuk.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BNPB; Juklak BNPB standar data dan hibah RR; Perban BNPB penyelenggaraan RR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E1. Kerangka Program dan Alur Tiga Lapis: Sebelas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Program dalam Lima Pilar, Tiga Berstatus Sudah 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7766304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776630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776630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7766304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rabencana-FFFFFF-572c04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75065" y="1428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6191425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Program berkode menurut lapis dan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41500"/>
            <a:ext cx="187807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PILAR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3716" y="1841500"/>
            <a:ext cx="187807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1792" y="1841500"/>
            <a:ext cx="187807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868" y="1841500"/>
            <a:ext cx="187807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STATUS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5640" y="2052320"/>
            <a:ext cx="751230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75640" y="2052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Akses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3716" y="2052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Bailey dan rangka baja DSP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1792" y="2052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darurat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868" y="2052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5640" y="23190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75640" y="23190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Akses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53716" y="23190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Ikat jembatan ke rencana RR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1792" y="23190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sementara, permanen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868" y="23190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5640" y="25857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75640" y="25857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Akses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53716" y="25857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Jadwal ganti permanen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1792" y="25857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permanen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868" y="25857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5640" y="28524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675640" y="28524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Akses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53716" y="28524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Jalur dana jembatan desa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1792" y="28524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permanen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868" y="28524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5640" y="31191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675640" y="31191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perpipaan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53716" y="31191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Air darurat, pemicu truk ke pipa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1792" y="31191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darurat, sementara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868" y="31191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5640" y="33858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75640" y="33858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perpipaan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53716" y="33858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Rehabilitasi SPAM, jiwa terlayani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1792" y="33858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permanen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868" y="33858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36525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675640" y="36525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perpipaan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53716" y="36525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Kit pipa dan IPA mobile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1792" y="36525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darurat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868" y="36525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39192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75640" y="39192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tanah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53716" y="39192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Protokol sumur bor RR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1792" y="39192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darurat, sementara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868" y="39192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5640" y="41859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675640" y="41859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tanah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53716" y="41859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Satu daftar sumur darurat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31792" y="41859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sementara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868" y="41859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75640" y="44526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7" name="TextBox 66"/>
          <p:cNvSpPr txBox="1"/>
          <p:nvPr/>
        </p:nvSpPr>
        <p:spPr>
          <a:xfrm>
            <a:off x="675640" y="44526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Hunian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53716" y="44526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Sumber air sebelum huntap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31792" y="44526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permanen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868" y="44526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47193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4719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Data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53716" y="4719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Kolom DIBI air dan jembatan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31792" y="4719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lintas lapis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9868" y="4719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452104" y="1282700"/>
            <a:ext cx="3191256" cy="4800600"/>
          </a:xfrm>
          <a:prstGeom prst="roundRect">
            <a:avLst>
              <a:gd name="adj" fmla="val 171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452104" y="1282700"/>
            <a:ext cx="319125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52104" y="1511300"/>
            <a:ext cx="319125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452104" y="1282700"/>
            <a:ext cx="3191256" cy="4800600"/>
          </a:xfrm>
          <a:prstGeom prst="roundRect">
            <a:avLst>
              <a:gd name="adj" fmla="val 171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79104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1" name="Picture 80" descr="kalender-FFFFFF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254" y="1422400"/>
            <a:ext cx="177800" cy="1778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960104" y="1282700"/>
            <a:ext cx="25562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Titik serah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79104" y="1841500"/>
            <a:ext cx="2937256" cy="415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Air: truk dan hidran ke pipa sementara, diputus kepala daerah lewat BPBD.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Akses: bailey ke jembatan permanen, dicatat di rencana RR oleh pemilik aset.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Sumur: sumur darurat ke pengelola tetap setelah uji mutu lolos.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Ambang angka ditetapkan setelah baseline 2027.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Perban BNPB tentang rencana RR dan hibah RR; Perka BNPB kebutuhan dasar dan perbaikan darurat; analisis kajian ini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E2. Tugas per Lapis: K Koordinasi, P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Pelaksana, R Regulator, I Informasi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7988198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7988198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7988198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7988198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015226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683158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Mandat tertulis per lapis; usulan berkode 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41500"/>
            <a:ext cx="154684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2480" y="1841500"/>
            <a:ext cx="154684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DARURAT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9319" y="1841500"/>
            <a:ext cx="154684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SEMENTARA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6159" y="1841500"/>
            <a:ext cx="154684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PERMANEN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2999" y="1841500"/>
            <a:ext cx="154684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AIR TANAH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5640" y="2052320"/>
            <a:ext cx="7734198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75640" y="20523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BNPB darurat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2480" y="20523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K; DSP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9319" y="20523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K; DSP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6159" y="20523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K,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62999" y="20523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protokol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5640" y="231902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75640" y="23190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BNPB RR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22480" y="23190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9319" y="23190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rencana RR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16159" y="23190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K, R, 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2999" y="23190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5640" y="258572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75640" y="25857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Pusdatinkom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22480" y="25857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69319" y="25857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16159" y="25857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62999" y="25857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daftar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5640" y="285242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75640" y="28524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BPBD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22480" y="28524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K, 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69319" y="28524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16159" y="28524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62999" y="28524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5640" y="311912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75640" y="31191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22480" y="31191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69319" y="31191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16159" y="31191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62999" y="31191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338582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75640" y="33858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Badan Geologi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22480" y="33858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69319" y="33858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16159" y="33858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62999" y="33858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 zona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75640" y="365252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675640" y="36525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Pemda, PDAM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22480" y="36525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69319" y="36525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16159" y="36525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62999" y="36525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391922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39192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Pemerintah desa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22480" y="39192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69319" y="39192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16159" y="39192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62999" y="39192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75640" y="418592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675640" y="41859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TNI, Polri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22480" y="41859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P, DSP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69319" y="41859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16159" y="41859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ikat ke rencana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62999" y="4185920"/>
            <a:ext cx="149604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daftar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673998" y="1282700"/>
            <a:ext cx="2969362" cy="480060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673998" y="1282700"/>
            <a:ext cx="2969362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673998" y="1511300"/>
            <a:ext cx="2969362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673998" y="1282700"/>
            <a:ext cx="2969362" cy="4800600"/>
          </a:xfrm>
          <a:prstGeom prst="roundRect">
            <a:avLst>
              <a:gd name="adj" fmla="val 183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800998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1" name="Picture 80" descr="regulasi-FFFFFF-e639fe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148" y="1422400"/>
            <a:ext cx="177800" cy="1778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181998" y="1282700"/>
            <a:ext cx="2334362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Belum bermandat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00998" y="1841500"/>
            <a:ext cx="2715362" cy="415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Jembatan TNI AD dan Polri di luar rencana RR.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Serah terima aset darurat ke pemilik.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Protokol sumur bor RR bersama Badan Geologi.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Standar waktu pulih layanan.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PP penanggulangan bencana; PP SPAM; UU jalan; UU sumber daya air; Perban BNPB; analisis kajian ini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E3. Rekomendasi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100 hari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dan awal peta jalan</a:t>
            </a:r>
            <a:br/>
            <a:r>
              <a:rPr sz="2200" b="1" lang="id-ID">
                <a:solidFill>
                  <a:srgbClr val="D9600B"/>
                </a:solidFill>
                <a:latin typeface="Roboto"/>
              </a:rPr>
              <a:t>2026–2027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: langkah, rincian, penanggung jawab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548640" y="162480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00752"/>
            <a:ext cx="178308" cy="1783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3140" y="157527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Tambah kolom air dan jembatan di DIBI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3140" y="181022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7" name="Picture 1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41595"/>
            <a:ext cx="102362" cy="10236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661327" y="1810226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9898" y="148590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Tabel publik DIBI memuat kolom SPAM terdampak dan hari pulih serta jembatan per status jalan.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8733" y="1707356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21" name="Picture 2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738725"/>
            <a:ext cx="102362" cy="10236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609879" y="1707356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23" name="Picture 2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429" y="1738725"/>
            <a:ext cx="102362" cy="10236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0570880" y="1707356"/>
            <a:ext cx="52598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</a:t>
            </a:r>
          </a:p>
        </p:txBody>
      </p:sp>
      <p:pic>
        <p:nvPicPr>
          <p:cNvPr id="25" name="Picture 2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3430" y="1738725"/>
            <a:ext cx="102362" cy="102362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548640" y="209391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548640" y="22328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nfrastruktur-FFFFFF-ba1c96e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308765"/>
            <a:ext cx="178308" cy="1783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3140" y="218328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Ikat jembatan TNI AD dan Polri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3140" y="2418239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31" name="Picture 30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449608"/>
            <a:ext cx="102362" cy="10236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661327" y="2418239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9898" y="209391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Jembatan di daerah bencana tercantum di rencana RR dan DIBI dengan pemilik aset dan jadwal ganti permanen.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58733" y="2315369"/>
            <a:ext cx="105081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Dir. RR Infrastruktur</a:t>
            </a:r>
          </a:p>
        </p:txBody>
      </p:sp>
      <p:pic>
        <p:nvPicPr>
          <p:cNvPr id="35" name="Picture 3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346738"/>
            <a:ext cx="102362" cy="10236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860347" y="2315369"/>
            <a:ext cx="57611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TNI AD</a:t>
            </a:r>
          </a:p>
        </p:txBody>
      </p:sp>
      <p:pic>
        <p:nvPicPr>
          <p:cNvPr id="37" name="Picture 3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2897" y="2346738"/>
            <a:ext cx="102362" cy="102362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0487258" y="2315369"/>
            <a:ext cx="48812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Polri</a:t>
            </a:r>
          </a:p>
        </p:txBody>
      </p:sp>
      <p:pic>
        <p:nvPicPr>
          <p:cNvPr id="39" name="Picture 3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9808" y="2346738"/>
            <a:ext cx="102362" cy="102362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8758733" y="2531269"/>
            <a:ext cx="8571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pic>
        <p:nvPicPr>
          <p:cNvPr id="41" name="Picture 4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2562638"/>
            <a:ext cx="102362" cy="102362"/>
          </a:xfrm>
          <a:prstGeom prst="rect">
            <a:avLst/>
          </a:prstGeom>
        </p:spPr>
      </p:pic>
      <p:cxnSp>
        <p:nvCxnSpPr>
          <p:cNvPr id="42" name="Connector 41"/>
          <p:cNvCxnSpPr/>
          <p:nvPr/>
        </p:nvCxnSpPr>
        <p:spPr>
          <a:xfrm>
            <a:off x="548640" y="270192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548640" y="284083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kapasitas-FFFFFF-22e801b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2916777"/>
            <a:ext cx="178308" cy="17830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93140" y="279130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R-E06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Hitung stok bailey per wilayah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3140" y="3026251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7" name="Picture 4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057620"/>
            <a:ext cx="102362" cy="10236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1661327" y="302625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9898" y="270192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Daftar persediaan bailey dan rangka baja tersusun dalam empat belas hari pertama.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58733" y="2923381"/>
            <a:ext cx="86638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Logistik</a:t>
            </a:r>
          </a:p>
        </p:txBody>
      </p:sp>
      <p:pic>
        <p:nvPicPr>
          <p:cNvPr id="51" name="Picture 5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954750"/>
            <a:ext cx="102362" cy="102362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9675919" y="2923381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53" name="Picture 5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8469" y="2954750"/>
            <a:ext cx="102362" cy="102362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10636920" y="2923381"/>
            <a:ext cx="4483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TNI</a:t>
            </a:r>
          </a:p>
        </p:txBody>
      </p:sp>
      <p:pic>
        <p:nvPicPr>
          <p:cNvPr id="55" name="Picture 5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470" y="2954750"/>
            <a:ext cx="102362" cy="102362"/>
          </a:xfrm>
          <a:prstGeom prst="rect">
            <a:avLst/>
          </a:prstGeom>
        </p:spPr>
      </p:pic>
      <p:cxnSp>
        <p:nvCxnSpPr>
          <p:cNvPr id="56" name="Connector 55"/>
          <p:cNvCxnSpPr/>
          <p:nvPr/>
        </p:nvCxnSpPr>
        <p:spPr>
          <a:xfrm>
            <a:off x="548640" y="330993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548640" y="344884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3524790"/>
            <a:ext cx="178308" cy="17830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93140" y="339931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R-E11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Satukan daftar sumur darurat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3140" y="363426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61" name="Picture 60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665633"/>
            <a:ext cx="102362" cy="102362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1661327" y="3634264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09898" y="330993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Satu daftar sumur berlokasi dan berpelaksana untuk Sumatra 2025 dan sesudahnya.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758733" y="3531394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65" name="Picture 6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562763"/>
            <a:ext cx="102362" cy="102362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9609879" y="3531394"/>
            <a:ext cx="8482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Badan Geologi</a:t>
            </a:r>
          </a:p>
        </p:txBody>
      </p:sp>
      <p:pic>
        <p:nvPicPr>
          <p:cNvPr id="67" name="Picture 6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429" y="3562763"/>
            <a:ext cx="102362" cy="102362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10508967" y="3531394"/>
            <a:ext cx="57611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TNI AD</a:t>
            </a:r>
          </a:p>
        </p:txBody>
      </p:sp>
      <p:pic>
        <p:nvPicPr>
          <p:cNvPr id="69" name="Picture 6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1517" y="3562763"/>
            <a:ext cx="102362" cy="102362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11135879" y="3531394"/>
            <a:ext cx="48812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Polri</a:t>
            </a:r>
          </a:p>
        </p:txBody>
      </p:sp>
      <p:pic>
        <p:nvPicPr>
          <p:cNvPr id="71" name="Picture 7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8429" y="3562763"/>
            <a:ext cx="102362" cy="102362"/>
          </a:xfrm>
          <a:prstGeom prst="rect">
            <a:avLst/>
          </a:prstGeom>
        </p:spPr>
      </p:pic>
      <p:cxnSp>
        <p:nvCxnSpPr>
          <p:cNvPr id="72" name="Connector 71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548640" y="405685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4" name="Picture 73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4132802"/>
            <a:ext cx="178308" cy="17830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93140" y="400732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Tetapkan baseline waktu pulih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3140" y="4242276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77" name="Picture 7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273645"/>
            <a:ext cx="102362" cy="102362"/>
          </a:xfrm>
          <a:prstGeom prst="rect">
            <a:avLst/>
          </a:prstGeom>
        </p:spPr>
      </p:pic>
      <p:sp>
        <p:nvSpPr>
          <p:cNvPr id="78" name="Rounded Rectangle 77"/>
          <p:cNvSpPr/>
          <p:nvPr/>
        </p:nvSpPr>
        <p:spPr>
          <a:xfrm>
            <a:off x="1785350" y="424227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9898" y="391795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Baseline hari pulih air dan akses per kab/kota terbit paling lambat 2027.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58733" y="4139406"/>
            <a:ext cx="105081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Dir. RR Infrastruktur</a:t>
            </a:r>
          </a:p>
        </p:txBody>
      </p:sp>
      <p:pic>
        <p:nvPicPr>
          <p:cNvPr id="81" name="Picture 8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170775"/>
            <a:ext cx="102362" cy="102362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9860347" y="4139406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3" name="Picture 8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2897" y="4170775"/>
            <a:ext cx="102362" cy="102362"/>
          </a:xfrm>
          <a:prstGeom prst="rect">
            <a:avLst/>
          </a:prstGeom>
        </p:spPr>
      </p:pic>
      <p:cxnSp>
        <p:nvCxnSpPr>
          <p:cNvPr id="84" name="Connector 83"/>
          <p:cNvCxnSpPr/>
          <p:nvPr/>
        </p:nvCxnSpPr>
        <p:spPr>
          <a:xfrm>
            <a:off x="548640" y="452596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Oval 84"/>
          <p:cNvSpPr/>
          <p:nvPr/>
        </p:nvSpPr>
        <p:spPr>
          <a:xfrm>
            <a:off x="548640" y="466486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6" name="Picture 85" descr="regulasi-FFFFFF-e639fe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86" y="4740815"/>
            <a:ext cx="178308" cy="17830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93140" y="461533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Tambah baris waktu pulih di templat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93140" y="485028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89" name="Picture 8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881658"/>
            <a:ext cx="102362" cy="102362"/>
          </a:xfrm>
          <a:prstGeom prst="rect">
            <a:avLst/>
          </a:prstGeom>
        </p:spPr>
      </p:pic>
      <p:sp>
        <p:nvSpPr>
          <p:cNvPr id="90" name="Rounded Rectangle 89"/>
          <p:cNvSpPr/>
          <p:nvPr/>
        </p:nvSpPr>
        <p:spPr>
          <a:xfrm>
            <a:off x="1785350" y="4850289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09898" y="452596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Templat rencana RR memuat baris waktu pulih dan daftar jembatan darurat yang harus diganti.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758733" y="4747419"/>
            <a:ext cx="67799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RR</a:t>
            </a:r>
          </a:p>
        </p:txBody>
      </p:sp>
      <p:pic>
        <p:nvPicPr>
          <p:cNvPr id="93" name="Picture 9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778788"/>
            <a:ext cx="102362" cy="102362"/>
          </a:xfrm>
          <a:prstGeom prst="rect">
            <a:avLst/>
          </a:prstGeom>
        </p:spPr>
      </p:pic>
      <p:sp>
        <p:nvSpPr>
          <p:cNvPr id="94" name="Rounded Rectangle 93"/>
          <p:cNvSpPr/>
          <p:nvPr/>
        </p:nvSpPr>
        <p:spPr>
          <a:xfrm>
            <a:off x="9487522" y="4747419"/>
            <a:ext cx="67878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Bappenas</a:t>
            </a:r>
          </a:p>
        </p:txBody>
      </p:sp>
      <p:pic>
        <p:nvPicPr>
          <p:cNvPr id="95" name="Picture 9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0072" y="4778788"/>
            <a:ext cx="102362" cy="102362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10217106" y="4747419"/>
            <a:ext cx="7593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Kemendagri</a:t>
            </a:r>
          </a:p>
        </p:txBody>
      </p:sp>
      <p:pic>
        <p:nvPicPr>
          <p:cNvPr id="97" name="Picture 9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9656" y="4778788"/>
            <a:ext cx="102362" cy="102362"/>
          </a:xfrm>
          <a:prstGeom prst="rect">
            <a:avLst/>
          </a:prstGeom>
        </p:spPr>
      </p:pic>
      <p:cxnSp>
        <p:nvCxnSpPr>
          <p:cNvPr id="98" name="Connector 97"/>
          <p:cNvCxnSpPr/>
          <p:nvPr/>
        </p:nvCxnSpPr>
        <p:spPr>
          <a:xfrm>
            <a:off x="548640" y="513397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Oval 98"/>
          <p:cNvSpPr/>
          <p:nvPr/>
        </p:nvSpPr>
        <p:spPr>
          <a:xfrm>
            <a:off x="548640" y="527288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0" name="Picture 99" descr="regulasi-FFFFFF-e639fe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86" y="5348827"/>
            <a:ext cx="178308" cy="17830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993140" y="522335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Tetapkan standar hari akses darurat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93140" y="545830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03" name="Picture 10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489670"/>
            <a:ext cx="102362" cy="102362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1785350" y="5458301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09898" y="513397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Perubahan Perka BNPB perbaikan darurat memuat standar hari sampai akses darurat terbuka.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758733" y="5355431"/>
            <a:ext cx="132227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Penanganan Darurat</a:t>
            </a:r>
          </a:p>
        </p:txBody>
      </p:sp>
      <p:pic>
        <p:nvPicPr>
          <p:cNvPr id="107" name="Picture 10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386800"/>
            <a:ext cx="102362" cy="102362"/>
          </a:xfrm>
          <a:prstGeom prst="rect">
            <a:avLst/>
          </a:prstGeom>
        </p:spPr>
      </p:pic>
      <p:sp>
        <p:nvSpPr>
          <p:cNvPr id="108" name="Rounded Rectangle 107"/>
          <p:cNvSpPr/>
          <p:nvPr/>
        </p:nvSpPr>
        <p:spPr>
          <a:xfrm>
            <a:off x="10131809" y="5355431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109" name="Picture 10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4359" y="5386800"/>
            <a:ext cx="102362" cy="102362"/>
          </a:xfrm>
          <a:prstGeom prst="rect">
            <a:avLst/>
          </a:prstGeom>
        </p:spPr>
      </p:pic>
      <p:sp>
        <p:nvSpPr>
          <p:cNvPr id="110" name="Rounded Rectangle 109"/>
          <p:cNvSpPr/>
          <p:nvPr/>
        </p:nvSpPr>
        <p:spPr>
          <a:xfrm>
            <a:off x="11092810" y="5355431"/>
            <a:ext cx="4483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TNI</a:t>
            </a:r>
          </a:p>
        </p:txBody>
      </p:sp>
      <p:pic>
        <p:nvPicPr>
          <p:cNvPr id="111" name="Picture 11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5360" y="5386800"/>
            <a:ext cx="102362" cy="102362"/>
          </a:xfrm>
          <a:prstGeom prst="rect">
            <a:avLst/>
          </a:prstGeom>
        </p:spPr>
      </p:pic>
      <p:cxnSp>
        <p:nvCxnSpPr>
          <p:cNvPr id="112" name="Connector 111"/>
          <p:cNvCxnSpPr/>
          <p:nvPr/>
        </p:nvCxnSpPr>
        <p:spPr>
          <a:xfrm>
            <a:off x="548640" y="574198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3" name="Oval 112"/>
          <p:cNvSpPr/>
          <p:nvPr/>
        </p:nvSpPr>
        <p:spPr>
          <a:xfrm>
            <a:off x="548640" y="5880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4" name="Picture 113" descr="pembiayaan-FFFFFF-5387a37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586" y="5956840"/>
            <a:ext cx="178308" cy="178308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993140" y="5831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R-E07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Buka jalur dana jembatan dan SPAM desa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93140" y="606631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17" name="Picture 11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97683"/>
            <a:ext cx="102362" cy="102362"/>
          </a:xfrm>
          <a:prstGeom prst="rect">
            <a:avLst/>
          </a:prstGeom>
        </p:spPr>
      </p:pic>
      <p:sp>
        <p:nvSpPr>
          <p:cNvPr id="118" name="Rounded Rectangle 117"/>
          <p:cNvSpPr/>
          <p:nvPr/>
        </p:nvSpPr>
        <p:spPr>
          <a:xfrm>
            <a:off x="1785350" y="6066314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09898" y="574198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Usulan ubah larangan aset desa dalam Perban hibah RR atau permohonan Dana Bersama untuk aset desa di rencana RR.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758733" y="5855494"/>
            <a:ext cx="74843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Hukum</a:t>
            </a:r>
          </a:p>
        </p:txBody>
      </p:sp>
      <p:pic>
        <p:nvPicPr>
          <p:cNvPr id="121" name="Picture 12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886863"/>
            <a:ext cx="102362" cy="102362"/>
          </a:xfrm>
          <a:prstGeom prst="rect">
            <a:avLst/>
          </a:prstGeom>
        </p:spPr>
      </p:pic>
      <p:sp>
        <p:nvSpPr>
          <p:cNvPr id="122" name="Rounded Rectangle 121"/>
          <p:cNvSpPr/>
          <p:nvPr/>
        </p:nvSpPr>
        <p:spPr>
          <a:xfrm>
            <a:off x="9557968" y="5855494"/>
            <a:ext cx="105081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Dir. RR Infrastruktur</a:t>
            </a:r>
          </a:p>
        </p:txBody>
      </p:sp>
      <p:pic>
        <p:nvPicPr>
          <p:cNvPr id="123" name="Picture 12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0518" y="5886863"/>
            <a:ext cx="102362" cy="102362"/>
          </a:xfrm>
          <a:prstGeom prst="rect">
            <a:avLst/>
          </a:prstGeom>
        </p:spPr>
      </p:pic>
      <p:sp>
        <p:nvSpPr>
          <p:cNvPr id="124" name="Rounded Rectangle 123"/>
          <p:cNvSpPr/>
          <p:nvPr/>
        </p:nvSpPr>
        <p:spPr>
          <a:xfrm>
            <a:off x="10659581" y="5855494"/>
            <a:ext cx="74744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Kemendesa</a:t>
            </a:r>
          </a:p>
        </p:txBody>
      </p:sp>
      <p:pic>
        <p:nvPicPr>
          <p:cNvPr id="125" name="Picture 12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2131" y="5886863"/>
            <a:ext cx="102362" cy="102362"/>
          </a:xfrm>
          <a:prstGeom prst="rect">
            <a:avLst/>
          </a:prstGeom>
        </p:spPr>
      </p:pic>
      <p:sp>
        <p:nvSpPr>
          <p:cNvPr id="126" name="Rounded Rectangle 125"/>
          <p:cNvSpPr/>
          <p:nvPr/>
        </p:nvSpPr>
        <p:spPr>
          <a:xfrm>
            <a:off x="8758733" y="6071394"/>
            <a:ext cx="70517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Kemenkeu</a:t>
            </a:r>
          </a:p>
        </p:txBody>
      </p:sp>
      <p:pic>
        <p:nvPicPr>
          <p:cNvPr id="127" name="Picture 12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610276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E4. Rekomendasi lanjutan peta jalan</a:t>
            </a:r>
            <a:br/>
            <a:r>
              <a:rPr sz="2200" b="1" lang="id-ID">
                <a:solidFill>
                  <a:srgbClr val="D9600B"/>
                </a:solidFill>
                <a:latin typeface="Roboto"/>
              </a:rPr>
              <a:t>2026–2027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dan arah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2028–2030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(lanjutan)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548640" y="166823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44182"/>
            <a:ext cx="178308" cy="1783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3140" y="161870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Tulis pemicu peralihan truk ke pipa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3140" y="1853656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7" name="Picture 1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85025"/>
            <a:ext cx="102362" cy="10236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785350" y="1853656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9898" y="1485900"/>
            <a:ext cx="4320235" cy="694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Pedoman peralihan truk tangki ke perpipaan sementara memuat pemicu tertulis dan pemutusnya.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8733" y="1750786"/>
            <a:ext cx="132227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Penanganan Darurat</a:t>
            </a:r>
          </a:p>
        </p:txBody>
      </p:sp>
      <p:pic>
        <p:nvPicPr>
          <p:cNvPr id="21" name="Picture 2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782155"/>
            <a:ext cx="102362" cy="10236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0131809" y="1750786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23" name="Picture 2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4359" y="1782155"/>
            <a:ext cx="102362" cy="10236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1092810" y="1750786"/>
            <a:ext cx="54813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PDAM</a:t>
            </a:r>
          </a:p>
        </p:txBody>
      </p:sp>
      <p:pic>
        <p:nvPicPr>
          <p:cNvPr id="25" name="Picture 2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5360" y="1782155"/>
            <a:ext cx="102362" cy="102362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548640" y="2180771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548640" y="2363107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data-FFFFFF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439053"/>
            <a:ext cx="178308" cy="1783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3140" y="2313577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Ukur pemulihan air dalam jiwa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3140" y="2548527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31" name="Picture 30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579896"/>
            <a:ext cx="102362" cy="10236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785350" y="2548527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9898" y="2180771"/>
            <a:ext cx="4320235" cy="694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Laporan pemulihan air memuat jiwa atau sambungan terlayani dan liter per orang per hari.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58733" y="2445657"/>
            <a:ext cx="105081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Dir. RR Infrastruktur</a:t>
            </a:r>
          </a:p>
        </p:txBody>
      </p:sp>
      <p:pic>
        <p:nvPicPr>
          <p:cNvPr id="35" name="Picture 3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477026"/>
            <a:ext cx="102362" cy="10236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860347" y="2445657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37" name="Picture 3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2897" y="2477026"/>
            <a:ext cx="102362" cy="102362"/>
          </a:xfrm>
          <a:prstGeom prst="rect">
            <a:avLst/>
          </a:prstGeom>
        </p:spPr>
      </p:pic>
      <p:cxnSp>
        <p:nvCxnSpPr>
          <p:cNvPr id="38" name="Connector 37"/>
          <p:cNvCxnSpPr/>
          <p:nvPr/>
        </p:nvCxnSpPr>
        <p:spPr>
          <a:xfrm>
            <a:off x="548640" y="2875643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548640" y="305797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3133925"/>
            <a:ext cx="178308" cy="1783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93140" y="300844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R-E10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Susun protokol sumur bor RR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3140" y="324339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43" name="Picture 4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274768"/>
            <a:ext cx="102362" cy="102362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1785350" y="3243399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9898" y="2875643"/>
            <a:ext cx="4320235" cy="694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Protokol memuat lokasi menurut zona konservasi, uji mutu E. coli, dan serah terima pengelola.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58733" y="3140529"/>
            <a:ext cx="105081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Dir. RR Infrastruktur</a:t>
            </a:r>
          </a:p>
        </p:txBody>
      </p:sp>
      <p:pic>
        <p:nvPicPr>
          <p:cNvPr id="47" name="Picture 4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171898"/>
            <a:ext cx="102362" cy="10236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9860347" y="3140529"/>
            <a:ext cx="102398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ESDM</a:t>
            </a:r>
          </a:p>
        </p:txBody>
      </p:sp>
      <p:pic>
        <p:nvPicPr>
          <p:cNvPr id="49" name="Picture 4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2897" y="3171898"/>
            <a:ext cx="102362" cy="102362"/>
          </a:xfrm>
          <a:prstGeom prst="rect">
            <a:avLst/>
          </a:prstGeom>
        </p:spPr>
      </p:pic>
      <p:cxnSp>
        <p:nvCxnSpPr>
          <p:cNvPr id="50" name="Connector 49"/>
          <p:cNvCxnSpPr/>
          <p:nvPr/>
        </p:nvCxnSpPr>
        <p:spPr>
          <a:xfrm>
            <a:off x="548640" y="3570514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548640" y="375285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3828796"/>
            <a:ext cx="178308" cy="17830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3140" y="370332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R-E12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Syaratkan sumber air sebelum huntap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3140" y="393827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55" name="Picture 54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969639"/>
            <a:ext cx="102362" cy="102362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785350" y="3938270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9898" y="3570514"/>
            <a:ext cx="4320235" cy="694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Penetapan lokasi huntap mensyaratkan sumber air dan akses yang tertulis.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58733" y="3835400"/>
            <a:ext cx="100886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Dir. RR Perumahan</a:t>
            </a:r>
          </a:p>
        </p:txBody>
      </p:sp>
      <p:pic>
        <p:nvPicPr>
          <p:cNvPr id="59" name="Picture 58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866769"/>
            <a:ext cx="102362" cy="102362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9818397" y="3835400"/>
            <a:ext cx="96072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PKP</a:t>
            </a:r>
          </a:p>
        </p:txBody>
      </p:sp>
      <p:pic>
        <p:nvPicPr>
          <p:cNvPr id="61" name="Picture 6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0947" y="3866769"/>
            <a:ext cx="102362" cy="102362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10829920" y="3835400"/>
            <a:ext cx="57309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Pemda</a:t>
            </a:r>
          </a:p>
        </p:txBody>
      </p:sp>
      <p:pic>
        <p:nvPicPr>
          <p:cNvPr id="63" name="Picture 6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2470" y="3866769"/>
            <a:ext cx="102362" cy="102362"/>
          </a:xfrm>
          <a:prstGeom prst="rect">
            <a:avLst/>
          </a:prstGeom>
        </p:spPr>
      </p:pic>
      <p:cxnSp>
        <p:nvCxnSpPr>
          <p:cNvPr id="64" name="Connector 63"/>
          <p:cNvCxnSpPr/>
          <p:nvPr/>
        </p:nvCxnSpPr>
        <p:spPr>
          <a:xfrm>
            <a:off x="548640" y="4265386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548640" y="444772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6" name="Picture 65" descr="infrastruktur-FFFFFF-ba1c96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4523667"/>
            <a:ext cx="178308" cy="17830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93140" y="439819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R-E14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Uji coba paket air dan akses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3140" y="463314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69" name="Picture 6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664510"/>
            <a:ext cx="102362" cy="102362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1785350" y="463314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09898" y="4265386"/>
            <a:ext cx="4320235" cy="694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Satu kabupaten Sumatra menjalankan paket air dan akses dengan garis dasar dan pembanding.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758733" y="4530271"/>
            <a:ext cx="67799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RR</a:t>
            </a:r>
          </a:p>
        </p:txBody>
      </p:sp>
      <p:pic>
        <p:nvPicPr>
          <p:cNvPr id="73" name="Picture 7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561640"/>
            <a:ext cx="102362" cy="102362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9487522" y="4530271"/>
            <a:ext cx="122274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Satgas Keppres Sumatra</a:t>
            </a:r>
          </a:p>
        </p:txBody>
      </p:sp>
      <p:pic>
        <p:nvPicPr>
          <p:cNvPr id="75" name="Picture 7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0072" y="4561640"/>
            <a:ext cx="102362" cy="102362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8758733" y="4746171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77" name="Picture 7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4777540"/>
            <a:ext cx="102362" cy="102362"/>
          </a:xfrm>
          <a:prstGeom prst="rect">
            <a:avLst/>
          </a:prstGeom>
        </p:spPr>
      </p:pic>
      <p:cxnSp>
        <p:nvCxnSpPr>
          <p:cNvPr id="78" name="Connector 77"/>
          <p:cNvCxnSpPr/>
          <p:nvPr/>
        </p:nvCxnSpPr>
        <p:spPr>
          <a:xfrm>
            <a:off x="548640" y="4960257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9" name="Oval 78"/>
          <p:cNvSpPr/>
          <p:nvPr/>
        </p:nvSpPr>
        <p:spPr>
          <a:xfrm>
            <a:off x="548640" y="5142593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0" name="Picture 79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5218539"/>
            <a:ext cx="178308" cy="17830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993140" y="5093063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R-E15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Selaraskan peraturan dan JDIH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93140" y="5328013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83" name="Picture 8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359382"/>
            <a:ext cx="102362" cy="102362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1785350" y="5328013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09898" y="4960257"/>
            <a:ext cx="4320235" cy="694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Katalog JDIH menandai status berlaku yang benar dan perubahan Perka BNPB perbaikan darurat ditetapkan.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758733" y="5225143"/>
            <a:ext cx="74843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Hukum</a:t>
            </a:r>
          </a:p>
        </p:txBody>
      </p:sp>
      <p:pic>
        <p:nvPicPr>
          <p:cNvPr id="87" name="Picture 8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256512"/>
            <a:ext cx="102362" cy="102362"/>
          </a:xfrm>
          <a:prstGeom prst="rect">
            <a:avLst/>
          </a:prstGeom>
        </p:spPr>
      </p:pic>
      <p:cxnSp>
        <p:nvCxnSpPr>
          <p:cNvPr id="88" name="Connector 87"/>
          <p:cNvCxnSpPr/>
          <p:nvPr/>
        </p:nvCxnSpPr>
        <p:spPr>
          <a:xfrm>
            <a:off x="548640" y="5655129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9" name="Oval 88"/>
          <p:cNvSpPr/>
          <p:nvPr/>
        </p:nvSpPr>
        <p:spPr>
          <a:xfrm>
            <a:off x="548640" y="583746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0" name="Picture 89" descr="data-FFFFFF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5913410"/>
            <a:ext cx="178308" cy="17830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993140" y="578793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R-E13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Evaluasi dampak jembatan pedesaan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93140" y="602288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93" name="Picture 9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54253"/>
            <a:ext cx="102362" cy="102362"/>
          </a:xfrm>
          <a:prstGeom prst="rect">
            <a:avLst/>
          </a:prstGeom>
        </p:spPr>
      </p:pic>
      <p:sp>
        <p:nvSpPr>
          <p:cNvPr id="94" name="Rounded Rectangle 93"/>
          <p:cNvSpPr/>
          <p:nvPr/>
        </p:nvSpPr>
        <p:spPr>
          <a:xfrm>
            <a:off x="1785350" y="6022884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09898" y="5655129"/>
            <a:ext cx="4320235" cy="694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Evaluasi dampak independen atas desa tersambung dan waktu tempuh ke sekolah dan pasar.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758733" y="5812064"/>
            <a:ext cx="147257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Dir. Pengembangan Strategi PB</a:t>
            </a:r>
          </a:p>
        </p:txBody>
      </p:sp>
      <p:pic>
        <p:nvPicPr>
          <p:cNvPr id="97" name="Picture 9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843433"/>
            <a:ext cx="102362" cy="102362"/>
          </a:xfrm>
          <a:prstGeom prst="rect">
            <a:avLst/>
          </a:prstGeom>
        </p:spPr>
      </p:pic>
      <p:sp>
        <p:nvSpPr>
          <p:cNvPr id="98" name="Rounded Rectangle 97"/>
          <p:cNvSpPr/>
          <p:nvPr/>
        </p:nvSpPr>
        <p:spPr>
          <a:xfrm>
            <a:off x="10282106" y="5812064"/>
            <a:ext cx="57611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TNI AD</a:t>
            </a:r>
          </a:p>
        </p:txBody>
      </p:sp>
      <p:pic>
        <p:nvPicPr>
          <p:cNvPr id="99" name="Picture 9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4656" y="5843433"/>
            <a:ext cx="102362" cy="102362"/>
          </a:xfrm>
          <a:prstGeom prst="rect">
            <a:avLst/>
          </a:prstGeom>
        </p:spPr>
      </p:pic>
      <p:sp>
        <p:nvSpPr>
          <p:cNvPr id="100" name="Rounded Rectangle 99"/>
          <p:cNvSpPr/>
          <p:nvPr/>
        </p:nvSpPr>
        <p:spPr>
          <a:xfrm>
            <a:off x="10909017" y="5812064"/>
            <a:ext cx="48812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Polri</a:t>
            </a:r>
          </a:p>
        </p:txBody>
      </p:sp>
      <p:pic>
        <p:nvPicPr>
          <p:cNvPr id="101" name="Picture 10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1567" y="5843433"/>
            <a:ext cx="102362" cy="102362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8758733" y="6027964"/>
            <a:ext cx="67878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Bappenas</a:t>
            </a:r>
          </a:p>
        </p:txBody>
      </p:sp>
      <p:pic>
        <p:nvPicPr>
          <p:cNvPr id="103" name="Picture 10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605933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Kesimpulan: delapan temuan berangka tentang air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dan akses pascabencana dan keputusan yang diminta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74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nfrastruktur-051C2C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23" y="1601883"/>
            <a:ext cx="221425" cy="221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7081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74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BEBAN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74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Jembatan rusak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74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3.833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pada 2018–2025,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1.088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pada 2025.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661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171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banjir-051C2C-364735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293" y="1601883"/>
            <a:ext cx="221425" cy="2214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7878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171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BEBAN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171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Penyebab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171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89,2%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jembatan rusak karena banjir.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458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2968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wilayah-051C2C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263" y="1601883"/>
            <a:ext cx="221425" cy="2214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8675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968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AKSES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968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Program jembatan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968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TNI AD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3.008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titik dan Polri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895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unit, tanpa biaya satuan.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255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3765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air-baku-051C2C-271d6c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8233" y="1601883"/>
            <a:ext cx="221425" cy="2214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09472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765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AIR PERPIPAAN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765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SPAM Sumatra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765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95,5%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178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berfungsi, diukur dalam unit; jiwa tidak terukur.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13740" y="352298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air-tanah-051C2C-400248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323" y="3613563"/>
            <a:ext cx="221425" cy="2214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7081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74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AIR TANAH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74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Sumur bor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74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37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128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sumur PU selesai per Februari 2026.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5661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2171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regulasi-D9600B-e639fe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2293" y="3613563"/>
            <a:ext cx="221425" cy="22142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47878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171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KESENJANGAN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171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Hibah RR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171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7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jenis pembiayaan dikecualikan, termasuk aset desa.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458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2968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data-D9600B-608a1e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0263" y="3613563"/>
            <a:ext cx="221425" cy="22142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28675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968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KESENJANGAN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968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DIBI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968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0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kolom air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19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kolom dampak.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7255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137650" y="3522980"/>
            <a:ext cx="402590" cy="40259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lembaga-2F86D1-f44193c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8233" y="3613563"/>
            <a:ext cx="221425" cy="22142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09472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765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2F86D1"/>
                </a:solidFill>
                <a:latin typeface="Roboto"/>
              </a:rPr>
              <a:t>KELEMBAGAAN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765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Tenggat rencana RR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765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Rencana RR disusun paling lama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90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hari dan berlaku paling lama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tahun.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369560"/>
            <a:ext cx="11094720" cy="558800"/>
          </a:xfrm>
          <a:prstGeom prst="roundRect">
            <a:avLst>
              <a:gd name="adj" fmla="val 13181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13740" y="5483860"/>
            <a:ext cx="330200" cy="33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peringatan-D9600B-6a80b71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035" y="5558155"/>
            <a:ext cx="181610" cy="18161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209040" y="5369560"/>
            <a:ext cx="1608333" cy="55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150">
                <a:solidFill>
                  <a:srgbClr val="FFFFFF"/>
                </a:solidFill>
                <a:latin typeface="Roboto"/>
              </a:rPr>
              <a:t>ARAHAN YANG DIMINTA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17373" y="5369560"/>
            <a:ext cx="8660887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FFFFFF"/>
                </a:solidFill>
                <a:latin typeface="Roboto"/>
              </a:rPr>
              <a:t>Tetapkan waktu pulih sebagai ukuran RR; usulkan jalur dana aset desa; ajukan pengikatan jembatan TNI AD dan Polri ke rencana RR; tugaskan protokol sumur bor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2018–2025; Kementerian PU (Februari dan Mei 2026); Kementerian Sekretariat Negara, Agustus 2026; Perban BNPB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nutup-sampul-reh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masjid yang tetap berdiri setelah tsunami Aceh, Banda Aceh, 2005; USGS, domain publik,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FFFFFF"/>
                </a:solidFill>
                <a:latin typeface="Roboto"/>
              </a:rPr>
              <a:t>Terima kasih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lang="id-ID">
                <a:solidFill>
                  <a:srgbClr val="FFFFFF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C9D1E3"/>
                </a:solidFill>
                <a:latin typeface="Roboto"/>
              </a:rPr>
              <a:t>Grand Design Rehabilitasi dan Rekonstruksi Air dan Akses Pascabencana 2026–2030, Senin, 26 Oktober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Design Rehabilitasi dan Rekonstruksi Air dan Akses Pascabencana 2026–2030</dc:title>
  <dc:subject>Pemulihan air dan akses daerah terdampak bencana</dc:subject>
  <dc:creator>Badan Nasional Penanggulangan Bencana</dc:creator>
  <cp:lastModifiedBy>Badan Nasional Penanggulangan Bencana</cp:lastModifiedBy>
  <cp:revision>1</cp:revision>
  <dcterms:created xsi:type="dcterms:W3CDTF">2026-10-22T07:37:45Z</dcterms:created>
  <dcterms:modified xsi:type="dcterms:W3CDTF">2026-10-22T07:37:45Z</dcterms:modified>
  <cp:keywords>BNPB; penanggulangan bencana; rehabilitasi dan rekonstruksi; pascabencana; grand design; jembatan; air tanah; sistem penyediaan air minum</cp:keywords>
  <dc:language>id-ID</dc:language>
  <cp:category>Kajian</cp:category>
  <dc:description>Waktu pulih air dan akses diusulkan menjadi ukuran keberhasilan rehabilitasi dan rekonstruksi; program jembatan diikat ke rencana RR dan baseline layanan air dibentuk paling lambat 2027.</dc:description>
</cp:coreProperties>
</file>