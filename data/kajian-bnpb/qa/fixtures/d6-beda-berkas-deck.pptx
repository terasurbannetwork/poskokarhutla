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tih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logo.png"/><Relationship Id="rIdIkon" Type="http://schemas.openxmlformats.org/officeDocument/2006/relationships/image" Target="../media/iko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Judul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Rerata IRBI nasional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turun 17,8%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dari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156,43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2015 menjadi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128,5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2024</a:t>
            </a:r>
          </a:p>
        </p:txBody>
      </p:sp>
      <p:sp>
        <p:nvSpPr>
          <p:cNvPr id="3" name="Cut off"/>
          <p:cNvSpPr txBox="1"/>
          <p:nvPr/>
        </p:nvSpPr>
        <p:spPr>
          <a:xfrm>
            <a:off x="8839200" y="889000"/>
            <a:ext cx="2540000" cy="228600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id-ID" sz="700" b="1" spc="100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CUT OFF DATA</a:t>
            </a:r>
            <a:r>
              <a:rPr lang="id-ID" sz="9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  23 Okt 2026</a:t>
            </a:r>
          </a:p>
        </p:txBody>
      </p:sp>
      <p:cxnSp>
        <p:nvCxnSpPr>
          <p:cNvPr id="4" name="Garis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Garis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graphicFrame>
        <p:nvGraphicFramePr>
          <p:cNvPr id="6" name="Tabel penduduk"/>
          <p:cNvGraphicFramePr>
            <a:graphicFrameLocks noGrp="1"/>
          </p:cNvGraphicFramePr>
          <p:nvPr/>
        </p:nvGraphicFramePr>
        <p:xfrm>
          <a:off x="548640" y="1397000"/>
          <a:ext cx="5334000" cy="1600200"/>
        </p:xfrm>
        <a:graphic>
          <a:graphicData uri="http://schemas.openxmlformats.org/drawingml/2006/table">
            <a:tbl>
              <a:tblPr firstRow="1"/>
              <a:tblGrid>
                <a:gridCol w="3200400"/>
                <a:gridCol w="21336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KAB/KOTA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PENDUDUK (jiwa)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Kulon Progo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470.913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Bantul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1.208.541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Gunungkidul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810.910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Sleman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1.249.372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Kota Yogyakarta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174.017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Jumlah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3.913.753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</a:tbl>
          </a:graphicData>
        </a:graphic>
      </p:graphicFrame>
      <p:pic>
        <p:nvPicPr>
          <p:cNvPr id="7" name="Ikon kepala"/>
          <p:cNvPicPr/>
          <p:nvPr/>
        </p:nvPicPr>
        <p:blipFill>
          <a:blip r:embed="rIdIkon"/>
          <a:stretch>
            <a:fillRect/>
          </a:stretch>
        </p:blipFill>
        <p:spPr>
          <a:xfrm>
            <a:off x="599440" y="1435100"/>
            <a:ext cx="152400" cy="152400"/>
          </a:xfrm>
          <a:prstGeom prst="rect">
            <a:avLst/>
          </a:prstGeom>
        </p:spPr>
      </p:pic>
      <p:sp>
        <p:nvSpPr>
          <p:cNvPr id="8" name="Pil keyakinan"/>
          <p:cNvSpPr txBox="1"/>
          <p:nvPr/>
        </p:nvSpPr>
        <p:spPr>
          <a:xfrm>
            <a:off x="6096000" y="1397000"/>
            <a:ext cx="1397000" cy="203200"/>
          </a:xfrm>
          <a:prstGeom prst="roundRect">
            <a:avLst/>
          </a:prstGeom>
          <a:noFill/>
          <a:ln w="9525">
            <a:solidFill>
              <a:srgbClr val="6B7280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id-ID" sz="64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Asumsi kebijakan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id-ID" sz="8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Badan Nasional Penanggulangan Bencana  |  Copyright 2026</a:t>
            </a:r>
          </a:p>
        </p:txBody>
      </p:sp>
      <p:sp>
        <p:nvSpPr>
          <p:cNvPr id="10" name="Nomor halaman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pic>
        <p:nvPicPr>
          <p:cNvPr id="11" name="Logo"/>
          <p:cNvPicPr/>
          <p:nvPr/>
        </p:nvPicPr>
        <p:blipFill>
          <a:blip r:embed="rIdImg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NPB">
  <a:themeElements>
    <a:clrScheme name="BNPB">
      <a:dk1>
        <a:srgbClr val="1A1A1A"/>
      </a:dk1>
      <a:lt1>
        <a:srgbClr val="FFFFFF"/>
      </a:lt1>
      <a:dk2>
        <a:srgbClr val="051C2C"/>
      </a:dk2>
      <a:lt2>
        <a:srgbClr val="BFC5CC"/>
      </a:lt2>
      <a:accent1>
        <a:srgbClr val="D9600B"/>
      </a:accent1>
      <a:accent2>
        <a:srgbClr val="2F86D1"/>
      </a:accent2>
      <a:accent3>
        <a:srgbClr val="C8102E"/>
      </a:accent3>
      <a:accent4>
        <a:srgbClr val="5B7A99"/>
      </a:accent4>
      <a:accent5>
        <a:srgbClr val="3F5F80"/>
      </a:accent5>
      <a:accent6>
        <a:srgbClr val="8A6A2E"/>
      </a:accent6>
      <a:hlink>
        <a:srgbClr val="00499D"/>
      </a:hlink>
      <a:folHlink>
        <a:srgbClr val="6B7280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BNP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