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image" Target="../media/image-2-30.png"/><Relationship Id="rId31" Type="http://schemas.openxmlformats.org/officeDocument/2006/relationships/image" Target="../media/image-2-31.png"/><Relationship Id="rId32" Type="http://schemas.openxmlformats.org/officeDocument/2006/relationships/image" Target="../media/image-2-32.png"/><Relationship Id="rId33" Type="http://schemas.openxmlformats.org/officeDocument/2006/relationships/slideLayout" Target="../slideLayouts/slideLayout2.xml"/><Relationship Id="rId3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image" Target="../media/image-3-27.png"/><Relationship Id="rId28" Type="http://schemas.openxmlformats.org/officeDocument/2006/relationships/image" Target="../media/image-3-28.png"/><Relationship Id="rId29" Type="http://schemas.openxmlformats.org/officeDocument/2006/relationships/image" Target="../media/image-3-29.png"/><Relationship Id="rId30" Type="http://schemas.openxmlformats.org/officeDocument/2006/relationships/image" Target="../media/image-3-30.png"/><Relationship Id="rId31" Type="http://schemas.openxmlformats.org/officeDocument/2006/relationships/image" Target="../media/image-3-31.png"/><Relationship Id="rId32" Type="http://schemas.openxmlformats.org/officeDocument/2006/relationships/image" Target="../media/image-3-32.png"/><Relationship Id="rId33" Type="http://schemas.openxmlformats.org/officeDocument/2006/relationships/image" Target="../media/image-3-33.png"/><Relationship Id="rId34" Type="http://schemas.openxmlformats.org/officeDocument/2006/relationships/image" Target="../media/image-3-34.png"/><Relationship Id="rId35" Type="http://schemas.openxmlformats.org/officeDocument/2006/relationships/image" Target="../media/image-3-35.png"/><Relationship Id="rId36" Type="http://schemas.openxmlformats.org/officeDocument/2006/relationships/image" Target="../media/image-3-36.png"/><Relationship Id="rId37" Type="http://schemas.openxmlformats.org/officeDocument/2006/relationships/image" Target="../media/image-3-37.png"/><Relationship Id="rId38" Type="http://schemas.openxmlformats.org/officeDocument/2006/relationships/image" Target="../media/image-3-38.png"/><Relationship Id="rId39" Type="http://schemas.openxmlformats.org/officeDocument/2006/relationships/image" Target="../media/image-3-39.png"/><Relationship Id="rId40" Type="http://schemas.openxmlformats.org/officeDocument/2006/relationships/image" Target="../media/image-3-40.png"/><Relationship Id="rId41" Type="http://schemas.openxmlformats.org/officeDocument/2006/relationships/image" Target="../media/image-3-41.png"/><Relationship Id="rId42" Type="http://schemas.openxmlformats.org/officeDocument/2006/relationships/image" Target="../media/image-3-42.png"/><Relationship Id="rId43" Type="http://schemas.openxmlformats.org/officeDocument/2006/relationships/image" Target="../media/image-3-43.png"/><Relationship Id="rId44" Type="http://schemas.openxmlformats.org/officeDocument/2006/relationships/image" Target="../media/image-3-44.png"/><Relationship Id="rId45" Type="http://schemas.openxmlformats.org/officeDocument/2006/relationships/slideLayout" Target="../slideLayouts/slideLayout2.xml"/><Relationship Id="rId4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57200"/>
            <a:ext cx="1005840" cy="10058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143" y="618134"/>
            <a:ext cx="542834" cy="683971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128455" y="457200"/>
            <a:ext cx="2514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20000"/>
              </a:srgbClr>
            </a:outerShdw>
          </a:effectLst>
        </p:spPr>
      </p:sp>
      <p:pic>
        <p:nvPicPr>
          <p:cNvPr id="6" name="Image 2" descr="img/berakhla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5615" y="530352"/>
            <a:ext cx="2240280" cy="852561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178308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Laporan Kejadian Bencana Harian</a:t>
            </a:r>
            <a:endParaRPr lang="en-US" sz="34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301752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</a:t>
            </a: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548640" y="3493008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sp>
        <p:nvSpPr>
          <p:cNvPr id="10" name="Shape 5"/>
          <p:cNvSpPr/>
          <p:nvPr/>
        </p:nvSpPr>
        <p:spPr>
          <a:xfrm>
            <a:off x="612648" y="3547872"/>
            <a:ext cx="274320" cy="274320"/>
          </a:xfrm>
          <a:prstGeom prst="ellipse">
            <a:avLst/>
          </a:prstGeom>
          <a:solidFill>
            <a:srgbClr val="D9600B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3607308"/>
            <a:ext cx="155448" cy="15544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960120" y="34930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PERIODE   </a:t>
            </a:r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 Okt 2026, 07.00  –  22 Okt 2026, 07.00 WIB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548640" y="4206240"/>
            <a:ext cx="51206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548640" y="4315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DISAMPAIKAN OLEH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548640" y="45262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Letnan Jenderal TNI Kristomei Sianturi, S.Sos., M.Si., M.Si. (Han)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548640" y="482803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Kepala Badan Nasional Penanggulangan Bencana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548640" y="530352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548640" y="53035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Kamis, 22 Oktober 2026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7985455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Foto: DenY Krisbiyantoro, CC BY-SA 4.0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Laporan </a:t>
            </a:r>
            <a:pPr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21–22</a:t>
            </a:r>
            <a:pPr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Oktober </a:t>
            </a:r>
            <a:pPr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pPr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</a:t>
            </a:r>
            <a:pPr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</a:t>
            </a:r>
            <a:pPr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kejadian menonjol di </a:t>
            </a:r>
            <a:pPr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 provinsi</a:t>
            </a:r>
            <a:pPr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terdiri atas </a:t>
            </a:r>
            <a:pPr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</a:t>
            </a:r>
            <a:pPr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karhutla dan </a:t>
            </a:r>
            <a:pPr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pPr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kekeringan; </a:t>
            </a:r>
            <a:pPr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pPr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kejadian karhutla masih dalam proses penanganan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48640" y="1280160"/>
            <a:ext cx="8579267" cy="932688"/>
          </a:xfrm>
          <a:prstGeom prst="roundRect">
            <a:avLst>
              <a:gd name="adj" fmla="val 7843"/>
            </a:avLst>
          </a:prstGeom>
          <a:solidFill>
            <a:srgbClr val="F3F5F8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" y="1335024"/>
            <a:ext cx="1525219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9728" cy="10972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96112" y="1335024"/>
            <a:ext cx="12874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10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KEJADIAN BENCANA</a:t>
            </a:r>
            <a:endParaRPr lang="en-US" sz="660" dirty="0"/>
          </a:p>
        </p:txBody>
      </p:sp>
      <p:sp>
        <p:nvSpPr>
          <p:cNvPr id="12" name="Shape 8"/>
          <p:cNvSpPr/>
          <p:nvPr/>
        </p:nvSpPr>
        <p:spPr>
          <a:xfrm>
            <a:off x="9402227" y="1280160"/>
            <a:ext cx="2240829" cy="932688"/>
          </a:xfrm>
          <a:prstGeom prst="roundRect">
            <a:avLst>
              <a:gd name="adj" fmla="val 7843"/>
            </a:avLst>
          </a:prstGeom>
          <a:solidFill>
            <a:srgbClr val="FCF1F2"/>
          </a:solidFill>
          <a:ln/>
        </p:spPr>
      </p:sp>
      <p:sp>
        <p:nvSpPr>
          <p:cNvPr id="13" name="Shape 9"/>
          <p:cNvSpPr/>
          <p:nvPr/>
        </p:nvSpPr>
        <p:spPr>
          <a:xfrm>
            <a:off x="9511955" y="1335024"/>
            <a:ext cx="1453896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5107" y="1371600"/>
            <a:ext cx="109728" cy="10972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749699" y="1335024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10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PERLU PERHATIAN</a:t>
            </a:r>
            <a:endParaRPr lang="en-US" sz="660" dirty="0"/>
          </a:p>
        </p:txBody>
      </p:sp>
      <p:sp>
        <p:nvSpPr>
          <p:cNvPr id="16" name="Shape 11"/>
          <p:cNvSpPr/>
          <p:nvPr/>
        </p:nvSpPr>
        <p:spPr>
          <a:xfrm>
            <a:off x="658368" y="1591056"/>
            <a:ext cx="2021373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68096" y="1682496"/>
            <a:ext cx="329184" cy="329184"/>
          </a:xfrm>
          <a:prstGeom prst="ellipse">
            <a:avLst/>
          </a:prstGeom>
          <a:solidFill>
            <a:srgbClr val="E6EAF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1755648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70432" y="1627632"/>
            <a:ext cx="14727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1170432" y="1892808"/>
            <a:ext cx="147273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laporan kejadian</a:t>
            </a:r>
            <a:endParaRPr lang="en-US" sz="750" dirty="0"/>
          </a:p>
        </p:txBody>
      </p:sp>
      <p:sp>
        <p:nvSpPr>
          <p:cNvPr id="21" name="Shape 15"/>
          <p:cNvSpPr/>
          <p:nvPr/>
        </p:nvSpPr>
        <p:spPr>
          <a:xfrm>
            <a:off x="2771181" y="1591056"/>
            <a:ext cx="2021373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2880909" y="1682496"/>
            <a:ext cx="329184" cy="329184"/>
          </a:xfrm>
          <a:prstGeom prst="ellipse">
            <a:avLst/>
          </a:prstGeom>
          <a:solidFill>
            <a:srgbClr val="E6EAF0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4061" y="1755648"/>
            <a:ext cx="182880" cy="18288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3283245" y="1627632"/>
            <a:ext cx="14727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</a:t>
            </a:r>
            <a:endParaRPr lang="en-US" sz="1700" dirty="0"/>
          </a:p>
        </p:txBody>
      </p:sp>
      <p:sp>
        <p:nvSpPr>
          <p:cNvPr id="25" name="Text 18"/>
          <p:cNvSpPr txBox="1"/>
          <p:nvPr/>
        </p:nvSpPr>
        <p:spPr>
          <a:xfrm>
            <a:off x="3283245" y="1892808"/>
            <a:ext cx="147273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kejadian menonjol</a:t>
            </a:r>
            <a:endParaRPr lang="en-US" sz="750" dirty="0"/>
          </a:p>
        </p:txBody>
      </p:sp>
      <p:sp>
        <p:nvSpPr>
          <p:cNvPr id="26" name="Shape 19"/>
          <p:cNvSpPr/>
          <p:nvPr/>
        </p:nvSpPr>
        <p:spPr>
          <a:xfrm>
            <a:off x="4883993" y="1591056"/>
            <a:ext cx="2021373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993721" y="1682496"/>
            <a:ext cx="329184" cy="329184"/>
          </a:xfrm>
          <a:prstGeom prst="ellipse">
            <a:avLst/>
          </a:prstGeom>
          <a:solidFill>
            <a:srgbClr val="FBE7D6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6873" y="1755648"/>
            <a:ext cx="182880" cy="18288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396057" y="1627632"/>
            <a:ext cx="14727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</a:t>
            </a:r>
            <a:endParaRPr lang="en-US" sz="1700" dirty="0"/>
          </a:p>
        </p:txBody>
      </p:sp>
      <p:sp>
        <p:nvSpPr>
          <p:cNvPr id="30" name="Text 22"/>
          <p:cNvSpPr txBox="1"/>
          <p:nvPr/>
        </p:nvSpPr>
        <p:spPr>
          <a:xfrm>
            <a:off x="5396057" y="1892808"/>
            <a:ext cx="147273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karhutla</a:t>
            </a:r>
            <a:endParaRPr lang="en-US" sz="750" dirty="0"/>
          </a:p>
        </p:txBody>
      </p:sp>
      <p:sp>
        <p:nvSpPr>
          <p:cNvPr id="31" name="Shape 23"/>
          <p:cNvSpPr/>
          <p:nvPr/>
        </p:nvSpPr>
        <p:spPr>
          <a:xfrm>
            <a:off x="6996806" y="1591056"/>
            <a:ext cx="2021373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7106534" y="1682496"/>
            <a:ext cx="329184" cy="329184"/>
          </a:xfrm>
          <a:prstGeom prst="ellipse">
            <a:avLst/>
          </a:prstGeom>
          <a:solidFill>
            <a:srgbClr val="F4ECDC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9686" y="1755648"/>
            <a:ext cx="182880" cy="18288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508870" y="1627632"/>
            <a:ext cx="14727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8A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700" dirty="0"/>
          </a:p>
        </p:txBody>
      </p:sp>
      <p:sp>
        <p:nvSpPr>
          <p:cNvPr id="35" name="Text 26"/>
          <p:cNvSpPr txBox="1"/>
          <p:nvPr/>
        </p:nvSpPr>
        <p:spPr>
          <a:xfrm>
            <a:off x="7508870" y="1892808"/>
            <a:ext cx="147273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kekeringan</a:t>
            </a:r>
            <a:endParaRPr lang="en-US" sz="750" dirty="0"/>
          </a:p>
        </p:txBody>
      </p:sp>
      <p:sp>
        <p:nvSpPr>
          <p:cNvPr id="36" name="Shape 27"/>
          <p:cNvSpPr/>
          <p:nvPr/>
        </p:nvSpPr>
        <p:spPr>
          <a:xfrm>
            <a:off x="9511955" y="1591056"/>
            <a:ext cx="2021373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9621683" y="1682496"/>
            <a:ext cx="329184" cy="329184"/>
          </a:xfrm>
          <a:prstGeom prst="ellipse">
            <a:avLst/>
          </a:prstGeom>
          <a:solidFill>
            <a:srgbClr val="F8DDE0"/>
          </a:solidFill>
          <a:ln/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94835" y="1755648"/>
            <a:ext cx="182880" cy="18288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10024019" y="1627632"/>
            <a:ext cx="14727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endParaRPr lang="en-US" sz="1700" dirty="0"/>
          </a:p>
        </p:txBody>
      </p:sp>
      <p:sp>
        <p:nvSpPr>
          <p:cNvPr id="40" name="Text 30"/>
          <p:cNvSpPr txBox="1"/>
          <p:nvPr/>
        </p:nvSpPr>
        <p:spPr>
          <a:xfrm>
            <a:off x="10024019" y="1892808"/>
            <a:ext cx="147273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karhutla dalam penanganan</a:t>
            </a:r>
            <a:endParaRPr lang="en-US" sz="750" dirty="0"/>
          </a:p>
        </p:txBody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" y="2331720"/>
            <a:ext cx="7680960" cy="2880360"/>
          </a:xfrm>
          <a:prstGeom prst="rect">
            <a:avLst/>
          </a:prstGeom>
        </p:spPr>
      </p:pic>
      <p:sp>
        <p:nvSpPr>
          <p:cNvPr id="42" name="Shape 31"/>
          <p:cNvSpPr/>
          <p:nvPr/>
        </p:nvSpPr>
        <p:spPr>
          <a:xfrm>
            <a:off x="1547227" y="3173932"/>
            <a:ext cx="219456" cy="219456"/>
          </a:xfrm>
          <a:prstGeom prst="ellipse">
            <a:avLst/>
          </a:prstGeom>
          <a:solidFill>
            <a:srgbClr val="D9600B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0000"/>
              </a:srgbClr>
            </a:outerShdw>
          </a:effectLst>
        </p:spPr>
      </p:sp>
      <p:sp>
        <p:nvSpPr>
          <p:cNvPr id="43" name="Text 32"/>
          <p:cNvSpPr txBox="1"/>
          <p:nvPr/>
        </p:nvSpPr>
        <p:spPr>
          <a:xfrm>
            <a:off x="1547227" y="31739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850" dirty="0"/>
          </a:p>
        </p:txBody>
      </p:sp>
      <p:sp>
        <p:nvSpPr>
          <p:cNvPr id="44" name="Text 33"/>
          <p:cNvSpPr txBox="1"/>
          <p:nvPr/>
        </p:nvSpPr>
        <p:spPr>
          <a:xfrm>
            <a:off x="1821547" y="31007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Riau</a:t>
            </a:r>
            <a:endParaRPr lang="en-US" sz="750" dirty="0"/>
          </a:p>
        </p:txBody>
      </p:sp>
      <p:sp>
        <p:nvSpPr>
          <p:cNvPr id="45" name="Shape 34"/>
          <p:cNvSpPr/>
          <p:nvPr/>
        </p:nvSpPr>
        <p:spPr>
          <a:xfrm>
            <a:off x="1703491" y="3529549"/>
            <a:ext cx="219456" cy="219456"/>
          </a:xfrm>
          <a:prstGeom prst="ellipse">
            <a:avLst/>
          </a:prstGeom>
          <a:solidFill>
            <a:srgbClr val="D9600B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0000"/>
              </a:srgbClr>
            </a:outerShdw>
          </a:effectLst>
        </p:spPr>
      </p:sp>
      <p:sp>
        <p:nvSpPr>
          <p:cNvPr id="46" name="Text 35"/>
          <p:cNvSpPr txBox="1"/>
          <p:nvPr/>
        </p:nvSpPr>
        <p:spPr>
          <a:xfrm>
            <a:off x="1703491" y="352954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850" dirty="0"/>
          </a:p>
        </p:txBody>
      </p:sp>
      <p:sp>
        <p:nvSpPr>
          <p:cNvPr id="47" name="Text 36"/>
          <p:cNvSpPr txBox="1"/>
          <p:nvPr/>
        </p:nvSpPr>
        <p:spPr>
          <a:xfrm>
            <a:off x="203875" y="3511261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750" dirty="0"/>
          </a:p>
        </p:txBody>
      </p:sp>
      <p:sp>
        <p:nvSpPr>
          <p:cNvPr id="48" name="Shape 37"/>
          <p:cNvSpPr/>
          <p:nvPr/>
        </p:nvSpPr>
        <p:spPr>
          <a:xfrm>
            <a:off x="1944310" y="3780606"/>
            <a:ext cx="219456" cy="219456"/>
          </a:xfrm>
          <a:prstGeom prst="ellipse">
            <a:avLst/>
          </a:prstGeom>
          <a:solidFill>
            <a:srgbClr val="D9600B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0000"/>
              </a:srgbClr>
            </a:outerShdw>
          </a:effectLst>
        </p:spPr>
      </p:sp>
      <p:sp>
        <p:nvSpPr>
          <p:cNvPr id="49" name="Text 38"/>
          <p:cNvSpPr txBox="1"/>
          <p:nvPr/>
        </p:nvSpPr>
        <p:spPr>
          <a:xfrm>
            <a:off x="1944310" y="378060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850" dirty="0"/>
          </a:p>
        </p:txBody>
      </p:sp>
      <p:sp>
        <p:nvSpPr>
          <p:cNvPr id="50" name="Text 39"/>
          <p:cNvSpPr txBox="1"/>
          <p:nvPr/>
        </p:nvSpPr>
        <p:spPr>
          <a:xfrm>
            <a:off x="426406" y="387204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Sum. Selatan</a:t>
            </a:r>
            <a:endParaRPr lang="en-US" sz="750" dirty="0"/>
          </a:p>
        </p:txBody>
      </p:sp>
      <p:sp>
        <p:nvSpPr>
          <p:cNvPr id="51" name="Shape 40"/>
          <p:cNvSpPr/>
          <p:nvPr/>
        </p:nvSpPr>
        <p:spPr>
          <a:xfrm>
            <a:off x="2085032" y="4061660"/>
            <a:ext cx="219456" cy="219456"/>
          </a:xfrm>
          <a:prstGeom prst="ellipse">
            <a:avLst/>
          </a:prstGeom>
          <a:solidFill>
            <a:srgbClr val="D9600B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0000"/>
              </a:srgbClr>
            </a:outerShdw>
          </a:effectLst>
        </p:spPr>
      </p:sp>
      <p:sp>
        <p:nvSpPr>
          <p:cNvPr id="52" name="Text 41"/>
          <p:cNvSpPr txBox="1"/>
          <p:nvPr/>
        </p:nvSpPr>
        <p:spPr>
          <a:xfrm>
            <a:off x="2085032" y="40616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850" dirty="0"/>
          </a:p>
        </p:txBody>
      </p:sp>
      <p:sp>
        <p:nvSpPr>
          <p:cNvPr id="53" name="Shape 42"/>
          <p:cNvSpPr/>
          <p:nvPr/>
        </p:nvSpPr>
        <p:spPr>
          <a:xfrm>
            <a:off x="2255110" y="4025084"/>
            <a:ext cx="137160" cy="137160"/>
          </a:xfrm>
          <a:prstGeom prst="ellipse">
            <a:avLst/>
          </a:prstGeom>
          <a:solidFill>
            <a:srgbClr val="C8102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4" name="Text 43"/>
          <p:cNvSpPr txBox="1"/>
          <p:nvPr/>
        </p:nvSpPr>
        <p:spPr>
          <a:xfrm>
            <a:off x="2255110" y="402508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!</a:t>
            </a:r>
            <a:endParaRPr lang="en-US" sz="700" dirty="0"/>
          </a:p>
        </p:txBody>
      </p:sp>
      <p:sp>
        <p:nvSpPr>
          <p:cNvPr id="55" name="Text 44"/>
          <p:cNvSpPr txBox="1"/>
          <p:nvPr/>
        </p:nvSpPr>
        <p:spPr>
          <a:xfrm>
            <a:off x="567128" y="4207964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Lampung</a:t>
            </a:r>
            <a:endParaRPr lang="en-US" sz="750" dirty="0"/>
          </a:p>
        </p:txBody>
      </p:sp>
      <p:sp>
        <p:nvSpPr>
          <p:cNvPr id="56" name="Shape 45"/>
          <p:cNvSpPr/>
          <p:nvPr/>
        </p:nvSpPr>
        <p:spPr>
          <a:xfrm>
            <a:off x="2897728" y="4404215"/>
            <a:ext cx="310896" cy="310896"/>
          </a:xfrm>
          <a:prstGeom prst="ellipse">
            <a:avLst/>
          </a:prstGeom>
          <a:solidFill>
            <a:srgbClr val="D9600B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0000"/>
              </a:srgbClr>
            </a:outerShdw>
          </a:effectLst>
        </p:spPr>
      </p:sp>
      <p:sp>
        <p:nvSpPr>
          <p:cNvPr id="57" name="Text 46"/>
          <p:cNvSpPr txBox="1"/>
          <p:nvPr/>
        </p:nvSpPr>
        <p:spPr>
          <a:xfrm>
            <a:off x="2897728" y="44042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850" dirty="0"/>
          </a:p>
        </p:txBody>
      </p:sp>
      <p:sp>
        <p:nvSpPr>
          <p:cNvPr id="58" name="Shape 47"/>
          <p:cNvSpPr/>
          <p:nvPr/>
        </p:nvSpPr>
        <p:spPr>
          <a:xfrm>
            <a:off x="3123127" y="4629614"/>
            <a:ext cx="155448" cy="155448"/>
          </a:xfrm>
          <a:prstGeom prst="ellipse">
            <a:avLst/>
          </a:prstGeom>
          <a:solidFill>
            <a:srgbClr val="B08A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48"/>
          <p:cNvSpPr txBox="1"/>
          <p:nvPr/>
        </p:nvSpPr>
        <p:spPr>
          <a:xfrm>
            <a:off x="3123127" y="462961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650" dirty="0"/>
          </a:p>
        </p:txBody>
      </p:sp>
      <p:sp>
        <p:nvSpPr>
          <p:cNvPr id="60" name="Shape 49"/>
          <p:cNvSpPr/>
          <p:nvPr/>
        </p:nvSpPr>
        <p:spPr>
          <a:xfrm>
            <a:off x="3138672" y="4367639"/>
            <a:ext cx="137160" cy="137160"/>
          </a:xfrm>
          <a:prstGeom prst="ellipse">
            <a:avLst/>
          </a:prstGeom>
          <a:solidFill>
            <a:srgbClr val="C8102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1" name="Text 50"/>
          <p:cNvSpPr txBox="1"/>
          <p:nvPr/>
        </p:nvSpPr>
        <p:spPr>
          <a:xfrm>
            <a:off x="3138672" y="4367639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!</a:t>
            </a:r>
            <a:endParaRPr lang="en-US" sz="700" dirty="0"/>
          </a:p>
        </p:txBody>
      </p:sp>
      <p:sp>
        <p:nvSpPr>
          <p:cNvPr id="62" name="Text 51"/>
          <p:cNvSpPr txBox="1"/>
          <p:nvPr/>
        </p:nvSpPr>
        <p:spPr>
          <a:xfrm>
            <a:off x="2321656" y="4769975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Jawa Tengah</a:t>
            </a:r>
            <a:endParaRPr lang="en-US" sz="750" dirty="0"/>
          </a:p>
        </p:txBody>
      </p:sp>
      <p:sp>
        <p:nvSpPr>
          <p:cNvPr id="63" name="Shape 52"/>
          <p:cNvSpPr/>
          <p:nvPr/>
        </p:nvSpPr>
        <p:spPr>
          <a:xfrm>
            <a:off x="3100340" y="3260024"/>
            <a:ext cx="219456" cy="219456"/>
          </a:xfrm>
          <a:prstGeom prst="ellipse">
            <a:avLst/>
          </a:prstGeom>
          <a:solidFill>
            <a:srgbClr val="D9600B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0000"/>
              </a:srgbClr>
            </a:outerShdw>
          </a:effectLst>
        </p:spPr>
      </p:sp>
      <p:sp>
        <p:nvSpPr>
          <p:cNvPr id="64" name="Text 53"/>
          <p:cNvSpPr txBox="1"/>
          <p:nvPr/>
        </p:nvSpPr>
        <p:spPr>
          <a:xfrm>
            <a:off x="3100340" y="32600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850" dirty="0"/>
          </a:p>
        </p:txBody>
      </p:sp>
      <p:sp>
        <p:nvSpPr>
          <p:cNvPr id="65" name="Text 54"/>
          <p:cNvSpPr txBox="1"/>
          <p:nvPr/>
        </p:nvSpPr>
        <p:spPr>
          <a:xfrm>
            <a:off x="1600724" y="329660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Kal. Barat</a:t>
            </a:r>
            <a:endParaRPr lang="en-US" sz="750" dirty="0"/>
          </a:p>
        </p:txBody>
      </p:sp>
      <p:sp>
        <p:nvSpPr>
          <p:cNvPr id="66" name="Shape 55"/>
          <p:cNvSpPr/>
          <p:nvPr/>
        </p:nvSpPr>
        <p:spPr>
          <a:xfrm>
            <a:off x="3475196" y="3514093"/>
            <a:ext cx="219456" cy="219456"/>
          </a:xfrm>
          <a:prstGeom prst="ellipse">
            <a:avLst/>
          </a:prstGeom>
          <a:solidFill>
            <a:srgbClr val="D9600B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0000"/>
              </a:srgbClr>
            </a:outerShdw>
          </a:effectLst>
        </p:spPr>
      </p:sp>
      <p:sp>
        <p:nvSpPr>
          <p:cNvPr id="67" name="Text 56"/>
          <p:cNvSpPr txBox="1"/>
          <p:nvPr/>
        </p:nvSpPr>
        <p:spPr>
          <a:xfrm>
            <a:off x="3475196" y="3514093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850" dirty="0"/>
          </a:p>
        </p:txBody>
      </p:sp>
      <p:sp>
        <p:nvSpPr>
          <p:cNvPr id="68" name="Shape 57"/>
          <p:cNvSpPr/>
          <p:nvPr/>
        </p:nvSpPr>
        <p:spPr>
          <a:xfrm>
            <a:off x="3645274" y="3477517"/>
            <a:ext cx="137160" cy="137160"/>
          </a:xfrm>
          <a:prstGeom prst="ellipse">
            <a:avLst/>
          </a:prstGeom>
          <a:solidFill>
            <a:srgbClr val="C8102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9" name="Text 58"/>
          <p:cNvSpPr txBox="1"/>
          <p:nvPr/>
        </p:nvSpPr>
        <p:spPr>
          <a:xfrm>
            <a:off x="3645274" y="3477517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!</a:t>
            </a:r>
            <a:endParaRPr lang="en-US" sz="700" dirty="0"/>
          </a:p>
        </p:txBody>
      </p:sp>
      <p:sp>
        <p:nvSpPr>
          <p:cNvPr id="70" name="Text 59"/>
          <p:cNvSpPr txBox="1"/>
          <p:nvPr/>
        </p:nvSpPr>
        <p:spPr>
          <a:xfrm>
            <a:off x="3731228" y="3550669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Kal. Tengah</a:t>
            </a:r>
            <a:endParaRPr lang="en-US" sz="750" dirty="0"/>
          </a:p>
        </p:txBody>
      </p:sp>
      <p:sp>
        <p:nvSpPr>
          <p:cNvPr id="71" name="Shape 60"/>
          <p:cNvSpPr/>
          <p:nvPr/>
        </p:nvSpPr>
        <p:spPr>
          <a:xfrm>
            <a:off x="3801253" y="3737798"/>
            <a:ext cx="219456" cy="219456"/>
          </a:xfrm>
          <a:prstGeom prst="ellipse">
            <a:avLst/>
          </a:prstGeom>
          <a:solidFill>
            <a:srgbClr val="D9600B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0000"/>
              </a:srgbClr>
            </a:outerShdw>
          </a:effectLst>
        </p:spPr>
      </p:sp>
      <p:sp>
        <p:nvSpPr>
          <p:cNvPr id="72" name="Text 61"/>
          <p:cNvSpPr txBox="1"/>
          <p:nvPr/>
        </p:nvSpPr>
        <p:spPr>
          <a:xfrm>
            <a:off x="3801253" y="373779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850" dirty="0"/>
          </a:p>
        </p:txBody>
      </p:sp>
      <p:sp>
        <p:nvSpPr>
          <p:cNvPr id="73" name="Text 62"/>
          <p:cNvSpPr txBox="1"/>
          <p:nvPr/>
        </p:nvSpPr>
        <p:spPr>
          <a:xfrm>
            <a:off x="2283349" y="3865814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Kal. Selatan</a:t>
            </a:r>
            <a:endParaRPr lang="en-US" sz="750" dirty="0"/>
          </a:p>
        </p:txBody>
      </p:sp>
      <p:sp>
        <p:nvSpPr>
          <p:cNvPr id="74" name="Shape 63"/>
          <p:cNvSpPr/>
          <p:nvPr/>
        </p:nvSpPr>
        <p:spPr>
          <a:xfrm>
            <a:off x="3974820" y="3172145"/>
            <a:ext cx="219456" cy="219456"/>
          </a:xfrm>
          <a:prstGeom prst="ellipse">
            <a:avLst/>
          </a:prstGeom>
          <a:solidFill>
            <a:srgbClr val="D9600B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0000"/>
              </a:srgbClr>
            </a:outerShdw>
          </a:effectLst>
        </p:spPr>
      </p:sp>
      <p:sp>
        <p:nvSpPr>
          <p:cNvPr id="75" name="Text 64"/>
          <p:cNvSpPr txBox="1"/>
          <p:nvPr/>
        </p:nvSpPr>
        <p:spPr>
          <a:xfrm>
            <a:off x="3974820" y="3172145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850" dirty="0"/>
          </a:p>
        </p:txBody>
      </p:sp>
      <p:sp>
        <p:nvSpPr>
          <p:cNvPr id="76" name="Text 65"/>
          <p:cNvSpPr txBox="1"/>
          <p:nvPr/>
        </p:nvSpPr>
        <p:spPr>
          <a:xfrm>
            <a:off x="4230852" y="3190433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Kal. Timur</a:t>
            </a:r>
            <a:endParaRPr lang="en-US" sz="750" dirty="0"/>
          </a:p>
        </p:txBody>
      </p:sp>
      <p:sp>
        <p:nvSpPr>
          <p:cNvPr id="77" name="Shape 66"/>
          <p:cNvSpPr/>
          <p:nvPr/>
        </p:nvSpPr>
        <p:spPr>
          <a:xfrm>
            <a:off x="4589767" y="3852646"/>
            <a:ext cx="219456" cy="219456"/>
          </a:xfrm>
          <a:prstGeom prst="ellipse">
            <a:avLst/>
          </a:prstGeom>
          <a:solidFill>
            <a:srgbClr val="D9600B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0000"/>
              </a:srgbClr>
            </a:outerShdw>
          </a:effectLst>
        </p:spPr>
      </p:sp>
      <p:sp>
        <p:nvSpPr>
          <p:cNvPr id="78" name="Text 67"/>
          <p:cNvSpPr txBox="1"/>
          <p:nvPr/>
        </p:nvSpPr>
        <p:spPr>
          <a:xfrm>
            <a:off x="4589767" y="385264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850" dirty="0"/>
          </a:p>
        </p:txBody>
      </p:sp>
      <p:sp>
        <p:nvSpPr>
          <p:cNvPr id="79" name="Text 68"/>
          <p:cNvSpPr txBox="1"/>
          <p:nvPr/>
        </p:nvSpPr>
        <p:spPr>
          <a:xfrm>
            <a:off x="3071863" y="3962374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Sul. Selatan</a:t>
            </a:r>
            <a:endParaRPr lang="en-US" sz="750" dirty="0"/>
          </a:p>
        </p:txBody>
      </p:sp>
      <p:sp>
        <p:nvSpPr>
          <p:cNvPr id="80" name="Shape 69"/>
          <p:cNvSpPr/>
          <p:nvPr/>
        </p:nvSpPr>
        <p:spPr>
          <a:xfrm>
            <a:off x="6603641" y="3442686"/>
            <a:ext cx="219456" cy="219456"/>
          </a:xfrm>
          <a:prstGeom prst="ellipse">
            <a:avLst/>
          </a:prstGeom>
          <a:solidFill>
            <a:srgbClr val="D9600B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0000"/>
              </a:srgbClr>
            </a:outerShdw>
          </a:effectLst>
        </p:spPr>
      </p:sp>
      <p:sp>
        <p:nvSpPr>
          <p:cNvPr id="81" name="Text 70"/>
          <p:cNvSpPr txBox="1"/>
          <p:nvPr/>
        </p:nvSpPr>
        <p:spPr>
          <a:xfrm>
            <a:off x="6603641" y="344268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850" dirty="0"/>
          </a:p>
        </p:txBody>
      </p:sp>
      <p:sp>
        <p:nvSpPr>
          <p:cNvPr id="82" name="Text 71"/>
          <p:cNvSpPr txBox="1"/>
          <p:nvPr/>
        </p:nvSpPr>
        <p:spPr>
          <a:xfrm>
            <a:off x="6877961" y="347926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Papua Barat Daya</a:t>
            </a:r>
            <a:endParaRPr lang="en-US" sz="750" dirty="0"/>
          </a:p>
        </p:txBody>
      </p:sp>
      <p:sp>
        <p:nvSpPr>
          <p:cNvPr id="83" name="Shape 72"/>
          <p:cNvSpPr/>
          <p:nvPr/>
        </p:nvSpPr>
        <p:spPr>
          <a:xfrm>
            <a:off x="2852014" y="5216652"/>
            <a:ext cx="128016" cy="12801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84" name="Text 73"/>
          <p:cNvSpPr txBox="1"/>
          <p:nvPr/>
        </p:nvSpPr>
        <p:spPr>
          <a:xfrm>
            <a:off x="3044038" y="5184648"/>
            <a:ext cx="66934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karhutla</a:t>
            </a:r>
            <a:endParaRPr lang="en-US" sz="750" dirty="0"/>
          </a:p>
        </p:txBody>
      </p:sp>
      <p:sp>
        <p:nvSpPr>
          <p:cNvPr id="85" name="Shape 74"/>
          <p:cNvSpPr/>
          <p:nvPr/>
        </p:nvSpPr>
        <p:spPr>
          <a:xfrm>
            <a:off x="3786530" y="5207508"/>
            <a:ext cx="146304" cy="146304"/>
          </a:xfrm>
          <a:prstGeom prst="ellipse">
            <a:avLst/>
          </a:prstGeom>
          <a:solidFill>
            <a:srgbClr val="B08A3E"/>
          </a:solidFill>
          <a:ln/>
        </p:spPr>
      </p:sp>
      <p:sp>
        <p:nvSpPr>
          <p:cNvPr id="86" name="Text 75"/>
          <p:cNvSpPr txBox="1"/>
          <p:nvPr/>
        </p:nvSpPr>
        <p:spPr>
          <a:xfrm>
            <a:off x="3987698" y="5184648"/>
            <a:ext cx="7680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kekeringan</a:t>
            </a:r>
            <a:endParaRPr lang="en-US" sz="750" dirty="0"/>
          </a:p>
        </p:txBody>
      </p:sp>
      <p:sp>
        <p:nvSpPr>
          <p:cNvPr id="87" name="Shape 76"/>
          <p:cNvSpPr/>
          <p:nvPr/>
        </p:nvSpPr>
        <p:spPr>
          <a:xfrm>
            <a:off x="4828946" y="5207508"/>
            <a:ext cx="146304" cy="14630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88" name="Text 77"/>
          <p:cNvSpPr txBox="1"/>
          <p:nvPr/>
        </p:nvSpPr>
        <p:spPr>
          <a:xfrm>
            <a:off x="4828946" y="520750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!</a:t>
            </a:r>
            <a:endParaRPr lang="en-US" sz="750" dirty="0"/>
          </a:p>
        </p:txBody>
      </p:sp>
      <p:sp>
        <p:nvSpPr>
          <p:cNvPr id="89" name="Text 78"/>
          <p:cNvSpPr txBox="1"/>
          <p:nvPr/>
        </p:nvSpPr>
        <p:spPr>
          <a:xfrm>
            <a:off x="5030114" y="5184648"/>
            <a:ext cx="10149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perlu perhatian</a:t>
            </a:r>
            <a:endParaRPr lang="en-US" sz="750" dirty="0"/>
          </a:p>
        </p:txBody>
      </p:sp>
      <p:sp>
        <p:nvSpPr>
          <p:cNvPr id="90" name="Shape 79"/>
          <p:cNvSpPr/>
          <p:nvPr/>
        </p:nvSpPr>
        <p:spPr>
          <a:xfrm>
            <a:off x="8503920" y="2331720"/>
            <a:ext cx="3139135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91" name="Text 80"/>
          <p:cNvSpPr txBox="1"/>
          <p:nvPr/>
        </p:nvSpPr>
        <p:spPr>
          <a:xfrm>
            <a:off x="8668512" y="2441448"/>
            <a:ext cx="28648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STATUS PENANGANAN</a:t>
            </a:r>
            <a:endParaRPr lang="en-US" sz="750" dirty="0"/>
          </a:p>
        </p:txBody>
      </p:sp>
      <p:sp>
        <p:nvSpPr>
          <p:cNvPr id="92" name="Shape 81"/>
          <p:cNvSpPr/>
          <p:nvPr/>
        </p:nvSpPr>
        <p:spPr>
          <a:xfrm>
            <a:off x="8668512" y="2697480"/>
            <a:ext cx="749320" cy="201168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93" name="Text 82"/>
          <p:cNvSpPr txBox="1"/>
          <p:nvPr/>
        </p:nvSpPr>
        <p:spPr>
          <a:xfrm>
            <a:off x="8668512" y="2697480"/>
            <a:ext cx="749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27%</a:t>
            </a:r>
            <a:endParaRPr lang="en-US" sz="750" dirty="0"/>
          </a:p>
        </p:txBody>
      </p:sp>
      <p:sp>
        <p:nvSpPr>
          <p:cNvPr id="94" name="Shape 83"/>
          <p:cNvSpPr/>
          <p:nvPr/>
        </p:nvSpPr>
        <p:spPr>
          <a:xfrm>
            <a:off x="9417832" y="2697480"/>
            <a:ext cx="2060631" cy="20116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95" name="Text 84"/>
          <p:cNvSpPr txBox="1"/>
          <p:nvPr/>
        </p:nvSpPr>
        <p:spPr>
          <a:xfrm>
            <a:off x="9417832" y="2697480"/>
            <a:ext cx="206063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73%</a:t>
            </a:r>
            <a:endParaRPr lang="en-US" sz="750" dirty="0"/>
          </a:p>
        </p:txBody>
      </p:sp>
      <p:sp>
        <p:nvSpPr>
          <p:cNvPr id="96" name="Shape 85"/>
          <p:cNvSpPr/>
          <p:nvPr/>
        </p:nvSpPr>
        <p:spPr>
          <a:xfrm>
            <a:off x="8668512" y="2971800"/>
            <a:ext cx="1368400" cy="512064"/>
          </a:xfrm>
          <a:prstGeom prst="roundRect">
            <a:avLst>
              <a:gd name="adj" fmla="val 10714"/>
            </a:avLst>
          </a:prstGeom>
          <a:solidFill>
            <a:srgbClr val="E6EAF0"/>
          </a:solidFill>
          <a:ln/>
        </p:spPr>
      </p:sp>
      <p:sp>
        <p:nvSpPr>
          <p:cNvPr id="97" name="Shape 86"/>
          <p:cNvSpPr/>
          <p:nvPr/>
        </p:nvSpPr>
        <p:spPr>
          <a:xfrm>
            <a:off x="8778240" y="3063240"/>
            <a:ext cx="329184" cy="329184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9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60536" y="3145536"/>
            <a:ext cx="164592" cy="164592"/>
          </a:xfrm>
          <a:prstGeom prst="rect">
            <a:avLst/>
          </a:prstGeom>
        </p:spPr>
      </p:pic>
      <p:sp>
        <p:nvSpPr>
          <p:cNvPr id="99" name="Text 87"/>
          <p:cNvSpPr txBox="1"/>
          <p:nvPr/>
        </p:nvSpPr>
        <p:spPr>
          <a:xfrm>
            <a:off x="9180576" y="2990088"/>
            <a:ext cx="81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pPr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/ 15</a:t>
            </a:r>
            <a:endParaRPr lang="en-US" sz="1200" dirty="0"/>
          </a:p>
        </p:txBody>
      </p:sp>
      <p:sp>
        <p:nvSpPr>
          <p:cNvPr id="100" name="Text 88"/>
          <p:cNvSpPr txBox="1"/>
          <p:nvPr/>
        </p:nvSpPr>
        <p:spPr>
          <a:xfrm>
            <a:off x="9180576" y="3273552"/>
            <a:ext cx="81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selesai</a:t>
            </a:r>
            <a:endParaRPr lang="en-US" sz="680" dirty="0"/>
          </a:p>
        </p:txBody>
      </p:sp>
      <p:sp>
        <p:nvSpPr>
          <p:cNvPr id="101" name="Shape 89"/>
          <p:cNvSpPr/>
          <p:nvPr/>
        </p:nvSpPr>
        <p:spPr>
          <a:xfrm>
            <a:off x="10110064" y="2971800"/>
            <a:ext cx="1368400" cy="512064"/>
          </a:xfrm>
          <a:prstGeom prst="roundRect">
            <a:avLst>
              <a:gd name="adj" fmla="val 10714"/>
            </a:avLst>
          </a:prstGeom>
          <a:solidFill>
            <a:srgbClr val="FBE7D6"/>
          </a:solidFill>
          <a:ln/>
        </p:spPr>
      </p:sp>
      <p:sp>
        <p:nvSpPr>
          <p:cNvPr id="102" name="Shape 90"/>
          <p:cNvSpPr/>
          <p:nvPr/>
        </p:nvSpPr>
        <p:spPr>
          <a:xfrm>
            <a:off x="10219792" y="3063240"/>
            <a:ext cx="329184" cy="329184"/>
          </a:xfrm>
          <a:prstGeom prst="ellipse">
            <a:avLst/>
          </a:prstGeom>
          <a:solidFill>
            <a:srgbClr val="D9600B"/>
          </a:solidFill>
          <a:ln/>
        </p:spPr>
      </p:sp>
      <p:pic>
        <p:nvPicPr>
          <p:cNvPr id="10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02088" y="3145536"/>
            <a:ext cx="164592" cy="164592"/>
          </a:xfrm>
          <a:prstGeom prst="rect">
            <a:avLst/>
          </a:prstGeom>
        </p:spPr>
      </p:pic>
      <p:sp>
        <p:nvSpPr>
          <p:cNvPr id="104" name="Text 91"/>
          <p:cNvSpPr txBox="1"/>
          <p:nvPr/>
        </p:nvSpPr>
        <p:spPr>
          <a:xfrm>
            <a:off x="10622128" y="2990088"/>
            <a:ext cx="81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</a:t>
            </a:r>
            <a:pPr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/ 15</a:t>
            </a:r>
            <a:endParaRPr lang="en-US" sz="1200" dirty="0"/>
          </a:p>
        </p:txBody>
      </p:sp>
      <p:sp>
        <p:nvSpPr>
          <p:cNvPr id="105" name="Text 92"/>
          <p:cNvSpPr txBox="1"/>
          <p:nvPr/>
        </p:nvSpPr>
        <p:spPr>
          <a:xfrm>
            <a:off x="10622128" y="3273552"/>
            <a:ext cx="81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berjalan</a:t>
            </a:r>
            <a:endParaRPr lang="en-US" sz="680" dirty="0"/>
          </a:p>
        </p:txBody>
      </p:sp>
      <p:sp>
        <p:nvSpPr>
          <p:cNvPr id="106" name="Shape 93"/>
          <p:cNvSpPr/>
          <p:nvPr/>
        </p:nvSpPr>
        <p:spPr>
          <a:xfrm>
            <a:off x="8668512" y="3557016"/>
            <a:ext cx="2809951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07" name="Text 94"/>
          <p:cNvSpPr txBox="1"/>
          <p:nvPr/>
        </p:nvSpPr>
        <p:spPr>
          <a:xfrm>
            <a:off x="8668512" y="3621024"/>
            <a:ext cx="28648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C8102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KARHUTLA DALAM PENANGANAN (9)</a:t>
            </a:r>
            <a:endParaRPr lang="en-US" sz="750" dirty="0"/>
          </a:p>
        </p:txBody>
      </p:sp>
      <p:sp>
        <p:nvSpPr>
          <p:cNvPr id="108" name="Shape 95"/>
          <p:cNvSpPr/>
          <p:nvPr/>
        </p:nvSpPr>
        <p:spPr>
          <a:xfrm>
            <a:off x="8668512" y="3840480"/>
            <a:ext cx="146304" cy="146304"/>
          </a:xfrm>
          <a:prstGeom prst="ellipse">
            <a:avLst/>
          </a:prstGeom>
          <a:solidFill>
            <a:srgbClr val="D9600B"/>
          </a:solidFill>
          <a:ln/>
        </p:spPr>
      </p:sp>
      <p:pic>
        <p:nvPicPr>
          <p:cNvPr id="10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95944" y="3867912"/>
            <a:ext cx="91440" cy="91440"/>
          </a:xfrm>
          <a:prstGeom prst="rect">
            <a:avLst/>
          </a:prstGeom>
        </p:spPr>
      </p:pic>
      <p:sp>
        <p:nvSpPr>
          <p:cNvPr id="110" name="Text 96"/>
          <p:cNvSpPr txBox="1"/>
          <p:nvPr/>
        </p:nvSpPr>
        <p:spPr>
          <a:xfrm>
            <a:off x="8869680" y="3831336"/>
            <a:ext cx="17583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720" dirty="0"/>
          </a:p>
        </p:txBody>
      </p:sp>
      <p:sp>
        <p:nvSpPr>
          <p:cNvPr id="111" name="Shape 97"/>
          <p:cNvSpPr/>
          <p:nvPr/>
        </p:nvSpPr>
        <p:spPr>
          <a:xfrm>
            <a:off x="10545775" y="3831336"/>
            <a:ext cx="932688" cy="16459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pic>
        <p:nvPicPr>
          <p:cNvPr id="11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09783" y="3858768"/>
            <a:ext cx="109728" cy="109728"/>
          </a:xfrm>
          <a:prstGeom prst="rect">
            <a:avLst/>
          </a:prstGeom>
        </p:spPr>
      </p:pic>
      <p:sp>
        <p:nvSpPr>
          <p:cNvPr id="113" name="Text 98"/>
          <p:cNvSpPr txBox="1"/>
          <p:nvPr/>
        </p:nvSpPr>
        <p:spPr>
          <a:xfrm>
            <a:off x="10746943" y="383133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sisa ± 7.938 ha</a:t>
            </a:r>
            <a:endParaRPr lang="en-US" sz="640" dirty="0"/>
          </a:p>
        </p:txBody>
      </p:sp>
      <p:sp>
        <p:nvSpPr>
          <p:cNvPr id="114" name="Shape 99"/>
          <p:cNvSpPr/>
          <p:nvPr/>
        </p:nvSpPr>
        <p:spPr>
          <a:xfrm>
            <a:off x="8668512" y="3995928"/>
            <a:ext cx="2809951" cy="0"/>
          </a:xfrm>
          <a:prstGeom prst="line">
            <a:avLst/>
          </a:prstGeom>
          <a:noFill/>
          <a:ln w="6350">
            <a:solidFill>
              <a:srgbClr val="F1F2F4"/>
            </a:solidFill>
            <a:prstDash val="solid"/>
          </a:ln>
        </p:spPr>
      </p:sp>
      <p:sp>
        <p:nvSpPr>
          <p:cNvPr id="115" name="Shape 100"/>
          <p:cNvSpPr/>
          <p:nvPr/>
        </p:nvSpPr>
        <p:spPr>
          <a:xfrm>
            <a:off x="8668512" y="4005072"/>
            <a:ext cx="146304" cy="146304"/>
          </a:xfrm>
          <a:prstGeom prst="ellipse">
            <a:avLst/>
          </a:prstGeom>
          <a:solidFill>
            <a:srgbClr val="D9600B"/>
          </a:solidFill>
          <a:ln/>
        </p:spPr>
      </p:sp>
      <p:pic>
        <p:nvPicPr>
          <p:cNvPr id="11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95944" y="4032504"/>
            <a:ext cx="91440" cy="91440"/>
          </a:xfrm>
          <a:prstGeom prst="rect">
            <a:avLst/>
          </a:prstGeom>
        </p:spPr>
      </p:pic>
      <p:sp>
        <p:nvSpPr>
          <p:cNvPr id="117" name="Text 101"/>
          <p:cNvSpPr txBox="1"/>
          <p:nvPr/>
        </p:nvSpPr>
        <p:spPr>
          <a:xfrm>
            <a:off x="8869680" y="3995928"/>
            <a:ext cx="17583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720" dirty="0"/>
          </a:p>
        </p:txBody>
      </p:sp>
      <p:sp>
        <p:nvSpPr>
          <p:cNvPr id="118" name="Shape 102"/>
          <p:cNvSpPr/>
          <p:nvPr/>
        </p:nvSpPr>
        <p:spPr>
          <a:xfrm>
            <a:off x="10545775" y="3995928"/>
            <a:ext cx="932688" cy="16459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pic>
        <p:nvPicPr>
          <p:cNvPr id="11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09783" y="4023360"/>
            <a:ext cx="109728" cy="109728"/>
          </a:xfrm>
          <a:prstGeom prst="rect">
            <a:avLst/>
          </a:prstGeom>
        </p:spPr>
      </p:pic>
      <p:sp>
        <p:nvSpPr>
          <p:cNvPr id="120" name="Text 103"/>
          <p:cNvSpPr txBox="1"/>
          <p:nvPr/>
        </p:nvSpPr>
        <p:spPr>
          <a:xfrm>
            <a:off x="10746943" y="399592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sisa ± 5.194 ha</a:t>
            </a:r>
            <a:endParaRPr lang="en-US" sz="640" dirty="0"/>
          </a:p>
        </p:txBody>
      </p:sp>
      <p:sp>
        <p:nvSpPr>
          <p:cNvPr id="121" name="Shape 104"/>
          <p:cNvSpPr/>
          <p:nvPr/>
        </p:nvSpPr>
        <p:spPr>
          <a:xfrm>
            <a:off x="8668512" y="4160520"/>
            <a:ext cx="2809951" cy="0"/>
          </a:xfrm>
          <a:prstGeom prst="line">
            <a:avLst/>
          </a:prstGeom>
          <a:noFill/>
          <a:ln w="6350">
            <a:solidFill>
              <a:srgbClr val="F1F2F4"/>
            </a:solidFill>
            <a:prstDash val="solid"/>
          </a:ln>
        </p:spPr>
      </p:sp>
      <p:sp>
        <p:nvSpPr>
          <p:cNvPr id="122" name="Shape 105"/>
          <p:cNvSpPr/>
          <p:nvPr/>
        </p:nvSpPr>
        <p:spPr>
          <a:xfrm>
            <a:off x="8668512" y="4169664"/>
            <a:ext cx="146304" cy="146304"/>
          </a:xfrm>
          <a:prstGeom prst="ellipse">
            <a:avLst/>
          </a:prstGeom>
          <a:solidFill>
            <a:srgbClr val="D9600B"/>
          </a:solidFill>
          <a:ln/>
        </p:spPr>
      </p:sp>
      <p:pic>
        <p:nvPicPr>
          <p:cNvPr id="12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95944" y="4197096"/>
            <a:ext cx="91440" cy="91440"/>
          </a:xfrm>
          <a:prstGeom prst="rect">
            <a:avLst/>
          </a:prstGeom>
        </p:spPr>
      </p:pic>
      <p:sp>
        <p:nvSpPr>
          <p:cNvPr id="124" name="Text 106"/>
          <p:cNvSpPr txBox="1"/>
          <p:nvPr/>
        </p:nvSpPr>
        <p:spPr>
          <a:xfrm>
            <a:off x="8869680" y="4160520"/>
            <a:ext cx="17583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720" dirty="0"/>
          </a:p>
        </p:txBody>
      </p:sp>
      <p:sp>
        <p:nvSpPr>
          <p:cNvPr id="125" name="Shape 107"/>
          <p:cNvSpPr/>
          <p:nvPr/>
        </p:nvSpPr>
        <p:spPr>
          <a:xfrm>
            <a:off x="10545775" y="4160520"/>
            <a:ext cx="932688" cy="16459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pic>
        <p:nvPicPr>
          <p:cNvPr id="12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09783" y="4187952"/>
            <a:ext cx="109728" cy="109728"/>
          </a:xfrm>
          <a:prstGeom prst="rect">
            <a:avLst/>
          </a:prstGeom>
        </p:spPr>
      </p:pic>
      <p:sp>
        <p:nvSpPr>
          <p:cNvPr id="127" name="Text 108"/>
          <p:cNvSpPr txBox="1"/>
          <p:nvPr/>
        </p:nvSpPr>
        <p:spPr>
          <a:xfrm>
            <a:off x="10746943" y="416052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sisa ± 2.025 ha</a:t>
            </a:r>
            <a:endParaRPr lang="en-US" sz="640" dirty="0"/>
          </a:p>
        </p:txBody>
      </p:sp>
      <p:sp>
        <p:nvSpPr>
          <p:cNvPr id="128" name="Shape 109"/>
          <p:cNvSpPr/>
          <p:nvPr/>
        </p:nvSpPr>
        <p:spPr>
          <a:xfrm>
            <a:off x="8668512" y="4325112"/>
            <a:ext cx="2809951" cy="0"/>
          </a:xfrm>
          <a:prstGeom prst="line">
            <a:avLst/>
          </a:prstGeom>
          <a:noFill/>
          <a:ln w="6350">
            <a:solidFill>
              <a:srgbClr val="F1F2F4"/>
            </a:solidFill>
            <a:prstDash val="solid"/>
          </a:ln>
        </p:spPr>
      </p:sp>
      <p:sp>
        <p:nvSpPr>
          <p:cNvPr id="129" name="Shape 110"/>
          <p:cNvSpPr/>
          <p:nvPr/>
        </p:nvSpPr>
        <p:spPr>
          <a:xfrm>
            <a:off x="8668512" y="4334256"/>
            <a:ext cx="146304" cy="146304"/>
          </a:xfrm>
          <a:prstGeom prst="ellipse">
            <a:avLst/>
          </a:prstGeom>
          <a:solidFill>
            <a:srgbClr val="D9600B"/>
          </a:solidFill>
          <a:ln/>
        </p:spPr>
      </p:sp>
      <p:pic>
        <p:nvPicPr>
          <p:cNvPr id="13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95944" y="4361688"/>
            <a:ext cx="91440" cy="91440"/>
          </a:xfrm>
          <a:prstGeom prst="rect">
            <a:avLst/>
          </a:prstGeom>
        </p:spPr>
      </p:pic>
      <p:sp>
        <p:nvSpPr>
          <p:cNvPr id="131" name="Text 111"/>
          <p:cNvSpPr txBox="1"/>
          <p:nvPr/>
        </p:nvSpPr>
        <p:spPr>
          <a:xfrm>
            <a:off x="8869680" y="4325112"/>
            <a:ext cx="17583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720" dirty="0"/>
          </a:p>
        </p:txBody>
      </p:sp>
      <p:sp>
        <p:nvSpPr>
          <p:cNvPr id="132" name="Shape 112"/>
          <p:cNvSpPr/>
          <p:nvPr/>
        </p:nvSpPr>
        <p:spPr>
          <a:xfrm>
            <a:off x="10545775" y="4325112"/>
            <a:ext cx="932688" cy="16459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pic>
        <p:nvPicPr>
          <p:cNvPr id="133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609783" y="4352544"/>
            <a:ext cx="109728" cy="109728"/>
          </a:xfrm>
          <a:prstGeom prst="rect">
            <a:avLst/>
          </a:prstGeom>
        </p:spPr>
      </p:pic>
      <p:sp>
        <p:nvSpPr>
          <p:cNvPr id="134" name="Text 113"/>
          <p:cNvSpPr txBox="1"/>
          <p:nvPr/>
        </p:nvSpPr>
        <p:spPr>
          <a:xfrm>
            <a:off x="10746943" y="4325112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sisa ± 1.974 ha</a:t>
            </a:r>
            <a:endParaRPr lang="en-US" sz="640" dirty="0"/>
          </a:p>
        </p:txBody>
      </p:sp>
      <p:sp>
        <p:nvSpPr>
          <p:cNvPr id="135" name="Shape 114"/>
          <p:cNvSpPr/>
          <p:nvPr/>
        </p:nvSpPr>
        <p:spPr>
          <a:xfrm>
            <a:off x="8668512" y="4489704"/>
            <a:ext cx="2809951" cy="0"/>
          </a:xfrm>
          <a:prstGeom prst="line">
            <a:avLst/>
          </a:prstGeom>
          <a:noFill/>
          <a:ln w="6350">
            <a:solidFill>
              <a:srgbClr val="F1F2F4"/>
            </a:solidFill>
            <a:prstDash val="solid"/>
          </a:ln>
        </p:spPr>
      </p:sp>
      <p:sp>
        <p:nvSpPr>
          <p:cNvPr id="136" name="Shape 115"/>
          <p:cNvSpPr/>
          <p:nvPr/>
        </p:nvSpPr>
        <p:spPr>
          <a:xfrm>
            <a:off x="8668512" y="4498848"/>
            <a:ext cx="146304" cy="146304"/>
          </a:xfrm>
          <a:prstGeom prst="ellipse">
            <a:avLst/>
          </a:prstGeom>
          <a:solidFill>
            <a:srgbClr val="D9600B"/>
          </a:solidFill>
          <a:ln/>
        </p:spPr>
      </p:sp>
      <p:pic>
        <p:nvPicPr>
          <p:cNvPr id="137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695944" y="4526280"/>
            <a:ext cx="91440" cy="91440"/>
          </a:xfrm>
          <a:prstGeom prst="rect">
            <a:avLst/>
          </a:prstGeom>
        </p:spPr>
      </p:pic>
      <p:sp>
        <p:nvSpPr>
          <p:cNvPr id="138" name="Text 116"/>
          <p:cNvSpPr txBox="1"/>
          <p:nvPr/>
        </p:nvSpPr>
        <p:spPr>
          <a:xfrm>
            <a:off x="8869680" y="4489704"/>
            <a:ext cx="17583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Barat</a:t>
            </a:r>
            <a:endParaRPr lang="en-US" sz="720" dirty="0"/>
          </a:p>
        </p:txBody>
      </p:sp>
      <p:sp>
        <p:nvSpPr>
          <p:cNvPr id="139" name="Shape 117"/>
          <p:cNvSpPr/>
          <p:nvPr/>
        </p:nvSpPr>
        <p:spPr>
          <a:xfrm>
            <a:off x="10545775" y="4489704"/>
            <a:ext cx="932688" cy="16459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pic>
        <p:nvPicPr>
          <p:cNvPr id="140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609783" y="4517136"/>
            <a:ext cx="109728" cy="109728"/>
          </a:xfrm>
          <a:prstGeom prst="rect">
            <a:avLst/>
          </a:prstGeom>
        </p:spPr>
      </p:pic>
      <p:sp>
        <p:nvSpPr>
          <p:cNvPr id="141" name="Text 118"/>
          <p:cNvSpPr txBox="1"/>
          <p:nvPr/>
        </p:nvSpPr>
        <p:spPr>
          <a:xfrm>
            <a:off x="10746943" y="448970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sisa ± 1.290 ha</a:t>
            </a:r>
            <a:endParaRPr lang="en-US" sz="640" dirty="0"/>
          </a:p>
        </p:txBody>
      </p:sp>
      <p:sp>
        <p:nvSpPr>
          <p:cNvPr id="142" name="Shape 119"/>
          <p:cNvSpPr/>
          <p:nvPr/>
        </p:nvSpPr>
        <p:spPr>
          <a:xfrm>
            <a:off x="8668512" y="4654296"/>
            <a:ext cx="2809951" cy="0"/>
          </a:xfrm>
          <a:prstGeom prst="line">
            <a:avLst/>
          </a:prstGeom>
          <a:noFill/>
          <a:ln w="6350">
            <a:solidFill>
              <a:srgbClr val="F1F2F4"/>
            </a:solidFill>
            <a:prstDash val="solid"/>
          </a:ln>
        </p:spPr>
      </p:sp>
      <p:sp>
        <p:nvSpPr>
          <p:cNvPr id="143" name="Shape 120"/>
          <p:cNvSpPr/>
          <p:nvPr/>
        </p:nvSpPr>
        <p:spPr>
          <a:xfrm>
            <a:off x="8668512" y="4663440"/>
            <a:ext cx="146304" cy="146304"/>
          </a:xfrm>
          <a:prstGeom prst="ellipse">
            <a:avLst/>
          </a:prstGeom>
          <a:solidFill>
            <a:srgbClr val="D9600B"/>
          </a:solidFill>
          <a:ln/>
        </p:spPr>
      </p:sp>
      <p:pic>
        <p:nvPicPr>
          <p:cNvPr id="144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695944" y="4690872"/>
            <a:ext cx="91440" cy="91440"/>
          </a:xfrm>
          <a:prstGeom prst="rect">
            <a:avLst/>
          </a:prstGeom>
        </p:spPr>
      </p:pic>
      <p:sp>
        <p:nvSpPr>
          <p:cNvPr id="145" name="Text 121"/>
          <p:cNvSpPr txBox="1"/>
          <p:nvPr/>
        </p:nvSpPr>
        <p:spPr>
          <a:xfrm>
            <a:off x="8869680" y="4654296"/>
            <a:ext cx="17583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Lampung</a:t>
            </a:r>
            <a:pPr indent="0" marL="0">
              <a:buNone/>
            </a:pPr>
            <a:r>
              <a:rPr lang="en-US" sz="72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TN Way Kambas</a:t>
            </a:r>
            <a:endParaRPr lang="en-US" sz="720" dirty="0"/>
          </a:p>
        </p:txBody>
      </p:sp>
      <p:sp>
        <p:nvSpPr>
          <p:cNvPr id="146" name="Shape 122"/>
          <p:cNvSpPr/>
          <p:nvPr/>
        </p:nvSpPr>
        <p:spPr>
          <a:xfrm>
            <a:off x="10545775" y="4654296"/>
            <a:ext cx="932688" cy="16459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pic>
        <p:nvPicPr>
          <p:cNvPr id="147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609783" y="4681728"/>
            <a:ext cx="109728" cy="109728"/>
          </a:xfrm>
          <a:prstGeom prst="rect">
            <a:avLst/>
          </a:prstGeom>
        </p:spPr>
      </p:pic>
      <p:sp>
        <p:nvSpPr>
          <p:cNvPr id="148" name="Text 123"/>
          <p:cNvSpPr txBox="1"/>
          <p:nvPr/>
        </p:nvSpPr>
        <p:spPr>
          <a:xfrm>
            <a:off x="10746943" y="465429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sisa ± 108 ha</a:t>
            </a:r>
            <a:endParaRPr lang="en-US" sz="640" dirty="0"/>
          </a:p>
        </p:txBody>
      </p:sp>
      <p:sp>
        <p:nvSpPr>
          <p:cNvPr id="149" name="Shape 124"/>
          <p:cNvSpPr/>
          <p:nvPr/>
        </p:nvSpPr>
        <p:spPr>
          <a:xfrm>
            <a:off x="8668512" y="4818888"/>
            <a:ext cx="2809951" cy="0"/>
          </a:xfrm>
          <a:prstGeom prst="line">
            <a:avLst/>
          </a:prstGeom>
          <a:noFill/>
          <a:ln w="6350">
            <a:solidFill>
              <a:srgbClr val="F1F2F4"/>
            </a:solidFill>
            <a:prstDash val="solid"/>
          </a:ln>
        </p:spPr>
      </p:sp>
      <p:sp>
        <p:nvSpPr>
          <p:cNvPr id="150" name="Shape 125"/>
          <p:cNvSpPr/>
          <p:nvPr/>
        </p:nvSpPr>
        <p:spPr>
          <a:xfrm>
            <a:off x="8668512" y="4828032"/>
            <a:ext cx="146304" cy="146304"/>
          </a:xfrm>
          <a:prstGeom prst="ellipse">
            <a:avLst/>
          </a:prstGeom>
          <a:solidFill>
            <a:srgbClr val="D9600B"/>
          </a:solidFill>
          <a:ln/>
        </p:spPr>
      </p:sp>
      <p:pic>
        <p:nvPicPr>
          <p:cNvPr id="151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695944" y="4855464"/>
            <a:ext cx="91440" cy="91440"/>
          </a:xfrm>
          <a:prstGeom prst="rect">
            <a:avLst/>
          </a:prstGeom>
        </p:spPr>
      </p:pic>
      <p:sp>
        <p:nvSpPr>
          <p:cNvPr id="152" name="Text 126"/>
          <p:cNvSpPr txBox="1"/>
          <p:nvPr/>
        </p:nvSpPr>
        <p:spPr>
          <a:xfrm>
            <a:off x="8869680" y="4818888"/>
            <a:ext cx="17583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Jawa Tengah</a:t>
            </a:r>
            <a:pPr indent="0" marL="0">
              <a:buNone/>
            </a:pPr>
            <a:r>
              <a:rPr lang="en-US" sz="72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Karanganyar</a:t>
            </a:r>
            <a:endParaRPr lang="en-US" sz="720" dirty="0"/>
          </a:p>
        </p:txBody>
      </p:sp>
      <p:sp>
        <p:nvSpPr>
          <p:cNvPr id="153" name="Shape 127"/>
          <p:cNvSpPr/>
          <p:nvPr/>
        </p:nvSpPr>
        <p:spPr>
          <a:xfrm>
            <a:off x="10545775" y="4818888"/>
            <a:ext cx="932688" cy="16459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pic>
        <p:nvPicPr>
          <p:cNvPr id="154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609783" y="4846320"/>
            <a:ext cx="109728" cy="109728"/>
          </a:xfrm>
          <a:prstGeom prst="rect">
            <a:avLst/>
          </a:prstGeom>
        </p:spPr>
      </p:pic>
      <p:sp>
        <p:nvSpPr>
          <p:cNvPr id="155" name="Text 128"/>
          <p:cNvSpPr txBox="1"/>
          <p:nvPr/>
        </p:nvSpPr>
        <p:spPr>
          <a:xfrm>
            <a:off x="10746943" y="481888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sisa ± 64 ha</a:t>
            </a:r>
            <a:endParaRPr lang="en-US" sz="640" dirty="0"/>
          </a:p>
        </p:txBody>
      </p:sp>
      <p:sp>
        <p:nvSpPr>
          <p:cNvPr id="156" name="Shape 129"/>
          <p:cNvSpPr/>
          <p:nvPr/>
        </p:nvSpPr>
        <p:spPr>
          <a:xfrm>
            <a:off x="8668512" y="4983480"/>
            <a:ext cx="2809951" cy="0"/>
          </a:xfrm>
          <a:prstGeom prst="line">
            <a:avLst/>
          </a:prstGeom>
          <a:noFill/>
          <a:ln w="6350">
            <a:solidFill>
              <a:srgbClr val="F1F2F4"/>
            </a:solidFill>
            <a:prstDash val="solid"/>
          </a:ln>
        </p:spPr>
      </p:sp>
      <p:sp>
        <p:nvSpPr>
          <p:cNvPr id="157" name="Shape 130"/>
          <p:cNvSpPr/>
          <p:nvPr/>
        </p:nvSpPr>
        <p:spPr>
          <a:xfrm>
            <a:off x="8668512" y="4992624"/>
            <a:ext cx="146304" cy="146304"/>
          </a:xfrm>
          <a:prstGeom prst="ellipse">
            <a:avLst/>
          </a:prstGeom>
          <a:solidFill>
            <a:srgbClr val="D9600B"/>
          </a:solidFill>
          <a:ln/>
        </p:spPr>
      </p:sp>
      <p:pic>
        <p:nvPicPr>
          <p:cNvPr id="158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695944" y="5020056"/>
            <a:ext cx="91440" cy="91440"/>
          </a:xfrm>
          <a:prstGeom prst="rect">
            <a:avLst/>
          </a:prstGeom>
        </p:spPr>
      </p:pic>
      <p:sp>
        <p:nvSpPr>
          <p:cNvPr id="159" name="Text 131"/>
          <p:cNvSpPr txBox="1"/>
          <p:nvPr/>
        </p:nvSpPr>
        <p:spPr>
          <a:xfrm>
            <a:off x="8869680" y="4983480"/>
            <a:ext cx="17583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Jawa Tengah</a:t>
            </a:r>
            <a:pPr indent="0" marL="0">
              <a:buNone/>
            </a:pPr>
            <a:r>
              <a:rPr lang="en-US" sz="72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Gunung Sumbing</a:t>
            </a:r>
            <a:endParaRPr lang="en-US" sz="720" dirty="0"/>
          </a:p>
        </p:txBody>
      </p:sp>
      <p:sp>
        <p:nvSpPr>
          <p:cNvPr id="160" name="Shape 132"/>
          <p:cNvSpPr/>
          <p:nvPr/>
        </p:nvSpPr>
        <p:spPr>
          <a:xfrm>
            <a:off x="10545775" y="4983480"/>
            <a:ext cx="932688" cy="16459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pic>
        <p:nvPicPr>
          <p:cNvPr id="161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609783" y="5010912"/>
            <a:ext cx="109728" cy="109728"/>
          </a:xfrm>
          <a:prstGeom prst="rect">
            <a:avLst/>
          </a:prstGeom>
        </p:spPr>
      </p:pic>
      <p:sp>
        <p:nvSpPr>
          <p:cNvPr id="162" name="Text 133"/>
          <p:cNvSpPr txBox="1"/>
          <p:nvPr/>
        </p:nvSpPr>
        <p:spPr>
          <a:xfrm>
            <a:off x="10746943" y="498348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sisa ± 13 ha</a:t>
            </a:r>
            <a:endParaRPr lang="en-US" sz="640" dirty="0"/>
          </a:p>
        </p:txBody>
      </p:sp>
      <p:sp>
        <p:nvSpPr>
          <p:cNvPr id="163" name="Shape 134"/>
          <p:cNvSpPr/>
          <p:nvPr/>
        </p:nvSpPr>
        <p:spPr>
          <a:xfrm>
            <a:off x="8668512" y="5148072"/>
            <a:ext cx="2809951" cy="0"/>
          </a:xfrm>
          <a:prstGeom prst="line">
            <a:avLst/>
          </a:prstGeom>
          <a:noFill/>
          <a:ln w="6350">
            <a:solidFill>
              <a:srgbClr val="F1F2F4"/>
            </a:solidFill>
            <a:prstDash val="solid"/>
          </a:ln>
        </p:spPr>
      </p:sp>
      <p:sp>
        <p:nvSpPr>
          <p:cNvPr id="164" name="Shape 135"/>
          <p:cNvSpPr/>
          <p:nvPr/>
        </p:nvSpPr>
        <p:spPr>
          <a:xfrm>
            <a:off x="8668512" y="5157216"/>
            <a:ext cx="146304" cy="146304"/>
          </a:xfrm>
          <a:prstGeom prst="ellipse">
            <a:avLst/>
          </a:prstGeom>
          <a:solidFill>
            <a:srgbClr val="D9600B"/>
          </a:solidFill>
          <a:ln/>
        </p:spPr>
      </p:sp>
      <p:pic>
        <p:nvPicPr>
          <p:cNvPr id="165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695944" y="5184648"/>
            <a:ext cx="91440" cy="91440"/>
          </a:xfrm>
          <a:prstGeom prst="rect">
            <a:avLst/>
          </a:prstGeom>
        </p:spPr>
      </p:pic>
      <p:sp>
        <p:nvSpPr>
          <p:cNvPr id="166" name="Text 136"/>
          <p:cNvSpPr txBox="1"/>
          <p:nvPr/>
        </p:nvSpPr>
        <p:spPr>
          <a:xfrm>
            <a:off x="8869680" y="5148072"/>
            <a:ext cx="17583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Papua Barat Daya</a:t>
            </a:r>
            <a:pPr indent="0" marL="0">
              <a:buNone/>
            </a:pPr>
            <a:r>
              <a:rPr lang="en-US" sz="72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Raja Ampat</a:t>
            </a:r>
            <a:endParaRPr lang="en-US" sz="720" dirty="0"/>
          </a:p>
        </p:txBody>
      </p:sp>
      <p:sp>
        <p:nvSpPr>
          <p:cNvPr id="167" name="Shape 137"/>
          <p:cNvSpPr/>
          <p:nvPr/>
        </p:nvSpPr>
        <p:spPr>
          <a:xfrm>
            <a:off x="10545775" y="5148072"/>
            <a:ext cx="932688" cy="16459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pic>
        <p:nvPicPr>
          <p:cNvPr id="168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609783" y="5175504"/>
            <a:ext cx="109728" cy="109728"/>
          </a:xfrm>
          <a:prstGeom prst="rect">
            <a:avLst/>
          </a:prstGeom>
        </p:spPr>
      </p:pic>
      <p:sp>
        <p:nvSpPr>
          <p:cNvPr id="169" name="Text 138"/>
          <p:cNvSpPr txBox="1"/>
          <p:nvPr/>
        </p:nvSpPr>
        <p:spPr>
          <a:xfrm>
            <a:off x="10746943" y="5148072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sisa ± 4 ha</a:t>
            </a:r>
            <a:endParaRPr lang="en-US" sz="640" dirty="0"/>
          </a:p>
        </p:txBody>
      </p:sp>
      <p:sp>
        <p:nvSpPr>
          <p:cNvPr id="170" name="Shape 139"/>
          <p:cNvSpPr/>
          <p:nvPr/>
        </p:nvSpPr>
        <p:spPr>
          <a:xfrm>
            <a:off x="548640" y="5468112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DF4EC"/>
          </a:solidFill>
          <a:ln/>
        </p:spPr>
      </p:sp>
      <p:sp>
        <p:nvSpPr>
          <p:cNvPr id="171" name="Text 140"/>
          <p:cNvSpPr txBox="1"/>
          <p:nvPr/>
        </p:nvSpPr>
        <p:spPr>
          <a:xfrm>
            <a:off x="694944" y="55412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YANG AKAN DILAKUKAN BNPB</a:t>
            </a:r>
            <a:endParaRPr lang="en-US" sz="750" dirty="0"/>
          </a:p>
        </p:txBody>
      </p:sp>
      <p:sp>
        <p:nvSpPr>
          <p:cNvPr id="172" name="Shape 141"/>
          <p:cNvSpPr/>
          <p:nvPr/>
        </p:nvSpPr>
        <p:spPr>
          <a:xfrm>
            <a:off x="694944" y="5815584"/>
            <a:ext cx="329184" cy="329184"/>
          </a:xfrm>
          <a:prstGeom prst="ellipse">
            <a:avLst/>
          </a:prstGeom>
          <a:solidFill>
            <a:srgbClr val="D9600B"/>
          </a:solidFill>
          <a:ln/>
        </p:spPr>
      </p:sp>
      <p:pic>
        <p:nvPicPr>
          <p:cNvPr id="173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68096" y="5888736"/>
            <a:ext cx="182880" cy="182880"/>
          </a:xfrm>
          <a:prstGeom prst="rect">
            <a:avLst/>
          </a:prstGeom>
        </p:spPr>
      </p:pic>
      <p:sp>
        <p:nvSpPr>
          <p:cNvPr id="174" name="Text 142"/>
          <p:cNvSpPr txBox="1"/>
          <p:nvPr/>
        </p:nvSpPr>
        <p:spPr>
          <a:xfrm>
            <a:off x="1115568" y="5760720"/>
            <a:ext cx="305196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Pemadaman prioritas</a:t>
            </a:r>
            <a:endParaRPr lang="en-US" sz="900" dirty="0"/>
          </a:p>
        </p:txBody>
      </p:sp>
      <p:sp>
        <p:nvSpPr>
          <p:cNvPr id="175" name="Text 143"/>
          <p:cNvSpPr txBox="1"/>
          <p:nvPr/>
        </p:nvSpPr>
        <p:spPr>
          <a:xfrm>
            <a:off x="1115568" y="5961888"/>
            <a:ext cx="30519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buSzPct val="100000"/>
              <a:buChar char="•"/>
            </a:pPr>
            <a:r>
              <a:rPr lang="en-US" sz="72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Water bombing dan penyekatan di Karanganyar</a:t>
            </a:r>
            <a:endParaRPr lang="en-US" sz="720" dirty="0"/>
          </a:p>
          <a:p>
            <a:pPr marL="114300" indent="-114300">
              <a:buSzPct val="100000"/>
              <a:buChar char="•"/>
            </a:pPr>
            <a:r>
              <a:rPr lang="en-US" sz="72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Pengendalian api di TN Way Kambas</a:t>
            </a:r>
            <a:endParaRPr lang="en-US" sz="720" dirty="0"/>
          </a:p>
        </p:txBody>
      </p:sp>
      <p:sp>
        <p:nvSpPr>
          <p:cNvPr id="176" name="Shape 144"/>
          <p:cNvSpPr/>
          <p:nvPr/>
        </p:nvSpPr>
        <p:spPr>
          <a:xfrm>
            <a:off x="4222394" y="5797296"/>
            <a:ext cx="0" cy="457200"/>
          </a:xfrm>
          <a:prstGeom prst="line">
            <a:avLst/>
          </a:prstGeom>
          <a:noFill/>
          <a:ln w="9525">
            <a:solidFill>
              <a:srgbClr val="F2D3BA"/>
            </a:solidFill>
            <a:prstDash val="solid"/>
          </a:ln>
        </p:spPr>
      </p:sp>
      <p:sp>
        <p:nvSpPr>
          <p:cNvPr id="177" name="Shape 145"/>
          <p:cNvSpPr/>
          <p:nvPr/>
        </p:nvSpPr>
        <p:spPr>
          <a:xfrm>
            <a:off x="4295546" y="5815584"/>
            <a:ext cx="329184" cy="329184"/>
          </a:xfrm>
          <a:prstGeom prst="ellipse">
            <a:avLst/>
          </a:prstGeom>
          <a:solidFill>
            <a:srgbClr val="D9600B"/>
          </a:solidFill>
          <a:ln/>
        </p:spPr>
      </p:sp>
      <p:pic>
        <p:nvPicPr>
          <p:cNvPr id="178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368698" y="5888736"/>
            <a:ext cx="182880" cy="182880"/>
          </a:xfrm>
          <a:prstGeom prst="rect">
            <a:avLst/>
          </a:prstGeom>
        </p:spPr>
      </p:pic>
      <p:sp>
        <p:nvSpPr>
          <p:cNvPr id="179" name="Text 146"/>
          <p:cNvSpPr txBox="1"/>
          <p:nvPr/>
        </p:nvSpPr>
        <p:spPr>
          <a:xfrm>
            <a:off x="4716170" y="5760720"/>
            <a:ext cx="305196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Keselamatan warga</a:t>
            </a:r>
            <a:endParaRPr lang="en-US" sz="900" dirty="0"/>
          </a:p>
        </p:txBody>
      </p:sp>
      <p:sp>
        <p:nvSpPr>
          <p:cNvPr id="180" name="Text 147"/>
          <p:cNvSpPr txBox="1"/>
          <p:nvPr/>
        </p:nvSpPr>
        <p:spPr>
          <a:xfrm>
            <a:off x="4716170" y="5961888"/>
            <a:ext cx="30519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Melakukan pendampingan 152 pendaki terdampak Gunung Sumbing bersama BPBD Jawa Tengah</a:t>
            </a:r>
            <a:endParaRPr lang="en-US" sz="720" dirty="0"/>
          </a:p>
        </p:txBody>
      </p:sp>
      <p:sp>
        <p:nvSpPr>
          <p:cNvPr id="181" name="Shape 148"/>
          <p:cNvSpPr/>
          <p:nvPr/>
        </p:nvSpPr>
        <p:spPr>
          <a:xfrm>
            <a:off x="7822997" y="5797296"/>
            <a:ext cx="0" cy="457200"/>
          </a:xfrm>
          <a:prstGeom prst="line">
            <a:avLst/>
          </a:prstGeom>
          <a:noFill/>
          <a:ln w="9525">
            <a:solidFill>
              <a:srgbClr val="F2D3BA"/>
            </a:solidFill>
            <a:prstDash val="solid"/>
          </a:ln>
        </p:spPr>
      </p:sp>
      <p:sp>
        <p:nvSpPr>
          <p:cNvPr id="182" name="Shape 149"/>
          <p:cNvSpPr/>
          <p:nvPr/>
        </p:nvSpPr>
        <p:spPr>
          <a:xfrm>
            <a:off x="7896149" y="5815584"/>
            <a:ext cx="329184" cy="329184"/>
          </a:xfrm>
          <a:prstGeom prst="ellipse">
            <a:avLst/>
          </a:prstGeom>
          <a:solidFill>
            <a:srgbClr val="D9600B"/>
          </a:solidFill>
          <a:ln/>
        </p:spPr>
      </p:sp>
      <p:pic>
        <p:nvPicPr>
          <p:cNvPr id="18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969301" y="5888736"/>
            <a:ext cx="182880" cy="182880"/>
          </a:xfrm>
          <a:prstGeom prst="rect">
            <a:avLst/>
          </a:prstGeom>
        </p:spPr>
      </p:pic>
      <p:sp>
        <p:nvSpPr>
          <p:cNvPr id="184" name="Text 150"/>
          <p:cNvSpPr txBox="1"/>
          <p:nvPr/>
        </p:nvSpPr>
        <p:spPr>
          <a:xfrm>
            <a:off x="8316773" y="5760720"/>
            <a:ext cx="305196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Air bersih</a:t>
            </a:r>
            <a:endParaRPr lang="en-US" sz="900" dirty="0"/>
          </a:p>
        </p:txBody>
      </p:sp>
      <p:sp>
        <p:nvSpPr>
          <p:cNvPr id="185" name="Text 151"/>
          <p:cNvSpPr txBox="1"/>
          <p:nvPr/>
        </p:nvSpPr>
        <p:spPr>
          <a:xfrm>
            <a:off x="8316773" y="5961888"/>
            <a:ext cx="30519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Melanjutkan distribusi air bersih untuk ±8.421 KK terdampak kekeringan di Klaten dan Grobogan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Rincian </a:t>
            </a:r>
            <a:pPr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</a:t>
            </a:r>
            <a:pPr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kejadian menonjol: </a:t>
            </a:r>
            <a:pPr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</a:t>
            </a:r>
            <a:pPr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karhutla (</a:t>
            </a:r>
            <a:pPr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pPr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 antaranya masih dalam proses penanganan) dan </a:t>
            </a:r>
            <a:pPr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pPr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kekeringan di Jawa Tengah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48640" y="1325880"/>
            <a:ext cx="672084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325880"/>
            <a:ext cx="6720840" cy="457200"/>
          </a:xfrm>
          <a:prstGeom prst="roundRect">
            <a:avLst>
              <a:gd name="adj" fmla="val 16000"/>
            </a:avLst>
          </a:prstGeom>
          <a:solidFill>
            <a:srgbClr val="FBE7D6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1600200"/>
            <a:ext cx="6720840" cy="182880"/>
          </a:xfrm>
          <a:prstGeom prst="rect">
            <a:avLst/>
          </a:prstGeom>
          <a:solidFill>
            <a:srgbClr val="FBE7D6"/>
          </a:solidFill>
          <a:ln/>
        </p:spPr>
      </p:sp>
      <p:sp>
        <p:nvSpPr>
          <p:cNvPr id="11" name="Shape 8"/>
          <p:cNvSpPr/>
          <p:nvPr/>
        </p:nvSpPr>
        <p:spPr>
          <a:xfrm>
            <a:off x="676656" y="1408176"/>
            <a:ext cx="292608" cy="292608"/>
          </a:xfrm>
          <a:prstGeom prst="ellipse">
            <a:avLst/>
          </a:prstGeom>
          <a:solidFill>
            <a:srgbClr val="D9600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82880" cy="1828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51560" y="1399032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Karhutla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6629400" y="1380744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76656" y="185623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8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LOKASI</a:t>
            </a:r>
            <a:endParaRPr lang="en-US" sz="650" dirty="0"/>
          </a:p>
        </p:txBody>
      </p:sp>
      <p:sp>
        <p:nvSpPr>
          <p:cNvPr id="16" name="Text 12"/>
          <p:cNvSpPr txBox="1"/>
          <p:nvPr/>
        </p:nvSpPr>
        <p:spPr>
          <a:xfrm>
            <a:off x="3291840" y="185623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8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TERBAKAR 1 JAN–21 OKT</a:t>
            </a:r>
            <a:endParaRPr lang="en-US" sz="650" dirty="0"/>
          </a:p>
        </p:txBody>
      </p:sp>
      <p:sp>
        <p:nvSpPr>
          <p:cNvPr id="17" name="Text 13"/>
          <p:cNvSpPr txBox="1"/>
          <p:nvPr/>
        </p:nvSpPr>
        <p:spPr>
          <a:xfrm>
            <a:off x="4617720" y="1856232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8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 OKT: HOTSPOT, SISA</a:t>
            </a:r>
            <a:endParaRPr lang="en-US" sz="650" dirty="0"/>
          </a:p>
        </p:txBody>
      </p:sp>
      <p:sp>
        <p:nvSpPr>
          <p:cNvPr id="18" name="Shape 14"/>
          <p:cNvSpPr/>
          <p:nvPr/>
        </p:nvSpPr>
        <p:spPr>
          <a:xfrm>
            <a:off x="676656" y="2039112"/>
            <a:ext cx="6464808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76656" y="2125327"/>
            <a:ext cx="201168" cy="201168"/>
          </a:xfrm>
          <a:prstGeom prst="ellipse">
            <a:avLst/>
          </a:prstGeom>
          <a:solidFill>
            <a:srgbClr val="D9600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161903"/>
            <a:ext cx="128016" cy="12801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50976" y="2075688"/>
            <a:ext cx="2112264" cy="300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20" dirty="0"/>
          </a:p>
        </p:txBody>
      </p:sp>
      <p:sp>
        <p:nvSpPr>
          <p:cNvPr id="22" name="Text 17"/>
          <p:cNvSpPr txBox="1"/>
          <p:nvPr/>
        </p:nvSpPr>
        <p:spPr>
          <a:xfrm>
            <a:off x="3291840" y="2075688"/>
            <a:ext cx="1234440" cy="300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  635.296 ha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739006" y="2120755"/>
            <a:ext cx="1052584" cy="21031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158" y="2157331"/>
            <a:ext cx="137160" cy="13716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4985894" y="2120755"/>
            <a:ext cx="796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3.053 hotspot</a:t>
            </a:r>
            <a:endParaRPr lang="en-US" sz="760" dirty="0"/>
          </a:p>
        </p:txBody>
      </p:sp>
      <p:sp>
        <p:nvSpPr>
          <p:cNvPr id="26" name="Shape 20"/>
          <p:cNvSpPr/>
          <p:nvPr/>
        </p:nvSpPr>
        <p:spPr>
          <a:xfrm>
            <a:off x="5864742" y="2120755"/>
            <a:ext cx="1155436" cy="21031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7894" y="2157331"/>
            <a:ext cx="137160" cy="13716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111630" y="2120755"/>
            <a:ext cx="8994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sisa ± 7.938 ha</a:t>
            </a:r>
            <a:endParaRPr lang="en-US" sz="760" dirty="0"/>
          </a:p>
        </p:txBody>
      </p:sp>
      <p:sp>
        <p:nvSpPr>
          <p:cNvPr id="29" name="Shape 22"/>
          <p:cNvSpPr/>
          <p:nvPr/>
        </p:nvSpPr>
        <p:spPr>
          <a:xfrm>
            <a:off x="676656" y="2371562"/>
            <a:ext cx="6464808" cy="0"/>
          </a:xfrm>
          <a:prstGeom prst="line">
            <a:avLst/>
          </a:prstGeom>
          <a:noFill/>
          <a:ln w="6350">
            <a:solidFill>
              <a:srgbClr val="EEF0F3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76656" y="2425773"/>
            <a:ext cx="201168" cy="201168"/>
          </a:xfrm>
          <a:prstGeom prst="ellipse">
            <a:avLst/>
          </a:prstGeom>
          <a:solidFill>
            <a:srgbClr val="D9600B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2462349"/>
            <a:ext cx="128016" cy="12801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50976" y="2376134"/>
            <a:ext cx="2112264" cy="300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920" dirty="0"/>
          </a:p>
        </p:txBody>
      </p:sp>
      <p:sp>
        <p:nvSpPr>
          <p:cNvPr id="33" name="Text 25"/>
          <p:cNvSpPr txBox="1"/>
          <p:nvPr/>
        </p:nvSpPr>
        <p:spPr>
          <a:xfrm>
            <a:off x="3291840" y="2376134"/>
            <a:ext cx="1234440" cy="300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  31.341 ha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4739006" y="2421201"/>
            <a:ext cx="1052584" cy="21031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2158" y="2457777"/>
            <a:ext cx="137160" cy="13716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4985894" y="2421201"/>
            <a:ext cx="796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818 hotspot</a:t>
            </a:r>
            <a:endParaRPr lang="en-US" sz="760" dirty="0"/>
          </a:p>
        </p:txBody>
      </p:sp>
      <p:sp>
        <p:nvSpPr>
          <p:cNvPr id="37" name="Shape 28"/>
          <p:cNvSpPr/>
          <p:nvPr/>
        </p:nvSpPr>
        <p:spPr>
          <a:xfrm>
            <a:off x="5864742" y="2421201"/>
            <a:ext cx="1155436" cy="21031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7894" y="2457777"/>
            <a:ext cx="137160" cy="13716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6111630" y="2421201"/>
            <a:ext cx="8994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sisa ± 2.025 ha</a:t>
            </a:r>
            <a:endParaRPr lang="en-US" sz="760" dirty="0"/>
          </a:p>
        </p:txBody>
      </p:sp>
      <p:sp>
        <p:nvSpPr>
          <p:cNvPr id="40" name="Shape 30"/>
          <p:cNvSpPr/>
          <p:nvPr/>
        </p:nvSpPr>
        <p:spPr>
          <a:xfrm>
            <a:off x="676656" y="2672007"/>
            <a:ext cx="6464808" cy="0"/>
          </a:xfrm>
          <a:prstGeom prst="line">
            <a:avLst/>
          </a:prstGeom>
          <a:noFill/>
          <a:ln w="6350">
            <a:solidFill>
              <a:srgbClr val="EEF0F3"/>
            </a:solidFill>
            <a:prstDash val="solid"/>
          </a:ln>
        </p:spPr>
      </p:sp>
      <p:sp>
        <p:nvSpPr>
          <p:cNvPr id="41" name="Shape 31"/>
          <p:cNvSpPr/>
          <p:nvPr/>
        </p:nvSpPr>
        <p:spPr>
          <a:xfrm>
            <a:off x="676656" y="2726218"/>
            <a:ext cx="201168" cy="201168"/>
          </a:xfrm>
          <a:prstGeom prst="ellipse">
            <a:avLst/>
          </a:prstGeom>
          <a:solidFill>
            <a:srgbClr val="D9600B"/>
          </a:solidFill>
          <a:ln/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3232" y="2762794"/>
            <a:ext cx="128016" cy="128016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950976" y="2676579"/>
            <a:ext cx="2112264" cy="300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20" dirty="0"/>
          </a:p>
        </p:txBody>
      </p:sp>
      <p:sp>
        <p:nvSpPr>
          <p:cNvPr id="44" name="Text 33"/>
          <p:cNvSpPr txBox="1"/>
          <p:nvPr/>
        </p:nvSpPr>
        <p:spPr>
          <a:xfrm>
            <a:off x="3291840" y="2676579"/>
            <a:ext cx="1234440" cy="300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  204.512 ha</a:t>
            </a:r>
            <a:endParaRPr lang="en-US" sz="900" dirty="0"/>
          </a:p>
        </p:txBody>
      </p:sp>
      <p:sp>
        <p:nvSpPr>
          <p:cNvPr id="45" name="Shape 34"/>
          <p:cNvSpPr/>
          <p:nvPr/>
        </p:nvSpPr>
        <p:spPr>
          <a:xfrm>
            <a:off x="4739006" y="2721646"/>
            <a:ext cx="1052584" cy="21031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2158" y="2758222"/>
            <a:ext cx="137160" cy="137160"/>
          </a:xfrm>
          <a:prstGeom prst="rect">
            <a:avLst/>
          </a:prstGeom>
        </p:spPr>
      </p:pic>
      <p:sp>
        <p:nvSpPr>
          <p:cNvPr id="47" name="Text 35"/>
          <p:cNvSpPr txBox="1"/>
          <p:nvPr/>
        </p:nvSpPr>
        <p:spPr>
          <a:xfrm>
            <a:off x="4985894" y="2721646"/>
            <a:ext cx="796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2.360 hotspot</a:t>
            </a:r>
            <a:endParaRPr lang="en-US" sz="760" dirty="0"/>
          </a:p>
        </p:txBody>
      </p:sp>
      <p:sp>
        <p:nvSpPr>
          <p:cNvPr id="48" name="Shape 36"/>
          <p:cNvSpPr/>
          <p:nvPr/>
        </p:nvSpPr>
        <p:spPr>
          <a:xfrm>
            <a:off x="5864742" y="2721646"/>
            <a:ext cx="1155436" cy="21031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37894" y="2758222"/>
            <a:ext cx="137160" cy="137160"/>
          </a:xfrm>
          <a:prstGeom prst="rect">
            <a:avLst/>
          </a:prstGeom>
        </p:spPr>
      </p:pic>
      <p:sp>
        <p:nvSpPr>
          <p:cNvPr id="50" name="Text 37"/>
          <p:cNvSpPr txBox="1"/>
          <p:nvPr/>
        </p:nvSpPr>
        <p:spPr>
          <a:xfrm>
            <a:off x="6111630" y="2721646"/>
            <a:ext cx="8994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sisa ± 5.194 ha</a:t>
            </a:r>
            <a:endParaRPr lang="en-US" sz="760" dirty="0"/>
          </a:p>
        </p:txBody>
      </p:sp>
      <p:sp>
        <p:nvSpPr>
          <p:cNvPr id="51" name="Shape 38"/>
          <p:cNvSpPr/>
          <p:nvPr/>
        </p:nvSpPr>
        <p:spPr>
          <a:xfrm>
            <a:off x="676656" y="2972453"/>
            <a:ext cx="6464808" cy="0"/>
          </a:xfrm>
          <a:prstGeom prst="line">
            <a:avLst/>
          </a:prstGeom>
          <a:noFill/>
          <a:ln w="6350">
            <a:solidFill>
              <a:srgbClr val="EEF0F3"/>
            </a:solidFill>
            <a:prstDash val="solid"/>
          </a:ln>
        </p:spPr>
      </p:sp>
      <p:sp>
        <p:nvSpPr>
          <p:cNvPr id="52" name="Shape 39"/>
          <p:cNvSpPr/>
          <p:nvPr/>
        </p:nvSpPr>
        <p:spPr>
          <a:xfrm>
            <a:off x="676656" y="3026664"/>
            <a:ext cx="201168" cy="201168"/>
          </a:xfrm>
          <a:prstGeom prst="ellipse">
            <a:avLst/>
          </a:prstGeom>
          <a:solidFill>
            <a:srgbClr val="D9600B"/>
          </a:solidFill>
          <a:ln/>
        </p:spPr>
      </p:sp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3232" y="3063240"/>
            <a:ext cx="128016" cy="128016"/>
          </a:xfrm>
          <a:prstGeom prst="rect">
            <a:avLst/>
          </a:prstGeom>
        </p:spPr>
      </p:pic>
      <p:sp>
        <p:nvSpPr>
          <p:cNvPr id="54" name="Text 40"/>
          <p:cNvSpPr txBox="1"/>
          <p:nvPr/>
        </p:nvSpPr>
        <p:spPr>
          <a:xfrm>
            <a:off x="950976" y="2977025"/>
            <a:ext cx="2112264" cy="300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Barat</a:t>
            </a:r>
            <a:endParaRPr lang="en-US" sz="920" dirty="0"/>
          </a:p>
        </p:txBody>
      </p:sp>
      <p:sp>
        <p:nvSpPr>
          <p:cNvPr id="55" name="Text 41"/>
          <p:cNvSpPr txBox="1"/>
          <p:nvPr/>
        </p:nvSpPr>
        <p:spPr>
          <a:xfrm>
            <a:off x="3291840" y="2977025"/>
            <a:ext cx="1234440" cy="300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  333.575 ha</a:t>
            </a:r>
            <a:endParaRPr lang="en-US" sz="900" dirty="0"/>
          </a:p>
        </p:txBody>
      </p:sp>
      <p:sp>
        <p:nvSpPr>
          <p:cNvPr id="56" name="Shape 42"/>
          <p:cNvSpPr/>
          <p:nvPr/>
        </p:nvSpPr>
        <p:spPr>
          <a:xfrm>
            <a:off x="4739006" y="3022092"/>
            <a:ext cx="1052584" cy="21031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5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12158" y="3058668"/>
            <a:ext cx="137160" cy="137160"/>
          </a:xfrm>
          <a:prstGeom prst="rect">
            <a:avLst/>
          </a:prstGeom>
        </p:spPr>
      </p:pic>
      <p:sp>
        <p:nvSpPr>
          <p:cNvPr id="58" name="Text 43"/>
          <p:cNvSpPr txBox="1"/>
          <p:nvPr/>
        </p:nvSpPr>
        <p:spPr>
          <a:xfrm>
            <a:off x="4985894" y="3022092"/>
            <a:ext cx="796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457 hotspot</a:t>
            </a:r>
            <a:endParaRPr lang="en-US" sz="760" dirty="0"/>
          </a:p>
        </p:txBody>
      </p:sp>
      <p:sp>
        <p:nvSpPr>
          <p:cNvPr id="59" name="Shape 44"/>
          <p:cNvSpPr/>
          <p:nvPr/>
        </p:nvSpPr>
        <p:spPr>
          <a:xfrm>
            <a:off x="5864742" y="3022092"/>
            <a:ext cx="1155436" cy="21031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pic>
        <p:nvPicPr>
          <p:cNvPr id="6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37894" y="3058668"/>
            <a:ext cx="137160" cy="137160"/>
          </a:xfrm>
          <a:prstGeom prst="rect">
            <a:avLst/>
          </a:prstGeom>
        </p:spPr>
      </p:pic>
      <p:sp>
        <p:nvSpPr>
          <p:cNvPr id="61" name="Text 45"/>
          <p:cNvSpPr txBox="1"/>
          <p:nvPr/>
        </p:nvSpPr>
        <p:spPr>
          <a:xfrm>
            <a:off x="6111630" y="3022092"/>
            <a:ext cx="8994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sisa ± 1.290 ha</a:t>
            </a:r>
            <a:endParaRPr lang="en-US" sz="760" dirty="0"/>
          </a:p>
        </p:txBody>
      </p:sp>
      <p:sp>
        <p:nvSpPr>
          <p:cNvPr id="62" name="Shape 46"/>
          <p:cNvSpPr/>
          <p:nvPr/>
        </p:nvSpPr>
        <p:spPr>
          <a:xfrm>
            <a:off x="676656" y="3272899"/>
            <a:ext cx="6464808" cy="0"/>
          </a:xfrm>
          <a:prstGeom prst="line">
            <a:avLst/>
          </a:prstGeom>
          <a:noFill/>
          <a:ln w="6350">
            <a:solidFill>
              <a:srgbClr val="EEF0F3"/>
            </a:solidFill>
            <a:prstDash val="solid"/>
          </a:ln>
        </p:spPr>
      </p:sp>
      <p:sp>
        <p:nvSpPr>
          <p:cNvPr id="63" name="Shape 47"/>
          <p:cNvSpPr/>
          <p:nvPr/>
        </p:nvSpPr>
        <p:spPr>
          <a:xfrm>
            <a:off x="676656" y="3327110"/>
            <a:ext cx="201168" cy="201168"/>
          </a:xfrm>
          <a:prstGeom prst="ellipse">
            <a:avLst/>
          </a:prstGeom>
          <a:solidFill>
            <a:srgbClr val="D9600B"/>
          </a:solidFill>
          <a:ln/>
        </p:spPr>
      </p:sp>
      <p:pic>
        <p:nvPicPr>
          <p:cNvPr id="6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3232" y="3363686"/>
            <a:ext cx="128016" cy="128016"/>
          </a:xfrm>
          <a:prstGeom prst="rect">
            <a:avLst/>
          </a:prstGeom>
        </p:spPr>
      </p:pic>
      <p:sp>
        <p:nvSpPr>
          <p:cNvPr id="65" name="Text 48"/>
          <p:cNvSpPr txBox="1"/>
          <p:nvPr/>
        </p:nvSpPr>
        <p:spPr>
          <a:xfrm>
            <a:off x="950976" y="3277471"/>
            <a:ext cx="2112264" cy="300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920" dirty="0"/>
          </a:p>
        </p:txBody>
      </p:sp>
      <p:sp>
        <p:nvSpPr>
          <p:cNvPr id="66" name="Text 49"/>
          <p:cNvSpPr txBox="1"/>
          <p:nvPr/>
        </p:nvSpPr>
        <p:spPr>
          <a:xfrm>
            <a:off x="3291840" y="3277471"/>
            <a:ext cx="1234440" cy="300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  97.229 ha</a:t>
            </a:r>
            <a:endParaRPr lang="en-US" sz="900" dirty="0"/>
          </a:p>
        </p:txBody>
      </p:sp>
      <p:sp>
        <p:nvSpPr>
          <p:cNvPr id="67" name="Shape 50"/>
          <p:cNvSpPr/>
          <p:nvPr/>
        </p:nvSpPr>
        <p:spPr>
          <a:xfrm>
            <a:off x="4739006" y="3322538"/>
            <a:ext cx="1052584" cy="21031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6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12158" y="3359114"/>
            <a:ext cx="137160" cy="137160"/>
          </a:xfrm>
          <a:prstGeom prst="rect">
            <a:avLst/>
          </a:prstGeom>
        </p:spPr>
      </p:pic>
      <p:sp>
        <p:nvSpPr>
          <p:cNvPr id="69" name="Text 51"/>
          <p:cNvSpPr txBox="1"/>
          <p:nvPr/>
        </p:nvSpPr>
        <p:spPr>
          <a:xfrm>
            <a:off x="4985894" y="3322538"/>
            <a:ext cx="796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1.249 hotspot</a:t>
            </a:r>
            <a:endParaRPr lang="en-US" sz="760" dirty="0"/>
          </a:p>
        </p:txBody>
      </p:sp>
      <p:sp>
        <p:nvSpPr>
          <p:cNvPr id="70" name="Shape 52"/>
          <p:cNvSpPr/>
          <p:nvPr/>
        </p:nvSpPr>
        <p:spPr>
          <a:xfrm>
            <a:off x="5864742" y="3322538"/>
            <a:ext cx="1155436" cy="21031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pic>
        <p:nvPicPr>
          <p:cNvPr id="7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37894" y="3359114"/>
            <a:ext cx="137160" cy="137160"/>
          </a:xfrm>
          <a:prstGeom prst="rect">
            <a:avLst/>
          </a:prstGeom>
        </p:spPr>
      </p:pic>
      <p:sp>
        <p:nvSpPr>
          <p:cNvPr id="72" name="Text 53"/>
          <p:cNvSpPr txBox="1"/>
          <p:nvPr/>
        </p:nvSpPr>
        <p:spPr>
          <a:xfrm>
            <a:off x="6111630" y="3322538"/>
            <a:ext cx="8994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sisa ± 1.974 ha</a:t>
            </a:r>
            <a:endParaRPr lang="en-US" sz="760" dirty="0"/>
          </a:p>
        </p:txBody>
      </p:sp>
      <p:sp>
        <p:nvSpPr>
          <p:cNvPr id="73" name="Shape 54"/>
          <p:cNvSpPr/>
          <p:nvPr/>
        </p:nvSpPr>
        <p:spPr>
          <a:xfrm>
            <a:off x="676656" y="3573345"/>
            <a:ext cx="6464808" cy="0"/>
          </a:xfrm>
          <a:prstGeom prst="line">
            <a:avLst/>
          </a:prstGeom>
          <a:noFill/>
          <a:ln w="6350">
            <a:solidFill>
              <a:srgbClr val="EEF0F3"/>
            </a:solidFill>
            <a:prstDash val="solid"/>
          </a:ln>
        </p:spPr>
      </p:sp>
      <p:sp>
        <p:nvSpPr>
          <p:cNvPr id="74" name="Shape 55"/>
          <p:cNvSpPr/>
          <p:nvPr/>
        </p:nvSpPr>
        <p:spPr>
          <a:xfrm>
            <a:off x="676656" y="3627555"/>
            <a:ext cx="201168" cy="20116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7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3232" y="3664131"/>
            <a:ext cx="128016" cy="128016"/>
          </a:xfrm>
          <a:prstGeom prst="rect">
            <a:avLst/>
          </a:prstGeom>
        </p:spPr>
      </p:pic>
      <p:sp>
        <p:nvSpPr>
          <p:cNvPr id="76" name="Text 56"/>
          <p:cNvSpPr txBox="1"/>
          <p:nvPr/>
        </p:nvSpPr>
        <p:spPr>
          <a:xfrm>
            <a:off x="950976" y="3577917"/>
            <a:ext cx="2112264" cy="300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Timur</a:t>
            </a:r>
            <a:endParaRPr lang="en-US" sz="920" dirty="0"/>
          </a:p>
        </p:txBody>
      </p:sp>
      <p:sp>
        <p:nvSpPr>
          <p:cNvPr id="77" name="Text 57"/>
          <p:cNvSpPr txBox="1"/>
          <p:nvPr/>
        </p:nvSpPr>
        <p:spPr>
          <a:xfrm>
            <a:off x="3291840" y="3577917"/>
            <a:ext cx="1234440" cy="300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  117.686 ha</a:t>
            </a:r>
            <a:endParaRPr lang="en-US" sz="900" dirty="0"/>
          </a:p>
        </p:txBody>
      </p:sp>
      <p:sp>
        <p:nvSpPr>
          <p:cNvPr id="78" name="Shape 58"/>
          <p:cNvSpPr/>
          <p:nvPr/>
        </p:nvSpPr>
        <p:spPr>
          <a:xfrm>
            <a:off x="676656" y="3873790"/>
            <a:ext cx="6464808" cy="0"/>
          </a:xfrm>
          <a:prstGeom prst="line">
            <a:avLst/>
          </a:prstGeom>
          <a:noFill/>
          <a:ln w="6350">
            <a:solidFill>
              <a:srgbClr val="EEF0F3"/>
            </a:solidFill>
            <a:prstDash val="solid"/>
          </a:ln>
        </p:spPr>
      </p:sp>
      <p:sp>
        <p:nvSpPr>
          <p:cNvPr id="79" name="Shape 59"/>
          <p:cNvSpPr/>
          <p:nvPr/>
        </p:nvSpPr>
        <p:spPr>
          <a:xfrm>
            <a:off x="676656" y="3928001"/>
            <a:ext cx="201168" cy="20116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8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3232" y="3964577"/>
            <a:ext cx="128016" cy="128016"/>
          </a:xfrm>
          <a:prstGeom prst="rect">
            <a:avLst/>
          </a:prstGeom>
        </p:spPr>
      </p:pic>
      <p:sp>
        <p:nvSpPr>
          <p:cNvPr id="81" name="Text 60"/>
          <p:cNvSpPr txBox="1"/>
          <p:nvPr/>
        </p:nvSpPr>
        <p:spPr>
          <a:xfrm>
            <a:off x="950976" y="3878362"/>
            <a:ext cx="2112264" cy="300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Riau</a:t>
            </a:r>
            <a:endParaRPr lang="en-US" sz="920" dirty="0"/>
          </a:p>
        </p:txBody>
      </p:sp>
      <p:sp>
        <p:nvSpPr>
          <p:cNvPr id="82" name="Text 61"/>
          <p:cNvSpPr txBox="1"/>
          <p:nvPr/>
        </p:nvSpPr>
        <p:spPr>
          <a:xfrm>
            <a:off x="3291840" y="3878362"/>
            <a:ext cx="1234440" cy="300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  25.967 ha</a:t>
            </a:r>
            <a:endParaRPr lang="en-US" sz="900" dirty="0"/>
          </a:p>
        </p:txBody>
      </p:sp>
      <p:sp>
        <p:nvSpPr>
          <p:cNvPr id="83" name="Shape 62"/>
          <p:cNvSpPr/>
          <p:nvPr/>
        </p:nvSpPr>
        <p:spPr>
          <a:xfrm>
            <a:off x="676656" y="4174236"/>
            <a:ext cx="6464808" cy="0"/>
          </a:xfrm>
          <a:prstGeom prst="line">
            <a:avLst/>
          </a:prstGeom>
          <a:noFill/>
          <a:ln w="6350">
            <a:solidFill>
              <a:srgbClr val="EEF0F3"/>
            </a:solidFill>
            <a:prstDash val="solid"/>
          </a:ln>
        </p:spPr>
      </p:sp>
      <p:sp>
        <p:nvSpPr>
          <p:cNvPr id="84" name="Shape 63"/>
          <p:cNvSpPr/>
          <p:nvPr/>
        </p:nvSpPr>
        <p:spPr>
          <a:xfrm>
            <a:off x="676656" y="4228447"/>
            <a:ext cx="201168" cy="201168"/>
          </a:xfrm>
          <a:prstGeom prst="ellipse">
            <a:avLst/>
          </a:prstGeom>
          <a:solidFill>
            <a:srgbClr val="D9600B"/>
          </a:solidFill>
          <a:ln/>
        </p:spPr>
      </p:sp>
      <p:pic>
        <p:nvPicPr>
          <p:cNvPr id="8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13232" y="4265023"/>
            <a:ext cx="128016" cy="128016"/>
          </a:xfrm>
          <a:prstGeom prst="rect">
            <a:avLst/>
          </a:prstGeom>
        </p:spPr>
      </p:pic>
      <p:sp>
        <p:nvSpPr>
          <p:cNvPr id="86" name="Text 64"/>
          <p:cNvSpPr txBox="1"/>
          <p:nvPr/>
        </p:nvSpPr>
        <p:spPr>
          <a:xfrm>
            <a:off x="950976" y="4178808"/>
            <a:ext cx="2112264" cy="300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Lampung</a:t>
            </a:r>
            <a:pPr indent="0" marL="0">
              <a:buNone/>
            </a:pPr>
            <a:r>
              <a:rPr lang="en-US" sz="92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TN Way Kambas</a:t>
            </a:r>
            <a:endParaRPr lang="en-US" sz="920" dirty="0"/>
          </a:p>
        </p:txBody>
      </p:sp>
      <p:sp>
        <p:nvSpPr>
          <p:cNvPr id="87" name="Text 65"/>
          <p:cNvSpPr txBox="1"/>
          <p:nvPr/>
        </p:nvSpPr>
        <p:spPr>
          <a:xfrm>
            <a:off x="3291840" y="4178808"/>
            <a:ext cx="1234440" cy="300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  2.558 ha</a:t>
            </a:r>
            <a:endParaRPr lang="en-US" sz="900" dirty="0"/>
          </a:p>
        </p:txBody>
      </p:sp>
      <p:sp>
        <p:nvSpPr>
          <p:cNvPr id="88" name="Shape 66"/>
          <p:cNvSpPr/>
          <p:nvPr/>
        </p:nvSpPr>
        <p:spPr>
          <a:xfrm>
            <a:off x="4739006" y="4223875"/>
            <a:ext cx="1052584" cy="21031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89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812158" y="4260451"/>
            <a:ext cx="137160" cy="137160"/>
          </a:xfrm>
          <a:prstGeom prst="rect">
            <a:avLst/>
          </a:prstGeom>
        </p:spPr>
      </p:pic>
      <p:sp>
        <p:nvSpPr>
          <p:cNvPr id="90" name="Text 67"/>
          <p:cNvSpPr txBox="1"/>
          <p:nvPr/>
        </p:nvSpPr>
        <p:spPr>
          <a:xfrm>
            <a:off x="4985894" y="4223875"/>
            <a:ext cx="796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 hotspot</a:t>
            </a:r>
            <a:endParaRPr lang="en-US" sz="760" dirty="0"/>
          </a:p>
        </p:txBody>
      </p:sp>
      <p:sp>
        <p:nvSpPr>
          <p:cNvPr id="91" name="Shape 68"/>
          <p:cNvSpPr/>
          <p:nvPr/>
        </p:nvSpPr>
        <p:spPr>
          <a:xfrm>
            <a:off x="5864742" y="4223875"/>
            <a:ext cx="1155436" cy="21031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pic>
        <p:nvPicPr>
          <p:cNvPr id="92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937894" y="4260451"/>
            <a:ext cx="137160" cy="137160"/>
          </a:xfrm>
          <a:prstGeom prst="rect">
            <a:avLst/>
          </a:prstGeom>
        </p:spPr>
      </p:pic>
      <p:sp>
        <p:nvSpPr>
          <p:cNvPr id="93" name="Text 69"/>
          <p:cNvSpPr txBox="1"/>
          <p:nvPr/>
        </p:nvSpPr>
        <p:spPr>
          <a:xfrm>
            <a:off x="6111630" y="4223875"/>
            <a:ext cx="8994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sisa ± 108 ha</a:t>
            </a:r>
            <a:endParaRPr lang="en-US" sz="760" dirty="0"/>
          </a:p>
        </p:txBody>
      </p:sp>
      <p:sp>
        <p:nvSpPr>
          <p:cNvPr id="94" name="Shape 70"/>
          <p:cNvSpPr/>
          <p:nvPr/>
        </p:nvSpPr>
        <p:spPr>
          <a:xfrm>
            <a:off x="676656" y="4497542"/>
            <a:ext cx="6464808" cy="26387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95" name="Text 71"/>
          <p:cNvSpPr txBox="1"/>
          <p:nvPr/>
        </p:nvSpPr>
        <p:spPr>
          <a:xfrm>
            <a:off x="749808" y="4479254"/>
            <a:ext cx="1645920" cy="300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Jawa Tengah</a:t>
            </a:r>
            <a:endParaRPr lang="en-US" sz="950" dirty="0"/>
          </a:p>
        </p:txBody>
      </p:sp>
      <p:sp>
        <p:nvSpPr>
          <p:cNvPr id="96" name="Shape 72"/>
          <p:cNvSpPr/>
          <p:nvPr/>
        </p:nvSpPr>
        <p:spPr>
          <a:xfrm>
            <a:off x="1675547" y="4542609"/>
            <a:ext cx="638251" cy="173736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sp>
        <p:nvSpPr>
          <p:cNvPr id="97" name="Text 73"/>
          <p:cNvSpPr txBox="1"/>
          <p:nvPr/>
        </p:nvSpPr>
        <p:spPr>
          <a:xfrm>
            <a:off x="1757843" y="4542609"/>
            <a:ext cx="55595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kejadian</a:t>
            </a:r>
            <a:endParaRPr lang="en-US" sz="700" dirty="0"/>
          </a:p>
        </p:txBody>
      </p:sp>
      <p:sp>
        <p:nvSpPr>
          <p:cNvPr id="98" name="Shape 74"/>
          <p:cNvSpPr/>
          <p:nvPr/>
        </p:nvSpPr>
        <p:spPr>
          <a:xfrm>
            <a:off x="3291840" y="4542609"/>
            <a:ext cx="948233" cy="1737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2C9A8"/>
            </a:solidFill>
            <a:prstDash val="solid"/>
          </a:ln>
        </p:spPr>
      </p:sp>
      <p:sp>
        <p:nvSpPr>
          <p:cNvPr id="99" name="Text 75"/>
          <p:cNvSpPr txBox="1"/>
          <p:nvPr/>
        </p:nvSpPr>
        <p:spPr>
          <a:xfrm>
            <a:off x="3291840" y="4542609"/>
            <a:ext cx="94823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± 722 ha</a:t>
            </a:r>
            <a:endParaRPr lang="en-US" sz="750" dirty="0"/>
          </a:p>
        </p:txBody>
      </p:sp>
      <p:sp>
        <p:nvSpPr>
          <p:cNvPr id="100" name="Shape 76"/>
          <p:cNvSpPr/>
          <p:nvPr/>
        </p:nvSpPr>
        <p:spPr>
          <a:xfrm>
            <a:off x="841248" y="4829338"/>
            <a:ext cx="201168" cy="201168"/>
          </a:xfrm>
          <a:prstGeom prst="ellipse">
            <a:avLst/>
          </a:prstGeom>
          <a:solidFill>
            <a:srgbClr val="D9600B"/>
          </a:solidFill>
          <a:ln/>
        </p:spPr>
      </p:sp>
      <p:pic>
        <p:nvPicPr>
          <p:cNvPr id="101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77824" y="4865914"/>
            <a:ext cx="128016" cy="128016"/>
          </a:xfrm>
          <a:prstGeom prst="rect">
            <a:avLst/>
          </a:prstGeom>
        </p:spPr>
      </p:pic>
      <p:sp>
        <p:nvSpPr>
          <p:cNvPr id="102" name="Text 77"/>
          <p:cNvSpPr txBox="1"/>
          <p:nvPr/>
        </p:nvSpPr>
        <p:spPr>
          <a:xfrm>
            <a:off x="1115568" y="4779699"/>
            <a:ext cx="1947672" cy="300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Karanganyar</a:t>
            </a:r>
            <a:endParaRPr lang="en-US" sz="920" dirty="0"/>
          </a:p>
        </p:txBody>
      </p:sp>
      <p:sp>
        <p:nvSpPr>
          <p:cNvPr id="103" name="Text 78"/>
          <p:cNvSpPr txBox="1"/>
          <p:nvPr/>
        </p:nvSpPr>
        <p:spPr>
          <a:xfrm>
            <a:off x="3291840" y="4779699"/>
            <a:ext cx="1234440" cy="300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  263 ha</a:t>
            </a:r>
            <a:endParaRPr lang="en-US" sz="900" dirty="0"/>
          </a:p>
        </p:txBody>
      </p:sp>
      <p:sp>
        <p:nvSpPr>
          <p:cNvPr id="104" name="Shape 79"/>
          <p:cNvSpPr/>
          <p:nvPr/>
        </p:nvSpPr>
        <p:spPr>
          <a:xfrm>
            <a:off x="4739006" y="4824766"/>
            <a:ext cx="1052584" cy="21031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10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812158" y="4861342"/>
            <a:ext cx="137160" cy="137160"/>
          </a:xfrm>
          <a:prstGeom prst="rect">
            <a:avLst/>
          </a:prstGeom>
        </p:spPr>
      </p:pic>
      <p:sp>
        <p:nvSpPr>
          <p:cNvPr id="106" name="Text 80"/>
          <p:cNvSpPr txBox="1"/>
          <p:nvPr/>
        </p:nvSpPr>
        <p:spPr>
          <a:xfrm>
            <a:off x="4985894" y="4824766"/>
            <a:ext cx="796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34 hotspot</a:t>
            </a:r>
            <a:endParaRPr lang="en-US" sz="760" dirty="0"/>
          </a:p>
        </p:txBody>
      </p:sp>
      <p:sp>
        <p:nvSpPr>
          <p:cNvPr id="107" name="Shape 81"/>
          <p:cNvSpPr/>
          <p:nvPr/>
        </p:nvSpPr>
        <p:spPr>
          <a:xfrm>
            <a:off x="5864742" y="4824766"/>
            <a:ext cx="1155436" cy="21031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pic>
        <p:nvPicPr>
          <p:cNvPr id="108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937894" y="4861342"/>
            <a:ext cx="137160" cy="137160"/>
          </a:xfrm>
          <a:prstGeom prst="rect">
            <a:avLst/>
          </a:prstGeom>
        </p:spPr>
      </p:pic>
      <p:sp>
        <p:nvSpPr>
          <p:cNvPr id="109" name="Text 82"/>
          <p:cNvSpPr txBox="1"/>
          <p:nvPr/>
        </p:nvSpPr>
        <p:spPr>
          <a:xfrm>
            <a:off x="6111630" y="4824766"/>
            <a:ext cx="8994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sisa ± 64 ha</a:t>
            </a:r>
            <a:endParaRPr lang="en-US" sz="760" dirty="0"/>
          </a:p>
        </p:txBody>
      </p:sp>
      <p:sp>
        <p:nvSpPr>
          <p:cNvPr id="110" name="Shape 83"/>
          <p:cNvSpPr/>
          <p:nvPr/>
        </p:nvSpPr>
        <p:spPr>
          <a:xfrm>
            <a:off x="676656" y="5075573"/>
            <a:ext cx="6464808" cy="0"/>
          </a:xfrm>
          <a:prstGeom prst="line">
            <a:avLst/>
          </a:prstGeom>
          <a:noFill/>
          <a:ln w="6350">
            <a:solidFill>
              <a:srgbClr val="EEF0F3"/>
            </a:solidFill>
            <a:prstDash val="solid"/>
          </a:ln>
        </p:spPr>
      </p:sp>
      <p:sp>
        <p:nvSpPr>
          <p:cNvPr id="111" name="Shape 84"/>
          <p:cNvSpPr/>
          <p:nvPr/>
        </p:nvSpPr>
        <p:spPr>
          <a:xfrm>
            <a:off x="841248" y="5129784"/>
            <a:ext cx="201168" cy="201168"/>
          </a:xfrm>
          <a:prstGeom prst="ellipse">
            <a:avLst/>
          </a:prstGeom>
          <a:solidFill>
            <a:srgbClr val="D9600B"/>
          </a:solidFill>
          <a:ln/>
        </p:spPr>
      </p:sp>
      <p:pic>
        <p:nvPicPr>
          <p:cNvPr id="112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77824" y="5166360"/>
            <a:ext cx="128016" cy="128016"/>
          </a:xfrm>
          <a:prstGeom prst="rect">
            <a:avLst/>
          </a:prstGeom>
        </p:spPr>
      </p:pic>
      <p:sp>
        <p:nvSpPr>
          <p:cNvPr id="113" name="Text 85"/>
          <p:cNvSpPr txBox="1"/>
          <p:nvPr/>
        </p:nvSpPr>
        <p:spPr>
          <a:xfrm>
            <a:off x="1115568" y="5080145"/>
            <a:ext cx="1947672" cy="300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Gunung Sumbing, Wonosobo</a:t>
            </a:r>
            <a:endParaRPr lang="en-US" sz="920" dirty="0"/>
          </a:p>
        </p:txBody>
      </p:sp>
      <p:sp>
        <p:nvSpPr>
          <p:cNvPr id="114" name="Text 86"/>
          <p:cNvSpPr txBox="1"/>
          <p:nvPr/>
        </p:nvSpPr>
        <p:spPr>
          <a:xfrm>
            <a:off x="3291840" y="5080145"/>
            <a:ext cx="1234440" cy="300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  207 ha</a:t>
            </a:r>
            <a:endParaRPr lang="en-US" sz="900" dirty="0"/>
          </a:p>
        </p:txBody>
      </p:sp>
      <p:sp>
        <p:nvSpPr>
          <p:cNvPr id="115" name="Shape 87"/>
          <p:cNvSpPr/>
          <p:nvPr/>
        </p:nvSpPr>
        <p:spPr>
          <a:xfrm>
            <a:off x="4739006" y="5125212"/>
            <a:ext cx="1052584" cy="21031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116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812158" y="5161788"/>
            <a:ext cx="137160" cy="137160"/>
          </a:xfrm>
          <a:prstGeom prst="rect">
            <a:avLst/>
          </a:prstGeom>
        </p:spPr>
      </p:pic>
      <p:sp>
        <p:nvSpPr>
          <p:cNvPr id="117" name="Text 88"/>
          <p:cNvSpPr txBox="1"/>
          <p:nvPr/>
        </p:nvSpPr>
        <p:spPr>
          <a:xfrm>
            <a:off x="4985894" y="5125212"/>
            <a:ext cx="796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hotspot</a:t>
            </a:r>
            <a:endParaRPr lang="en-US" sz="760" dirty="0"/>
          </a:p>
        </p:txBody>
      </p:sp>
      <p:sp>
        <p:nvSpPr>
          <p:cNvPr id="118" name="Shape 89"/>
          <p:cNvSpPr/>
          <p:nvPr/>
        </p:nvSpPr>
        <p:spPr>
          <a:xfrm>
            <a:off x="5864742" y="5125212"/>
            <a:ext cx="1155436" cy="21031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pic>
        <p:nvPicPr>
          <p:cNvPr id="11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937894" y="5161788"/>
            <a:ext cx="137160" cy="137160"/>
          </a:xfrm>
          <a:prstGeom prst="rect">
            <a:avLst/>
          </a:prstGeom>
        </p:spPr>
      </p:pic>
      <p:sp>
        <p:nvSpPr>
          <p:cNvPr id="120" name="Text 90"/>
          <p:cNvSpPr txBox="1"/>
          <p:nvPr/>
        </p:nvSpPr>
        <p:spPr>
          <a:xfrm>
            <a:off x="6111630" y="5125212"/>
            <a:ext cx="8994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sisa ± 13 ha</a:t>
            </a:r>
            <a:endParaRPr lang="en-US" sz="760" dirty="0"/>
          </a:p>
        </p:txBody>
      </p:sp>
      <p:sp>
        <p:nvSpPr>
          <p:cNvPr id="121" name="Shape 91"/>
          <p:cNvSpPr/>
          <p:nvPr/>
        </p:nvSpPr>
        <p:spPr>
          <a:xfrm>
            <a:off x="676656" y="5376019"/>
            <a:ext cx="6464808" cy="0"/>
          </a:xfrm>
          <a:prstGeom prst="line">
            <a:avLst/>
          </a:prstGeom>
          <a:noFill/>
          <a:ln w="6350">
            <a:solidFill>
              <a:srgbClr val="EEF0F3"/>
            </a:solidFill>
            <a:prstDash val="solid"/>
          </a:ln>
        </p:spPr>
      </p:sp>
      <p:sp>
        <p:nvSpPr>
          <p:cNvPr id="122" name="Shape 92"/>
          <p:cNvSpPr/>
          <p:nvPr/>
        </p:nvSpPr>
        <p:spPr>
          <a:xfrm>
            <a:off x="841248" y="5430230"/>
            <a:ext cx="201168" cy="20116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23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77824" y="5466806"/>
            <a:ext cx="128016" cy="128016"/>
          </a:xfrm>
          <a:prstGeom prst="rect">
            <a:avLst/>
          </a:prstGeom>
        </p:spPr>
      </p:pic>
      <p:sp>
        <p:nvSpPr>
          <p:cNvPr id="124" name="Text 93"/>
          <p:cNvSpPr txBox="1"/>
          <p:nvPr/>
        </p:nvSpPr>
        <p:spPr>
          <a:xfrm>
            <a:off x="1115568" y="5380591"/>
            <a:ext cx="1947672" cy="300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Cilacap</a:t>
            </a:r>
            <a:endParaRPr lang="en-US" sz="920" dirty="0"/>
          </a:p>
        </p:txBody>
      </p:sp>
      <p:sp>
        <p:nvSpPr>
          <p:cNvPr id="125" name="Text 94"/>
          <p:cNvSpPr txBox="1"/>
          <p:nvPr/>
        </p:nvSpPr>
        <p:spPr>
          <a:xfrm>
            <a:off x="3291840" y="5380591"/>
            <a:ext cx="1234440" cy="300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  252 ha</a:t>
            </a:r>
            <a:endParaRPr lang="en-US" sz="900" dirty="0"/>
          </a:p>
        </p:txBody>
      </p:sp>
      <p:sp>
        <p:nvSpPr>
          <p:cNvPr id="126" name="Shape 95"/>
          <p:cNvSpPr/>
          <p:nvPr/>
        </p:nvSpPr>
        <p:spPr>
          <a:xfrm>
            <a:off x="676656" y="5676465"/>
            <a:ext cx="6464808" cy="0"/>
          </a:xfrm>
          <a:prstGeom prst="line">
            <a:avLst/>
          </a:prstGeom>
          <a:noFill/>
          <a:ln w="6350">
            <a:solidFill>
              <a:srgbClr val="EEF0F3"/>
            </a:solidFill>
            <a:prstDash val="solid"/>
          </a:ln>
        </p:spPr>
      </p:sp>
      <p:sp>
        <p:nvSpPr>
          <p:cNvPr id="127" name="Shape 96"/>
          <p:cNvSpPr/>
          <p:nvPr/>
        </p:nvSpPr>
        <p:spPr>
          <a:xfrm>
            <a:off x="676656" y="5730675"/>
            <a:ext cx="201168" cy="201168"/>
          </a:xfrm>
          <a:prstGeom prst="ellipse">
            <a:avLst/>
          </a:prstGeom>
          <a:solidFill>
            <a:srgbClr val="D9600B"/>
          </a:solidFill>
          <a:ln/>
        </p:spPr>
      </p:sp>
      <p:pic>
        <p:nvPicPr>
          <p:cNvPr id="128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13232" y="5767251"/>
            <a:ext cx="128016" cy="128016"/>
          </a:xfrm>
          <a:prstGeom prst="rect">
            <a:avLst/>
          </a:prstGeom>
        </p:spPr>
      </p:pic>
      <p:sp>
        <p:nvSpPr>
          <p:cNvPr id="129" name="Text 97"/>
          <p:cNvSpPr txBox="1"/>
          <p:nvPr/>
        </p:nvSpPr>
        <p:spPr>
          <a:xfrm>
            <a:off x="950976" y="5681037"/>
            <a:ext cx="2112264" cy="300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Papua Barat Daya</a:t>
            </a:r>
            <a:pPr indent="0" marL="0">
              <a:buNone/>
            </a:pPr>
            <a:r>
              <a:rPr lang="en-US" sz="92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Raja Ampat</a:t>
            </a:r>
            <a:endParaRPr lang="en-US" sz="920" dirty="0"/>
          </a:p>
        </p:txBody>
      </p:sp>
      <p:sp>
        <p:nvSpPr>
          <p:cNvPr id="130" name="Text 98"/>
          <p:cNvSpPr txBox="1"/>
          <p:nvPr/>
        </p:nvSpPr>
        <p:spPr>
          <a:xfrm>
            <a:off x="3291840" y="5681037"/>
            <a:ext cx="1234440" cy="300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  2.080 ha</a:t>
            </a:r>
            <a:endParaRPr lang="en-US" sz="900" dirty="0"/>
          </a:p>
        </p:txBody>
      </p:sp>
      <p:sp>
        <p:nvSpPr>
          <p:cNvPr id="131" name="Shape 99"/>
          <p:cNvSpPr/>
          <p:nvPr/>
        </p:nvSpPr>
        <p:spPr>
          <a:xfrm>
            <a:off x="4739006" y="5726103"/>
            <a:ext cx="1052584" cy="21031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1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812158" y="5762679"/>
            <a:ext cx="137160" cy="137160"/>
          </a:xfrm>
          <a:prstGeom prst="rect">
            <a:avLst/>
          </a:prstGeom>
        </p:spPr>
      </p:pic>
      <p:sp>
        <p:nvSpPr>
          <p:cNvPr id="133" name="Text 100"/>
          <p:cNvSpPr txBox="1"/>
          <p:nvPr/>
        </p:nvSpPr>
        <p:spPr>
          <a:xfrm>
            <a:off x="4985894" y="5726103"/>
            <a:ext cx="796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hotspot</a:t>
            </a:r>
            <a:endParaRPr lang="en-US" sz="760" dirty="0"/>
          </a:p>
        </p:txBody>
      </p:sp>
      <p:sp>
        <p:nvSpPr>
          <p:cNvPr id="134" name="Shape 101"/>
          <p:cNvSpPr/>
          <p:nvPr/>
        </p:nvSpPr>
        <p:spPr>
          <a:xfrm>
            <a:off x="5864742" y="5726103"/>
            <a:ext cx="1155436" cy="21031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pic>
        <p:nvPicPr>
          <p:cNvPr id="135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937894" y="5762679"/>
            <a:ext cx="137160" cy="137160"/>
          </a:xfrm>
          <a:prstGeom prst="rect">
            <a:avLst/>
          </a:prstGeom>
        </p:spPr>
      </p:pic>
      <p:sp>
        <p:nvSpPr>
          <p:cNvPr id="136" name="Text 102"/>
          <p:cNvSpPr txBox="1"/>
          <p:nvPr/>
        </p:nvSpPr>
        <p:spPr>
          <a:xfrm>
            <a:off x="6111630" y="5726103"/>
            <a:ext cx="8994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sisa ± 4 ha</a:t>
            </a:r>
            <a:endParaRPr lang="en-US" sz="760" dirty="0"/>
          </a:p>
        </p:txBody>
      </p:sp>
      <p:sp>
        <p:nvSpPr>
          <p:cNvPr id="137" name="Shape 103"/>
          <p:cNvSpPr/>
          <p:nvPr/>
        </p:nvSpPr>
        <p:spPr>
          <a:xfrm>
            <a:off x="676656" y="5976910"/>
            <a:ext cx="6464808" cy="0"/>
          </a:xfrm>
          <a:prstGeom prst="line">
            <a:avLst/>
          </a:prstGeom>
          <a:noFill/>
          <a:ln w="6350">
            <a:solidFill>
              <a:srgbClr val="EEF0F3"/>
            </a:solidFill>
            <a:prstDash val="solid"/>
          </a:ln>
        </p:spPr>
      </p:sp>
      <p:sp>
        <p:nvSpPr>
          <p:cNvPr id="138" name="Shape 104"/>
          <p:cNvSpPr/>
          <p:nvPr/>
        </p:nvSpPr>
        <p:spPr>
          <a:xfrm>
            <a:off x="676656" y="6031121"/>
            <a:ext cx="201168" cy="20116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39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13232" y="6067697"/>
            <a:ext cx="128016" cy="128016"/>
          </a:xfrm>
          <a:prstGeom prst="rect">
            <a:avLst/>
          </a:prstGeom>
        </p:spPr>
      </p:pic>
      <p:sp>
        <p:nvSpPr>
          <p:cNvPr id="140" name="Text 105"/>
          <p:cNvSpPr txBox="1"/>
          <p:nvPr/>
        </p:nvSpPr>
        <p:spPr>
          <a:xfrm>
            <a:off x="950976" y="5981482"/>
            <a:ext cx="2112264" cy="300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Sulawesi Selatan</a:t>
            </a:r>
            <a:pPr indent="0" marL="0">
              <a:buNone/>
            </a:pPr>
            <a:r>
              <a:rPr lang="en-US" sz="92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Sinjai</a:t>
            </a:r>
            <a:endParaRPr lang="en-US" sz="920" dirty="0"/>
          </a:p>
        </p:txBody>
      </p:sp>
      <p:sp>
        <p:nvSpPr>
          <p:cNvPr id="141" name="Text 106"/>
          <p:cNvSpPr txBox="1"/>
          <p:nvPr/>
        </p:nvSpPr>
        <p:spPr>
          <a:xfrm>
            <a:off x="3291840" y="5981482"/>
            <a:ext cx="1234440" cy="300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  21 ha</a:t>
            </a:r>
            <a:endParaRPr lang="en-US" sz="900" dirty="0"/>
          </a:p>
        </p:txBody>
      </p:sp>
      <p:sp>
        <p:nvSpPr>
          <p:cNvPr id="142" name="Shape 107"/>
          <p:cNvSpPr/>
          <p:nvPr/>
        </p:nvSpPr>
        <p:spPr>
          <a:xfrm>
            <a:off x="7406640" y="1325880"/>
            <a:ext cx="4236415" cy="4645152"/>
          </a:xfrm>
          <a:prstGeom prst="roundRect">
            <a:avLst>
              <a:gd name="adj" fmla="val 1727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43" name="Shape 108"/>
          <p:cNvSpPr/>
          <p:nvPr/>
        </p:nvSpPr>
        <p:spPr>
          <a:xfrm>
            <a:off x="7406640" y="1325880"/>
            <a:ext cx="4236415" cy="457200"/>
          </a:xfrm>
          <a:prstGeom prst="roundRect">
            <a:avLst>
              <a:gd name="adj" fmla="val 16000"/>
            </a:avLst>
          </a:prstGeom>
          <a:solidFill>
            <a:srgbClr val="F4ECDC"/>
          </a:solidFill>
          <a:ln/>
        </p:spPr>
      </p:sp>
      <p:sp>
        <p:nvSpPr>
          <p:cNvPr id="144" name="Shape 109"/>
          <p:cNvSpPr/>
          <p:nvPr/>
        </p:nvSpPr>
        <p:spPr>
          <a:xfrm>
            <a:off x="7406640" y="1600200"/>
            <a:ext cx="4236415" cy="182880"/>
          </a:xfrm>
          <a:prstGeom prst="rect">
            <a:avLst/>
          </a:prstGeom>
          <a:solidFill>
            <a:srgbClr val="F4ECDC"/>
          </a:solidFill>
          <a:ln/>
        </p:spPr>
      </p:sp>
      <p:sp>
        <p:nvSpPr>
          <p:cNvPr id="145" name="Shape 110"/>
          <p:cNvSpPr/>
          <p:nvPr/>
        </p:nvSpPr>
        <p:spPr>
          <a:xfrm>
            <a:off x="7534656" y="1408176"/>
            <a:ext cx="292608" cy="292608"/>
          </a:xfrm>
          <a:prstGeom prst="ellipse">
            <a:avLst/>
          </a:prstGeom>
          <a:solidFill>
            <a:srgbClr val="B08A3E"/>
          </a:solidFill>
          <a:ln/>
        </p:spPr>
      </p:sp>
      <p:pic>
        <p:nvPicPr>
          <p:cNvPr id="146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589520" y="1463040"/>
            <a:ext cx="182880" cy="182880"/>
          </a:xfrm>
          <a:prstGeom prst="rect">
            <a:avLst/>
          </a:prstGeom>
        </p:spPr>
      </p:pic>
      <p:sp>
        <p:nvSpPr>
          <p:cNvPr id="147" name="Text 111"/>
          <p:cNvSpPr txBox="1"/>
          <p:nvPr/>
        </p:nvSpPr>
        <p:spPr>
          <a:xfrm>
            <a:off x="7909560" y="1399032"/>
            <a:ext cx="31391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Kekeringan</a:t>
            </a:r>
            <a:endParaRPr lang="en-US" sz="1100" dirty="0"/>
          </a:p>
        </p:txBody>
      </p:sp>
      <p:sp>
        <p:nvSpPr>
          <p:cNvPr id="148" name="Text 112"/>
          <p:cNvSpPr txBox="1"/>
          <p:nvPr/>
        </p:nvSpPr>
        <p:spPr>
          <a:xfrm>
            <a:off x="11002975" y="1380744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08A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800" dirty="0"/>
          </a:p>
        </p:txBody>
      </p:sp>
      <p:sp>
        <p:nvSpPr>
          <p:cNvPr id="149" name="Text 113"/>
          <p:cNvSpPr txBox="1"/>
          <p:nvPr/>
        </p:nvSpPr>
        <p:spPr>
          <a:xfrm>
            <a:off x="7571232" y="18745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Jawa Tengah</a:t>
            </a:r>
            <a:endParaRPr lang="en-US" sz="950" dirty="0"/>
          </a:p>
        </p:txBody>
      </p:sp>
      <p:sp>
        <p:nvSpPr>
          <p:cNvPr id="150" name="Shape 114"/>
          <p:cNvSpPr/>
          <p:nvPr/>
        </p:nvSpPr>
        <p:spPr>
          <a:xfrm>
            <a:off x="8458200" y="1911096"/>
            <a:ext cx="584119" cy="146304"/>
          </a:xfrm>
          <a:prstGeom prst="roundRect">
            <a:avLst>
              <a:gd name="adj" fmla="val 50000"/>
            </a:avLst>
          </a:prstGeom>
          <a:solidFill>
            <a:srgbClr val="F4ECDC"/>
          </a:solidFill>
          <a:ln/>
        </p:spPr>
      </p:sp>
      <p:sp>
        <p:nvSpPr>
          <p:cNvPr id="151" name="Text 115"/>
          <p:cNvSpPr txBox="1"/>
          <p:nvPr/>
        </p:nvSpPr>
        <p:spPr>
          <a:xfrm>
            <a:off x="8540496" y="1911096"/>
            <a:ext cx="5018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8A6A2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kejadian</a:t>
            </a:r>
            <a:endParaRPr lang="en-US" sz="620" dirty="0"/>
          </a:p>
        </p:txBody>
      </p:sp>
      <p:sp>
        <p:nvSpPr>
          <p:cNvPr id="152" name="Shape 116"/>
          <p:cNvSpPr/>
          <p:nvPr/>
        </p:nvSpPr>
        <p:spPr>
          <a:xfrm>
            <a:off x="7571232" y="2194560"/>
            <a:ext cx="3907231" cy="1773936"/>
          </a:xfrm>
          <a:prstGeom prst="roundRect">
            <a:avLst>
              <a:gd name="adj" fmla="val 3093"/>
            </a:avLst>
          </a:prstGeom>
          <a:solidFill>
            <a:srgbClr val="FBF8F2"/>
          </a:solidFill>
          <a:ln/>
        </p:spPr>
      </p:sp>
      <p:sp>
        <p:nvSpPr>
          <p:cNvPr id="153" name="Shape 117"/>
          <p:cNvSpPr/>
          <p:nvPr/>
        </p:nvSpPr>
        <p:spPr>
          <a:xfrm>
            <a:off x="7699248" y="2340864"/>
            <a:ext cx="237744" cy="237744"/>
          </a:xfrm>
          <a:prstGeom prst="ellipse">
            <a:avLst/>
          </a:prstGeom>
          <a:solidFill>
            <a:srgbClr val="D9600B"/>
          </a:solidFill>
          <a:ln/>
        </p:spPr>
      </p:sp>
      <p:pic>
        <p:nvPicPr>
          <p:cNvPr id="154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744968" y="2386584"/>
            <a:ext cx="146304" cy="146304"/>
          </a:xfrm>
          <a:prstGeom prst="rect">
            <a:avLst/>
          </a:prstGeom>
        </p:spPr>
      </p:pic>
      <p:sp>
        <p:nvSpPr>
          <p:cNvPr id="155" name="Text 118"/>
          <p:cNvSpPr txBox="1"/>
          <p:nvPr/>
        </p:nvSpPr>
        <p:spPr>
          <a:xfrm>
            <a:off x="8028432" y="23134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Kab. Klaten</a:t>
            </a:r>
            <a:endParaRPr lang="en-US" sz="1150" dirty="0"/>
          </a:p>
        </p:txBody>
      </p:sp>
      <p:pic>
        <p:nvPicPr>
          <p:cNvPr id="156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699248" y="2798064"/>
            <a:ext cx="237744" cy="237744"/>
          </a:xfrm>
          <a:prstGeom prst="rect">
            <a:avLst/>
          </a:prstGeom>
        </p:spPr>
      </p:pic>
      <p:sp>
        <p:nvSpPr>
          <p:cNvPr id="157" name="Text 119"/>
          <p:cNvSpPr txBox="1"/>
          <p:nvPr/>
        </p:nvSpPr>
        <p:spPr>
          <a:xfrm>
            <a:off x="8028432" y="27614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5.136 KK</a:t>
            </a:r>
            <a:endParaRPr lang="en-US" sz="1700" dirty="0"/>
          </a:p>
        </p:txBody>
      </p:sp>
      <p:pic>
        <p:nvPicPr>
          <p:cNvPr id="158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699248" y="3172968"/>
            <a:ext cx="219456" cy="219456"/>
          </a:xfrm>
          <a:prstGeom prst="rect">
            <a:avLst/>
          </a:prstGeom>
        </p:spPr>
      </p:pic>
      <p:sp>
        <p:nvSpPr>
          <p:cNvPr id="159" name="Text 120"/>
          <p:cNvSpPr txBox="1"/>
          <p:nvPr/>
        </p:nvSpPr>
        <p:spPr>
          <a:xfrm>
            <a:off x="8028432" y="31272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17.127 jiwa</a:t>
            </a:r>
            <a:endParaRPr lang="en-US" sz="1100" dirty="0"/>
          </a:p>
        </p:txBody>
      </p:sp>
      <p:sp>
        <p:nvSpPr>
          <p:cNvPr id="160" name="Shape 121"/>
          <p:cNvSpPr/>
          <p:nvPr/>
        </p:nvSpPr>
        <p:spPr>
          <a:xfrm>
            <a:off x="9543136" y="2761488"/>
            <a:ext cx="181645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  <a:prstDash val="solid"/>
          </a:ln>
        </p:spPr>
      </p:sp>
      <p:pic>
        <p:nvPicPr>
          <p:cNvPr id="161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652864" y="2825496"/>
            <a:ext cx="182880" cy="182880"/>
          </a:xfrm>
          <a:prstGeom prst="rect">
            <a:avLst/>
          </a:prstGeom>
        </p:spPr>
      </p:pic>
      <p:sp>
        <p:nvSpPr>
          <p:cNvPr id="162" name="Text 122"/>
          <p:cNvSpPr txBox="1"/>
          <p:nvPr/>
        </p:nvSpPr>
        <p:spPr>
          <a:xfrm>
            <a:off x="9890608" y="2761488"/>
            <a:ext cx="1450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105.000 liter</a:t>
            </a:r>
            <a:endParaRPr lang="en-US" sz="1100" dirty="0"/>
          </a:p>
        </p:txBody>
      </p:sp>
      <p:sp>
        <p:nvSpPr>
          <p:cNvPr id="163" name="Text 123"/>
          <p:cNvSpPr txBox="1"/>
          <p:nvPr/>
        </p:nvSpPr>
        <p:spPr>
          <a:xfrm>
            <a:off x="9588856" y="3127248"/>
            <a:ext cx="1816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 tangki, untuk 1.089 KK</a:t>
            </a:r>
            <a:endParaRPr lang="en-US" sz="900" dirty="0"/>
          </a:p>
        </p:txBody>
      </p:sp>
      <p:sp>
        <p:nvSpPr>
          <p:cNvPr id="164" name="Shape 124"/>
          <p:cNvSpPr/>
          <p:nvPr/>
        </p:nvSpPr>
        <p:spPr>
          <a:xfrm>
            <a:off x="7571232" y="4059936"/>
            <a:ext cx="3907231" cy="1773936"/>
          </a:xfrm>
          <a:prstGeom prst="roundRect">
            <a:avLst>
              <a:gd name="adj" fmla="val 3093"/>
            </a:avLst>
          </a:prstGeom>
          <a:solidFill>
            <a:srgbClr val="FBF8F2"/>
          </a:solidFill>
          <a:ln/>
        </p:spPr>
      </p:sp>
      <p:sp>
        <p:nvSpPr>
          <p:cNvPr id="165" name="Shape 125"/>
          <p:cNvSpPr/>
          <p:nvPr/>
        </p:nvSpPr>
        <p:spPr>
          <a:xfrm>
            <a:off x="7699248" y="4206240"/>
            <a:ext cx="237744" cy="237744"/>
          </a:xfrm>
          <a:prstGeom prst="ellipse">
            <a:avLst/>
          </a:prstGeom>
          <a:solidFill>
            <a:srgbClr val="D9600B"/>
          </a:solidFill>
          <a:ln/>
        </p:spPr>
      </p:sp>
      <p:pic>
        <p:nvPicPr>
          <p:cNvPr id="166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744968" y="4251960"/>
            <a:ext cx="146304" cy="146304"/>
          </a:xfrm>
          <a:prstGeom prst="rect">
            <a:avLst/>
          </a:prstGeom>
        </p:spPr>
      </p:pic>
      <p:sp>
        <p:nvSpPr>
          <p:cNvPr id="167" name="Text 126"/>
          <p:cNvSpPr txBox="1"/>
          <p:nvPr/>
        </p:nvSpPr>
        <p:spPr>
          <a:xfrm>
            <a:off x="8028432" y="41788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Kab. Grobogan</a:t>
            </a:r>
            <a:endParaRPr lang="en-US" sz="1150" dirty="0"/>
          </a:p>
        </p:txBody>
      </p:sp>
      <p:pic>
        <p:nvPicPr>
          <p:cNvPr id="168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699248" y="4663440"/>
            <a:ext cx="237744" cy="237744"/>
          </a:xfrm>
          <a:prstGeom prst="rect">
            <a:avLst/>
          </a:prstGeom>
        </p:spPr>
      </p:pic>
      <p:sp>
        <p:nvSpPr>
          <p:cNvPr id="169" name="Text 127"/>
          <p:cNvSpPr txBox="1"/>
          <p:nvPr/>
        </p:nvSpPr>
        <p:spPr>
          <a:xfrm>
            <a:off x="8028432" y="462686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3.285 KK</a:t>
            </a:r>
            <a:endParaRPr lang="en-US" sz="1700" dirty="0"/>
          </a:p>
        </p:txBody>
      </p:sp>
      <p:pic>
        <p:nvPicPr>
          <p:cNvPr id="170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699248" y="5038344"/>
            <a:ext cx="219456" cy="219456"/>
          </a:xfrm>
          <a:prstGeom prst="rect">
            <a:avLst/>
          </a:prstGeom>
        </p:spPr>
      </p:pic>
      <p:sp>
        <p:nvSpPr>
          <p:cNvPr id="171" name="Text 128"/>
          <p:cNvSpPr txBox="1"/>
          <p:nvPr/>
        </p:nvSpPr>
        <p:spPr>
          <a:xfrm>
            <a:off x="8028432" y="49926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dalam pendataan</a:t>
            </a:r>
            <a:endParaRPr lang="en-US" sz="1100" dirty="0"/>
          </a:p>
        </p:txBody>
      </p:sp>
      <p:sp>
        <p:nvSpPr>
          <p:cNvPr id="172" name="Shape 129"/>
          <p:cNvSpPr/>
          <p:nvPr/>
        </p:nvSpPr>
        <p:spPr>
          <a:xfrm>
            <a:off x="9543136" y="4626864"/>
            <a:ext cx="181645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  <a:prstDash val="solid"/>
          </a:ln>
        </p:spPr>
      </p:sp>
      <p:pic>
        <p:nvPicPr>
          <p:cNvPr id="173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652864" y="4690872"/>
            <a:ext cx="182880" cy="182880"/>
          </a:xfrm>
          <a:prstGeom prst="rect">
            <a:avLst/>
          </a:prstGeom>
        </p:spPr>
      </p:pic>
      <p:sp>
        <p:nvSpPr>
          <p:cNvPr id="174" name="Text 130"/>
          <p:cNvSpPr txBox="1"/>
          <p:nvPr/>
        </p:nvSpPr>
        <p:spPr>
          <a:xfrm>
            <a:off x="9890608" y="4626864"/>
            <a:ext cx="1450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32.000 liter</a:t>
            </a:r>
            <a:endParaRPr lang="en-US" sz="1100" dirty="0"/>
          </a:p>
        </p:txBody>
      </p:sp>
      <p:sp>
        <p:nvSpPr>
          <p:cNvPr id="175" name="Text 131"/>
          <p:cNvSpPr txBox="1"/>
          <p:nvPr/>
        </p:nvSpPr>
        <p:spPr>
          <a:xfrm>
            <a:off x="9588856" y="4992624"/>
            <a:ext cx="1816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truk tangki</a:t>
            </a:r>
            <a:endParaRPr lang="en-US" sz="900" dirty="0"/>
          </a:p>
        </p:txBody>
      </p:sp>
      <p:sp>
        <p:nvSpPr>
          <p:cNvPr id="176" name="Shape 132"/>
          <p:cNvSpPr/>
          <p:nvPr/>
        </p:nvSpPr>
        <p:spPr>
          <a:xfrm>
            <a:off x="7406640" y="6080760"/>
            <a:ext cx="4236415" cy="27432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/>
        </p:spPr>
      </p:sp>
      <p:sp>
        <p:nvSpPr>
          <p:cNvPr id="177" name="Text 133"/>
          <p:cNvSpPr txBox="1"/>
          <p:nvPr/>
        </p:nvSpPr>
        <p:spPr>
          <a:xfrm>
            <a:off x="7974025" y="60807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0" kern="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KETERANGAN</a:t>
            </a:r>
            <a:endParaRPr lang="en-US" sz="680" dirty="0"/>
          </a:p>
        </p:txBody>
      </p:sp>
      <p:sp>
        <p:nvSpPr>
          <p:cNvPr id="178" name="Shape 134"/>
          <p:cNvSpPr/>
          <p:nvPr/>
        </p:nvSpPr>
        <p:spPr>
          <a:xfrm>
            <a:off x="9117025" y="6140196"/>
            <a:ext cx="155448" cy="15544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79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149029" y="6172200"/>
            <a:ext cx="91440" cy="91440"/>
          </a:xfrm>
          <a:prstGeom prst="rect">
            <a:avLst/>
          </a:prstGeom>
        </p:spPr>
      </p:pic>
      <p:sp>
        <p:nvSpPr>
          <p:cNvPr id="180" name="Text 135"/>
          <p:cNvSpPr txBox="1"/>
          <p:nvPr/>
        </p:nvSpPr>
        <p:spPr>
          <a:xfrm>
            <a:off x="9327337" y="6080760"/>
            <a:ext cx="6199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selesai</a:t>
            </a:r>
            <a:endParaRPr lang="en-US" sz="750" dirty="0"/>
          </a:p>
        </p:txBody>
      </p:sp>
      <p:sp>
        <p:nvSpPr>
          <p:cNvPr id="181" name="Shape 136"/>
          <p:cNvSpPr/>
          <p:nvPr/>
        </p:nvSpPr>
        <p:spPr>
          <a:xfrm>
            <a:off x="10011308" y="6140196"/>
            <a:ext cx="155448" cy="155448"/>
          </a:xfrm>
          <a:prstGeom prst="ellipse">
            <a:avLst/>
          </a:prstGeom>
          <a:solidFill>
            <a:srgbClr val="D9600B"/>
          </a:solidFill>
          <a:ln/>
        </p:spPr>
      </p:sp>
      <p:pic>
        <p:nvPicPr>
          <p:cNvPr id="182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0043312" y="6172200"/>
            <a:ext cx="91440" cy="91440"/>
          </a:xfrm>
          <a:prstGeom prst="rect">
            <a:avLst/>
          </a:prstGeom>
        </p:spPr>
      </p:pic>
      <p:sp>
        <p:nvSpPr>
          <p:cNvPr id="183" name="Text 137"/>
          <p:cNvSpPr txBox="1"/>
          <p:nvPr/>
        </p:nvSpPr>
        <p:spPr>
          <a:xfrm>
            <a:off x="10221620" y="6080760"/>
            <a:ext cx="10643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dalam penanganan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2920"/>
            <a:ext cx="1005840" cy="10058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143" y="663854"/>
            <a:ext cx="542834" cy="683971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24688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Terima kasih</a:t>
            </a:r>
            <a:endParaRPr lang="en-US" sz="5400" dirty="0"/>
          </a:p>
        </p:txBody>
      </p:sp>
      <p:sp>
        <p:nvSpPr>
          <p:cNvPr id="6" name="Shape 2"/>
          <p:cNvSpPr/>
          <p:nvPr/>
        </p:nvSpPr>
        <p:spPr>
          <a:xfrm>
            <a:off x="548640" y="3657600"/>
            <a:ext cx="4754880" cy="0"/>
          </a:xfrm>
          <a:prstGeom prst="line">
            <a:avLst/>
          </a:prstGeom>
          <a:noFill/>
          <a:ln w="25400">
            <a:solidFill>
              <a:srgbClr val="F28C2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4864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251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1E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Laporan Kejadian Bencana Harian, 21–22 Oktober 2026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6B2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Lampiran (data rinci) mulai halaman 13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7985455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C9D1E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Foto: DenY Krisbiyantoro, CC BY-SA 4.0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Paparan Kepala BNPB kepada Presiden: Karhutla 6 Provinsi Prioritas</dc:title>
  <dc:subject>PptxGenJS Presentation</dc:subject>
  <dc:creator>BNPB</dc:creator>
  <cp:lastModifiedBy>BNPB</cp:lastModifiedBy>
  <cp:revision>1</cp:revision>
  <dcterms:created xsi:type="dcterms:W3CDTF">2026-10-22T07:37:45Z</dcterms:created>
  <dcterms:modified xsi:type="dcterms:W3CDTF">2026-10-22T07:37:45Z</dcterms:modified>
</cp:coreProperties>
</file>