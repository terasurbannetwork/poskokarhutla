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5"/>
    <p:sldId id="257" r:id="rId4"/>
    <p:sldId id="258" r:id="rId3"/>
    <p:sldId id="264" r:id="rId1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Roboto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Roboto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Roboto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Roboto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Roboto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17.png"/><Relationship Id="rId16" Type="http://schemas.openxmlformats.org/officeDocument/2006/relationships/image" Target="../media/image18.png"/><Relationship Id="rId17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atar gradie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40000">
                <a:srgbClr val="FFFFFF"/>
              </a:gs>
              <a:gs pos="100000">
                <a:srgbClr val="E6EAF0"/>
              </a:gs>
            </a:gsLst>
            <a:lin ang="81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uji-panel-gelap-tumpuk0-alfa-ui-515x1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500" y="0"/>
            <a:ext cx="6540500" cy="1685925"/>
          </a:xfrm>
          <a:prstGeom prst="rect">
            <a:avLst/>
          </a:prstGeom>
        </p:spPr>
      </p:pic>
      <p:pic>
        <p:nvPicPr>
          <p:cNvPr id="4" name="Picture 3" descr="uji-panel-gelap-tumpuk1-alfa-itb-515x1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500" y="1724025"/>
            <a:ext cx="6540500" cy="1685925"/>
          </a:xfrm>
          <a:prstGeom prst="rect">
            <a:avLst/>
          </a:prstGeom>
        </p:spPr>
      </p:pic>
      <p:pic>
        <p:nvPicPr>
          <p:cNvPr id="5" name="Picture 4" descr="uji-panel-gelap-tumpuk2-alfa-ugm-515x1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500" y="3448050"/>
            <a:ext cx="6540500" cy="1685925"/>
          </a:xfrm>
          <a:prstGeom prst="rect">
            <a:avLst/>
          </a:prstGeom>
        </p:spPr>
      </p:pic>
      <p:pic>
        <p:nvPicPr>
          <p:cNvPr id="6" name="Picture 5" descr="uji-panel-gelap-tumpuk3-alfa-ipb-515x1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5172075"/>
            <a:ext cx="6540500" cy="16859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604000"/>
            <a:ext cx="5334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0" lang="id-ID">
                <a:solidFill>
                  <a:srgbClr val="6B7280"/>
                </a:solidFill>
                <a:latin typeface="Roboto"/>
              </a:rPr>
              <a:t>Foto: Ilham Kuniawan Gumilang (UI), A2613 (ITB), Alharamain354 (UGM), Davidelit (IPB); CC BY-SA 4.0, Wikimedia Commons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sumber-bnp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126" y="628193"/>
            <a:ext cx="526869" cy="66385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763760" y="457200"/>
            <a:ext cx="1879600" cy="505983"/>
          </a:xfrm>
          <a:prstGeom prst="roundRect">
            <a:avLst>
              <a:gd name="adj" fmla="val 15059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berakhlak-h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0760" y="546100"/>
            <a:ext cx="1625600" cy="3281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1730883"/>
            <a:ext cx="6172200" cy="1948434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4550" b="1" lang="id-ID">
                <a:solidFill>
                  <a:srgbClr val="1A1A1A"/>
                </a:solidFill>
                <a:latin typeface="Roboto"/>
              </a:rPr>
              <a:t>Ajuan Program Kerja</a:t>
            </a:r>
          </a:p>
          <a:p>
            <a:pPr algn="l">
              <a:lnSpc>
                <a:spcPct val="95000"/>
              </a:lnSpc>
            </a:pPr>
            <a:r>
              <a:rPr sz="4550" b="1" lang="id-ID">
                <a:solidFill>
                  <a:srgbClr val="1A1A1A"/>
                </a:solidFill>
                <a:latin typeface="Roboto"/>
              </a:rPr>
              <a:t>Sama BNPB dengan</a:t>
            </a:r>
          </a:p>
          <a:p>
            <a:pPr algn="l">
              <a:lnSpc>
                <a:spcPct val="95000"/>
              </a:lnSpc>
            </a:pPr>
            <a:r>
              <a:rPr sz="4550" b="1" lang="id-ID">
                <a:solidFill>
                  <a:srgbClr val="1A1A1A"/>
                </a:solidFill>
                <a:latin typeface="Roboto"/>
              </a:rPr>
              <a:t>Perguruan Tinggi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31717"/>
            <a:ext cx="5207000" cy="495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500" b="0" lang="id-ID">
                <a:solidFill>
                  <a:srgbClr val="2E3440"/>
                </a:solidFill>
                <a:latin typeface="Roboto"/>
              </a:rPr>
              <a:t>Program kerja sama kebencanaan bersama perguruan tinggi di sepuluh regional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4581017"/>
            <a:ext cx="584200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548640" y="4758817"/>
            <a:ext cx="5842000" cy="1746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lang="id-ID">
                <a:solidFill>
                  <a:srgbClr val="D9600B"/>
                </a:solidFill>
                <a:latin typeface="Roboto"/>
              </a:rPr>
              <a:t>Dipresentasikan oleh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996942"/>
            <a:ext cx="5842000" cy="222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lang="id-ID">
                <a:solidFill>
                  <a:srgbClr val="1A1A1A"/>
                </a:solidFill>
                <a:latin typeface="Roboto"/>
              </a:rPr>
              <a:t>Letnan Jenderal TNI Kristomei Sianturi, S.Sos., M.Si., M.Si. (Han)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44592"/>
            <a:ext cx="5842000" cy="1825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50" b="0" lang="id-ID">
                <a:solidFill>
                  <a:srgbClr val="2E3440"/>
                </a:solidFill>
                <a:latin typeface="Roboto"/>
              </a:rPr>
              <a:t>Kepala Badan Nasional Penanggulangan Bencana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579554"/>
            <a:ext cx="2540000" cy="3302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/>
            <a:r>
              <a:rPr sz="1150" b="1" lang="id-ID">
                <a:solidFill>
                  <a:srgbClr val="FFFFFF"/>
                </a:solidFill>
                <a:latin typeface="Roboto"/>
              </a:rPr>
              <a:t>Jakarta, 30 Oktober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31364" y="6096000"/>
            <a:ext cx="3311996" cy="330200"/>
          </a:xfrm>
          <a:prstGeom prst="roundRect">
            <a:avLst>
              <a:gd name="adj" fmla="val 50000"/>
            </a:avLst>
          </a:prstGeom>
          <a:solidFill>
            <a:srgbClr val="051C2C">
              <a:alpha val="70000"/>
            </a:srgbClr>
          </a:solidFill>
          <a:ln w="9525">
            <a:solidFill>
              <a:srgbClr val="FFFFFF"/>
            </a:solidFill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1364" y="6096000"/>
            <a:ext cx="3311996" cy="330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00" b="1" i="1" lang="id-ID">
                <a:solidFill>
                  <a:srgbClr val="FFFFFF"/>
                </a:solidFill>
                <a:latin typeface="Roboto"/>
              </a:rPr>
              <a:t>Ditujukan khusus untuk Rapat Pimpinan BNPB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121400"/>
            <a:ext cx="533400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00499D"/>
                </a:solidFill>
                <a:latin typeface="Roboto"/>
              </a:rPr>
              <a:t>© 2026 Badan Nasional Penanggulangan Bencana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24600"/>
            <a:ext cx="5334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1" lang="id-ID">
                <a:solidFill>
                  <a:srgbClr val="2E3440"/>
                </a:solidFill>
                <a:latin typeface="Roboto"/>
              </a:rPr>
              <a:t>Ketangguhan Bangsa dalam Menghadapi Bencana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uji-panel-gelap-kisi-ui-300x5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810000" cy="6858000"/>
          </a:xfrm>
          <a:prstGeom prst="rect">
            <a:avLst/>
          </a:prstGeom>
        </p:spPr>
      </p:pic>
      <p:sp>
        <p:nvSpPr>
          <p:cNvPr id="4" name="Gradien panel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051C2C">
                  <a:alpha val="94000"/>
                </a:srgbClr>
              </a:gs>
              <a:gs pos="58000">
                <a:srgbClr val="051C2C">
                  <a:alpha val="84000"/>
                </a:srgbClr>
              </a:gs>
              <a:gs pos="100000">
                <a:srgbClr val="051C2C">
                  <a:alpha val="22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9800" y="3810000"/>
            <a:ext cx="330200" cy="330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10000" y="4140200"/>
            <a:ext cx="228600" cy="2286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252200" y="0"/>
            <a:ext cx="381000" cy="3810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33200" y="381000"/>
            <a:ext cx="228600" cy="2286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30600" y="6578600"/>
            <a:ext cx="279400" cy="279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0" y="6375400"/>
            <a:ext cx="203200" cy="203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304800"/>
            <a:ext cx="812800" cy="812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164" y="442976"/>
            <a:ext cx="425752" cy="5364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2413000"/>
            <a:ext cx="2712720" cy="7620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l"/>
            <a:r>
              <a:rPr sz="3600" b="1" lang="id-ID">
                <a:solidFill>
                  <a:srgbClr val="FFFFFF"/>
                </a:solidFill>
                <a:latin typeface="Roboto"/>
              </a:rPr>
              <a:t>Daftar Isi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27400"/>
            <a:ext cx="711200" cy="381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505200"/>
            <a:ext cx="271272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0" lang="id-ID">
                <a:solidFill>
                  <a:srgbClr val="C9D1E3"/>
                </a:solidFill>
                <a:latin typeface="Roboto"/>
              </a:rPr>
              <a:t>Ajuan Program Kerja Sama BNPB dengan Perguruan Tinggi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8000" y="10795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D9600B"/>
                </a:solidFill>
                <a:latin typeface="Roboto"/>
              </a:rPr>
              <a:t>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78160" y="14097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78160" y="14097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Roboto"/>
              </a:rPr>
              <a:t>3–4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5400" y="10795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lang="id-ID">
                <a:solidFill>
                  <a:srgbClr val="1A1A1A"/>
                </a:solidFill>
                <a:latin typeface="Roboto"/>
              </a:rPr>
              <a:t>Kebutuhan BNPB dan Kesenjangan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318000" y="20193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4318000" y="20193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D9600B"/>
                </a:solidFill>
                <a:latin typeface="Roboto"/>
              </a:rPr>
              <a:t>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78160" y="23495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78160" y="23495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Robot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05400" y="20193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lang="id-ID">
                <a:solidFill>
                  <a:srgbClr val="1A1A1A"/>
                </a:solidFill>
                <a:latin typeface="Roboto"/>
              </a:rPr>
              <a:t>Empat Pilar Kerja Sama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318000" y="29591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4318000" y="29591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D9600B"/>
                </a:solidFill>
                <a:latin typeface="Roboto"/>
              </a:rPr>
              <a:t>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78160" y="32893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78160" y="32893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Roboto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5400" y="29591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lang="id-ID">
                <a:solidFill>
                  <a:srgbClr val="1A1A1A"/>
                </a:solidFill>
                <a:latin typeface="Roboto"/>
              </a:rPr>
              <a:t>Regional dan Mitra Pelaksana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318000" y="38989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4318000" y="38989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D9600B"/>
                </a:solidFill>
                <a:latin typeface="Roboto"/>
              </a:rPr>
              <a:t>04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78160" y="42291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78160" y="42291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Roboto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05400" y="38989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lang="id-ID">
                <a:solidFill>
                  <a:srgbClr val="1A1A1A"/>
                </a:solidFill>
                <a:latin typeface="Roboto"/>
              </a:rPr>
              <a:t>Peta Jalan dan Pendanaan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318000" y="48387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36" name="TextBox 35"/>
          <p:cNvSpPr txBox="1"/>
          <p:nvPr/>
        </p:nvSpPr>
        <p:spPr>
          <a:xfrm>
            <a:off x="4318000" y="48387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D9600B"/>
                </a:solidFill>
                <a:latin typeface="Roboto"/>
              </a:rPr>
              <a:t>05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678160" y="51689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78160" y="51689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Roboto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05400" y="48387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lang="id-ID">
                <a:solidFill>
                  <a:srgbClr val="1A1A1A"/>
                </a:solidFill>
                <a:latin typeface="Roboto"/>
              </a:rPr>
              <a:t>Dukungan yang Dibutuhkan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uji-panel-gelap-kisi-ui-300x5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810000" cy="6858000"/>
          </a:xfrm>
          <a:prstGeom prst="rect">
            <a:avLst/>
          </a:prstGeom>
        </p:spPr>
      </p:pic>
      <p:sp>
        <p:nvSpPr>
          <p:cNvPr id="4" name="Gradien panel"/>
          <p:cNvSpPr/>
          <p:nvPr/>
        </p:nvSpPr>
        <p:spPr>
          <a:xfrm>
            <a:off x="0" y="0"/>
            <a:ext cx="3810000" cy="6858000"/>
          </a:xfrm>
          <a:prstGeom prst="rect">
            <a:avLst/>
          </a:prstGeom>
          <a:gradFill rotWithShape="1">
            <a:gsLst>
              <a:gs pos="0">
                <a:srgbClr val="051C2C">
                  <a:alpha val="94000"/>
                </a:srgbClr>
              </a:gs>
              <a:gs pos="58000">
                <a:srgbClr val="051C2C">
                  <a:alpha val="84000"/>
                </a:srgbClr>
              </a:gs>
              <a:gs pos="100000">
                <a:srgbClr val="051C2C">
                  <a:alpha val="22000"/>
                </a:srgbClr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79800" y="3810000"/>
            <a:ext cx="330200" cy="330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810000" y="4140200"/>
            <a:ext cx="228600" cy="2286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252200" y="0"/>
            <a:ext cx="381000" cy="3810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633200" y="381000"/>
            <a:ext cx="228600" cy="228600"/>
          </a:xfrm>
          <a:prstGeom prst="rect">
            <a:avLst/>
          </a:prstGeom>
          <a:solidFill>
            <a:srgbClr val="AEBB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30600" y="6578600"/>
            <a:ext cx="279400" cy="279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10000" y="6375400"/>
            <a:ext cx="203200" cy="203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" y="304800"/>
            <a:ext cx="812800" cy="812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sumber-bnp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164" y="442976"/>
            <a:ext cx="425752" cy="5364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1981200"/>
            <a:ext cx="2712720" cy="1092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000" b="1" lang="id-ID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75000"/>
            <a:ext cx="711200" cy="381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352800"/>
            <a:ext cx="2712720" cy="1397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lang="id-ID">
                <a:solidFill>
                  <a:srgbClr val="FFFFFF"/>
                </a:solidFill>
                <a:latin typeface="Roboto"/>
              </a:rPr>
              <a:t>Kebutuhan BNPB dan Kesenjangan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1130300"/>
            <a:ext cx="7528560" cy="838200"/>
          </a:xfrm>
          <a:prstGeom prst="rect">
            <a:avLst/>
          </a:prstGeom>
          <a:solidFill>
            <a:srgbClr val="FDF4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0" y="1130300"/>
            <a:ext cx="50800" cy="838200"/>
          </a:xfrm>
          <a:prstGeom prst="rect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8000" y="10795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D9600B"/>
                </a:solidFill>
                <a:latin typeface="Roboto"/>
              </a:rPr>
              <a:t>01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678160" y="14097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78160" y="14097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FFFFFF"/>
                </a:solidFill>
                <a:latin typeface="Roboto"/>
              </a:rPr>
              <a:t>3–4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5400" y="10795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lang="id-ID">
                <a:solidFill>
                  <a:srgbClr val="1A1A1A"/>
                </a:solidFill>
                <a:latin typeface="Roboto"/>
              </a:rPr>
              <a:t>Kebutuhan BNPB dan Kesenjangan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318000" y="20193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4318000" y="20193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BFC5CC"/>
                </a:solidFill>
                <a:latin typeface="Roboto"/>
              </a:rPr>
              <a:t>02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78160" y="23495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78160" y="23495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2E3440"/>
                </a:solidFill>
                <a:latin typeface="Roboto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05400" y="20193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lang="id-ID">
                <a:solidFill>
                  <a:srgbClr val="6B7280"/>
                </a:solidFill>
                <a:latin typeface="Roboto"/>
              </a:rPr>
              <a:t>Empat Pilar Kerja Sama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318000" y="29591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4318000" y="29591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BFC5CC"/>
                </a:solidFill>
                <a:latin typeface="Roboto"/>
              </a:rPr>
              <a:t>03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78160" y="32893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78160" y="32893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2E3440"/>
                </a:solidFill>
                <a:latin typeface="Roboto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05400" y="29591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lang="id-ID">
                <a:solidFill>
                  <a:srgbClr val="6B7280"/>
                </a:solidFill>
                <a:latin typeface="Roboto"/>
              </a:rPr>
              <a:t>Regional dan Mitra Pelaksana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318000" y="38989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4318000" y="38989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BFC5CC"/>
                </a:solidFill>
                <a:latin typeface="Roboto"/>
              </a:rPr>
              <a:t>04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678160" y="42291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78160" y="42291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2E3440"/>
                </a:solidFill>
                <a:latin typeface="Roboto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05400" y="38989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lang="id-ID">
                <a:solidFill>
                  <a:srgbClr val="6B7280"/>
                </a:solidFill>
                <a:latin typeface="Roboto"/>
              </a:rPr>
              <a:t>Peta Jalan dan Pendanaan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318000" y="4838700"/>
            <a:ext cx="7325360" cy="0"/>
          </a:xfrm>
          <a:prstGeom prst="line">
            <a:avLst/>
          </a:prstGeom>
          <a:ln w="9525">
            <a:solidFill>
              <a:srgbClr val="BFC5CC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4318000" y="4838700"/>
            <a:ext cx="889000" cy="939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3000" b="1" lang="id-ID">
                <a:solidFill>
                  <a:srgbClr val="BFC5CC"/>
                </a:solidFill>
                <a:latin typeface="Roboto"/>
              </a:rPr>
              <a:t>05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678160" y="5168900"/>
            <a:ext cx="762000" cy="279400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78160" y="5168900"/>
            <a:ext cx="762000" cy="279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00" b="1" lang="id-ID">
                <a:solidFill>
                  <a:srgbClr val="2E3440"/>
                </a:solidFill>
                <a:latin typeface="Roboto"/>
              </a:rP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05400" y="4838700"/>
            <a:ext cx="5420360" cy="939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0" lang="id-ID">
                <a:solidFill>
                  <a:srgbClr val="6B7280"/>
                </a:solidFill>
                <a:latin typeface="Roboto"/>
              </a:rPr>
              <a:t>Dukungan yang Dibutuhkan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r"/>
            <a:r>
              <a:rPr sz="850" b="1" lang="id-ID">
                <a:solidFill>
                  <a:srgbClr val="1A1A1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atar gradie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40000">
                <a:srgbClr val="FFFFFF"/>
              </a:gs>
              <a:gs pos="100000">
                <a:srgbClr val="E6EAF0"/>
              </a:gs>
            </a:gsLst>
            <a:lin ang="81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uji-panel-gelap-tumpuk0-alfa-ui-515x1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500" y="0"/>
            <a:ext cx="6540500" cy="1685925"/>
          </a:xfrm>
          <a:prstGeom prst="rect">
            <a:avLst/>
          </a:prstGeom>
        </p:spPr>
      </p:pic>
      <p:pic>
        <p:nvPicPr>
          <p:cNvPr id="4" name="Picture 3" descr="uji-panel-gelap-tumpuk1-alfa-itb-515x1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500" y="1724025"/>
            <a:ext cx="6540500" cy="1685925"/>
          </a:xfrm>
          <a:prstGeom prst="rect">
            <a:avLst/>
          </a:prstGeom>
        </p:spPr>
      </p:pic>
      <p:pic>
        <p:nvPicPr>
          <p:cNvPr id="5" name="Picture 4" descr="uji-panel-gelap-tumpuk2-alfa-ugm-515x1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500" y="3448050"/>
            <a:ext cx="6540500" cy="1685925"/>
          </a:xfrm>
          <a:prstGeom prst="rect">
            <a:avLst/>
          </a:prstGeom>
        </p:spPr>
      </p:pic>
      <p:pic>
        <p:nvPicPr>
          <p:cNvPr id="6" name="Picture 5" descr="uji-panel-gelap-tumpuk3-alfa-ipb-515x1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5172075"/>
            <a:ext cx="6540500" cy="16859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604000"/>
            <a:ext cx="53340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650" b="0" lang="id-ID">
                <a:solidFill>
                  <a:srgbClr val="6B7280"/>
                </a:solidFill>
                <a:latin typeface="Roboto"/>
              </a:rPr>
              <a:t>Foto: Ilham Kuniawan Gumilang (UI), A2613 (ITB), Alharamain354 (UGM), Davidelit (IPB); CC BY-SA 4.0, Wikimedia Commons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sumber-bnp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126" y="628193"/>
            <a:ext cx="526869" cy="66385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763760" y="457200"/>
            <a:ext cx="1879600" cy="505983"/>
          </a:xfrm>
          <a:prstGeom prst="roundRect">
            <a:avLst>
              <a:gd name="adj" fmla="val 15059"/>
            </a:avLst>
          </a:prstGeom>
          <a:solidFill>
            <a:srgbClr val="FFFFFF"/>
          </a:solidFill>
          <a:ln>
            <a:noFill/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pic>
        <p:nvPicPr>
          <p:cNvPr id="11" name="Picture 10" descr="berakhlak-h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0760" y="546100"/>
            <a:ext cx="1625600" cy="3281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2133600"/>
            <a:ext cx="5623560" cy="816864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</a:pPr>
            <a:r>
              <a:rPr sz="5400" b="1" lang="id-ID">
                <a:solidFill>
                  <a:srgbClr val="1A1A1A"/>
                </a:solidFill>
                <a:latin typeface="Roboto"/>
              </a:rPr>
              <a:t>Terima kasih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3179064"/>
            <a:ext cx="5842000" cy="0"/>
          </a:xfrm>
          <a:prstGeom prst="line">
            <a:avLst/>
          </a:prstGeom>
          <a:ln w="9525">
            <a:solidFill>
              <a:srgbClr val="7F93AA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548640" y="3356864"/>
            <a:ext cx="5969000" cy="23939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450" b="1" lang="id-ID">
                <a:solidFill>
                  <a:srgbClr val="1A1A1A"/>
                </a:solidFill>
                <a:latin typeface="Roboto"/>
              </a:rPr>
              <a:t>Letnan Jenderal TNI Kristomei Sianturi, S.Sos., M.Si., M.Si. (Han)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34359"/>
            <a:ext cx="5969000" cy="19812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/>
            <a:r>
              <a:rPr sz="1200" b="0" lang="id-ID">
                <a:solidFill>
                  <a:srgbClr val="2E3440"/>
                </a:solidFill>
                <a:latin typeface="Roboto"/>
              </a:rPr>
              <a:t>Kepala Badan Nasional Penanggulangan Bencana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48379"/>
            <a:ext cx="58420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E6EAF0"/>
            </a:solidFill>
          </a:ln>
          <a:effectLst>
            <a:outerShdw blurRad="63500" dist="19050" dir="5400000" algn="t" rotWithShape="0">
              <a:srgbClr val="1A1A1A">
                <a:alpha val="1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4048379"/>
            <a:ext cx="1219200" cy="1714500"/>
          </a:xfrm>
          <a:prstGeom prst="roundRect">
            <a:avLst>
              <a:gd name="adj" fmla="val 6250"/>
            </a:avLst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66240" y="4048379"/>
            <a:ext cx="101600" cy="17145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48429"/>
            <a:ext cx="12192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50" b="1" lang="id-ID" spc="80">
                <a:solidFill>
                  <a:srgbClr val="C9D1E3"/>
                </a:solidFill>
                <a:latin typeface="Roboto"/>
              </a:rPr>
              <a:t>CALL CENTER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626229"/>
            <a:ext cx="1219200" cy="508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3400" b="1" lang="id-ID">
                <a:solidFill>
                  <a:srgbClr val="D9600B"/>
                </a:solidFill>
                <a:latin typeface="Roboto"/>
              </a:rPr>
              <a:t>117</a:t>
            </a:r>
          </a:p>
        </p:txBody>
      </p:sp>
      <p:sp>
        <p:nvSpPr>
          <p:cNvPr id="21" name="Oval 20"/>
          <p:cNvSpPr/>
          <p:nvPr/>
        </p:nvSpPr>
        <p:spPr>
          <a:xfrm>
            <a:off x="1043940" y="5185029"/>
            <a:ext cx="228600" cy="22860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call-center-FFFFFF-9176b239-t2.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088" y="5226177"/>
            <a:ext cx="146304" cy="1463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945640" y="4162679"/>
            <a:ext cx="42672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950" b="1" lang="id-ID">
                <a:solidFill>
                  <a:srgbClr val="051C2C"/>
                </a:solidFill>
                <a:latin typeface="Roboto"/>
              </a:rPr>
              <a:t>BADAN NASIONAL PENANGGULANGAN BENCANA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45640" y="4353179"/>
            <a:ext cx="4267200" cy="1524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lang="id-ID">
                <a:solidFill>
                  <a:srgbClr val="2E3440"/>
                </a:solidFill>
                <a:latin typeface="Roboto"/>
              </a:rPr>
              <a:t>Graha BNPB, Jl. Pramuka Kav. 38, Jakarta Timur 13120</a:t>
            </a:r>
          </a:p>
        </p:txBody>
      </p:sp>
      <p:sp>
        <p:nvSpPr>
          <p:cNvPr id="25" name="Oval 24"/>
          <p:cNvSpPr/>
          <p:nvPr/>
        </p:nvSpPr>
        <p:spPr>
          <a:xfrm>
            <a:off x="1945640" y="4581779"/>
            <a:ext cx="190500" cy="1905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telepon-FFFFFF-6bfe06e7-t2.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79930" y="4616069"/>
            <a:ext cx="121920" cy="1219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212340" y="4581779"/>
            <a:ext cx="18415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1" lang="id-ID">
                <a:solidFill>
                  <a:srgbClr val="1A1A1A"/>
                </a:solidFill>
                <a:latin typeface="Roboto"/>
              </a:rPr>
              <a:t>021 2982 7793</a:t>
            </a:r>
          </a:p>
        </p:txBody>
      </p:sp>
      <p:sp>
        <p:nvSpPr>
          <p:cNvPr id="28" name="Oval 27"/>
          <p:cNvSpPr/>
          <p:nvPr/>
        </p:nvSpPr>
        <p:spPr>
          <a:xfrm>
            <a:off x="4079240" y="4581779"/>
            <a:ext cx="190500" cy="1905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surel-FFFFFF-82920015-t2.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3530" y="4616069"/>
            <a:ext cx="121920" cy="1219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345940" y="4581779"/>
            <a:ext cx="18415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1" lang="id-ID">
                <a:solidFill>
                  <a:srgbClr val="1A1A1A"/>
                </a:solidFill>
                <a:latin typeface="Roboto"/>
              </a:rPr>
              <a:t>persuratan@bnpb.go.id</a:t>
            </a:r>
          </a:p>
        </p:txBody>
      </p:sp>
      <p:sp>
        <p:nvSpPr>
          <p:cNvPr id="31" name="Oval 30"/>
          <p:cNvSpPr/>
          <p:nvPr/>
        </p:nvSpPr>
        <p:spPr>
          <a:xfrm>
            <a:off x="1945640" y="4823079"/>
            <a:ext cx="190500" cy="1905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" name="Picture 31" descr="situs-FFFFFF-e52ac705-t2.6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79930" y="4857369"/>
            <a:ext cx="121920" cy="12192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212340" y="4823079"/>
            <a:ext cx="18415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1" lang="id-ID">
                <a:solidFill>
                  <a:srgbClr val="1A1A1A"/>
                </a:solidFill>
                <a:latin typeface="Roboto"/>
              </a:rPr>
              <a:t>www.bnpb.go.id</a:t>
            </a:r>
          </a:p>
        </p:txBody>
      </p:sp>
      <p:sp>
        <p:nvSpPr>
          <p:cNvPr id="34" name="Oval 33"/>
          <p:cNvSpPr/>
          <p:nvPr/>
        </p:nvSpPr>
        <p:spPr>
          <a:xfrm>
            <a:off x="4079240" y="4823079"/>
            <a:ext cx="190500" cy="1905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5" name="Picture 34" descr="satu-data-FFFFFF-02833d23-t2.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3530" y="4857369"/>
            <a:ext cx="121920" cy="12192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4345940" y="4823079"/>
            <a:ext cx="18415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1" lang="id-ID">
                <a:solidFill>
                  <a:srgbClr val="1A1A1A"/>
                </a:solidFill>
                <a:latin typeface="Roboto"/>
              </a:rPr>
              <a:t>Satu Data Bencana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945640" y="5089779"/>
            <a:ext cx="4267200" cy="0"/>
          </a:xfrm>
          <a:prstGeom prst="line">
            <a:avLst/>
          </a:prstGeom>
          <a:ln w="9525">
            <a:solidFill>
              <a:srgbClr val="E6EAF0"/>
            </a:solidFill>
          </a:ln>
        </p:spPr>
      </p:cxnSp>
      <p:sp>
        <p:nvSpPr>
          <p:cNvPr id="38" name="Oval 37"/>
          <p:cNvSpPr/>
          <p:nvPr/>
        </p:nvSpPr>
        <p:spPr>
          <a:xfrm>
            <a:off x="1945640" y="5178679"/>
            <a:ext cx="190500" cy="1905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instagram-FFFFFF-7562d25b-t2.6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979930" y="5212969"/>
            <a:ext cx="121920" cy="121920"/>
          </a:xfrm>
          <a:prstGeom prst="rect">
            <a:avLst/>
          </a:prstGeom>
        </p:spPr>
      </p:pic>
      <p:sp>
        <p:nvSpPr>
          <p:cNvPr id="40" name="Oval 39"/>
          <p:cNvSpPr/>
          <p:nvPr/>
        </p:nvSpPr>
        <p:spPr>
          <a:xfrm>
            <a:off x="2174240" y="5178679"/>
            <a:ext cx="190500" cy="1905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x-FFFFFF-7d8483d4-t2.6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08530" y="5212969"/>
            <a:ext cx="121920" cy="12192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2440940" y="5178679"/>
            <a:ext cx="16129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1" lang="id-ID">
                <a:solidFill>
                  <a:srgbClr val="1A1A1A"/>
                </a:solidFill>
                <a:latin typeface="Roboto"/>
              </a:rPr>
              <a:t>@BNPB_Indonesia</a:t>
            </a:r>
          </a:p>
        </p:txBody>
      </p:sp>
      <p:sp>
        <p:nvSpPr>
          <p:cNvPr id="43" name="Oval 42"/>
          <p:cNvSpPr/>
          <p:nvPr/>
        </p:nvSpPr>
        <p:spPr>
          <a:xfrm>
            <a:off x="4079240" y="5178679"/>
            <a:ext cx="190500" cy="1905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4" name="Picture 43" descr="facebook-FFFFFF-d0f6088a-t2.6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13530" y="5212969"/>
            <a:ext cx="121920" cy="12192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345940" y="5178679"/>
            <a:ext cx="18415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1" lang="id-ID">
                <a:solidFill>
                  <a:srgbClr val="1A1A1A"/>
                </a:solidFill>
                <a:latin typeface="Roboto"/>
              </a:rPr>
              <a:t>@infoBencanaBNPB</a:t>
            </a:r>
          </a:p>
        </p:txBody>
      </p:sp>
      <p:sp>
        <p:nvSpPr>
          <p:cNvPr id="46" name="Oval 45"/>
          <p:cNvSpPr/>
          <p:nvPr/>
        </p:nvSpPr>
        <p:spPr>
          <a:xfrm>
            <a:off x="1945640" y="5419979"/>
            <a:ext cx="190500" cy="1905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youtube-FFFFFF-22556944-t2.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79930" y="5454269"/>
            <a:ext cx="121920" cy="12192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212340" y="5419979"/>
            <a:ext cx="18415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1" lang="id-ID">
                <a:solidFill>
                  <a:srgbClr val="1A1A1A"/>
                </a:solidFill>
                <a:latin typeface="Roboto"/>
              </a:rPr>
              <a:t>BNPB Indonesia</a:t>
            </a:r>
          </a:p>
        </p:txBody>
      </p:sp>
      <p:sp>
        <p:nvSpPr>
          <p:cNvPr id="49" name="Oval 48"/>
          <p:cNvSpPr/>
          <p:nvPr/>
        </p:nvSpPr>
        <p:spPr>
          <a:xfrm>
            <a:off x="4079240" y="5419979"/>
            <a:ext cx="190500" cy="19050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0" name="Picture 49" descr="tiktok-FFFFFF-fc5dd473-t2.6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113530" y="5454269"/>
            <a:ext cx="121920" cy="12192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4345940" y="5419979"/>
            <a:ext cx="1841500" cy="1905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1" lang="id-ID">
                <a:solidFill>
                  <a:srgbClr val="1A1A1A"/>
                </a:solidFill>
                <a:latin typeface="Roboto"/>
              </a:rPr>
              <a:t>@bnpbindonesia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6121400"/>
            <a:ext cx="5334000" cy="203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lang="id-ID">
                <a:solidFill>
                  <a:srgbClr val="00499D"/>
                </a:solidFill>
                <a:latin typeface="Roboto"/>
              </a:rPr>
              <a:t>© 2026 Badan Nasional Penanggulangan Bencana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324600"/>
            <a:ext cx="5334000" cy="1778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000" b="0" i="1" lang="id-ID">
                <a:solidFill>
                  <a:srgbClr val="2E3440"/>
                </a:solidFill>
                <a:latin typeface="Roboto"/>
              </a:rPr>
              <a:t>Ketangguhan Bangsa dalam Menghadapi Bencana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Ajuan Program Kerja Sama BNPB dengan Perguruan Tinggi</dc:title>
  <dc:subject>Ajuan program kerja sama</dc:subject>
  <dc:creator>Badan Nasional Penanggulangan Bencana</dc:creator>
  <cp:lastModifiedBy>Badan Nasional Penanggulangan Bencana</cp:lastModifiedBy>
  <cp:revision>1</cp:revision>
  <dcterms:created xsi:type="dcterms:W3CDTF">2026-10-22T07:37:45Z</dcterms:created>
  <dcterms:modified xsi:type="dcterms:W3CDTF">2026-10-22T07:37:45Z</dcterms:modified>
  <cp:keywords>BNPB; penanggulangan bencana; rehabilitasi dan rekonstruksi; pascabencana; grand design; jembatan; air tanah; sistem penyediaan air minum</cp:keywords>
  <dc:language>id-ID</dc:language>
  <cp:category>Kajian</cp:category>
  <dc:description>Kerja sama BNPB dengan perguruan tinggi memperkuat riset dan inovasi kebencanaan.</dc:description>
</cp:coreProperties>
</file>