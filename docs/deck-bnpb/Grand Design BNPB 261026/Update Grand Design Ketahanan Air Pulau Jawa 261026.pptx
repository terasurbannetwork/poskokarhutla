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3.png"/><Relationship Id="rId10" Type="http://schemas.openxmlformats.org/officeDocument/2006/relationships/image" Target="../media/image14.png"/><Relationship Id="rId11" Type="http://schemas.openxmlformats.org/officeDocument/2006/relationships/image" Target="../media/image21.png"/><Relationship Id="rId1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14.png"/><Relationship Id="rId9" Type="http://schemas.openxmlformats.org/officeDocument/2006/relationships/image" Target="../media/image21.png"/><Relationship Id="rId10" Type="http://schemas.openxmlformats.org/officeDocument/2006/relationships/image" Target="../media/image25.png"/><Relationship Id="rId11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11.png"/><Relationship Id="rId10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bencana-r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rob di Desa Bedono, Demak, Jawa Tengah; Tim LindungiHutan, CC BY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Grand Design Ketahanan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Air Pulau Jawa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Pembaruan penyusunan, 23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0045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0525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kepada Kepala Badan Nasional Penanggulangan Bencana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256088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Jumat, 23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Kajian air Pulau Jawa sejauh ini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menghasilkan lima temuan kunci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ANGKA PENDUKUNG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bendungan-FFFFFF-45c287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Sedimentasi waduk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96,5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juta m³ di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18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bendungan,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87,7%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di Cacaban dan Kedung Ombo.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kekeringan-FFFFFF-bd7fcb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Paparan kekeringan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152.356.122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jiwa di Jawa terpapar kekeringan menurut KRB.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banjir-FFFFFF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Longsor musim hujan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75,5%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korban musim 2025/2026 jatuh pada tanah longsor.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 sementara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640" y="184150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Porsi air permukaan Jawa jauh di bawah porsi penduduknya dan waduk BBWS Pemali-Juana kehilangan tampungan. Kemarau dan musim hujan perlu dikelola sebagai satu siklus risiko.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227330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67564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air-baku-FFFFFF-271d6c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2601711"/>
            <a:ext cx="178308" cy="1783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2014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3437" y="2525765"/>
            <a:ext cx="3151805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Jawa dihuni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sekitar 56%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penduduk Indonesia, tetapi hanya memiliki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sekitar 6,3%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air permukaan nasional.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6842" y="2608315"/>
            <a:ext cx="7267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564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67564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bendungan-FFFFFF-45c287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86" y="3505105"/>
            <a:ext cx="178308" cy="17830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2014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3437" y="3429159"/>
            <a:ext cx="3151805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Di BBWS Pemali-Juana, Waduk Cacaban kehilangan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49,9%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tampungan desain, sedangkan Kedungombo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5,5%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48987" y="351170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413088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675640" y="441589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kekeringan-FFFFFF-bd7fcb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86" y="4491842"/>
            <a:ext cx="178308" cy="17830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20140" y="4415896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63437" y="4415896"/>
            <a:ext cx="3151805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Kekeringan 2018 berdampak pada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4,9 juta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jiwa di Jawa dalam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90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kejadian tercatat DIBI.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48987" y="44984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2" name="Oval 51"/>
          <p:cNvSpPr/>
          <p:nvPr/>
        </p:nvSpPr>
        <p:spPr>
          <a:xfrm>
            <a:off x="624840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penurunan-muka-tanah-FFFFFF-4d1f13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346" y="2601711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69290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36197" y="2525765"/>
            <a:ext cx="3151805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Muka tanah turun sampai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10–12 cm per tahun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di Semarang utara-timur dan Demak; Pekalongan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5–16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10–19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cm (dua studi).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890171" y="2608315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24840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624840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banjir-FFFFFF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346" y="3505105"/>
            <a:ext cx="178308" cy="1783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9290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36197" y="3429159"/>
            <a:ext cx="3151805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Musim hujan 2025/2026 mencatat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1.460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kejadian dan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216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korban meninggal di Jawa, terbanyak sejak 2008/2009.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121747" y="351170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WorldPop R2025A; BPS (2020) mengutip Radhika dkk. (2017); BBWS Pemali-Juana 2021; DIBI BNPB; Aditiya dan Ito (2023); Sidiq dkk. (2023); Widodo dkk. (2024); InaRISK BNPB (KRB)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1950" b="1" lang="id-ID">
                <a:solidFill>
                  <a:srgbClr val="1A1A1A"/>
                </a:solidFill>
                <a:latin typeface="Roboto"/>
              </a:rPr>
              <a:t>Posisi BNPB: kajian air memakai IRBI dan kajian risiko BNPB sebagai</a:t>
            </a:r>
            <a:br/>
            <a:r>
              <a:rPr sz="1950" b="1" lang="id-ID">
                <a:solidFill>
                  <a:srgbClr val="1A1A1A"/>
                </a:solidFill>
                <a:latin typeface="Roboto"/>
              </a:rPr>
              <a:t>rujukan utama dan merujuk Pola serta Rencana PSDA Kementerian PU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434464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RENAS PB 2025–2029</a:t>
            </a:r>
          </a:p>
        </p:txBody>
      </p:sp>
      <p:pic>
        <p:nvPicPr>
          <p:cNvPr id="12" name="Picture 1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peringatan-051C2C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11,1%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peringatan dini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kalender-2F86D1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2F86D1"/>
                </a:solidFill>
                <a:latin typeface="Roboto"/>
              </a:rPr>
              <a:t>52%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cakupan 2029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9078" y="1337310"/>
            <a:ext cx="1372856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RISIKO PULAU JAWA</a:t>
            </a:r>
          </a:p>
        </p:txBody>
      </p:sp>
      <p:pic>
        <p:nvPicPr>
          <p:cNvPr id="26" name="Picture 25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data-051C2C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107,46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IRB Jawa, rerata kab/kota 2024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kalender-2F86D1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2F86D1"/>
                </a:solidFill>
                <a:latin typeface="Roboto"/>
              </a:rPr>
              <a:t>turun 34,3%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perubahan sejak 2015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2075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IRB Pulau Jawa 2015–2024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640" y="290576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lang="id-ID">
                <a:solidFill>
                  <a:srgbClr val="1A1A1A"/>
                </a:solidFill>
                <a:latin typeface="Roboto"/>
              </a:rPr>
              <a:t>Rerata sederhana kab/kota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7936" y="2905760"/>
            <a:ext cx="62243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2F86D1"/>
                </a:solidFill>
                <a:latin typeface="Roboto"/>
              </a:rPr>
              <a:t>turun 34,3%</a:t>
            </a:r>
          </a:p>
        </p:txBody>
      </p:sp>
      <p:sp>
        <p:nvSpPr>
          <p:cNvPr id="48" name="Isosceles Triangle 47"/>
          <p:cNvSpPr/>
          <p:nvPr/>
        </p:nvSpPr>
        <p:spPr>
          <a:xfrm rot="10800000">
            <a:off x="6563636" y="2976880"/>
            <a:ext cx="76200" cy="6096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801510" y="3274060"/>
            <a:ext cx="410733" cy="24409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5640" y="3121660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163,52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5640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2015</a:t>
            </a:r>
          </a:p>
        </p:txBody>
      </p:sp>
      <p:sp>
        <p:nvSpPr>
          <p:cNvPr id="52" name="Round Same Side Corner Rectangle 51"/>
          <p:cNvSpPr/>
          <p:nvPr/>
        </p:nvSpPr>
        <p:spPr>
          <a:xfrm>
            <a:off x="1463982" y="3360596"/>
            <a:ext cx="410733" cy="235440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38113" y="3208196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157,73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8113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2016</a:t>
            </a:r>
          </a:p>
        </p:txBody>
      </p:sp>
      <p:sp>
        <p:nvSpPr>
          <p:cNvPr id="55" name="Isosceles Triangle 54"/>
          <p:cNvSpPr/>
          <p:nvPr/>
        </p:nvSpPr>
        <p:spPr>
          <a:xfrm rot="10800000">
            <a:off x="1550100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26300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3,5%</a:t>
            </a:r>
          </a:p>
        </p:txBody>
      </p:sp>
      <p:sp>
        <p:nvSpPr>
          <p:cNvPr id="57" name="Round Same Side Corner Rectangle 56"/>
          <p:cNvSpPr/>
          <p:nvPr/>
        </p:nvSpPr>
        <p:spPr>
          <a:xfrm>
            <a:off x="2126455" y="3404331"/>
            <a:ext cx="410733" cy="231066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00585" y="3251931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154,80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00585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2017</a:t>
            </a:r>
          </a:p>
        </p:txBody>
      </p:sp>
      <p:sp>
        <p:nvSpPr>
          <p:cNvPr id="60" name="Isosceles Triangle 59"/>
          <p:cNvSpPr/>
          <p:nvPr/>
        </p:nvSpPr>
        <p:spPr>
          <a:xfrm rot="10800000">
            <a:off x="2212573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8773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1,9%</a:t>
            </a:r>
          </a:p>
        </p:txBody>
      </p:sp>
      <p:sp>
        <p:nvSpPr>
          <p:cNvPr id="62" name="Round Same Side Corner Rectangle 61"/>
          <p:cNvSpPr/>
          <p:nvPr/>
        </p:nvSpPr>
        <p:spPr>
          <a:xfrm>
            <a:off x="2788928" y="3512500"/>
            <a:ext cx="410733" cy="220250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63058" y="3360100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147,55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63058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2018</a:t>
            </a:r>
          </a:p>
        </p:txBody>
      </p:sp>
      <p:sp>
        <p:nvSpPr>
          <p:cNvPr id="65" name="Isosceles Triangle 64"/>
          <p:cNvSpPr/>
          <p:nvPr/>
        </p:nvSpPr>
        <p:spPr>
          <a:xfrm rot="10800000">
            <a:off x="2875046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51246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4,7%</a:t>
            </a:r>
          </a:p>
        </p:txBody>
      </p:sp>
      <p:sp>
        <p:nvSpPr>
          <p:cNvPr id="67" name="Round Same Side Corner Rectangle 66"/>
          <p:cNvSpPr/>
          <p:nvPr/>
        </p:nvSpPr>
        <p:spPr>
          <a:xfrm>
            <a:off x="3451400" y="3579058"/>
            <a:ext cx="410733" cy="213594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25531" y="3426658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143,09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25531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</a:t>
            </a:r>
          </a:p>
        </p:txBody>
      </p:sp>
      <p:sp>
        <p:nvSpPr>
          <p:cNvPr id="70" name="Isosceles Triangle 69"/>
          <p:cNvSpPr/>
          <p:nvPr/>
        </p:nvSpPr>
        <p:spPr>
          <a:xfrm rot="10800000">
            <a:off x="3537518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13718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3,0%</a:t>
            </a:r>
          </a:p>
        </p:txBody>
      </p:sp>
      <p:sp>
        <p:nvSpPr>
          <p:cNvPr id="72" name="Round Same Side Corner Rectangle 71"/>
          <p:cNvSpPr/>
          <p:nvPr/>
        </p:nvSpPr>
        <p:spPr>
          <a:xfrm>
            <a:off x="4113873" y="3704716"/>
            <a:ext cx="410733" cy="201028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88003" y="3552316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134,67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88003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75" name="Isosceles Triangle 74"/>
          <p:cNvSpPr/>
          <p:nvPr/>
        </p:nvSpPr>
        <p:spPr>
          <a:xfrm rot="10800000">
            <a:off x="4199991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76191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5,9%</a:t>
            </a:r>
          </a:p>
        </p:txBody>
      </p:sp>
      <p:sp>
        <p:nvSpPr>
          <p:cNvPr id="77" name="Round Same Side Corner Rectangle 76"/>
          <p:cNvSpPr/>
          <p:nvPr/>
        </p:nvSpPr>
        <p:spPr>
          <a:xfrm>
            <a:off x="4776346" y="3831713"/>
            <a:ext cx="410733" cy="1883287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50476" y="3679313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126,16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50476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80" name="Isosceles Triangle 79"/>
          <p:cNvSpPr/>
          <p:nvPr/>
        </p:nvSpPr>
        <p:spPr>
          <a:xfrm rot="10800000">
            <a:off x="4862464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38664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6,3%</a:t>
            </a:r>
          </a:p>
        </p:txBody>
      </p:sp>
      <p:sp>
        <p:nvSpPr>
          <p:cNvPr id="82" name="Round Same Side Corner Rectangle 81"/>
          <p:cNvSpPr/>
          <p:nvPr/>
        </p:nvSpPr>
        <p:spPr>
          <a:xfrm>
            <a:off x="5438818" y="3915450"/>
            <a:ext cx="410733" cy="179955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12948" y="3763050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120,55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12948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85" name="Isosceles Triangle 84"/>
          <p:cNvSpPr/>
          <p:nvPr/>
        </p:nvSpPr>
        <p:spPr>
          <a:xfrm rot="10800000">
            <a:off x="5524936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01136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4,4%</a:t>
            </a:r>
          </a:p>
        </p:txBody>
      </p:sp>
      <p:sp>
        <p:nvSpPr>
          <p:cNvPr id="87" name="Round Same Side Corner Rectangle 86"/>
          <p:cNvSpPr/>
          <p:nvPr/>
        </p:nvSpPr>
        <p:spPr>
          <a:xfrm>
            <a:off x="6101291" y="4007296"/>
            <a:ext cx="410733" cy="170770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75421" y="3854896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114,40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75421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90" name="Isosceles Triangle 89"/>
          <p:cNvSpPr/>
          <p:nvPr/>
        </p:nvSpPr>
        <p:spPr>
          <a:xfrm rot="10800000">
            <a:off x="6187409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63609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5,1%</a:t>
            </a:r>
          </a:p>
        </p:txBody>
      </p:sp>
      <p:sp>
        <p:nvSpPr>
          <p:cNvPr id="92" name="Round Same Side Corner Rectangle 91"/>
          <p:cNvSpPr/>
          <p:nvPr/>
        </p:nvSpPr>
        <p:spPr>
          <a:xfrm>
            <a:off x="6763764" y="4110856"/>
            <a:ext cx="410733" cy="160414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37894" y="3958456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107,46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37894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95" name="Isosceles Triangle 94"/>
          <p:cNvSpPr/>
          <p:nvPr/>
        </p:nvSpPr>
        <p:spPr>
          <a:xfrm rot="10800000">
            <a:off x="6849882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26082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6,1%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5640" y="571500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8" name="Rounded Rectangle 97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3" name="Picture 102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Posisi dan dasar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Kajian risiko BNPB: air dibaca dari bahaya, keterpaparan, kerentanan, dan kapasitas per kab/kota.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RIPB 2020–2044 dan Renas PB 2025–2029 menjadi pijakan sasaran dan indikator.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RPJMN 2025–2029 dan Renstra BNPB menargetkan IRB nasional turun setiap tahun.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Pola dan Rencana PSDA Kementerian PU dirujuk sebagai rencana pengelolaan air.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Indeks dan simulasi platform hanya pendukung dan selalu berlabel keyakinan.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2015–2024 (olah Pantau Bencana); Renas PB 2025–2029; RIPB 2020–2044; RPJMN 2025–2029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50" b="1" lang="id-ID">
                <a:solidFill>
                  <a:srgbClr val="1A1A1A"/>
                </a:solidFill>
                <a:latin typeface="Roboto"/>
              </a:rPr>
              <a:t>Jawa dihuni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sekitar 56%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penduduk dengan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sekitar 6,3%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air</a:t>
            </a:r>
            <a:br/>
            <a:r>
              <a:rPr sz="2050" b="1" lang="id-ID">
                <a:solidFill>
                  <a:srgbClr val="1A1A1A"/>
                </a:solidFill>
                <a:latin typeface="Roboto"/>
              </a:rPr>
              <a:t>permukaan nasional; Waduk Cacaban kehilangan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49,9%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tampungan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8057007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27808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NERACA AIR JAWA</a:t>
            </a:r>
          </a:p>
        </p:txBody>
      </p:sp>
      <p:pic>
        <p:nvPicPr>
          <p:cNvPr id="12" name="Picture 11" descr="air-baku-FFFFFF-271d6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jiwa-051C2C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56%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porsi penduduk nasional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air-baku-051C2C-271d6c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6,3%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porsi air permukaan nasional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4362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582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alender-051C2C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782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56172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1.100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6172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m³/kapita/tahun, proyeksi 2030 (terbit 2017)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69162" y="1346200"/>
            <a:ext cx="7267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72347" y="1282700"/>
            <a:ext cx="2771013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82075" y="1337310"/>
            <a:ext cx="903684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AIR TANAH</a:t>
            </a:r>
          </a:p>
        </p:txBody>
      </p:sp>
      <p:pic>
        <p:nvPicPr>
          <p:cNvPr id="31" name="Picture 30" descr="air-tanah-FFFFFF-400248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515" y="1372057"/>
            <a:ext cx="113386" cy="11338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air-tanah-051C2C-4002481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cekungan air tanah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bendungan-FFFFFF-45c2877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Bendungan dengan kehilangan tampungan terbesar di BBWS Pemali-Juana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1230" y="2905760"/>
            <a:ext cx="188586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BENDUNGAN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7095" y="2905760"/>
            <a:ext cx="188586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KAB/KOTA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33985" y="2919730"/>
            <a:ext cx="72049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DESAIN</a:t>
            </a:r>
          </a:p>
        </p:txBody>
      </p:sp>
      <p:pic>
        <p:nvPicPr>
          <p:cNvPr id="49" name="Picture 48" descr="bendungan-FFFFFF-45c2877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5425" y="2954477"/>
            <a:ext cx="113386" cy="113386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5556080" y="2919730"/>
            <a:ext cx="809566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TERUKUR</a:t>
            </a:r>
          </a:p>
        </p:txBody>
      </p:sp>
      <p:pic>
        <p:nvPicPr>
          <p:cNvPr id="51" name="Picture 50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7520" y="2954477"/>
            <a:ext cx="113386" cy="113386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469718" y="2919730"/>
            <a:ext cx="729049" cy="182880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HILANG</a:t>
            </a:r>
          </a:p>
        </p:txBody>
      </p:sp>
      <p:pic>
        <p:nvPicPr>
          <p:cNvPr id="53" name="Picture 52" descr="peringatan-FFFFFF-6a80b7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1158" y="2954477"/>
            <a:ext cx="113386" cy="113386"/>
          </a:xfrm>
          <a:prstGeom prst="rect">
            <a:avLst/>
          </a:prstGeom>
        </p:spPr>
      </p:pic>
      <p:cxnSp>
        <p:nvCxnSpPr>
          <p:cNvPr id="54" name="Connector 53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675640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1230" y="31165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Butak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7095" y="31165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Grobogan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22960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1,60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6080" y="31165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67246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86,9%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675640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1230" y="33832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Simo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37095" y="33832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Grobogan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22960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0,44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6080" y="33832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67246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83,0%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Oval 68"/>
          <p:cNvSpPr/>
          <p:nvPr/>
        </p:nvSpPr>
        <p:spPr>
          <a:xfrm>
            <a:off x="675640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1230" y="36499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Sanggeh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37095" y="36499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Grobogan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22960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6080" y="36499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7246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77,8%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675640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1230" y="39166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Nglangon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37095" y="39166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Grobogan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2960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2,18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6080" y="39166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0,94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67246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56,8%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5640" y="4189730"/>
            <a:ext cx="6624726" cy="254000"/>
          </a:xfrm>
          <a:prstGeom prst="rect">
            <a:avLst/>
          </a:prstGeom>
          <a:solidFill>
            <a:srgbClr val="FDF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75640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1230" y="41833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Cacaban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37095" y="41833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Tegal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22960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90,00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6080" y="41833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45,13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67246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49,9%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675640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1230" y="44500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Banyukuwung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37095" y="44500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Rembang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22960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2,42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6080" y="44500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1,43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67246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40,8%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7" name="Oval 96"/>
          <p:cNvSpPr/>
          <p:nvPr/>
        </p:nvSpPr>
        <p:spPr>
          <a:xfrm>
            <a:off x="675640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1230" y="47167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Greneng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37095" y="47167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Blora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22960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2,30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56080" y="47167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1,73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67246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24,6%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8" name="Picture 107" descr="ringkasan-FFFFFF-28e5662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Desain dan terukur dalam juta m³; hilang = porsi kapasitas desain yang sudah tidak tersedia.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Inventaris baru mencakup bendungan BBWS Pemali-Juana; wilayah sungai lain dalam penyusunan.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Waduk kecil di Grobogan kehilangan tampungan paling besar secara persen.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Neraca air adalah keluaran model hujan-limpasan; galatnya tidak dilaporkan sumber.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WorldPop R2025A; BPS (2020) mengutip PT SMI (2017) dan Radhika dkk. (2017); KLH 2008; inventaris BBWS Pemali-Juana 2021; olah Pantau Bencana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150" b="1" lang="id-ID">
                <a:solidFill>
                  <a:srgbClr val="1A1A1A"/>
                </a:solidFill>
                <a:latin typeface="Roboto"/>
              </a:rPr>
              <a:t>Kekeringan 2018 berdampak pada</a:t>
            </a:r>
            <a:r>
              <a:rPr sz="2150" b="1" lang="id-ID">
                <a:solidFill>
                  <a:srgbClr val="051C2C"/>
                </a:solidFill>
                <a:latin typeface="Roboto"/>
              </a:rPr>
              <a:t> 4,9 juta</a:t>
            </a:r>
            <a:r>
              <a:rPr sz="2150" b="1" lang="id-ID">
                <a:solidFill>
                  <a:srgbClr val="1A1A1A"/>
                </a:solidFill>
                <a:latin typeface="Roboto"/>
              </a:rPr>
              <a:t> jiwa di Jawa;</a:t>
            </a:r>
            <a:r>
              <a:rPr sz="2150" b="1" lang="id-ID">
                <a:solidFill>
                  <a:srgbClr val="00499D"/>
                </a:solidFill>
                <a:latin typeface="Roboto"/>
              </a:rPr>
              <a:t> Jawa</a:t>
            </a:r>
            <a:br/>
            <a:r>
              <a:rPr sz="2150" b="1" lang="id-ID">
                <a:solidFill>
                  <a:srgbClr val="00499D"/>
                </a:solidFill>
                <a:latin typeface="Roboto"/>
              </a:rPr>
              <a:t>Barat</a:t>
            </a:r>
            <a:r>
              <a:rPr sz="2150" b="1" lang="id-ID">
                <a:solidFill>
                  <a:srgbClr val="1A1A1A"/>
                </a:solidFill>
                <a:latin typeface="Roboto"/>
              </a:rPr>
              <a:t> mencatat kejadian kekeringan terbanyak 2015–2025 (</a:t>
            </a:r>
            <a:r>
              <a:rPr sz="2150" b="1" lang="id-ID">
                <a:solidFill>
                  <a:srgbClr val="051C2C"/>
                </a:solidFill>
                <a:latin typeface="Roboto"/>
              </a:rPr>
              <a:t>156</a:t>
            </a:r>
            <a:r>
              <a:rPr sz="2150" b="1" lang="id-ID">
                <a:solidFill>
                  <a:srgbClr val="1A1A1A"/>
                </a:solidFill>
                <a:latin typeface="Roboto"/>
              </a:rPr>
              <a:t>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290443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KEMARAU DI JAWA</a:t>
            </a:r>
          </a:p>
        </p:txBody>
      </p:sp>
      <p:pic>
        <p:nvPicPr>
          <p:cNvPr id="12" name="Picture 11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kekeringan-051C2C-bd7fcb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kejadian kekeringan 2018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jiwa-051C2C-9b7037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4,9 juta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 2018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luas-051C2C-123220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2,9 juta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 bahaya kekeringan tinggi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MUSIM KEMARAU DAN AWAL MUSIM HUJAN 2026</a:t>
            </a:r>
          </a:p>
        </p:txBody>
      </p:sp>
      <p:sp>
        <p:nvSpPr>
          <p:cNvPr id="31" name="Oval 3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06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El Niño sangat kuat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06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Rilis BMKG September 2026; IOD menuju positif.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22320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3395345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kalender-FFFFFF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545" y="568452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1571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Awal musim hujan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571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BMKG: awal musim hujan Jawa November sampai Desember 2026, puncak sampai Februari 2027.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22975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609600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568452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1637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El Niño sampai 2027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637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Konferensi pers BMKG Oktober 2026 (sekunder): bertahan sampai awal 2027.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23630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8796655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peringatan-FFFFFF-6a80b7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2855" y="568452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21702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Analisis penyusun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02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Hujan awal jatuh di tanah kering; siapkan banjir mendadak.</a:t>
            </a:r>
          </a:p>
        </p:txBody>
      </p:sp>
      <p:pic>
        <p:nvPicPr>
          <p:cNvPr id="50" name="Picture 49" descr="peta-irbi-kekeringan-2025-jaw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218" y="2346960"/>
            <a:ext cx="6242410" cy="23825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932010" y="4805680"/>
            <a:ext cx="1423919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kekeringan 2025, kelas nilai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82929" y="4843780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35329" y="4805680"/>
            <a:ext cx="19487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5–8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57207" y="4843780"/>
            <a:ext cx="101600" cy="101600"/>
          </a:xfrm>
          <a:prstGeom prst="rect">
            <a:avLst/>
          </a:prstGeom>
          <a:solidFill>
            <a:srgbClr val="F4C3A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09607" y="4805680"/>
            <a:ext cx="7888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15492" y="4843780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67892" y="4805680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10–11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96740" y="4843780"/>
            <a:ext cx="101600" cy="101600"/>
          </a:xfrm>
          <a:prstGeom prst="rect">
            <a:avLst/>
          </a:prstGeom>
          <a:solidFill>
            <a:srgbClr val="D9600B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49140" y="4805680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12–13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77989" y="4843780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30389" y="4805680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14–19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95594" y="481203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983480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27366" y="2346960"/>
            <a:ext cx="421599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427366" y="2346960"/>
            <a:ext cx="421599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Picture 68" descr="wilayah-FFFFFF-37dca10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Rerata per provinsi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3084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74" name="Picture 73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2287" y="2954477"/>
            <a:ext cx="113386" cy="113386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10856978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76" name="Picture 75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418" y="2954477"/>
            <a:ext cx="113386" cy="113386"/>
          </a:xfrm>
          <a:prstGeom prst="rect">
            <a:avLst/>
          </a:prstGeom>
        </p:spPr>
      </p:pic>
      <p:cxnSp>
        <p:nvCxnSpPr>
          <p:cNvPr id="77" name="Connector 76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78" name="Rectangle 77"/>
          <p:cNvSpPr/>
          <p:nvPr/>
        </p:nvSpPr>
        <p:spPr>
          <a:xfrm>
            <a:off x="7554366" y="3122930"/>
            <a:ext cx="3961994" cy="228007"/>
          </a:xfrm>
          <a:prstGeom prst="rect">
            <a:avLst/>
          </a:prstGeom>
          <a:solidFill>
            <a:srgbClr val="FDF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554366" y="314993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29956" y="3116580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30847" y="3116580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83240" y="3116580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11,1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554366" y="3357287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4" name="Oval 83"/>
          <p:cNvSpPr/>
          <p:nvPr/>
        </p:nvSpPr>
        <p:spPr>
          <a:xfrm>
            <a:off x="7554366" y="339064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29956" y="3357287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30847" y="3357287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83240" y="3357287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11,4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554366" y="3597995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Oval 88"/>
          <p:cNvSpPr/>
          <p:nvPr/>
        </p:nvSpPr>
        <p:spPr>
          <a:xfrm>
            <a:off x="7554366" y="363135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29956" y="3597995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30847" y="3597995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83240" y="3597995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10,6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554366" y="3838702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4" name="Oval 93"/>
          <p:cNvSpPr/>
          <p:nvPr/>
        </p:nvSpPr>
        <p:spPr>
          <a:xfrm>
            <a:off x="7554366" y="387206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29956" y="3838702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30847" y="3838702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83240" y="3838702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9,4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7554366" y="4079409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7554366" y="411276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29956" y="4079409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730847" y="4079409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683240" y="4079409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8,2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554366" y="4320117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4" name="Oval 103"/>
          <p:cNvSpPr/>
          <p:nvPr/>
        </p:nvSpPr>
        <p:spPr>
          <a:xfrm>
            <a:off x="7554366" y="4353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29956" y="4320117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730847" y="4320117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83240" y="4320117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54366" y="4687824"/>
            <a:ext cx="3961994" cy="346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IRBI provinsi di sini adalah rerata sederhana kab/kota olahan penyusun; dengan bobot penduduk, Jawa Barat di atas Jawa Tengah.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2015–2025; InaRISK BNPB, IRBI 2025 (olah Pantau Bencana); BMKG, rilis September 2026 dan konferensi pers Oktober 2026 (sekunder)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50" b="1" lang="id-ID">
                <a:solidFill>
                  <a:srgbClr val="1A1A1A"/>
                </a:solidFill>
                <a:latin typeface="Roboto"/>
              </a:rPr>
              <a:t>Musim hujan 2025/2026: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1.460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kejadian dan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216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korban meninggal</a:t>
            </a:r>
            <a:br/>
            <a:r>
              <a:rPr sz="2050" b="1" lang="id-ID">
                <a:solidFill>
                  <a:srgbClr val="1A1A1A"/>
                </a:solidFill>
                <a:latin typeface="Roboto"/>
              </a:rPr>
              <a:t>di Jawa; BMKG memperkirakan musim berikutnya mulai Desember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YANG DISIAPKAN SEBELUM DESEMBER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Peringatan dini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Uji jalur peringatan dini BMKG sampai desa di bantaran sungai utama.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banjir-FFFFFF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Kab/kota rawan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Siagakan pompa bergerak dan perahu di kab/kota bernilai banjir tertinggi.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pengungsi-FFFFFF-65a2f7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Tempat evakuasi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Data tempat evakuasi sementara yang aman dari genangan.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banjir-FFFFFF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bencana musim hujan di Pulau Jawa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640" y="184150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lang="id-ID">
                <a:solidFill>
                  <a:srgbClr val="1A1A1A"/>
                </a:solidFill>
                <a:latin typeface="Roboto"/>
              </a:rPr>
              <a:t>Kejadian DIBI per musim hujan, Oktober sampai April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3523" y="1841500"/>
            <a:ext cx="566843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2E3440"/>
                </a:solidFill>
                <a:latin typeface="Roboto"/>
              </a:rPr>
              <a:t>naik 73,0%</a:t>
            </a:r>
          </a:p>
        </p:txBody>
      </p:sp>
      <p:sp>
        <p:nvSpPr>
          <p:cNvPr id="36" name="Isosceles Triangle 35"/>
          <p:cNvSpPr/>
          <p:nvPr/>
        </p:nvSpPr>
        <p:spPr>
          <a:xfrm>
            <a:off x="6619223" y="191262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790067" y="3572034"/>
            <a:ext cx="373394" cy="118284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5640" y="3419634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844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640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2015/2016</a:t>
            </a:r>
          </a:p>
        </p:txBody>
      </p:sp>
      <p:sp>
        <p:nvSpPr>
          <p:cNvPr id="40" name="Round Same Side Corner Rectangle 39"/>
          <p:cNvSpPr/>
          <p:nvPr/>
        </p:nvSpPr>
        <p:spPr>
          <a:xfrm>
            <a:off x="1392315" y="2585396"/>
            <a:ext cx="373394" cy="216948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77888" y="2432996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1.548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7888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2016/2017</a:t>
            </a:r>
          </a:p>
        </p:txBody>
      </p:sp>
      <p:sp>
        <p:nvSpPr>
          <p:cNvPr id="43" name="Isosceles Triangle 42"/>
          <p:cNvSpPr/>
          <p:nvPr/>
        </p:nvSpPr>
        <p:spPr>
          <a:xfrm>
            <a:off x="1356197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32397" y="4907280"/>
            <a:ext cx="394829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naik 83,4%</a:t>
            </a:r>
          </a:p>
        </p:txBody>
      </p:sp>
      <p:sp>
        <p:nvSpPr>
          <p:cNvPr id="45" name="Round Same Side Corner Rectangle 44"/>
          <p:cNvSpPr/>
          <p:nvPr/>
        </p:nvSpPr>
        <p:spPr>
          <a:xfrm>
            <a:off x="1994563" y="2872698"/>
            <a:ext cx="373394" cy="188218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80136" y="2720298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1.343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80136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2017/2018</a:t>
            </a:r>
          </a:p>
        </p:txBody>
      </p:sp>
      <p:sp>
        <p:nvSpPr>
          <p:cNvPr id="48" name="Isosceles Triangle 47"/>
          <p:cNvSpPr/>
          <p:nvPr/>
        </p:nvSpPr>
        <p:spPr>
          <a:xfrm rot="10800000">
            <a:off x="1939916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6116" y="4907280"/>
            <a:ext cx="43188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turun 13,2%</a:t>
            </a:r>
          </a:p>
        </p:txBody>
      </p:sp>
      <p:sp>
        <p:nvSpPr>
          <p:cNvPr id="50" name="Round Same Side Corner Rectangle 49"/>
          <p:cNvSpPr/>
          <p:nvPr/>
        </p:nvSpPr>
        <p:spPr>
          <a:xfrm>
            <a:off x="2596811" y="2407408"/>
            <a:ext cx="373394" cy="234747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82384" y="2255008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1.675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82384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2018/2019</a:t>
            </a:r>
          </a:p>
        </p:txBody>
      </p:sp>
      <p:sp>
        <p:nvSpPr>
          <p:cNvPr id="53" name="Isosceles Triangle 52"/>
          <p:cNvSpPr/>
          <p:nvPr/>
        </p:nvSpPr>
        <p:spPr>
          <a:xfrm>
            <a:off x="2560693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36893" y="4907280"/>
            <a:ext cx="394829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naik 24,7%</a:t>
            </a:r>
          </a:p>
        </p:txBody>
      </p:sp>
      <p:sp>
        <p:nvSpPr>
          <p:cNvPr id="55" name="Round Same Side Corner Rectangle 54"/>
          <p:cNvSpPr/>
          <p:nvPr/>
        </p:nvSpPr>
        <p:spPr>
          <a:xfrm>
            <a:off x="3199059" y="2376576"/>
            <a:ext cx="373394" cy="237830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84631" y="2224176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1.697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84631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2019/2020</a:t>
            </a:r>
          </a:p>
        </p:txBody>
      </p:sp>
      <p:sp>
        <p:nvSpPr>
          <p:cNvPr id="58" name="Isosceles Triangle 57"/>
          <p:cNvSpPr/>
          <p:nvPr/>
        </p:nvSpPr>
        <p:spPr>
          <a:xfrm>
            <a:off x="3184800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61000" y="4907280"/>
            <a:ext cx="35111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naik 1,3%</a:t>
            </a:r>
          </a:p>
        </p:txBody>
      </p:sp>
      <p:sp>
        <p:nvSpPr>
          <p:cNvPr id="60" name="Round Same Side Corner Rectangle 59"/>
          <p:cNvSpPr/>
          <p:nvPr/>
        </p:nvSpPr>
        <p:spPr>
          <a:xfrm>
            <a:off x="3801306" y="2209800"/>
            <a:ext cx="373394" cy="254508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6879" y="2057400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1.816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6879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2020/2021</a:t>
            </a:r>
          </a:p>
        </p:txBody>
      </p:sp>
      <p:sp>
        <p:nvSpPr>
          <p:cNvPr id="63" name="Isosceles Triangle 62"/>
          <p:cNvSpPr/>
          <p:nvPr/>
        </p:nvSpPr>
        <p:spPr>
          <a:xfrm>
            <a:off x="3787048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63248" y="4907280"/>
            <a:ext cx="35111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naik 7,0%</a:t>
            </a:r>
          </a:p>
        </p:txBody>
      </p:sp>
      <p:sp>
        <p:nvSpPr>
          <p:cNvPr id="65" name="Round Same Side Corner Rectangle 64"/>
          <p:cNvSpPr/>
          <p:nvPr/>
        </p:nvSpPr>
        <p:spPr>
          <a:xfrm>
            <a:off x="4403554" y="2310006"/>
            <a:ext cx="373394" cy="244487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89127" y="2157606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1.745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89127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2021/2022</a:t>
            </a:r>
          </a:p>
        </p:txBody>
      </p:sp>
      <p:sp>
        <p:nvSpPr>
          <p:cNvPr id="68" name="Isosceles Triangle 67"/>
          <p:cNvSpPr/>
          <p:nvPr/>
        </p:nvSpPr>
        <p:spPr>
          <a:xfrm rot="10800000">
            <a:off x="4370767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46967" y="4907280"/>
            <a:ext cx="388169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turun 3,9%</a:t>
            </a:r>
          </a:p>
        </p:txBody>
      </p:sp>
      <p:sp>
        <p:nvSpPr>
          <p:cNvPr id="70" name="Round Same Side Corner Rectangle 69"/>
          <p:cNvSpPr/>
          <p:nvPr/>
        </p:nvSpPr>
        <p:spPr>
          <a:xfrm>
            <a:off x="5005802" y="3056291"/>
            <a:ext cx="373394" cy="169858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91375" y="2903891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1.212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1375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2022/2023</a:t>
            </a:r>
          </a:p>
        </p:txBody>
      </p:sp>
      <p:sp>
        <p:nvSpPr>
          <p:cNvPr id="73" name="Isosceles Triangle 72"/>
          <p:cNvSpPr/>
          <p:nvPr/>
        </p:nvSpPr>
        <p:spPr>
          <a:xfrm rot="10800000">
            <a:off x="4951156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7356" y="4907280"/>
            <a:ext cx="43188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turun 30,5%</a:t>
            </a:r>
          </a:p>
        </p:txBody>
      </p:sp>
      <p:sp>
        <p:nvSpPr>
          <p:cNvPr id="75" name="Round Same Side Corner Rectangle 74"/>
          <p:cNvSpPr/>
          <p:nvPr/>
        </p:nvSpPr>
        <p:spPr>
          <a:xfrm>
            <a:off x="5608050" y="3712883"/>
            <a:ext cx="373394" cy="1041997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93623" y="3560483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744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93623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2023/2024</a:t>
            </a:r>
          </a:p>
        </p:txBody>
      </p:sp>
      <p:sp>
        <p:nvSpPr>
          <p:cNvPr id="78" name="Isosceles Triangle 77"/>
          <p:cNvSpPr/>
          <p:nvPr/>
        </p:nvSpPr>
        <p:spPr>
          <a:xfrm rot="10800000">
            <a:off x="5553403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29603" y="4907280"/>
            <a:ext cx="43188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turun 38,7%</a:t>
            </a:r>
          </a:p>
        </p:txBody>
      </p:sp>
      <p:sp>
        <p:nvSpPr>
          <p:cNvPr id="80" name="Round Same Side Corner Rectangle 79"/>
          <p:cNvSpPr/>
          <p:nvPr/>
        </p:nvSpPr>
        <p:spPr>
          <a:xfrm>
            <a:off x="6210298" y="2515322"/>
            <a:ext cx="373394" cy="223955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95871" y="2362922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1.598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95871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2024/2025</a:t>
            </a:r>
          </a:p>
        </p:txBody>
      </p:sp>
      <p:sp>
        <p:nvSpPr>
          <p:cNvPr id="83" name="Isosceles Triangle 82"/>
          <p:cNvSpPr/>
          <p:nvPr/>
        </p:nvSpPr>
        <p:spPr>
          <a:xfrm>
            <a:off x="6152321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28521" y="4907280"/>
            <a:ext cx="43854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naik 114,9%</a:t>
            </a:r>
          </a:p>
        </p:txBody>
      </p:sp>
      <p:sp>
        <p:nvSpPr>
          <p:cNvPr id="85" name="Round Same Side Corner Rectangle 84"/>
          <p:cNvSpPr/>
          <p:nvPr/>
        </p:nvSpPr>
        <p:spPr>
          <a:xfrm>
            <a:off x="6812546" y="2708725"/>
            <a:ext cx="373394" cy="204615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98119" y="2556325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1.460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98119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2025/2026</a:t>
            </a:r>
          </a:p>
        </p:txBody>
      </p:sp>
      <p:sp>
        <p:nvSpPr>
          <p:cNvPr id="88" name="Isosceles Triangle 87"/>
          <p:cNvSpPr/>
          <p:nvPr/>
        </p:nvSpPr>
        <p:spPr>
          <a:xfrm rot="10800000">
            <a:off x="6779758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55958" y="4907280"/>
            <a:ext cx="388169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turun 8,6%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75640" y="475488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1" name="Rounded Rectangle 90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6" name="Picture 95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72526" y="1282700"/>
            <a:ext cx="292222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Lima musim, meninggal terbanyak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67116" y="1841500"/>
            <a:ext cx="7257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MUSIM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92907" y="1841500"/>
            <a:ext cx="7257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 NIÑA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418698" y="1855470"/>
            <a:ext cx="94477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MENINGGAL</a:t>
            </a:r>
          </a:p>
        </p:txBody>
      </p:sp>
      <p:pic>
        <p:nvPicPr>
          <p:cNvPr id="102" name="Picture 101" descr="jiwa-FFFFFF-9b7037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0138" y="1890217"/>
            <a:ext cx="113386" cy="113386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10465073" y="1855470"/>
            <a:ext cx="949687" cy="182880"/>
          </a:xfrm>
          <a:prstGeom prst="roundRect">
            <a:avLst>
              <a:gd name="adj" fmla="val 50000"/>
            </a:avLst>
          </a:prstGeom>
          <a:solidFill>
            <a:srgbClr val="2F86D1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MENGUNGSI</a:t>
            </a:r>
          </a:p>
        </p:txBody>
      </p:sp>
      <p:pic>
        <p:nvPicPr>
          <p:cNvPr id="104" name="Picture 103" descr="pengungsi-FFFFFF-65a2f7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6513" y="1890217"/>
            <a:ext cx="113386" cy="113386"/>
          </a:xfrm>
          <a:prstGeom prst="rect">
            <a:avLst/>
          </a:prstGeom>
        </p:spPr>
      </p:pic>
      <p:cxnSp>
        <p:nvCxnSpPr>
          <p:cNvPr id="105" name="Connector 104"/>
          <p:cNvCxnSpPr/>
          <p:nvPr/>
        </p:nvCxnSpPr>
        <p:spPr>
          <a:xfrm>
            <a:off x="7691526" y="205232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06" name="Oval 105"/>
          <p:cNvSpPr/>
          <p:nvPr/>
        </p:nvSpPr>
        <p:spPr>
          <a:xfrm>
            <a:off x="7691526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967116" y="20523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2025/2026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692907" y="20523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18698" y="20523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65073" y="20523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53.991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691526" y="23190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2" name="Oval 111"/>
          <p:cNvSpPr/>
          <p:nvPr/>
        </p:nvSpPr>
        <p:spPr>
          <a:xfrm>
            <a:off x="7691526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67116" y="23190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2017/2018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92907" y="23190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Ya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18698" y="23190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175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65073" y="23190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107.147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7691526" y="25857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8" name="Oval 117"/>
          <p:cNvSpPr/>
          <p:nvPr/>
        </p:nvSpPr>
        <p:spPr>
          <a:xfrm>
            <a:off x="7691526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67116" y="25857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2020/2021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92907" y="25857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Ya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18698" y="25857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465073" y="25857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178.620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7691526" y="28524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4" name="Oval 123"/>
          <p:cNvSpPr/>
          <p:nvPr/>
        </p:nvSpPr>
        <p:spPr>
          <a:xfrm>
            <a:off x="7691526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67116" y="28524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2019/2020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692907" y="28524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418698" y="28524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465073" y="28524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532.321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7691526" y="31191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0" name="Oval 129"/>
          <p:cNvSpPr/>
          <p:nvPr/>
        </p:nvSpPr>
        <p:spPr>
          <a:xfrm>
            <a:off x="7691526" y="3165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67116" y="31191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2024/2025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92907" y="31191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418698" y="31191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465073" y="31191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65.367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691526" y="3512820"/>
            <a:ext cx="3824834" cy="15214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Sejak 2015/2016; hanya 2017/2018 dan 2020/2021 berstatus La Niña menurut ONI NOAA CPC.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Analog skenario: musim La Niña dengan peringkat gabungan terkecil atas lima besaran dampak.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BNPB, musim hujan 2015/2016 sampai 2025/2026 (olah Pantau Bencana); BMKG, rilis September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1950" b="1" lang="id-ID">
                <a:solidFill>
                  <a:srgbClr val="1A1A1A"/>
                </a:solidFill>
                <a:latin typeface="Roboto"/>
              </a:rPr>
              <a:t>Rerata IRBI banjir 2025 tertinggi di</a:t>
            </a:r>
            <a:r>
              <a:rPr sz="1950" b="1" lang="id-ID">
                <a:solidFill>
                  <a:srgbClr val="00499D"/>
                </a:solidFill>
                <a:latin typeface="Roboto"/>
              </a:rPr>
              <a:t> Jawa Timur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 (</a:t>
            </a:r>
            <a:r>
              <a:rPr sz="1950" b="1" lang="id-ID">
                <a:solidFill>
                  <a:srgbClr val="D9600B"/>
                </a:solidFill>
                <a:latin typeface="Roboto"/>
              </a:rPr>
              <a:t>15,9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); dua studi InSAR</a:t>
            </a:r>
            <a:br/>
            <a:r>
              <a:rPr sz="1950" b="1" lang="id-ID">
                <a:solidFill>
                  <a:srgbClr val="1A1A1A"/>
                </a:solidFill>
                <a:latin typeface="Roboto"/>
              </a:rPr>
              <a:t>mencatat muka tanah Pekalongan turun</a:t>
            </a:r>
            <a:r>
              <a:rPr sz="1950" b="1" lang="id-ID">
                <a:solidFill>
                  <a:srgbClr val="D9600B"/>
                </a:solidFill>
                <a:latin typeface="Roboto"/>
              </a:rPr>
              <a:t> 5–16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 dan</a:t>
            </a:r>
            <a:r>
              <a:rPr sz="1950" b="1" lang="id-ID">
                <a:solidFill>
                  <a:srgbClr val="D9600B"/>
                </a:solidFill>
                <a:latin typeface="Roboto"/>
              </a:rPr>
              <a:t> 10–19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 cm per tahun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2042394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PENURUNAN MUKA TANAH, INSAR</a:t>
            </a:r>
          </a:p>
        </p:txBody>
      </p:sp>
      <p:pic>
        <p:nvPicPr>
          <p:cNvPr id="12" name="Picture 11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65023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202920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10–19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202920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cm/tahun, Pekalongan, Widodo dkk.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0044" y="1593850"/>
            <a:ext cx="265023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0926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464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11854" y="1630680"/>
            <a:ext cx="202920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5–16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1854" y="1896110"/>
            <a:ext cx="202920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cm/tahun, Pekalongan, Sidiq dkk.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1720" y="1593850"/>
            <a:ext cx="265023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5094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140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53530" y="1630680"/>
            <a:ext cx="202920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10–12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3530" y="1896110"/>
            <a:ext cx="202920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cm/th maks., Semarang utara-timur, Demak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3396" y="1593850"/>
            <a:ext cx="265023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9261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8816" y="1758950"/>
            <a:ext cx="1778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395206" y="1630680"/>
            <a:ext cx="202920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5206" y="1896110"/>
            <a:ext cx="202920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cm/tahun maks., Kendal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07443" y="13462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pic>
        <p:nvPicPr>
          <p:cNvPr id="34" name="Picture 33" descr="peta-irbi-banjir-2025-jaw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624154" y="5380996"/>
            <a:ext cx="1189841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banjir 2025, kelas nilai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40995" y="5419096"/>
            <a:ext cx="101600" cy="101600"/>
          </a:xfrm>
          <a:prstGeom prst="rect">
            <a:avLst/>
          </a:prstGeom>
          <a:solidFill>
            <a:srgbClr val="DCEBF8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93395" y="5380996"/>
            <a:ext cx="248363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7–11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68758" y="5419096"/>
            <a:ext cx="101600" cy="101600"/>
          </a:xfrm>
          <a:prstGeom prst="rect">
            <a:avLst/>
          </a:prstGeom>
          <a:solidFill>
            <a:srgbClr val="A4CAEE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158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12–13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50006" y="5419096"/>
            <a:ext cx="101600" cy="101600"/>
          </a:xfrm>
          <a:prstGeom prst="rect">
            <a:avLst/>
          </a:prstGeom>
          <a:solidFill>
            <a:srgbClr val="68A8E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2406" y="5380996"/>
            <a:ext cx="13237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1776" y="5419096"/>
            <a:ext cx="101600" cy="101600"/>
          </a:xfrm>
          <a:prstGeom prst="rect">
            <a:avLst/>
          </a:prstGeom>
          <a:solidFill>
            <a:srgbClr val="2F86D1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4176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15–16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43024" y="5419096"/>
            <a:ext cx="101600" cy="101600"/>
          </a:xfrm>
          <a:prstGeom prst="rect">
            <a:avLst/>
          </a:prstGeom>
          <a:solidFill>
            <a:srgbClr val="1B5A93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95424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17–32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4273" y="5419096"/>
            <a:ext cx="101600" cy="101600"/>
          </a:xfrm>
          <a:prstGeom prst="rect">
            <a:avLst/>
          </a:prstGeom>
          <a:solidFill>
            <a:srgbClr val="F1F3F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76673" y="5380996"/>
            <a:ext cx="46342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tanpa nilai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95594" y="53873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Rerata per provinsi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04585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60" name="Picture 59" descr="banjir-FFFFFF-364735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6025" y="2954477"/>
            <a:ext cx="113386" cy="113386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1056396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2" name="Picture 61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5407" y="2954477"/>
            <a:ext cx="113386" cy="113386"/>
          </a:xfrm>
          <a:prstGeom prst="rect">
            <a:avLst/>
          </a:prstGeom>
        </p:spPr>
      </p:pic>
      <p:cxnSp>
        <p:nvCxnSpPr>
          <p:cNvPr id="63" name="Connector 62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4" name="Rectangle 63"/>
          <p:cNvSpPr/>
          <p:nvPr/>
        </p:nvSpPr>
        <p:spPr>
          <a:xfrm>
            <a:off x="7554366" y="3122930"/>
            <a:ext cx="3961994" cy="254000"/>
          </a:xfrm>
          <a:prstGeom prst="rect">
            <a:avLst/>
          </a:prstGeom>
          <a:solidFill>
            <a:srgbClr val="FDF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9956" y="31165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0847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15,9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6396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1.322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9956" y="33832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30847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14,2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6396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1.475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Oval 74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29956" y="36499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30847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13,1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396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428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Oval 79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29956" y="39166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30847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12,5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6396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1.431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29956" y="41833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30847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63967" y="41833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61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29956" y="44500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30847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3967" y="44500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185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IRBI provinsi di sini adalah rerata sederhana kab/kota olahan penyusun; kejadian DIBI 2015–2025.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2025; DIBI BNPB 2015–2025 (olah Pantau Bencana); Widodo dkk. (2024); Sidiq dkk. (2023); Aditiya dan Ito (2023)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Skenario La Niña analog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2020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/2021 belum lolos uji balik: model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250–550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korban jiwa, tercatat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146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meninggal dan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hilang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150594" y="142875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640" y="1282700"/>
            <a:ext cx="896695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Banjir dan banjir bandang: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musim hujan La Niña, analog 2020/2021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250–550 jiwa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2128" y="213360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Tercatat musim analog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146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meninggal,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10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hilang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23282" y="24765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Pengungsi tercatat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178.620 jiwa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berat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2.058 unit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sedang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2.317 unit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ringan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9.653 unit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23282" y="38481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banjir tinggi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1,5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23282" y="41910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44450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75640" y="44450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Biaya stimulan rehab rumah, batas bawah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0267" y="44450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Rp257,4–337,8 miliar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05015" y="45339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47879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47879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Hari mengungsi, rentang asumsi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0267" y="47879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0,5–5,4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jiwa-hari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05015" y="48768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44894" y="1866900"/>
            <a:ext cx="0" cy="327533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89349" y="1866900"/>
            <a:ext cx="1927011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0" lang="id-ID">
                <a:solidFill>
                  <a:srgbClr val="2E3440"/>
                </a:solidFill>
                <a:latin typeface="Roboto"/>
              </a:rPr>
              <a:t>Dalam penyusunan, belum dihitung dari data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5–25%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703481" y="2571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peringatan dini </a:t>
            </a:r>
            <a:r>
              <a:rPr sz="750" b="1" lang="id-ID">
                <a:solidFill>
                  <a:srgbClr val="2E3440"/>
                </a:solidFill>
                <a:latin typeface="Roboto"/>
              </a:rPr>
              <a:t>11,1%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392624" y="2794000"/>
            <a:ext cx="1310936" cy="177800"/>
          </a:xfrm>
          <a:prstGeom prst="roundRect">
            <a:avLst>
              <a:gd name="adj" fmla="val 14285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250–550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Bila naik ke </a:t>
            </a:r>
            <a:r>
              <a:rPr sz="750" b="1" lang="id-ID">
                <a:solidFill>
                  <a:srgbClr val="2E3440"/>
                </a:solidFill>
                <a:latin typeface="Roboto"/>
              </a:rPr>
              <a:t>52%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40646" y="3098800"/>
            <a:ext cx="791011" cy="177800"/>
          </a:xfrm>
          <a:prstGeom prst="roundRect">
            <a:avLst>
              <a:gd name="adj" fmla="val 14285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153–330</a:t>
            </a:r>
          </a:p>
        </p:txBody>
      </p:sp>
      <p:sp>
        <p:nvSpPr>
          <p:cNvPr id="76" name="Isosceles Triangle 75"/>
          <p:cNvSpPr/>
          <p:nvPr/>
        </p:nvSpPr>
        <p:spPr>
          <a:xfrm rot="10800000">
            <a:off x="8253013" y="341630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2E3440"/>
                </a:solidFill>
                <a:latin typeface="Roboto"/>
              </a:rPr>
              <a:t>turun 40%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korban jiwa bila target Renas PB 2029 tercapai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71894" y="3619500"/>
            <a:ext cx="4944466" cy="15227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Model: rasio korban per kejadian median 2010–2025 dikali kejadian musim analog; longsor menyumbang porsi terbesar.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Angka kebijakan: asosiasi lintas negara UNDRR-WMO yang belum terbukti kausal; manfaat untuk longsor lebih kecil.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Skenario kemarau setara El Niño dalam penyusunan.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75640" y="521843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675640" y="526923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5640" y="5447030"/>
            <a:ext cx="3528907" cy="5473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Evakuasi dini warga bantaran sungai berdasar peringatan BMKG.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Pompa bergerak dan perahu karet di kab/kota bernilai banjir tertinggi.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Layanan kesehatan dan air bersih di tempat evakuasi.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31547" y="526923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31547" y="5447030"/>
            <a:ext cx="3528907" cy="5473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Kaji kebutuhan pascabencana untuk rumah rusak berat dan sedang.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Perbaikan tanggul dan alur sungai bersama BBWS.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Pemulihan layanan air bersih di permukiman terdampak.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87453" y="526923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987453" y="544703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86" name="Picture 85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478399"/>
            <a:ext cx="102362" cy="102362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8568804" y="544703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8" name="Picture 87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54" y="5478399"/>
            <a:ext cx="102362" cy="10236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9166625" y="544703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90" name="Picture 89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175" y="5478399"/>
            <a:ext cx="102362" cy="102362"/>
          </a:xfrm>
          <a:prstGeom prst="rect">
            <a:avLst/>
          </a:prstGeom>
        </p:spPr>
      </p:pic>
      <p:sp>
        <p:nvSpPr>
          <p:cNvPr id="91" name="Rounded Rectangle 90"/>
          <p:cNvSpPr/>
          <p:nvPr/>
        </p:nvSpPr>
        <p:spPr>
          <a:xfrm>
            <a:off x="10127626" y="5447030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92" name="Picture 91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176" y="5478399"/>
            <a:ext cx="102362" cy="102362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7987453" y="5662930"/>
            <a:ext cx="86976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kab/kota</a:t>
            </a:r>
          </a:p>
        </p:txBody>
      </p:sp>
      <p:pic>
        <p:nvPicPr>
          <p:cNvPr id="94" name="Picture 93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694299"/>
            <a:ext cx="102362" cy="102362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InaRISK BNPB; NOAA CPC, indeks ONI; Renas PB 2025–2029; UNDRR-WMO 2022; simulasi Pantau Bencana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Kerangka Grand Design 2026–2030: pilar sementara dalam tiga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fase, dengan kompendium program air dan kekuatan buktinya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TIGA FASE DAN STATUS USULAN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prabencana-FFFFFF-572c04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Prabencana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Seluruh program kompendium berada di fase ini; empat berbukti kuat atau sedang.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tanggap-darurat-FFFFFF-d40ecc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Tanggap darurat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Belum ada program air di kompendium untuk fase ini; dalam penyusunan.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pascabencana-FFFFFF-603074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Pascabencana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Belum ada program air di kompendium untuk fase ini; dalam penyusunan.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776630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776630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511300"/>
            <a:ext cx="776630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1282700"/>
            <a:ext cx="776630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prabencana-FFFFFF-572c04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375065" y="1428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640" y="1282700"/>
            <a:ext cx="619142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Kompendium program air dan kekuatan buktinya, sementara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230" y="1841500"/>
            <a:ext cx="241223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3468" y="1841500"/>
            <a:ext cx="241223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KEKUATAN BUKTI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5706" y="1841500"/>
            <a:ext cx="241223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STATUS USULAN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5640" y="2052320"/>
            <a:ext cx="751230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675640" y="208957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230" y="205232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Desa dan Kelurahan Tangguh Bencana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63468" y="205232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5706" y="205232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2300817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675640" y="233807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1230" y="230081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Sekolah Lapang Iklim (SLI) BMKG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3468" y="230081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75706" y="230081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2549313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Oval 47"/>
          <p:cNvSpPr/>
          <p:nvPr/>
        </p:nvSpPr>
        <p:spPr>
          <a:xfrm>
            <a:off x="675640" y="258656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1230" y="254931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Embung dan panen air hujan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3468" y="254931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75706" y="254931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279781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675640" y="283506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1230" y="279781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Sumur resapan dan biopori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3468" y="279781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75706" y="279781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3046307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675640" y="308356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1230" y="304630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Citarum Harum, pemulihan DAS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63468" y="304630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75706" y="304630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294803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675640" y="333205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1230" y="329480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PAMSIMAS, air minum berbasis masyarakat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63468" y="329480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75706" y="329480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354330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675640" y="358055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1230" y="354330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Sodetan dan bendungan kering Ciliwung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63468" y="354330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75706" y="354330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3791797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675640" y="382905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1230" y="379179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Sistem polder dan pompa kota pesisir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63468" y="379179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75706" y="379179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75640" y="4040293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Oval 77"/>
          <p:cNvSpPr/>
          <p:nvPr/>
        </p:nvSpPr>
        <p:spPr>
          <a:xfrm>
            <a:off x="675640" y="407754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1230" y="404029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Pengendalian pengambilan air tanah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63468" y="404029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Kuat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75706" y="404029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75640" y="428879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3" name="Oval 82"/>
          <p:cNvSpPr/>
          <p:nvPr/>
        </p:nvSpPr>
        <p:spPr>
          <a:xfrm>
            <a:off x="675640" y="432604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1230" y="428879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Delta Programme Belanda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63468" y="428879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75706" y="428879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75640" y="4537287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8" name="Oval 87"/>
          <p:cNvSpPr/>
          <p:nvPr/>
        </p:nvSpPr>
        <p:spPr>
          <a:xfrm>
            <a:off x="675640" y="457454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1230" y="453728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Room for the River, Belanda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63468" y="453728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75706" y="453728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4785783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Oval 92"/>
          <p:cNvSpPr/>
          <p:nvPr/>
        </p:nvSpPr>
        <p:spPr>
          <a:xfrm>
            <a:off x="675640" y="482303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1230" y="478578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Hibah mitigasi FEMA bersyarat manfaat-biaya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63468" y="478578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75706" y="478578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452104" y="1282700"/>
            <a:ext cx="3191256" cy="3840480"/>
          </a:xfrm>
          <a:prstGeom prst="roundRect">
            <a:avLst>
              <a:gd name="adj" fmla="val 171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452104" y="1282700"/>
            <a:ext cx="319125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2104" y="1511300"/>
            <a:ext cx="319125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452104" y="1282700"/>
            <a:ext cx="3191256" cy="3840480"/>
          </a:xfrm>
          <a:prstGeom prst="roundRect">
            <a:avLst>
              <a:gd name="adj" fmla="val 171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579104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2" name="Picture 101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254" y="1422400"/>
            <a:ext cx="177800" cy="17780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8960104" y="1282700"/>
            <a:ext cx="25562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Pilar sementara, belum final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79104" y="1841500"/>
            <a:ext cx="2937256" cy="3192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Tampungan dan pasokan air baku untuk musim kemarau.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Pengendalian banjir pesisir dan penurunan muka tanah.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Peringatan dini dan kesiapsiagaan masyarakat.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Tata kelola lintas lembaga dan arsitektur pembiayaan.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Kompendium program Pantau Bencana; kekuatan bukti menurut jenis evaluasi dampak terbuka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Status penyusunan dan jadwal penyelesaian kajian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data-051C2C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Riset dokumen dan literatur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Riset dokumen BNPB dan riset air Jawa selesai, tiap angka berlabel keyakinan.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Paket data air Jawa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IRBI, DIBI, irigasi, bendungan, penurunan tanah, dan wilayah sungai per kab/kota.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-051C2C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Rekonsiliasi angka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Angka paket data dicocokkan dengan angka terbit; selisih dicatat.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banjir-D9600B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Skenario musim hujan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Uji balik berjalan: rentang model belum mencakup angka tercatat musim analog.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ringkasan-D9600B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Naskah kajian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Naskah bab temuan dan Grand Design sedang ditulis dari paket data.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kekeringan-D9600B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Skenario kemarau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Skenario kemarau setara El Niño dan lampiran model kekeringan.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Picture 53" descr="lembaga-D9600B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Pemetaan lembaga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Rekomendasi dipetakan ke unit BNPB dan K/L bernomenklatur terkini.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kalender-2F86D1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2F86D1"/>
                </a:solidFill>
                <a:latin typeface="Roboto"/>
              </a:rPr>
              <a:t>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Paket final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Naskah dan deck final beserta PDF-nya; tanggal serah menunggu arahan.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8" name="Picture 67" descr="peringatan-D9600B-6a80b7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209040" y="5369560"/>
            <a:ext cx="1063659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YANG DIMINTA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72699" y="5369560"/>
            <a:ext cx="9205561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Arahan atas pilar sementara dan posisi BNPB sebelum naskah Grand Design dikunci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Ketahanan Air Pulau Jawa 2026–2030, Jumat, 23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Grand Design Ketahanan Air Pulau Jawa 2026–2030</dc:title>
  <dc:subject>Pembaruan penyusunan, 23 Oktober 2026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ketahanan air; Pulau Jawa; grand design; musim kemarau; musim hujan</cp:keywords>
  <dc:language>id-ID</dc:language>
  <cp:category>Kajian</cp:category>
  <dc:description>Tekanan air Jawa bersifat struktural, dan musim hujan 2026/2027 datang sesudah kemarau El Niño sangat kuat; Grand Design disusun untuk satu siklus kemarau dan hujan.</dc:description>
</cp:coreProperties>
</file>