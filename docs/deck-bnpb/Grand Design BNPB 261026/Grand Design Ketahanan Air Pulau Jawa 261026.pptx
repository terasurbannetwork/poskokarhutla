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T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Roboto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Roboto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Roboto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Roboto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9.png"/><Relationship Id="rId8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22.png"/><Relationship Id="rId5" Type="http://schemas.openxmlformats.org/officeDocument/2006/relationships/image" Target="../media/image30.png"/><Relationship Id="rId6" Type="http://schemas.openxmlformats.org/officeDocument/2006/relationships/image" Target="../media/image4.png"/><Relationship Id="rId7" Type="http://schemas.openxmlformats.org/officeDocument/2006/relationships/image" Target="../media/image31.png"/><Relationship Id="rId8" Type="http://schemas.openxmlformats.org/officeDocument/2006/relationships/image" Target="../media/image25.png"/><Relationship Id="rId9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1.png"/><Relationship Id="rId4" Type="http://schemas.openxmlformats.org/officeDocument/2006/relationships/image" Target="../media/image26.png"/><Relationship Id="rId5" Type="http://schemas.openxmlformats.org/officeDocument/2006/relationships/image" Target="../media/image12.png"/><Relationship Id="rId6" Type="http://schemas.openxmlformats.org/officeDocument/2006/relationships/image" Target="../media/image4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34.png"/><Relationship Id="rId6" Type="http://schemas.openxmlformats.org/officeDocument/2006/relationships/image" Target="../media/image33.png"/><Relationship Id="rId7" Type="http://schemas.openxmlformats.org/officeDocument/2006/relationships/image" Target="../media/image35.png"/><Relationship Id="rId8" Type="http://schemas.openxmlformats.org/officeDocument/2006/relationships/image" Target="../media/image9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5.png"/><Relationship Id="rId6" Type="http://schemas.openxmlformats.org/officeDocument/2006/relationships/image" Target="../media/image38.png"/><Relationship Id="rId7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5.png"/><Relationship Id="rId5" Type="http://schemas.openxmlformats.org/officeDocument/2006/relationships/image" Target="../media/image9.png"/><Relationship Id="rId6" Type="http://schemas.openxmlformats.org/officeDocument/2006/relationships/image" Target="../media/image22.png"/><Relationship Id="rId7" Type="http://schemas.openxmlformats.org/officeDocument/2006/relationships/image" Target="../media/image39.png"/><Relationship Id="rId8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9.png"/><Relationship Id="rId4" Type="http://schemas.openxmlformats.org/officeDocument/2006/relationships/image" Target="../media/image35.png"/><Relationship Id="rId5" Type="http://schemas.openxmlformats.org/officeDocument/2006/relationships/image" Target="../media/image9.png"/><Relationship Id="rId6" Type="http://schemas.openxmlformats.org/officeDocument/2006/relationships/image" Target="../media/image22.png"/><Relationship Id="rId7" Type="http://schemas.openxmlformats.org/officeDocument/2006/relationships/image" Target="../media/image3.png"/><Relationship Id="rId8" Type="http://schemas.openxmlformats.org/officeDocument/2006/relationships/image" Target="../media/image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1.png"/><Relationship Id="rId4" Type="http://schemas.openxmlformats.org/officeDocument/2006/relationships/image" Target="../media/image35.png"/><Relationship Id="rId5" Type="http://schemas.openxmlformats.org/officeDocument/2006/relationships/image" Target="../media/image9.png"/><Relationship Id="rId6" Type="http://schemas.openxmlformats.org/officeDocument/2006/relationships/image" Target="../media/image22.png"/><Relationship Id="rId7" Type="http://schemas.openxmlformats.org/officeDocument/2006/relationships/image" Target="../media/image39.png"/><Relationship Id="rId8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Relationship Id="rId7" Type="http://schemas.openxmlformats.org/officeDocument/2006/relationships/image" Target="../media/image40.png"/><Relationship Id="rId8" Type="http://schemas.openxmlformats.org/officeDocument/2006/relationships/image" Target="../media/image38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3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ul-bencana-r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900" y="0"/>
            <a:ext cx="58801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23760" y="6565900"/>
            <a:ext cx="469392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 lang="id-ID">
                <a:solidFill>
                  <a:srgbClr val="FFFFFF"/>
                </a:solidFill>
                <a:latin typeface="Roboto"/>
              </a:rPr>
              <a:t>Foto: rob di Desa Bedono, Demak, Jawa Tengah; Tim LindungiHutan, CC BY 4.0, Wikimedia Commons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45720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26" y="628193"/>
            <a:ext cx="526869" cy="6638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600200"/>
            <a:ext cx="5669280" cy="1524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3200" b="1" lang="id-ID">
                <a:solidFill>
                  <a:srgbClr val="FFFFFF"/>
                </a:solidFill>
                <a:latin typeface="Roboto"/>
              </a:rPr>
              <a:t>Grand Design Ketahanan</a:t>
            </a:r>
          </a:p>
          <a:p>
            <a:pPr algn="l">
              <a:lnSpc>
                <a:spcPct val="95000"/>
              </a:lnSpc>
            </a:pPr>
            <a:r>
              <a:rPr sz="3200" b="1" lang="id-ID">
                <a:solidFill>
                  <a:srgbClr val="FFFFFF"/>
                </a:solidFill>
                <a:latin typeface="Roboto"/>
              </a:rPr>
              <a:t>Air Pulau Jawa 2026–2030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25800"/>
            <a:ext cx="5669280" cy="44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lang="id-ID">
                <a:solidFill>
                  <a:srgbClr val="C9D1E3"/>
                </a:solidFill>
                <a:latin typeface="Roboto"/>
              </a:rPr>
              <a:t>Pengelolaan Air pada Musim Kemarau dan Musim Hujan untuk Pengurangan Risiko Bencana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22700"/>
            <a:ext cx="566928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lang="id-ID">
                <a:solidFill>
                  <a:srgbClr val="F6B26B"/>
                </a:solidFill>
                <a:latin typeface="Roboto"/>
              </a:rPr>
              <a:t>Badan Nasional Penanggulangan Bencana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27500"/>
            <a:ext cx="5669280" cy="19843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0" lang="id-ID">
                <a:solidFill>
                  <a:srgbClr val="C9D1E3"/>
                </a:solidFill>
                <a:latin typeface="Roboto"/>
              </a:rPr>
              <a:t>Disampaikan kepada Kepala Badan Nasional Penanggulangan Bencana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4478338"/>
            <a:ext cx="5120640" cy="0"/>
          </a:xfrm>
          <a:prstGeom prst="line">
            <a:avLst/>
          </a:prstGeom>
          <a:ln w="9525">
            <a:solidFill>
              <a:srgbClr val="8C9AA8"/>
            </a:solidFill>
          </a:ln>
        </p:spPr>
      </p:cxnSp>
      <p:sp>
        <p:nvSpPr>
          <p:cNvPr id="11" name="Rounded Rectangle 10"/>
          <p:cNvSpPr/>
          <p:nvPr/>
        </p:nvSpPr>
        <p:spPr>
          <a:xfrm>
            <a:off x="548640" y="5760720"/>
            <a:ext cx="2926080" cy="3835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1100" b="1" lang="id-ID">
                <a:solidFill>
                  <a:srgbClr val="051C2C"/>
                </a:solidFill>
                <a:latin typeface="Roboto"/>
              </a:rPr>
              <a:t>Sabtu, 24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Ukuran keberhasilan musim hujan dan musim kemarau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di Pulau Jawa menuntut tiga keputusan Kepala BNPB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DF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D9600B"/>
                </a:solidFill>
                <a:latin typeface="Roboto"/>
              </a:rPr>
              <a:t>KEPUTUSAN YANG DIMINTA DARI KEPALA BNPB</a:t>
            </a:r>
          </a:p>
        </p:txBody>
      </p:sp>
      <p:sp>
        <p:nvSpPr>
          <p:cNvPr id="11" name="Oval 10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regulasi-FFFFFF-e639f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15060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Masukan peninjauan Renas PB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060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Tetapkan kajian sebagai masukan dan hari ke-0 paling lambat pertengahan November 2026; bila ditunda, hari ke-100 lewat puncak.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22538" y="5590540"/>
            <a:ext cx="0" cy="416560"/>
          </a:xfrm>
          <a:prstGeom prst="line">
            <a:avLst/>
          </a:prstGeom>
          <a:ln w="9525">
            <a:solidFill>
              <a:srgbClr val="F4C3A0"/>
            </a:solidFill>
          </a:ln>
        </p:spPr>
      </p:cxnSp>
      <p:sp>
        <p:nvSpPr>
          <p:cNvPr id="16" name="Oval 15"/>
          <p:cNvSpPr/>
          <p:nvPr/>
        </p:nvSpPr>
        <p:spPr>
          <a:xfrm>
            <a:off x="4295563" y="5608320"/>
            <a:ext cx="330200" cy="3302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peringatan-FFFFFF-6a80b7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763" y="5684520"/>
            <a:ext cx="177800" cy="177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715933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Target cakupan peringatan dini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15933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Putuskan usulan penyelarasan target Renas PB dan Renstra BNPB atas evaluasi tahun ketiga Renstra.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23412" y="5590540"/>
            <a:ext cx="0" cy="416560"/>
          </a:xfrm>
          <a:prstGeom prst="line">
            <a:avLst/>
          </a:prstGeom>
          <a:ln w="9525">
            <a:solidFill>
              <a:srgbClr val="F4C3A0"/>
            </a:solidFill>
          </a:ln>
        </p:spPr>
      </p:cxnSp>
      <p:sp>
        <p:nvSpPr>
          <p:cNvPr id="21" name="Oval 20"/>
          <p:cNvSpPr/>
          <p:nvPr/>
        </p:nvSpPr>
        <p:spPr>
          <a:xfrm>
            <a:off x="7896437" y="5608320"/>
            <a:ext cx="330200" cy="3302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penurunan-muka-tanah-FFFFFF-4d1f13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2637" y="5684520"/>
            <a:ext cx="177800" cy="177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316807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Tanggul Laut Pantura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6807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Sampaikan posisi risiko lewat Kemenko PMK atau jalur pelibatan lembaga dalam Perpres BOP Pantura, sebagai kontributor Renas PB.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1282700"/>
            <a:ext cx="11094720" cy="3840480"/>
          </a:xfrm>
          <a:prstGeom prst="roundRect">
            <a:avLst>
              <a:gd name="adj" fmla="val 142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128270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1511300"/>
            <a:ext cx="1109472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1282700"/>
            <a:ext cx="11094720" cy="3840480"/>
          </a:xfrm>
          <a:prstGeom prst="roundRect">
            <a:avLst>
              <a:gd name="adj" fmla="val 142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ringkasan-FFFFFF-28e5662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56640" y="1282700"/>
            <a:ext cx="1045972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Pesan kunci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5640" y="1841500"/>
            <a:ext cx="1084072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lang="id-ID">
                <a:solidFill>
                  <a:srgbClr val="051C2C"/>
                </a:solidFill>
                <a:latin typeface="Roboto"/>
              </a:rPr>
              <a:t>Longsor dan banjir mencatat 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1.412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 dari 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1.738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 korban meninggal hidrometeorologi Jawa 2015–2026, sedangkan kekeringan tanpa korban jiwa; Grand Design 2026–2030 mengukur musim hujan dengan korban jiwa dan musim kemarau dengan gangguan air bersih serta pangan.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75640" y="2273300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4" name="Oval 33"/>
          <p:cNvSpPr/>
          <p:nvPr/>
        </p:nvSpPr>
        <p:spPr>
          <a:xfrm>
            <a:off x="675640" y="2525765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Picture 34" descr="penurunan-muka-tanah-FFFFFF-4d1f13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586" y="2601711"/>
            <a:ext cx="178308" cy="17830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120140" y="2525765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B.3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3437" y="2525765"/>
            <a:ext cx="3065683" cy="5254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Kondisi air.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GNSS Kota Pekalongan turun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10,7 cm per tahun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pada 2010–2021; rob tercatat di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35 kab/kota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17411" y="2608315"/>
            <a:ext cx="62618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B7A99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Terverifikasi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5640" y="3227493"/>
            <a:ext cx="526796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0" name="Oval 39"/>
          <p:cNvSpPr/>
          <p:nvPr/>
        </p:nvSpPr>
        <p:spPr>
          <a:xfrm>
            <a:off x="675640" y="342915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kekeringan-FFFFFF-bd7fcb5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586" y="3505105"/>
            <a:ext cx="178308" cy="17830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120140" y="3429159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A.1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3437" y="3429159"/>
            <a:ext cx="3065683" cy="5254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Musim kemarau.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Kekeringan di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76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kab/kota pada 2019 tanpa korban meninggal; volume air tersalur belum tercatat.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548987" y="3511709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75640" y="4130887"/>
            <a:ext cx="526796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6" name="Oval 45"/>
          <p:cNvSpPr/>
          <p:nvPr/>
        </p:nvSpPr>
        <p:spPr>
          <a:xfrm>
            <a:off x="675640" y="4332552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banjir-FFFFFF-3647350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586" y="4408498"/>
            <a:ext cx="178308" cy="17830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120140" y="4332552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B.2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63437" y="4332552"/>
            <a:ext cx="3065683" cy="5254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Musim hujan.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Lantai skenario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270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meninggal dan hilang (2008/2009),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71,5%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dari jebolnya Situ Gintung.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548987" y="4415102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51" name="Oval 50"/>
          <p:cNvSpPr/>
          <p:nvPr/>
        </p:nvSpPr>
        <p:spPr>
          <a:xfrm>
            <a:off x="6248400" y="260910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2" name="Picture 51" descr="peringatan-FFFFFF-6a80b7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346" y="2685055"/>
            <a:ext cx="178308" cy="17830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692900" y="2609109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C.1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36197" y="2609109"/>
            <a:ext cx="3065683" cy="3587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Kesenjangan.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Peringatan dini baru memenuhi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6%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masyarakat terpapar di kawasan berisiko tinggi.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121747" y="2691659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248400" y="3227493"/>
            <a:ext cx="526796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7" name="Oval 56"/>
          <p:cNvSpPr/>
          <p:nvPr/>
        </p:nvSpPr>
        <p:spPr>
          <a:xfrm>
            <a:off x="6248400" y="342915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8" name="Picture 57" descr="lembaga-FFFFFF-f44193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4346" y="3505105"/>
            <a:ext cx="178308" cy="17830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692900" y="3429159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C.2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36197" y="3429159"/>
            <a:ext cx="3065683" cy="5254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Grand design.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31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baris kewenangan air tanpa BNPB;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7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dari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8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program air dalam negeri wajib evaluasi.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703481" y="3511709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2008–2026; Susilo dkk. (2023); Renstra BNPB 2025–2029; paket lembaga dan kompendium program Pantau Bencana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1" lang="id-ID">
                <a:solidFill>
                  <a:srgbClr val="1A1A1A"/>
                </a:solidFill>
                <a:latin typeface="Roboto"/>
              </a:rPr>
              <a:t>A1. Muka tanah di stasiun GNSS Kota Pekalongan turun</a:t>
            </a:r>
            <a:r>
              <a:rPr sz="2000" b="1" lang="id-ID">
                <a:solidFill>
                  <a:srgbClr val="D9600B"/>
                </a:solidFill>
                <a:latin typeface="Roboto"/>
              </a:rPr>
              <a:t> 10,7 cm per</a:t>
            </a:r>
            <a:br/>
            <a:r>
              <a:rPr sz="2000" b="1" lang="id-ID">
                <a:solidFill>
                  <a:srgbClr val="D9600B"/>
                </a:solidFill>
                <a:latin typeface="Roboto"/>
              </a:rPr>
              <a:t>tahun</a:t>
            </a:r>
            <a:r>
              <a:rPr sz="2000" b="1" lang="id-ID">
                <a:solidFill>
                  <a:srgbClr val="1A1A1A"/>
                </a:solidFill>
                <a:latin typeface="Roboto"/>
              </a:rPr>
              <a:t> pada 2010–2021, tercepat di antara stasiun pesisir utara Jawa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3520440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097718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LAJU TERUKUR</a:t>
            </a:r>
          </a:p>
        </p:txBody>
      </p:sp>
      <p:pic>
        <p:nvPicPr>
          <p:cNvPr id="11" name="Picture 10" descr="penurunan-muka-tanah-FFFFFF-4d1f13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3300984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penurunan-muka-tanah-051C2C-4d1f13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2679954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10,7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2679954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cm per tahun, GNSS Kota Pekalongan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3163" y="1346200"/>
            <a:ext cx="62618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B7A99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Terverifikasi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5780" y="1282700"/>
            <a:ext cx="352044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45508" y="1337310"/>
            <a:ext cx="1228192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BILA LAJU TETAP</a:t>
            </a:r>
          </a:p>
        </p:txBody>
      </p:sp>
      <p:pic>
        <p:nvPicPr>
          <p:cNvPr id="20" name="Picture 19" descr="kalender-FFFFFF-a840cf9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6948" y="1372057"/>
            <a:ext cx="113386" cy="113386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4445508" y="1593850"/>
            <a:ext cx="3300984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5472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kalender-051C2C-a840cf9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0928" y="1758950"/>
            <a:ext cx="177800" cy="177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957318" y="1630680"/>
            <a:ext cx="2679954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42,8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57318" y="1896110"/>
            <a:ext cx="2679954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cm tambahan 2026–2030 bila laju tetap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33613" y="134620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22920" y="1282700"/>
            <a:ext cx="352044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32648" y="1337310"/>
            <a:ext cx="554087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ROB</a:t>
            </a:r>
          </a:p>
        </p:txBody>
      </p:sp>
      <p:pic>
        <p:nvPicPr>
          <p:cNvPr id="29" name="Picture 28" descr="rob-FFFFFF-ffd2c7e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4088" y="1372057"/>
            <a:ext cx="113386" cy="113386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8232648" y="1593850"/>
            <a:ext cx="3300984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4186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rob-051C2C-ffd2c7e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8068" y="1758950"/>
            <a:ext cx="177800" cy="1778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744458" y="1630680"/>
            <a:ext cx="2679954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35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44458" y="1896110"/>
            <a:ext cx="2679954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kab/kota berkejadian rob 2015–2025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penurunan-muka-tanah-FFFFFF-4d1f13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6674177" y="2493010"/>
            <a:ext cx="62618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B7A99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Terverifikasi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6640" y="2346960"/>
            <a:ext cx="5490537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Laju penurunan muka tanah terukur per kota menurut periode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5640" y="2905760"/>
            <a:ext cx="2636505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WILAYAH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12145" y="2905760"/>
            <a:ext cx="2636505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PERIODE UKUR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8649" y="2919730"/>
            <a:ext cx="1250117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MAKS. CM/TAHUN</a:t>
            </a:r>
          </a:p>
        </p:txBody>
      </p:sp>
      <p:pic>
        <p:nvPicPr>
          <p:cNvPr id="47" name="Picture 46" descr="penurunan-muka-tanah-FFFFFF-4d1f13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0089" y="2954477"/>
            <a:ext cx="113386" cy="113386"/>
          </a:xfrm>
          <a:prstGeom prst="rect">
            <a:avLst/>
          </a:prstGeom>
        </p:spPr>
      </p:pic>
      <p:cxnSp>
        <p:nvCxnSpPr>
          <p:cNvPr id="48" name="Connector 47"/>
          <p:cNvCxnSpPr/>
          <p:nvPr/>
        </p:nvCxnSpPr>
        <p:spPr>
          <a:xfrm>
            <a:off x="675640" y="311658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49" name="TextBox 48"/>
          <p:cNvSpPr txBox="1"/>
          <p:nvPr/>
        </p:nvSpPr>
        <p:spPr>
          <a:xfrm>
            <a:off x="675640" y="3116580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Jakarta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12145" y="3116580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1982-2010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8649" y="3116580"/>
            <a:ext cx="1250117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28,0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75640" y="3356398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3" name="TextBox 52"/>
          <p:cNvSpPr txBox="1"/>
          <p:nvPr/>
        </p:nvSpPr>
        <p:spPr>
          <a:xfrm>
            <a:off x="675640" y="3356398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Jakarta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12145" y="3356398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2016-2020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8649" y="3356398"/>
            <a:ext cx="1250117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5,0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75640" y="3596217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7" name="TextBox 56"/>
          <p:cNvSpPr txBox="1"/>
          <p:nvPr/>
        </p:nvSpPr>
        <p:spPr>
          <a:xfrm>
            <a:off x="675640" y="3596217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Semarang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12145" y="3596217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1999-2011 (GPS 2008-2011)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8649" y="3596217"/>
            <a:ext cx="1250117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19,0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75640" y="3836035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1" name="TextBox 60"/>
          <p:cNvSpPr txBox="1"/>
          <p:nvPr/>
        </p:nvSpPr>
        <p:spPr>
          <a:xfrm>
            <a:off x="675640" y="3836035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Semarang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12145" y="3836035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2016-2020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48649" y="3836035"/>
            <a:ext cx="1250117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8,0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75640" y="4075853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5" name="TextBox 64"/>
          <p:cNvSpPr txBox="1"/>
          <p:nvPr/>
        </p:nvSpPr>
        <p:spPr>
          <a:xfrm>
            <a:off x="675640" y="4075853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Semarang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12145" y="4075853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tak disebut di abstrak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48649" y="4075853"/>
            <a:ext cx="1250117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–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75640" y="4315672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9" name="TextBox 68"/>
          <p:cNvSpPr txBox="1"/>
          <p:nvPr/>
        </p:nvSpPr>
        <p:spPr>
          <a:xfrm>
            <a:off x="675640" y="4315672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Pekalongan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12145" y="4315672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2016-2023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48649" y="4315672"/>
            <a:ext cx="1250117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16,0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75640" y="455549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3" name="TextBox 72"/>
          <p:cNvSpPr txBox="1"/>
          <p:nvPr/>
        </p:nvSpPr>
        <p:spPr>
          <a:xfrm>
            <a:off x="675640" y="4555490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Pekalongan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12145" y="4555490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2016-2024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948649" y="4555490"/>
            <a:ext cx="1250117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–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75640" y="4795308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7" name="TextBox 76"/>
          <p:cNvSpPr txBox="1"/>
          <p:nvPr/>
        </p:nvSpPr>
        <p:spPr>
          <a:xfrm>
            <a:off x="675640" y="4795308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Pekalongan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312145" y="4795308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2016-2020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948649" y="4795308"/>
            <a:ext cx="1250117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7,0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675640" y="5035127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1" name="TextBox 80"/>
          <p:cNvSpPr txBox="1"/>
          <p:nvPr/>
        </p:nvSpPr>
        <p:spPr>
          <a:xfrm>
            <a:off x="675640" y="5035127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Jakarta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12145" y="5035127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1982-2014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948649" y="5035127"/>
            <a:ext cx="1250117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10,0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675640" y="5274945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5" name="TextBox 84"/>
          <p:cNvSpPr txBox="1"/>
          <p:nvPr/>
        </p:nvSpPr>
        <p:spPr>
          <a:xfrm>
            <a:off x="675640" y="5274945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Jakarta Utara dan Cikarang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312145" y="5274945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2017-2022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948649" y="5274945"/>
            <a:ext cx="1250117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–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675640" y="5514763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9" name="TextBox 88"/>
          <p:cNvSpPr txBox="1"/>
          <p:nvPr/>
        </p:nvSpPr>
        <p:spPr>
          <a:xfrm>
            <a:off x="675640" y="5514763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Semarang utara-timur dan Demak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312145" y="5514763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2015-2022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948649" y="5514763"/>
            <a:ext cx="1250117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12,0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675640" y="5754582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3" name="TextBox 92"/>
          <p:cNvSpPr txBox="1"/>
          <p:nvPr/>
        </p:nvSpPr>
        <p:spPr>
          <a:xfrm>
            <a:off x="675640" y="5754582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Kendal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312145" y="5754582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2015-2022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948649" y="5754582"/>
            <a:ext cx="1250117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5,0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1" name="Picture 100" descr="ringkasan-FFFFFF-28e5662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8072526" y="2346960"/>
            <a:ext cx="3443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Cara membaca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691526" y="2905760"/>
            <a:ext cx="3824834" cy="308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Laju dari metode dan periode yang berbeda disandingkan tanpa diperingkat antarmetode.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Tiga cekungan air tanah yang dinyatakan rusak bertepatan dengan kota berlaju terukur.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Laju resmi berkala per kota belum terbuka; permintaan data lewat Dewan SDA Nasional.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Program berbukti kuat, pengendalian pengambilan air tanah dengan pasokan pengganti, baru ada di luar negeri.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Susilo dkk. (2023); literatur InSAR dan GNSS terverifikasi (olah Pantau Bencana); DIBI BNPB 2015–2025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B1.</a:t>
            </a:r>
            <a:r>
              <a:rPr sz="2200" b="1" lang="id-ID">
                <a:solidFill>
                  <a:srgbClr val="051C2C"/>
                </a:solidFill>
                <a:latin typeface="Roboto"/>
              </a:rPr>
              <a:t> 53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kab/kota masuk daftar perhatian kekeringan,</a:t>
            </a:r>
            <a:r>
              <a:rPr sz="2200" b="1" lang="id-ID">
                <a:solidFill>
                  <a:srgbClr val="051C2C"/>
                </a:solidFill>
                <a:latin typeface="Roboto"/>
              </a:rPr>
              <a:t> 48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di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antaranya lewat syarat daerah irigasi kewenangan pusat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355940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DAFTAR PERHATIAN</a:t>
            </a:r>
          </a:p>
        </p:txBody>
      </p:sp>
      <p:pic>
        <p:nvPicPr>
          <p:cNvPr id="11" name="Picture 10" descr="wilayah-FFFFFF-37dca1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wilayah-051C2C-37dca1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kab/kota daftar perhatian kekeringan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0136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1058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irigasi-051C2C-3c813d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85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1317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317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lolos lewat irigasi kewenangan pusat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40043" y="134620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935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39078" y="1337310"/>
            <a:ext cx="1789615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KEMARAU 2026, SEMENTARA</a:t>
            </a:r>
          </a:p>
        </p:txBody>
      </p:sp>
      <p:pic>
        <p:nvPicPr>
          <p:cNvPr id="25" name="Picture 24" descr="kekeringan-FFFFFF-bd7fcb5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518" y="1372057"/>
            <a:ext cx="113386" cy="113386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33907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829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kekeringan-051C2C-bd7fcb5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498" y="1758950"/>
            <a:ext cx="177800" cy="177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5088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55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088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kab/kota tercatat, sementara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8207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09129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jiwa-051C2C-9b7037f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7495" y="1758950"/>
            <a:ext cx="177800" cy="1778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49388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1,3 juta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9388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jiwa terdampak, sementara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pic>
        <p:nvPicPr>
          <p:cNvPr id="37" name="Picture 36" descr="peta-irbi-kekeringan-2025-jaw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2731764"/>
            <a:ext cx="6741566" cy="2573031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932010" y="5380996"/>
            <a:ext cx="1423919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lang="id-ID">
                <a:solidFill>
                  <a:srgbClr val="1A1A1A"/>
                </a:solidFill>
                <a:latin typeface="Roboto"/>
              </a:rPr>
              <a:t>IRBI kekeringan 2025, kelas nilai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82929" y="5419096"/>
            <a:ext cx="101600" cy="101600"/>
          </a:xfrm>
          <a:prstGeom prst="rect">
            <a:avLst/>
          </a:prstGeom>
          <a:solidFill>
            <a:srgbClr val="FBE7D6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35329" y="5380996"/>
            <a:ext cx="19487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5–8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57207" y="5419096"/>
            <a:ext cx="101600" cy="101600"/>
          </a:xfrm>
          <a:prstGeom prst="rect">
            <a:avLst/>
          </a:prstGeom>
          <a:solidFill>
            <a:srgbClr val="F4C3A0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09607" y="5380996"/>
            <a:ext cx="78885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15492" y="5419096"/>
            <a:ext cx="101600" cy="101600"/>
          </a:xfrm>
          <a:prstGeom prst="rect">
            <a:avLst/>
          </a:prstGeom>
          <a:solidFill>
            <a:srgbClr val="E8894A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67892" y="5380996"/>
            <a:ext cx="30184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10–11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96740" y="5419096"/>
            <a:ext cx="101600" cy="101600"/>
          </a:xfrm>
          <a:prstGeom prst="rect">
            <a:avLst/>
          </a:prstGeom>
          <a:solidFill>
            <a:srgbClr val="D9600B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49140" y="5380996"/>
            <a:ext cx="30184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12–13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77989" y="5419096"/>
            <a:ext cx="101600" cy="101600"/>
          </a:xfrm>
          <a:prstGeom prst="rect">
            <a:avLst/>
          </a:prstGeom>
          <a:solidFill>
            <a:srgbClr val="8F3F07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30389" y="5380996"/>
            <a:ext cx="30184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14–19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95594" y="5387346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558796"/>
            <a:ext cx="6741566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0" lang="id-ID">
                <a:solidFill>
                  <a:srgbClr val="6B7280"/>
                </a:solidFill>
                <a:latin typeface="Roboto"/>
              </a:rPr>
              <a:t>Sumber batas: public/geo Pantau Bencana (asal belum terdokumentasi); WGS84 geografis; Ekuirektangular; Batas wilayah bukan rujukan resmi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27366" y="2346960"/>
            <a:ext cx="421599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427366" y="2346960"/>
            <a:ext cx="421599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27366" y="2575560"/>
            <a:ext cx="421599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427366" y="2346960"/>
            <a:ext cx="421599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5436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6" name="Picture 55" descr="wilayah-FFFFFF-37dca1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1516" y="2486660"/>
            <a:ext cx="177800" cy="177800"/>
          </a:xfrm>
          <a:prstGeom prst="rect">
            <a:avLst/>
          </a:prstGeom>
        </p:spPr>
      </p:pic>
      <p:sp>
        <p:nvSpPr>
          <p:cNvPr id="57" name="Rounded Rectangle 56"/>
          <p:cNvSpPr/>
          <p:nvPr/>
        </p:nvSpPr>
        <p:spPr>
          <a:xfrm>
            <a:off x="10703481" y="249301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5366" y="2346960"/>
            <a:ext cx="2641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Kejadian dan IRBI per provinsi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29956" y="2905760"/>
            <a:ext cx="1900891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PROVINSI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730847" y="2919730"/>
            <a:ext cx="850793" cy="182880"/>
          </a:xfrm>
          <a:prstGeom prst="roundRect">
            <a:avLst>
              <a:gd name="adj" fmla="val 50000"/>
            </a:avLst>
          </a:prstGeom>
          <a:solidFill>
            <a:srgbClr val="3F5F80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KEJADIAN</a:t>
            </a:r>
          </a:p>
        </p:txBody>
      </p:sp>
      <p:pic>
        <p:nvPicPr>
          <p:cNvPr id="61" name="Picture 60" descr="data-FFFFFF-608a1e1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22287" y="2954477"/>
            <a:ext cx="113386" cy="113386"/>
          </a:xfrm>
          <a:prstGeom prst="rect">
            <a:avLst/>
          </a:prstGeom>
        </p:spPr>
      </p:pic>
      <p:sp>
        <p:nvSpPr>
          <p:cNvPr id="62" name="Rounded Rectangle 61"/>
          <p:cNvSpPr/>
          <p:nvPr/>
        </p:nvSpPr>
        <p:spPr>
          <a:xfrm>
            <a:off x="10856978" y="2919730"/>
            <a:ext cx="557782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IRBI</a:t>
            </a:r>
          </a:p>
        </p:txBody>
      </p:sp>
      <p:pic>
        <p:nvPicPr>
          <p:cNvPr id="63" name="Picture 62" descr="kekeringan-FFFFFF-bd7fcb5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48418" y="2954477"/>
            <a:ext cx="113386" cy="113386"/>
          </a:xfrm>
          <a:prstGeom prst="rect">
            <a:avLst/>
          </a:prstGeom>
        </p:spPr>
      </p:pic>
      <p:cxnSp>
        <p:nvCxnSpPr>
          <p:cNvPr id="64" name="Connector 63"/>
          <p:cNvCxnSpPr/>
          <p:nvPr/>
        </p:nvCxnSpPr>
        <p:spPr>
          <a:xfrm>
            <a:off x="7554366" y="3116580"/>
            <a:ext cx="396199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65" name="Oval 64"/>
          <p:cNvSpPr/>
          <p:nvPr/>
        </p:nvSpPr>
        <p:spPr>
          <a:xfrm>
            <a:off x="7554366" y="31629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29956" y="31165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Barat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30847" y="31165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156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83240" y="31165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11,1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554366" y="33832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0" name="Oval 69"/>
          <p:cNvSpPr/>
          <p:nvPr/>
        </p:nvSpPr>
        <p:spPr>
          <a:xfrm>
            <a:off x="7554366" y="34296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29956" y="33832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Tengah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730847" y="33832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140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83240" y="33832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11,4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7554366" y="36499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5" name="Oval 74"/>
          <p:cNvSpPr/>
          <p:nvPr/>
        </p:nvSpPr>
        <p:spPr>
          <a:xfrm>
            <a:off x="7554366" y="36963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29956" y="36499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Timur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730847" y="36499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71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683240" y="36499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10,6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7554366" y="39166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0" name="Oval 79"/>
          <p:cNvSpPr/>
          <p:nvPr/>
        </p:nvSpPr>
        <p:spPr>
          <a:xfrm>
            <a:off x="7554366" y="39630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829956" y="39166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Banten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730847" y="39166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683240" y="39166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9,4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7554366" y="41833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5" name="Oval 84"/>
          <p:cNvSpPr/>
          <p:nvPr/>
        </p:nvSpPr>
        <p:spPr>
          <a:xfrm>
            <a:off x="7554366" y="42297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829956" y="41833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DI Yogyakarta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730847" y="41833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683240" y="41833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8,2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7554366" y="44500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0" name="Oval 89"/>
          <p:cNvSpPr/>
          <p:nvPr/>
        </p:nvSpPr>
        <p:spPr>
          <a:xfrm>
            <a:off x="7554366" y="44964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829956" y="44500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DKI Jakarta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730847" y="44500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683240" y="44500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8,7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554366" y="4843780"/>
            <a:ext cx="3961994" cy="1150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76081" indent="-76081"/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Kendal, Sumedang, Gunungkidul, dan Blora di luar daftar walau termasuk sepuluh kabupaten terdampak terbanyak.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IRBI dipakai sebagai syarat daftar, tidak untuk peringkat kab/kota.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InaRISK BNPB, IRBI 2025; DIBI BNPB 2015–2026 (olah Pantau Bencana)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B2. Skenario kemarau tidak lebih ringan dari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76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kab/kota (2019) dan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4,9 juta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jiwa terdampak (2018)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11094720" cy="4800600"/>
          </a:xfrm>
          <a:prstGeom prst="roundRect">
            <a:avLst>
              <a:gd name="adj" fmla="val 113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28270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F4EC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11300"/>
            <a:ext cx="11094720" cy="228600"/>
          </a:xfrm>
          <a:prstGeom prst="rect">
            <a:avLst/>
          </a:prstGeom>
          <a:solidFill>
            <a:srgbClr val="F4EC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282700"/>
            <a:ext cx="11094720" cy="4800600"/>
          </a:xfrm>
          <a:prstGeom prst="roundRect">
            <a:avLst>
              <a:gd name="adj" fmla="val 113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B08A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kekeringan-FFFFFF-bd7fcb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1121747" y="142875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640" y="1282700"/>
            <a:ext cx="9938107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Kekeringan: </a:t>
            </a:r>
            <a:r>
              <a:rPr sz="1100" b="1" lang="id-ID">
                <a:solidFill>
                  <a:srgbClr val="1A1A1A"/>
                </a:solidFill>
                <a:latin typeface="Roboto"/>
              </a:rPr>
              <a:t>kemarau El Niño 2026 berlanjut sampai awal musim hujan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640" y="1866900"/>
            <a:ext cx="5769254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KERUSAKAN DAN KORBAN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5640" y="20447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675640" y="2044700"/>
            <a:ext cx="2808427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Korban jiwa kekeringan 2015–2026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0267" y="2044700"/>
            <a:ext cx="1730776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0 jiwa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23282" y="2131457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75640" y="2383314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75640" y="2383314"/>
            <a:ext cx="2808427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Jiwa terdampak, lantai 2018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0267" y="2383314"/>
            <a:ext cx="1730776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4.924.057 jiwa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23282" y="2470071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75640" y="2721928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675640" y="2721928"/>
            <a:ext cx="2808427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Kab/kota terdampak, lantai 2019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0267" y="2721928"/>
            <a:ext cx="1730776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76 kab/kota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23282" y="2808684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75640" y="3060541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675640" y="3060541"/>
            <a:ext cx="2808427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Jiwa terdampak 2026, sementara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0267" y="3060541"/>
            <a:ext cx="1730776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1.300.190 jiwa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23282" y="3147298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75640" y="3399155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675640" y="3399155"/>
            <a:ext cx="2808427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Luas karhutla, lantai 2023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0267" y="3399155"/>
            <a:ext cx="1730776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71.110 ha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23282" y="3485912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75640" y="3737769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675640" y="3737769"/>
            <a:ext cx="2808427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Luas bahaya kekeringan tinggi, batas atas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0267" y="3737769"/>
            <a:ext cx="1730776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2,9 juta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 ha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23282" y="3824526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75640" y="4076383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3" name="TextBox 42"/>
          <p:cNvSpPr txBox="1"/>
          <p:nvPr/>
        </p:nvSpPr>
        <p:spPr>
          <a:xfrm>
            <a:off x="675640" y="4076383"/>
            <a:ext cx="2808427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Padi Jawa Tengah 2024 lawan rerata 2021–2022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0267" y="4076383"/>
            <a:ext cx="1730776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turun 6,3%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23282" y="4163139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75640" y="4414996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675640" y="4414996"/>
            <a:ext cx="2808427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Air bersih per seratus ribu jiwa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60267" y="4414996"/>
            <a:ext cx="1730776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1.500 m³ per hari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923282" y="4501753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444894" y="1866900"/>
            <a:ext cx="0" cy="2886710"/>
          </a:xfrm>
          <a:prstGeom prst="line">
            <a:avLst/>
          </a:prstGeom>
          <a:ln w="9525">
            <a:solidFill>
              <a:srgbClr val="E6EAF0"/>
            </a:solidFill>
          </a:ln>
        </p:spPr>
      </p:cxnSp>
      <p:sp>
        <p:nvSpPr>
          <p:cNvPr id="51" name="TextBox 50"/>
          <p:cNvSpPr txBox="1"/>
          <p:nvPr/>
        </p:nvSpPr>
        <p:spPr>
          <a:xfrm>
            <a:off x="6571894" y="1866900"/>
            <a:ext cx="4944466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KEMUNGKINAN DALAM LIMA TAHUN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45022" y="1866900"/>
            <a:ext cx="2671338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50" b="0" lang="id-ID">
                <a:solidFill>
                  <a:srgbClr val="2E3440"/>
                </a:solidFill>
                <a:latin typeface="Roboto"/>
              </a:rPr>
              <a:t>Tidak dinilai: peluang dampak setara lantai tanpa dasar hitung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71894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71894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1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&lt; 0,2%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568408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68408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2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0,2–1%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564921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64921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3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1–5%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561434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61434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4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5–25%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557947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557947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5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&gt; 25%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71894" y="2578100"/>
            <a:ext cx="4944466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ANGKA KEBIJAKAN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1121747" y="257175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71894" y="2755900"/>
            <a:ext cx="1630318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Daerah bertim reaksi cepat 2024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586867" y="2794000"/>
            <a:ext cx="1270" cy="177800"/>
          </a:xfrm>
          <a:prstGeom prst="roundRect">
            <a:avLst>
              <a:gd name="adj" fmla="val 50000"/>
            </a:avLst>
          </a:prstGeom>
          <a:solidFill>
            <a:srgbClr val="DCE1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754360" y="27559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80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71894" y="3060700"/>
            <a:ext cx="1630318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Target Renas PB 2029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703560" y="3098800"/>
            <a:ext cx="1270" cy="177800"/>
          </a:xfrm>
          <a:prstGeom prst="roundRect">
            <a:avLst>
              <a:gd name="adj" fmla="val 50000"/>
            </a:avLst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754360" y="30607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84</a:t>
            </a:r>
          </a:p>
        </p:txBody>
      </p:sp>
      <p:sp>
        <p:nvSpPr>
          <p:cNvPr id="71" name="Isosceles Triangle 70"/>
          <p:cNvSpPr/>
          <p:nvPr/>
        </p:nvSpPr>
        <p:spPr>
          <a:xfrm>
            <a:off x="8253013" y="3416300"/>
            <a:ext cx="76200" cy="60960"/>
          </a:xfrm>
          <a:prstGeom prst="triangl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67313" y="3365500"/>
            <a:ext cx="3149047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naik 5%</a:t>
            </a:r>
            <a:r>
              <a:rPr sz="750" b="0" lang="id-ID">
                <a:solidFill>
                  <a:srgbClr val="2E3440"/>
                </a:solidFill>
                <a:latin typeface="Roboto"/>
              </a:rPr>
              <a:t> daerah bertim reaksi cepat kedaruratan, termasuk kekeringan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71894" y="3619500"/>
            <a:ext cx="4944466" cy="11341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76081" indent="-76081"/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Lantai per metrik berasal dari tahun berbeda; tidak ada satu tahun analog utuh.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Kebutuhan air darurat dihitung sesudah data desa terdampak BPBD diterima.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75640" y="4829810"/>
            <a:ext cx="10840720" cy="0"/>
          </a:xfrm>
          <a:prstGeom prst="line">
            <a:avLst/>
          </a:prstGeom>
          <a:ln w="9525">
            <a:solidFill>
              <a:srgbClr val="E6EAF0"/>
            </a:solidFill>
          </a:ln>
        </p:spPr>
      </p:cxnSp>
      <p:sp>
        <p:nvSpPr>
          <p:cNvPr id="75" name="TextBox 74"/>
          <p:cNvSpPr txBox="1"/>
          <p:nvPr/>
        </p:nvSpPr>
        <p:spPr>
          <a:xfrm>
            <a:off x="675640" y="4880610"/>
            <a:ext cx="352890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RESPONS YANG DIBUTUHKAN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75640" y="5058410"/>
            <a:ext cx="3528907" cy="9359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BPBD menyalurkan air bersih sesuai standar dan mencatat volume serta desa terdampak.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Pemegang kewenangan wilayah sungai mendahulukan air untuk kebutuhan pokok sehari-hari.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Peringatan dini kekeringan BMKG per dasarian masuk platform peringatan dini BNPB.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31547" y="4880610"/>
            <a:ext cx="352890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KEBUTUHAN PEMULIHAN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331547" y="5058410"/>
            <a:ext cx="3528907" cy="9359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Sumber air jangka menengah lewat SPAM bersifat khusus pusat dan provinsi.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Embung dan panen air hujan dievaluasi dampaknya sebelum diperluas.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Rekap kemarau 2026 menjadi garis dasar pemicu kemarau 2027.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987453" y="4880610"/>
            <a:ext cx="352890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LEMBAGA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987453" y="5058410"/>
            <a:ext cx="52598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BPBD</a:t>
            </a:r>
          </a:p>
        </p:txBody>
      </p:sp>
      <p:pic>
        <p:nvPicPr>
          <p:cNvPr id="81" name="Picture 80" descr="lembaga-FFFFFF-f44193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0003" y="5089779"/>
            <a:ext cx="102362" cy="102362"/>
          </a:xfrm>
          <a:prstGeom prst="rect">
            <a:avLst/>
          </a:prstGeom>
        </p:spPr>
      </p:pic>
      <p:sp>
        <p:nvSpPr>
          <p:cNvPr id="82" name="Rounded Rectangle 81"/>
          <p:cNvSpPr/>
          <p:nvPr/>
        </p:nvSpPr>
        <p:spPr>
          <a:xfrm>
            <a:off x="8564240" y="5058410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83" name="Picture 82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6790" y="5089779"/>
            <a:ext cx="102362" cy="102362"/>
          </a:xfrm>
          <a:prstGeom prst="rect">
            <a:avLst/>
          </a:prstGeom>
        </p:spPr>
      </p:pic>
      <p:sp>
        <p:nvSpPr>
          <p:cNvPr id="84" name="Rounded Rectangle 83"/>
          <p:cNvSpPr/>
          <p:nvPr/>
        </p:nvSpPr>
        <p:spPr>
          <a:xfrm>
            <a:off x="9851948" y="5058410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85" name="Picture 84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4498" y="5089779"/>
            <a:ext cx="102362" cy="102362"/>
          </a:xfrm>
          <a:prstGeom prst="rect">
            <a:avLst/>
          </a:prstGeom>
        </p:spPr>
      </p:pic>
      <p:sp>
        <p:nvSpPr>
          <p:cNvPr id="86" name="Rounded Rectangle 85"/>
          <p:cNvSpPr/>
          <p:nvPr/>
        </p:nvSpPr>
        <p:spPr>
          <a:xfrm>
            <a:off x="10449769" y="5058410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87" name="Picture 86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2319" y="5089779"/>
            <a:ext cx="102362" cy="102362"/>
          </a:xfrm>
          <a:prstGeom prst="rect">
            <a:avLst/>
          </a:prstGeom>
        </p:spPr>
      </p:pic>
      <p:sp>
        <p:nvSpPr>
          <p:cNvPr id="88" name="Rounded Rectangle 87"/>
          <p:cNvSpPr/>
          <p:nvPr/>
        </p:nvSpPr>
        <p:spPr>
          <a:xfrm>
            <a:off x="7987453" y="5274310"/>
            <a:ext cx="688904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Kementan</a:t>
            </a:r>
          </a:p>
        </p:txBody>
      </p:sp>
      <p:pic>
        <p:nvPicPr>
          <p:cNvPr id="89" name="Picture 88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0003" y="5305679"/>
            <a:ext cx="102362" cy="102362"/>
          </a:xfrm>
          <a:prstGeom prst="rect">
            <a:avLst/>
          </a:prstGeom>
        </p:spPr>
      </p:pic>
      <p:sp>
        <p:nvSpPr>
          <p:cNvPr id="90" name="Rectangle 89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2008–2026; SiPongi Kementerian Kehutanan; KRB BNPB 2022–2026; BPS Jawa Tengah; Perka BNPB tentang kebutuhan dasar; Renas PB 2025–2029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C1. Tanah longsor mencatat</a:t>
            </a:r>
            <a:r>
              <a:rPr sz="2200" b="1" lang="id-ID">
                <a:solidFill>
                  <a:srgbClr val="051C2C"/>
                </a:solidFill>
                <a:latin typeface="Roboto"/>
              </a:rPr>
              <a:t> 924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dari</a:t>
            </a:r>
            <a:r>
              <a:rPr sz="2200" b="1" lang="id-ID">
                <a:solidFill>
                  <a:srgbClr val="051C2C"/>
                </a:solidFill>
                <a:latin typeface="Roboto"/>
              </a:rPr>
              <a:t> 1.738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korban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meninggal hidrometeorologi di Pulau Jawa pada 2015–2026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8057007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388191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KORBAN MENINGGAL</a:t>
            </a:r>
          </a:p>
        </p:txBody>
      </p:sp>
      <p:pic>
        <p:nvPicPr>
          <p:cNvPr id="11" name="Picture 10" descr="jiwa-FFFFFF-9b7037f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longsor-051C2C-c017b3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924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jiwa akibat tanah longsor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0136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1058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banjir-051C2C-364735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85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1317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1.412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317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jiwa akibat longsor dan banjir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4362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053582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data-051C2C-608a1e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9782" y="1758950"/>
            <a:ext cx="177800" cy="177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56172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1.738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6172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jiwa, semua bahaya hidrometeorologi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01306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72347" y="1282700"/>
            <a:ext cx="2771013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82075" y="1337310"/>
            <a:ext cx="869169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KALENDER</a:t>
            </a:r>
          </a:p>
        </p:txBody>
      </p:sp>
      <p:pic>
        <p:nvPicPr>
          <p:cNvPr id="30" name="Picture 29" descr="kalender-FFFFFF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3515" y="1372057"/>
            <a:ext cx="113386" cy="113386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898207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09129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kalender-051C2C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7495" y="1758950"/>
            <a:ext cx="177800" cy="1778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49388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75,4%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9388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korban jatuh November–April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pic>
        <p:nvPicPr>
          <p:cNvPr id="37" name="Picture 36" descr="peta-irbi-longsor-2025-jaw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2731764"/>
            <a:ext cx="6741566" cy="2573031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504487" y="5380996"/>
            <a:ext cx="1536145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lang="id-ID">
                <a:solidFill>
                  <a:srgbClr val="1A1A1A"/>
                </a:solidFill>
                <a:latin typeface="Roboto"/>
              </a:rPr>
              <a:t>IRBI tanah longsor 2025, kelas nilai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67632" y="5419096"/>
            <a:ext cx="101600" cy="101600"/>
          </a:xfrm>
          <a:prstGeom prst="rect">
            <a:avLst/>
          </a:prstGeom>
          <a:solidFill>
            <a:srgbClr val="FBE7D6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20032" y="5380996"/>
            <a:ext cx="19487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1–8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41910" y="5419096"/>
            <a:ext cx="101600" cy="101600"/>
          </a:xfrm>
          <a:prstGeom prst="rect">
            <a:avLst/>
          </a:prstGeom>
          <a:solidFill>
            <a:srgbClr val="F4C3A0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94310" y="5380996"/>
            <a:ext cx="248363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9–10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69673" y="5419096"/>
            <a:ext cx="101600" cy="101600"/>
          </a:xfrm>
          <a:prstGeom prst="rect">
            <a:avLst/>
          </a:prstGeom>
          <a:solidFill>
            <a:srgbClr val="E8894A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22073" y="5380996"/>
            <a:ext cx="30184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11–12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0921" y="5419096"/>
            <a:ext cx="101600" cy="101600"/>
          </a:xfrm>
          <a:prstGeom prst="rect">
            <a:avLst/>
          </a:prstGeom>
          <a:solidFill>
            <a:srgbClr val="D9600B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03321" y="5380996"/>
            <a:ext cx="13237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62691" y="5419096"/>
            <a:ext cx="101600" cy="101600"/>
          </a:xfrm>
          <a:prstGeom prst="rect">
            <a:avLst/>
          </a:prstGeom>
          <a:solidFill>
            <a:srgbClr val="8F3F07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15091" y="5380996"/>
            <a:ext cx="30184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14–20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43940" y="5419096"/>
            <a:ext cx="101600" cy="101600"/>
          </a:xfrm>
          <a:prstGeom prst="rect">
            <a:avLst/>
          </a:prstGeom>
          <a:solidFill>
            <a:srgbClr val="F1F3F6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96340" y="5380996"/>
            <a:ext cx="46342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tanpa nilai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95594" y="5387346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5558796"/>
            <a:ext cx="6741566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0" lang="id-ID">
                <a:solidFill>
                  <a:srgbClr val="6B7280"/>
                </a:solidFill>
                <a:latin typeface="Roboto"/>
              </a:rPr>
              <a:t>Sumber batas: public/geo Pantau Bencana (asal belum terdokumentasi); WGS84 geografis; Ekuirektangular; Batas wilayah bukan rujukan resmi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427366" y="2346960"/>
            <a:ext cx="421599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427366" y="2346960"/>
            <a:ext cx="421599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427366" y="2575560"/>
            <a:ext cx="421599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427366" y="2346960"/>
            <a:ext cx="421599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55436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8" name="Picture 57" descr="longsor-FFFFFF-c017b3f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11516" y="2486660"/>
            <a:ext cx="177800" cy="177800"/>
          </a:xfrm>
          <a:prstGeom prst="rect">
            <a:avLst/>
          </a:prstGeom>
        </p:spPr>
      </p:pic>
      <p:sp>
        <p:nvSpPr>
          <p:cNvPr id="59" name="Rounded Rectangle 58"/>
          <p:cNvSpPr/>
          <p:nvPr/>
        </p:nvSpPr>
        <p:spPr>
          <a:xfrm>
            <a:off x="10703481" y="249301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35366" y="2346960"/>
            <a:ext cx="2641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Kejadian dan IRBI per provinsi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29956" y="2905760"/>
            <a:ext cx="1900891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PROVINSI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730847" y="2919730"/>
            <a:ext cx="850793" cy="182880"/>
          </a:xfrm>
          <a:prstGeom prst="roundRect">
            <a:avLst>
              <a:gd name="adj" fmla="val 50000"/>
            </a:avLst>
          </a:prstGeom>
          <a:solidFill>
            <a:srgbClr val="3F5F80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KEJADIAN</a:t>
            </a:r>
          </a:p>
        </p:txBody>
      </p:sp>
      <p:pic>
        <p:nvPicPr>
          <p:cNvPr id="63" name="Picture 62" descr="data-FFFFFF-608a1e1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22287" y="2954477"/>
            <a:ext cx="113386" cy="113386"/>
          </a:xfrm>
          <a:prstGeom prst="rect">
            <a:avLst/>
          </a:prstGeom>
        </p:spPr>
      </p:pic>
      <p:sp>
        <p:nvSpPr>
          <p:cNvPr id="64" name="Rounded Rectangle 63"/>
          <p:cNvSpPr/>
          <p:nvPr/>
        </p:nvSpPr>
        <p:spPr>
          <a:xfrm>
            <a:off x="10856978" y="2919730"/>
            <a:ext cx="557782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IRBI</a:t>
            </a:r>
          </a:p>
        </p:txBody>
      </p:sp>
      <p:pic>
        <p:nvPicPr>
          <p:cNvPr id="65" name="Picture 64" descr="longsor-FFFFFF-c017b3f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48418" y="2954477"/>
            <a:ext cx="113386" cy="113386"/>
          </a:xfrm>
          <a:prstGeom prst="rect">
            <a:avLst/>
          </a:prstGeom>
        </p:spPr>
      </p:pic>
      <p:cxnSp>
        <p:nvCxnSpPr>
          <p:cNvPr id="66" name="Connector 65"/>
          <p:cNvCxnSpPr/>
          <p:nvPr/>
        </p:nvCxnSpPr>
        <p:spPr>
          <a:xfrm>
            <a:off x="7554366" y="3116580"/>
            <a:ext cx="396199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67" name="Oval 66"/>
          <p:cNvSpPr/>
          <p:nvPr/>
        </p:nvSpPr>
        <p:spPr>
          <a:xfrm>
            <a:off x="7554366" y="31629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29956" y="31165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Tengah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30847" y="31165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2.346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83240" y="31165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10,6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7554366" y="33832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2" name="Oval 71"/>
          <p:cNvSpPr/>
          <p:nvPr/>
        </p:nvSpPr>
        <p:spPr>
          <a:xfrm>
            <a:off x="7554366" y="34296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29956" y="33832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Barat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30847" y="33832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2.344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83240" y="33832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11,3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7554366" y="36499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7" name="Oval 76"/>
          <p:cNvSpPr/>
          <p:nvPr/>
        </p:nvSpPr>
        <p:spPr>
          <a:xfrm>
            <a:off x="7554366" y="36963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829956" y="36499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Timur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730847" y="36499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626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683240" y="36499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11,5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7554366" y="39166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2" name="Oval 81"/>
          <p:cNvSpPr/>
          <p:nvPr/>
        </p:nvSpPr>
        <p:spPr>
          <a:xfrm>
            <a:off x="7554366" y="39630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29956" y="39166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DI Yogyakarta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730847" y="39166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126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683240" y="39166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9,3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7554366" y="41833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7" name="Oval 86"/>
          <p:cNvSpPr/>
          <p:nvPr/>
        </p:nvSpPr>
        <p:spPr>
          <a:xfrm>
            <a:off x="7554366" y="42297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29956" y="41833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Banten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730847" y="41833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74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683240" y="41833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10,0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7554366" y="44500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2" name="Oval 91"/>
          <p:cNvSpPr/>
          <p:nvPr/>
        </p:nvSpPr>
        <p:spPr>
          <a:xfrm>
            <a:off x="7554366" y="44964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829956" y="44500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DKI Jakarta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730847" y="44500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31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683240" y="44500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–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554366" y="4843780"/>
            <a:ext cx="3961994" cy="1150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76081" indent="-76081"/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Korban longsor tidak dikenai kepekaan peringatan dini karena waktu tunggunya pendek.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Peringatan gerakan tanah berbasis lokasi dan waktu sampai rumah tangga belum ada.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2008–2026; InaRISK BNPB, IRBI 2025 (olah Pantau Bencana)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C2. Banjir memaksa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1,2 juta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jiwa mengungsi,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87,1%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pengungsi hidrometeorologi di Pulau Jawa pada 2015–2026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8057007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178891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DAMPAK BANJIR</a:t>
            </a:r>
          </a:p>
        </p:txBody>
      </p:sp>
      <p:pic>
        <p:nvPicPr>
          <p:cNvPr id="11" name="Picture 10" descr="banjir-FFFFFF-364735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jiwa-051C2C-9b7037f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488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jiwa meninggal akibat banjir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0136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1058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banjir-051C2C-364735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85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1317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1,2 juta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317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jiwa mengungsi akibat banjir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4362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053582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data-051C2C-608a1e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9782" y="1758950"/>
            <a:ext cx="177800" cy="177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56172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46.268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6172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rumah rusak akibat banjir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01306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72347" y="1282700"/>
            <a:ext cx="2771013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82075" y="1337310"/>
            <a:ext cx="930328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PENGUNGSI</a:t>
            </a:r>
          </a:p>
        </p:txBody>
      </p:sp>
      <p:pic>
        <p:nvPicPr>
          <p:cNvPr id="30" name="Picture 29" descr="banjir-FFFFFF-364735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3515" y="1372057"/>
            <a:ext cx="113386" cy="113386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898207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09129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banjir-051C2C-364735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7495" y="1758950"/>
            <a:ext cx="177800" cy="1778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49388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87,1%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9388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pengungsi hidrometeorologi akibat banjir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pic>
        <p:nvPicPr>
          <p:cNvPr id="37" name="Picture 36" descr="peta-irbi-banjir-2025-jaw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2731764"/>
            <a:ext cx="6741566" cy="2573031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624154" y="5380996"/>
            <a:ext cx="1189841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lang="id-ID">
                <a:solidFill>
                  <a:srgbClr val="1A1A1A"/>
                </a:solidFill>
                <a:latin typeface="Roboto"/>
              </a:rPr>
              <a:t>IRBI banjir 2025, kelas nilai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40995" y="5419096"/>
            <a:ext cx="101600" cy="101600"/>
          </a:xfrm>
          <a:prstGeom prst="rect">
            <a:avLst/>
          </a:prstGeom>
          <a:solidFill>
            <a:srgbClr val="DCEBF8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93395" y="5380996"/>
            <a:ext cx="248363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7–11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68758" y="5419096"/>
            <a:ext cx="101600" cy="101600"/>
          </a:xfrm>
          <a:prstGeom prst="rect">
            <a:avLst/>
          </a:prstGeom>
          <a:solidFill>
            <a:srgbClr val="A4CAEE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21158" y="5380996"/>
            <a:ext cx="30184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12–13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50006" y="5419096"/>
            <a:ext cx="101600" cy="101600"/>
          </a:xfrm>
          <a:prstGeom prst="rect">
            <a:avLst/>
          </a:prstGeom>
          <a:solidFill>
            <a:srgbClr val="68A8E0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2406" y="5380996"/>
            <a:ext cx="13237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61776" y="5419096"/>
            <a:ext cx="101600" cy="101600"/>
          </a:xfrm>
          <a:prstGeom prst="rect">
            <a:avLst/>
          </a:prstGeom>
          <a:solidFill>
            <a:srgbClr val="2F86D1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14176" y="5380996"/>
            <a:ext cx="30184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15–16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43024" y="5419096"/>
            <a:ext cx="101600" cy="101600"/>
          </a:xfrm>
          <a:prstGeom prst="rect">
            <a:avLst/>
          </a:prstGeom>
          <a:solidFill>
            <a:srgbClr val="1B5A93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95424" y="5380996"/>
            <a:ext cx="30184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17–32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24273" y="5419096"/>
            <a:ext cx="101600" cy="101600"/>
          </a:xfrm>
          <a:prstGeom prst="rect">
            <a:avLst/>
          </a:prstGeom>
          <a:solidFill>
            <a:srgbClr val="F1F3F6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76673" y="5380996"/>
            <a:ext cx="46342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tanpa nilai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95594" y="5387346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5558796"/>
            <a:ext cx="6741566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0" lang="id-ID">
                <a:solidFill>
                  <a:srgbClr val="6B7280"/>
                </a:solidFill>
                <a:latin typeface="Roboto"/>
              </a:rPr>
              <a:t>Sumber batas: public/geo Pantau Bencana (asal belum terdokumentasi); WGS84 geografis; Ekuirektangular; Batas wilayah bukan rujukan resmi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427366" y="2346960"/>
            <a:ext cx="421599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427366" y="2346960"/>
            <a:ext cx="421599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427366" y="2575560"/>
            <a:ext cx="421599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427366" y="2346960"/>
            <a:ext cx="421599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55436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8" name="Picture 57" descr="banjir-FFFFFF-364735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1516" y="2486660"/>
            <a:ext cx="177800" cy="177800"/>
          </a:xfrm>
          <a:prstGeom prst="rect">
            <a:avLst/>
          </a:prstGeom>
        </p:spPr>
      </p:pic>
      <p:sp>
        <p:nvSpPr>
          <p:cNvPr id="59" name="Rounded Rectangle 58"/>
          <p:cNvSpPr/>
          <p:nvPr/>
        </p:nvSpPr>
        <p:spPr>
          <a:xfrm>
            <a:off x="10703481" y="249301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35366" y="2346960"/>
            <a:ext cx="2641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Kejadian dan IRBI per provinsi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29956" y="2905760"/>
            <a:ext cx="1900891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PROVINSI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730847" y="2919730"/>
            <a:ext cx="850793" cy="182880"/>
          </a:xfrm>
          <a:prstGeom prst="roundRect">
            <a:avLst>
              <a:gd name="adj" fmla="val 50000"/>
            </a:avLst>
          </a:prstGeom>
          <a:solidFill>
            <a:srgbClr val="3F5F80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KEJADIAN</a:t>
            </a:r>
          </a:p>
        </p:txBody>
      </p:sp>
      <p:pic>
        <p:nvPicPr>
          <p:cNvPr id="63" name="Picture 62" descr="data-FFFFFF-608a1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22287" y="2954477"/>
            <a:ext cx="113386" cy="113386"/>
          </a:xfrm>
          <a:prstGeom prst="rect">
            <a:avLst/>
          </a:prstGeom>
        </p:spPr>
      </p:pic>
      <p:sp>
        <p:nvSpPr>
          <p:cNvPr id="64" name="Rounded Rectangle 63"/>
          <p:cNvSpPr/>
          <p:nvPr/>
        </p:nvSpPr>
        <p:spPr>
          <a:xfrm>
            <a:off x="10856978" y="2919730"/>
            <a:ext cx="557782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IRBI</a:t>
            </a:r>
          </a:p>
        </p:txBody>
      </p:sp>
      <p:pic>
        <p:nvPicPr>
          <p:cNvPr id="65" name="Picture 64" descr="banjir-FFFFFF-364735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8418" y="2954477"/>
            <a:ext cx="113386" cy="113386"/>
          </a:xfrm>
          <a:prstGeom prst="rect">
            <a:avLst/>
          </a:prstGeom>
        </p:spPr>
      </p:pic>
      <p:cxnSp>
        <p:nvCxnSpPr>
          <p:cNvPr id="66" name="Connector 65"/>
          <p:cNvCxnSpPr/>
          <p:nvPr/>
        </p:nvCxnSpPr>
        <p:spPr>
          <a:xfrm>
            <a:off x="7554366" y="3116580"/>
            <a:ext cx="396199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67" name="Oval 66"/>
          <p:cNvSpPr/>
          <p:nvPr/>
        </p:nvSpPr>
        <p:spPr>
          <a:xfrm>
            <a:off x="7554366" y="31629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29956" y="31165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Barat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30847" y="31165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1.475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83240" y="31165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14,2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7554366" y="33832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2" name="Oval 71"/>
          <p:cNvSpPr/>
          <p:nvPr/>
        </p:nvSpPr>
        <p:spPr>
          <a:xfrm>
            <a:off x="7554366" y="34296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29956" y="33832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Tengah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30847" y="33832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1.431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83240" y="33832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12,5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7554366" y="36499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7" name="Oval 76"/>
          <p:cNvSpPr/>
          <p:nvPr/>
        </p:nvSpPr>
        <p:spPr>
          <a:xfrm>
            <a:off x="7554366" y="36963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829956" y="36499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Timur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730847" y="36499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1.322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683240" y="36499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15,9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7554366" y="39166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2" name="Oval 81"/>
          <p:cNvSpPr/>
          <p:nvPr/>
        </p:nvSpPr>
        <p:spPr>
          <a:xfrm>
            <a:off x="7554366" y="39630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29956" y="39166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Banten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730847" y="39166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428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683240" y="39166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13,1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7554366" y="41833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7" name="Oval 86"/>
          <p:cNvSpPr/>
          <p:nvPr/>
        </p:nvSpPr>
        <p:spPr>
          <a:xfrm>
            <a:off x="7554366" y="42297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29956" y="41833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DKI Jakarta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730847" y="41833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185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683240" y="41833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11,0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7554366" y="44500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2" name="Oval 91"/>
          <p:cNvSpPr/>
          <p:nvPr/>
        </p:nvSpPr>
        <p:spPr>
          <a:xfrm>
            <a:off x="7554366" y="44964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829956" y="44500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DI Yogyakarta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730847" y="44500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61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683240" y="44500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11,6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554366" y="4843780"/>
            <a:ext cx="3961994" cy="1150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76081" indent="-76081"/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Banjir lebih jarang menewaskan per kejadian daripada longsor, tetapi memindahkan penduduk paling banyak.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Kesiapan pengungsian (lokasi, logistik, air bersih) menentukan dampak banjir lebih dari jumlah korban jiwa.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2008–2026; InaRISK BNPB, IRBI 2025 (olah Pantau Bencana)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C3. Musim hujan 2026/2027 direncanakan tidak lebih ringan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dari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270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meninggal dan hilang, angka musim 2008/2009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11094720" cy="4800600"/>
          </a:xfrm>
          <a:prstGeom prst="roundRect">
            <a:avLst>
              <a:gd name="adj" fmla="val 113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28270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DCEB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11300"/>
            <a:ext cx="11094720" cy="228600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282700"/>
            <a:ext cx="11094720" cy="4800600"/>
          </a:xfrm>
          <a:prstGeom prst="roundRect">
            <a:avLst>
              <a:gd name="adj" fmla="val 113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banjir-FFFFFF-364735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1121747" y="142875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640" y="1282700"/>
            <a:ext cx="9938107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Musim hujan: </a:t>
            </a:r>
            <a:r>
              <a:rPr sz="1100" b="1" lang="id-ID">
                <a:solidFill>
                  <a:srgbClr val="1A1A1A"/>
                </a:solidFill>
                <a:latin typeface="Roboto"/>
              </a:rPr>
              <a:t>tercatat terburuk di Pulau Jawa, setara 2008/2009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640" y="1866900"/>
            <a:ext cx="5769254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KERUSAKAN DAN KORBAN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5640" y="20447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675640" y="20447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Meninggal dan hilang, lantai 2008/2009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0267" y="20447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270 jiwa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23282" y="21336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75640" y="23876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75640" y="23876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Pita model La Niña, belum diuji balik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0267" y="23876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250–550 jiwa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52128" y="2476500"/>
            <a:ext cx="136576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600B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Estimasi model, belum diuji balik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75640" y="27305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675640" y="27305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Meninggal dan hilang, musim 2025/2026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0267" y="27305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237 jiwa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23282" y="28194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75640" y="30734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675640" y="30734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Mengungsi, lantai 2013/2014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0267" y="30734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525.861 jiwa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23282" y="31623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75640" y="34163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675640" y="34163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Rumah rusak berat, lantai 2009/2010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0267" y="34163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6.905 unit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23282" y="3505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75640" y="37592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675640" y="37592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Luas bahaya tinggi banjir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0267" y="37592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1,5 juta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 ha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23282" y="38481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75640" y="41021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3" name="TextBox 42"/>
          <p:cNvSpPr txBox="1"/>
          <p:nvPr/>
        </p:nvSpPr>
        <p:spPr>
          <a:xfrm>
            <a:off x="675640" y="41021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Luas bahaya tinggi tanah longsor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0267" y="41021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3,2 juta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 ha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23282" y="41910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444894" y="1866900"/>
            <a:ext cx="0" cy="2886710"/>
          </a:xfrm>
          <a:prstGeom prst="line">
            <a:avLst/>
          </a:prstGeom>
          <a:ln w="9525">
            <a:solidFill>
              <a:srgbClr val="E6EAF0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6571894" y="1866900"/>
            <a:ext cx="4944466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KEMUNGKINAN DALAM LIMA TAHUN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703481" y="186055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71894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71894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1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&lt; 0,2%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568408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68408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2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0,2–1%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64921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64921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3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1–5%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561434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61434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FFFFFF"/>
                </a:solidFill>
                <a:latin typeface="Roboto"/>
              </a:rPr>
              <a:t>4</a:t>
            </a:r>
          </a:p>
          <a:p>
            <a:pPr algn="ctr"/>
            <a:r>
              <a:rPr sz="650" b="0" lang="id-ID">
                <a:solidFill>
                  <a:srgbClr val="FFFFFF"/>
                </a:solidFill>
                <a:latin typeface="Roboto"/>
              </a:rPr>
              <a:t>5–25%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557947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57947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5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&gt; 25%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71894" y="2578100"/>
            <a:ext cx="4944466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ANGKA KEBIJAKAN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703481" y="257175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71894" y="2755900"/>
            <a:ext cx="1630318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Lantai tercatat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703560" y="2794000"/>
            <a:ext cx="1270" cy="177800"/>
          </a:xfrm>
          <a:prstGeom prst="roundRect">
            <a:avLst>
              <a:gd name="adj" fmla="val 50000"/>
            </a:avLst>
          </a:prstGeom>
          <a:solidFill>
            <a:srgbClr val="DCE1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754360" y="27559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270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71894" y="3060700"/>
            <a:ext cx="1630318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Cakupan Renas PB 2029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846776" y="3098800"/>
            <a:ext cx="1270" cy="177800"/>
          </a:xfrm>
          <a:prstGeom prst="roundRect">
            <a:avLst>
              <a:gd name="adj" fmla="val 50000"/>
            </a:avLst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754360" y="30607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175,6</a:t>
            </a:r>
          </a:p>
        </p:txBody>
      </p:sp>
      <p:sp>
        <p:nvSpPr>
          <p:cNvPr id="67" name="Isosceles Triangle 66"/>
          <p:cNvSpPr/>
          <p:nvPr/>
        </p:nvSpPr>
        <p:spPr>
          <a:xfrm rot="10800000">
            <a:off x="8253013" y="3416300"/>
            <a:ext cx="76200" cy="60960"/>
          </a:xfrm>
          <a:prstGeom prst="triangle">
            <a:avLst/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67313" y="3365500"/>
            <a:ext cx="3149047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2E3440"/>
                </a:solidFill>
                <a:latin typeface="Roboto"/>
              </a:rPr>
              <a:t>turun 35%</a:t>
            </a:r>
            <a:r>
              <a:rPr sz="750" b="0" lang="id-ID">
                <a:solidFill>
                  <a:srgbClr val="2E3440"/>
                </a:solidFill>
                <a:latin typeface="Roboto"/>
              </a:rPr>
              <a:t> korban lantai, longsor tidak dihitung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53013" y="3543300"/>
            <a:ext cx="326334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Asosiasi lintas negara WMO, belum terbukti kausal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71894" y="3771900"/>
            <a:ext cx="4944466" cy="981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76081" indent="-76081"/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Pita model hanya pembanding karena batas bawahnya di bawah lantai tercatat.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Rencana aksi tidak ditutup akhir April karena sebagian korban jatuh Mei sampai September.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75640" y="4829810"/>
            <a:ext cx="10840720" cy="0"/>
          </a:xfrm>
          <a:prstGeom prst="line">
            <a:avLst/>
          </a:prstGeom>
          <a:ln w="9525">
            <a:solidFill>
              <a:srgbClr val="E6EAF0"/>
            </a:solidFill>
          </a:ln>
        </p:spPr>
      </p:cxnSp>
      <p:sp>
        <p:nvSpPr>
          <p:cNvPr id="72" name="TextBox 71"/>
          <p:cNvSpPr txBox="1"/>
          <p:nvPr/>
        </p:nvSpPr>
        <p:spPr>
          <a:xfrm>
            <a:off x="675640" y="4880610"/>
            <a:ext cx="352890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RESPONS YANG DIBUTUHKAN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5640" y="5058410"/>
            <a:ext cx="3528907" cy="9359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Rencana kontinjensi provinsi memakai lantai korban dan lantai pengungsi.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Cadangan logistik per wilayah dibandingkan kebutuhan pengungsi lantai.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Air minum dan air bersih pengungsi disiapkan sesuai standar kebutuhan dasar.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31547" y="4880610"/>
            <a:ext cx="352890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KEBUTUHAN PEMULIHAN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31547" y="5058410"/>
            <a:ext cx="3528907" cy="9359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Stimulan rumah rusak akibat longsor dan banjir bandang.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Rencana kontinjensi hilir bendungan dikaji ulang terhadap RTD.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Lantai skenario diperbarui dari DIBI setiap akhir musim.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87453" y="4880610"/>
            <a:ext cx="352890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LEMBAGA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987453" y="5058410"/>
            <a:ext cx="1597231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Deputi Bidang Penanganan Darurat</a:t>
            </a:r>
          </a:p>
        </p:txBody>
      </p:sp>
      <p:pic>
        <p:nvPicPr>
          <p:cNvPr id="78" name="Picture 77" descr="lembaga-FFFFFF-f44193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0003" y="5089779"/>
            <a:ext cx="102362" cy="102362"/>
          </a:xfrm>
          <a:prstGeom prst="rect">
            <a:avLst/>
          </a:prstGeom>
        </p:spPr>
      </p:pic>
      <p:sp>
        <p:nvSpPr>
          <p:cNvPr id="79" name="Rounded Rectangle 78"/>
          <p:cNvSpPr/>
          <p:nvPr/>
        </p:nvSpPr>
        <p:spPr>
          <a:xfrm>
            <a:off x="9635485" y="5058410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80" name="Picture 79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8035" y="5089779"/>
            <a:ext cx="102362" cy="102362"/>
          </a:xfrm>
          <a:prstGeom prst="rect">
            <a:avLst/>
          </a:prstGeom>
        </p:spPr>
      </p:pic>
      <p:sp>
        <p:nvSpPr>
          <p:cNvPr id="81" name="Rounded Rectangle 80"/>
          <p:cNvSpPr/>
          <p:nvPr/>
        </p:nvSpPr>
        <p:spPr>
          <a:xfrm>
            <a:off x="10923193" y="5058410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82" name="Picture 81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5743" y="5089779"/>
            <a:ext cx="102362" cy="102362"/>
          </a:xfrm>
          <a:prstGeom prst="rect">
            <a:avLst/>
          </a:prstGeom>
        </p:spPr>
      </p:pic>
      <p:sp>
        <p:nvSpPr>
          <p:cNvPr id="83" name="Rounded Rectangle 82"/>
          <p:cNvSpPr/>
          <p:nvPr/>
        </p:nvSpPr>
        <p:spPr>
          <a:xfrm>
            <a:off x="7987453" y="5274310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84" name="Picture 83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0003" y="5305679"/>
            <a:ext cx="102362" cy="102362"/>
          </a:xfrm>
          <a:prstGeom prst="rect">
            <a:avLst/>
          </a:prstGeom>
        </p:spPr>
      </p:pic>
      <p:sp>
        <p:nvSpPr>
          <p:cNvPr id="85" name="Rounded Rectangle 84"/>
          <p:cNvSpPr/>
          <p:nvPr/>
        </p:nvSpPr>
        <p:spPr>
          <a:xfrm>
            <a:off x="8948454" y="5274310"/>
            <a:ext cx="83908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BPBD provinsi</a:t>
            </a:r>
          </a:p>
        </p:txBody>
      </p:sp>
      <p:pic>
        <p:nvPicPr>
          <p:cNvPr id="86" name="Picture 85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1004" y="5305679"/>
            <a:ext cx="102362" cy="102362"/>
          </a:xfrm>
          <a:prstGeom prst="rect">
            <a:avLst/>
          </a:prstGeom>
        </p:spPr>
      </p:pic>
      <p:sp>
        <p:nvSpPr>
          <p:cNvPr id="87" name="Rectangle 86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2008–2026; KRB BNPB 2022–2026; Renas PB 2025–2029; WMO 2022; model rasio Pantau Bencana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D1. Tidak satu pun dari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31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baris kewenangan air menyebut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BNPB; peringatan dini baru memenuhi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6%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masyarakat terpapar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252368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KEWENANGAN AIR</a:t>
            </a:r>
          </a:p>
        </p:txBody>
      </p:sp>
      <p:pic>
        <p:nvPicPr>
          <p:cNvPr id="11" name="Picture 10" descr="lembaga-FFFFFF-f44193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lembaga-051C2C-f44193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baris kewenangan, tanpa BNPB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0136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1058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regulasi-051C2C-e639fe9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85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1317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317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celah kewenangan air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5830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935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39078" y="1337310"/>
            <a:ext cx="1244277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PERINGATAN DINI</a:t>
            </a:r>
          </a:p>
        </p:txBody>
      </p:sp>
      <p:pic>
        <p:nvPicPr>
          <p:cNvPr id="25" name="Picture 24" descr="peringatan-FFFFFF-6a80b7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518" y="1372057"/>
            <a:ext cx="113386" cy="113386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33907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829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peringatan-051C2C-6a80b7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498" y="1758950"/>
            <a:ext cx="177800" cy="177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5088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088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masyarakat terpapar terpenuhi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8207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09129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banjir-051C2C-3647350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7495" y="1758950"/>
            <a:ext cx="177800" cy="1778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49388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19,68%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9388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banjir berperingatan dampak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2" name="Picture 41" descr="lembaga-FFFFFF-f44193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6905754" y="249301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6640" y="2346960"/>
            <a:ext cx="5722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Pemegang kewenangan air tingkat pusat per komponen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5640" y="290576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KOMPONEN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83882" y="290576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LEMBAGA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92124" y="290576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DASAR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75640" y="311658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49" name="TextBox 48"/>
          <p:cNvSpPr txBox="1"/>
          <p:nvPr/>
        </p:nvSpPr>
        <p:spPr>
          <a:xfrm>
            <a:off x="675640" y="31165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Air baku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83882" y="31165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Kementerian PU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92124" y="31165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Pemetaan penyusun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75640" y="33832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3" name="TextBox 52"/>
          <p:cNvSpPr txBox="1"/>
          <p:nvPr/>
        </p:nvSpPr>
        <p:spPr>
          <a:xfrm>
            <a:off x="675640" y="33832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Air minum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83882" y="33832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Kementerian PU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92124" y="33832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Pemetaan penyusun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75640" y="36499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7" name="TextBox 56"/>
          <p:cNvSpPr txBox="1"/>
          <p:nvPr/>
        </p:nvSpPr>
        <p:spPr>
          <a:xfrm>
            <a:off x="675640" y="36499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Irigasi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83882" y="36499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Kementerian PU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92124" y="36499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Pemetaan penyusun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75640" y="39166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1" name="TextBox 60"/>
          <p:cNvSpPr txBox="1"/>
          <p:nvPr/>
        </p:nvSpPr>
        <p:spPr>
          <a:xfrm>
            <a:off x="675640" y="39166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Irigasi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83882" y="39166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Kementan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92124" y="39166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Tertulis di norma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75640" y="41833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5" name="TextBox 64"/>
          <p:cNvSpPr txBox="1"/>
          <p:nvPr/>
        </p:nvSpPr>
        <p:spPr>
          <a:xfrm>
            <a:off x="675640" y="41833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Waduk dan bendungan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883882" y="41833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Kementerian PU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92124" y="41833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Pemetaan penyusun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75640" y="44500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9" name="TextBox 68"/>
          <p:cNvSpPr txBox="1"/>
          <p:nvPr/>
        </p:nvSpPr>
        <p:spPr>
          <a:xfrm>
            <a:off x="675640" y="44500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Air tanah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883882" y="44500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Kementerian ESDM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92124" y="44500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Pemetaan penyusun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75640" y="47167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3" name="TextBox 72"/>
          <p:cNvSpPr txBox="1"/>
          <p:nvPr/>
        </p:nvSpPr>
        <p:spPr>
          <a:xfrm>
            <a:off x="675640" y="47167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Air tanah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83882" y="47167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Pemerintah Pusat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92124" y="47167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Tertulis di norma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75640" y="49834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7" name="TextBox 76"/>
          <p:cNvSpPr txBox="1"/>
          <p:nvPr/>
        </p:nvSpPr>
        <p:spPr>
          <a:xfrm>
            <a:off x="675640" y="49834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Penurunan muka tanah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883882" y="49834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Kementerian ESDM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92124" y="49834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Pemetaan penyusun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675640" y="52501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1" name="TextBox 80"/>
          <p:cNvSpPr txBox="1"/>
          <p:nvPr/>
        </p:nvSpPr>
        <p:spPr>
          <a:xfrm>
            <a:off x="675640" y="52501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Penurunan muka tanah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883882" y="52501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Kementerian PU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92124" y="52501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Pemetaan penyusun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675640" y="55168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5" name="TextBox 84"/>
          <p:cNvSpPr txBox="1"/>
          <p:nvPr/>
        </p:nvSpPr>
        <p:spPr>
          <a:xfrm>
            <a:off x="675640" y="55168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Banjir dan rob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883882" y="55168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Kementerian PU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092124" y="55168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Tertulis di norma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3" name="Picture 92" descr="regulasi-FFFFFF-e639fe9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8072526" y="2346960"/>
            <a:ext cx="3443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Celah yang menahan kerja BNPB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691526" y="2905760"/>
            <a:ext cx="3824834" cy="308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Norma penghubung sistem peringatan dini per wilayah sungai ke platform BNPB belum ditemukan.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Penyedia peringatan dini kekeringan hidrologis tidak ditunjuk di peraturan yang dibaca.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Sarana diseminasi peringatan dini di desa dalam Renas PB dipimpin sebelas K/L tanpa BNPB.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Peran BNPB di air berjalan lewat koordinasi dan rencana kontinjensi BPBD.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Paket lembaga Pantau Bencana; Renstra BNPB 2025–2029; ringkasan Badan Keahlian DPR atas pemeriksaan BPK 2022; Renas PB 2025–2029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D2. Hanya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3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dari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30 sel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matriks air punya program berbukti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kuat atau sedang;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7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program dalam negeri wajib evaluasi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539346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MATRIKS STRATEGI AIR</a:t>
            </a:r>
          </a:p>
        </p:txBody>
      </p:sp>
      <p:pic>
        <p:nvPicPr>
          <p:cNvPr id="11" name="Picture 10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data-051C2C-608a1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sel bukti kuat atau sedang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0136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1058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kalender-051C2C-a840cf9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85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1317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317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sel matriks strategi air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61294" y="1346200"/>
            <a:ext cx="1591628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kebijakan, pemetaan penyusun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935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39078" y="1337310"/>
            <a:ext cx="1627300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PROGRAM DALAM NEGERI</a:t>
            </a:r>
          </a:p>
        </p:txBody>
      </p:sp>
      <p:pic>
        <p:nvPicPr>
          <p:cNvPr id="25" name="Picture 24" descr="peringatan-FFFFFF-6a80b7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518" y="1372057"/>
            <a:ext cx="113386" cy="113386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33907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829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peringatan-051C2C-6a80b7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498" y="1758950"/>
            <a:ext cx="177800" cy="177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5088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088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wajib evaluasi dampak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8207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09129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air-baku-051C2C-271d6c2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7495" y="1758950"/>
            <a:ext cx="177800" cy="1778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49388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9388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program air dalam negeri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20753" y="134620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2" name="Picture 41" descr="prabencana-FFFFFF-572c044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6487487" y="249301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6640" y="2346960"/>
            <a:ext cx="5303847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Kompendium program air dan kekuatan buktinya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5640" y="290576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PROGRAM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83882" y="290576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ASAL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92124" y="290576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KEKUATAN BUKTI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75640" y="311658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49" name="TextBox 48"/>
          <p:cNvSpPr txBox="1"/>
          <p:nvPr/>
        </p:nvSpPr>
        <p:spPr>
          <a:xfrm>
            <a:off x="675640" y="3116580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Desa dan Kelurahan Tangguh Bencana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83882" y="3116580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Dalam negeri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92124" y="3116580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Belum terbukti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75640" y="3356398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3" name="TextBox 52"/>
          <p:cNvSpPr txBox="1"/>
          <p:nvPr/>
        </p:nvSpPr>
        <p:spPr>
          <a:xfrm>
            <a:off x="675640" y="3356398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Sekolah Lapang Iklim BMKG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83882" y="3356398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Dalam negeri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92124" y="3356398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Lemah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75640" y="3596217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7" name="TextBox 56"/>
          <p:cNvSpPr txBox="1"/>
          <p:nvPr/>
        </p:nvSpPr>
        <p:spPr>
          <a:xfrm>
            <a:off x="675640" y="3596217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Embung dan panen air hujan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83882" y="3596217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Dalam negeri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92124" y="3596217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Belum terbukti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75640" y="3836035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1" name="TextBox 60"/>
          <p:cNvSpPr txBox="1"/>
          <p:nvPr/>
        </p:nvSpPr>
        <p:spPr>
          <a:xfrm>
            <a:off x="675640" y="3836035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Sumur resapan dan biopori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83882" y="3836035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Dalam negeri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92124" y="3836035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Lemah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75640" y="4075853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5" name="TextBox 64"/>
          <p:cNvSpPr txBox="1"/>
          <p:nvPr/>
        </p:nvSpPr>
        <p:spPr>
          <a:xfrm>
            <a:off x="675640" y="4075853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Citarum Harum, pemulihan DAS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883882" y="4075853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Dalam negeri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92124" y="4075853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Lemah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75640" y="4315672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9" name="TextBox 68"/>
          <p:cNvSpPr txBox="1"/>
          <p:nvPr/>
        </p:nvSpPr>
        <p:spPr>
          <a:xfrm>
            <a:off x="675640" y="4315672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PAMSIMAS, air minum berbasis masyarakat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883882" y="4315672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Dalam negeri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92124" y="4315672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Sedang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75640" y="455549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3" name="TextBox 72"/>
          <p:cNvSpPr txBox="1"/>
          <p:nvPr/>
        </p:nvSpPr>
        <p:spPr>
          <a:xfrm>
            <a:off x="675640" y="4555490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Sodetan dan bendungan kering Ciliwung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83882" y="4555490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Dalam negeri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92124" y="4555490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Lemah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75640" y="4795308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7" name="TextBox 76"/>
          <p:cNvSpPr txBox="1"/>
          <p:nvPr/>
        </p:nvSpPr>
        <p:spPr>
          <a:xfrm>
            <a:off x="675640" y="4795308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Sistem polder dan pompa kota pesisir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883882" y="4795308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Dalam negeri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92124" y="4795308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Belum terbukti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675640" y="5035127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1" name="TextBox 80"/>
          <p:cNvSpPr txBox="1"/>
          <p:nvPr/>
        </p:nvSpPr>
        <p:spPr>
          <a:xfrm>
            <a:off x="675640" y="5035127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Pengendalian pengambilan air tanah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883882" y="5035127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Luar negeri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92124" y="5035127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Kuat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675640" y="5274945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5" name="TextBox 84"/>
          <p:cNvSpPr txBox="1"/>
          <p:nvPr/>
        </p:nvSpPr>
        <p:spPr>
          <a:xfrm>
            <a:off x="675640" y="5274945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Delta Programme Belanda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883882" y="5274945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Luar negeri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092124" y="5274945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Lemah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675640" y="5514763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9" name="TextBox 88"/>
          <p:cNvSpPr txBox="1"/>
          <p:nvPr/>
        </p:nvSpPr>
        <p:spPr>
          <a:xfrm>
            <a:off x="675640" y="5514763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Room for the River, Belanda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883882" y="5514763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Luar negeri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092124" y="5514763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Sedang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675640" y="5754582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3" name="TextBox 92"/>
          <p:cNvSpPr txBox="1"/>
          <p:nvPr/>
        </p:nvSpPr>
        <p:spPr>
          <a:xfrm>
            <a:off x="675640" y="5754582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Hibah mitigasi FEMA bersyarat manfaat-biaya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883882" y="5754582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Luar negeri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092124" y="5754582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Sedang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1" name="Picture 100" descr="ringkasan-FFFFFF-28e5662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8072526" y="2346960"/>
            <a:ext cx="3443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Yang diusulkan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691526" y="2905760"/>
            <a:ext cx="3824834" cy="308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Program berjalan dievaluasi dampaknya sebelum disebut berhasil atau diperluas.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PAMSIMAS berakhir 2023; yang dievaluasi aset dan badan pengelola SPAM yang tersisa.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Tanggap darurat dan pascabencana belum punya bukti dampak program air.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Kompendium program Pantau Bencana; paket matriks strategi air kajian ini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4521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E1. Aksi Rencana Aksi Musim Hujan 2026/2027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per Fase, Bertaut ke Kode Rekomendasi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5270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690" y="56007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051C2C"/>
                </a:solidFill>
                <a:latin typeface="Roboto"/>
              </a:rPr>
              <a:t>KESIAPAN MUSIM KEMARAU 2027</a:t>
            </a:r>
          </a:p>
        </p:txBody>
      </p:sp>
      <p:sp>
        <p:nvSpPr>
          <p:cNvPr id="10" name="Oval 9"/>
          <p:cNvSpPr/>
          <p:nvPr/>
        </p:nvSpPr>
        <p:spPr>
          <a:xfrm>
            <a:off x="694690" y="58750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kekeringan-FFFFFF-bd7fcb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" y="5951220"/>
            <a:ext cx="177800" cy="177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060" y="58191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Pemicu kemarau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060" y="60223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Dokumen pemicu terbit sebelum Mei 2027 dengan lantai tercatat terburuk.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22538" y="58572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15" name="Oval 14"/>
          <p:cNvSpPr/>
          <p:nvPr/>
        </p:nvSpPr>
        <p:spPr>
          <a:xfrm>
            <a:off x="4295563" y="58750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data-FFFFFF-608a1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763" y="5951220"/>
            <a:ext cx="177800" cy="177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715933" y="58191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Data operasi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5933" y="60223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Liter air tersalur dan desa terdampak per kab/kota dicatat BPBD.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23412" y="58572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20" name="Oval 19"/>
          <p:cNvSpPr/>
          <p:nvPr/>
        </p:nvSpPr>
        <p:spPr>
          <a:xfrm>
            <a:off x="7896437" y="58750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air-baku-FFFFFF-271d6c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2637" y="5951220"/>
            <a:ext cx="177800" cy="177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316807" y="58191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Aset air desa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6807" y="60223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Aset PAMSIMAS yang tersisa dievaluasi saat kemarau 2027.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1282700"/>
            <a:ext cx="3606800" cy="4107180"/>
          </a:xfrm>
          <a:prstGeom prst="roundRect">
            <a:avLst>
              <a:gd name="adj" fmla="val 1514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1282700"/>
            <a:ext cx="360680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1511300"/>
            <a:ext cx="360680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1282700"/>
            <a:ext cx="3606800" cy="4107180"/>
          </a:xfrm>
          <a:prstGeom prst="roundRect">
            <a:avLst>
              <a:gd name="adj" fmla="val 1514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prabencana-FFFFFF-572c044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56640" y="1282700"/>
            <a:ext cx="29718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Prabencana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5640" y="1958848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R-A01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1946148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Tetapkan hari ke-0 dan unit Rencana Aksi Musim Hujan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" y="2263648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34" name="Picture 33" descr="kalender-1A1A1A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390" y="2295017"/>
            <a:ext cx="102362" cy="102362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1674027" y="2263648"/>
            <a:ext cx="80078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Kepala BNPB</a:t>
            </a:r>
          </a:p>
        </p:txBody>
      </p:sp>
      <p:pic>
        <p:nvPicPr>
          <p:cNvPr id="36" name="Picture 35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6577" y="2295017"/>
            <a:ext cx="102362" cy="102362"/>
          </a:xfrm>
          <a:prstGeom prst="rect">
            <a:avLst/>
          </a:prstGeom>
        </p:spPr>
      </p:pic>
      <p:cxnSp>
        <p:nvCxnSpPr>
          <p:cNvPr id="37" name="Connector 36"/>
          <p:cNvCxnSpPr/>
          <p:nvPr/>
        </p:nvCxnSpPr>
        <p:spPr>
          <a:xfrm>
            <a:off x="675640" y="2533396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8" name="Rounded Rectangle 37"/>
          <p:cNvSpPr/>
          <p:nvPr/>
        </p:nvSpPr>
        <p:spPr>
          <a:xfrm>
            <a:off x="675640" y="2650744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R-A02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2638044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Kirim prakiraan BMKG, minta kaji ulang rencana kontinjensi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5840" y="2955544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41" name="Picture 40" descr="kalender-1A1A1A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390" y="2986913"/>
            <a:ext cx="102362" cy="102362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1674027" y="2955544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43" name="Picture 42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6577" y="2986913"/>
            <a:ext cx="102362" cy="102362"/>
          </a:xfrm>
          <a:prstGeom prst="rect">
            <a:avLst/>
          </a:prstGeom>
        </p:spPr>
      </p:pic>
      <p:cxnSp>
        <p:nvCxnSpPr>
          <p:cNvPr id="44" name="Connector 43"/>
          <p:cNvCxnSpPr/>
          <p:nvPr/>
        </p:nvCxnSpPr>
        <p:spPr>
          <a:xfrm>
            <a:off x="675640" y="3225292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5" name="Rounded Rectangle 44"/>
          <p:cNvSpPr/>
          <p:nvPr/>
        </p:nvSpPr>
        <p:spPr>
          <a:xfrm>
            <a:off x="675640" y="3342640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R-A06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" y="3329940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Uji rantai peringatan dini sampai warga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05840" y="3647440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48" name="Picture 47" descr="kalender-1A1A1A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390" y="3678809"/>
            <a:ext cx="102362" cy="102362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1674027" y="3647440"/>
            <a:ext cx="126401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Peringatan Dini</a:t>
            </a:r>
          </a:p>
        </p:txBody>
      </p:sp>
      <p:pic>
        <p:nvPicPr>
          <p:cNvPr id="50" name="Picture 49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6577" y="3678809"/>
            <a:ext cx="102362" cy="102362"/>
          </a:xfrm>
          <a:prstGeom prst="rect">
            <a:avLst/>
          </a:prstGeom>
        </p:spPr>
      </p:pic>
      <p:cxnSp>
        <p:nvCxnSpPr>
          <p:cNvPr id="51" name="Connector 50"/>
          <p:cNvCxnSpPr/>
          <p:nvPr/>
        </p:nvCxnSpPr>
        <p:spPr>
          <a:xfrm>
            <a:off x="675640" y="3917188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2" name="Rounded Rectangle 51"/>
          <p:cNvSpPr/>
          <p:nvPr/>
        </p:nvSpPr>
        <p:spPr>
          <a:xfrm>
            <a:off x="675640" y="4034536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R-A07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" y="4021836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Minta daftar RTD bendungan hulu permukiman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05840" y="4339336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55" name="Picture 54" descr="kalender-1A1A1A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390" y="4370705"/>
            <a:ext cx="102362" cy="102362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1674027" y="4339336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57" name="Picture 56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6577" y="4370705"/>
            <a:ext cx="102362" cy="102362"/>
          </a:xfrm>
          <a:prstGeom prst="rect">
            <a:avLst/>
          </a:prstGeom>
        </p:spPr>
      </p:pic>
      <p:cxnSp>
        <p:nvCxnSpPr>
          <p:cNvPr id="58" name="Connector 57"/>
          <p:cNvCxnSpPr/>
          <p:nvPr/>
        </p:nvCxnSpPr>
        <p:spPr>
          <a:xfrm>
            <a:off x="675640" y="4609084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9" name="Rounded Rectangle 58"/>
          <p:cNvSpPr/>
          <p:nvPr/>
        </p:nvSpPr>
        <p:spPr>
          <a:xfrm>
            <a:off x="675640" y="4726432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R-A04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" y="4713732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Inventarisasi logistik terhadap lantai musim hujan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05840" y="5031232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62" name="Picture 61" descr="kalender-1A1A1A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390" y="5062601"/>
            <a:ext cx="102362" cy="102362"/>
          </a:xfrm>
          <a:prstGeom prst="rect">
            <a:avLst/>
          </a:prstGeom>
        </p:spPr>
      </p:pic>
      <p:sp>
        <p:nvSpPr>
          <p:cNvPr id="63" name="Rounded Rectangle 62"/>
          <p:cNvSpPr/>
          <p:nvPr/>
        </p:nvSpPr>
        <p:spPr>
          <a:xfrm>
            <a:off x="1674027" y="5031232"/>
            <a:ext cx="1667994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Deputi Bidang Logistik dan Peralatan</a:t>
            </a:r>
          </a:p>
        </p:txBody>
      </p:sp>
      <p:pic>
        <p:nvPicPr>
          <p:cNvPr id="64" name="Picture 63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6577" y="5062601"/>
            <a:ext cx="102362" cy="102362"/>
          </a:xfrm>
          <a:prstGeom prst="rect">
            <a:avLst/>
          </a:prstGeom>
        </p:spPr>
      </p:pic>
      <p:sp>
        <p:nvSpPr>
          <p:cNvPr id="65" name="Rounded Rectangle 64"/>
          <p:cNvSpPr/>
          <p:nvPr/>
        </p:nvSpPr>
        <p:spPr>
          <a:xfrm>
            <a:off x="4292600" y="1282700"/>
            <a:ext cx="3606800" cy="4107180"/>
          </a:xfrm>
          <a:prstGeom prst="roundRect">
            <a:avLst>
              <a:gd name="adj" fmla="val 1514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4292600" y="1282700"/>
            <a:ext cx="360680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92600" y="1511300"/>
            <a:ext cx="360680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4292600" y="1282700"/>
            <a:ext cx="3606800" cy="4107180"/>
          </a:xfrm>
          <a:prstGeom prst="roundRect">
            <a:avLst>
              <a:gd name="adj" fmla="val 1514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41960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0" name="Picture 69" descr="tanggap-darurat-FFFFFF-d40eccc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76750" y="1422400"/>
            <a:ext cx="177800" cy="17780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800600" y="1282700"/>
            <a:ext cx="29718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Tanggap darurat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419600" y="2189480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R-A01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49800" y="2176780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Dukung komando dan status darurat kab/kota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749800" y="2494280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75" name="Picture 74" descr="kalender-1A1A1A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2350" y="2525649"/>
            <a:ext cx="102362" cy="102362"/>
          </a:xfrm>
          <a:prstGeom prst="rect">
            <a:avLst/>
          </a:prstGeom>
        </p:spPr>
      </p:pic>
      <p:sp>
        <p:nvSpPr>
          <p:cNvPr id="76" name="Rounded Rectangle 75"/>
          <p:cNvSpPr/>
          <p:nvPr/>
        </p:nvSpPr>
        <p:spPr>
          <a:xfrm>
            <a:off x="5417987" y="2494280"/>
            <a:ext cx="80078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Kepala BNPB</a:t>
            </a:r>
          </a:p>
        </p:txBody>
      </p:sp>
      <p:pic>
        <p:nvPicPr>
          <p:cNvPr id="77" name="Picture 76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00537" y="2525649"/>
            <a:ext cx="102362" cy="102362"/>
          </a:xfrm>
          <a:prstGeom prst="rect">
            <a:avLst/>
          </a:prstGeom>
        </p:spPr>
      </p:pic>
      <p:cxnSp>
        <p:nvCxnSpPr>
          <p:cNvPr id="78" name="Connector 77"/>
          <p:cNvCxnSpPr/>
          <p:nvPr/>
        </p:nvCxnSpPr>
        <p:spPr>
          <a:xfrm>
            <a:off x="4419600" y="2994660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9" name="Rounded Rectangle 78"/>
          <p:cNvSpPr/>
          <p:nvPr/>
        </p:nvSpPr>
        <p:spPr>
          <a:xfrm>
            <a:off x="4419600" y="3342640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R-A04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749800" y="3329940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Penuhi air bersih dan sanitasi pengungsi sesuai standar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749800" y="3647440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82" name="Picture 81" descr="kalender-1A1A1A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2350" y="3678809"/>
            <a:ext cx="102362" cy="102362"/>
          </a:xfrm>
          <a:prstGeom prst="rect">
            <a:avLst/>
          </a:prstGeom>
        </p:spPr>
      </p:pic>
      <p:sp>
        <p:nvSpPr>
          <p:cNvPr id="83" name="Rounded Rectangle 82"/>
          <p:cNvSpPr/>
          <p:nvPr/>
        </p:nvSpPr>
        <p:spPr>
          <a:xfrm>
            <a:off x="5417987" y="3647440"/>
            <a:ext cx="1667994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Deputi Bidang Logistik dan Peralatan</a:t>
            </a:r>
          </a:p>
        </p:txBody>
      </p:sp>
      <p:pic>
        <p:nvPicPr>
          <p:cNvPr id="84" name="Picture 83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00537" y="3678809"/>
            <a:ext cx="102362" cy="102362"/>
          </a:xfrm>
          <a:prstGeom prst="rect">
            <a:avLst/>
          </a:prstGeom>
        </p:spPr>
      </p:pic>
      <p:cxnSp>
        <p:nvCxnSpPr>
          <p:cNvPr id="85" name="Connector 84"/>
          <p:cNvCxnSpPr/>
          <p:nvPr/>
        </p:nvCxnSpPr>
        <p:spPr>
          <a:xfrm>
            <a:off x="4419600" y="4147820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6" name="Rounded Rectangle 85"/>
          <p:cNvSpPr/>
          <p:nvPr/>
        </p:nvSpPr>
        <p:spPr>
          <a:xfrm>
            <a:off x="4419600" y="4495800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R-A07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749800" y="4483100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Jalankan evakuasi hilir menurut RTD dan prosedur per wilayah sungai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749800" y="4800600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89" name="Picture 88" descr="kalender-1A1A1A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2350" y="4831969"/>
            <a:ext cx="102362" cy="102362"/>
          </a:xfrm>
          <a:prstGeom prst="rect">
            <a:avLst/>
          </a:prstGeom>
        </p:spPr>
      </p:pic>
      <p:sp>
        <p:nvSpPr>
          <p:cNvPr id="90" name="Rounded Rectangle 89"/>
          <p:cNvSpPr/>
          <p:nvPr/>
        </p:nvSpPr>
        <p:spPr>
          <a:xfrm>
            <a:off x="5417987" y="4800600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91" name="Picture 90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00537" y="4831969"/>
            <a:ext cx="102362" cy="102362"/>
          </a:xfrm>
          <a:prstGeom prst="rect">
            <a:avLst/>
          </a:prstGeom>
        </p:spPr>
      </p:pic>
      <p:sp>
        <p:nvSpPr>
          <p:cNvPr id="92" name="Rounded Rectangle 91"/>
          <p:cNvSpPr/>
          <p:nvPr/>
        </p:nvSpPr>
        <p:spPr>
          <a:xfrm>
            <a:off x="8036560" y="1282700"/>
            <a:ext cx="3606800" cy="4107180"/>
          </a:xfrm>
          <a:prstGeom prst="roundRect">
            <a:avLst>
              <a:gd name="adj" fmla="val 1514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8036560" y="1282700"/>
            <a:ext cx="360680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36560" y="1511300"/>
            <a:ext cx="360680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8036560" y="1282700"/>
            <a:ext cx="3606800" cy="4107180"/>
          </a:xfrm>
          <a:prstGeom prst="roundRect">
            <a:avLst>
              <a:gd name="adj" fmla="val 1514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816356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7" name="Picture 96" descr="pascabencana-FFFFFF-603074b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0710" y="1422400"/>
            <a:ext cx="177800" cy="177800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8544560" y="1282700"/>
            <a:ext cx="29718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Pascabencana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163560" y="2189480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R-A08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493760" y="2176780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Masukkan kejadian musim berjalan ke rencana kontinjensi provinsi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8493760" y="2494280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102" name="Picture 101" descr="kalender-1A1A1A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6310" y="2525649"/>
            <a:ext cx="102362" cy="102362"/>
          </a:xfrm>
          <a:prstGeom prst="rect">
            <a:avLst/>
          </a:prstGeom>
        </p:spPr>
      </p:pic>
      <p:sp>
        <p:nvSpPr>
          <p:cNvPr id="103" name="Rounded Rectangle 102"/>
          <p:cNvSpPr/>
          <p:nvPr/>
        </p:nvSpPr>
        <p:spPr>
          <a:xfrm>
            <a:off x="9161947" y="2494280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104" name="Picture 103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4497" y="2525649"/>
            <a:ext cx="102362" cy="102362"/>
          </a:xfrm>
          <a:prstGeom prst="rect">
            <a:avLst/>
          </a:prstGeom>
        </p:spPr>
      </p:pic>
      <p:cxnSp>
        <p:nvCxnSpPr>
          <p:cNvPr id="105" name="Connector 104"/>
          <p:cNvCxnSpPr/>
          <p:nvPr/>
        </p:nvCxnSpPr>
        <p:spPr>
          <a:xfrm>
            <a:off x="8163560" y="2994660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6" name="Rounded Rectangle 105"/>
          <p:cNvSpPr/>
          <p:nvPr/>
        </p:nvSpPr>
        <p:spPr>
          <a:xfrm>
            <a:off x="8163560" y="3342640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R-A06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493760" y="3329940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Evaluasi rantai peringatan dini musim berjalan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8493760" y="3647440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109" name="Picture 108" descr="kalender-1A1A1A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6310" y="3678809"/>
            <a:ext cx="102362" cy="102362"/>
          </a:xfrm>
          <a:prstGeom prst="rect">
            <a:avLst/>
          </a:prstGeom>
        </p:spPr>
      </p:pic>
      <p:sp>
        <p:nvSpPr>
          <p:cNvPr id="110" name="Rounded Rectangle 109"/>
          <p:cNvSpPr/>
          <p:nvPr/>
        </p:nvSpPr>
        <p:spPr>
          <a:xfrm>
            <a:off x="9161947" y="3647440"/>
            <a:ext cx="126401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Peringatan Dini</a:t>
            </a:r>
          </a:p>
        </p:txBody>
      </p:sp>
      <p:pic>
        <p:nvPicPr>
          <p:cNvPr id="111" name="Picture 110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4497" y="3678809"/>
            <a:ext cx="102362" cy="102362"/>
          </a:xfrm>
          <a:prstGeom prst="rect">
            <a:avLst/>
          </a:prstGeom>
        </p:spPr>
      </p:pic>
      <p:cxnSp>
        <p:nvCxnSpPr>
          <p:cNvPr id="112" name="Connector 111"/>
          <p:cNvCxnSpPr/>
          <p:nvPr/>
        </p:nvCxnSpPr>
        <p:spPr>
          <a:xfrm>
            <a:off x="8163560" y="4147820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13" name="Rounded Rectangle 112"/>
          <p:cNvSpPr/>
          <p:nvPr/>
        </p:nvSpPr>
        <p:spPr>
          <a:xfrm>
            <a:off x="8163560" y="4495800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R-A21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493760" y="4483100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Laporkan irisan Jawa indikator korban Renas PB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493760" y="480060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2028–2030</a:t>
            </a:r>
          </a:p>
        </p:txBody>
      </p:sp>
      <p:pic>
        <p:nvPicPr>
          <p:cNvPr id="116" name="Picture 115" descr="kalender-1A1A1A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6310" y="4831969"/>
            <a:ext cx="102362" cy="102362"/>
          </a:xfrm>
          <a:prstGeom prst="rect">
            <a:avLst/>
          </a:prstGeom>
        </p:spPr>
      </p:pic>
      <p:sp>
        <p:nvSpPr>
          <p:cNvPr id="117" name="Rounded Rectangle 116"/>
          <p:cNvSpPr/>
          <p:nvPr/>
        </p:nvSpPr>
        <p:spPr>
          <a:xfrm>
            <a:off x="9285970" y="4800600"/>
            <a:ext cx="255814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Pengembangan Strategi Penanggulangan Bencana</a:t>
            </a:r>
          </a:p>
        </p:txBody>
      </p:sp>
      <p:pic>
        <p:nvPicPr>
          <p:cNvPr id="118" name="Picture 117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8520" y="4831969"/>
            <a:ext cx="102362" cy="10236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E2. Kalender Rencana Aksi Musim Hujan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2026/2027 dan Kesiapan Musim Kemarau 2027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1109472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312585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KALENDER KORBAN</a:t>
            </a:r>
          </a:p>
        </p:txBody>
      </p:sp>
      <p:pic>
        <p:nvPicPr>
          <p:cNvPr id="11" name="Picture 10" descr="kalender-FFFFFF-a840cf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kalender-051C2C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75,4%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korban jatuh November–April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3936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23156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banjir-051C2C-364735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356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25746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42,3%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5746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korban jatuh Desember–Februari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69504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78724" y="1682750"/>
            <a:ext cx="330200" cy="33020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peringatan-D9600B-6a80b7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4924" y="1758950"/>
            <a:ext cx="177800" cy="177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481314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D9600B"/>
                </a:solidFill>
                <a:latin typeface="Roboto"/>
              </a:rPr>
              <a:t>21,4%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1314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korban jatuh November–Desember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kalender-FFFFFF-a840cf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487487" y="249301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6640" y="2346960"/>
            <a:ext cx="5303847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Aksi per bulan dan pelaksana, November 2026 sampai Mei 2027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5640" y="290576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BULAN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3882" y="290576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PELAKSANA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92124" y="290576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AKSI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5640" y="311658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675640" y="31165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November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3882" y="31165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Kepala BNPB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92124" y="31165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R-A01 hari ke-0 dan penugasan unit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75640" y="33832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4" name="TextBox 43"/>
          <p:cNvSpPr txBox="1"/>
          <p:nvPr/>
        </p:nvSpPr>
        <p:spPr>
          <a:xfrm>
            <a:off x="675640" y="33832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November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83882" y="33832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BNPB ke BPBD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92124" y="33832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R-A02 kaji ulang rencana kontinjensi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75640" y="36499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675640" y="36499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November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83882" y="36499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BNPB dan BPBD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92124" y="36499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R-A06 uji rantai peringatan dini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75640" y="39166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2" name="TextBox 51"/>
          <p:cNvSpPr txBox="1"/>
          <p:nvPr/>
        </p:nvSpPr>
        <p:spPr>
          <a:xfrm>
            <a:off x="675640" y="39166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November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83882" y="39166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Deputi Logistik dan Peralatan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92124" y="39166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R-A04 inventarisasi logistik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75640" y="41833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6" name="TextBox 55"/>
          <p:cNvSpPr txBox="1"/>
          <p:nvPr/>
        </p:nvSpPr>
        <p:spPr>
          <a:xfrm>
            <a:off x="675640" y="41833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November 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83882" y="41833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BPBD provinsi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92124" y="41833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R-A08 lantai skenario di renkon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75640" y="44500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0" name="TextBox 59"/>
          <p:cNvSpPr txBox="1"/>
          <p:nvPr/>
        </p:nvSpPr>
        <p:spPr>
          <a:xfrm>
            <a:off x="675640" y="44500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Desember 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83882" y="44500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BNPB dan BPBD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92124" y="44500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siaga darurat bila ancaman naik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75640" y="47167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4" name="TextBox 63"/>
          <p:cNvSpPr txBox="1"/>
          <p:nvPr/>
        </p:nvSpPr>
        <p:spPr>
          <a:xfrm>
            <a:off x="675640" y="47167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Januari dan Februari 2027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83882" y="47167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BNPB dan BPBD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92124" y="47167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puncak dan hari ke-100: komando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75640" y="49834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8" name="TextBox 67"/>
          <p:cNvSpPr txBox="1"/>
          <p:nvPr/>
        </p:nvSpPr>
        <p:spPr>
          <a:xfrm>
            <a:off x="675640" y="49834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Maret dan April 2027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83882" y="49834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BNPB pusat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92124" y="49834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kajian cepat untuk kemarau 2027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75640" y="52501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2" name="TextBox 71"/>
          <p:cNvSpPr txBox="1"/>
          <p:nvPr/>
        </p:nvSpPr>
        <p:spPr>
          <a:xfrm>
            <a:off x="675640" y="52501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Sebelum Mei 2027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83882" y="52501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BNPB bersama K/L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92124" y="52501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R-A09 pemicu kemarau 2027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0" name="Picture 79" descr="ringkasan-FFFFFF-28e5662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8072526" y="2346960"/>
            <a:ext cx="3443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Cara membaca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691526" y="2905760"/>
            <a:ext cx="3824834" cy="308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Hari ke-0 adalah tanggal penetapan Kepala BNPB.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Hari ke-0 sampai pertengahan November menempatkan hari ke-100 di puncak Februari 2027.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BMKG: awal musim sebagian besar Jawa Desember 2026, puncak Januari sampai Februari 2027.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Kalender hanya memakai instrumen yang sudah berlaku.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2008–2025 (olah Pantau Bencana); BMKG, prakiraan musim hujan 2026/2027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4521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E3. Rekomendasi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100 hari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pertama: langkah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sebelum puncak musim hujan 2026/2027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3140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LANGKAH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9898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RINCIAN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8733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PENANGGUNG JAWAB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14859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2" name="Oval 11"/>
          <p:cNvSpPr/>
          <p:nvPr/>
        </p:nvSpPr>
        <p:spPr>
          <a:xfrm>
            <a:off x="548640" y="1624806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regulasi-FFFFFF-e639f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1700752"/>
            <a:ext cx="178308" cy="1783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93140" y="1575276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R-A01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Tetapkan hari ke-0 dan tugaskan unit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3140" y="1810226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16" name="Picture 15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1841595"/>
            <a:ext cx="102362" cy="10236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1661327" y="1810226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9898" y="1485900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Keputusan Kepala BNPB dalam empat belas hari pertama; hari ke-0 sampai pertengahan November menaruh hari ke-100 di Februari 2027.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58733" y="1707356"/>
            <a:ext cx="80078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Kepala BNPB</a:t>
            </a:r>
          </a:p>
        </p:txBody>
      </p:sp>
      <p:pic>
        <p:nvPicPr>
          <p:cNvPr id="20" name="Picture 19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1738725"/>
            <a:ext cx="102362" cy="102362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9610315" y="1707356"/>
            <a:ext cx="130195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Deputi Bidang Pencegahan</a:t>
            </a:r>
          </a:p>
        </p:txBody>
      </p:sp>
      <p:pic>
        <p:nvPicPr>
          <p:cNvPr id="22" name="Picture 21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865" y="1738725"/>
            <a:ext cx="102362" cy="102362"/>
          </a:xfrm>
          <a:prstGeom prst="rect">
            <a:avLst/>
          </a:prstGeom>
        </p:spPr>
      </p:pic>
      <p:cxnSp>
        <p:nvCxnSpPr>
          <p:cNvPr id="23" name="Connector 22"/>
          <p:cNvCxnSpPr/>
          <p:nvPr/>
        </p:nvCxnSpPr>
        <p:spPr>
          <a:xfrm>
            <a:off x="548640" y="2093912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4" name="Oval 23"/>
          <p:cNvSpPr/>
          <p:nvPr/>
        </p:nvSpPr>
        <p:spPr>
          <a:xfrm>
            <a:off x="548640" y="223281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kapasitas-FFFFFF-22e801b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2308765"/>
            <a:ext cx="178308" cy="1783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93140" y="2183289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R-A02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Minta kaji ulang rencana kontinjensi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3140" y="2418239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28" name="Picture 27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2449608"/>
            <a:ext cx="102362" cy="102362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1661327" y="2418239"/>
            <a:ext cx="548600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9898" y="2093912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Prakiraan BMKG diteruskan ke BPBD enam provinsi; rencana kontinjensi banjir dan longsor dikaji ulang sebelum Januari 2027.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58733" y="2315369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32" name="Picture 31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2346738"/>
            <a:ext cx="102362" cy="102362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10046441" y="2315369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34" name="Picture 33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8991" y="2346738"/>
            <a:ext cx="102362" cy="102362"/>
          </a:xfrm>
          <a:prstGeom prst="rect">
            <a:avLst/>
          </a:prstGeom>
        </p:spPr>
      </p:pic>
      <p:cxnSp>
        <p:nvCxnSpPr>
          <p:cNvPr id="35" name="Connector 34"/>
          <p:cNvCxnSpPr/>
          <p:nvPr/>
        </p:nvCxnSpPr>
        <p:spPr>
          <a:xfrm>
            <a:off x="548640" y="2701925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6" name="Oval 35"/>
          <p:cNvSpPr/>
          <p:nvPr/>
        </p:nvSpPr>
        <p:spPr>
          <a:xfrm>
            <a:off x="548640" y="2840831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data-FFFFFF-608a1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86" y="2916777"/>
            <a:ext cx="178308" cy="17830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93140" y="2791301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R-A03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Minta data operasional kemarau 2026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3140" y="3026251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40" name="Picture 39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3057620"/>
            <a:ext cx="102362" cy="102362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1661327" y="3026251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09898" y="2701925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Volume distribusi air dan desa terdampak per kab/kota diminta dari BPBD provinsi beserta surat status darurat.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58733" y="2923381"/>
            <a:ext cx="80034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Pusdatinkom</a:t>
            </a:r>
          </a:p>
        </p:txBody>
      </p:sp>
      <p:pic>
        <p:nvPicPr>
          <p:cNvPr id="44" name="Picture 43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2954750"/>
            <a:ext cx="102362" cy="102362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9609879" y="2923381"/>
            <a:ext cx="83908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BPBD provinsi</a:t>
            </a:r>
          </a:p>
        </p:txBody>
      </p:sp>
      <p:pic>
        <p:nvPicPr>
          <p:cNvPr id="46" name="Picture 45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429" y="2954750"/>
            <a:ext cx="102362" cy="102362"/>
          </a:xfrm>
          <a:prstGeom prst="rect">
            <a:avLst/>
          </a:prstGeom>
        </p:spPr>
      </p:pic>
      <p:cxnSp>
        <p:nvCxnSpPr>
          <p:cNvPr id="47" name="Connector 46"/>
          <p:cNvCxnSpPr/>
          <p:nvPr/>
        </p:nvCxnSpPr>
        <p:spPr>
          <a:xfrm>
            <a:off x="548640" y="3309938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8" name="Oval 47"/>
          <p:cNvSpPr/>
          <p:nvPr/>
        </p:nvSpPr>
        <p:spPr>
          <a:xfrm>
            <a:off x="548640" y="3448844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9" name="Picture 48" descr="kapasitas-FFFFFF-22e801b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3524790"/>
            <a:ext cx="178308" cy="17830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3140" y="3399314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R-A04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Inventarisasi logistik lawan lantai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3140" y="3634264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52" name="Picture 51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3665633"/>
            <a:ext cx="102362" cy="102362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1661327" y="3634264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09898" y="3309938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Cadangan per wilayah dibandingkan kebutuhan lantai 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525.861 jiwa</a:t>
            </a:r>
            <a:r>
              <a:rPr sz="800" b="0" lang="id-ID">
                <a:solidFill>
                  <a:srgbClr val="1A1A1A"/>
                </a:solidFill>
                <a:latin typeface="Roboto"/>
              </a:rPr>
              <a:t> mengungsi dan 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6.905</a:t>
            </a:r>
            <a:r>
              <a:rPr sz="800" b="0" lang="id-ID">
                <a:solidFill>
                  <a:srgbClr val="1A1A1A"/>
                </a:solidFill>
                <a:latin typeface="Roboto"/>
              </a:rPr>
              <a:t> rumah rusak berat.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758733" y="3531394"/>
            <a:ext cx="1667994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Deputi Bidang Logistik dan Peralatan</a:t>
            </a:r>
          </a:p>
        </p:txBody>
      </p:sp>
      <p:pic>
        <p:nvPicPr>
          <p:cNvPr id="56" name="Picture 55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3562763"/>
            <a:ext cx="102362" cy="102362"/>
          </a:xfrm>
          <a:prstGeom prst="rect">
            <a:avLst/>
          </a:prstGeom>
        </p:spPr>
      </p:pic>
      <p:cxnSp>
        <p:nvCxnSpPr>
          <p:cNvPr id="57" name="Connector 56"/>
          <p:cNvCxnSpPr/>
          <p:nvPr/>
        </p:nvCxnSpPr>
        <p:spPr>
          <a:xfrm>
            <a:off x="548640" y="3917950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8" name="Oval 57"/>
          <p:cNvSpPr/>
          <p:nvPr/>
        </p:nvSpPr>
        <p:spPr>
          <a:xfrm>
            <a:off x="548640" y="4056856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9" name="Picture 58" descr="regulasi-FFFFFF-e639f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4132802"/>
            <a:ext cx="178308" cy="17830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993140" y="4007326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R-A05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Ajukan rakor peninjauan Renas PB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93140" y="4242276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62" name="Picture 61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4273645"/>
            <a:ext cx="102362" cy="102362"/>
          </a:xfrm>
          <a:prstGeom prst="rect">
            <a:avLst/>
          </a:prstGeom>
        </p:spPr>
      </p:pic>
      <p:sp>
        <p:nvSpPr>
          <p:cNvPr id="63" name="Rounded Rectangle 62"/>
          <p:cNvSpPr/>
          <p:nvPr/>
        </p:nvSpPr>
        <p:spPr>
          <a:xfrm>
            <a:off x="1661327" y="4242276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09898" y="3917950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Program peraturan BNPB 2026 tidak memuat perubahan Renas PB; jalurnya izin prakarsa Kepala BNPB dan rakor Kemenko PMK.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758733" y="4139406"/>
            <a:ext cx="96588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Biro Perencanaan</a:t>
            </a:r>
          </a:p>
        </p:txBody>
      </p:sp>
      <p:pic>
        <p:nvPicPr>
          <p:cNvPr id="66" name="Picture 65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4170775"/>
            <a:ext cx="102362" cy="102362"/>
          </a:xfrm>
          <a:prstGeom prst="rect">
            <a:avLst/>
          </a:prstGeom>
        </p:spPr>
      </p:pic>
      <p:sp>
        <p:nvSpPr>
          <p:cNvPr id="67" name="Rounded Rectangle 66"/>
          <p:cNvSpPr/>
          <p:nvPr/>
        </p:nvSpPr>
        <p:spPr>
          <a:xfrm>
            <a:off x="9775415" y="4139406"/>
            <a:ext cx="8571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Kemenko PMK</a:t>
            </a:r>
          </a:p>
        </p:txBody>
      </p:sp>
      <p:pic>
        <p:nvPicPr>
          <p:cNvPr id="68" name="Picture 67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7965" y="4170775"/>
            <a:ext cx="102362" cy="102362"/>
          </a:xfrm>
          <a:prstGeom prst="rect">
            <a:avLst/>
          </a:prstGeom>
        </p:spPr>
      </p:pic>
      <p:cxnSp>
        <p:nvCxnSpPr>
          <p:cNvPr id="69" name="Connector 68"/>
          <p:cNvCxnSpPr/>
          <p:nvPr/>
        </p:nvCxnSpPr>
        <p:spPr>
          <a:xfrm>
            <a:off x="548640" y="4525962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0" name="Oval 69"/>
          <p:cNvSpPr/>
          <p:nvPr/>
        </p:nvSpPr>
        <p:spPr>
          <a:xfrm>
            <a:off x="548640" y="466486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1" name="Picture 70" descr="kapasitas-FFFFFF-22e801b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4740815"/>
            <a:ext cx="178308" cy="178308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993140" y="4615339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R-A06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Uji rantai peringatan dini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93140" y="4850289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74" name="Picture 73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4881658"/>
            <a:ext cx="102362" cy="102362"/>
          </a:xfrm>
          <a:prstGeom prst="rect">
            <a:avLst/>
          </a:prstGeom>
        </p:spPr>
      </p:pic>
      <p:sp>
        <p:nvSpPr>
          <p:cNvPr id="75" name="Rounded Rectangle 74"/>
          <p:cNvSpPr/>
          <p:nvPr/>
        </p:nvSpPr>
        <p:spPr>
          <a:xfrm>
            <a:off x="1661327" y="4850289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09898" y="4525962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Pesan diuji sampai warga di kab/kota daftar perhatian banjir dan longsor; umpan balik BPBD masuk platform BNPB.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758733" y="4747419"/>
            <a:ext cx="126401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Peringatan Dini</a:t>
            </a:r>
          </a:p>
        </p:txBody>
      </p:sp>
      <p:pic>
        <p:nvPicPr>
          <p:cNvPr id="78" name="Picture 77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4778788"/>
            <a:ext cx="102362" cy="102362"/>
          </a:xfrm>
          <a:prstGeom prst="rect">
            <a:avLst/>
          </a:prstGeom>
        </p:spPr>
      </p:pic>
      <p:sp>
        <p:nvSpPr>
          <p:cNvPr id="79" name="Rounded Rectangle 78"/>
          <p:cNvSpPr/>
          <p:nvPr/>
        </p:nvSpPr>
        <p:spPr>
          <a:xfrm>
            <a:off x="10073548" y="4747419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80" name="Picture 79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6098" y="4778788"/>
            <a:ext cx="102362" cy="102362"/>
          </a:xfrm>
          <a:prstGeom prst="rect">
            <a:avLst/>
          </a:prstGeom>
        </p:spPr>
      </p:pic>
      <p:sp>
        <p:nvSpPr>
          <p:cNvPr id="81" name="Rounded Rectangle 80"/>
          <p:cNvSpPr/>
          <p:nvPr/>
        </p:nvSpPr>
        <p:spPr>
          <a:xfrm>
            <a:off x="10671369" y="4747419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82" name="Picture 81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919" y="4778788"/>
            <a:ext cx="102362" cy="102362"/>
          </a:xfrm>
          <a:prstGeom prst="rect">
            <a:avLst/>
          </a:prstGeom>
        </p:spPr>
      </p:pic>
      <p:cxnSp>
        <p:nvCxnSpPr>
          <p:cNvPr id="83" name="Connector 82"/>
          <p:cNvCxnSpPr/>
          <p:nvPr/>
        </p:nvCxnSpPr>
        <p:spPr>
          <a:xfrm>
            <a:off x="548640" y="5133975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4" name="Oval 83"/>
          <p:cNvSpPr/>
          <p:nvPr/>
        </p:nvSpPr>
        <p:spPr>
          <a:xfrm>
            <a:off x="548640" y="5272881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5" name="Picture 84" descr="data-FFFFFF-608a1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86" y="5348827"/>
            <a:ext cx="178308" cy="178308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993140" y="5223351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R-A07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Minta daftar RTD bendungan hulu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93140" y="5458301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88" name="Picture 87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5489670"/>
            <a:ext cx="102362" cy="102362"/>
          </a:xfrm>
          <a:prstGeom prst="rect">
            <a:avLst/>
          </a:prstGeom>
        </p:spPr>
      </p:pic>
      <p:sp>
        <p:nvSpPr>
          <p:cNvPr id="89" name="Rounded Rectangle 88"/>
          <p:cNvSpPr/>
          <p:nvPr/>
        </p:nvSpPr>
        <p:spPr>
          <a:xfrm>
            <a:off x="1661327" y="5458301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209898" y="5133975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Bendungan Jawa yang RTD-nya ditetapkan ditautkan ke rencana kontinjensi BPBD hilir; jumlahnya menjadi garis dasar 2027.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758733" y="5247481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92" name="Picture 91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5278850"/>
            <a:ext cx="102362" cy="102362"/>
          </a:xfrm>
          <a:prstGeom prst="rect">
            <a:avLst/>
          </a:prstGeom>
        </p:spPr>
      </p:pic>
      <p:sp>
        <p:nvSpPr>
          <p:cNvPr id="93" name="Rounded Rectangle 92"/>
          <p:cNvSpPr/>
          <p:nvPr/>
        </p:nvSpPr>
        <p:spPr>
          <a:xfrm>
            <a:off x="10046441" y="5247481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94" name="Picture 93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8991" y="5278850"/>
            <a:ext cx="102362" cy="102362"/>
          </a:xfrm>
          <a:prstGeom prst="rect">
            <a:avLst/>
          </a:prstGeom>
        </p:spPr>
      </p:pic>
      <p:sp>
        <p:nvSpPr>
          <p:cNvPr id="95" name="Rounded Rectangle 94"/>
          <p:cNvSpPr/>
          <p:nvPr/>
        </p:nvSpPr>
        <p:spPr>
          <a:xfrm>
            <a:off x="11007442" y="5247481"/>
            <a:ext cx="509040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PJT I</a:t>
            </a:r>
          </a:p>
        </p:txBody>
      </p:sp>
      <p:pic>
        <p:nvPicPr>
          <p:cNvPr id="96" name="Picture 95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89992" y="5278850"/>
            <a:ext cx="102362" cy="102362"/>
          </a:xfrm>
          <a:prstGeom prst="rect">
            <a:avLst/>
          </a:prstGeom>
        </p:spPr>
      </p:pic>
      <p:sp>
        <p:nvSpPr>
          <p:cNvPr id="97" name="Rounded Rectangle 96"/>
          <p:cNvSpPr/>
          <p:nvPr/>
        </p:nvSpPr>
        <p:spPr>
          <a:xfrm>
            <a:off x="8758733" y="5463381"/>
            <a:ext cx="532733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PJT II</a:t>
            </a:r>
          </a:p>
        </p:txBody>
      </p:sp>
      <p:pic>
        <p:nvPicPr>
          <p:cNvPr id="98" name="Picture 97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5494750"/>
            <a:ext cx="102362" cy="102362"/>
          </a:xfrm>
          <a:prstGeom prst="rect">
            <a:avLst/>
          </a:prstGeom>
        </p:spPr>
      </p:pic>
      <p:cxnSp>
        <p:nvCxnSpPr>
          <p:cNvPr id="99" name="Connector 98"/>
          <p:cNvCxnSpPr/>
          <p:nvPr/>
        </p:nvCxnSpPr>
        <p:spPr>
          <a:xfrm>
            <a:off x="548640" y="5741988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0" name="Oval 99"/>
          <p:cNvSpPr/>
          <p:nvPr/>
        </p:nvSpPr>
        <p:spPr>
          <a:xfrm>
            <a:off x="548640" y="5880894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1" name="Picture 100" descr="kapasitas-FFFFFF-22e801b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5956840"/>
            <a:ext cx="178308" cy="178308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993140" y="5831364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R-A08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Lantai skenario ke rencana kontinjensi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93140" y="6066314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104" name="Picture 103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6097683"/>
            <a:ext cx="102362" cy="102362"/>
          </a:xfrm>
          <a:prstGeom prst="rect">
            <a:avLst/>
          </a:prstGeom>
        </p:spPr>
      </p:pic>
      <p:sp>
        <p:nvSpPr>
          <p:cNvPr id="105" name="Rounded Rectangle 104"/>
          <p:cNvSpPr/>
          <p:nvPr/>
        </p:nvSpPr>
        <p:spPr>
          <a:xfrm>
            <a:off x="1661327" y="6066314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209898" y="5741988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Rencana kontinjensi enam provinsi memakai lantai 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270 jiwa</a:t>
            </a:r>
            <a:r>
              <a:rPr sz="800" b="0" lang="id-ID">
                <a:solidFill>
                  <a:srgbClr val="1A1A1A"/>
                </a:solidFill>
                <a:latin typeface="Roboto"/>
              </a:rPr>
              <a:t> meninggal dan hilang dengan asumsi dampak lima aspek.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8758733" y="5963444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108" name="Picture 107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5994813"/>
            <a:ext cx="102362" cy="10236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4521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E4. Rekomendasi penutup 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100 hari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dan awal peta jalan 2026–2027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3140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LANGKAH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9898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RINCIAN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8733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PENANGGUNG JAWAB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14859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2" name="Oval 11"/>
          <p:cNvSpPr/>
          <p:nvPr/>
        </p:nvSpPr>
        <p:spPr>
          <a:xfrm>
            <a:off x="548640" y="1624806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kapasitas-FFFFFF-22e801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1700752"/>
            <a:ext cx="178308" cy="1783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93140" y="1575276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R-A09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Siapkan pemicu kemarau 2027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3140" y="1810226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16" name="Picture 15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1841595"/>
            <a:ext cx="102362" cy="10236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1661327" y="1810226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9898" y="1485900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Dokumen pemicu terbit sebelum Mei 2027 dengan lantai 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76 kab/kota</a:t>
            </a:r>
            <a:r>
              <a:rPr sz="800" b="0" lang="id-ID">
                <a:solidFill>
                  <a:srgbClr val="1A1A1A"/>
                </a:solidFill>
                <a:latin typeface="Roboto"/>
              </a:rPr>
              <a:t> dan 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4.924.057 jiwa</a:t>
            </a:r>
            <a:r>
              <a:rPr sz="800" b="0" lang="id-ID">
                <a:solidFill>
                  <a:srgbClr val="1A1A1A"/>
                </a:solidFill>
                <a:latin typeface="Roboto"/>
              </a:rPr>
              <a:t> terdampak.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58733" y="1707356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20" name="Picture 19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1738725"/>
            <a:ext cx="102362" cy="102362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10046441" y="1707356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22" name="Picture 21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8991" y="1738725"/>
            <a:ext cx="102362" cy="1023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10644262" y="1707356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24" name="Picture 23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26812" y="1738725"/>
            <a:ext cx="102362" cy="102362"/>
          </a:xfrm>
          <a:prstGeom prst="rect">
            <a:avLst/>
          </a:prstGeom>
        </p:spPr>
      </p:pic>
      <p:cxnSp>
        <p:nvCxnSpPr>
          <p:cNvPr id="25" name="Connector 24"/>
          <p:cNvCxnSpPr/>
          <p:nvPr/>
        </p:nvCxnSpPr>
        <p:spPr>
          <a:xfrm>
            <a:off x="548640" y="2093912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6" name="Oval 25"/>
          <p:cNvSpPr/>
          <p:nvPr/>
        </p:nvSpPr>
        <p:spPr>
          <a:xfrm>
            <a:off x="548640" y="223281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regulasi-FFFFFF-e639fe9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2308765"/>
            <a:ext cx="178308" cy="17830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93140" y="2183289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R-A10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Selaraskan target peringatan dini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3140" y="2418239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30" name="Picture 29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2449608"/>
            <a:ext cx="102362" cy="102362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1785350" y="2418239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9898" y="2093912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Putusan penyelarasan ditulis; usulan perubahan Renstra disampaikan atas evaluasi tahun ketiga pada 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2027</a:t>
            </a:r>
            <a:r>
              <a:rPr sz="800" b="0" lang="id-ID">
                <a:solidFill>
                  <a:srgbClr val="1A1A1A"/>
                </a:solidFill>
                <a:latin typeface="Roboto"/>
              </a:rPr>
              <a:t>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58733" y="2315369"/>
            <a:ext cx="96588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Biro Perencanaan</a:t>
            </a:r>
          </a:p>
        </p:txBody>
      </p:sp>
      <p:pic>
        <p:nvPicPr>
          <p:cNvPr id="34" name="Picture 33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2346738"/>
            <a:ext cx="102362" cy="102362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9775415" y="2315369"/>
            <a:ext cx="1358670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PPN/Bappenas</a:t>
            </a:r>
          </a:p>
        </p:txBody>
      </p:sp>
      <p:pic>
        <p:nvPicPr>
          <p:cNvPr id="36" name="Picture 35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7965" y="2346738"/>
            <a:ext cx="102362" cy="102362"/>
          </a:xfrm>
          <a:prstGeom prst="rect">
            <a:avLst/>
          </a:prstGeom>
        </p:spPr>
      </p:pic>
      <p:cxnSp>
        <p:nvCxnSpPr>
          <p:cNvPr id="37" name="Connector 36"/>
          <p:cNvCxnSpPr/>
          <p:nvPr/>
        </p:nvCxnSpPr>
        <p:spPr>
          <a:xfrm>
            <a:off x="548640" y="2701925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8" name="Oval 37"/>
          <p:cNvSpPr/>
          <p:nvPr/>
        </p:nvSpPr>
        <p:spPr>
          <a:xfrm>
            <a:off x="548640" y="2840831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data-FFFFFF-608a1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86" y="2916777"/>
            <a:ext cx="178308" cy="17830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93140" y="2791301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R-A11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Garis dasar peringatan dini kab/kota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3140" y="3026251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42" name="Picture 41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3057620"/>
            <a:ext cx="102362" cy="102362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1785350" y="3026251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9898" y="2701925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Nilai indikator cakupan peringatan dini Renas PB per kab/kota Jawa terbit pada 2027; target 2029 belum bergaris dasar daerah.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758733" y="2923381"/>
            <a:ext cx="126401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Peringatan Dini</a:t>
            </a:r>
          </a:p>
        </p:txBody>
      </p:sp>
      <p:pic>
        <p:nvPicPr>
          <p:cNvPr id="46" name="Picture 45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2954750"/>
            <a:ext cx="102362" cy="102362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10073548" y="2923381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48" name="Picture 47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6098" y="2954750"/>
            <a:ext cx="102362" cy="102362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10671369" y="2923381"/>
            <a:ext cx="75930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Kemendagri</a:t>
            </a:r>
          </a:p>
        </p:txBody>
      </p:sp>
      <p:pic>
        <p:nvPicPr>
          <p:cNvPr id="50" name="Picture 49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919" y="2954750"/>
            <a:ext cx="102362" cy="102362"/>
          </a:xfrm>
          <a:prstGeom prst="rect">
            <a:avLst/>
          </a:prstGeom>
        </p:spPr>
      </p:pic>
      <p:cxnSp>
        <p:nvCxnSpPr>
          <p:cNvPr id="51" name="Connector 50"/>
          <p:cNvCxnSpPr/>
          <p:nvPr/>
        </p:nvCxnSpPr>
        <p:spPr>
          <a:xfrm>
            <a:off x="548640" y="3309938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2" name="Oval 51"/>
          <p:cNvSpPr/>
          <p:nvPr/>
        </p:nvSpPr>
        <p:spPr>
          <a:xfrm>
            <a:off x="548640" y="3448844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3" name="Picture 52" descr="regulasi-FFFFFF-e639fe9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3524790"/>
            <a:ext cx="178308" cy="17830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93140" y="3399314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R-A12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Isi kontribusi NSPK muka tanah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3140" y="3634264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56" name="Picture 55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3665633"/>
            <a:ext cx="102362" cy="102362"/>
          </a:xfrm>
          <a:prstGeom prst="rect">
            <a:avLst/>
          </a:prstGeom>
        </p:spPr>
      </p:pic>
      <p:sp>
        <p:nvSpPr>
          <p:cNvPr id="57" name="Rounded Rectangle 56"/>
          <p:cNvSpPr/>
          <p:nvPr/>
        </p:nvSpPr>
        <p:spPr>
          <a:xfrm>
            <a:off x="1785350" y="3634264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09898" y="3309938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Telaah risiko bencana BNPB masuk bahan NSPK Renas PB yang sudah mencantumkan BNPB, lalu ke tata kelola BOP Pantura Jawa.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758733" y="3531394"/>
            <a:ext cx="2136227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Pemetaan dan Evaluasi Risiko Bencana</a:t>
            </a:r>
          </a:p>
        </p:txBody>
      </p:sp>
      <p:pic>
        <p:nvPicPr>
          <p:cNvPr id="60" name="Picture 59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3562763"/>
            <a:ext cx="102362" cy="102362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8758733" y="3747294"/>
            <a:ext cx="706128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KLH/BPLH</a:t>
            </a:r>
          </a:p>
        </p:txBody>
      </p:sp>
      <p:pic>
        <p:nvPicPr>
          <p:cNvPr id="62" name="Picture 61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3778663"/>
            <a:ext cx="102362" cy="102362"/>
          </a:xfrm>
          <a:prstGeom prst="rect">
            <a:avLst/>
          </a:prstGeom>
        </p:spPr>
      </p:pic>
      <p:cxnSp>
        <p:nvCxnSpPr>
          <p:cNvPr id="63" name="Connector 62"/>
          <p:cNvCxnSpPr/>
          <p:nvPr/>
        </p:nvCxnSpPr>
        <p:spPr>
          <a:xfrm>
            <a:off x="548640" y="3917950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4" name="Oval 63"/>
          <p:cNvSpPr/>
          <p:nvPr/>
        </p:nvSpPr>
        <p:spPr>
          <a:xfrm>
            <a:off x="548640" y="4056856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5" name="Picture 64" descr="kapasitas-FFFFFF-22e801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4132802"/>
            <a:ext cx="178308" cy="178308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993140" y="4007326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R-A13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Kegagalan tanggul ke renkon pesisir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93140" y="4242276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68" name="Picture 67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4273645"/>
            <a:ext cx="102362" cy="102362"/>
          </a:xfrm>
          <a:prstGeom prst="rect">
            <a:avLst/>
          </a:prstGeom>
        </p:spPr>
      </p:pic>
      <p:sp>
        <p:nvSpPr>
          <p:cNvPr id="69" name="Rounded Rectangle 68"/>
          <p:cNvSpPr/>
          <p:nvPr/>
        </p:nvSpPr>
        <p:spPr>
          <a:xfrm>
            <a:off x="1785350" y="4242276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09898" y="3917950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Rencana kontinjensi kab/kota pesisir utara memuat skenario kegagalan tanggul dan polder serta prosedur evakuasi per wilayah sungai.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758733" y="4031456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72" name="Picture 71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4062825"/>
            <a:ext cx="102362" cy="102362"/>
          </a:xfrm>
          <a:prstGeom prst="rect">
            <a:avLst/>
          </a:prstGeom>
        </p:spPr>
      </p:pic>
      <p:sp>
        <p:nvSpPr>
          <p:cNvPr id="73" name="Rounded Rectangle 72"/>
          <p:cNvSpPr/>
          <p:nvPr/>
        </p:nvSpPr>
        <p:spPr>
          <a:xfrm>
            <a:off x="10046441" y="4031456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74" name="Picture 73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8991" y="4062825"/>
            <a:ext cx="102362" cy="102362"/>
          </a:xfrm>
          <a:prstGeom prst="rect">
            <a:avLst/>
          </a:prstGeom>
        </p:spPr>
      </p:pic>
      <p:sp>
        <p:nvSpPr>
          <p:cNvPr id="75" name="Rounded Rectangle 74"/>
          <p:cNvSpPr/>
          <p:nvPr/>
        </p:nvSpPr>
        <p:spPr>
          <a:xfrm>
            <a:off x="8758733" y="4247356"/>
            <a:ext cx="99787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BOP Pantura Jawa</a:t>
            </a:r>
          </a:p>
        </p:txBody>
      </p:sp>
      <p:pic>
        <p:nvPicPr>
          <p:cNvPr id="76" name="Picture 75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4278725"/>
            <a:ext cx="102362" cy="102362"/>
          </a:xfrm>
          <a:prstGeom prst="rect">
            <a:avLst/>
          </a:prstGeom>
        </p:spPr>
      </p:pic>
      <p:cxnSp>
        <p:nvCxnSpPr>
          <p:cNvPr id="77" name="Connector 76"/>
          <p:cNvCxnSpPr/>
          <p:nvPr/>
        </p:nvCxnSpPr>
        <p:spPr>
          <a:xfrm>
            <a:off x="548640" y="4525962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8" name="Oval 77"/>
          <p:cNvSpPr/>
          <p:nvPr/>
        </p:nvSpPr>
        <p:spPr>
          <a:xfrm>
            <a:off x="548640" y="466486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9" name="Picture 78" descr="data-FFFFFF-608a1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86" y="4740815"/>
            <a:ext cx="178308" cy="178308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993140" y="4615339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R-A14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Minta data struktural air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93140" y="4850289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82" name="Picture 81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4881658"/>
            <a:ext cx="102362" cy="102362"/>
          </a:xfrm>
          <a:prstGeom prst="rect">
            <a:avLst/>
          </a:prstGeom>
        </p:spPr>
      </p:pic>
      <p:sp>
        <p:nvSpPr>
          <p:cNvPr id="83" name="Rounded Rectangle 82"/>
          <p:cNvSpPr/>
          <p:nvPr/>
        </p:nvSpPr>
        <p:spPr>
          <a:xfrm>
            <a:off x="1785350" y="4850289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209898" y="4525962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Inventaris bendungan per BBWS dan laju GNSS per kota pesisir diminta ke pemegang data lewat Dewan SDA Nasional.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758733" y="4747419"/>
            <a:ext cx="80034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Pusdatinkom</a:t>
            </a:r>
          </a:p>
        </p:txBody>
      </p:sp>
      <p:pic>
        <p:nvPicPr>
          <p:cNvPr id="86" name="Picture 85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4778788"/>
            <a:ext cx="102362" cy="102362"/>
          </a:xfrm>
          <a:prstGeom prst="rect">
            <a:avLst/>
          </a:prstGeom>
        </p:spPr>
      </p:pic>
      <p:sp>
        <p:nvSpPr>
          <p:cNvPr id="87" name="Rounded Rectangle 86"/>
          <p:cNvSpPr/>
          <p:nvPr/>
        </p:nvSpPr>
        <p:spPr>
          <a:xfrm>
            <a:off x="9609879" y="4747419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88" name="Picture 87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429" y="4778788"/>
            <a:ext cx="102362" cy="102362"/>
          </a:xfrm>
          <a:prstGeom prst="rect">
            <a:avLst/>
          </a:prstGeom>
        </p:spPr>
      </p:pic>
      <p:sp>
        <p:nvSpPr>
          <p:cNvPr id="89" name="Rounded Rectangle 88"/>
          <p:cNvSpPr/>
          <p:nvPr/>
        </p:nvSpPr>
        <p:spPr>
          <a:xfrm>
            <a:off x="10570880" y="4747419"/>
            <a:ext cx="102398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ESDM</a:t>
            </a:r>
          </a:p>
        </p:txBody>
      </p:sp>
      <p:pic>
        <p:nvPicPr>
          <p:cNvPr id="90" name="Picture 89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3430" y="4778788"/>
            <a:ext cx="102362" cy="102362"/>
          </a:xfrm>
          <a:prstGeom prst="rect">
            <a:avLst/>
          </a:prstGeom>
        </p:spPr>
      </p:pic>
      <p:cxnSp>
        <p:nvCxnSpPr>
          <p:cNvPr id="91" name="Connector 90"/>
          <p:cNvCxnSpPr/>
          <p:nvPr/>
        </p:nvCxnSpPr>
        <p:spPr>
          <a:xfrm>
            <a:off x="548640" y="5133975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2" name="Oval 91"/>
          <p:cNvSpPr/>
          <p:nvPr/>
        </p:nvSpPr>
        <p:spPr>
          <a:xfrm>
            <a:off x="548640" y="5272881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3" name="Picture 92" descr="data-FFFFFF-608a1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86" y="5348827"/>
            <a:ext cx="178308" cy="178308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993140" y="5223351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R-A15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Garis dasar evaluasi Destana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93140" y="5458301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96" name="Picture 95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5489670"/>
            <a:ext cx="102362" cy="102362"/>
          </a:xfrm>
          <a:prstGeom prst="rect">
            <a:avLst/>
          </a:prstGeom>
        </p:spPr>
      </p:pic>
      <p:sp>
        <p:nvSpPr>
          <p:cNvPr id="97" name="Rounded Rectangle 96"/>
          <p:cNvSpPr/>
          <p:nvPr/>
        </p:nvSpPr>
        <p:spPr>
          <a:xfrm>
            <a:off x="1785350" y="5458301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209898" y="5133975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Instrumen penilaian independen yang sama untuk desa Destana dan desa pembanding terbentuk pada 2027.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758733" y="5355431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100" name="Picture 99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5386800"/>
            <a:ext cx="102362" cy="102362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10046441" y="5355431"/>
            <a:ext cx="879642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Kemendes PDT</a:t>
            </a:r>
          </a:p>
        </p:txBody>
      </p:sp>
      <p:pic>
        <p:nvPicPr>
          <p:cNvPr id="102" name="Picture 101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8991" y="5386800"/>
            <a:ext cx="102362" cy="102362"/>
          </a:xfrm>
          <a:prstGeom prst="rect">
            <a:avLst/>
          </a:prstGeom>
        </p:spPr>
      </p:pic>
      <p:sp>
        <p:nvSpPr>
          <p:cNvPr id="103" name="Rounded Rectangle 102"/>
          <p:cNvSpPr/>
          <p:nvPr/>
        </p:nvSpPr>
        <p:spPr>
          <a:xfrm>
            <a:off x="8758733" y="5571331"/>
            <a:ext cx="70188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Kemensos</a:t>
            </a:r>
          </a:p>
        </p:txBody>
      </p:sp>
      <p:pic>
        <p:nvPicPr>
          <p:cNvPr id="104" name="Picture 103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5602700"/>
            <a:ext cx="102362" cy="102362"/>
          </a:xfrm>
          <a:prstGeom prst="rect">
            <a:avLst/>
          </a:prstGeom>
        </p:spPr>
      </p:pic>
      <p:cxnSp>
        <p:nvCxnSpPr>
          <p:cNvPr id="105" name="Connector 104"/>
          <p:cNvCxnSpPr/>
          <p:nvPr/>
        </p:nvCxnSpPr>
        <p:spPr>
          <a:xfrm>
            <a:off x="548640" y="5741988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6" name="Oval 105"/>
          <p:cNvSpPr/>
          <p:nvPr/>
        </p:nvSpPr>
        <p:spPr>
          <a:xfrm>
            <a:off x="548640" y="5880894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7" name="Picture 106" descr="data-FFFFFF-608a1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86" y="5956840"/>
            <a:ext cx="178308" cy="178308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993140" y="5831364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R-A16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Buka catatan modifikasi cuaca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93140" y="6066314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110" name="Picture 109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6097683"/>
            <a:ext cx="102362" cy="102362"/>
          </a:xfrm>
          <a:prstGeom prst="rect">
            <a:avLst/>
          </a:prstGeom>
        </p:spPr>
      </p:pic>
      <p:sp>
        <p:nvSpPr>
          <p:cNvPr id="111" name="Rounded Rectangle 110"/>
          <p:cNvSpPr/>
          <p:nvPr/>
        </p:nvSpPr>
        <p:spPr>
          <a:xfrm>
            <a:off x="1785350" y="6066314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209898" y="5741988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Catatan operasi per daerah aliran sungai dibuka mulai musim berikut; protokol evaluasi disepakati untuk 2029.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8758733" y="5963444"/>
            <a:ext cx="2210284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Koordinasi Pengendalian Operasi Darurat</a:t>
            </a:r>
          </a:p>
        </p:txBody>
      </p:sp>
      <p:pic>
        <p:nvPicPr>
          <p:cNvPr id="114" name="Picture 113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5994813"/>
            <a:ext cx="102362" cy="102362"/>
          </a:xfrm>
          <a:prstGeom prst="rect">
            <a:avLst/>
          </a:prstGeom>
        </p:spPr>
      </p:pic>
      <p:sp>
        <p:nvSpPr>
          <p:cNvPr id="115" name="Rounded Rectangle 114"/>
          <p:cNvSpPr/>
          <p:nvPr/>
        </p:nvSpPr>
        <p:spPr>
          <a:xfrm>
            <a:off x="11019817" y="5963444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116" name="Picture 115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02367" y="5994813"/>
            <a:ext cx="102362" cy="10236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4521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E5. Rekomendasi lanjutan peta jalan 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2026–2027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dan arah 2028–2030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3140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LANGKAH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9898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RINCIAN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8733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PENANGGUNG JAWAB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14859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2" name="Oval 11"/>
          <p:cNvSpPr/>
          <p:nvPr/>
        </p:nvSpPr>
        <p:spPr>
          <a:xfrm>
            <a:off x="548640" y="1726142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1802088"/>
            <a:ext cx="178308" cy="1783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93140" y="1676612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R-A17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Serahkan data kab/kota ke Walidata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3140" y="1911562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16" name="Picture 15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1942931"/>
            <a:ext cx="102362" cy="10236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1785350" y="1911562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9898" y="1485900"/>
            <a:ext cx="4320235" cy="81068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Lampiran data per kab/kota kajian diserahkan dengan pernyataan produsen untuk portal Satu Data Bencana.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58733" y="1808692"/>
            <a:ext cx="80034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Pusdatinkom</a:t>
            </a:r>
          </a:p>
        </p:txBody>
      </p:sp>
      <p:pic>
        <p:nvPicPr>
          <p:cNvPr id="20" name="Picture 19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1840061"/>
            <a:ext cx="102362" cy="102362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758733" y="2024592"/>
            <a:ext cx="2136227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Direktorat Pemetaan dan Evaluasi Risiko Bencana</a:t>
            </a:r>
          </a:p>
        </p:txBody>
      </p:sp>
      <p:pic>
        <p:nvPicPr>
          <p:cNvPr id="22" name="Picture 21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2055961"/>
            <a:ext cx="102362" cy="102362"/>
          </a:xfrm>
          <a:prstGeom prst="rect">
            <a:avLst/>
          </a:prstGeom>
        </p:spPr>
      </p:pic>
      <p:cxnSp>
        <p:nvCxnSpPr>
          <p:cNvPr id="23" name="Connector 22"/>
          <p:cNvCxnSpPr/>
          <p:nvPr/>
        </p:nvCxnSpPr>
        <p:spPr>
          <a:xfrm>
            <a:off x="548640" y="2296583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4" name="Oval 23"/>
          <p:cNvSpPr/>
          <p:nvPr/>
        </p:nvSpPr>
        <p:spPr>
          <a:xfrm>
            <a:off x="548640" y="2536825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2612771"/>
            <a:ext cx="178308" cy="1783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93140" y="2487295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R-A22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Agenda evaluasi dampak program air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3140" y="2722245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28" name="Picture 27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2753614"/>
            <a:ext cx="102362" cy="102362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1785350" y="2722245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9898" y="2296583"/>
            <a:ext cx="4320235" cy="81068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Agenda per program berisi garis dasar dan pembanding, termasuk volume embung dan lama genangan, lewat Dewan SDA Nasional.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58733" y="2619375"/>
            <a:ext cx="1334421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Mitigasi Bencana</a:t>
            </a:r>
          </a:p>
        </p:txBody>
      </p:sp>
      <p:pic>
        <p:nvPicPr>
          <p:cNvPr id="32" name="Picture 31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2650744"/>
            <a:ext cx="102362" cy="102362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10143954" y="2619375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34" name="Picture 33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6504" y="2650744"/>
            <a:ext cx="102362" cy="102362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8758733" y="2835275"/>
            <a:ext cx="688904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Kementan</a:t>
            </a:r>
          </a:p>
        </p:txBody>
      </p:sp>
      <p:pic>
        <p:nvPicPr>
          <p:cNvPr id="36" name="Picture 35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2866644"/>
            <a:ext cx="102362" cy="102362"/>
          </a:xfrm>
          <a:prstGeom prst="rect">
            <a:avLst/>
          </a:prstGeom>
        </p:spPr>
      </p:pic>
      <p:cxnSp>
        <p:nvCxnSpPr>
          <p:cNvPr id="37" name="Connector 36"/>
          <p:cNvCxnSpPr/>
          <p:nvPr/>
        </p:nvCxnSpPr>
        <p:spPr>
          <a:xfrm>
            <a:off x="548640" y="3107267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8" name="Oval 37"/>
          <p:cNvSpPr/>
          <p:nvPr/>
        </p:nvSpPr>
        <p:spPr>
          <a:xfrm>
            <a:off x="548640" y="3347508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kapasitas-FFFFFF-22e801b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3423454"/>
            <a:ext cx="178308" cy="17830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93140" y="3297978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R-A18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Kalender kesiapan berpemicu El Niño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3140" y="3532928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2028–2030</a:t>
            </a:r>
          </a:p>
        </p:txBody>
      </p:sp>
      <p:pic>
        <p:nvPicPr>
          <p:cNvPr id="42" name="Picture 41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3564297"/>
            <a:ext cx="102362" cy="102362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1785350" y="3532928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9898" y="3107267"/>
            <a:ext cx="4320235" cy="81068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1" lang="id-ID">
                <a:solidFill>
                  <a:srgbClr val="1A1A1A"/>
                </a:solidFill>
                <a:latin typeface="Roboto"/>
              </a:rPr>
              <a:t>75,4%</a:t>
            </a:r>
            <a:r>
              <a:rPr sz="800" b="0" lang="id-ID">
                <a:solidFill>
                  <a:srgbClr val="1A1A1A"/>
                </a:solidFill>
                <a:latin typeface="Roboto"/>
              </a:rPr>
              <a:t> korban musim hujan jatuh November–April; kesiapan dijadwalkan dari prakiraan ENSO BMKG.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758733" y="3430058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46" name="Picture 45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3461427"/>
            <a:ext cx="102362" cy="102362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10046441" y="3430058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48" name="Picture 47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8991" y="3461427"/>
            <a:ext cx="102362" cy="102362"/>
          </a:xfrm>
          <a:prstGeom prst="rect">
            <a:avLst/>
          </a:prstGeom>
        </p:spPr>
      </p:pic>
      <p:cxnSp>
        <p:nvCxnSpPr>
          <p:cNvPr id="49" name="Connector 48"/>
          <p:cNvCxnSpPr/>
          <p:nvPr/>
        </p:nvCxnSpPr>
        <p:spPr>
          <a:xfrm>
            <a:off x="548640" y="3917950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0" name="Oval 49"/>
          <p:cNvSpPr/>
          <p:nvPr/>
        </p:nvSpPr>
        <p:spPr>
          <a:xfrm>
            <a:off x="548640" y="4158192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1" name="Picture 50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4234138"/>
            <a:ext cx="178308" cy="17830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93140" y="4108662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R-A19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Evaluasi aset PAMSIMAS saat kemarau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3140" y="4343612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2028–2030</a:t>
            </a:r>
          </a:p>
        </p:txBody>
      </p:sp>
      <p:pic>
        <p:nvPicPr>
          <p:cNvPr id="54" name="Picture 53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4374981"/>
            <a:ext cx="102362" cy="102362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1785350" y="4343612"/>
            <a:ext cx="548600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09898" y="3917950"/>
            <a:ext cx="4320235" cy="81068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Porsi desa bekas PAMSIMAS yang meminta air darurat pada kemarau 2027 dibandingkan desa lain, terbit 2028.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758733" y="4240742"/>
            <a:ext cx="1334421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Mitigasi Bencana</a:t>
            </a:r>
          </a:p>
        </p:txBody>
      </p:sp>
      <p:pic>
        <p:nvPicPr>
          <p:cNvPr id="58" name="Picture 57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4272111"/>
            <a:ext cx="102362" cy="102362"/>
          </a:xfrm>
          <a:prstGeom prst="rect">
            <a:avLst/>
          </a:prstGeom>
        </p:spPr>
      </p:pic>
      <p:sp>
        <p:nvSpPr>
          <p:cNvPr id="59" name="Rounded Rectangle 58"/>
          <p:cNvSpPr/>
          <p:nvPr/>
        </p:nvSpPr>
        <p:spPr>
          <a:xfrm>
            <a:off x="10143954" y="4240742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60" name="Picture 59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6504" y="4272111"/>
            <a:ext cx="102362" cy="102362"/>
          </a:xfrm>
          <a:prstGeom prst="rect">
            <a:avLst/>
          </a:prstGeom>
        </p:spPr>
      </p:pic>
      <p:cxnSp>
        <p:nvCxnSpPr>
          <p:cNvPr id="61" name="Connector 60"/>
          <p:cNvCxnSpPr/>
          <p:nvPr/>
        </p:nvCxnSpPr>
        <p:spPr>
          <a:xfrm>
            <a:off x="548640" y="4728633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2" name="Oval 61"/>
          <p:cNvSpPr/>
          <p:nvPr/>
        </p:nvSpPr>
        <p:spPr>
          <a:xfrm>
            <a:off x="548640" y="4968875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3" name="Picture 62" descr="regulasi-FFFFFF-e639fe9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86" y="5044821"/>
            <a:ext cx="178308" cy="17830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993140" y="4919345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R-A20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Evaluasi independen tata kelola tanggul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93140" y="5154295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2028–2030</a:t>
            </a:r>
          </a:p>
        </p:txBody>
      </p:sp>
      <p:pic>
        <p:nvPicPr>
          <p:cNvPr id="66" name="Picture 65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5185664"/>
            <a:ext cx="102362" cy="102362"/>
          </a:xfrm>
          <a:prstGeom prst="rect">
            <a:avLst/>
          </a:prstGeom>
        </p:spPr>
      </p:pic>
      <p:sp>
        <p:nvSpPr>
          <p:cNvPr id="67" name="Rounded Rectangle 66"/>
          <p:cNvSpPr/>
          <p:nvPr/>
        </p:nvSpPr>
        <p:spPr>
          <a:xfrm>
            <a:off x="1785350" y="5154295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09898" y="4728633"/>
            <a:ext cx="4320235" cy="81068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Kerangka evaluasi independen tanggul dan polder tercantum dalam tata kelola BOP Pantura Jawa lewat Kemenko PMK.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758733" y="4943475"/>
            <a:ext cx="255814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Pengembangan Strategi Penanggulangan Bencana</a:t>
            </a:r>
          </a:p>
        </p:txBody>
      </p:sp>
      <p:pic>
        <p:nvPicPr>
          <p:cNvPr id="70" name="Picture 69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4974844"/>
            <a:ext cx="102362" cy="102362"/>
          </a:xfrm>
          <a:prstGeom prst="rect">
            <a:avLst/>
          </a:prstGeom>
        </p:spPr>
      </p:pic>
      <p:sp>
        <p:nvSpPr>
          <p:cNvPr id="71" name="Rounded Rectangle 70"/>
          <p:cNvSpPr/>
          <p:nvPr/>
        </p:nvSpPr>
        <p:spPr>
          <a:xfrm>
            <a:off x="8758733" y="5159375"/>
            <a:ext cx="99787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BOP Pantura Jawa</a:t>
            </a:r>
          </a:p>
        </p:txBody>
      </p:sp>
      <p:pic>
        <p:nvPicPr>
          <p:cNvPr id="72" name="Picture 71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5190744"/>
            <a:ext cx="102362" cy="102362"/>
          </a:xfrm>
          <a:prstGeom prst="rect">
            <a:avLst/>
          </a:prstGeom>
        </p:spPr>
      </p:pic>
      <p:cxnSp>
        <p:nvCxnSpPr>
          <p:cNvPr id="73" name="Connector 72"/>
          <p:cNvCxnSpPr/>
          <p:nvPr/>
        </p:nvCxnSpPr>
        <p:spPr>
          <a:xfrm>
            <a:off x="548640" y="5539317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4" name="Oval 73"/>
          <p:cNvSpPr/>
          <p:nvPr/>
        </p:nvSpPr>
        <p:spPr>
          <a:xfrm>
            <a:off x="548640" y="5779558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5" name="Picture 74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5855504"/>
            <a:ext cx="178308" cy="178308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993140" y="5730028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R-A21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Laporkan irisan Jawa indikator korban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93140" y="5964978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2028–2030</a:t>
            </a:r>
          </a:p>
        </p:txBody>
      </p:sp>
      <p:pic>
        <p:nvPicPr>
          <p:cNvPr id="78" name="Picture 77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5996347"/>
            <a:ext cx="102362" cy="102362"/>
          </a:xfrm>
          <a:prstGeom prst="rect">
            <a:avLst/>
          </a:prstGeom>
        </p:spPr>
      </p:pic>
      <p:sp>
        <p:nvSpPr>
          <p:cNvPr id="79" name="Rounded Rectangle 78"/>
          <p:cNvSpPr/>
          <p:nvPr/>
        </p:nvSpPr>
        <p:spPr>
          <a:xfrm>
            <a:off x="1785350" y="5964978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09898" y="5539317"/>
            <a:ext cx="4320235" cy="81068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Laporan tahunan memuat irisan Jawa indikator korban Renas PB dengan pembagi penduduk yang sama dan penanda patahan DIBI.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758733" y="5754158"/>
            <a:ext cx="255814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Pengembangan Strategi Penanggulangan Bencana</a:t>
            </a:r>
          </a:p>
        </p:txBody>
      </p:sp>
      <p:pic>
        <p:nvPicPr>
          <p:cNvPr id="82" name="Picture 81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5785527"/>
            <a:ext cx="102362" cy="102362"/>
          </a:xfrm>
          <a:prstGeom prst="rect">
            <a:avLst/>
          </a:prstGeom>
        </p:spPr>
      </p:pic>
      <p:sp>
        <p:nvSpPr>
          <p:cNvPr id="83" name="Rounded Rectangle 82"/>
          <p:cNvSpPr/>
          <p:nvPr/>
        </p:nvSpPr>
        <p:spPr>
          <a:xfrm>
            <a:off x="8758733" y="5970058"/>
            <a:ext cx="8571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Kemenko PMK</a:t>
            </a:r>
          </a:p>
        </p:txBody>
      </p:sp>
      <p:pic>
        <p:nvPicPr>
          <p:cNvPr id="84" name="Picture 83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6001427"/>
            <a:ext cx="102362" cy="10236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Delapan temuan berangka tentang air Pulau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Jawa bermuara pada keputusan yang diminta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74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longsor-051C2C-c017b3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323" y="1601883"/>
            <a:ext cx="221425" cy="221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7081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74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MUSIM HUJAN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74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Longsor dan banjir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74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1.412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dari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1.738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korban meninggal hidrometeorologi 2015–2026.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661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171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banjir-051C2C-364735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2293" y="1601883"/>
            <a:ext cx="221425" cy="2214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7878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171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MUSIM HUJAN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171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Lantai skenario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171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270 jiwa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meninggal dan hilang pada musim 2008/2009; musim 2025/2026 mencatat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237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458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2968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kalender-051C2C-a840cf9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0263" y="1601883"/>
            <a:ext cx="221425" cy="22142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28675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968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MUSIM HUJAN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968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Kalender korban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968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75,4%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korban jatuh November–April; hari ke-0 jatuh November.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7255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3765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penurunan-muka-tanah-051C2C-4d1f13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8233" y="1601883"/>
            <a:ext cx="221425" cy="22142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09472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3765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PESISIR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3765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Penurunan muka tanah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3765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10,7 cm per tahun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di GNSS Kota Pekalongan, 2010–2021; rob tercatat di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35 kab/kota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13740" y="3522980"/>
            <a:ext cx="402590" cy="40259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kekeringan-D9600B-bd7fcb5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323" y="3613563"/>
            <a:ext cx="221425" cy="22142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67081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74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D9600B"/>
                </a:solidFill>
                <a:latin typeface="Roboto"/>
              </a:rPr>
              <a:t>MUSIM KEMARAU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74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Kekeringan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74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76 kab/kota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pada 2019 tanpa korban jiwa; volume air tersalur belum tercatat.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5661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521710" y="3522980"/>
            <a:ext cx="402590" cy="40259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6" name="Picture 45" descr="peringatan-D9600B-6a80b7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2293" y="3613563"/>
            <a:ext cx="221425" cy="22142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47878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2171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D9600B"/>
                </a:solidFill>
                <a:latin typeface="Roboto"/>
              </a:rPr>
              <a:t>KESENJANGAN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2171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Peringatan dini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2171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6%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masyarakat terpapar berisiko tinggi terpenuhi;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19,68%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kejadian banjir berperingatan berbasis dampak.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6458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329680" y="3522980"/>
            <a:ext cx="402590" cy="40259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3" name="Picture 52" descr="bendungan-D9600B-45c2877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0263" y="3613563"/>
            <a:ext cx="221425" cy="221425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28675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2968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D9600B"/>
                </a:solidFill>
                <a:latin typeface="Roboto"/>
              </a:rPr>
              <a:t>KESENJANGAN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2968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Bendungan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2968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16,0%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piezometer rusak di BBWS Pemali-Juana;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71,5%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lantai korban dari Situ Gintung.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97255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137650" y="3522980"/>
            <a:ext cx="402590" cy="402590"/>
          </a:xfrm>
          <a:prstGeom prst="ellipse">
            <a:avLst/>
          </a:prstGeom>
          <a:solidFill>
            <a:srgbClr val="DCEB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0" name="Picture 59" descr="lembaga-2F86D1-f44193c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28233" y="3613563"/>
            <a:ext cx="221425" cy="221425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109472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3765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2F86D1"/>
                </a:solidFill>
                <a:latin typeface="Roboto"/>
              </a:rPr>
              <a:t>KELEMBAGAAN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3765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Kewenangan air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3765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Tidak satu pun dari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31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baris kewenangan air menyebut BNPB;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7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dari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8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program wajib evaluasi.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48640" y="5369560"/>
            <a:ext cx="11094720" cy="558800"/>
          </a:xfrm>
          <a:prstGeom prst="roundRect">
            <a:avLst>
              <a:gd name="adj" fmla="val 13181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13740" y="5483860"/>
            <a:ext cx="330200" cy="330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7" name="Picture 66" descr="peringatan-D9600B-6a80b7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035" y="5558155"/>
            <a:ext cx="181610" cy="18161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209040" y="5369560"/>
            <a:ext cx="1608333" cy="558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lang="id-ID" spc="150">
                <a:solidFill>
                  <a:srgbClr val="FFFFFF"/>
                </a:solidFill>
                <a:latin typeface="Roboto"/>
              </a:rPr>
              <a:t>ARAHAN YANG DIMINTA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17373" y="5369560"/>
            <a:ext cx="8660887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FFFFFF"/>
                </a:solidFill>
                <a:latin typeface="Roboto"/>
              </a:rPr>
              <a:t>Tetapkan kajian sebagai masukan Renas PB dan hari ke-0 dalam November 2026; putuskan penyelarasan target peringatan dini; sampaikan posisi risiko Tanggul Laut Pantura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2008–2026; Susilo dkk. (2023); Renstra BNPB 2025–2029; inventaris bendungan BBWS Pemali-Juana 2021; paket lembaga Pantau Bencana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enutup-air-penutup-ser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23760" y="6565900"/>
            <a:ext cx="469392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 lang="id-ID">
                <a:solidFill>
                  <a:srgbClr val="FFFFFF"/>
                </a:solidFill>
                <a:latin typeface="Roboto"/>
              </a:rPr>
              <a:t>Foto: Waduk Sermo, Kulon Progo, DIY; Liuzhary, CC BY-SA 4.0, Wikimedia Commons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50292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26" y="673913"/>
            <a:ext cx="526869" cy="6638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468880"/>
            <a:ext cx="9144000" cy="100584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l"/>
            <a:r>
              <a:rPr sz="5400" b="1" lang="id-ID">
                <a:solidFill>
                  <a:srgbClr val="FFFFFF"/>
                </a:solidFill>
                <a:latin typeface="Roboto"/>
              </a:rPr>
              <a:t>Terima kasih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644900"/>
            <a:ext cx="4754880" cy="254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9144000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1" lang="id-ID">
                <a:solidFill>
                  <a:srgbClr val="FFFFFF"/>
                </a:solidFill>
                <a:latin typeface="Roboto"/>
              </a:rPr>
              <a:t>Badan Nasional Penanggulangan Bencana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41800"/>
            <a:ext cx="9144000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lang="id-ID">
                <a:solidFill>
                  <a:srgbClr val="C9D1E3"/>
                </a:solidFill>
                <a:latin typeface="Roboto"/>
              </a:rPr>
              <a:t>Grand Design Ketahanan Air Pulau Jawa 2026–2030, Sabtu, 24 Oktober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Badan Nasional Penanggulangan Bencana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Grand Design Ketahanan Air Pulau Jawa 2026–2030</dc:title>
  <dc:subject>Pengelolaan Air pada Musim Kemarau dan Musim Hujan untuk Pengurangan Risiko Bencana</dc:subject>
  <dc:creator>Badan Nasional Penanggulangan Bencana</dc:creator>
  <cp:lastModifiedBy>Badan Nasional Penanggulangan Bencana</cp:lastModifiedBy>
  <cp:revision>1</cp:revision>
  <dcterms:created xsi:type="dcterms:W3CDTF">2026-10-22T07:37:45Z</dcterms:created>
  <dcterms:modified xsi:type="dcterms:W3CDTF">2026-10-22T07:37:45Z</dcterms:modified>
  <cp:keywords>BNPB; penanggulangan bencana; ketahanan air; Pulau Jawa; grand design; musim kemarau; musim hujan</cp:keywords>
  <dc:language>id-ID</dc:language>
  <cp:category>Kajian</cp:category>
  <dc:description>Musim hujan Jawa diukur dengan korban jiwa karena longsor dan banjir mencatat korban terbanyak, musim kemarau dengan gangguan air bersih; keputusan Kepala BNPB dalam November 2026 menentukan apakah 100 hari pertama selesai di puncak musim hujan.</dc:description>
</cp:coreProperties>
</file>