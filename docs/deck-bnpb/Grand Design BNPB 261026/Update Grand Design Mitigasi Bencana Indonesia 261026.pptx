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Roboto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Roboto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Roboto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Roboto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3.png"/><Relationship Id="rId7" Type="http://schemas.openxmlformats.org/officeDocument/2006/relationships/image" Target="../media/image19.png"/><Relationship Id="rId8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15.png"/><Relationship Id="rId8" Type="http://schemas.openxmlformats.org/officeDocument/2006/relationships/image" Target="../media/image23.png"/><Relationship Id="rId9" Type="http://schemas.openxmlformats.org/officeDocument/2006/relationships/image" Target="../media/image13.png"/><Relationship Id="rId10" Type="http://schemas.openxmlformats.org/officeDocument/2006/relationships/image" Target="../media/image24.png"/><Relationship Id="rId11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28.png"/><Relationship Id="rId5" Type="http://schemas.openxmlformats.org/officeDocument/2006/relationships/image" Target="../media/image15.png"/><Relationship Id="rId6" Type="http://schemas.openxmlformats.org/officeDocument/2006/relationships/image" Target="../media/image25.png"/><Relationship Id="rId7" Type="http://schemas.openxmlformats.org/officeDocument/2006/relationships/image" Target="../media/image31.png"/><Relationship Id="rId8" Type="http://schemas.openxmlformats.org/officeDocument/2006/relationships/image" Target="../media/image26.png"/><Relationship Id="rId9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3.png"/><Relationship Id="rId4" Type="http://schemas.openxmlformats.org/officeDocument/2006/relationships/image" Target="../media/image26.png"/><Relationship Id="rId5" Type="http://schemas.openxmlformats.org/officeDocument/2006/relationships/image" Target="../media/image34.png"/><Relationship Id="rId6" Type="http://schemas.openxmlformats.org/officeDocument/2006/relationships/image" Target="../media/image31.png"/><Relationship Id="rId7" Type="http://schemas.openxmlformats.org/officeDocument/2006/relationships/image" Target="../media/image28.png"/><Relationship Id="rId8" Type="http://schemas.openxmlformats.org/officeDocument/2006/relationships/image" Target="../media/image15.png"/><Relationship Id="rId9" Type="http://schemas.openxmlformats.org/officeDocument/2006/relationships/image" Target="../media/image25.png"/><Relationship Id="rId10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5.png"/><Relationship Id="rId4" Type="http://schemas.openxmlformats.org/officeDocument/2006/relationships/image" Target="../media/image4.png"/><Relationship Id="rId5" Type="http://schemas.openxmlformats.org/officeDocument/2006/relationships/image" Target="../media/image2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0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ul-bencana-ge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0"/>
            <a:ext cx="58801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 lang="id-ID">
                <a:solidFill>
                  <a:srgbClr val="FFFFFF"/>
                </a:solidFill>
                <a:latin typeface="Roboto"/>
              </a:rPr>
              <a:t>Foto: Ungkeito, CC BY-SA 4.0,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2819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00200"/>
            <a:ext cx="5669280" cy="1524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700" b="1" lang="id-ID">
                <a:solidFill>
                  <a:srgbClr val="1A1A1A"/>
                </a:solidFill>
                <a:latin typeface="Roboto"/>
              </a:rPr>
              <a:t>Grand Design Mitigasi</a:t>
            </a:r>
          </a:p>
          <a:p>
            <a:pPr algn="l">
              <a:lnSpc>
                <a:spcPct val="95000"/>
              </a:lnSpc>
            </a:pPr>
            <a:r>
              <a:rPr sz="2700" b="1" lang="id-ID">
                <a:solidFill>
                  <a:srgbClr val="1A1A1A"/>
                </a:solidFill>
                <a:latin typeface="Roboto"/>
              </a:rPr>
              <a:t>Bencana Indonesia 2026–2030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25800"/>
            <a:ext cx="566928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lang="id-ID">
                <a:solidFill>
                  <a:srgbClr val="2E3440"/>
                </a:solidFill>
                <a:latin typeface="Roboto"/>
              </a:rPr>
              <a:t>Strategi Prabencana, Tanggap Darurat, dan Pascabencana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00450"/>
            <a:ext cx="566928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lang="id-ID">
                <a:solidFill>
                  <a:srgbClr val="00499D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05250"/>
            <a:ext cx="5669280" cy="1984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 lang="id-ID">
                <a:solidFill>
                  <a:srgbClr val="1A1A1A"/>
                </a:solidFill>
                <a:latin typeface="Roboto"/>
              </a:rPr>
              <a:t>Pembaruan penyusunan untuk Kepala BNPB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4256088"/>
            <a:ext cx="512064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1" name="Rounded Rectangle 10"/>
          <p:cNvSpPr/>
          <p:nvPr/>
        </p:nvSpPr>
        <p:spPr>
          <a:xfrm>
            <a:off x="548640" y="5760720"/>
            <a:ext cx="2926080" cy="38354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lang="id-ID">
                <a:solidFill>
                  <a:srgbClr val="FFFFFF"/>
                </a:solidFill>
                <a:latin typeface="Roboto"/>
              </a:rPr>
              <a:t>Jumat, 23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Lima temuan kunci sejauh ini: IRB nasional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turun 10,8%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sejak 2019, tetapi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168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kab/kota masih berkelas risiko Tinggi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6471209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337310"/>
            <a:ext cx="1092042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INDEKS RISIKO</a:t>
            </a:r>
          </a:p>
        </p:txBody>
      </p:sp>
      <p:pic>
        <p:nvPicPr>
          <p:cNvPr id="12" name="Picture 11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1593850"/>
            <a:ext cx="202295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data-051C2C-608a1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70178" y="1630680"/>
            <a:ext cx="140192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128,52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178" y="1896110"/>
            <a:ext cx="140192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IRB nasional 2024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72766" y="1593850"/>
            <a:ext cx="202295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8198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turun-2E3440-2c293ac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8186" y="1758950"/>
            <a:ext cx="177800" cy="177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284576" y="1630680"/>
            <a:ext cx="140192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2E3440"/>
                </a:solidFill>
                <a:latin typeface="Roboto"/>
              </a:rPr>
              <a:t>turun 10,8%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84576" y="1896110"/>
            <a:ext cx="140192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perubahan sejak 2019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87163" y="1593850"/>
            <a:ext cx="202295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996383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wilayah-8F3F07-37dca10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2583" y="1758950"/>
            <a:ext cx="177800" cy="177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98973" y="1630680"/>
            <a:ext cx="140192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8F3F07"/>
                </a:solidFill>
                <a:latin typeface="Roboto"/>
              </a:rPr>
              <a:t>168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8973" y="1896110"/>
            <a:ext cx="140192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kelas Tinggi 2023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5508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86549" y="1282700"/>
            <a:ext cx="4356811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96277" y="1337310"/>
            <a:ext cx="1279966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PERLU PERHATIAN</a:t>
            </a:r>
          </a:p>
        </p:txBody>
      </p:sp>
      <p:pic>
        <p:nvPicPr>
          <p:cNvPr id="31" name="Picture 30" descr="peringatan-FFFFFF-6a80b7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7717" y="1372057"/>
            <a:ext cx="113386" cy="113386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7396277" y="1593850"/>
            <a:ext cx="202295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505497" y="1682750"/>
            <a:ext cx="330200" cy="330200"/>
          </a:xfrm>
          <a:prstGeom prst="ellipse">
            <a:avLst/>
          </a:prstGeom>
          <a:solidFill>
            <a:srgbClr val="F8DD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peringatan-C8102E-6a80b7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1697" y="1758950"/>
            <a:ext cx="177800" cy="177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908087" y="1630680"/>
            <a:ext cx="140192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C8102E"/>
                </a:solidFill>
                <a:latin typeface="Roboto"/>
              </a:rPr>
              <a:t>2.030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8087" y="1896110"/>
            <a:ext cx="140192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meninggal akibat bencana 2025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10674" y="1593850"/>
            <a:ext cx="202295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61989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kalender-051C2C-a840cf9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96094" y="1758950"/>
            <a:ext cx="177800" cy="1778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022484" y="1630680"/>
            <a:ext cx="140192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5.440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22484" y="1896110"/>
            <a:ext cx="140192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kejadian bencana 2025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2346960"/>
            <a:ext cx="11094720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48640" y="234696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257556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8640" y="2346960"/>
            <a:ext cx="11094720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8" name="Picture 47" descr="ringkasan-FFFFFF-28e5662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56640" y="2346960"/>
            <a:ext cx="10459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Pesan kunci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5640" y="2905760"/>
            <a:ext cx="1084072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lang="id-ID">
                <a:solidFill>
                  <a:srgbClr val="051C2C"/>
                </a:solidFill>
                <a:latin typeface="Roboto"/>
              </a:rPr>
              <a:t>Risiko bencana nasional turun, tetapi korban jiwa 2025 tertinggi sejak 2018; korban analog La Niña diperkirakan turun ke 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317–726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 jiwa bila cakupan peringatan dini mencapai 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52%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 (asumsi kebijakan).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75640" y="3337560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2" name="Oval 51"/>
          <p:cNvSpPr/>
          <p:nvPr/>
        </p:nvSpPr>
        <p:spPr>
          <a:xfrm>
            <a:off x="675640" y="348386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86" y="3559810"/>
            <a:ext cx="178308" cy="17830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120140" y="3483864"/>
            <a:ext cx="838674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58814" y="3565620"/>
            <a:ext cx="8090180" cy="192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lang="id-ID">
                <a:solidFill>
                  <a:srgbClr val="1A1A1A"/>
                </a:solidFill>
                <a:latin typeface="Roboto"/>
              </a:rPr>
              <a:t>IRB nasional turun dari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144,02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pada 2019 menjadi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128,52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pada 2024.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121747" y="3566414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75640" y="3909568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8" name="Oval 57"/>
          <p:cNvSpPr/>
          <p:nvPr/>
        </p:nvSpPr>
        <p:spPr>
          <a:xfrm>
            <a:off x="675640" y="400507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9" name="Picture 58" descr="wilayah-FFFFFF-37dca10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1586" y="4081018"/>
            <a:ext cx="178308" cy="17830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120140" y="4005072"/>
            <a:ext cx="838674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58814" y="4086828"/>
            <a:ext cx="8090180" cy="192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168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dari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514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kab/kota masih berkelas risiko Tinggi pada 2023, sama dengan angka Renas PB 2025–2029.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1121747" y="4087622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75640" y="4430776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4" name="Oval 63"/>
          <p:cNvSpPr/>
          <p:nvPr/>
        </p:nvSpPr>
        <p:spPr>
          <a:xfrm>
            <a:off x="675640" y="452628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5" name="Picture 64" descr="peringatan-FFFFFF-6a80b7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586" y="4602226"/>
            <a:ext cx="178308" cy="17830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120140" y="4526280"/>
            <a:ext cx="838674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58814" y="4608036"/>
            <a:ext cx="8090180" cy="192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lang="id-ID">
                <a:solidFill>
                  <a:srgbClr val="1A1A1A"/>
                </a:solidFill>
                <a:latin typeface="Roboto"/>
              </a:rPr>
              <a:t>DIBI mencatat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2.030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jiwa meninggal pada 2025; banjir dan longsor Sumatra akhir 2025 menyumbang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1.202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jiwa.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121747" y="460883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75640" y="4951984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0" name="Oval 69"/>
          <p:cNvSpPr/>
          <p:nvPr/>
        </p:nvSpPr>
        <p:spPr>
          <a:xfrm>
            <a:off x="675640" y="504590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1" name="Picture 70" descr="banjir-FFFFFF-3647350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1586" y="5121846"/>
            <a:ext cx="178308" cy="17830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120140" y="5045900"/>
            <a:ext cx="838674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58814" y="5045900"/>
            <a:ext cx="8090180" cy="358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lang="id-ID">
                <a:solidFill>
                  <a:srgbClr val="1A1A1A"/>
                </a:solidFill>
                <a:latin typeface="Roboto"/>
              </a:rPr>
              <a:t>Musim hujan setara La Niña 2020/2021 diperkirakan menewaskan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520–1.200 jiwa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akibat bencana hidrometeorologi basah; musim 2025/2026 tercatat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1.506 jiwa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meninggal.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150594" y="5128450"/>
            <a:ext cx="136576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Estimasi model, belum diuji balik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75640" y="5473192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6" name="Oval 75"/>
          <p:cNvSpPr/>
          <p:nvPr/>
        </p:nvSpPr>
        <p:spPr>
          <a:xfrm>
            <a:off x="675640" y="556869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7" name="Picture 76" descr="pandemi-FFFFFF-cf29e887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1586" y="5644642"/>
            <a:ext cx="178308" cy="17830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120140" y="5568696"/>
            <a:ext cx="838674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58814" y="5650452"/>
            <a:ext cx="8090180" cy="192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lang="id-ID">
                <a:solidFill>
                  <a:srgbClr val="1A1A1A"/>
                </a:solidFill>
                <a:latin typeface="Roboto"/>
              </a:rPr>
              <a:t>Pandemi COVID tercatat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161.870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kematian resmi; WHO memperkirakan kematian berlebih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810.000–1.300.000 jiwa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789602" y="5651246"/>
            <a:ext cx="72675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Estimasi model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InaRISK BNPB, IRBI 2019–2024; Renas PB 2025–2029; DIBI BNPB 2025; Kemenkes; WHO; simulasi Pantau Bencana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Posisi BNPB: Grand Design menurunkan RIPB 2020–2044 dan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Renas PB 2025–2029 ke program lima tahun berbasis risiko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YANG DIPAKAI DARI TIAP DOKUMEN</a:t>
            </a:r>
          </a:p>
        </p:txBody>
      </p:sp>
      <p:sp>
        <p:nvSpPr>
          <p:cNvPr id="12" name="Oval 11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kalender-FFFFFF-a840cf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5060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RIPB 2020–2044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060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Arah dan fokus jangka panjang penanggulangan bencana.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22320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3395345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data-FFFFFF-608a1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545" y="568452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15715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Renas PB 2025–2029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5715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Indikator bergaris dasar dan bertarget 2029 untuk sasaran terukur.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22975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609600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5684520"/>
            <a:ext cx="177800" cy="177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516370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Renstra BNPB 2025–2029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6370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Program dan unit pelaksana di lingkungan BNPB.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23630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8796655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regulasi-FFFFFF-e639fe9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2855" y="568452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17025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RPJMN 2025–2029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7025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Sasaran nasional yang diturunkan lewat Renas PB.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1282700"/>
            <a:ext cx="6878726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128270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151130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48640" y="1282700"/>
            <a:ext cx="6878726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6905754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640" y="128270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Arah kebijakan Renas PB 2025–2029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1230" y="1841500"/>
            <a:ext cx="634913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ARAH KEBIJAKAN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75640" y="205232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1" name="Oval 40"/>
          <p:cNvSpPr/>
          <p:nvPr/>
        </p:nvSpPr>
        <p:spPr>
          <a:xfrm>
            <a:off x="675640" y="20986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1230" y="2052320"/>
            <a:ext cx="629833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Penguatan Kerangka Regulasi untuk Mewujudkan Sistem Penanggulangan Bencana yang Efisien dan Efektif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75640" y="23190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4" name="Oval 43"/>
          <p:cNvSpPr/>
          <p:nvPr/>
        </p:nvSpPr>
        <p:spPr>
          <a:xfrm>
            <a:off x="675640" y="23653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1230" y="2319020"/>
            <a:ext cx="629833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Penguatan Kelembagaan dan Kerja Sama Lintas Lembaga dalam Penanggulangan Bencana, termasuk Pendanaan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5640" y="25857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7" name="Oval 46"/>
          <p:cNvSpPr/>
          <p:nvPr/>
        </p:nvSpPr>
        <p:spPr>
          <a:xfrm>
            <a:off x="675640" y="26320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1230" y="2585720"/>
            <a:ext cx="629833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Penguatan Investasi Pengelolaan Risiko Bencana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75640" y="28524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0" name="Oval 49"/>
          <p:cNvSpPr/>
          <p:nvPr/>
        </p:nvSpPr>
        <p:spPr>
          <a:xfrm>
            <a:off x="675640" y="28987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1230" y="2852420"/>
            <a:ext cx="629833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Peningkatan Ketangguhan Masyarakat dan Lembaga Usaha dalam Menghadapi Bencana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5640" y="31191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3" name="Oval 52"/>
          <p:cNvSpPr/>
          <p:nvPr/>
        </p:nvSpPr>
        <p:spPr>
          <a:xfrm>
            <a:off x="675640" y="31654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1230" y="3119120"/>
            <a:ext cx="629833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Peningkatan Kapasitas dan Kapabilitas dalam Kesiapsiagaan dan Penanganan Kedaruratan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75640" y="33858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6" name="Oval 55"/>
          <p:cNvSpPr/>
          <p:nvPr/>
        </p:nvSpPr>
        <p:spPr>
          <a:xfrm>
            <a:off x="675640" y="34321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1230" y="3385820"/>
            <a:ext cx="629833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Peningkatan Kualitas Rehabilitasi dan Rekonstruksi Pascabencana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64526" y="1282700"/>
            <a:ext cx="4078834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564526" y="128270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564526" y="151130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564526" y="1282700"/>
            <a:ext cx="4078834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691526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3" name="Picture 62" descr="ringkasan-FFFFFF-28e566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8676" y="1422400"/>
            <a:ext cx="177800" cy="177800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11121747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72526" y="1282700"/>
            <a:ext cx="2922221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Dasar dan posisi kajian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67116" y="1841500"/>
            <a:ext cx="3549244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SASARAN RENAS PB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691526" y="2052320"/>
            <a:ext cx="382483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8" name="Oval 67"/>
          <p:cNvSpPr/>
          <p:nvPr/>
        </p:nvSpPr>
        <p:spPr>
          <a:xfrm>
            <a:off x="7691526" y="20986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67116" y="2052320"/>
            <a:ext cx="3498444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Mengurangi penduduk terdampak lewat kesiapsiagaan dan peringatan dini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691526" y="23190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1" name="Oval 70"/>
          <p:cNvSpPr/>
          <p:nvPr/>
        </p:nvSpPr>
        <p:spPr>
          <a:xfrm>
            <a:off x="7691526" y="23653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67116" y="2319020"/>
            <a:ext cx="3498444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Mengurangi kerusakan dan kerugian lewat mitigasi dan adaptasi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7691526" y="25857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4" name="Oval 73"/>
          <p:cNvSpPr/>
          <p:nvPr/>
        </p:nvSpPr>
        <p:spPr>
          <a:xfrm>
            <a:off x="7691526" y="26320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67116" y="2585720"/>
            <a:ext cx="3498444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Meningkatkan daya lenting lewat percepatan rehabilitasi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691526" y="28524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7" name="Oval 76"/>
          <p:cNvSpPr/>
          <p:nvPr/>
        </p:nvSpPr>
        <p:spPr>
          <a:xfrm>
            <a:off x="7691526" y="28987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67116" y="2852420"/>
            <a:ext cx="3498444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Meningkatkan pelayanan dan kapasitas penanggulangan bencana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91526" y="3246120"/>
            <a:ext cx="3824834" cy="1788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RIPB 2020–2044 memberi arah jangka panjang; Renas PB dan Renstra BNPB 2025–2029 menjadi pijakan lima tahun.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Sasaran RPJMN 2025–2029 dirujuk lewat Renas PB, tidak disusun ulang.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IRBI BNPB menjadi rujukan utama risiko; indeks dan simulasi platform hanya pendukung dan selalu berlabel.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Tiap usulan membawa kelas kekuatan bukti program dan satu status usulan.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Tanpa pagu dan biaya proyek; pembiayaan cukup sampai arsitektur sumber dana.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Renas PB 2025–2029 (Perban BNPB 1/2025)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IRB nasional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turun 10,8%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dalam lima tahun, dari</a:t>
            </a:r>
            <a:br/>
            <a:r>
              <a:rPr sz="2200" b="1" lang="id-ID">
                <a:solidFill>
                  <a:srgbClr val="D9600B"/>
                </a:solidFill>
                <a:latin typeface="Roboto"/>
              </a:rPr>
              <a:t>144,02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pada 2019 menjadi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128,52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pada 2024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CARA MEMBACA</a:t>
            </a:r>
          </a:p>
        </p:txBody>
      </p:sp>
      <p:sp>
        <p:nvSpPr>
          <p:cNvPr id="12" name="Oval 11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Angka resmi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Nilai nasional 2019–2024 sama dengan angka terbit Renstra BNPB 2025–2029.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kalender-FFFFFF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Skala 2025 berbeda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IRBI 2025 memakai skala baru dan tidak dibandingkan dengan seri ini.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wilayah-FFFFFF-37dca1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Pengelompokan pulau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Pulau dikelompokkan oleh penyusun; batas kelompoknya tidak resmi.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1282700"/>
            <a:ext cx="6878726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128270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151130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1282700"/>
            <a:ext cx="6878726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6905754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640" y="128270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IRB nasional 2019–2024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5640" y="1841500"/>
            <a:ext cx="3974836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lang="id-ID">
                <a:solidFill>
                  <a:srgbClr val="1A1A1A"/>
                </a:solidFill>
                <a:latin typeface="Roboto"/>
              </a:rPr>
              <a:t>Rerata sederhana kab/kota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7936" y="1841500"/>
            <a:ext cx="62243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 lang="id-ID">
                <a:solidFill>
                  <a:srgbClr val="2F86D1"/>
                </a:solidFill>
                <a:latin typeface="Roboto"/>
              </a:rPr>
              <a:t>turun 10,8%</a:t>
            </a:r>
          </a:p>
        </p:txBody>
      </p:sp>
      <p:sp>
        <p:nvSpPr>
          <p:cNvPr id="36" name="Isosceles Triangle 35"/>
          <p:cNvSpPr/>
          <p:nvPr/>
        </p:nvSpPr>
        <p:spPr>
          <a:xfrm rot="10800000">
            <a:off x="6563636" y="1912620"/>
            <a:ext cx="76200" cy="6096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885423" y="2209800"/>
            <a:ext cx="684555" cy="254508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CE1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5640" y="2057400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144,02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5640" y="478028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2019</a:t>
            </a:r>
          </a:p>
        </p:txBody>
      </p:sp>
      <p:sp>
        <p:nvSpPr>
          <p:cNvPr id="40" name="Round Same Side Corner Rectangle 39"/>
          <p:cNvSpPr/>
          <p:nvPr/>
        </p:nvSpPr>
        <p:spPr>
          <a:xfrm>
            <a:off x="1989544" y="2251614"/>
            <a:ext cx="684555" cy="2503266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79761" y="2099214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141,65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9761" y="478028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2020</a:t>
            </a:r>
          </a:p>
        </p:txBody>
      </p:sp>
      <p:sp>
        <p:nvSpPr>
          <p:cNvPr id="43" name="Isosceles Triangle 42"/>
          <p:cNvSpPr/>
          <p:nvPr/>
        </p:nvSpPr>
        <p:spPr>
          <a:xfrm rot="10800000">
            <a:off x="2212573" y="494411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88773" y="490728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1,6%</a:t>
            </a:r>
          </a:p>
        </p:txBody>
      </p:sp>
      <p:sp>
        <p:nvSpPr>
          <p:cNvPr id="45" name="Round Same Side Corner Rectangle 44"/>
          <p:cNvSpPr/>
          <p:nvPr/>
        </p:nvSpPr>
        <p:spPr>
          <a:xfrm>
            <a:off x="3093665" y="2301862"/>
            <a:ext cx="684555" cy="2453018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83882" y="2149462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138,81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3882" y="478028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2021</a:t>
            </a:r>
          </a:p>
        </p:txBody>
      </p:sp>
      <p:sp>
        <p:nvSpPr>
          <p:cNvPr id="48" name="Isosceles Triangle 47"/>
          <p:cNvSpPr/>
          <p:nvPr/>
        </p:nvSpPr>
        <p:spPr>
          <a:xfrm rot="10800000">
            <a:off x="3316694" y="494411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92894" y="490728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2,0%</a:t>
            </a:r>
          </a:p>
        </p:txBody>
      </p:sp>
      <p:sp>
        <p:nvSpPr>
          <p:cNvPr id="50" name="Round Same Side Corner Rectangle 49"/>
          <p:cNvSpPr/>
          <p:nvPr/>
        </p:nvSpPr>
        <p:spPr>
          <a:xfrm>
            <a:off x="4197786" y="2359285"/>
            <a:ext cx="684555" cy="2395595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88003" y="2206885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135,56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88003" y="478028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2022</a:t>
            </a:r>
          </a:p>
        </p:txBody>
      </p:sp>
      <p:sp>
        <p:nvSpPr>
          <p:cNvPr id="53" name="Isosceles Triangle 52"/>
          <p:cNvSpPr/>
          <p:nvPr/>
        </p:nvSpPr>
        <p:spPr>
          <a:xfrm rot="10800000">
            <a:off x="4420815" y="494411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97015" y="490728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2,3%</a:t>
            </a:r>
          </a:p>
        </p:txBody>
      </p:sp>
      <p:sp>
        <p:nvSpPr>
          <p:cNvPr id="55" name="Round Same Side Corner Rectangle 54"/>
          <p:cNvSpPr/>
          <p:nvPr/>
        </p:nvSpPr>
        <p:spPr>
          <a:xfrm>
            <a:off x="5301907" y="2417815"/>
            <a:ext cx="684555" cy="2337065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92124" y="2265415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132,25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92124" y="478028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2023</a:t>
            </a:r>
          </a:p>
        </p:txBody>
      </p:sp>
      <p:sp>
        <p:nvSpPr>
          <p:cNvPr id="58" name="Isosceles Triangle 57"/>
          <p:cNvSpPr/>
          <p:nvPr/>
        </p:nvSpPr>
        <p:spPr>
          <a:xfrm rot="10800000">
            <a:off x="5524936" y="494411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01136" y="490728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2,4%</a:t>
            </a:r>
          </a:p>
        </p:txBody>
      </p:sp>
      <p:sp>
        <p:nvSpPr>
          <p:cNvPr id="60" name="Round Same Side Corner Rectangle 59"/>
          <p:cNvSpPr/>
          <p:nvPr/>
        </p:nvSpPr>
        <p:spPr>
          <a:xfrm>
            <a:off x="6406028" y="2483611"/>
            <a:ext cx="684555" cy="2271269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96245" y="2331211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128,52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96245" y="478028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2024</a:t>
            </a:r>
          </a:p>
        </p:txBody>
      </p:sp>
      <p:sp>
        <p:nvSpPr>
          <p:cNvPr id="63" name="Isosceles Triangle 62"/>
          <p:cNvSpPr/>
          <p:nvPr/>
        </p:nvSpPr>
        <p:spPr>
          <a:xfrm rot="10800000">
            <a:off x="6629057" y="494411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05257" y="490728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2,8%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75640" y="4754880"/>
            <a:ext cx="6624726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66" name="Rounded Rectangle 65"/>
          <p:cNvSpPr/>
          <p:nvPr/>
        </p:nvSpPr>
        <p:spPr>
          <a:xfrm>
            <a:off x="7564526" y="1282700"/>
            <a:ext cx="4078834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564526" y="128270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564526" y="151130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7564526" y="1282700"/>
            <a:ext cx="4078834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691526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1" name="Picture 70" descr="wilayah-FFFFFF-37dca1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8676" y="1422400"/>
            <a:ext cx="177800" cy="177800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10703481" y="142875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72526" y="1282700"/>
            <a:ext cx="250395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IRB 2024 per pulau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67116" y="1841500"/>
            <a:ext cx="160219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PULAU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569312" y="1855470"/>
            <a:ext cx="797382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IRB 2024</a:t>
            </a:r>
          </a:p>
        </p:txBody>
      </p:sp>
      <p:pic>
        <p:nvPicPr>
          <p:cNvPr id="76" name="Picture 75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0752" y="1890217"/>
            <a:ext cx="113386" cy="113386"/>
          </a:xfrm>
          <a:prstGeom prst="rect">
            <a:avLst/>
          </a:prstGeom>
        </p:spPr>
      </p:pic>
      <p:sp>
        <p:nvSpPr>
          <p:cNvPr id="77" name="Rounded Rectangle 76"/>
          <p:cNvSpPr/>
          <p:nvPr/>
        </p:nvSpPr>
        <p:spPr>
          <a:xfrm>
            <a:off x="10468294" y="1855470"/>
            <a:ext cx="946466" cy="182880"/>
          </a:xfrm>
          <a:prstGeom prst="roundRect">
            <a:avLst>
              <a:gd name="adj" fmla="val 50000"/>
            </a:avLst>
          </a:prstGeom>
          <a:solidFill>
            <a:srgbClr val="3F5F80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SEJAK 2019</a:t>
            </a:r>
          </a:p>
        </p:txBody>
      </p:sp>
      <p:pic>
        <p:nvPicPr>
          <p:cNvPr id="78" name="Picture 77" descr="kalender-FFFFFF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9734" y="1890217"/>
            <a:ext cx="113386" cy="113386"/>
          </a:xfrm>
          <a:prstGeom prst="rect">
            <a:avLst/>
          </a:prstGeom>
        </p:spPr>
      </p:pic>
      <p:cxnSp>
        <p:nvCxnSpPr>
          <p:cNvPr id="79" name="Connector 78"/>
          <p:cNvCxnSpPr/>
          <p:nvPr/>
        </p:nvCxnSpPr>
        <p:spPr>
          <a:xfrm>
            <a:off x="7691526" y="2052320"/>
            <a:ext cx="382483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80" name="Oval 79"/>
          <p:cNvSpPr/>
          <p:nvPr/>
        </p:nvSpPr>
        <p:spPr>
          <a:xfrm>
            <a:off x="7691526" y="20986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67116" y="2052320"/>
            <a:ext cx="155139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Maluku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69312" y="2052320"/>
            <a:ext cx="797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153,68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185664" y="2052320"/>
            <a:ext cx="22909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D9600B"/>
                </a:solidFill>
                <a:latin typeface="Roboto"/>
              </a:rPr>
              <a:t>0,2%</a:t>
            </a:r>
          </a:p>
        </p:txBody>
      </p:sp>
      <p:sp>
        <p:nvSpPr>
          <p:cNvPr id="84" name="Isosceles Triangle 83"/>
          <p:cNvSpPr/>
          <p:nvPr/>
        </p:nvSpPr>
        <p:spPr>
          <a:xfrm>
            <a:off x="11096764" y="2160270"/>
            <a:ext cx="63500" cy="5080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7691526" y="23190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6" name="Oval 85"/>
          <p:cNvSpPr/>
          <p:nvPr/>
        </p:nvSpPr>
        <p:spPr>
          <a:xfrm>
            <a:off x="7691526" y="23653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967116" y="2319020"/>
            <a:ext cx="155139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Sulawesi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569312" y="2319020"/>
            <a:ext cx="797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139,03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185664" y="2319020"/>
            <a:ext cx="22909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2F86D1"/>
                </a:solidFill>
                <a:latin typeface="Roboto"/>
              </a:rPr>
              <a:t>7,5%</a:t>
            </a:r>
          </a:p>
        </p:txBody>
      </p:sp>
      <p:sp>
        <p:nvSpPr>
          <p:cNvPr id="90" name="Isosceles Triangle 89"/>
          <p:cNvSpPr/>
          <p:nvPr/>
        </p:nvSpPr>
        <p:spPr>
          <a:xfrm rot="10800000">
            <a:off x="11096764" y="2426970"/>
            <a:ext cx="63500" cy="5080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7691526" y="25857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2" name="Oval 91"/>
          <p:cNvSpPr/>
          <p:nvPr/>
        </p:nvSpPr>
        <p:spPr>
          <a:xfrm>
            <a:off x="7691526" y="26320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67116" y="2585720"/>
            <a:ext cx="155139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Sumatra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569312" y="2585720"/>
            <a:ext cx="797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137,67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185664" y="2585720"/>
            <a:ext cx="22909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2F86D1"/>
                </a:solidFill>
                <a:latin typeface="Roboto"/>
              </a:rPr>
              <a:t>6,4%</a:t>
            </a:r>
          </a:p>
        </p:txBody>
      </p:sp>
      <p:sp>
        <p:nvSpPr>
          <p:cNvPr id="96" name="Isosceles Triangle 95"/>
          <p:cNvSpPr/>
          <p:nvPr/>
        </p:nvSpPr>
        <p:spPr>
          <a:xfrm rot="10800000">
            <a:off x="11096764" y="2693670"/>
            <a:ext cx="63500" cy="5080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7691526" y="28524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8" name="Oval 97"/>
          <p:cNvSpPr/>
          <p:nvPr/>
        </p:nvSpPr>
        <p:spPr>
          <a:xfrm>
            <a:off x="7691526" y="28987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967116" y="2852420"/>
            <a:ext cx="155139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Papua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69312" y="2852420"/>
            <a:ext cx="797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129,74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185664" y="2852420"/>
            <a:ext cx="22909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D9600B"/>
                </a:solidFill>
                <a:latin typeface="Roboto"/>
              </a:rPr>
              <a:t>1,1%</a:t>
            </a:r>
          </a:p>
        </p:txBody>
      </p:sp>
      <p:sp>
        <p:nvSpPr>
          <p:cNvPr id="102" name="Isosceles Triangle 101"/>
          <p:cNvSpPr/>
          <p:nvPr/>
        </p:nvSpPr>
        <p:spPr>
          <a:xfrm>
            <a:off x="11096764" y="2960370"/>
            <a:ext cx="63500" cy="5080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7691526" y="31191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4" name="Oval 103"/>
          <p:cNvSpPr/>
          <p:nvPr/>
        </p:nvSpPr>
        <p:spPr>
          <a:xfrm>
            <a:off x="7691526" y="31654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967116" y="3119120"/>
            <a:ext cx="155139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Kalimantan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569312" y="3119120"/>
            <a:ext cx="797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126,71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127373" y="3119120"/>
            <a:ext cx="2873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2F86D1"/>
                </a:solidFill>
                <a:latin typeface="Roboto"/>
              </a:rPr>
              <a:t>11,2%</a:t>
            </a:r>
          </a:p>
        </p:txBody>
      </p:sp>
      <p:sp>
        <p:nvSpPr>
          <p:cNvPr id="108" name="Isosceles Triangle 107"/>
          <p:cNvSpPr/>
          <p:nvPr/>
        </p:nvSpPr>
        <p:spPr>
          <a:xfrm rot="10800000">
            <a:off x="11038473" y="3227070"/>
            <a:ext cx="63500" cy="5080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7691526" y="33858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0" name="Oval 109"/>
          <p:cNvSpPr/>
          <p:nvPr/>
        </p:nvSpPr>
        <p:spPr>
          <a:xfrm>
            <a:off x="7691526" y="34321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967116" y="3385820"/>
            <a:ext cx="155139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Bali dan Nusa Tenggara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69312" y="3385820"/>
            <a:ext cx="797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122,89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185664" y="3385820"/>
            <a:ext cx="22909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2F86D1"/>
                </a:solidFill>
                <a:latin typeface="Roboto"/>
              </a:rPr>
              <a:t>9,9%</a:t>
            </a:r>
          </a:p>
        </p:txBody>
      </p:sp>
      <p:sp>
        <p:nvSpPr>
          <p:cNvPr id="114" name="Isosceles Triangle 113"/>
          <p:cNvSpPr/>
          <p:nvPr/>
        </p:nvSpPr>
        <p:spPr>
          <a:xfrm rot="10800000">
            <a:off x="11096764" y="3493770"/>
            <a:ext cx="63500" cy="5080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7691526" y="36525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6" name="Oval 115"/>
          <p:cNvSpPr/>
          <p:nvPr/>
        </p:nvSpPr>
        <p:spPr>
          <a:xfrm>
            <a:off x="7691526" y="36988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967116" y="3652520"/>
            <a:ext cx="155139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569312" y="3652520"/>
            <a:ext cx="797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107,46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127373" y="3652520"/>
            <a:ext cx="2873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2F86D1"/>
                </a:solidFill>
                <a:latin typeface="Roboto"/>
              </a:rPr>
              <a:t>24,9%</a:t>
            </a:r>
          </a:p>
        </p:txBody>
      </p:sp>
      <p:sp>
        <p:nvSpPr>
          <p:cNvPr id="120" name="Isosceles Triangle 119"/>
          <p:cNvSpPr/>
          <p:nvPr/>
        </p:nvSpPr>
        <p:spPr>
          <a:xfrm rot="10800000">
            <a:off x="11038473" y="3760470"/>
            <a:ext cx="63500" cy="5080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691526" y="4046220"/>
            <a:ext cx="3824834" cy="9880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Maluku dan Papua naik sejak 2019; lima pulau lain turun, Jawa paling cepat.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Urutan memakai IRB 2024, tahun terakhir yang sebanding dengan seri resmi.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InaRISK BNPB, IRBI 2019–2024; diolah Pantau Bencana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051C2C"/>
                </a:solidFill>
                <a:latin typeface="Roboto"/>
              </a:rPr>
              <a:t>168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kab/kota berkelas risiko Tinggi pada 2023,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terbanyak di</a:t>
            </a:r>
            <a:r>
              <a:rPr sz="2200" b="1" lang="id-ID">
                <a:solidFill>
                  <a:srgbClr val="00499D"/>
                </a:solidFill>
                <a:latin typeface="Roboto"/>
              </a:rPr>
              <a:t> Sumatra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dengan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62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dari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154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kab/kota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337310"/>
            <a:ext cx="1868684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KELAS RISIKO KAB/KOTA 2023</a:t>
            </a:r>
          </a:p>
        </p:txBody>
      </p:sp>
      <p:pic>
        <p:nvPicPr>
          <p:cNvPr id="12" name="Picture 11" descr="wilayah-FFFFFF-37dca1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wilayah-051C2C-37dca1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514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dinilai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peringatan-8F3F07-6a80b7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8F3F07"/>
                </a:solidFill>
                <a:latin typeface="Roboto"/>
              </a:rPr>
              <a:t>168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kelas Tinggi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5830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9078" y="1337310"/>
            <a:ext cx="2347339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PEMBANDING 2015, ASUMSI KEBIJAKAN</a:t>
            </a:r>
          </a:p>
        </p:txBody>
      </p:sp>
      <p:pic>
        <p:nvPicPr>
          <p:cNvPr id="26" name="Picture 25" descr="data-FFFFFF-608a1e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peringatan-8F3F07-6a80b7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8F3F07"/>
                </a:solidFill>
                <a:latin typeface="Roboto"/>
              </a:rPr>
              <a:t>324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kelas Tinggi 2015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wilayah-051C2C-37dca1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498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dinilai 2015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720753" y="134620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pic>
        <p:nvPicPr>
          <p:cNvPr id="38" name="Picture 37" descr="peta-irbi-20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2752130"/>
            <a:ext cx="6741566" cy="2532301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846949" y="5360630"/>
            <a:ext cx="97976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>
                <a:solidFill>
                  <a:srgbClr val="1A1A1A"/>
                </a:solidFill>
                <a:latin typeface="Roboto"/>
              </a:rPr>
              <a:t>Kelas IRBI BNPB 2023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53709" y="5398730"/>
            <a:ext cx="101600" cy="101600"/>
          </a:xfrm>
          <a:prstGeom prst="rect">
            <a:avLst/>
          </a:prstGeom>
          <a:solidFill>
            <a:srgbClr val="8F3F07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06109" y="5360630"/>
            <a:ext cx="287896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Tinggi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21005" y="5398730"/>
            <a:ext cx="101600" cy="101600"/>
          </a:xfrm>
          <a:prstGeom prst="rect">
            <a:avLst/>
          </a:prstGeom>
          <a:solidFill>
            <a:srgbClr val="E8894A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3405" y="5360630"/>
            <a:ext cx="343892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Sedang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95594" y="536698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538430"/>
            <a:ext cx="6741566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Sumber batas: olahan Pantau Bencana; WGS84; batas wilayah ilustratif dan tidak resmi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9819" y="3953456"/>
            <a:ext cx="55269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Sumatra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01533" y="3087409"/>
            <a:ext cx="682972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Kalimantan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617819" y="4882811"/>
            <a:ext cx="405457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Jawa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029888" y="3284929"/>
            <a:ext cx="57457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Sulawesi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880803" y="5098056"/>
            <a:ext cx="125477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Bali dan Nusa Tenggara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218241" y="4226945"/>
            <a:ext cx="50348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Maluku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52157" y="4999296"/>
            <a:ext cx="45362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Papua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427366" y="2346960"/>
            <a:ext cx="421599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27366" y="2575560"/>
            <a:ext cx="421599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5436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wilayah-FFFFFF-37dca1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516" y="2486660"/>
            <a:ext cx="177800" cy="177800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10703481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35366" y="2346960"/>
            <a:ext cx="2641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Kab/kota kelas Tinggi per pulau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29956" y="2905760"/>
            <a:ext cx="188521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PULAU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745269" y="2919730"/>
            <a:ext cx="701423" cy="182880"/>
          </a:xfrm>
          <a:prstGeom prst="roundRect">
            <a:avLst>
              <a:gd name="adj" fmla="val 50000"/>
            </a:avLst>
          </a:prstGeom>
          <a:solidFill>
            <a:srgbClr val="8F3F07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TINGGI</a:t>
            </a:r>
          </a:p>
        </p:txBody>
      </p:sp>
      <p:pic>
        <p:nvPicPr>
          <p:cNvPr id="63" name="Picture 62" descr="peringatan-FFFFFF-6a80b7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36709" y="2954477"/>
            <a:ext cx="113386" cy="113386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10548292" y="2919730"/>
            <a:ext cx="866468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KAB/KOTA</a:t>
            </a:r>
          </a:p>
        </p:txBody>
      </p:sp>
      <p:pic>
        <p:nvPicPr>
          <p:cNvPr id="65" name="Picture 64" descr="wilayah-FFFFFF-37dca1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732" y="2954477"/>
            <a:ext cx="113386" cy="113386"/>
          </a:xfrm>
          <a:prstGeom prst="rect">
            <a:avLst/>
          </a:prstGeom>
        </p:spPr>
      </p:pic>
      <p:cxnSp>
        <p:nvCxnSpPr>
          <p:cNvPr id="66" name="Connector 65"/>
          <p:cNvCxnSpPr/>
          <p:nvPr/>
        </p:nvCxnSpPr>
        <p:spPr>
          <a:xfrm>
            <a:off x="7554366" y="3116580"/>
            <a:ext cx="396199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7" name="Oval 66"/>
          <p:cNvSpPr/>
          <p:nvPr/>
        </p:nvSpPr>
        <p:spPr>
          <a:xfrm>
            <a:off x="7554366" y="31629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29956" y="31165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Sumatra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15172" y="31165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48292" y="31165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154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554366" y="33832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2" name="Oval 71"/>
          <p:cNvSpPr/>
          <p:nvPr/>
        </p:nvSpPr>
        <p:spPr>
          <a:xfrm>
            <a:off x="7554366" y="34296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29956" y="33832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Sulawesi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15172" y="3383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48292" y="33832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81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554366" y="36499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7" name="Oval 76"/>
          <p:cNvSpPr/>
          <p:nvPr/>
        </p:nvSpPr>
        <p:spPr>
          <a:xfrm>
            <a:off x="7554366" y="36963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29956" y="36499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Kalimantan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15172" y="36499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48292" y="36499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56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554366" y="39166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2" name="Oval 81"/>
          <p:cNvSpPr/>
          <p:nvPr/>
        </p:nvSpPr>
        <p:spPr>
          <a:xfrm>
            <a:off x="7554366" y="39630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29956" y="39166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15172" y="39166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48292" y="39166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119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7554366" y="41833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7" name="Oval 86"/>
          <p:cNvSpPr/>
          <p:nvPr/>
        </p:nvSpPr>
        <p:spPr>
          <a:xfrm>
            <a:off x="7554366" y="42297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29956" y="41833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Maluku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715172" y="41833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548292" y="41833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21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554366" y="44500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2" name="Oval 91"/>
          <p:cNvSpPr/>
          <p:nvPr/>
        </p:nvSpPr>
        <p:spPr>
          <a:xfrm>
            <a:off x="7554366" y="44964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829956" y="44500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Papua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715172" y="44500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548292" y="44500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42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7554366" y="47167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7" name="Oval 96"/>
          <p:cNvSpPr/>
          <p:nvPr/>
        </p:nvSpPr>
        <p:spPr>
          <a:xfrm>
            <a:off x="7554366" y="47631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829956" y="47167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Bali dan Nusa Tenggara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715172" y="47167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548292" y="47167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41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554366" y="5034280"/>
            <a:ext cx="3961994" cy="266700"/>
          </a:xfrm>
          <a:prstGeom prst="roundRect">
            <a:avLst>
              <a:gd name="adj" fmla="val 14285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829956" y="5034280"/>
            <a:ext cx="18852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FFFFFF"/>
                </a:solidFill>
                <a:latin typeface="Roboto"/>
              </a:rPr>
              <a:t>Jumlah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715172" y="5034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FFFFFF"/>
                </a:solidFill>
                <a:latin typeface="Roboto"/>
              </a:rPr>
              <a:t>168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548292" y="50342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FFFFFF"/>
                </a:solidFill>
                <a:latin typeface="Roboto"/>
              </a:rPr>
              <a:t>514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InaRISK BNPB, IRBI 2015, 2023; Renas PB 2025–2029; diolah Pantau Bencana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 lang="id-ID">
                <a:solidFill>
                  <a:srgbClr val="1A1A1A"/>
                </a:solidFill>
                <a:latin typeface="Roboto"/>
              </a:rPr>
              <a:t>Korban jiwa bencana alam terbesar sejak 2008:</a:t>
            </a:r>
            <a:r>
              <a:rPr sz="2000" b="1" lang="id-ID">
                <a:solidFill>
                  <a:srgbClr val="00499D"/>
                </a:solidFill>
                <a:latin typeface="Roboto"/>
              </a:rPr>
              <a:t> Sulawesi Tengah</a:t>
            </a:r>
            <a:br/>
            <a:r>
              <a:rPr sz="2000" b="1" lang="id-ID">
                <a:solidFill>
                  <a:srgbClr val="1A1A1A"/>
                </a:solidFill>
                <a:latin typeface="Roboto"/>
              </a:rPr>
              <a:t>2018,</a:t>
            </a:r>
            <a:r>
              <a:rPr sz="2000" b="1" lang="id-ID">
                <a:solidFill>
                  <a:srgbClr val="D9600B"/>
                </a:solidFill>
                <a:latin typeface="Roboto"/>
              </a:rPr>
              <a:t> 4.140</a:t>
            </a:r>
            <a:r>
              <a:rPr sz="2000" b="1" lang="id-ID">
                <a:solidFill>
                  <a:srgbClr val="1A1A1A"/>
                </a:solidFill>
                <a:latin typeface="Roboto"/>
              </a:rPr>
              <a:t> jiwa; disusul banjir dan longsor</a:t>
            </a:r>
            <a:r>
              <a:rPr sz="2000" b="1" lang="id-ID">
                <a:solidFill>
                  <a:srgbClr val="00499D"/>
                </a:solidFill>
                <a:latin typeface="Roboto"/>
              </a:rPr>
              <a:t> Sumatra</a:t>
            </a:r>
            <a:r>
              <a:rPr sz="2000" b="1" lang="id-ID">
                <a:solidFill>
                  <a:srgbClr val="1A1A1A"/>
                </a:solidFill>
                <a:latin typeface="Roboto"/>
              </a:rPr>
              <a:t> 2025,</a:t>
            </a:r>
            <a:r>
              <a:rPr sz="2000" b="1" lang="id-ID">
                <a:solidFill>
                  <a:srgbClr val="D9600B"/>
                </a:solidFill>
                <a:latin typeface="Roboto"/>
              </a:rPr>
              <a:t> 1.202</a:t>
            </a:r>
            <a:r>
              <a:rPr sz="2000" b="1" lang="id-ID">
                <a:solidFill>
                  <a:srgbClr val="1A1A1A"/>
                </a:solidFill>
                <a:latin typeface="Roboto"/>
              </a:rPr>
              <a:t> jiwa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CATATAN DATA</a:t>
            </a:r>
          </a:p>
        </p:txBody>
      </p:sp>
      <p:sp>
        <p:nvSpPr>
          <p:cNvPr id="12" name="Oval 11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kalender-FFFFFF-a840cf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Patahan seri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Sejak 2024 laporan di bawah ambang Juklak BNPB dikeluarkan dan nonalam mulai tercatat.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wilayah-FFFFFF-37dca1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Jendela kejadian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Rentang tanggal dan wilayah tiap kejadian besar dipilih penyusun; angka bergeser bila jendela diubah.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data-FFFFFF-608a1e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Sebelum 2008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Aceh 2004, Nias 2005, dan Yogyakarta 2006 tidak tersedia di dasbor publik DIBI.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1282700"/>
            <a:ext cx="6878726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128270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F8DD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1511300"/>
            <a:ext cx="6878726" cy="228600"/>
          </a:xfrm>
          <a:prstGeom prst="rect">
            <a:avLst/>
          </a:prstGeom>
          <a:solidFill>
            <a:srgbClr val="F8DD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1282700"/>
            <a:ext cx="6878726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peringatan-FFFFFF-6a80b7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6905754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640" y="128270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Kejadian besar menurut korban meninggal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1230" y="1841500"/>
            <a:ext cx="265138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KEJADIAN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2611" y="1841500"/>
            <a:ext cx="265138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TAHUN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53991" y="1855470"/>
            <a:ext cx="944775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MENINGGAL</a:t>
            </a:r>
          </a:p>
        </p:txBody>
      </p:sp>
      <p:pic>
        <p:nvPicPr>
          <p:cNvPr id="37" name="Picture 36" descr="peringatan-FFFFFF-6a80b7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431" y="1890217"/>
            <a:ext cx="113386" cy="113386"/>
          </a:xfrm>
          <a:prstGeom prst="rect">
            <a:avLst/>
          </a:prstGeom>
        </p:spPr>
      </p:pic>
      <p:cxnSp>
        <p:nvCxnSpPr>
          <p:cNvPr id="38" name="Connector 37"/>
          <p:cNvCxnSpPr/>
          <p:nvPr/>
        </p:nvCxnSpPr>
        <p:spPr>
          <a:xfrm>
            <a:off x="675640" y="205232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39" name="Oval 38"/>
          <p:cNvSpPr/>
          <p:nvPr/>
        </p:nvSpPr>
        <p:spPr>
          <a:xfrm>
            <a:off x="675640" y="20986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1230" y="20523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Gempa dan tsunami Sulawesi Tengah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02611" y="20523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53991" y="20523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4.140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75640" y="23190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4" name="Oval 43"/>
          <p:cNvSpPr/>
          <p:nvPr/>
        </p:nvSpPr>
        <p:spPr>
          <a:xfrm>
            <a:off x="675640" y="23653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1230" y="23190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Banjir dan longsor Sumatra (Aceh, Sumut, Sumbar)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02611" y="23190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53991" y="23190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1.202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75640" y="25857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9" name="Oval 48"/>
          <p:cNvSpPr/>
          <p:nvPr/>
        </p:nvSpPr>
        <p:spPr>
          <a:xfrm>
            <a:off x="675640" y="26320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1230" y="25857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Gempa Sumatera Barat (Padang Pariaman)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02611" y="25857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53991" y="25857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1.195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75640" y="28524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4" name="Oval 53"/>
          <p:cNvSpPr/>
          <p:nvPr/>
        </p:nvSpPr>
        <p:spPr>
          <a:xfrm>
            <a:off x="675640" y="28987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1230" y="28524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Gempa Cianjur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02611" y="28524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53991" y="28524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602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75640" y="31191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9" name="Oval 58"/>
          <p:cNvSpPr/>
          <p:nvPr/>
        </p:nvSpPr>
        <p:spPr>
          <a:xfrm>
            <a:off x="675640" y="31654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1230" y="31191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Gempa Lombok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02611" y="31191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53991" y="31191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569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75640" y="33858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4" name="Oval 63"/>
          <p:cNvSpPr/>
          <p:nvPr/>
        </p:nvSpPr>
        <p:spPr>
          <a:xfrm>
            <a:off x="675640" y="34321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1230" y="33858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Gempa dan tsunami Mentawai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02611" y="33858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53991" y="33858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447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75640" y="36525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9" name="Oval 68"/>
          <p:cNvSpPr/>
          <p:nvPr/>
        </p:nvSpPr>
        <p:spPr>
          <a:xfrm>
            <a:off x="675640" y="36988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1230" y="36525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Tsunami Selat Sunda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02611" y="36525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53991" y="36525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437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75640" y="39192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4" name="Oval 73"/>
          <p:cNvSpPr/>
          <p:nvPr/>
        </p:nvSpPr>
        <p:spPr>
          <a:xfrm>
            <a:off x="675640" y="39655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1230" y="39192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Erupsi Merapi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02611" y="3919220"/>
            <a:ext cx="26005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53991" y="39192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386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564526" y="1282700"/>
            <a:ext cx="4078834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564526" y="128270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64526" y="151130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7564526" y="1282700"/>
            <a:ext cx="4078834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691526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3" name="Picture 82" descr="kalender-FFFFFF-a840cf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8676" y="1422400"/>
            <a:ext cx="177800" cy="177800"/>
          </a:xfrm>
          <a:prstGeom prst="rect">
            <a:avLst/>
          </a:prstGeom>
        </p:spPr>
      </p:pic>
      <p:sp>
        <p:nvSpPr>
          <p:cNvPr id="84" name="Rounded Rectangle 83"/>
          <p:cNvSpPr/>
          <p:nvPr/>
        </p:nvSpPr>
        <p:spPr>
          <a:xfrm>
            <a:off x="11121747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72526" y="1282700"/>
            <a:ext cx="2922221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Rekap DIBI per tahun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91526" y="1841500"/>
            <a:ext cx="182606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TAHUN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517592" y="1855470"/>
            <a:ext cx="850793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KEJADIAN</a:t>
            </a:r>
          </a:p>
        </p:txBody>
      </p:sp>
      <p:pic>
        <p:nvPicPr>
          <p:cNvPr id="88" name="Picture 87" descr="kalender-FFFFFF-a840cf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032" y="1890217"/>
            <a:ext cx="113386" cy="113386"/>
          </a:xfrm>
          <a:prstGeom prst="rect">
            <a:avLst/>
          </a:prstGeom>
        </p:spPr>
      </p:pic>
      <p:sp>
        <p:nvSpPr>
          <p:cNvPr id="89" name="Rounded Rectangle 88"/>
          <p:cNvSpPr/>
          <p:nvPr/>
        </p:nvSpPr>
        <p:spPr>
          <a:xfrm>
            <a:off x="10469985" y="1855470"/>
            <a:ext cx="944775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MENINGGAL</a:t>
            </a:r>
          </a:p>
        </p:txBody>
      </p:sp>
      <p:pic>
        <p:nvPicPr>
          <p:cNvPr id="90" name="Picture 89" descr="peringatan-FFFFFF-6a80b7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1425" y="1890217"/>
            <a:ext cx="113386" cy="113386"/>
          </a:xfrm>
          <a:prstGeom prst="rect">
            <a:avLst/>
          </a:prstGeom>
        </p:spPr>
      </p:pic>
      <p:cxnSp>
        <p:nvCxnSpPr>
          <p:cNvPr id="91" name="Connector 90"/>
          <p:cNvCxnSpPr/>
          <p:nvPr/>
        </p:nvCxnSpPr>
        <p:spPr>
          <a:xfrm>
            <a:off x="7691526" y="2052320"/>
            <a:ext cx="382483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92" name="TextBox 91"/>
          <p:cNvSpPr txBox="1"/>
          <p:nvPr/>
        </p:nvSpPr>
        <p:spPr>
          <a:xfrm>
            <a:off x="7691526" y="2052320"/>
            <a:ext cx="17752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2026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517592" y="205232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2.299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469985" y="20523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548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7691526" y="23190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6" name="TextBox 95"/>
          <p:cNvSpPr txBox="1"/>
          <p:nvPr/>
        </p:nvSpPr>
        <p:spPr>
          <a:xfrm>
            <a:off x="7691526" y="2319020"/>
            <a:ext cx="17752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2025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517592" y="231902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5.440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469985" y="23190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2.030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7691526" y="25857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0" name="TextBox 99"/>
          <p:cNvSpPr txBox="1"/>
          <p:nvPr/>
        </p:nvSpPr>
        <p:spPr>
          <a:xfrm>
            <a:off x="7691526" y="2585720"/>
            <a:ext cx="17752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2024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517592" y="258572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3.548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469985" y="25857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579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7691526" y="28524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4" name="TextBox 103"/>
          <p:cNvSpPr txBox="1"/>
          <p:nvPr/>
        </p:nvSpPr>
        <p:spPr>
          <a:xfrm>
            <a:off x="7691526" y="2852420"/>
            <a:ext cx="17752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2023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517592" y="285242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5.400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469985" y="28524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275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7691526" y="31191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8" name="TextBox 107"/>
          <p:cNvSpPr txBox="1"/>
          <p:nvPr/>
        </p:nvSpPr>
        <p:spPr>
          <a:xfrm>
            <a:off x="7691526" y="3119120"/>
            <a:ext cx="17752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2022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517592" y="311912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3.544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469985" y="31191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858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7691526" y="33858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2" name="TextBox 111"/>
          <p:cNvSpPr txBox="1"/>
          <p:nvPr/>
        </p:nvSpPr>
        <p:spPr>
          <a:xfrm>
            <a:off x="7691526" y="3385820"/>
            <a:ext cx="17752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2021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517592" y="338582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5.402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469985" y="33858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728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91526" y="3779520"/>
            <a:ext cx="3824834" cy="1254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Data 2026 masih sementara.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BNPB, kejadian Sulawesi Tengah 2018, banjir dan longsor Sumatra 2025, rekap nasional tahunan; DIBI BNPB 2008–2026, kejadian besar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Nonalam dan sosial belum punya skenario resmi; analog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pandemi COVID mencatat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161.870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kematian resmi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8057007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337310"/>
            <a:ext cx="847874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NONALAM</a:t>
            </a:r>
          </a:p>
        </p:txBody>
      </p:sp>
      <p:pic>
        <p:nvPicPr>
          <p:cNvPr id="12" name="Picture 11" descr="peringatan-FFFFFF-6a80b7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F8DD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pandemi-C8102E-cf29e88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C8102E"/>
                </a:solidFill>
                <a:latin typeface="Roboto"/>
              </a:rPr>
              <a:t>161.870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kematian resmi pandemi COVID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F8DD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kebakaran-tpa-C8102E-e8abd5c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C8102E"/>
                </a:solidFill>
                <a:latin typeface="Roboto"/>
              </a:rP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TPA terbakar serentak 2023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4362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582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kebakaran-tpa-051C2C-e8abd5c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9782" y="1758950"/>
            <a:ext cx="177800" cy="177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56172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369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6172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TPA masih pembuangan terbuka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306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72347" y="1282700"/>
            <a:ext cx="2771013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82075" y="1337310"/>
            <a:ext cx="714479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SOSIAL</a:t>
            </a:r>
          </a:p>
        </p:txBody>
      </p:sp>
      <p:pic>
        <p:nvPicPr>
          <p:cNvPr id="31" name="Picture 30" descr="lembaga-FFFFFF-f44193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3515" y="1372057"/>
            <a:ext cx="113386" cy="113386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konflik-sosial-051C2C-d761add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2.031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desa dengan perkelahian massal 2024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SKALA ANALOG NONALAM DAN SOSIAL</a:t>
            </a:r>
          </a:p>
        </p:txBody>
      </p:sp>
      <p:sp>
        <p:nvSpPr>
          <p:cNvPr id="40" name="Oval 39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pandemi-FFFFFF-cf29e88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Pandemi COVID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6.811.945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kasus kumulatif sampai Juni 2023, dengan kematian terlapor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121.956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jiwa pada 2021.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5" name="Oval 44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peringatan-FFFFFF-6a80b7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Kilang dan depo BBM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Balongan 2021: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932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jiwa mengungsi; Plumpang 2023: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1.085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jiwa mengungsi.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50" name="Oval 49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1" name="Picture 50" descr="konflik-sosial-FFFFFF-d761add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Konflik sosial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Poso sekitar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1.000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dan Sampit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500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meninggal; pengungsi Maluku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700.000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9" name="Picture 58" descr="pandemi-FFFFFF-cf29e88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6674177" y="2493010"/>
            <a:ext cx="6261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Terverifikasi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6640" y="2346960"/>
            <a:ext cx="549053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Kematian pandemi COVID terlapor per tahun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5640" y="2905760"/>
            <a:ext cx="3974836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lang="id-ID">
                <a:solidFill>
                  <a:srgbClr val="1A1A1A"/>
                </a:solidFill>
                <a:latin typeface="Roboto"/>
              </a:rPr>
              <a:t>Kematian terlapor</a:t>
            </a:r>
            <a:r>
              <a:rPr sz="1000" b="0" lang="id-ID">
                <a:solidFill>
                  <a:srgbClr val="1A1A1A"/>
                </a:solidFill>
                <a:latin typeface="Roboto"/>
              </a:rPr>
              <a:t>, jiwa, 2020–2025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12359" y="2905760"/>
            <a:ext cx="688008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 lang="id-ID">
                <a:solidFill>
                  <a:srgbClr val="2F86D1"/>
                </a:solidFill>
                <a:latin typeface="Roboto"/>
              </a:rPr>
              <a:t>turun 100,0%</a:t>
            </a:r>
          </a:p>
        </p:txBody>
      </p:sp>
      <p:sp>
        <p:nvSpPr>
          <p:cNvPr id="64" name="Isosceles Triangle 63"/>
          <p:cNvSpPr/>
          <p:nvPr/>
        </p:nvSpPr>
        <p:spPr>
          <a:xfrm rot="10800000">
            <a:off x="6498059" y="2976880"/>
            <a:ext cx="76200" cy="6096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ound Same Side Corner Rectangle 64"/>
          <p:cNvSpPr/>
          <p:nvPr/>
        </p:nvSpPr>
        <p:spPr>
          <a:xfrm>
            <a:off x="885423" y="4498825"/>
            <a:ext cx="684555" cy="25605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CE1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5640" y="4346425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21.237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5640" y="478028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2020</a:t>
            </a:r>
          </a:p>
        </p:txBody>
      </p:sp>
      <p:sp>
        <p:nvSpPr>
          <p:cNvPr id="68" name="Round Same Side Corner Rectangle 67"/>
          <p:cNvSpPr/>
          <p:nvPr/>
        </p:nvSpPr>
        <p:spPr>
          <a:xfrm>
            <a:off x="1989544" y="3274060"/>
            <a:ext cx="684555" cy="148082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779761" y="3121660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122.818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79761" y="478028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2021</a:t>
            </a:r>
          </a:p>
        </p:txBody>
      </p:sp>
      <p:sp>
        <p:nvSpPr>
          <p:cNvPr id="71" name="Isosceles Triangle 70"/>
          <p:cNvSpPr/>
          <p:nvPr/>
        </p:nvSpPr>
        <p:spPr>
          <a:xfrm>
            <a:off x="2168855" y="4944110"/>
            <a:ext cx="50800" cy="4064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45055" y="4907280"/>
            <a:ext cx="275134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D9600B"/>
                </a:solidFill>
                <a:latin typeface="Roboto"/>
              </a:rPr>
              <a:t>478,3%</a:t>
            </a:r>
          </a:p>
        </p:txBody>
      </p:sp>
      <p:sp>
        <p:nvSpPr>
          <p:cNvPr id="73" name="Round Same Side Corner Rectangle 72"/>
          <p:cNvSpPr/>
          <p:nvPr/>
        </p:nvSpPr>
        <p:spPr>
          <a:xfrm>
            <a:off x="3093665" y="4556156"/>
            <a:ext cx="684555" cy="19872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883882" y="4403756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16.482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83882" y="478028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2022</a:t>
            </a:r>
          </a:p>
        </p:txBody>
      </p:sp>
      <p:sp>
        <p:nvSpPr>
          <p:cNvPr id="76" name="Isosceles Triangle 75"/>
          <p:cNvSpPr/>
          <p:nvPr/>
        </p:nvSpPr>
        <p:spPr>
          <a:xfrm rot="10800000">
            <a:off x="3294835" y="494411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371035" y="490728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86,6%</a:t>
            </a:r>
          </a:p>
        </p:txBody>
      </p:sp>
      <p:sp>
        <p:nvSpPr>
          <p:cNvPr id="78" name="Round Same Side Corner Rectangle 77"/>
          <p:cNvSpPr/>
          <p:nvPr/>
        </p:nvSpPr>
        <p:spPr>
          <a:xfrm>
            <a:off x="4197786" y="4737578"/>
            <a:ext cx="684555" cy="1730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988003" y="4585178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1.435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988003" y="478028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2023</a:t>
            </a:r>
          </a:p>
        </p:txBody>
      </p:sp>
      <p:sp>
        <p:nvSpPr>
          <p:cNvPr id="81" name="Isosceles Triangle 80"/>
          <p:cNvSpPr/>
          <p:nvPr/>
        </p:nvSpPr>
        <p:spPr>
          <a:xfrm rot="10800000">
            <a:off x="4398956" y="494411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475156" y="490728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91,3%</a:t>
            </a:r>
          </a:p>
        </p:txBody>
      </p:sp>
      <p:sp>
        <p:nvSpPr>
          <p:cNvPr id="83" name="Round Same Side Corner Rectangle 82"/>
          <p:cNvSpPr/>
          <p:nvPr/>
        </p:nvSpPr>
        <p:spPr>
          <a:xfrm>
            <a:off x="5301907" y="4748530"/>
            <a:ext cx="684555" cy="635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92124" y="4596130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87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92124" y="478028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2024</a:t>
            </a:r>
          </a:p>
        </p:txBody>
      </p:sp>
      <p:sp>
        <p:nvSpPr>
          <p:cNvPr id="86" name="Isosceles Triangle 85"/>
          <p:cNvSpPr/>
          <p:nvPr/>
        </p:nvSpPr>
        <p:spPr>
          <a:xfrm rot="10800000">
            <a:off x="5503077" y="494411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579277" y="490728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93,9%</a:t>
            </a:r>
          </a:p>
        </p:txBody>
      </p:sp>
      <p:sp>
        <p:nvSpPr>
          <p:cNvPr id="88" name="Round Same Side Corner Rectangle 87"/>
          <p:cNvSpPr/>
          <p:nvPr/>
        </p:nvSpPr>
        <p:spPr>
          <a:xfrm>
            <a:off x="6406028" y="4748530"/>
            <a:ext cx="684555" cy="635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96245" y="4596130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96245" y="478028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2025</a:t>
            </a:r>
          </a:p>
        </p:txBody>
      </p:sp>
      <p:sp>
        <p:nvSpPr>
          <p:cNvPr id="91" name="Isosceles Triangle 90"/>
          <p:cNvSpPr/>
          <p:nvPr/>
        </p:nvSpPr>
        <p:spPr>
          <a:xfrm rot="10800000">
            <a:off x="6585339" y="494411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661539" y="4907280"/>
            <a:ext cx="275134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100,0%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675640" y="4754880"/>
            <a:ext cx="6624726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94" name="Rounded Rectangle 93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9" name="Picture 98" descr="ringkasan-FFFFFF-28e5662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Analog terburuk tercatat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691526" y="2905760"/>
            <a:ext cx="3824834" cy="2128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Pandemi: WHO memperkirakan kematian berlebih pandemi COVID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810.000–1.300.000 jiwa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, jauh di atas angka resmi.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Gagal teknologi: kebakaran depo BBM Plumpang 2023,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17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meninggal pada data hari kedua (Kepala BNPB) dan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29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pada data BPBD DKI (sekunder).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Kebakaran TPA: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16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TPA terbakar serentak pada 2023;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369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dari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485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TPA masih pembuangan terbuka pada 2026.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Konflik: berdasarkan data DIBI, terdapat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1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meninggal pada kerusuhan akhir Agustus 2025; Komnas HAM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11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(sekunder).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Pada puncak pandemi terdapat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12.444 jiwa per minggu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, dan status bencana nasional berlaku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1.165 hari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Sampai Januari 2026,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273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TPA dikenai sanksi pemerintah karena pembuangan terbuka.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Kemenkes dikutip Renstra BNPB 2025–2029; WHO; Setkab; BPBD DKI; KLH/BPLH; BNPB; BPS Podes 2024; DIBI BNPB; Komnas HAM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100" b="1" lang="id-ID">
                <a:solidFill>
                  <a:srgbClr val="1A1A1A"/>
                </a:solidFill>
                <a:latin typeface="Roboto"/>
              </a:rPr>
              <a:t>Analog La Niña 2020/2021: korban jiwa</a:t>
            </a:r>
            <a:r>
              <a:rPr sz="2100" b="1" lang="id-ID">
                <a:solidFill>
                  <a:srgbClr val="D9600B"/>
                </a:solidFill>
                <a:latin typeface="Roboto"/>
              </a:rPr>
              <a:t> 520–1.200</a:t>
            </a:r>
            <a:r>
              <a:rPr sz="2100" b="1" lang="id-ID">
                <a:solidFill>
                  <a:srgbClr val="1A1A1A"/>
                </a:solidFill>
                <a:latin typeface="Roboto"/>
              </a:rPr>
              <a:t> jiwa, di bawah</a:t>
            </a:r>
            <a:br/>
            <a:r>
              <a:rPr sz="2100" b="1" lang="id-ID">
                <a:solidFill>
                  <a:srgbClr val="D9600B"/>
                </a:solidFill>
                <a:latin typeface="Roboto"/>
              </a:rPr>
              <a:t>1.506</a:t>
            </a:r>
            <a:r>
              <a:rPr sz="2100" b="1" lang="id-ID">
                <a:solidFill>
                  <a:srgbClr val="1A1A1A"/>
                </a:solidFill>
                <a:latin typeface="Roboto"/>
              </a:rPr>
              <a:t> meninggal pada musim 2025/2026 yang bukan La Niña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banjir-FFFFFF-364735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150594" y="1428750"/>
            <a:ext cx="136576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Estimasi model, belum diuji balik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640" y="1282700"/>
            <a:ext cx="896695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Hidrometeorologi basah: </a:t>
            </a:r>
            <a:r>
              <a:rPr sz="1100" b="1" lang="id-ID">
                <a:solidFill>
                  <a:srgbClr val="1A1A1A"/>
                </a:solidFill>
                <a:latin typeface="Roboto"/>
              </a:rPr>
              <a:t>banjir, longsor, cuaca ekstrem; analog La Niña 2020/2021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640" y="1866900"/>
            <a:ext cx="5769254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KERUSAKAN DAN KORBAN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5640" y="20447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75640" y="20447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jiwa, semua jenis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0267" y="20447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520–1.200 jiwa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52128" y="2133600"/>
            <a:ext cx="136576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Estimasi model, belum diuji balik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75640" y="23876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75640" y="23876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jiwa dari longsor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0267" y="23876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250–550 jiwa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52128" y="2476500"/>
            <a:ext cx="136576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Estimasi model, belum diuji balik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75640" y="27305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675640" y="27305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Pembanding: meninggal 2025/2026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0267" y="27305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1.506 jiwa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23282" y="28194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75640" y="30734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75640" y="30734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Terdampak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0267" y="30734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5,2 juta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 jiwa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23282" y="31623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75640" y="34163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675640" y="34163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Pengungsi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0267" y="34163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508.914 jiwa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23282" y="3505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5640" y="37592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675640" y="37592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Rumah rusak berat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0267" y="37592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13.675 unit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23282" y="38481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75640" y="41021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675640" y="41021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Kerugian materiil, batas bawah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0267" y="41021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Rp1,8–2,5 triliun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505015" y="419100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444894" y="1866900"/>
            <a:ext cx="0" cy="314579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6571894" y="18669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KEMUNGKINAN DALAM LIMA TAHUN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67873" y="1860550"/>
            <a:ext cx="1548487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kebijakan, hitungan penyusun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7189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7189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1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&lt; 0,2%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68408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68408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2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0,2–1%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64921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64921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3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1–5%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6143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6143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4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5–25%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557947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57947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FFFFFF"/>
                </a:solidFill>
                <a:latin typeface="Roboto"/>
              </a:rPr>
              <a:t>5</a:t>
            </a:r>
          </a:p>
          <a:p>
            <a:pPr algn="ctr"/>
            <a:r>
              <a:rPr sz="650" b="0" lang="id-ID">
                <a:solidFill>
                  <a:srgbClr val="FFFFFF"/>
                </a:solidFill>
                <a:latin typeface="Roboto"/>
              </a:rPr>
              <a:t>&gt; 25%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71894" y="25781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ANGKA KEBIJAKAN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703481" y="257175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71894" y="27559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Cakupan peringatan dini </a:t>
            </a:r>
            <a:r>
              <a:rPr sz="750" b="1" lang="id-ID">
                <a:solidFill>
                  <a:srgbClr val="2E3440"/>
                </a:solidFill>
                <a:latin typeface="Roboto"/>
              </a:rPr>
              <a:t>11,1%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321331" y="2794000"/>
            <a:ext cx="1382229" cy="177800"/>
          </a:xfrm>
          <a:prstGeom prst="roundRect">
            <a:avLst>
              <a:gd name="adj" fmla="val 14285"/>
            </a:avLst>
          </a:prstGeom>
          <a:solidFill>
            <a:srgbClr val="DCE1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754360" y="27559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520–1.200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71894" y="30607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Bila naik ke </a:t>
            </a:r>
            <a:r>
              <a:rPr sz="750" b="1" lang="id-ID">
                <a:solidFill>
                  <a:srgbClr val="2E3440"/>
                </a:solidFill>
                <a:latin typeface="Roboto"/>
              </a:rPr>
              <a:t>52%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897629" y="3098800"/>
            <a:ext cx="834028" cy="177800"/>
          </a:xfrm>
          <a:prstGeom prst="roundRect">
            <a:avLst>
              <a:gd name="adj" fmla="val 14285"/>
            </a:avLst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754360" y="30607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317–726</a:t>
            </a:r>
          </a:p>
        </p:txBody>
      </p:sp>
      <p:sp>
        <p:nvSpPr>
          <p:cNvPr id="68" name="Isosceles Triangle 67"/>
          <p:cNvSpPr/>
          <p:nvPr/>
        </p:nvSpPr>
        <p:spPr>
          <a:xfrm rot="10800000">
            <a:off x="8253013" y="3416300"/>
            <a:ext cx="76200" cy="6096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67313" y="3365500"/>
            <a:ext cx="3149047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2E3440"/>
                </a:solidFill>
                <a:latin typeface="Roboto"/>
              </a:rPr>
              <a:t>turun 40%</a:t>
            </a:r>
            <a:r>
              <a:rPr sz="750" b="0" lang="id-ID">
                <a:solidFill>
                  <a:srgbClr val="2E3440"/>
                </a:solidFill>
                <a:latin typeface="Roboto"/>
              </a:rPr>
              <a:t> korban jiwa bila target Renas PB 2029 tercapai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53013" y="3543300"/>
            <a:ext cx="326334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Batang: rentang korban jiwa, rendah sampai tinggi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75640" y="5088890"/>
            <a:ext cx="10840720" cy="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675640" y="513969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RESPONS YANG DIBUTUHKAN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5640" y="5317490"/>
            <a:ext cx="3528907" cy="6769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Evakuasi dini warga bantaran sungai dan lereng rawan longsor berdasar peringatan BMKG.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Pompa bergerak dan perahu karet di kab/kota bernilai banjir tertinggi.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Layanan kesehatan dan air bersih di tempat evakuasi.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31547" y="513969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KEBUTUHAN PEMULIHAN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31547" y="5317490"/>
            <a:ext cx="3528907" cy="6769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Kaji kebutuhan pascabencana untuk rumah rusak berat dan sedang.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Perbaikan tanggul dan alur sungai bersama balai wilayah sungai.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Stimulan perbaikan rumah sesuai standar BNPB.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87453" y="513969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LEMBAGA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987453" y="531749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78" name="Picture 77" descr="lembaga-FFFFFF-f44193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003" y="5348859"/>
            <a:ext cx="102362" cy="102362"/>
          </a:xfrm>
          <a:prstGeom prst="rect">
            <a:avLst/>
          </a:prstGeom>
        </p:spPr>
      </p:pic>
      <p:sp>
        <p:nvSpPr>
          <p:cNvPr id="79" name="Rounded Rectangle 78"/>
          <p:cNvSpPr/>
          <p:nvPr/>
        </p:nvSpPr>
        <p:spPr>
          <a:xfrm>
            <a:off x="8568804" y="5317490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80" name="Picture 79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1354" y="5348859"/>
            <a:ext cx="102362" cy="102362"/>
          </a:xfrm>
          <a:prstGeom prst="rect">
            <a:avLst/>
          </a:prstGeom>
        </p:spPr>
      </p:pic>
      <p:sp>
        <p:nvSpPr>
          <p:cNvPr id="81" name="Rounded Rectangle 80"/>
          <p:cNvSpPr/>
          <p:nvPr/>
        </p:nvSpPr>
        <p:spPr>
          <a:xfrm>
            <a:off x="9166625" y="5317490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82" name="Picture 81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9175" y="5348859"/>
            <a:ext cx="102362" cy="102362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10127626" y="5317490"/>
            <a:ext cx="83908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BPBD provinsi</a:t>
            </a:r>
          </a:p>
        </p:txBody>
      </p:sp>
      <p:pic>
        <p:nvPicPr>
          <p:cNvPr id="84" name="Picture 83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176" y="5348859"/>
            <a:ext cx="102362" cy="102362"/>
          </a:xfrm>
          <a:prstGeom prst="rect">
            <a:avLst/>
          </a:prstGeom>
        </p:spPr>
      </p:pic>
      <p:sp>
        <p:nvSpPr>
          <p:cNvPr id="85" name="Rounded Rectangle 84"/>
          <p:cNvSpPr/>
          <p:nvPr/>
        </p:nvSpPr>
        <p:spPr>
          <a:xfrm>
            <a:off x="7987453" y="5533390"/>
            <a:ext cx="86976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BPBD kab/kota</a:t>
            </a:r>
          </a:p>
        </p:txBody>
      </p:sp>
      <p:pic>
        <p:nvPicPr>
          <p:cNvPr id="86" name="Picture 85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0003" y="5564759"/>
            <a:ext cx="102362" cy="102362"/>
          </a:xfrm>
          <a:prstGeom prst="rect">
            <a:avLst/>
          </a:prstGeom>
        </p:spPr>
      </p:pic>
      <p:sp>
        <p:nvSpPr>
          <p:cNvPr id="87" name="Rectangle 86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2008–2026; InaRISK BNPB; NOAA CPC (ONI); Renas PB 2025–2029; UNDRR-WMO 2022; Pantau Bencana; kemungkinan dihitung penyusun dari frekuensi musim La Niña setara 2020/2021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lang="id-ID">
                <a:solidFill>
                  <a:srgbClr val="1A1A1A"/>
                </a:solidFill>
                <a:latin typeface="Roboto"/>
              </a:rPr>
              <a:t>Kerangka Grand Design 2026–2030: program berbukti dipetakan ke</a:t>
            </a:r>
            <a:br/>
            <a:r>
              <a:rPr sz="1900" b="1" lang="id-ID">
                <a:solidFill>
                  <a:srgbClr val="1A1A1A"/>
                </a:solidFill>
                <a:latin typeface="Roboto"/>
              </a:rPr>
              <a:t>prabencana, tanggap darurat, dan pascabencana; waktu usulan penyusun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5270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690" y="56007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PILAR GRAND DESIGN (DALAM PENYUSUNAN)</a:t>
            </a:r>
          </a:p>
        </p:txBody>
      </p:sp>
      <p:sp>
        <p:nvSpPr>
          <p:cNvPr id="12" name="Oval 11"/>
          <p:cNvSpPr/>
          <p:nvPr/>
        </p:nvSpPr>
        <p:spPr>
          <a:xfrm>
            <a:off x="694690" y="58750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95122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5060" y="58191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Risiko sebagai dasar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060" y="60223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IRBI per kab/kota menentukan urutan prioritas program.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22320" y="58572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3395345" y="58750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ringkasan-FFFFFF-28e566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545" y="595122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15715" y="58191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Program berbukti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5715" y="60223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Kelas kekuatan bukti disebut per program; kode di dua fase disiapkan prabencana.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22975" y="58572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6096000" y="58750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5951220"/>
            <a:ext cx="177800" cy="177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516370" y="58191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Lembaga pelaksana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6370" y="60223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Unit BNPB dan K/L sesuai nomenklatur kabinet terkini.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23630" y="58572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8796655" y="58750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pembiayaan-FFFFFF-5387a37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2855" y="595122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17025" y="58191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Arsitektur pendanaan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7025" y="60223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Tanpa pagu; sumber dana berlapis dari pusat sampai daerah.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1282700"/>
            <a:ext cx="3606800" cy="410718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1282700"/>
            <a:ext cx="360680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1511300"/>
            <a:ext cx="360680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48640" y="1282700"/>
            <a:ext cx="3606800" cy="4107180"/>
          </a:xfrm>
          <a:prstGeom prst="roundRect">
            <a:avLst>
              <a:gd name="adj" fmla="val 151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prabencana-FFFFFF-572c044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56640" y="1282700"/>
            <a:ext cx="2971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Prabencana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5640" y="1958848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1946148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Kode bangunan tahan gempa beserta penegakannya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5840" y="2263648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41" name="Picture 40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390" y="2295017"/>
            <a:ext cx="102362" cy="102362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1798050" y="2263648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Kementerian PU</a:t>
            </a:r>
          </a:p>
        </p:txBody>
      </p:sp>
      <p:pic>
        <p:nvPicPr>
          <p:cNvPr id="43" name="Picture 42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0600" y="2295017"/>
            <a:ext cx="102362" cy="102362"/>
          </a:xfrm>
          <a:prstGeom prst="rect">
            <a:avLst/>
          </a:prstGeom>
        </p:spPr>
      </p:pic>
      <p:cxnSp>
        <p:nvCxnSpPr>
          <p:cNvPr id="44" name="Connector 43"/>
          <p:cNvCxnSpPr/>
          <p:nvPr/>
        </p:nvCxnSpPr>
        <p:spPr>
          <a:xfrm>
            <a:off x="675640" y="2533396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5" name="Rounded Rectangle 44"/>
          <p:cNvSpPr/>
          <p:nvPr/>
        </p:nvSpPr>
        <p:spPr>
          <a:xfrm>
            <a:off x="675640" y="2650744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" y="2638044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Pendidikan evakuasi mandiri di sekolah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5840" y="2955544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48" name="Picture 47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390" y="2986913"/>
            <a:ext cx="102362" cy="102362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798050" y="2955544"/>
            <a:ext cx="974098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Kemendikdasmen</a:t>
            </a:r>
          </a:p>
        </p:txBody>
      </p:sp>
      <p:pic>
        <p:nvPicPr>
          <p:cNvPr id="50" name="Picture 49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0600" y="2986913"/>
            <a:ext cx="102362" cy="102362"/>
          </a:xfrm>
          <a:prstGeom prst="rect">
            <a:avLst/>
          </a:prstGeom>
        </p:spPr>
      </p:pic>
      <p:cxnSp>
        <p:nvCxnSpPr>
          <p:cNvPr id="51" name="Connector 50"/>
          <p:cNvCxnSpPr/>
          <p:nvPr/>
        </p:nvCxnSpPr>
        <p:spPr>
          <a:xfrm>
            <a:off x="675640" y="3225292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2" name="Rounded Rectangle 51"/>
          <p:cNvSpPr/>
          <p:nvPr/>
        </p:nvSpPr>
        <p:spPr>
          <a:xfrm>
            <a:off x="675640" y="334264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" y="332994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Hibah mitigasi bersyarat analisis manfaat dan biaya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05840" y="364744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55" name="Picture 54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390" y="3678809"/>
            <a:ext cx="102362" cy="102362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1798050" y="364744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57" name="Picture 56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0600" y="3678809"/>
            <a:ext cx="102362" cy="102362"/>
          </a:xfrm>
          <a:prstGeom prst="rect">
            <a:avLst/>
          </a:prstGeom>
        </p:spPr>
      </p:pic>
      <p:cxnSp>
        <p:nvCxnSpPr>
          <p:cNvPr id="58" name="Connector 57"/>
          <p:cNvCxnSpPr/>
          <p:nvPr/>
        </p:nvCxnSpPr>
        <p:spPr>
          <a:xfrm>
            <a:off x="675640" y="3917188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9" name="Rounded Rectangle 58"/>
          <p:cNvSpPr/>
          <p:nvPr/>
        </p:nvSpPr>
        <p:spPr>
          <a:xfrm>
            <a:off x="675640" y="4034536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" y="4021836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Lengkapi rantai peringatan dini tsunami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05840" y="4339336"/>
            <a:ext cx="123675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 sejak penetapan</a:t>
            </a:r>
          </a:p>
        </p:txBody>
      </p:sp>
      <p:pic>
        <p:nvPicPr>
          <p:cNvPr id="62" name="Picture 61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390" y="4370705"/>
            <a:ext cx="102362" cy="102362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2293390" y="4339336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64" name="Picture 63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5940" y="4370705"/>
            <a:ext cx="102362" cy="102362"/>
          </a:xfrm>
          <a:prstGeom prst="rect">
            <a:avLst/>
          </a:prstGeom>
        </p:spPr>
      </p:pic>
      <p:cxnSp>
        <p:nvCxnSpPr>
          <p:cNvPr id="65" name="Connector 64"/>
          <p:cNvCxnSpPr/>
          <p:nvPr/>
        </p:nvCxnSpPr>
        <p:spPr>
          <a:xfrm>
            <a:off x="675640" y="4609084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6" name="Rounded Rectangle 65"/>
          <p:cNvSpPr/>
          <p:nvPr/>
        </p:nvSpPr>
        <p:spPr>
          <a:xfrm>
            <a:off x="675640" y="4726432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" y="4713732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Latih relawan desa untuk evakuasi preemptif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05840" y="5031232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69" name="Picture 68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390" y="5062601"/>
            <a:ext cx="102362" cy="102362"/>
          </a:xfrm>
          <a:prstGeom prst="rect">
            <a:avLst/>
          </a:prstGeom>
        </p:spPr>
      </p:pic>
      <p:sp>
        <p:nvSpPr>
          <p:cNvPr id="70" name="Rounded Rectangle 69"/>
          <p:cNvSpPr/>
          <p:nvPr/>
        </p:nvSpPr>
        <p:spPr>
          <a:xfrm>
            <a:off x="1798050" y="5031232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71" name="Picture 7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0600" y="5062601"/>
            <a:ext cx="102362" cy="102362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4292600" y="1282700"/>
            <a:ext cx="3606800" cy="410718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292600" y="1282700"/>
            <a:ext cx="360680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92600" y="1511300"/>
            <a:ext cx="360680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4292600" y="1282700"/>
            <a:ext cx="3606800" cy="4107180"/>
          </a:xfrm>
          <a:prstGeom prst="roundRect">
            <a:avLst>
              <a:gd name="adj" fmla="val 151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41960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7" name="Picture 76" descr="tanggap-darurat-FFFFFF-d40eccc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6750" y="1422400"/>
            <a:ext cx="177800" cy="17780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4800600" y="1282700"/>
            <a:ext cx="2971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Tanggap darurat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419600" y="218948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49800" y="217678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Sebarkan peringatan tsunami sampai sirene dan warga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49800" y="2494280"/>
            <a:ext cx="123675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 sejak penetapan</a:t>
            </a:r>
          </a:p>
        </p:txBody>
      </p:sp>
      <p:pic>
        <p:nvPicPr>
          <p:cNvPr id="82" name="Picture 81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350" y="2525649"/>
            <a:ext cx="102362" cy="102362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6037350" y="249428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84" name="Picture 83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900" y="2525649"/>
            <a:ext cx="102362" cy="102362"/>
          </a:xfrm>
          <a:prstGeom prst="rect">
            <a:avLst/>
          </a:prstGeom>
        </p:spPr>
      </p:pic>
      <p:cxnSp>
        <p:nvCxnSpPr>
          <p:cNvPr id="85" name="Connector 84"/>
          <p:cNvCxnSpPr/>
          <p:nvPr/>
        </p:nvCxnSpPr>
        <p:spPr>
          <a:xfrm>
            <a:off x="4419600" y="299466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6" name="Rounded Rectangle 85"/>
          <p:cNvSpPr/>
          <p:nvPr/>
        </p:nvSpPr>
        <p:spPr>
          <a:xfrm>
            <a:off x="4419600" y="334264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05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49800" y="332994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Relawan desa memandu evakuasi warga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749800" y="364744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89" name="Picture 88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350" y="3678809"/>
            <a:ext cx="102362" cy="102362"/>
          </a:xfrm>
          <a:prstGeom prst="rect">
            <a:avLst/>
          </a:prstGeom>
        </p:spPr>
      </p:pic>
      <p:sp>
        <p:nvSpPr>
          <p:cNvPr id="90" name="Rounded Rectangle 89"/>
          <p:cNvSpPr/>
          <p:nvPr/>
        </p:nvSpPr>
        <p:spPr>
          <a:xfrm>
            <a:off x="5542010" y="364744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91" name="Picture 9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4560" y="3678809"/>
            <a:ext cx="102362" cy="102362"/>
          </a:xfrm>
          <a:prstGeom prst="rect">
            <a:avLst/>
          </a:prstGeom>
        </p:spPr>
      </p:pic>
      <p:cxnSp>
        <p:nvCxnSpPr>
          <p:cNvPr id="92" name="Connector 91"/>
          <p:cNvCxnSpPr/>
          <p:nvPr/>
        </p:nvCxnSpPr>
        <p:spPr>
          <a:xfrm>
            <a:off x="4419600" y="414782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3" name="Rounded Rectangle 92"/>
          <p:cNvSpPr/>
          <p:nvPr/>
        </p:nvSpPr>
        <p:spPr>
          <a:xfrm>
            <a:off x="4419600" y="449580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06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749800" y="448310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Evakuasi ke tempat evakuasi yang sudah ditetapkan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749800" y="480060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96" name="Picture 95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350" y="4831969"/>
            <a:ext cx="102362" cy="102362"/>
          </a:xfrm>
          <a:prstGeom prst="rect">
            <a:avLst/>
          </a:prstGeom>
        </p:spPr>
      </p:pic>
      <p:sp>
        <p:nvSpPr>
          <p:cNvPr id="97" name="Rounded Rectangle 96"/>
          <p:cNvSpPr/>
          <p:nvPr/>
        </p:nvSpPr>
        <p:spPr>
          <a:xfrm>
            <a:off x="5542010" y="480060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98" name="Picture 97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4560" y="4831969"/>
            <a:ext cx="102362" cy="102362"/>
          </a:xfrm>
          <a:prstGeom prst="rect">
            <a:avLst/>
          </a:prstGeom>
        </p:spPr>
      </p:pic>
      <p:sp>
        <p:nvSpPr>
          <p:cNvPr id="99" name="Rounded Rectangle 98"/>
          <p:cNvSpPr/>
          <p:nvPr/>
        </p:nvSpPr>
        <p:spPr>
          <a:xfrm>
            <a:off x="8036560" y="1282700"/>
            <a:ext cx="3606800" cy="410718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8036560" y="1282700"/>
            <a:ext cx="360680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036560" y="1511300"/>
            <a:ext cx="360680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8036560" y="1282700"/>
            <a:ext cx="3606800" cy="4107180"/>
          </a:xfrm>
          <a:prstGeom prst="roundRect">
            <a:avLst>
              <a:gd name="adj" fmla="val 151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816356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4" name="Picture 103" descr="pascabencana-FFFFFF-603074b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0710" y="1422400"/>
            <a:ext cx="177800" cy="177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544560" y="1282700"/>
            <a:ext cx="2971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Pascabencana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163560" y="218948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07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493760" y="217678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Rekonstruksi rumah berbasis komunitas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493760" y="249428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09" name="Picture 108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6310" y="2525649"/>
            <a:ext cx="102362" cy="102362"/>
          </a:xfrm>
          <a:prstGeom prst="rect">
            <a:avLst/>
          </a:prstGeom>
        </p:spPr>
      </p:pic>
      <p:sp>
        <p:nvSpPr>
          <p:cNvPr id="110" name="Rounded Rectangle 109"/>
          <p:cNvSpPr/>
          <p:nvPr/>
        </p:nvSpPr>
        <p:spPr>
          <a:xfrm>
            <a:off x="9285970" y="2494280"/>
            <a:ext cx="96072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Kementerian PKP</a:t>
            </a:r>
          </a:p>
        </p:txBody>
      </p:sp>
      <p:pic>
        <p:nvPicPr>
          <p:cNvPr id="111" name="Picture 11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8520" y="2525649"/>
            <a:ext cx="102362" cy="102362"/>
          </a:xfrm>
          <a:prstGeom prst="rect">
            <a:avLst/>
          </a:prstGeom>
        </p:spPr>
      </p:pic>
      <p:cxnSp>
        <p:nvCxnSpPr>
          <p:cNvPr id="112" name="Connector 111"/>
          <p:cNvCxnSpPr/>
          <p:nvPr/>
        </p:nvCxnSpPr>
        <p:spPr>
          <a:xfrm>
            <a:off x="8163560" y="299466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3" name="Rounded Rectangle 112"/>
          <p:cNvSpPr/>
          <p:nvPr/>
        </p:nvSpPr>
        <p:spPr>
          <a:xfrm>
            <a:off x="8163560" y="334264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08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93760" y="332994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Badan rekonstruksi berbatas waktu untuk bencana besar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493760" y="364744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116" name="Picture 115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6310" y="3678809"/>
            <a:ext cx="102362" cy="102362"/>
          </a:xfrm>
          <a:prstGeom prst="rect">
            <a:avLst/>
          </a:prstGeom>
        </p:spPr>
      </p:pic>
      <p:sp>
        <p:nvSpPr>
          <p:cNvPr id="117" name="Rounded Rectangle 116"/>
          <p:cNvSpPr/>
          <p:nvPr/>
        </p:nvSpPr>
        <p:spPr>
          <a:xfrm>
            <a:off x="9285970" y="364744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118" name="Picture 117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8520" y="3678809"/>
            <a:ext cx="102362" cy="102362"/>
          </a:xfrm>
          <a:prstGeom prst="rect">
            <a:avLst/>
          </a:prstGeom>
        </p:spPr>
      </p:pic>
      <p:cxnSp>
        <p:nvCxnSpPr>
          <p:cNvPr id="119" name="Connector 118"/>
          <p:cNvCxnSpPr/>
          <p:nvPr/>
        </p:nvCxnSpPr>
        <p:spPr>
          <a:xfrm>
            <a:off x="8163560" y="414782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0" name="Rounded Rectangle 119"/>
          <p:cNvSpPr/>
          <p:nvPr/>
        </p:nvSpPr>
        <p:spPr>
          <a:xfrm>
            <a:off x="8163560" y="449580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09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493760" y="448310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Asuransi risiko bencana dan pooling regional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493760" y="480060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123" name="Picture 122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6310" y="4831969"/>
            <a:ext cx="102362" cy="102362"/>
          </a:xfrm>
          <a:prstGeom prst="rect">
            <a:avLst/>
          </a:prstGeom>
        </p:spPr>
      </p:pic>
      <p:sp>
        <p:nvSpPr>
          <p:cNvPr id="124" name="Rounded Rectangle 123"/>
          <p:cNvSpPr/>
          <p:nvPr/>
        </p:nvSpPr>
        <p:spPr>
          <a:xfrm>
            <a:off x="9285970" y="4800600"/>
            <a:ext cx="70517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Kemenkeu</a:t>
            </a:r>
          </a:p>
        </p:txBody>
      </p:sp>
      <p:pic>
        <p:nvPicPr>
          <p:cNvPr id="125" name="Picture 124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8520" y="4831969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Contoh program kompendium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(2026–2030)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beserta status usulan dan waktu dari penyusun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LANGKAH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RINCIAN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PENANGGUNG JAWAB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4" name="Oval 13"/>
          <p:cNvSpPr/>
          <p:nvPr/>
        </p:nvSpPr>
        <p:spPr>
          <a:xfrm>
            <a:off x="548640" y="177800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1853946"/>
            <a:ext cx="178308" cy="1783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3140" y="1728470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01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Tegakkan kode bangunan tahan gempa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3140" y="196342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18" name="Picture 17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1994789"/>
            <a:ext cx="102362" cy="10236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785350" y="1963420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9898" y="1485900"/>
            <a:ext cx="4320235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Pola Chile; bukti sedang. Indikator: bagian bangunan baru yang lolos pemeriksaan kode tahan gempa.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58733" y="1860550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Kementerian PU</a:t>
            </a:r>
          </a:p>
        </p:txBody>
      </p:sp>
      <p:pic>
        <p:nvPicPr>
          <p:cNvPr id="22" name="Picture 21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1891919"/>
            <a:ext cx="102362" cy="1023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9719734" y="186055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BNPB</a:t>
            </a:r>
          </a:p>
        </p:txBody>
      </p:sp>
      <p:pic>
        <p:nvPicPr>
          <p:cNvPr id="24" name="Picture 2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2284" y="1891919"/>
            <a:ext cx="102362" cy="102362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>
            <a:off x="548640" y="240030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6" name="Oval 25"/>
          <p:cNvSpPr/>
          <p:nvPr/>
        </p:nvSpPr>
        <p:spPr>
          <a:xfrm>
            <a:off x="548640" y="269240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2768346"/>
            <a:ext cx="178308" cy="1783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3140" y="2642870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02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Perkuat pendidikan evakuasi di sekolah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3140" y="287782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30" name="Picture 29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2909189"/>
            <a:ext cx="102362" cy="102362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785350" y="2877820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9898" y="2400300"/>
            <a:ext cx="4320235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Pola Kamaishi, bukti sedang; SPAB belum punya evaluasi dampak nasional berpembanding. Indikator: sekolah bergladi tiap tahun.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58733" y="2774950"/>
            <a:ext cx="974098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Kemendikdasmen</a:t>
            </a:r>
          </a:p>
        </p:txBody>
      </p:sp>
      <p:pic>
        <p:nvPicPr>
          <p:cNvPr id="34" name="Picture 33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806319"/>
            <a:ext cx="102362" cy="102362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9783631" y="277495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BNPB</a:t>
            </a:r>
          </a:p>
        </p:txBody>
      </p:sp>
      <p:pic>
        <p:nvPicPr>
          <p:cNvPr id="36" name="Picture 35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6181" y="2806319"/>
            <a:ext cx="102362" cy="102362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10364981" y="2774950"/>
            <a:ext cx="662313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Kemenag</a:t>
            </a:r>
          </a:p>
        </p:txBody>
      </p:sp>
      <p:pic>
        <p:nvPicPr>
          <p:cNvPr id="38" name="Picture 37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7531" y="2806319"/>
            <a:ext cx="102362" cy="102362"/>
          </a:xfrm>
          <a:prstGeom prst="rect">
            <a:avLst/>
          </a:prstGeom>
        </p:spPr>
      </p:pic>
      <p:cxnSp>
        <p:nvCxnSpPr>
          <p:cNvPr id="39" name="Connector 38"/>
          <p:cNvCxnSpPr/>
          <p:nvPr/>
        </p:nvCxnSpPr>
        <p:spPr>
          <a:xfrm>
            <a:off x="548640" y="331470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548640" y="360680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pembiayaan-FFFFFF-5387a37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3682746"/>
            <a:ext cx="178308" cy="17830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93140" y="3557270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03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Siapkan hibah mitigasi bersyarat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3140" y="379222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44" name="Picture 43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823589"/>
            <a:ext cx="102362" cy="102362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1785350" y="3792220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9898" y="3314700"/>
            <a:ext cx="4320235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Pola FEMA HMGP dan BRIC; bukti sedang. Indikator: hibah daerah yang lolos analisis manfaat dan biaya.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58733" y="368935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48" name="Picture 47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3720719"/>
            <a:ext cx="102362" cy="102362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9340083" y="3689350"/>
            <a:ext cx="70517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Kemenkeu</a:t>
            </a:r>
          </a:p>
        </p:txBody>
      </p:sp>
      <p:pic>
        <p:nvPicPr>
          <p:cNvPr id="50" name="Picture 49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2633" y="3720719"/>
            <a:ext cx="102362" cy="102362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10096059" y="3689350"/>
            <a:ext cx="678783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Bappenas</a:t>
            </a:r>
          </a:p>
        </p:txBody>
      </p:sp>
      <p:pic>
        <p:nvPicPr>
          <p:cNvPr id="52" name="Picture 51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8609" y="3720719"/>
            <a:ext cx="102362" cy="102362"/>
          </a:xfrm>
          <a:prstGeom prst="rect">
            <a:avLst/>
          </a:prstGeom>
        </p:spPr>
      </p:pic>
      <p:cxnSp>
        <p:nvCxnSpPr>
          <p:cNvPr id="53" name="Connector 52"/>
          <p:cNvCxnSpPr/>
          <p:nvPr/>
        </p:nvCxnSpPr>
        <p:spPr>
          <a:xfrm>
            <a:off x="548640" y="422910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4" name="Oval 53"/>
          <p:cNvSpPr/>
          <p:nvPr/>
        </p:nvSpPr>
        <p:spPr>
          <a:xfrm>
            <a:off x="548640" y="452120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5" name="Picture 54" descr="infrastruktur-FFFFFF-ba1c96e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86" y="4597146"/>
            <a:ext cx="178308" cy="17830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93140" y="4471670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04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Lengkapi rantai peringatan dini tsunami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93140" y="4706620"/>
            <a:ext cx="123675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 sejak penetapan</a:t>
            </a:r>
          </a:p>
        </p:txBody>
      </p:sp>
      <p:pic>
        <p:nvPicPr>
          <p:cNvPr id="58" name="Picture 57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737989"/>
            <a:ext cx="102362" cy="102362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2280690" y="4706620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09898" y="4229100"/>
            <a:ext cx="4320235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InaTEWS; bukti sedang. Mata rantai terakhir sampai sirene dan Pusdalops dikuatkan. Indikator: waktu peringatan sampai ke warga.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758733" y="460375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62" name="Picture 61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635119"/>
            <a:ext cx="102362" cy="102362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9340083" y="4603750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64" name="Picture 6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2633" y="4635119"/>
            <a:ext cx="102362" cy="102362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9937904" y="4603750"/>
            <a:ext cx="52598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BPBD</a:t>
            </a:r>
          </a:p>
        </p:txBody>
      </p:sp>
      <p:pic>
        <p:nvPicPr>
          <p:cNvPr id="66" name="Picture 65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0454" y="4635119"/>
            <a:ext cx="102362" cy="102362"/>
          </a:xfrm>
          <a:prstGeom prst="rect">
            <a:avLst/>
          </a:prstGeom>
        </p:spPr>
      </p:pic>
      <p:cxnSp>
        <p:nvCxnSpPr>
          <p:cNvPr id="67" name="Connector 66"/>
          <p:cNvCxnSpPr/>
          <p:nvPr/>
        </p:nvCxnSpPr>
        <p:spPr>
          <a:xfrm>
            <a:off x="548640" y="514350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8" name="Oval 67"/>
          <p:cNvSpPr/>
          <p:nvPr/>
        </p:nvSpPr>
        <p:spPr>
          <a:xfrm>
            <a:off x="548640" y="543560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9" name="Picture 68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5511546"/>
            <a:ext cx="178308" cy="17830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93140" y="5386070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05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Bangun evakuasi preemptif berbasis relawan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93140" y="562102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72" name="Picture 71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652389"/>
            <a:ext cx="102362" cy="102362"/>
          </a:xfrm>
          <a:prstGeom prst="rect">
            <a:avLst/>
          </a:prstGeom>
        </p:spPr>
      </p:pic>
      <p:sp>
        <p:nvSpPr>
          <p:cNvPr id="73" name="Rounded Rectangle 72"/>
          <p:cNvSpPr/>
          <p:nvPr/>
        </p:nvSpPr>
        <p:spPr>
          <a:xfrm>
            <a:off x="1785350" y="5621020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209898" y="5143500"/>
            <a:ext cx="4320235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Pola Cyclone Preparedness Programme Bangladesh; bukti kuat. Indikator: desa rawan dengan relawan peringatan terlatih.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758733" y="551815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76" name="Picture 75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549519"/>
            <a:ext cx="102362" cy="102362"/>
          </a:xfrm>
          <a:prstGeom prst="rect">
            <a:avLst/>
          </a:prstGeom>
        </p:spPr>
      </p:pic>
      <p:sp>
        <p:nvSpPr>
          <p:cNvPr id="77" name="Rounded Rectangle 76"/>
          <p:cNvSpPr/>
          <p:nvPr/>
        </p:nvSpPr>
        <p:spPr>
          <a:xfrm>
            <a:off x="9340083" y="5518150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78" name="Picture 77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2633" y="5549519"/>
            <a:ext cx="102362" cy="102362"/>
          </a:xfrm>
          <a:prstGeom prst="rect">
            <a:avLst/>
          </a:prstGeom>
        </p:spPr>
      </p:pic>
      <p:sp>
        <p:nvSpPr>
          <p:cNvPr id="79" name="Rounded Rectangle 78"/>
          <p:cNvSpPr/>
          <p:nvPr/>
        </p:nvSpPr>
        <p:spPr>
          <a:xfrm>
            <a:off x="9937904" y="5518150"/>
            <a:ext cx="70188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Kemensos</a:t>
            </a:r>
          </a:p>
        </p:txBody>
      </p:sp>
      <p:pic>
        <p:nvPicPr>
          <p:cNvPr id="80" name="Picture 79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0454" y="5549519"/>
            <a:ext cx="102362" cy="102362"/>
          </a:xfrm>
          <a:prstGeom prst="rect">
            <a:avLst/>
          </a:prstGeom>
        </p:spPr>
      </p:pic>
      <p:sp>
        <p:nvSpPr>
          <p:cNvPr id="81" name="Rectangle 80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Kompendium program berbukti Pantau Bencana; Renas PB 2025–2029; riset praktik baik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Contoh program kompendium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(2026–2030)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beserta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status usulan dan waktu dari penyusun (lanjutan)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LANGKAH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RINCIAN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PENANGGUNG JAWAB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4" name="Rounded Rectangle 13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BUKTI KUANTITATIF DI BALIK PROGRAM 06 DAN 09</a:t>
            </a:r>
          </a:p>
        </p:txBody>
      </p:sp>
      <p:sp>
        <p:nvSpPr>
          <p:cNvPr id="16" name="Oval 15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pengungsi-FFFFFF-65a2f7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Evakuasi preemptif Odisha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Saat Topan Phailin lebih dari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1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juta jiwa dievakuasi dan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44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meninggal.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1" name="Oval 20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pembiayaan-FFFFFF-5387a3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Asuransi CCRIF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63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pembayaran senilai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266,8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juta US$ sejak 2007 sampai 2023.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6" name="Oval 25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kekeringan-FFFFFF-bd7fcb5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Asuransi ARC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16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dari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36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negara anggota membeli polis kekeringan.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" y="177546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kapasitas-FFFFFF-22e801b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86" y="1851406"/>
            <a:ext cx="178308" cy="1783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93140" y="1725930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06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Rencanakan evakuasi preemptif dan tempat evakuasi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3140" y="196088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34" name="Picture 33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690" y="1992249"/>
            <a:ext cx="102362" cy="102362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1785350" y="1960880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9898" y="1485900"/>
            <a:ext cx="4320235" cy="909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Pola OSDMA Odisha, India; bukti sedang. Indikator: kab/kota rawan dengan rencana dan tempat evakuasi yang ditetapkan.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58733" y="185801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38" name="Picture 37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1283" y="1889379"/>
            <a:ext cx="102362" cy="102362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9340083" y="1858010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40" name="Picture 39" descr="lembaga-051C2C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2633" y="1889379"/>
            <a:ext cx="102362" cy="102362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9937904" y="1858010"/>
            <a:ext cx="52598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BPBD</a:t>
            </a:r>
          </a:p>
        </p:txBody>
      </p:sp>
      <p:pic>
        <p:nvPicPr>
          <p:cNvPr id="42" name="Picture 41" descr="lembaga-051C2C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20454" y="1889379"/>
            <a:ext cx="102362" cy="102362"/>
          </a:xfrm>
          <a:prstGeom prst="rect">
            <a:avLst/>
          </a:prstGeom>
        </p:spPr>
      </p:pic>
      <p:cxnSp>
        <p:nvCxnSpPr>
          <p:cNvPr id="43" name="Connector 42"/>
          <p:cNvCxnSpPr/>
          <p:nvPr/>
        </p:nvCxnSpPr>
        <p:spPr>
          <a:xfrm>
            <a:off x="548640" y="239522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4" name="Oval 43"/>
          <p:cNvSpPr/>
          <p:nvPr/>
        </p:nvSpPr>
        <p:spPr>
          <a:xfrm>
            <a:off x="548640" y="268478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5" name="Picture 44" descr="kapasitas-FFFFFF-22e801b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86" y="2760726"/>
            <a:ext cx="178308" cy="17830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93140" y="2635250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07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Rekonstruksi rumah berbasis komunitas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3140" y="287020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48" name="Picture 47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690" y="2901569"/>
            <a:ext cx="102362" cy="102362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785350" y="2870200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9898" y="2395220"/>
            <a:ext cx="4320235" cy="909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Rekompak pascagempa Yogyakarta; bukti lemah. Indikator: rumah terbangun ulang sesuai standar tahan gempa.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758733" y="2767330"/>
            <a:ext cx="96072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Kementerian PKP</a:t>
            </a:r>
          </a:p>
        </p:txBody>
      </p:sp>
      <p:pic>
        <p:nvPicPr>
          <p:cNvPr id="52" name="Picture 51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1283" y="2798699"/>
            <a:ext cx="102362" cy="102362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9770256" y="276733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BNPB</a:t>
            </a:r>
          </a:p>
        </p:txBody>
      </p:sp>
      <p:pic>
        <p:nvPicPr>
          <p:cNvPr id="54" name="Picture 53" descr="lembaga-051C2C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2806" y="2798699"/>
            <a:ext cx="102362" cy="102362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10351606" y="2767330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56" name="Picture 55" descr="lembaga-051C2C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4156" y="2798699"/>
            <a:ext cx="102362" cy="102362"/>
          </a:xfrm>
          <a:prstGeom prst="rect">
            <a:avLst/>
          </a:prstGeom>
        </p:spPr>
      </p:pic>
      <p:cxnSp>
        <p:nvCxnSpPr>
          <p:cNvPr id="57" name="Connector 56"/>
          <p:cNvCxnSpPr/>
          <p:nvPr/>
        </p:nvCxnSpPr>
        <p:spPr>
          <a:xfrm>
            <a:off x="548640" y="330454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8" name="Oval 57"/>
          <p:cNvSpPr/>
          <p:nvPr/>
        </p:nvSpPr>
        <p:spPr>
          <a:xfrm>
            <a:off x="548640" y="359410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9" name="Picture 58" descr="regulasi-FFFFFF-e639fe9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586" y="3670046"/>
            <a:ext cx="178308" cy="17830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93140" y="3544570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08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Siapkan badan rekonstruksi berbatas waktu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93140" y="377952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62" name="Picture 61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690" y="3810889"/>
            <a:ext cx="102362" cy="102362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1785350" y="3779520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09898" y="3304540"/>
            <a:ext cx="4320235" cy="909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Pola BRR Aceh-Nias 2005–2009 yang sudah bubar; bukti lemah. Indikator: kerangka hukum badan siap sebelum bencana besar.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758733" y="367665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66" name="Picture 65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1283" y="3708019"/>
            <a:ext cx="102362" cy="102362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9340083" y="3676650"/>
            <a:ext cx="678783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Bappenas</a:t>
            </a:r>
          </a:p>
        </p:txBody>
      </p:sp>
      <p:pic>
        <p:nvPicPr>
          <p:cNvPr id="68" name="Picture 67" descr="lembaga-051C2C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2633" y="3708019"/>
            <a:ext cx="102362" cy="102362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10069666" y="3676650"/>
            <a:ext cx="70517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Kemenkeu</a:t>
            </a:r>
          </a:p>
        </p:txBody>
      </p:sp>
      <p:pic>
        <p:nvPicPr>
          <p:cNvPr id="70" name="Picture 69" descr="lembaga-051C2C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52216" y="3708019"/>
            <a:ext cx="102362" cy="102362"/>
          </a:xfrm>
          <a:prstGeom prst="rect">
            <a:avLst/>
          </a:prstGeom>
        </p:spPr>
      </p:pic>
      <p:cxnSp>
        <p:nvCxnSpPr>
          <p:cNvPr id="71" name="Connector 70"/>
          <p:cNvCxnSpPr/>
          <p:nvPr/>
        </p:nvCxnSpPr>
        <p:spPr>
          <a:xfrm>
            <a:off x="548640" y="421386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2" name="Oval 71"/>
          <p:cNvSpPr/>
          <p:nvPr/>
        </p:nvSpPr>
        <p:spPr>
          <a:xfrm>
            <a:off x="548640" y="45034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3" name="Picture 72" descr="pembiayaan-FFFFFF-5387a3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86" y="4579366"/>
            <a:ext cx="178308" cy="17830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993140" y="4453890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09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Kembangkan asuransi risiko bencana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93140" y="468884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76" name="Picture 75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690" y="4720209"/>
            <a:ext cx="102362" cy="102362"/>
          </a:xfrm>
          <a:prstGeom prst="rect">
            <a:avLst/>
          </a:prstGeom>
        </p:spPr>
      </p:pic>
      <p:sp>
        <p:nvSpPr>
          <p:cNvPr id="77" name="Rounded Rectangle 76"/>
          <p:cNvSpPr/>
          <p:nvPr/>
        </p:nvSpPr>
        <p:spPr>
          <a:xfrm>
            <a:off x="1785350" y="4688840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09898" y="4213860"/>
            <a:ext cx="4320235" cy="909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Pola CCRIF dan ARC; bukti sedang. Indikator: aset pemerintah yang diasuransikan terhadap bencana.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758733" y="4585970"/>
            <a:ext cx="70517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Kemenkeu</a:t>
            </a:r>
          </a:p>
        </p:txBody>
      </p:sp>
      <p:pic>
        <p:nvPicPr>
          <p:cNvPr id="80" name="Picture 79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1283" y="4617339"/>
            <a:ext cx="102362" cy="102362"/>
          </a:xfrm>
          <a:prstGeom prst="rect">
            <a:avLst/>
          </a:prstGeom>
        </p:spPr>
      </p:pic>
      <p:sp>
        <p:nvSpPr>
          <p:cNvPr id="81" name="Rounded Rectangle 80"/>
          <p:cNvSpPr/>
          <p:nvPr/>
        </p:nvSpPr>
        <p:spPr>
          <a:xfrm>
            <a:off x="9514708" y="458597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BNPB</a:t>
            </a:r>
          </a:p>
        </p:txBody>
      </p:sp>
      <p:pic>
        <p:nvPicPr>
          <p:cNvPr id="82" name="Picture 81" descr="lembaga-051C2C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97258" y="4617339"/>
            <a:ext cx="102362" cy="102362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10096059" y="4585970"/>
            <a:ext cx="47010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OJK</a:t>
            </a:r>
          </a:p>
        </p:txBody>
      </p:sp>
      <p:pic>
        <p:nvPicPr>
          <p:cNvPr id="84" name="Picture 83" descr="lembaga-051C2C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78609" y="4617339"/>
            <a:ext cx="102362" cy="102362"/>
          </a:xfrm>
          <a:prstGeom prst="rect">
            <a:avLst/>
          </a:prstGeom>
        </p:spPr>
      </p:pic>
      <p:sp>
        <p:nvSpPr>
          <p:cNvPr id="85" name="Rectangle 84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Kompendium program berbukti Pantau Bencana; Renas PB 2025–2029; riset praktik baik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Status penyusunan dan syarat penyelesaian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374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ringkasan-051C2C-28e566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23" y="1601883"/>
            <a:ext cx="221425" cy="2214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7081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74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SELESAI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74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Riset pustaka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74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Kajian data dan regulasi beserta praktik baik dalam dan luar negeri menjadi dasar semua bab.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661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171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data-051C2C-608a1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293" y="1601883"/>
            <a:ext cx="221425" cy="2214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7878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171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SELESAI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171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Paket IRBI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171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Tren 2015–2024 dan kelas kab/kota beserta agregatnya; IRBI 2025 berskala baru.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458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2968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data-051C2C-608a1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263" y="1601883"/>
            <a:ext cx="221425" cy="2214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8675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968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SELESAI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968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Paket DIBI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968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Rekap 2015–2026, kejadian besar, rekonsiliasi; patahan seri 2024 dicatat.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7255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3765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8233" y="1601883"/>
            <a:ext cx="221425" cy="22142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09472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765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SELESAI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765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Program dan lembaga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765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Kompendium program berbukti berstatus usulan dan peta unit BNPB dari peraturan BNPB.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1374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banjir-D9600B-364735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323" y="3613563"/>
            <a:ext cx="221425" cy="22142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67081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74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MENUNGGU UJI BALIK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74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Skenario hidrometeorologi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74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Kartu nasional dan Jawa berlabel estimasi model; uji balik belum dijalankan.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5661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52171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gempa-D9600B-5740f75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2293" y="3613563"/>
            <a:ext cx="221425" cy="22142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47878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171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DALAM PENYUSUNAN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2171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Skenario geologi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2171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Masih ilustratif; menunggu dokumen Peta Gempa 2024 dan lapisan genangan InaRISK.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6458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32968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4" name="Picture 53" descr="peringatan-D9600B-6a80b7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0263" y="3613563"/>
            <a:ext cx="221425" cy="22142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28675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968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PERLU KEPUTUSAN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968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Arahan pimpinan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968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Dibutuhkan sebelum naskah bab dikunci; rinciannya pada pita keputusan di bawah.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7255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13765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1" name="Picture 60" descr="kalender-D9600B-a840cf9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8233" y="3613563"/>
            <a:ext cx="221425" cy="221425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109472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3765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BERJALAN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3765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Naskah bab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3765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Naskah bab sedang ditulis dari paket data; kerugian rupiah nonalam belum tersedia.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8640" y="5369560"/>
            <a:ext cx="11094720" cy="558800"/>
          </a:xfrm>
          <a:prstGeom prst="roundRect">
            <a:avLst>
              <a:gd name="adj" fmla="val 13181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13740" y="5483860"/>
            <a:ext cx="330200" cy="330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8" name="Picture 67" descr="kalender-D9600B-a840cf9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035" y="5558155"/>
            <a:ext cx="181610" cy="18161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209040" y="5369560"/>
            <a:ext cx="1453496" cy="55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 spc="150">
                <a:solidFill>
                  <a:srgbClr val="FFFFFF"/>
                </a:solidFill>
                <a:latin typeface="Roboto"/>
              </a:rPr>
              <a:t>KEPUTUSAN DIMINTA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62536" y="5369560"/>
            <a:ext cx="8815724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FFFFFF"/>
                </a:solidFill>
                <a:latin typeface="Roboto"/>
              </a:rPr>
              <a:t>Tanggal final kedua kajian dan arahan atas empat pilar Grand Design.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nutup-bencana-tsuna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 lang="id-ID">
                <a:solidFill>
                  <a:srgbClr val="FFFFFF"/>
                </a:solidFill>
                <a:latin typeface="Roboto"/>
              </a:rPr>
              <a:t>Foto: USGS, Public domain,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7391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468880"/>
            <a:ext cx="9144000" cy="100584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/>
            <a:r>
              <a:rPr sz="5400" b="1" lang="id-ID">
                <a:solidFill>
                  <a:srgbClr val="FFFFFF"/>
                </a:solidFill>
                <a:latin typeface="Roboto"/>
              </a:rPr>
              <a:t>Terima kasih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44900"/>
            <a:ext cx="4754880" cy="254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914400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1" lang="id-ID">
                <a:solidFill>
                  <a:srgbClr val="FFFFFF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4180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C9D1E3"/>
                </a:solidFill>
                <a:latin typeface="Roboto"/>
              </a:rPr>
              <a:t>Grand Design Mitigasi Bencana Indonesia 2026–2030, Jumat, 23 Oktober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Update Grand Design Mitigasi Bencana Indonesia 2026–2030</dc:title>
  <dc:subject>Pembaruan penyusunan, 23 Oktober 2026</dc:subject>
  <dc:creator>Badan Nasional Penanggulangan Bencana</dc:creator>
  <cp:lastModifiedBy>Badan Nasional Penanggulangan Bencana</cp:lastModifiedBy>
  <cp:revision>1</cp:revision>
  <dcterms:created xsi:type="dcterms:W3CDTF">2026-10-22T07:37:45Z</dcterms:created>
  <dcterms:modified xsi:type="dcterms:W3CDTF">2026-10-22T07:37:45Z</dcterms:modified>
  <cp:keywords>BNPB; penanggulangan bencana; mitigasi bencana; Indonesia; grand design; skenario terburuk; prabencana</cp:keywords>
  <dc:language>id-ID</dc:language>
  <cp:category>Kajian</cp:category>
  <dc:description>Indeks risiko nasional turun, tetapi korban jiwa dan sebaran kab/kota berkelas Tinggi menuntut Grand Design 2026–2030 yang bertumpu pada program terbukti dan skenario terburuk berlantai kejadian nyata.</dc:description>
</cp:coreProperties>
</file>