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8.png"/><Relationship Id="rId8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27.png"/><Relationship Id="rId7" Type="http://schemas.openxmlformats.org/officeDocument/2006/relationships/image" Target="../media/image8.png"/><Relationship Id="rId8" Type="http://schemas.openxmlformats.org/officeDocument/2006/relationships/image" Target="../media/image10.png"/><Relationship Id="rId9" Type="http://schemas.openxmlformats.org/officeDocument/2006/relationships/image" Target="../media/image18.png"/><Relationship Id="rId10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21.png"/><Relationship Id="rId7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5.png"/><Relationship Id="rId8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10.png"/><Relationship Id="rId7" Type="http://schemas.openxmlformats.org/officeDocument/2006/relationships/image" Target="../media/image34.png"/><Relationship Id="rId8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5.png"/><Relationship Id="rId5" Type="http://schemas.openxmlformats.org/officeDocument/2006/relationships/image" Target="../media/image5.png"/><Relationship Id="rId6" Type="http://schemas.openxmlformats.org/officeDocument/2006/relationships/image" Target="../media/image32.png"/><Relationship Id="rId7" Type="http://schemas.openxmlformats.org/officeDocument/2006/relationships/image" Target="../media/image8.png"/><Relationship Id="rId8" Type="http://schemas.openxmlformats.org/officeDocument/2006/relationships/image" Target="../media/image36.png"/><Relationship Id="rId9" Type="http://schemas.openxmlformats.org/officeDocument/2006/relationships/image" Target="../media/image12.png"/><Relationship Id="rId10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5.png"/><Relationship Id="rId5" Type="http://schemas.openxmlformats.org/officeDocument/2006/relationships/image" Target="../media/image5.png"/><Relationship Id="rId6" Type="http://schemas.openxmlformats.org/officeDocument/2006/relationships/image" Target="../media/image32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ul-sampul-reh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masjid yang tetap berdiri setelah tsunami Aceh, Banda Aceh, 2005; USGS, domain publik,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Grand Design Rehabilitasi dan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Rekonstruksi Air dan Akses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Pascabencana 2026–2030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lang="id-ID">
                <a:solidFill>
                  <a:srgbClr val="C9D1E3"/>
                </a:solidFill>
                <a:latin typeface="Roboto"/>
              </a:rPr>
              <a:t>Sistem Perpipaan, Pemanfaatan Air Tanah, dan Jembatan untuk Pemulihan Daerah Terdampak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22700"/>
            <a:ext cx="566928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lang="id-ID">
                <a:solidFill>
                  <a:srgbClr val="F6B26B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27500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lang="id-ID">
                <a:solidFill>
                  <a:srgbClr val="C9D1E3"/>
                </a:solidFill>
                <a:latin typeface="Roboto"/>
              </a:rPr>
              <a:t>Disampaikan kepada Kepala Badan Nasional Penanggulangan Bencana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4478338"/>
            <a:ext cx="5120640" cy="0"/>
          </a:xfrm>
          <a:prstGeom prst="line">
            <a:avLst/>
          </a:prstGeom>
          <a:ln w="9525">
            <a:solidFill>
              <a:srgbClr val="8C9AA8"/>
            </a:solidFill>
          </a:ln>
        </p:spPr>
      </p:cxnSp>
      <p:sp>
        <p:nvSpPr>
          <p:cNvPr id="11" name="Rounded Rectangle 10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lang="id-ID">
                <a:solidFill>
                  <a:srgbClr val="051C2C"/>
                </a:solidFill>
                <a:latin typeface="Roboto"/>
              </a:rPr>
              <a:t>Senin, 26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lang="id-ID">
                <a:solidFill>
                  <a:srgbClr val="1A1A1A"/>
                </a:solidFill>
                <a:latin typeface="Roboto"/>
              </a:rPr>
              <a:t>Waktu pulih air dan akses diusulkan menjadi ukuran keberhasilan</a:t>
            </a:r>
            <a:br/>
            <a:r>
              <a:rPr sz="2000" b="1" lang="id-ID">
                <a:solidFill>
                  <a:srgbClr val="1A1A1A"/>
                </a:solidFill>
                <a:latin typeface="Roboto"/>
              </a:rPr>
              <a:t>rehabilitasi dan rekonstruksi, dengan empat keputusan Kepala BNPB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D9600B"/>
                </a:solidFill>
                <a:latin typeface="Roboto"/>
              </a:rPr>
              <a:t>KEPUTUSAN YANG DIMINTA DARI KEPALA BNPB</a:t>
            </a:r>
          </a:p>
        </p:txBody>
      </p:sp>
      <p:sp>
        <p:nvSpPr>
          <p:cNvPr id="11" name="Oval 10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060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Ukuran waktu pulih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060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Tetapkan waktu pulih air dan akses sebagai ukuran RR; baseline 2027.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22320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3395345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pembiayaan-FFFFFF-5387a3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545" y="5684520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15715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Jalur dana aset desa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5715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Usulkan jalur dana jembatan dan SPAM desa bersama Kemenkeu dan Kemendes.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22975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6096000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684520"/>
            <a:ext cx="177800" cy="177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16370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Ikat jembatan ke rencana 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370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Ikat jembatan TNI AD dan Polri ke rencana RR lewat Satgas dan rakor.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23630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8796655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air-tanah-FFFFFF-400248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2855" y="5684520"/>
            <a:ext cx="177800" cy="177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217025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Protokol sumur bor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025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Tugaskan protokol sumur bor RR bersama Badan Geologi, 100 hari.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ringkasan-FFFFFF-28e56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56640" y="128270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Pesan kunci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640" y="1841500"/>
            <a:ext cx="108407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Berdasarkan data DIBI, terdapat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3.833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jembatan rusak pada 2018–2025,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1.088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pada 2025 saja, tanpa satu pun kolom air; Grand Design 2026–2030 menjadikan waktu pulih akses dan air ukuran keberhasilan rehabilitasi dan rekonstruksi.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5640" y="227330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675640" y="260910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infrastruktur-FFFFFF-ba1c96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586" y="2685055"/>
            <a:ext cx="178308" cy="1783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20140" y="260910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3437" y="2609109"/>
            <a:ext cx="3483950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Beban akses.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Berdasarkan data DIBI, terdapat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3.833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jembatan rusak pada 2018–2025,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1.088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pada 2025 saja.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48987" y="269165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564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675640" y="351250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rumah-FFFFFF-320df64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586" y="3588448"/>
            <a:ext cx="178308" cy="17830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120140" y="3512502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63437" y="3512502"/>
            <a:ext cx="3483950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Beban rumah.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62,4%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rumah rusak berat 2018–2025 jatuh pada 2018 dan 2025 saja.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48987" y="359505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75640" y="4130887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675640" y="441589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infrastruktur-FFFFFF-ba1c96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586" y="4491842"/>
            <a:ext cx="178308" cy="1783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120140" y="4415896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63437" y="4415896"/>
            <a:ext cx="3483950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Akses daerah.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67%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jembatan daerah Sumatra berfungsi per Mei 2026, lawan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100%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jalan dan jembatan nasional.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548987" y="449844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6" name="Oval 55"/>
          <p:cNvSpPr/>
          <p:nvPr/>
        </p:nvSpPr>
        <p:spPr>
          <a:xfrm>
            <a:off x="6248400" y="252576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7" name="Picture 56" descr="air-baku-FFFFFF-271d6c2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346" y="2601711"/>
            <a:ext cx="178308" cy="17830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692900" y="252576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36197" y="2525765"/>
            <a:ext cx="3483950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Air perpipaan.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95,5%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178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SPAM Sumatra berfungsi pada Mei 2026, dihitung sebagai unit; jumlah jiwa yang menerima air tidak terukur.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121747" y="2608315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24840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Oval 61"/>
          <p:cNvSpPr/>
          <p:nvPr/>
        </p:nvSpPr>
        <p:spPr>
          <a:xfrm>
            <a:off x="6248400" y="342915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3" name="Picture 62" descr="wilayah-FFFFFF-37dca10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346" y="3505105"/>
            <a:ext cx="178308" cy="17830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692900" y="342915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36197" y="3429159"/>
            <a:ext cx="3483950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Program jembatan.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TNI AD mengerjakan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3.008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titik dan Polri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895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unit; biaya satuan dan tautan ke rencana RR tidak diumumkan.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121747" y="351170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248400" y="4130887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Oval 67"/>
          <p:cNvSpPr/>
          <p:nvPr/>
        </p:nvSpPr>
        <p:spPr>
          <a:xfrm>
            <a:off x="6248400" y="433255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9" name="Picture 68" descr="regulasi-FFFFFF-e639fe9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346" y="4408498"/>
            <a:ext cx="178308" cy="17830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692900" y="4332552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36197" y="4332552"/>
            <a:ext cx="3483950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Kesenjangan.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Hibah RR mengecualikan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7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jenis pembiayaan termasuk aset desa; berdasarkan data DIBI, terdapat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0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kolom air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19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kolom dampak.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1121747" y="441510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2018–2025; Kementerian PU (rilis Februari dan Mei 2026); Kementerian Sekretariat Negara, Agustus 2026; Perban BNPB tentang hibah RR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A1. Bencana alam merusak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3.833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jembatan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pada 2018–2025,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1.088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di antaranya pada 2025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61731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PENYEBAB DAN SEBARAN</a:t>
            </a:r>
          </a:p>
        </p:txBody>
      </p:sp>
      <p:pic>
        <p:nvPicPr>
          <p:cNvPr id="11" name="Picture 10" descr="infrastruktur-FFFFFF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banjir-051C2C-364735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89,2%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jembatan rusak karena banjir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wilayah-051C2C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jembatan rusak di Aceh, 2025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wilayah-051C2C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tiga provinsi Sumatra, 2025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PEMULIHAN AKSES SETELAH BANJIR SUMATRA 2025</a:t>
            </a:r>
          </a:p>
        </p:txBody>
      </p:sp>
      <p:sp>
        <p:nvSpPr>
          <p:cNvPr id="30" name="Oval 29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infrastruktur-FFFFFF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Jalan dan jembatan nasional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Seluruh jalan dan jembatan nasional yang terdampak kembali fungsional per Mei 2026.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infrastruktur-FFFFFF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Jembatan daerah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67%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dapat difungsikan kembali pada tanggal yang sama.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wilayah-FFFFFF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Sebaran provinsi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54,5%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jembatan rusak 2018–2025 berada di enam provinsi.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346960"/>
            <a:ext cx="776630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776630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2575560"/>
            <a:ext cx="776630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8640" y="2346960"/>
            <a:ext cx="776630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infrastruktur-FFFFFF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7793331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640" y="2346960"/>
            <a:ext cx="6609691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Jembatan rusak akibat bencana alam per tahun, 2018–2025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640" y="2905760"/>
            <a:ext cx="4507382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lang="id-ID">
                <a:solidFill>
                  <a:srgbClr val="1A1A1A"/>
                </a:solidFill>
                <a:latin typeface="Roboto"/>
              </a:rPr>
              <a:t>Unit jembatan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55524" y="2905760"/>
            <a:ext cx="63242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1" lang="id-ID">
                <a:solidFill>
                  <a:srgbClr val="D9600B"/>
                </a:solidFill>
                <a:latin typeface="Roboto"/>
              </a:rPr>
              <a:t>naik 177,6%</a:t>
            </a:r>
          </a:p>
        </p:txBody>
      </p:sp>
      <p:sp>
        <p:nvSpPr>
          <p:cNvPr id="54" name="Isosceles Triangle 53"/>
          <p:cNvSpPr/>
          <p:nvPr/>
        </p:nvSpPr>
        <p:spPr>
          <a:xfrm>
            <a:off x="7441224" y="2976880"/>
            <a:ext cx="76200" cy="6096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>
            <a:off x="834233" y="4221349"/>
            <a:ext cx="517514" cy="533531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5640" y="4068949"/>
            <a:ext cx="834700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392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640" y="4780280"/>
            <a:ext cx="8347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Rerata 2018–2024</a:t>
            </a:r>
          </a:p>
        </p:txBody>
      </p:sp>
      <p:sp>
        <p:nvSpPr>
          <p:cNvPr id="58" name="Round Same Side Corner Rectangle 57"/>
          <p:cNvSpPr/>
          <p:nvPr/>
        </p:nvSpPr>
        <p:spPr>
          <a:xfrm>
            <a:off x="1668934" y="4380592"/>
            <a:ext cx="517514" cy="374288"/>
          </a:xfrm>
          <a:prstGeom prst="round2SameRect">
            <a:avLst>
              <a:gd name="adj1" fmla="val 30418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10340" y="4228192"/>
            <a:ext cx="834700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275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10340" y="4780280"/>
            <a:ext cx="8347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2018</a:t>
            </a:r>
          </a:p>
        </p:txBody>
      </p:sp>
      <p:sp>
        <p:nvSpPr>
          <p:cNvPr id="61" name="Isosceles Triangle 60"/>
          <p:cNvSpPr/>
          <p:nvPr/>
        </p:nvSpPr>
        <p:spPr>
          <a:xfrm rot="10800000">
            <a:off x="1786583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62783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29,8%</a:t>
            </a:r>
          </a:p>
        </p:txBody>
      </p:sp>
      <p:sp>
        <p:nvSpPr>
          <p:cNvPr id="63" name="Round Same Side Corner Rectangle 62"/>
          <p:cNvSpPr/>
          <p:nvPr/>
        </p:nvSpPr>
        <p:spPr>
          <a:xfrm>
            <a:off x="2503634" y="4165546"/>
            <a:ext cx="517514" cy="58933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45041" y="4013146"/>
            <a:ext cx="834700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433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45041" y="4780280"/>
            <a:ext cx="8347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2019</a:t>
            </a:r>
          </a:p>
        </p:txBody>
      </p:sp>
      <p:sp>
        <p:nvSpPr>
          <p:cNvPr id="66" name="Isosceles Triangle 65"/>
          <p:cNvSpPr/>
          <p:nvPr/>
        </p:nvSpPr>
        <p:spPr>
          <a:xfrm>
            <a:off x="2621283" y="494411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97483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57,5%</a:t>
            </a:r>
          </a:p>
        </p:txBody>
      </p:sp>
      <p:sp>
        <p:nvSpPr>
          <p:cNvPr id="68" name="Round Same Side Corner Rectangle 67"/>
          <p:cNvSpPr/>
          <p:nvPr/>
        </p:nvSpPr>
        <p:spPr>
          <a:xfrm>
            <a:off x="3338334" y="4092050"/>
            <a:ext cx="517514" cy="66283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79741" y="3939650"/>
            <a:ext cx="834700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487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9741" y="4780280"/>
            <a:ext cx="8347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2020</a:t>
            </a:r>
          </a:p>
        </p:txBody>
      </p:sp>
      <p:sp>
        <p:nvSpPr>
          <p:cNvPr id="71" name="Isosceles Triangle 70"/>
          <p:cNvSpPr/>
          <p:nvPr/>
        </p:nvSpPr>
        <p:spPr>
          <a:xfrm>
            <a:off x="3455984" y="494411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532184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12,5%</a:t>
            </a:r>
          </a:p>
        </p:txBody>
      </p:sp>
      <p:sp>
        <p:nvSpPr>
          <p:cNvPr id="73" name="Round Same Side Corner Rectangle 72"/>
          <p:cNvSpPr/>
          <p:nvPr/>
        </p:nvSpPr>
        <p:spPr>
          <a:xfrm>
            <a:off x="4173035" y="4067551"/>
            <a:ext cx="517514" cy="687329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14442" y="3915151"/>
            <a:ext cx="834700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505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14442" y="4780280"/>
            <a:ext cx="8347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2021</a:t>
            </a:r>
          </a:p>
        </p:txBody>
      </p:sp>
      <p:sp>
        <p:nvSpPr>
          <p:cNvPr id="76" name="Isosceles Triangle 75"/>
          <p:cNvSpPr/>
          <p:nvPr/>
        </p:nvSpPr>
        <p:spPr>
          <a:xfrm>
            <a:off x="4312543" y="494411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88743" y="4907280"/>
            <a:ext cx="187697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3,7%</a:t>
            </a:r>
          </a:p>
        </p:txBody>
      </p:sp>
      <p:sp>
        <p:nvSpPr>
          <p:cNvPr id="78" name="Round Same Side Corner Rectangle 77"/>
          <p:cNvSpPr/>
          <p:nvPr/>
        </p:nvSpPr>
        <p:spPr>
          <a:xfrm>
            <a:off x="5007735" y="4289402"/>
            <a:ext cx="517514" cy="465478"/>
          </a:xfrm>
          <a:prstGeom prst="round2SameRect">
            <a:avLst>
              <a:gd name="adj1" fmla="val 24459"/>
              <a:gd name="adj2" fmla="val 0"/>
            </a:avLst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49142" y="4137002"/>
            <a:ext cx="834700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342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49142" y="4780280"/>
            <a:ext cx="8347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2022</a:t>
            </a:r>
          </a:p>
        </p:txBody>
      </p:sp>
      <p:sp>
        <p:nvSpPr>
          <p:cNvPr id="81" name="Isosceles Triangle 80"/>
          <p:cNvSpPr/>
          <p:nvPr/>
        </p:nvSpPr>
        <p:spPr>
          <a:xfrm rot="10800000">
            <a:off x="5125385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01585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32,3%</a:t>
            </a:r>
          </a:p>
        </p:txBody>
      </p:sp>
      <p:sp>
        <p:nvSpPr>
          <p:cNvPr id="83" name="Round Same Side Corner Rectangle 82"/>
          <p:cNvSpPr/>
          <p:nvPr/>
        </p:nvSpPr>
        <p:spPr>
          <a:xfrm>
            <a:off x="5842436" y="4403730"/>
            <a:ext cx="517514" cy="351150"/>
          </a:xfrm>
          <a:prstGeom prst="round2SameRect">
            <a:avLst>
              <a:gd name="adj1" fmla="val 32422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83843" y="4251330"/>
            <a:ext cx="834700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258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83843" y="4780280"/>
            <a:ext cx="8347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2023</a:t>
            </a:r>
          </a:p>
        </p:txBody>
      </p:sp>
      <p:sp>
        <p:nvSpPr>
          <p:cNvPr id="86" name="Isosceles Triangle 85"/>
          <p:cNvSpPr/>
          <p:nvPr/>
        </p:nvSpPr>
        <p:spPr>
          <a:xfrm rot="10800000">
            <a:off x="5960085" y="4944110"/>
            <a:ext cx="50800" cy="40640"/>
          </a:xfrm>
          <a:prstGeom prst="triangl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36285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2F86D1"/>
                </a:solidFill>
                <a:latin typeface="Roboto"/>
              </a:rPr>
              <a:t>24,6%</a:t>
            </a:r>
          </a:p>
        </p:txBody>
      </p:sp>
      <p:sp>
        <p:nvSpPr>
          <p:cNvPr id="88" name="Round Same Side Corner Rectangle 87"/>
          <p:cNvSpPr/>
          <p:nvPr/>
        </p:nvSpPr>
        <p:spPr>
          <a:xfrm>
            <a:off x="6677136" y="4149214"/>
            <a:ext cx="517514" cy="60566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518543" y="3996814"/>
            <a:ext cx="834700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445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18543" y="4780280"/>
            <a:ext cx="8347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2024</a:t>
            </a:r>
          </a:p>
        </p:txBody>
      </p:sp>
      <p:sp>
        <p:nvSpPr>
          <p:cNvPr id="91" name="Isosceles Triangle 90"/>
          <p:cNvSpPr/>
          <p:nvPr/>
        </p:nvSpPr>
        <p:spPr>
          <a:xfrm>
            <a:off x="6794786" y="494411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870986" y="4907280"/>
            <a:ext cx="231415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72,5%</a:t>
            </a:r>
          </a:p>
        </p:txBody>
      </p:sp>
      <p:sp>
        <p:nvSpPr>
          <p:cNvPr id="93" name="Round Same Side Corner Rectangle 92"/>
          <p:cNvSpPr/>
          <p:nvPr/>
        </p:nvSpPr>
        <p:spPr>
          <a:xfrm>
            <a:off x="7511837" y="3274060"/>
            <a:ext cx="517514" cy="148082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53244" y="3121660"/>
            <a:ext cx="834700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760" b="1" lang="id-ID">
                <a:solidFill>
                  <a:srgbClr val="1A1A1A"/>
                </a:solidFill>
                <a:latin typeface="Roboto"/>
              </a:rPr>
              <a:t>1.088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53244" y="4780280"/>
            <a:ext cx="8347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2025</a:t>
            </a:r>
          </a:p>
        </p:txBody>
      </p:sp>
      <p:sp>
        <p:nvSpPr>
          <p:cNvPr id="96" name="Isosceles Triangle 95"/>
          <p:cNvSpPr/>
          <p:nvPr/>
        </p:nvSpPr>
        <p:spPr>
          <a:xfrm>
            <a:off x="7607627" y="4944110"/>
            <a:ext cx="50800" cy="4064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83827" y="4907280"/>
            <a:ext cx="275134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00" b="1" lang="id-ID">
                <a:solidFill>
                  <a:srgbClr val="D9600B"/>
                </a:solidFill>
                <a:latin typeface="Roboto"/>
              </a:rPr>
              <a:t>144,5%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75640" y="4754880"/>
            <a:ext cx="7512304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99" name="Rounded Rectangle 98"/>
          <p:cNvSpPr/>
          <p:nvPr/>
        </p:nvSpPr>
        <p:spPr>
          <a:xfrm>
            <a:off x="8452104" y="2346960"/>
            <a:ext cx="319125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8452104" y="2346960"/>
            <a:ext cx="319125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52104" y="2575560"/>
            <a:ext cx="319125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8452104" y="2346960"/>
            <a:ext cx="319125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579104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4" name="Picture 103" descr="infrastruktur-FFFFFF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254" y="2486660"/>
            <a:ext cx="177800" cy="177800"/>
          </a:xfrm>
          <a:prstGeom prst="rect">
            <a:avLst/>
          </a:prstGeom>
        </p:spPr>
      </p:pic>
      <p:sp>
        <p:nvSpPr>
          <p:cNvPr id="105" name="Rounded Rectangle 104"/>
          <p:cNvSpPr/>
          <p:nvPr/>
        </p:nvSpPr>
        <p:spPr>
          <a:xfrm>
            <a:off x="11121747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60104" y="2346960"/>
            <a:ext cx="2034643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Jembatan rusak 2025 per jenis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54694" y="2905760"/>
            <a:ext cx="166261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JENIS BENCANA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517310" y="2919730"/>
            <a:ext cx="89745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JEMBATAN</a:t>
            </a:r>
          </a:p>
        </p:txBody>
      </p:sp>
      <p:pic>
        <p:nvPicPr>
          <p:cNvPr id="109" name="Picture 108" descr="infrastruktur-FFFFFF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8750" y="2954477"/>
            <a:ext cx="113386" cy="113386"/>
          </a:xfrm>
          <a:prstGeom prst="rect">
            <a:avLst/>
          </a:prstGeom>
        </p:spPr>
      </p:pic>
      <p:cxnSp>
        <p:nvCxnSpPr>
          <p:cNvPr id="110" name="Connector 109"/>
          <p:cNvCxnSpPr/>
          <p:nvPr/>
        </p:nvCxnSpPr>
        <p:spPr>
          <a:xfrm>
            <a:off x="8579104" y="3116580"/>
            <a:ext cx="293725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11" name="Oval 110"/>
          <p:cNvSpPr/>
          <p:nvPr/>
        </p:nvSpPr>
        <p:spPr>
          <a:xfrm>
            <a:off x="8579104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54694" y="3116580"/>
            <a:ext cx="16118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Banjir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517310" y="3116580"/>
            <a:ext cx="8974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1.021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8579104" y="3383280"/>
            <a:ext cx="293725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5" name="Oval 114"/>
          <p:cNvSpPr/>
          <p:nvPr/>
        </p:nvSpPr>
        <p:spPr>
          <a:xfrm>
            <a:off x="8579104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854694" y="3383280"/>
            <a:ext cx="16118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Longsor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17310" y="3383280"/>
            <a:ext cx="8974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39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8579104" y="3649980"/>
            <a:ext cx="293725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9" name="Oval 118"/>
          <p:cNvSpPr/>
          <p:nvPr/>
        </p:nvSpPr>
        <p:spPr>
          <a:xfrm>
            <a:off x="8579104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854694" y="3649980"/>
            <a:ext cx="16118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Cuaca ekstrem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517310" y="3649980"/>
            <a:ext cx="8974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8579104" y="3916680"/>
            <a:ext cx="293725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3" name="Oval 122"/>
          <p:cNvSpPr/>
          <p:nvPr/>
        </p:nvSpPr>
        <p:spPr>
          <a:xfrm>
            <a:off x="8579104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854694" y="3916680"/>
            <a:ext cx="16118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Gempabumi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517310" y="3916680"/>
            <a:ext cx="8974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8579104" y="4183380"/>
            <a:ext cx="293725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7" name="Oval 126"/>
          <p:cNvSpPr/>
          <p:nvPr/>
        </p:nvSpPr>
        <p:spPr>
          <a:xfrm>
            <a:off x="8579104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854694" y="4183380"/>
            <a:ext cx="161181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Erupsi gunung api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517310" y="4183380"/>
            <a:ext cx="8974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2018–2025 (olah Pantau Bencana); Kementerian PU, Mei 2026; seri jembatan baru terisi sejak 2018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A2. Enam kejadian besar sejak 2009 masing-masing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merusak lebih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50.000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rumah menurut DIBI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650981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PRESEDEN DI LUAR TABEL</a:t>
            </a:r>
          </a:p>
        </p:txBody>
      </p:sp>
      <p:pic>
        <p:nvPicPr>
          <p:cNvPr id="11" name="Picture 10" descr="rumah-FFFFFF-320df6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rumah-051C2C-320df6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139.195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hancur atau rusak berat, Aceh 2004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jiwa-051C2C-9b7037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127.720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meninggal di Aceh dan Nias menurut BRR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rumah-051C2C-320df6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114.315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rusak, Cianjur 2022 menurut rencana RR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BATAS WAKTU RENCANA PEMULIHAN</a:t>
            </a:r>
          </a:p>
        </p:txBody>
      </p:sp>
      <p:sp>
        <p:nvSpPr>
          <p:cNvPr id="30" name="Oval 29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Penyusunan rencana RR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Paling lama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90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hari dan dimulai pada saat tanggap darurat.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Jangka rencana RR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Paling lama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3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tahun menurut peraturan BNPB.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Rencana RR Aceh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Rencana selesai disusun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35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hari setelah kejadian dan tiba di BNPB pada hari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41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rumah-FFFFFF-320df6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besar menurut DIBI, jendela kejadian pilihan penyusun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640" y="2905760"/>
            <a:ext cx="170769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KEJADIAN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83338" y="2905760"/>
            <a:ext cx="170769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JENIS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91037" y="2919730"/>
            <a:ext cx="107920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RUMAH RUSAK</a:t>
            </a:r>
          </a:p>
        </p:txBody>
      </p:sp>
      <p:pic>
        <p:nvPicPr>
          <p:cNvPr id="55" name="Picture 54" descr="rumah-FFFFFF-320df6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477" y="2954477"/>
            <a:ext cx="113386" cy="113386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5271843" y="2919730"/>
            <a:ext cx="875636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60" b="1" lang="id-ID" spc="100">
                <a:solidFill>
                  <a:srgbClr val="FFFFFF"/>
                </a:solidFill>
                <a:latin typeface="Roboto"/>
              </a:rPr>
              <a:t>RUSAK BERAT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49080" y="2919730"/>
            <a:ext cx="949687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MENGUNGSI</a:t>
            </a:r>
          </a:p>
        </p:txBody>
      </p:sp>
      <p:pic>
        <p:nvPicPr>
          <p:cNvPr id="58" name="Picture 57" descr="pengungsi-FFFFFF-65a2f7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0520" y="2954477"/>
            <a:ext cx="113386" cy="113386"/>
          </a:xfrm>
          <a:prstGeom prst="rect">
            <a:avLst/>
          </a:prstGeom>
        </p:spPr>
      </p:pic>
      <p:cxnSp>
        <p:nvCxnSpPr>
          <p:cNvPr id="59" name="Connector 58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75640" y="311658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Padang 2009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83338" y="311658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gempa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91037" y="3116580"/>
            <a:ext cx="107920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271.540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71843" y="3116580"/>
            <a:ext cx="8756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119.005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49080" y="311658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6.554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675640" y="338328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Lombok 2018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83338" y="338328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gempa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91037" y="3383280"/>
            <a:ext cx="107920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217.855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71843" y="3383280"/>
            <a:ext cx="8756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75.160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9080" y="338328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406.202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364998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Sulawesi Tengah 2018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83338" y="364998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gempa, tsunami, likuefaksi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91037" y="3649980"/>
            <a:ext cx="107920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110.214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71843" y="3649980"/>
            <a:ext cx="8756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34.166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49080" y="364998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212.719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8" name="TextBox 77"/>
          <p:cNvSpPr txBox="1"/>
          <p:nvPr/>
        </p:nvSpPr>
        <p:spPr>
          <a:xfrm>
            <a:off x="675640" y="391668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Seroja 2021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83338" y="391668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banjir, longsor, cuaca ekstrem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91037" y="3916680"/>
            <a:ext cx="107920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54.268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71843" y="3916680"/>
            <a:ext cx="8756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5.882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49080" y="391668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58.192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75640" y="41833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4" name="TextBox 83"/>
          <p:cNvSpPr txBox="1"/>
          <p:nvPr/>
        </p:nvSpPr>
        <p:spPr>
          <a:xfrm>
            <a:off x="675640" y="418338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Cianjur 2022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83338" y="418338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gempa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91037" y="4183380"/>
            <a:ext cx="107920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57.337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71843" y="4183380"/>
            <a:ext cx="8756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13.730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49080" y="418338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115.382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75640" y="44500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0" name="TextBox 89"/>
          <p:cNvSpPr txBox="1"/>
          <p:nvPr/>
        </p:nvSpPr>
        <p:spPr>
          <a:xfrm>
            <a:off x="675640" y="445008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Sumatra 2025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383338" y="4450080"/>
            <a:ext cx="1656898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banjir, longsor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91037" y="4450080"/>
            <a:ext cx="107920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228.006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71843" y="4450080"/>
            <a:ext cx="87563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62.956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49080" y="4450080"/>
            <a:ext cx="94968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970.876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ringkasan-FFFFFF-28e5662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691526" y="2905760"/>
            <a:ext cx="3824834" cy="2128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Berdasarkan data DIBI, rusak sedang Padang 2009 bernilai nol, sehingga rusak berat dapat memuat rusak sedang.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Cianjur 2022 memiliki tiga angka resmi rumah rusak yang berbeda antardokumen.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Aceh 2004 tidak ada di DIBI; angkanya dari laporan BRR pada kajian.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Tidak satu pun program RR preseden berbukti kuat.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BNPB, kejadian besar; BRR NAD–Nias (2009); rencana RR Kabupaten Cianjur; Perban BNPB tentang rencana RR; Kemenko PMK (2026)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A3. Enam provinsi menanggung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54,5%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jembatan rusak pada 2018–2025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CARA MEMBACA PETA JEMBATAN RUSAK</a:t>
            </a:r>
          </a:p>
        </p:txBody>
      </p:sp>
      <p:sp>
        <p:nvSpPr>
          <p:cNvPr id="11" name="Oval 10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Enam provinsi teratas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54,5%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jembatan rusak 2018–2025 berada di enam provinsi.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Aceh pada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480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jembatan rusak dalam satu tahun.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Tiga provinsi Sumatra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744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jembatan rusak pada 2025, dari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1.088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jembatan se-Indonesia.</a:t>
            </a:r>
          </a:p>
        </p:txBody>
      </p:sp>
      <p:pic>
        <p:nvPicPr>
          <p:cNvPr id="25" name="Picture 24" descr="peta-jembatan-provin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022" y="1282700"/>
            <a:ext cx="7196168" cy="34467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942425" y="4805680"/>
            <a:ext cx="1237605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Jembatan rusak 2018–2025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07030" y="4843780"/>
            <a:ext cx="101600" cy="101600"/>
          </a:xfrm>
          <a:prstGeom prst="rect">
            <a:avLst/>
          </a:prstGeom>
          <a:solidFill>
            <a:srgbClr val="2F86D1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9430" y="4805680"/>
            <a:ext cx="179375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bulatan sebanding jumlah jembatan rusak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6960" y="481203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8072933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Batas wilayah public/geo Pantau Bencana (asal belum terdokumentasi); WGS84 geografis; ekuirektangular; Batas wilayah bukan rujukan resmi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8733" y="1282700"/>
            <a:ext cx="2884627" cy="3840480"/>
          </a:xfrm>
          <a:prstGeom prst="roundRect">
            <a:avLst>
              <a:gd name="adj" fmla="val 189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58733" y="1282700"/>
            <a:ext cx="2884627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58733" y="1511300"/>
            <a:ext cx="2884627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758733" y="1282700"/>
            <a:ext cx="2884627" cy="3840480"/>
          </a:xfrm>
          <a:prstGeom prst="roundRect">
            <a:avLst>
              <a:gd name="adj" fmla="val 1893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85733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83" y="1422400"/>
            <a:ext cx="177800" cy="17780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6733" y="1282700"/>
            <a:ext cx="17280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Provinsi teratas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1323" y="1841500"/>
            <a:ext cx="135598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17310" y="1855470"/>
            <a:ext cx="897450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JEMBATAN</a:t>
            </a:r>
          </a:p>
        </p:txBody>
      </p:sp>
      <p:pic>
        <p:nvPicPr>
          <p:cNvPr id="41" name="Picture 40" descr="infrastruktur-FFFFFF-ba1c96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8750" y="1890217"/>
            <a:ext cx="113386" cy="113386"/>
          </a:xfrm>
          <a:prstGeom prst="rect">
            <a:avLst/>
          </a:prstGeom>
        </p:spPr>
      </p:pic>
      <p:cxnSp>
        <p:nvCxnSpPr>
          <p:cNvPr id="42" name="Connector 41"/>
          <p:cNvCxnSpPr/>
          <p:nvPr/>
        </p:nvCxnSpPr>
        <p:spPr>
          <a:xfrm>
            <a:off x="8885733" y="2052320"/>
            <a:ext cx="2630627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8885733" y="209075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1323" y="2052320"/>
            <a:ext cx="1305187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Aceh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7310" y="2052320"/>
            <a:ext cx="897450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633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885733" y="2303170"/>
            <a:ext cx="2630627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7" name="Oval 46"/>
          <p:cNvSpPr/>
          <p:nvPr/>
        </p:nvSpPr>
        <p:spPr>
          <a:xfrm>
            <a:off x="8885733" y="234160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1323" y="2303170"/>
            <a:ext cx="1305187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Sumatera Barat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7310" y="2303170"/>
            <a:ext cx="897450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521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885733" y="2554021"/>
            <a:ext cx="2630627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8885733" y="259245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61323" y="2554021"/>
            <a:ext cx="1305187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Sulawesi Selatan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7310" y="2554021"/>
            <a:ext cx="897450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280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885733" y="2804871"/>
            <a:ext cx="2630627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5" name="Oval 54"/>
          <p:cNvSpPr/>
          <p:nvPr/>
        </p:nvSpPr>
        <p:spPr>
          <a:xfrm>
            <a:off x="8885733" y="284330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61323" y="2804871"/>
            <a:ext cx="1305187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7310" y="2804871"/>
            <a:ext cx="897450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236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885733" y="3055722"/>
            <a:ext cx="2630627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9" name="Oval 58"/>
          <p:cNvSpPr/>
          <p:nvPr/>
        </p:nvSpPr>
        <p:spPr>
          <a:xfrm>
            <a:off x="8885733" y="309415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61323" y="3055722"/>
            <a:ext cx="1305187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7310" y="3055722"/>
            <a:ext cx="897450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215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885733" y="3306572"/>
            <a:ext cx="2630627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8885733" y="334500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61323" y="3306572"/>
            <a:ext cx="1305187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17310" y="3306572"/>
            <a:ext cx="897450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204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885733" y="3557422"/>
            <a:ext cx="2630627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7" name="Oval 66"/>
          <p:cNvSpPr/>
          <p:nvPr/>
        </p:nvSpPr>
        <p:spPr>
          <a:xfrm>
            <a:off x="8885733" y="359585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61323" y="3557422"/>
            <a:ext cx="1305187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Sumatera Utara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17310" y="3557422"/>
            <a:ext cx="897450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194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885733" y="3808273"/>
            <a:ext cx="2630627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8885733" y="384670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61323" y="3808273"/>
            <a:ext cx="1305187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Kalimantan Barat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7310" y="3808273"/>
            <a:ext cx="897450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192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885733" y="4059123"/>
            <a:ext cx="2630627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Oval 74"/>
          <p:cNvSpPr/>
          <p:nvPr/>
        </p:nvSpPr>
        <p:spPr>
          <a:xfrm>
            <a:off x="8885733" y="409755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61323" y="4059123"/>
            <a:ext cx="1305187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Nusa Tenggara Timur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7310" y="4059123"/>
            <a:ext cx="897450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885733" y="4309974"/>
            <a:ext cx="2630627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9" name="Oval 78"/>
          <p:cNvSpPr/>
          <p:nvPr/>
        </p:nvSpPr>
        <p:spPr>
          <a:xfrm>
            <a:off x="8885733" y="434840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61323" y="4309974"/>
            <a:ext cx="1305187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Sumatera Selatan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7310" y="4309974"/>
            <a:ext cx="897450" cy="250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85733" y="4687824"/>
            <a:ext cx="2630627" cy="346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Tujuh belas provinsi kehilangan jembatan di kedelapan tahun, sehingga akses darurat adalah kebutuhan rutin.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2018–2025 (olah Pantau Bencana)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lang="id-ID">
                <a:solidFill>
                  <a:srgbClr val="1A1A1A"/>
                </a:solidFill>
                <a:latin typeface="Roboto"/>
              </a:rPr>
              <a:t>B1. Program jembatan TNI AD mengerjakan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3.008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titik,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798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di daerah</a:t>
            </a:r>
            <a:br/>
            <a:r>
              <a:rPr sz="2000" b="1" lang="id-ID">
                <a:solidFill>
                  <a:srgbClr val="1A1A1A"/>
                </a:solidFill>
                <a:latin typeface="Roboto"/>
              </a:rPr>
              <a:t>bencana; biaya satuan dan tautan ke rencana RR tidak diumumkan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67443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AKSES</a:t>
            </a:r>
          </a:p>
        </p:txBody>
      </p:sp>
      <p:pic>
        <p:nvPicPr>
          <p:cNvPr id="11" name="Picture 10" descr="infrastruktur-FFFFFF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nfrastruktur-051C2C-ba1c96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2.500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titik TNI AD selesai, Agt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infrastruktur-051C2C-ba1c96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874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unit Polri selesai, Agt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infrastruktur-051C2C-ba1c96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paket jembatan gantung PU, 2025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PEMULIHAN JEMBATAN SUMATRA 2025</a:t>
            </a:r>
          </a:p>
        </p:txBody>
      </p:sp>
      <p:sp>
        <p:nvSpPr>
          <p:cNvPr id="30" name="Oval 29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infrastruktur-FFFFFF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Jalan dan jembatan nasional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Seluruh jalan dan jembatan nasional yang terdampak kembali fungsional per Mei 2026.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infrastruktur-FFFFFF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Jembatan daerah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67%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dapat difungsikan kembali.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wilayah-FFFFFF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Jembatan rusak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744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jembatan rusak di tiga provinsi Sumatra.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infrastruktur-FFFFFF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Program jembatan menurut pemilik dan wilayah bencana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640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PROGRAM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31822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PEMILIK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88003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WILAYAH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44185" y="2905760"/>
            <a:ext cx="165618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BIAYA SATUAN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75640" y="31165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Program TNI AD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31822" y="31165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TNI AD, KSAD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88003" y="31165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daerah bencana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44185" y="31165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diumumkan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675640" y="33832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Merah Putih Presisi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31822" y="33832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Polri, swadaya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88003" y="33832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wilayah bencana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44185" y="33832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diumumkan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7" name="TextBox 66"/>
          <p:cNvSpPr txBox="1"/>
          <p:nvPr/>
        </p:nvSpPr>
        <p:spPr>
          <a:xfrm>
            <a:off x="675640" y="36499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Jembatan gantung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31822" y="36499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88003" y="36499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dikaitkan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44185" y="36499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hitungan penyusun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39166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Bailey DSP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31822" y="39166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BNPB, hibah barang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88003" y="39166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tanggap darurat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44185" y="3916680"/>
            <a:ext cx="160538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diumumkan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1" name="Picture 80" descr="ringkasan-FFFFFF-28e56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Status nama Jembatan Merah Putih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91526" y="2905760"/>
            <a:ext cx="3824834" cy="2128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Satu-satunya pemakaian resmi yang dibuka adalah Jembatan Merah Putih Presisi Polri.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Rilis resmi TNI AD tidak memakai nama satgas atau Jembatan Garuda.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Tidak ada program nasional tunggal bernama Jembatan Merah Putih.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Kementerian Sekretariat Negara, Agustus 2026; Sekretariat Kabinet, Maret 2026; Polri; Kementerian 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B2.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95,5%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178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SPAM Sumatra berfungsi pada Mei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2026, tetapi jiwa yang kembali mendapat air tidak tercatat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13067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AIR PERPIPAAN</a:t>
            </a:r>
          </a:p>
        </p:txBody>
      </p:sp>
      <p:pic>
        <p:nvPicPr>
          <p:cNvPr id="11" name="Picture 10" descr="air-baku-FFFFFF-271d6c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kalender-051C2C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hari Kobe sampai sembilan puluh persen layanan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kalender-051C2C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hari Tohoku sampai sembilan puluh persen layanan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air-baku-051C2C-271d6c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hidran umum Cianjur pada puncak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07443" y="134620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YANG TERUKUR DAN YANG BELUM</a:t>
            </a:r>
          </a:p>
        </p:txBody>
      </p:sp>
      <p:sp>
        <p:nvSpPr>
          <p:cNvPr id="30" name="Oval 29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air-baku-FFFFFF-271d6c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Unit berfungsi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95,5%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178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SPAM terdampak berfungsi per Mei 2026.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jiwa-FFFFFF-9b7037f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Jiwa terlayani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Jumlah jiwa yang kembali mendapat air tidak dilaporkan, dan fungsional tidak didefinisikan.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infrastruktur-FFFFFF-ba1c96e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Pembanding akses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Jembatan daerah berfungsi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67%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, di bawah SPAM pada periode yang sama.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air-baku-FFFFFF-271d6c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Aset terdampak yang kembali fungsional, Sumatra 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640" y="2905760"/>
            <a:ext cx="553282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ASET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08467" y="2919730"/>
            <a:ext cx="99029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FUNGSIONAL</a:t>
            </a:r>
          </a:p>
        </p:txBody>
      </p:sp>
      <p:pic>
        <p:nvPicPr>
          <p:cNvPr id="54" name="Picture 53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9907" y="2954477"/>
            <a:ext cx="113386" cy="113386"/>
          </a:xfrm>
          <a:prstGeom prst="rect">
            <a:avLst/>
          </a:prstGeom>
        </p:spPr>
      </p:pic>
      <p:cxnSp>
        <p:nvCxnSpPr>
          <p:cNvPr id="55" name="Connector 54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75640" y="3116580"/>
            <a:ext cx="548202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SPAM, Februari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08467" y="3116580"/>
            <a:ext cx="9902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81,2%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675640" y="3383280"/>
            <a:ext cx="548202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SPAM, Mei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08467" y="3383280"/>
            <a:ext cx="9902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95,5%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675640" y="3649980"/>
            <a:ext cx="548202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Jalan dan jembatan nasional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08467" y="3649980"/>
            <a:ext cx="9902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100,0%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3916680"/>
            <a:ext cx="548202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Jalan daerah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08467" y="3916680"/>
            <a:ext cx="9902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94,0%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75640" y="41833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675640" y="4183380"/>
            <a:ext cx="5482027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Jembatan daerah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08467" y="4183380"/>
            <a:ext cx="990299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67,0%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5" name="Picture 74" descr="ringkasan-FFFFFF-28e5662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91526" y="2905760"/>
            <a:ext cx="3824834" cy="2128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Unit SPAM berfungsi tidak sama dengan jiwa yang kembali terlayani.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Satuan Jepang adalah rasio layanan, sehingga hanya arahnya yang dibandingkan.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Peralihan truk dan hidran ke pipa belum punya pemicu atau pemutus tertulis.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Kementerian PU (rilis Februari dan Mei 2026); JSCE (2011); Kementerian PUPR (2023)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150" b="1" lang="id-ID">
                <a:solidFill>
                  <a:srgbClr val="1A1A1A"/>
                </a:solidFill>
                <a:latin typeface="Roboto"/>
              </a:rPr>
              <a:t>B3. Baru</a:t>
            </a:r>
            <a:r>
              <a:rPr sz="2150" b="1" lang="id-ID">
                <a:solidFill>
                  <a:srgbClr val="D9600B"/>
                </a:solidFill>
                <a:latin typeface="Roboto"/>
              </a:rPr>
              <a:t> 37</a:t>
            </a:r>
            <a:r>
              <a:rPr sz="215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150" b="1" lang="id-ID">
                <a:solidFill>
                  <a:srgbClr val="D9600B"/>
                </a:solidFill>
                <a:latin typeface="Roboto"/>
              </a:rPr>
              <a:t> 128</a:t>
            </a:r>
            <a:r>
              <a:rPr sz="2150" b="1" lang="id-ID">
                <a:solidFill>
                  <a:srgbClr val="1A1A1A"/>
                </a:solidFill>
                <a:latin typeface="Roboto"/>
              </a:rPr>
              <a:t> sumur bor Kementerian PU untuk Sumatra</a:t>
            </a:r>
            <a:br/>
            <a:r>
              <a:rPr sz="2150" b="1" lang="id-ID">
                <a:solidFill>
                  <a:srgbClr val="1A1A1A"/>
                </a:solidFill>
                <a:latin typeface="Roboto"/>
              </a:rPr>
              <a:t>2025 selesai per Februari 2026, tanpa data E. coli sumur darurat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903684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AIR TANAH</a:t>
            </a:r>
          </a:p>
        </p:txBody>
      </p:sp>
      <p:pic>
        <p:nvPicPr>
          <p:cNvPr id="11" name="Picture 10" descr="air-tanah-FFFFFF-400248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air-tanah-051C2C-400248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cekungan air tanah ditetapkan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jiwa-051C2C-9b7037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per sumur Badan Geologi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kesehatan-051C2C-4f43d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ambang E. coli, CFU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STANDAR KEBUTUHAN DASAR PENGUNGSI</a:t>
            </a:r>
          </a:p>
        </p:txBody>
      </p:sp>
      <p:sp>
        <p:nvSpPr>
          <p:cNvPr id="30" name="Oval 29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kesehatan-FFFFFF-4f43d0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Air minum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2,5 liter per orang per hari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menurut Perka BNPB 2008.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kesehatan-FFFFFF-4f43d0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Jamban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Satu jamban untuk paling banyak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20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orang.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rumah-FFFFFF-320df64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Hunian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3 m² per orang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di tempat penampungan sementara.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air-tanah-FFFFFF-400248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Pelaksana sumur bor di daerah bencana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640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PELAKSANA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3882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YANG TERCATAT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2124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STATUS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75640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3882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Sumatra 2025, Februari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92124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selesai sebagian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75640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Badan Geologi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3882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data 2021–2025 belum ada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92124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hibah barang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675640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TNI AD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83882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jenis sumber tidak dirinci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92124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tanpa daftar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675640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Polri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83882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target titik, media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92124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tanpa daftar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6" name="Picture 75" descr="ringkasan-FFFFFF-28e5662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Batas air tanah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91526" y="2905760"/>
            <a:ext cx="3824834" cy="2128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Sumur RR mengikuti zona konservasi dan rekomendasi Badan Geologi.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Di pesisir utara Jawa Tengah, air permukaan didahulukan karena muka tanah turun.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Salinitas air tanah Aceh Barat pulih dalam dua tahun setelah tsunami.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Kementerian PU, Februari 2026; Kementerian ESDM; Permenkes air minum; Keppres cekungan air tanah; Perka BNPB kebutuhan dasar (2008)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C1. Lantai skenario tertinggi: gempa Padang 2009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merusak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271.540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rumah dan banjir Sumatra 2025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228.006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205506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LANTAI TERTINGGI PER KEJADIAN</a:t>
            </a:r>
          </a:p>
        </p:txBody>
      </p:sp>
      <p:pic>
        <p:nvPicPr>
          <p:cNvPr id="11" name="Picture 10" descr="rumah-FFFFFF-320df6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rumah-051C2C-320df6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271.540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rusak, gempa Padang 2009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anjir-051C2C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228.006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rusak, banjir Sumatra 2025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tsunami-051C2C-44d067d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139.195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berat, tsunami Aceh 2004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JEMBATAN DAN AIR PADA LANTAI SUMATRA 2025</a:t>
            </a:r>
          </a:p>
        </p:txBody>
      </p:sp>
      <p:sp>
        <p:nvSpPr>
          <p:cNvPr id="30" name="Oval 29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infrastruktur-FFFFFF-ba1c96e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Jembatan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1.088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jembatan rusak pada 2025, tertinggi sejak 2018.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air-baku-FFFFFF-271d6c2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SPAM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178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SPAM terdampak menurut rilis Kementerian PU.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pengungsi-FFFFFF-65a2f72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Pengungsi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970.876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jiwa mengungsi menurut DIBI.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rumah-FFFFFF-320df6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Lantai tercatat per jenis menurut besaran RR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640" y="2905760"/>
            <a:ext cx="144790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JENIS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3542" y="2905760"/>
            <a:ext cx="144790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LANTAI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71443" y="2905760"/>
            <a:ext cx="144790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JEMBATAN ATAU AKSES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19345" y="2905760"/>
            <a:ext cx="144790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LAYANAN AIR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86428" y="2919730"/>
            <a:ext cx="71233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RUMAH</a:t>
            </a:r>
          </a:p>
        </p:txBody>
      </p:sp>
      <p:pic>
        <p:nvPicPr>
          <p:cNvPr id="57" name="Picture 56" descr="rumah-FFFFFF-320df6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868" y="2954477"/>
            <a:ext cx="113386" cy="113386"/>
          </a:xfrm>
          <a:prstGeom prst="rect">
            <a:avLst/>
          </a:prstGeom>
        </p:spPr>
      </p:pic>
      <p:cxnSp>
        <p:nvCxnSpPr>
          <p:cNvPr id="58" name="Connector 57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675640" y="31165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bumi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23542" y="31165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Padang 2009, rusak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71443" y="31165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provinsi-tahun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19345" y="31165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titik SPAM Lombok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67246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271.540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33832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Tsunami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23542" y="33832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Aceh 2004, RB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71443" y="33832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jembatan tak tercatat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19345" y="33832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proksi keluaran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67246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139.195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675640" y="36499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Likuefaksi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23542" y="36499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Sulteng 2018, rusak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71443" y="36499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satu jembatan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19345" y="36499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respons saja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67246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110.214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75640" y="39166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Banjir dan bandang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23542" y="39166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Sumatra 2025, rusak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71443" y="39166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provinsi-tahun, rilis PU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19345" y="39166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SPAM terdampak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67246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228.006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75640" y="41833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3" name="TextBox 82"/>
          <p:cNvSpPr txBox="1"/>
          <p:nvPr/>
        </p:nvSpPr>
        <p:spPr>
          <a:xfrm>
            <a:off x="675640" y="41833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Tanah longsor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23542" y="41833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nasional 2025, rusak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71443" y="41833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provinsi-tahun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19345" y="41833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tak dikuantifikasi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67246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8.582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75640" y="44500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675640" y="44500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Erupsi gunung api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23542" y="44500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Kelud 2014, RB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71443" y="44500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provinsi-tahun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19345" y="44500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tak dikuantifikasi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67246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12.404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75640" y="47167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5" name="TextBox 94"/>
          <p:cNvSpPr txBox="1"/>
          <p:nvPr/>
        </p:nvSpPr>
        <p:spPr>
          <a:xfrm>
            <a:off x="675640" y="47167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Cuaca ekstrem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123542" y="47167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nasional 2019, rusak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571443" y="47167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provinsi-tahun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19345" y="4716780"/>
            <a:ext cx="139710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tak dikuantifikasi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67246" y="47167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33.820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5" name="Picture 104" descr="ringkasan-FFFFFF-28e5662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6" name="Rounded Rectangle 105"/>
          <p:cNvSpPr/>
          <p:nvPr/>
        </p:nvSpPr>
        <p:spPr>
          <a:xfrm>
            <a:off x="11121747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72526" y="2346960"/>
            <a:ext cx="2922221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Rumah rusak 2025 per jenis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67116" y="2905760"/>
            <a:ext cx="236843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JENIS BENCANA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335553" y="2919730"/>
            <a:ext cx="107920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RUMAH RUSAK</a:t>
            </a:r>
          </a:p>
        </p:txBody>
      </p:sp>
      <p:pic>
        <p:nvPicPr>
          <p:cNvPr id="110" name="Picture 109" descr="rumah-FFFFFF-320df6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6993" y="2954477"/>
            <a:ext cx="113386" cy="113386"/>
          </a:xfrm>
          <a:prstGeom prst="rect">
            <a:avLst/>
          </a:prstGeom>
        </p:spPr>
      </p:pic>
      <p:cxnSp>
        <p:nvCxnSpPr>
          <p:cNvPr id="111" name="Connector 110"/>
          <p:cNvCxnSpPr/>
          <p:nvPr/>
        </p:nvCxnSpPr>
        <p:spPr>
          <a:xfrm>
            <a:off x="7691526" y="311658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12" name="Oval 111"/>
          <p:cNvSpPr/>
          <p:nvPr/>
        </p:nvSpPr>
        <p:spPr>
          <a:xfrm>
            <a:off x="7691526" y="313834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967116" y="3116580"/>
            <a:ext cx="2317637" cy="21752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Banjir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335553" y="3116580"/>
            <a:ext cx="1079207" cy="21752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248.361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7691526" y="3334106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6" name="Oval 115"/>
          <p:cNvSpPr/>
          <p:nvPr/>
        </p:nvSpPr>
        <p:spPr>
          <a:xfrm>
            <a:off x="7691526" y="335587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67116" y="3334106"/>
            <a:ext cx="2317637" cy="21752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Cuaca ekstrem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335553" y="3334106"/>
            <a:ext cx="1079207" cy="21752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26.058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7691526" y="3551631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0" name="Oval 119"/>
          <p:cNvSpPr/>
          <p:nvPr/>
        </p:nvSpPr>
        <p:spPr>
          <a:xfrm>
            <a:off x="7691526" y="357339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967116" y="3551631"/>
            <a:ext cx="2317637" cy="21752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Longsor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335553" y="3551631"/>
            <a:ext cx="1079207" cy="21752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8.582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7691526" y="3769157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4" name="Oval 123"/>
          <p:cNvSpPr/>
          <p:nvPr/>
        </p:nvSpPr>
        <p:spPr>
          <a:xfrm>
            <a:off x="7691526" y="379092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967116" y="3769157"/>
            <a:ext cx="2317637" cy="21752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Gempabumi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335553" y="3769157"/>
            <a:ext cx="1079207" cy="21752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3.035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7691526" y="3986682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8" name="Oval 127"/>
          <p:cNvSpPr/>
          <p:nvPr/>
        </p:nvSpPr>
        <p:spPr>
          <a:xfrm>
            <a:off x="7691526" y="4008450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967116" y="3986682"/>
            <a:ext cx="2317637" cy="21752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Gelombang pasang / Abrasi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335553" y="3986682"/>
            <a:ext cx="1079207" cy="21752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304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691526" y="4331208"/>
            <a:ext cx="3824834" cy="703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Lantai adalah kejadian tercatat terburuk untuk jenis yang sama.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Periode acuan: geologi 1996–2025, hidrometeorologi 2008–2025, jembatan 2018–2025.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Sel tanpa sumber ditulis tidak dikuantifikasi; nol hanya bila sumber menyebutnya.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Jumlah setahun adalah batas atas satu kejadian, tidak dibandingkan antarkartu.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BNPB; Kementerian PU; BRR NAD–Nias; pengolahan kajian 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C2. Kemungkinan lima tahun hanya dinilai untuk musim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hujan setara lantai (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23,7%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) dan megathrust Jawa (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0,83%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219747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PELUANG LIMA TAHUN YANG DINILAI</a:t>
            </a:r>
          </a:p>
        </p:txBody>
      </p:sp>
      <p:pic>
        <p:nvPicPr>
          <p:cNvPr id="11" name="Picture 1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cuaca-ekstrem-051C2C-3711fb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23,7%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peluang musim hujan setara lantai dalam lima musim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gempa-051C2C-5740f7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0,83%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peluang megathrust Jawa dalam lima tahun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kalender-051C2C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tahun periode kemungkinan menurut NRR 2025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2075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PITA KEMUNGKINAN LIMA TAHUN NRR 2025</a:t>
            </a:r>
          </a:p>
        </p:txBody>
      </p:sp>
      <p:sp>
        <p:nvSpPr>
          <p:cNvPr id="30" name="Oval 29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5060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Pita dua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060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0,2%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sampai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1%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dalam lima tahun.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322320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3395345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545" y="5684520"/>
            <a:ext cx="177800" cy="177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815715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Pita tiga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5715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1%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sampai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5%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dalam lima tahun.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22975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609600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684520"/>
            <a:ext cx="177800" cy="177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516370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Pita empat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6370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5%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sampai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25%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dalam lima tahun.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723630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8796655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2855" y="5684520"/>
            <a:ext cx="177800" cy="1778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217025" y="5552440"/>
            <a:ext cx="2134235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Pita lima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7025" y="5755640"/>
            <a:ext cx="2134235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Di atas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25%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dalam lima tahun.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4" name="Picture 53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6487487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6640" y="2346960"/>
            <a:ext cx="530384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Posisi jenis bencana menurut kelas dampak RR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640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JENIS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3882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KELAS DAMPAK RR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92124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LIMA TAHUN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75640" y="3116580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Gempa bumi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3882" y="3116580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lima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92124" y="3116580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332965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3329658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Tsunami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83882" y="3329658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lima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92124" y="3329658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3542736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3542736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Banjir dan banjir bandang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83882" y="3542736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lima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92124" y="3542736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375581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75640" y="3755813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Megathrust Jawa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83882" y="3755813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lima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92124" y="3755813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dinilai, pita dua sampai tiga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3968891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75640" y="3968891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Musim hujan setara lantai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3882" y="3968891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empat sampai lima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92124" y="3968891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dinilai, pita empat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4181969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4181969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Erupsi gunung api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83882" y="4181969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empat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92124" y="4181969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5640" y="439504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675640" y="4395047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Cuaca ekstrem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83882" y="4395047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empat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92124" y="4395047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75640" y="4608124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675640" y="4608124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Tanah longsor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83882" y="4608124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kelas tiga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92124" y="4608124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482120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675640" y="4821202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Likuefaksi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83882" y="4821202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gabungan, batas atas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92124" y="4821202"/>
            <a:ext cx="2157442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dinilai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1" name="Picture 100" descr="ringkasan-FFFFFF-28e56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Dampak dinilai, kemungkinan tidak dinilai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91526" y="2905760"/>
            <a:ext cx="3824834" cy="2128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Jenis tanpa dasar peluang tidak diberi kelas kemungkinan.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Kemungkinan dan dampak tidak dikalikan menjadi skor.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Kelas dampak memakai ambang rumah rusak usulan kajian.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BNPB; PuSGeN 2024; NRR 2025; pengolahan kajian ini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D1. Hibah RR mengecualikan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jenis pembiayaan,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termasuk aset rusak milik pemerintah desa dan lahan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90026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HIBAH RR DAN DANA BERSAMA</a:t>
            </a:r>
          </a:p>
        </p:txBody>
      </p:sp>
      <p:pic>
        <p:nvPicPr>
          <p:cNvPr id="11" name="Picture 10" descr="pembiayaan-FFFFFF-5387a3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embiayaan-051C2C-5387a3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tahap hibah RR, dari pengusulan sampai penyetoran sisa dana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kalender-051C2C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bulan sekali laporan berkala pemda penerima hibah RR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kalender-051C2C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hari kalender laporan akhir kegiatan Dana Bersama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TENGGAT DANA BERSAMA</a:t>
            </a:r>
          </a:p>
        </p:txBody>
      </p:sp>
      <p:sp>
        <p:nvSpPr>
          <p:cNvPr id="30" name="Oval 29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Dokumen tambahan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5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hari kerja bagi pemohon melengkapi dokumen.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Risalah pertimbangan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10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hari kerja bagi tiga kementerian pemberi pertimbangan.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lembaga-FFFFFF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Tim penelaah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2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tahun masa kerja tim penelaah di BNPB.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346960"/>
            <a:ext cx="7988198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7988198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2575560"/>
            <a:ext cx="7988198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8640" y="2346960"/>
            <a:ext cx="7988198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pembiayaan-FFFFFF-5387a3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8015226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640" y="2346960"/>
            <a:ext cx="683158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Jangkauan instrumen dana menurut jenis aset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640" y="2905760"/>
            <a:ext cx="193355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JENIS ASET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09190" y="2905760"/>
            <a:ext cx="193355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HIBAH RR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42739" y="2905760"/>
            <a:ext cx="193355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DANA BERSAMA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6289" y="2905760"/>
            <a:ext cx="193355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DANA DESA 2026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3116580"/>
            <a:ext cx="7734198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75640" y="31165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Jembatan kab/kota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09190" y="31165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boleh bersyarat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42739" y="31165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bergantung rencana RR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6289" y="31165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diatur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5640" y="338328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675640" y="33832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Jembatan desa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09190" y="33832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boleh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42739" y="33832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bergantung rencana RR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6289" y="33832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disebut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75640" y="364998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7" name="TextBox 66"/>
          <p:cNvSpPr txBox="1"/>
          <p:nvPr/>
        </p:nvSpPr>
        <p:spPr>
          <a:xfrm>
            <a:off x="675640" y="36499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SPAM daerah dan PDAM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09190" y="36499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boleh bersyarat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42739" y="36499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air baku saja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6289" y="36499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diatur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391668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39166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SPAM desa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09190" y="39166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boleh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42739" y="39166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air baku saja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76289" y="39166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parsial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418338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75640" y="41833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Sumur darurat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09190" y="41833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boleh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42739" y="41833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diatur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76289" y="41833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diatur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75640" y="445008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675640" y="44500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Lahan relokasi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609190" y="44500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boleh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42739" y="44500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syarat dan tidak menjadi objek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76289" y="44500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diatur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75640" y="4716780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TextBox 86"/>
          <p:cNvSpPr txBox="1"/>
          <p:nvPr/>
        </p:nvSpPr>
        <p:spPr>
          <a:xfrm>
            <a:off x="675640" y="47167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Pemeliharaan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09190" y="47167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boleh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42739" y="47167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tidak diatur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76289" y="4716780"/>
            <a:ext cx="188275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parsial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673998" y="2346960"/>
            <a:ext cx="2969362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8673998" y="2346960"/>
            <a:ext cx="2969362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673998" y="2575560"/>
            <a:ext cx="2969362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8673998" y="2346960"/>
            <a:ext cx="2969362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800998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6" name="Picture 95" descr="regulasi-FFFFFF-e639fe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148" y="2486660"/>
            <a:ext cx="177800" cy="1778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181998" y="2346960"/>
            <a:ext cx="2334362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Akibatnya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00998" y="2905760"/>
            <a:ext cx="2715362" cy="2128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Jembatan dan SPAM desa tidak punya jalur hibah RR.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Lokasi kegiatan terkunci sejak perjanjian hibah.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Usulan: ubah larangan aset desa, atau cantumkan aset desa di rencana RR.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Perban BNPB tentang hibah RR dan Dana Bersama; Juklak Dana Bersama; Permendes PDT tentang Dana Desa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50" b="1" lang="id-ID">
                <a:solidFill>
                  <a:srgbClr val="1A1A1A"/>
                </a:solidFill>
                <a:latin typeface="Roboto"/>
              </a:rPr>
              <a:t>D2. Berdasarkan data DIBI, terdapat</a:t>
            </a:r>
            <a:r>
              <a:rPr sz="2050" b="1" lang="id-ID">
                <a:solidFill>
                  <a:srgbClr val="D9600B"/>
                </a:solidFill>
                <a:latin typeface="Roboto"/>
              </a:rPr>
              <a:t> 19</a:t>
            </a:r>
            <a:r>
              <a:rPr sz="2050" b="1" lang="id-ID">
                <a:solidFill>
                  <a:srgbClr val="1A1A1A"/>
                </a:solidFill>
                <a:latin typeface="Roboto"/>
              </a:rPr>
              <a:t> kolom dampak dan</a:t>
            </a:r>
            <a:r>
              <a:rPr sz="2050" b="1" lang="id-ID">
                <a:solidFill>
                  <a:srgbClr val="D9600B"/>
                </a:solidFill>
                <a:latin typeface="Roboto"/>
              </a:rPr>
              <a:t> 0</a:t>
            </a:r>
            <a:r>
              <a:rPr sz="2050" b="1" lang="id-ID">
                <a:solidFill>
                  <a:srgbClr val="1A1A1A"/>
                </a:solidFill>
                <a:latin typeface="Roboto"/>
              </a:rPr>
              <a:t> kolom</a:t>
            </a:r>
            <a:br/>
            <a:r>
              <a:rPr sz="2050" b="1" lang="id-ID">
                <a:solidFill>
                  <a:srgbClr val="1A1A1A"/>
                </a:solidFill>
                <a:latin typeface="Roboto"/>
              </a:rPr>
              <a:t>air, sehingga pemulihan air tidak dapat diukur dari data BNPB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2091151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DATA YANG ADA DAN YANG BELUM</a:t>
            </a:r>
          </a:p>
        </p:txBody>
      </p:sp>
      <p:pic>
        <p:nvPicPr>
          <p:cNvPr id="11" name="Picture 1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nfrastruktur-051C2C-ba1c96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3.833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jembatan rusak 2018–2025 tercatat di DIBI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air-baku-051C2C-271d6c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SPAM terdampak Sumatra 2025, dari rilis Kementerian PU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air-baku-051C2C-271d6c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kolom air minum atau SPAM di DIBI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STANDAR WAKTU YANG SUDAH ADA</a:t>
            </a:r>
          </a:p>
        </p:txBody>
      </p:sp>
      <p:sp>
        <p:nvSpPr>
          <p:cNvPr id="30" name="Oval 29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Kaji cepat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Paling lambat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24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jam setelah informasi bencana.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Laporan lanjutan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72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jam setelah tiba di lokasi, untuk rencana operasi.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Penyusunan rencana RR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Paling lama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90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hari, tanpa standar waktu pulih air.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8640" y="2346960"/>
            <a:ext cx="6878726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Data pemulihan yang belum ada dan pemiliknya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640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DATA TIDAK ADA DI DIBI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3882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PEMILIK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2124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JALUR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75640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SPAM dan jiwa tanpa air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3882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PU, PDAM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92124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kolom DIBI baru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75640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Jembatan per status jalan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3882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Bina Marga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92124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kolom DIBI baru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675640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Desa terputus, hari akses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83882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BPBD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92124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baseline 2027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675640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Hari pulih air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83882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BPBD, PDAM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92124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terlayani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41833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Mutu sumur darurat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83882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Badan Geologi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92124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protokol sumur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44500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675640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Daftar jembatan dan sumur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83882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TNI AD, Polri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92124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daftar bersama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75640" y="47167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0" name="TextBox 79"/>
          <p:cNvSpPr txBox="1"/>
          <p:nvPr/>
        </p:nvSpPr>
        <p:spPr>
          <a:xfrm>
            <a:off x="675640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Stok bailey nasional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83882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Bina Marga, TNI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92124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hitung stok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564526" y="2346960"/>
            <a:ext cx="4078834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8" name="Picture 87" descr="ringkasan-FFFFFF-28e56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Akibatnya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91526" y="2905760"/>
            <a:ext cx="3824834" cy="2128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Juklak BNPB standar data sudah mendaftar jaringan air bersih sebagai prasarana vital.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Standar waktu pulih air dan akses belum ada di peraturan BNPB.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Baseline waktu pulih belum dapat dibentuk.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BNPB; Juklak BNPB standar data dan hibah RR; Perban BNPB penyelenggaraan RR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E1. Sebelas program dalam lima pilar membentuk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alur tiga lapis, empat di antaranya sudah 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D9600B"/>
                </a:solidFill>
                <a:latin typeface="Roboto"/>
              </a:rPr>
              <a:t>TANGGAL BERAKHIRNYA SERATUS HARI MENURUT TANGGAL PENETAPAN</a:t>
            </a:r>
          </a:p>
        </p:txBody>
      </p:sp>
      <p:sp>
        <p:nvSpPr>
          <p:cNvPr id="11" name="Oval 10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Penetapan awal November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Masa seratus hari berakhir pada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9 Februari 2027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Penetapan tengah November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Masa seratus hari berakhir pada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23 Februari 2027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Penetapan akhir November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Masa seratus hari berakhir pada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10 Maret 2027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1282700"/>
            <a:ext cx="7766304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776630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1511300"/>
            <a:ext cx="776630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1282700"/>
            <a:ext cx="7766304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prabencana-FFFFFF-572c04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375065" y="1428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640" y="1282700"/>
            <a:ext cx="6191425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Program berkode menurut lapis dan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640" y="1841500"/>
            <a:ext cx="187807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PILAR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53716" y="1841500"/>
            <a:ext cx="187807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PROGRAM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1792" y="1841500"/>
            <a:ext cx="187807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LAPIS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868" y="1841500"/>
            <a:ext cx="187807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STATUS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75640" y="2052320"/>
            <a:ext cx="751230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75640" y="2052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Akses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53716" y="2052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Bailey dan rangka baja DSP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1792" y="2052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darurat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868" y="2052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23190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75640" y="23190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Akses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53716" y="23190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Ikat jembatan ke rencana RR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1792" y="23190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sementara, permanen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868" y="23190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5640" y="25857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675640" y="25857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Akses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53716" y="25857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Jadwal ganti permanen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1792" y="25857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permanen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868" y="25857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28524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75640" y="28524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Akses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53716" y="28524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Jalur dana jembatan desa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1792" y="28524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permanen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868" y="28524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75640" y="31191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675640" y="31191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perpipaan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53716" y="31191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Air darurat, pemicu truk ke pipa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1792" y="31191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darurat, sementara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868" y="31191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5640" y="33858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675640" y="33858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perpipaan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53716" y="33858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Rehabilitasi SPAM, jiwa terlayani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31792" y="33858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permanen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9868" y="33858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75640" y="36525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675640" y="36525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perpipaan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53716" y="36525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Kit pipa dan IPA mobile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31792" y="36525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darurat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868" y="36525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39192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75640" y="39192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tanah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53716" y="39192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Protokol sumur bor RR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31792" y="39192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darurat, sementara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9868" y="39192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75640" y="41859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8" name="TextBox 77"/>
          <p:cNvSpPr txBox="1"/>
          <p:nvPr/>
        </p:nvSpPr>
        <p:spPr>
          <a:xfrm>
            <a:off x="675640" y="41859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tanah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53716" y="41859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Satu daftar sumur darurat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31792" y="41859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sementara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9868" y="41859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75640" y="44526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3" name="TextBox 82"/>
          <p:cNvSpPr txBox="1"/>
          <p:nvPr/>
        </p:nvSpPr>
        <p:spPr>
          <a:xfrm>
            <a:off x="675640" y="44526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Hunian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53716" y="44526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Sumber air sebelum huntap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31792" y="44526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permanen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9868" y="44526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baru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75640" y="4719320"/>
            <a:ext cx="751230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8" name="TextBox 87"/>
          <p:cNvSpPr txBox="1"/>
          <p:nvPr/>
        </p:nvSpPr>
        <p:spPr>
          <a:xfrm>
            <a:off x="675640" y="4719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Data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53716" y="4719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Kolom DIBI air dan jembatan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31792" y="4719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lintas lapis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09868" y="4719320"/>
            <a:ext cx="1827276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sudah ada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452104" y="1282700"/>
            <a:ext cx="3191256" cy="3840480"/>
          </a:xfrm>
          <a:prstGeom prst="roundRect">
            <a:avLst>
              <a:gd name="adj" fmla="val 171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452104" y="1282700"/>
            <a:ext cx="319125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2104" y="1511300"/>
            <a:ext cx="319125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452104" y="1282700"/>
            <a:ext cx="3191256" cy="3840480"/>
          </a:xfrm>
          <a:prstGeom prst="roundRect">
            <a:avLst>
              <a:gd name="adj" fmla="val 171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579104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7" name="Picture 96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254" y="1422400"/>
            <a:ext cx="177800" cy="17780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960104" y="1282700"/>
            <a:ext cx="255625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Titik serah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79104" y="1841500"/>
            <a:ext cx="2937256" cy="3192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Air: truk dan hidran ke pipa sementara, diputus kepala daerah lewat BPBD.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Akses: bailey ke jembatan permanen, dicatat di rencana RR oleh pemilik aset.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Sumur: sumur darurat ke pengelola tetap setelah uji mutu lolos.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Ambang angka ditetapkan setelah baseline 2027.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Perban BNPB tentang rencana RR dan hibah RR; Perka BNPB kebutuhan dasar dan perbaikan darurat; analisis kajian ini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6032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E2. Sembilan kelompok lembaga memegang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tugas berbeda di tiap lapis pemulihan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02970"/>
            <a:ext cx="821436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0" lang="id-ID">
                <a:solidFill>
                  <a:srgbClr val="2E3440"/>
                </a:solidFill>
                <a:latin typeface="Roboto"/>
              </a:rPr>
              <a:t>K koordinasi, P pelaksana, R regulator, I informasi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7" name="Picture 6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37310"/>
            <a:ext cx="129510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MANDAT TERTULIS</a:t>
            </a:r>
          </a:p>
        </p:txBody>
      </p:sp>
      <p:pic>
        <p:nvPicPr>
          <p:cNvPr id="12" name="Picture 11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lembaga-051C2C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baris peran dalam berkas kerja lembaga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regulasi-051C2C-e639fe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baris peran bersumber norma tertulis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lembaga-051C2C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lembaga dalam berkas peran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KEWENANGAN AIR DALAM MATRIKS LEMBAGA</a:t>
            </a:r>
          </a:p>
        </p:txBody>
      </p:sp>
      <p:sp>
        <p:nvSpPr>
          <p:cNvPr id="31" name="Oval 30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air-baku-FFFFFF-271d6c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Baris kewenangan air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31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baris,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23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di antaranya tertulis.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Baris BNPB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0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baris kewenangan air menyebut BNPB.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peringatan-FFFFFF-6a80b7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Celah air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1" lang="id-ID">
                <a:solidFill>
                  <a:srgbClr val="2E3440"/>
                </a:solidFill>
                <a:latin typeface="Roboto"/>
              </a:rPr>
              <a:t>6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20" b="1" lang="id-ID">
                <a:solidFill>
                  <a:srgbClr val="2E3440"/>
                </a:solidFill>
                <a:latin typeface="Roboto"/>
              </a:rPr>
              <a:t>17</a:t>
            </a:r>
            <a:r>
              <a:rPr sz="720" b="0" lang="id-ID">
                <a:solidFill>
                  <a:srgbClr val="2E3440"/>
                </a:solidFill>
                <a:latin typeface="Roboto"/>
              </a:rPr>
              <a:t> celah kelembagaan menyangkut air.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7988198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8640" y="2346960"/>
            <a:ext cx="7988198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2575560"/>
            <a:ext cx="7988198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8640" y="2346960"/>
            <a:ext cx="7988198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8015226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6640" y="2346960"/>
            <a:ext cx="683158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Mandat tertulis per lapis; usulan berkode program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5640" y="2905760"/>
            <a:ext cx="154684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22480" y="2905760"/>
            <a:ext cx="154684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DARURAT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69319" y="2905760"/>
            <a:ext cx="154684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SEMENTARA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16159" y="2905760"/>
            <a:ext cx="154684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PERMANEN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62999" y="2905760"/>
            <a:ext cx="154684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AIR TANAH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75640" y="3116580"/>
            <a:ext cx="7734198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675640" y="3116580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BNPB darurat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22480" y="3116580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K; DSP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69319" y="3116580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K; DSP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16159" y="3116580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K, 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62999" y="3116580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protokol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3329658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3329658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BNPB RR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22480" y="3329658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69319" y="3329658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rencana RR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16159" y="3329658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K, R, 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62999" y="3329658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75640" y="3542736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675640" y="3542736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Pusdatinkom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22480" y="3542736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69319" y="3542736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16159" y="3542736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62999" y="3542736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daftar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3755813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75640" y="3755813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BPBD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22480" y="3755813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K, 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69319" y="3755813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16159" y="3755813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62999" y="3755813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75640" y="3968891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3" name="TextBox 82"/>
          <p:cNvSpPr txBox="1"/>
          <p:nvPr/>
        </p:nvSpPr>
        <p:spPr>
          <a:xfrm>
            <a:off x="675640" y="3968891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22480" y="3968891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69319" y="3968891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16159" y="3968891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62999" y="3968891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75640" y="4181969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675640" y="4181969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Badan Geologi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22480" y="4181969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69319" y="4181969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16159" y="4181969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62999" y="4181969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 zona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75640" y="4395047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5" name="TextBox 94"/>
          <p:cNvSpPr txBox="1"/>
          <p:nvPr/>
        </p:nvSpPr>
        <p:spPr>
          <a:xfrm>
            <a:off x="675640" y="4395047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Pemda, PDAM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222480" y="4395047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69319" y="4395047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316159" y="4395047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62999" y="4395047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675640" y="4608124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1" name="TextBox 100"/>
          <p:cNvSpPr txBox="1"/>
          <p:nvPr/>
        </p:nvSpPr>
        <p:spPr>
          <a:xfrm>
            <a:off x="675640" y="4608124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Pemerintah desa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22480" y="4608124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69319" y="4608124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16159" y="4608124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62999" y="4608124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-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675640" y="4821202"/>
            <a:ext cx="773419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7" name="TextBox 106"/>
          <p:cNvSpPr txBox="1"/>
          <p:nvPr/>
        </p:nvSpPr>
        <p:spPr>
          <a:xfrm>
            <a:off x="675640" y="4821202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TNI, Polri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22480" y="4821202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P, DSP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769319" y="4821202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16159" y="4821202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ikat ke rencana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62999" y="4821202"/>
            <a:ext cx="1496040" cy="21307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usulan daftar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673998" y="2346960"/>
            <a:ext cx="2969362" cy="27762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673998" y="2346960"/>
            <a:ext cx="2969362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73998" y="2575560"/>
            <a:ext cx="2969362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8673998" y="2346960"/>
            <a:ext cx="2969362" cy="2776220"/>
          </a:xfrm>
          <a:prstGeom prst="roundRect">
            <a:avLst>
              <a:gd name="adj" fmla="val 196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800998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7" name="Picture 116" descr="regulasi-FFFFFF-e639fe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148" y="2486660"/>
            <a:ext cx="177800" cy="177800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9181998" y="2346960"/>
            <a:ext cx="2334362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Belum bermandat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800998" y="2905760"/>
            <a:ext cx="2715362" cy="2128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Jembatan TNI AD dan Polri di luar rencana RR.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Serah terima aset darurat ke pemilik.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Protokol sumur bor RR bersama Badan Geologi.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Standar waktu pulih layanan.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PP penanggulangan bencana; PP SPAM; UU jalan; UU sumber daya air; Perban BNPB; analisis kajian ini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E3. Langkah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100 hari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pertama dan awal peta jalan</a:t>
            </a:r>
            <a:br/>
            <a:r>
              <a:rPr sz="2200" b="1" lang="id-ID">
                <a:solidFill>
                  <a:srgbClr val="D9600B"/>
                </a:solidFill>
                <a:latin typeface="Roboto"/>
              </a:rPr>
              <a:t>2026–2027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disertai rincian dan penanggung jawab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548640" y="162480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00752"/>
            <a:ext cx="178308" cy="1783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3140" y="157527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Tambah kolom air dan jembatan di DIBI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3140" y="181022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7" name="Picture 1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41595"/>
            <a:ext cx="102362" cy="1023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661327" y="1810226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9898" y="148590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Tabel publik DIBI memuat kolom SPAM terdampak dan hari pulih serta jembatan per status jalan.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8733" y="1707356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21" name="Picture 2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38725"/>
            <a:ext cx="102362" cy="10236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609879" y="1707356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23" name="Picture 2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1738725"/>
            <a:ext cx="102362" cy="10236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0570880" y="1707356"/>
            <a:ext cx="52598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</a:t>
            </a:r>
          </a:p>
        </p:txBody>
      </p:sp>
      <p:pic>
        <p:nvPicPr>
          <p:cNvPr id="25" name="Picture 2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3430" y="1738725"/>
            <a:ext cx="102362" cy="102362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548640" y="209391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548640" y="22328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nfrastruktur-FFFFFF-ba1c96e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308765"/>
            <a:ext cx="178308" cy="1783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3140" y="218328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Ikat jembatan TNI AD dan Polri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3140" y="2418239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31" name="Picture 3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449608"/>
            <a:ext cx="102362" cy="10236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661327" y="2418239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9898" y="209391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Jembatan di daerah bencana tercantum di rencana RR dan DIBI dengan pemilik aset dan jadwal ganti permanen.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58733" y="2315369"/>
            <a:ext cx="105081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Dir. RR Infrastruktur</a:t>
            </a:r>
          </a:p>
        </p:txBody>
      </p:sp>
      <p:pic>
        <p:nvPicPr>
          <p:cNvPr id="35" name="Picture 3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346738"/>
            <a:ext cx="102362" cy="10236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860347" y="2315369"/>
            <a:ext cx="57611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TNI AD</a:t>
            </a:r>
          </a:p>
        </p:txBody>
      </p:sp>
      <p:pic>
        <p:nvPicPr>
          <p:cNvPr id="37" name="Picture 3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2897" y="2346738"/>
            <a:ext cx="102362" cy="102362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0487258" y="2315369"/>
            <a:ext cx="48812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Polri</a:t>
            </a:r>
          </a:p>
        </p:txBody>
      </p:sp>
      <p:pic>
        <p:nvPicPr>
          <p:cNvPr id="39" name="Picture 3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9808" y="2346738"/>
            <a:ext cx="102362" cy="102362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8758733" y="2531269"/>
            <a:ext cx="8571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pic>
        <p:nvPicPr>
          <p:cNvPr id="41" name="Picture 4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2562638"/>
            <a:ext cx="102362" cy="102362"/>
          </a:xfrm>
          <a:prstGeom prst="rect">
            <a:avLst/>
          </a:prstGeom>
        </p:spPr>
      </p:pic>
      <p:cxnSp>
        <p:nvCxnSpPr>
          <p:cNvPr id="42" name="Connector 41"/>
          <p:cNvCxnSpPr/>
          <p:nvPr/>
        </p:nvCxnSpPr>
        <p:spPr>
          <a:xfrm>
            <a:off x="548640" y="270192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548640" y="284083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kapasitas-FFFFFF-22e801b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2916777"/>
            <a:ext cx="178308" cy="17830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3140" y="279130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Hitung stok bailey per wilayah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3140" y="3026251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7" name="Picture 4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057620"/>
            <a:ext cx="102362" cy="10236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1661327" y="302625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9898" y="270192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Daftar persediaan bailey dan rangka baja tersusun dalam empat belas hari pertama.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58733" y="2923381"/>
            <a:ext cx="86638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Logistik</a:t>
            </a:r>
          </a:p>
        </p:txBody>
      </p:sp>
      <p:pic>
        <p:nvPicPr>
          <p:cNvPr id="51" name="Picture 5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954750"/>
            <a:ext cx="102362" cy="102362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9675919" y="2923381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53" name="Picture 5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8469" y="2954750"/>
            <a:ext cx="102362" cy="102362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10636920" y="2923381"/>
            <a:ext cx="4483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TNI</a:t>
            </a:r>
          </a:p>
        </p:txBody>
      </p:sp>
      <p:pic>
        <p:nvPicPr>
          <p:cNvPr id="55" name="Picture 5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9470" y="2954750"/>
            <a:ext cx="102362" cy="102362"/>
          </a:xfrm>
          <a:prstGeom prst="rect">
            <a:avLst/>
          </a:prstGeom>
        </p:spPr>
      </p:pic>
      <p:cxnSp>
        <p:nvCxnSpPr>
          <p:cNvPr id="56" name="Connector 55"/>
          <p:cNvCxnSpPr/>
          <p:nvPr/>
        </p:nvCxnSpPr>
        <p:spPr>
          <a:xfrm>
            <a:off x="548640" y="330993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548640" y="344884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3524790"/>
            <a:ext cx="178308" cy="17830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93140" y="339931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R-E11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Satukan daftar sumur darurat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3140" y="363426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61" name="Picture 6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665633"/>
            <a:ext cx="102362" cy="102362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1661327" y="3634264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09898" y="330993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Satu daftar sumur berlokasi dan berpelaksana untuk Sumatra 2025 dan sesudahnya.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758733" y="3531394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65" name="Picture 6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562763"/>
            <a:ext cx="102362" cy="102362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9609879" y="3531394"/>
            <a:ext cx="8482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Badan Geologi</a:t>
            </a:r>
          </a:p>
        </p:txBody>
      </p:sp>
      <p:pic>
        <p:nvPicPr>
          <p:cNvPr id="67" name="Picture 6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3562763"/>
            <a:ext cx="102362" cy="102362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10508967" y="3531394"/>
            <a:ext cx="57611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TNI AD</a:t>
            </a:r>
          </a:p>
        </p:txBody>
      </p:sp>
      <p:pic>
        <p:nvPicPr>
          <p:cNvPr id="69" name="Picture 6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1517" y="3562763"/>
            <a:ext cx="102362" cy="102362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11135879" y="3531394"/>
            <a:ext cx="48812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Polri</a:t>
            </a:r>
          </a:p>
        </p:txBody>
      </p:sp>
      <p:pic>
        <p:nvPicPr>
          <p:cNvPr id="71" name="Picture 7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8429" y="3562763"/>
            <a:ext cx="102362" cy="102362"/>
          </a:xfrm>
          <a:prstGeom prst="rect">
            <a:avLst/>
          </a:prstGeom>
        </p:spPr>
      </p:pic>
      <p:cxnSp>
        <p:nvCxnSpPr>
          <p:cNvPr id="72" name="Connector 71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Oval 72"/>
          <p:cNvSpPr/>
          <p:nvPr/>
        </p:nvSpPr>
        <p:spPr>
          <a:xfrm>
            <a:off x="548640" y="40568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4" name="Picture 73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132802"/>
            <a:ext cx="178308" cy="17830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993140" y="400732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Tetapkan baseline waktu pulih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3140" y="424227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77" name="Picture 7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273645"/>
            <a:ext cx="102362" cy="102362"/>
          </a:xfrm>
          <a:prstGeom prst="rect">
            <a:avLst/>
          </a:prstGeom>
        </p:spPr>
      </p:pic>
      <p:sp>
        <p:nvSpPr>
          <p:cNvPr id="78" name="Rounded Rectangle 77"/>
          <p:cNvSpPr/>
          <p:nvPr/>
        </p:nvSpPr>
        <p:spPr>
          <a:xfrm>
            <a:off x="1785350" y="424227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9898" y="391795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Baseline hari pulih air dan akses per kab/kota terbit paling lambat 2027.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758733" y="4139406"/>
            <a:ext cx="105081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Dir. RR Infrastruktur</a:t>
            </a:r>
          </a:p>
        </p:txBody>
      </p:sp>
      <p:pic>
        <p:nvPicPr>
          <p:cNvPr id="81" name="Picture 8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170775"/>
            <a:ext cx="102362" cy="102362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9860347" y="4139406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3" name="Picture 8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2897" y="4170775"/>
            <a:ext cx="102362" cy="102362"/>
          </a:xfrm>
          <a:prstGeom prst="rect">
            <a:avLst/>
          </a:prstGeom>
        </p:spPr>
      </p:pic>
      <p:cxnSp>
        <p:nvCxnSpPr>
          <p:cNvPr id="84" name="Connector 83"/>
          <p:cNvCxnSpPr/>
          <p:nvPr/>
        </p:nvCxnSpPr>
        <p:spPr>
          <a:xfrm>
            <a:off x="548640" y="452596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Oval 84"/>
          <p:cNvSpPr/>
          <p:nvPr/>
        </p:nvSpPr>
        <p:spPr>
          <a:xfrm>
            <a:off x="548640" y="466486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6" name="Picture 85" descr="regulasi-FFFFFF-e639fe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86" y="4740815"/>
            <a:ext cx="178308" cy="17830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93140" y="461533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Tambah baris waktu pulih di templat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93140" y="485028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89" name="Picture 8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881658"/>
            <a:ext cx="102362" cy="102362"/>
          </a:xfrm>
          <a:prstGeom prst="rect">
            <a:avLst/>
          </a:prstGeom>
        </p:spPr>
      </p:pic>
      <p:sp>
        <p:nvSpPr>
          <p:cNvPr id="90" name="Rounded Rectangle 89"/>
          <p:cNvSpPr/>
          <p:nvPr/>
        </p:nvSpPr>
        <p:spPr>
          <a:xfrm>
            <a:off x="1785350" y="4850289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09898" y="452596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Templat rencana RR memuat baris waktu pulih dan daftar jembatan darurat yang harus diganti.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758733" y="4747419"/>
            <a:ext cx="67799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RR</a:t>
            </a:r>
          </a:p>
        </p:txBody>
      </p:sp>
      <p:pic>
        <p:nvPicPr>
          <p:cNvPr id="93" name="Picture 9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778788"/>
            <a:ext cx="102362" cy="102362"/>
          </a:xfrm>
          <a:prstGeom prst="rect">
            <a:avLst/>
          </a:prstGeom>
        </p:spPr>
      </p:pic>
      <p:sp>
        <p:nvSpPr>
          <p:cNvPr id="94" name="Rounded Rectangle 93"/>
          <p:cNvSpPr/>
          <p:nvPr/>
        </p:nvSpPr>
        <p:spPr>
          <a:xfrm>
            <a:off x="9487522" y="4747419"/>
            <a:ext cx="67878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Bappenas</a:t>
            </a:r>
          </a:p>
        </p:txBody>
      </p:sp>
      <p:pic>
        <p:nvPicPr>
          <p:cNvPr id="95" name="Picture 9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0072" y="4778788"/>
            <a:ext cx="102362" cy="102362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10217106" y="4747419"/>
            <a:ext cx="7593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Kemendagri</a:t>
            </a:r>
          </a:p>
        </p:txBody>
      </p:sp>
      <p:pic>
        <p:nvPicPr>
          <p:cNvPr id="97" name="Picture 9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9656" y="4778788"/>
            <a:ext cx="102362" cy="102362"/>
          </a:xfrm>
          <a:prstGeom prst="rect">
            <a:avLst/>
          </a:prstGeom>
        </p:spPr>
      </p:pic>
      <p:cxnSp>
        <p:nvCxnSpPr>
          <p:cNvPr id="98" name="Connector 97"/>
          <p:cNvCxnSpPr/>
          <p:nvPr/>
        </p:nvCxnSpPr>
        <p:spPr>
          <a:xfrm>
            <a:off x="548640" y="513397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Oval 98"/>
          <p:cNvSpPr/>
          <p:nvPr/>
        </p:nvSpPr>
        <p:spPr>
          <a:xfrm>
            <a:off x="548640" y="52728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regulasi-FFFFFF-e639fe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86" y="5348827"/>
            <a:ext cx="178308" cy="178308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993140" y="522335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Tetapkan standar hari akses darurat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93140" y="545830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03" name="Picture 10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489670"/>
            <a:ext cx="102362" cy="102362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1785350" y="5458301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09898" y="513397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Perubahan Perka BNPB perbaikan darurat memuat standar hari sampai akses darurat terbuka.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758733" y="5355431"/>
            <a:ext cx="132227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Penanganan Darurat</a:t>
            </a:r>
          </a:p>
        </p:txBody>
      </p:sp>
      <p:pic>
        <p:nvPicPr>
          <p:cNvPr id="107" name="Picture 10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386800"/>
            <a:ext cx="102362" cy="102362"/>
          </a:xfrm>
          <a:prstGeom prst="rect">
            <a:avLst/>
          </a:prstGeom>
        </p:spPr>
      </p:pic>
      <p:sp>
        <p:nvSpPr>
          <p:cNvPr id="108" name="Rounded Rectangle 107"/>
          <p:cNvSpPr/>
          <p:nvPr/>
        </p:nvSpPr>
        <p:spPr>
          <a:xfrm>
            <a:off x="10131809" y="5355431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109" name="Picture 10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4359" y="5386800"/>
            <a:ext cx="102362" cy="102362"/>
          </a:xfrm>
          <a:prstGeom prst="rect">
            <a:avLst/>
          </a:prstGeom>
        </p:spPr>
      </p:pic>
      <p:sp>
        <p:nvSpPr>
          <p:cNvPr id="110" name="Rounded Rectangle 109"/>
          <p:cNvSpPr/>
          <p:nvPr/>
        </p:nvSpPr>
        <p:spPr>
          <a:xfrm>
            <a:off x="11092810" y="5355431"/>
            <a:ext cx="44835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TNI</a:t>
            </a:r>
          </a:p>
        </p:txBody>
      </p:sp>
      <p:pic>
        <p:nvPicPr>
          <p:cNvPr id="111" name="Picture 11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5360" y="5386800"/>
            <a:ext cx="102362" cy="102362"/>
          </a:xfrm>
          <a:prstGeom prst="rect">
            <a:avLst/>
          </a:prstGeom>
        </p:spPr>
      </p:pic>
      <p:cxnSp>
        <p:nvCxnSpPr>
          <p:cNvPr id="112" name="Connector 111"/>
          <p:cNvCxnSpPr/>
          <p:nvPr/>
        </p:nvCxnSpPr>
        <p:spPr>
          <a:xfrm>
            <a:off x="548640" y="574198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3" name="Oval 112"/>
          <p:cNvSpPr/>
          <p:nvPr/>
        </p:nvSpPr>
        <p:spPr>
          <a:xfrm>
            <a:off x="548640" y="5880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4" name="Picture 113" descr="pembiayaan-FFFFFF-5387a37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586" y="5956840"/>
            <a:ext cx="178308" cy="17830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993140" y="5831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R-E07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Buka jalur dana jembatan dan SPAM desa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993140" y="606631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17" name="Picture 11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97683"/>
            <a:ext cx="102362" cy="102362"/>
          </a:xfrm>
          <a:prstGeom prst="rect">
            <a:avLst/>
          </a:prstGeom>
        </p:spPr>
      </p:pic>
      <p:sp>
        <p:nvSpPr>
          <p:cNvPr id="118" name="Rounded Rectangle 117"/>
          <p:cNvSpPr/>
          <p:nvPr/>
        </p:nvSpPr>
        <p:spPr>
          <a:xfrm>
            <a:off x="1785350" y="6066314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09898" y="574198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Usulan ubah larangan aset desa dalam Perban hibah RR atau permohonan Dana Bersama untuk aset desa di rencana RR.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758733" y="5855494"/>
            <a:ext cx="74843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Hukum</a:t>
            </a:r>
          </a:p>
        </p:txBody>
      </p:sp>
      <p:pic>
        <p:nvPicPr>
          <p:cNvPr id="121" name="Picture 12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886863"/>
            <a:ext cx="102362" cy="102362"/>
          </a:xfrm>
          <a:prstGeom prst="rect">
            <a:avLst/>
          </a:prstGeom>
        </p:spPr>
      </p:pic>
      <p:sp>
        <p:nvSpPr>
          <p:cNvPr id="122" name="Rounded Rectangle 121"/>
          <p:cNvSpPr/>
          <p:nvPr/>
        </p:nvSpPr>
        <p:spPr>
          <a:xfrm>
            <a:off x="9557968" y="5855494"/>
            <a:ext cx="105081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Dir. RR Infrastruktur</a:t>
            </a:r>
          </a:p>
        </p:txBody>
      </p:sp>
      <p:pic>
        <p:nvPicPr>
          <p:cNvPr id="123" name="Picture 12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0518" y="5886863"/>
            <a:ext cx="102362" cy="102362"/>
          </a:xfrm>
          <a:prstGeom prst="rect">
            <a:avLst/>
          </a:prstGeom>
        </p:spPr>
      </p:pic>
      <p:sp>
        <p:nvSpPr>
          <p:cNvPr id="124" name="Rounded Rectangle 123"/>
          <p:cNvSpPr/>
          <p:nvPr/>
        </p:nvSpPr>
        <p:spPr>
          <a:xfrm>
            <a:off x="10659581" y="5855494"/>
            <a:ext cx="74744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Kemendesa</a:t>
            </a:r>
          </a:p>
        </p:txBody>
      </p:sp>
      <p:pic>
        <p:nvPicPr>
          <p:cNvPr id="125" name="Picture 12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2131" y="5886863"/>
            <a:ext cx="102362" cy="102362"/>
          </a:xfrm>
          <a:prstGeom prst="rect">
            <a:avLst/>
          </a:prstGeom>
        </p:spPr>
      </p:pic>
      <p:sp>
        <p:nvSpPr>
          <p:cNvPr id="126" name="Rounded Rectangle 125"/>
          <p:cNvSpPr/>
          <p:nvPr/>
        </p:nvSpPr>
        <p:spPr>
          <a:xfrm>
            <a:off x="8758733" y="6071394"/>
            <a:ext cx="70517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Kemenkeu</a:t>
            </a:r>
          </a:p>
        </p:txBody>
      </p:sp>
      <p:pic>
        <p:nvPicPr>
          <p:cNvPr id="127" name="Picture 12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610276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E4. Rekomendasi lanjutan peta jalan</a:t>
            </a:r>
            <a:br/>
            <a:r>
              <a:rPr sz="2200" b="1" lang="id-ID">
                <a:solidFill>
                  <a:srgbClr val="D9600B"/>
                </a:solidFill>
                <a:latin typeface="Roboto"/>
              </a:rPr>
              <a:t>2026–2027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arah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2028–2030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(lanjutan)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548640" y="166823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44182"/>
            <a:ext cx="178308" cy="1783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3140" y="161870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Tulis pemicu peralihan truk ke pipa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3140" y="185365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7" name="Picture 16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85025"/>
            <a:ext cx="102362" cy="10236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785350" y="1853656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9898" y="1485900"/>
            <a:ext cx="4320235" cy="694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Pedoman peralihan truk tangki ke perpipaan sementara memuat pemicu tertulis dan pemutusnya.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8733" y="1750786"/>
            <a:ext cx="132227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Penanganan Darurat</a:t>
            </a:r>
          </a:p>
        </p:txBody>
      </p:sp>
      <p:pic>
        <p:nvPicPr>
          <p:cNvPr id="21" name="Picture 20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82155"/>
            <a:ext cx="102362" cy="10236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0131809" y="1750786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23" name="Picture 2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4359" y="1782155"/>
            <a:ext cx="102362" cy="102362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1092810" y="1750786"/>
            <a:ext cx="54813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PDAM</a:t>
            </a:r>
          </a:p>
        </p:txBody>
      </p:sp>
      <p:pic>
        <p:nvPicPr>
          <p:cNvPr id="25" name="Picture 2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5360" y="1782155"/>
            <a:ext cx="102362" cy="102362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548640" y="2180771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548640" y="2363107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data-FFFFFF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439053"/>
            <a:ext cx="178308" cy="1783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3140" y="2313577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R-E09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Ukur pemulihan air dalam jiwa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3140" y="2548527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31" name="Picture 30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579896"/>
            <a:ext cx="102362" cy="10236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785350" y="2548527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9898" y="2180771"/>
            <a:ext cx="4320235" cy="694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Laporan pemulihan air memuat jiwa atau sambungan terlayani dan liter per orang per hari.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58733" y="2445657"/>
            <a:ext cx="105081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Dir. RR Infrastruktur</a:t>
            </a:r>
          </a:p>
        </p:txBody>
      </p:sp>
      <p:pic>
        <p:nvPicPr>
          <p:cNvPr id="35" name="Picture 34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477026"/>
            <a:ext cx="102362" cy="10236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9860347" y="2445657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37" name="Picture 3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2897" y="2477026"/>
            <a:ext cx="102362" cy="102362"/>
          </a:xfrm>
          <a:prstGeom prst="rect">
            <a:avLst/>
          </a:prstGeom>
        </p:spPr>
      </p:pic>
      <p:cxnSp>
        <p:nvCxnSpPr>
          <p:cNvPr id="38" name="Connector 37"/>
          <p:cNvCxnSpPr/>
          <p:nvPr/>
        </p:nvCxnSpPr>
        <p:spPr>
          <a:xfrm>
            <a:off x="548640" y="2875643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Oval 38"/>
          <p:cNvSpPr/>
          <p:nvPr/>
        </p:nvSpPr>
        <p:spPr>
          <a:xfrm>
            <a:off x="548640" y="305797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3133925"/>
            <a:ext cx="178308" cy="1783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93140" y="300844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R-E10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Susun protokol sumur bor RR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3140" y="324339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43" name="Picture 4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274768"/>
            <a:ext cx="102362" cy="102362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1785350" y="3243399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9898" y="2875643"/>
            <a:ext cx="4320235" cy="694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Protokol memuat lokasi menurut zona konservasi, uji mutu E. coli, dan serah terima pengelola.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58733" y="3140529"/>
            <a:ext cx="105081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Dir. RR Infrastruktur</a:t>
            </a:r>
          </a:p>
        </p:txBody>
      </p:sp>
      <p:pic>
        <p:nvPicPr>
          <p:cNvPr id="47" name="Picture 4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171898"/>
            <a:ext cx="102362" cy="10236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9860347" y="3140529"/>
            <a:ext cx="102398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ESDM</a:t>
            </a:r>
          </a:p>
        </p:txBody>
      </p:sp>
      <p:pic>
        <p:nvPicPr>
          <p:cNvPr id="49" name="Picture 4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2897" y="3171898"/>
            <a:ext cx="102362" cy="102362"/>
          </a:xfrm>
          <a:prstGeom prst="rect">
            <a:avLst/>
          </a:prstGeom>
        </p:spPr>
      </p:pic>
      <p:cxnSp>
        <p:nvCxnSpPr>
          <p:cNvPr id="50" name="Connector 49"/>
          <p:cNvCxnSpPr/>
          <p:nvPr/>
        </p:nvCxnSpPr>
        <p:spPr>
          <a:xfrm>
            <a:off x="548640" y="3570514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1" name="Oval 50"/>
          <p:cNvSpPr/>
          <p:nvPr/>
        </p:nvSpPr>
        <p:spPr>
          <a:xfrm>
            <a:off x="548640" y="375285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3828796"/>
            <a:ext cx="178308" cy="1783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93140" y="3703320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R-E12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Syaratkan sumber air sebelum huntap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3140" y="393827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55" name="Picture 54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969639"/>
            <a:ext cx="102362" cy="10236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785350" y="3938270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9898" y="3570514"/>
            <a:ext cx="4320235" cy="694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Penetapan lokasi huntap mensyaratkan sumber air dan akses yang tertulis.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58733" y="3835400"/>
            <a:ext cx="100886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Dir. RR Perumahan</a:t>
            </a:r>
          </a:p>
        </p:txBody>
      </p:sp>
      <p:pic>
        <p:nvPicPr>
          <p:cNvPr id="59" name="Picture 58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866769"/>
            <a:ext cx="102362" cy="102362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9818397" y="3835400"/>
            <a:ext cx="96072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PKP</a:t>
            </a:r>
          </a:p>
        </p:txBody>
      </p:sp>
      <p:pic>
        <p:nvPicPr>
          <p:cNvPr id="61" name="Picture 6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0947" y="3866769"/>
            <a:ext cx="102362" cy="102362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10829920" y="3835400"/>
            <a:ext cx="57309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Pemda</a:t>
            </a:r>
          </a:p>
        </p:txBody>
      </p:sp>
      <p:pic>
        <p:nvPicPr>
          <p:cNvPr id="63" name="Picture 6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2470" y="3866769"/>
            <a:ext cx="102362" cy="102362"/>
          </a:xfrm>
          <a:prstGeom prst="rect">
            <a:avLst/>
          </a:prstGeom>
        </p:spPr>
      </p:pic>
      <p:cxnSp>
        <p:nvCxnSpPr>
          <p:cNvPr id="64" name="Connector 63"/>
          <p:cNvCxnSpPr/>
          <p:nvPr/>
        </p:nvCxnSpPr>
        <p:spPr>
          <a:xfrm>
            <a:off x="548640" y="4265386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548640" y="444772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6" name="Picture 65" descr="infrastruktur-FFFFFF-ba1c96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4523667"/>
            <a:ext cx="178308" cy="17830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93140" y="439819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R-E14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Uji coba paket air dan akses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93140" y="463314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9" name="Picture 68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664510"/>
            <a:ext cx="102362" cy="102362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1785350" y="463314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09898" y="4265386"/>
            <a:ext cx="4320235" cy="694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Satu kabupaten Sumatra menjalankan paket air dan akses dengan garis dasar dan pembanding.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758733" y="4530271"/>
            <a:ext cx="677990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RR</a:t>
            </a:r>
          </a:p>
        </p:txBody>
      </p:sp>
      <p:pic>
        <p:nvPicPr>
          <p:cNvPr id="73" name="Picture 72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561640"/>
            <a:ext cx="102362" cy="102362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9487522" y="4530271"/>
            <a:ext cx="122274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Satgas Keppres Sumatra</a:t>
            </a:r>
          </a:p>
        </p:txBody>
      </p:sp>
      <p:pic>
        <p:nvPicPr>
          <p:cNvPr id="75" name="Picture 74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0072" y="4561640"/>
            <a:ext cx="102362" cy="102362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8758733" y="4746171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77" name="Picture 76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4777540"/>
            <a:ext cx="102362" cy="102362"/>
          </a:xfrm>
          <a:prstGeom prst="rect">
            <a:avLst/>
          </a:prstGeom>
        </p:spPr>
      </p:pic>
      <p:cxnSp>
        <p:nvCxnSpPr>
          <p:cNvPr id="78" name="Connector 77"/>
          <p:cNvCxnSpPr/>
          <p:nvPr/>
        </p:nvCxnSpPr>
        <p:spPr>
          <a:xfrm>
            <a:off x="548640" y="4960257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9" name="Oval 78"/>
          <p:cNvSpPr/>
          <p:nvPr/>
        </p:nvSpPr>
        <p:spPr>
          <a:xfrm>
            <a:off x="548640" y="5142593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0" name="Picture 79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5218539"/>
            <a:ext cx="178308" cy="17830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93140" y="5093063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R-E15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Selaraskan peraturan dan JDIH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93140" y="5328013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83" name="Picture 8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359382"/>
            <a:ext cx="102362" cy="102362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1785350" y="5328013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09898" y="4960257"/>
            <a:ext cx="4320235" cy="694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Katalog JDIH menandai status berlaku yang benar dan perubahan Perka BNPB perbaikan darurat ditetapkan.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758733" y="5225143"/>
            <a:ext cx="74843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Hukum</a:t>
            </a:r>
          </a:p>
        </p:txBody>
      </p:sp>
      <p:pic>
        <p:nvPicPr>
          <p:cNvPr id="87" name="Picture 8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256512"/>
            <a:ext cx="102362" cy="102362"/>
          </a:xfrm>
          <a:prstGeom prst="rect">
            <a:avLst/>
          </a:prstGeom>
        </p:spPr>
      </p:pic>
      <p:cxnSp>
        <p:nvCxnSpPr>
          <p:cNvPr id="88" name="Connector 87"/>
          <p:cNvCxnSpPr/>
          <p:nvPr/>
        </p:nvCxnSpPr>
        <p:spPr>
          <a:xfrm>
            <a:off x="548640" y="5655129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Oval 88"/>
          <p:cNvSpPr/>
          <p:nvPr/>
        </p:nvSpPr>
        <p:spPr>
          <a:xfrm>
            <a:off x="548640" y="583746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0" name="Picture 89" descr="data-FFFFFF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5913410"/>
            <a:ext cx="178308" cy="17830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993140" y="578793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R-E13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Evaluasi dampak jembatan pedesaan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93140" y="602288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93" name="Picture 92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54253"/>
            <a:ext cx="102362" cy="102362"/>
          </a:xfrm>
          <a:prstGeom prst="rect">
            <a:avLst/>
          </a:prstGeom>
        </p:spPr>
      </p:pic>
      <p:sp>
        <p:nvSpPr>
          <p:cNvPr id="94" name="Rounded Rectangle 93"/>
          <p:cNvSpPr/>
          <p:nvPr/>
        </p:nvSpPr>
        <p:spPr>
          <a:xfrm>
            <a:off x="1785350" y="6022884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09898" y="5655129"/>
            <a:ext cx="4320235" cy="6948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Evaluasi dampak independen atas desa tersambung dan waktu tempuh ke sekolah dan pasar.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758733" y="5812064"/>
            <a:ext cx="147257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Dir. Pengembangan Strategi PB</a:t>
            </a:r>
          </a:p>
        </p:txBody>
      </p:sp>
      <p:pic>
        <p:nvPicPr>
          <p:cNvPr id="97" name="Picture 96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843433"/>
            <a:ext cx="102362" cy="102362"/>
          </a:xfrm>
          <a:prstGeom prst="rect">
            <a:avLst/>
          </a:prstGeom>
        </p:spPr>
      </p:pic>
      <p:sp>
        <p:nvSpPr>
          <p:cNvPr id="98" name="Rounded Rectangle 97"/>
          <p:cNvSpPr/>
          <p:nvPr/>
        </p:nvSpPr>
        <p:spPr>
          <a:xfrm>
            <a:off x="10282106" y="5812064"/>
            <a:ext cx="57611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TNI AD</a:t>
            </a:r>
          </a:p>
        </p:txBody>
      </p:sp>
      <p:pic>
        <p:nvPicPr>
          <p:cNvPr id="99" name="Picture 98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4656" y="5843433"/>
            <a:ext cx="102362" cy="102362"/>
          </a:xfrm>
          <a:prstGeom prst="rect">
            <a:avLst/>
          </a:prstGeom>
        </p:spPr>
      </p:pic>
      <p:sp>
        <p:nvSpPr>
          <p:cNvPr id="100" name="Rounded Rectangle 99"/>
          <p:cNvSpPr/>
          <p:nvPr/>
        </p:nvSpPr>
        <p:spPr>
          <a:xfrm>
            <a:off x="10909017" y="5812064"/>
            <a:ext cx="48812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Polri</a:t>
            </a:r>
          </a:p>
        </p:txBody>
      </p:sp>
      <p:pic>
        <p:nvPicPr>
          <p:cNvPr id="101" name="Picture 10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1567" y="5843433"/>
            <a:ext cx="102362" cy="102362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8758733" y="6027964"/>
            <a:ext cx="67878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Bappenas</a:t>
            </a:r>
          </a:p>
        </p:txBody>
      </p:sp>
      <p:pic>
        <p:nvPicPr>
          <p:cNvPr id="103" name="Picture 102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605933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Delapan temuan berangka tentang air dan akses pascabencana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mendasari keputusan yang diminta dari Kepala BNPB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25 Okt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74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nfrastruktur-051C2C-ba1c96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23" y="1601883"/>
            <a:ext cx="221425" cy="221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7081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74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BEBAN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4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Jembatan rusak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74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3.833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pada 2018–2025,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1.088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pada 2025.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661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171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banjir-051C2C-364735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293" y="1601883"/>
            <a:ext cx="221425" cy="2214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7878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171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BEBAN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171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Penyebab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171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89,2%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jembatan rusak karena banjir.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458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2968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wilayah-051C2C-37dca1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263" y="1601883"/>
            <a:ext cx="221425" cy="2214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8675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968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AKSES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968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Program jembatan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968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TNI AD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3.008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titik dan Polri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895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unit, tanpa biaya satuan.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255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3765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air-baku-051C2C-271d6c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233" y="1601883"/>
            <a:ext cx="221425" cy="2214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09472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765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AIR PERPIPAAN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765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SPAM Sumatra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765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95,5%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178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berfungsi, diukur dalam unit; jiwa tidak terukur.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13740" y="352298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air-tanah-051C2C-400248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23" y="3613563"/>
            <a:ext cx="221425" cy="2214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7081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74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AIR TANAH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74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Sumur bor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74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37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128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sumur PU selesai per Februari 2026.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5661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2171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regulasi-D9600B-e639fe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2293" y="3613563"/>
            <a:ext cx="221425" cy="2214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47878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171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KESENJANGAN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171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Hibah RR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171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7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jenis pembiayaan dikecualikan, termasuk aset desa.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458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2968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data-D9600B-608a1e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0263" y="3613563"/>
            <a:ext cx="221425" cy="22142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28675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968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KESENJANGAN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968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DIBI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968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0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kolom air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19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kolom dampak.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7255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137650" y="3522980"/>
            <a:ext cx="402590" cy="40259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lembaga-2F86D1-f44193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8233" y="3613563"/>
            <a:ext cx="221425" cy="22142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09472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765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2F86D1"/>
                </a:solidFill>
                <a:latin typeface="Roboto"/>
              </a:rPr>
              <a:t>KELEMBAGAAN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765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Tenggat rencana RR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765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Rencana RR disusun paling lama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90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hari dan berlaku paling lama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tahun.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369560"/>
            <a:ext cx="11094720" cy="558800"/>
          </a:xfrm>
          <a:prstGeom prst="roundRect">
            <a:avLst>
              <a:gd name="adj" fmla="val 13181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3740" y="5483860"/>
            <a:ext cx="330200" cy="33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peringatan-D9600B-6a80b71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035" y="5558155"/>
            <a:ext cx="181610" cy="18161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209040" y="5369560"/>
            <a:ext cx="1608333" cy="55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150">
                <a:solidFill>
                  <a:srgbClr val="FFFFFF"/>
                </a:solidFill>
                <a:latin typeface="Roboto"/>
              </a:rPr>
              <a:t>ARAHAN YANG DIMINTA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17373" y="5369560"/>
            <a:ext cx="8660887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FFFFFF"/>
                </a:solidFill>
                <a:latin typeface="Roboto"/>
              </a:rPr>
              <a:t>Tetapkan waktu pulih sebagai ukuran RR; usulkan jalur dana aset desa; ajukan pengikatan jembatan TNI AD dan Polri ke rencana RR; tugaskan protokol sumur bor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2018–2025; Kementerian PU (Februari dan Mei 2026); Kementerian Sekretariat Negara, Agustus 2026; Perban BNPB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nutup-sampul-reh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masjid yang tetap berdiri setelah tsunami Aceh, Banda Aceh, 2005; USGS, domain publik,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Terima kasih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lang="id-ID">
                <a:solidFill>
                  <a:srgbClr val="FFFFFF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C9D1E3"/>
                </a:solidFill>
                <a:latin typeface="Roboto"/>
              </a:rPr>
              <a:t>Grand Design Rehabilitasi dan Rekonstruksi Air dan Akses Pascabencana 2026–2030, Senin, 26 Oktober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Design Rehabilitasi dan Rekonstruksi Air dan Akses Pascabencana 2026–2030</dc:title>
  <dc:subject>Pemulihan air dan akses daerah terdampak bencana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penanggulangan bencana; rehabilitasi dan rekonstruksi; pascabencana; grand design; jembatan; air tanah; sistem penyediaan air minum</cp:keywords>
  <dc:language>id-ID</dc:language>
  <cp:category>Kajian</cp:category>
  <dc:description>Waktu pulih air dan akses diusulkan menjadi ukuran keberhasilan rehabilitasi dan rekonstruksi; program jembatan diikat ke rencana RR dan baseline layanan air dibentuk paling lambat 2027.</dc:description>
</cp:coreProperties>
</file>