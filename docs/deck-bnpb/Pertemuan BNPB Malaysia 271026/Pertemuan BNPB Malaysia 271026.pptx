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5"/>
    <p:sldId id="257" r:id="rId4"/>
    <p:sldId id="258" r:id="rId3"/>
    <p:sldId id="259" r:id="rId2"/>
    <p:sldId id="260" r:id="rId11"/>
    <p:sldId id="261" r:id="rId12"/>
    <p:sldId id="267" r:id="rId18"/>
    <p:sldId id="263" r:id="rId14"/>
    <p:sldId id="264" r:id="rId15"/>
    <p:sldId id="265" r:id="rId16"/>
    <p:sldId id="266" r:id="rId17"/>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TIH">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51C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Roboto"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Roboto"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Roboto"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Roboto"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6.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8.png"/><Relationship Id="rId7"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28.png"/><Relationship Id="rId8" Type="http://schemas.openxmlformats.org/officeDocument/2006/relationships/image" Target="../media/image25.png"/><Relationship Id="rId9" Type="http://schemas.openxmlformats.org/officeDocument/2006/relationships/image" Target="../media/image8.png"/><Relationship Id="rId10"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29.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 Id="rId16" Type="http://schemas.openxmlformats.org/officeDocument/2006/relationships/image" Target="../media/image44.png"/><Relationship Id="rId17" Type="http://schemas.openxmlformats.org/officeDocument/2006/relationships/image" Target="../media/image45.png"/><Relationship Id="rId18" Type="http://schemas.openxmlformats.org/officeDocument/2006/relationships/image" Target="../media/image46.png"/><Relationship Id="rId19" Type="http://schemas.openxmlformats.org/officeDocument/2006/relationships/image" Target="../media/image47.png"/><Relationship Id="rId20" Type="http://schemas.openxmlformats.org/officeDocument/2006/relationships/image" Target="../media/image48.png"/><Relationship Id="rId21" Type="http://schemas.openxmlformats.org/officeDocument/2006/relationships/image" Target="../media/image49.png"/><Relationship Id="rId22" Type="http://schemas.openxmlformats.org/officeDocument/2006/relationships/image" Target="../media/image50.png"/><Relationship Id="rId23" Type="http://schemas.openxmlformats.org/officeDocument/2006/relationships/image" Target="../media/image5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ertemuan-malaysia-sampul-foto-pemadam.png"/>
          <p:cNvPicPr>
            <a:picLocks noChangeAspect="1"/>
          </p:cNvPicPr>
          <p:nvPr/>
        </p:nvPicPr>
        <p:blipFill>
          <a:blip r:embed="rId2"/>
          <a:stretch>
            <a:fillRect/>
          </a:stretch>
        </p:blipFill>
        <p:spPr>
          <a:xfrm>
            <a:off x="6311900" y="0"/>
            <a:ext cx="5880100" cy="6858000"/>
          </a:xfrm>
          <a:prstGeom prst="rect">
            <a:avLst/>
          </a:prstGeom>
        </p:spPr>
      </p:pic>
      <p:sp>
        <p:nvSpPr>
          <p:cNvPr id="3" name="TextBox 2"/>
          <p:cNvSpPr txBox="1"/>
          <p:nvPr/>
        </p:nvSpPr>
        <p:spPr>
          <a:xfrm>
            <a:off x="7223760" y="6565900"/>
            <a:ext cx="4693920" cy="182880"/>
          </a:xfrm>
          <a:prstGeom prst="rect">
            <a:avLst/>
          </a:prstGeom>
          <a:noFill/>
        </p:spPr>
        <p:txBody>
          <a:bodyPr wrap="none" lIns="0" tIns="0" rIns="0" bIns="0" anchor="t">
            <a:noAutofit/>
          </a:bodyPr>
          <a:lstStyle/>
          <a:p>
            <a:pPr algn="r"/>
            <a:r>
              <a:rPr sz="800" b="0" lang="id-ID">
                <a:solidFill>
                  <a:srgbClr val="FFFFFF"/>
                </a:solidFill>
                <a:latin typeface="Roboto"/>
              </a:rPr>
              <a:t>Foto: DenY Krisbiyantoro, CC BY-SA 4.0, Wikimedia Commons</a:t>
            </a:r>
          </a:p>
        </p:txBody>
      </p:sp>
      <p:sp>
        <p:nvSpPr>
          <p:cNvPr id="4" name="Oval 3"/>
          <p:cNvSpPr/>
          <p:nvPr/>
        </p:nvSpPr>
        <p:spPr>
          <a:xfrm>
            <a:off x="548640" y="457200"/>
            <a:ext cx="1005840" cy="1005840"/>
          </a:xfrm>
          <a:prstGeom prst="ellipse">
            <a:avLst/>
          </a:prstGeom>
          <a:solidFill>
            <a:srgbClr val="FFFFFF"/>
          </a:solidFill>
          <a:ln>
            <a:noFill/>
          </a:ln>
        </p:spPr>
        <p:txBody>
          <a:bodyPr rtlCol="0" anchor="ctr"/>
          <a:lstStyle/>
          <a:p>
            <a:pPr algn="ctr"/>
          </a:p>
        </p:txBody>
      </p:sp>
      <p:pic>
        <p:nvPicPr>
          <p:cNvPr id="5" name="Picture 4" descr="sumber-bnpb.png"/>
          <p:cNvPicPr>
            <a:picLocks noChangeAspect="1"/>
          </p:cNvPicPr>
          <p:nvPr/>
        </p:nvPicPr>
        <p:blipFill>
          <a:blip r:embed="rId3"/>
          <a:stretch>
            <a:fillRect/>
          </a:stretch>
        </p:blipFill>
        <p:spPr>
          <a:xfrm>
            <a:off x="788126" y="628193"/>
            <a:ext cx="526869" cy="663854"/>
          </a:xfrm>
          <a:prstGeom prst="rect">
            <a:avLst/>
          </a:prstGeom>
        </p:spPr>
      </p:pic>
      <p:sp>
        <p:nvSpPr>
          <p:cNvPr id="6" name="TextBox 5"/>
          <p:cNvSpPr txBox="1"/>
          <p:nvPr/>
        </p:nvSpPr>
        <p:spPr>
          <a:xfrm>
            <a:off x="548640" y="1600200"/>
            <a:ext cx="5669280" cy="1524000"/>
          </a:xfrm>
          <a:prstGeom prst="rect">
            <a:avLst/>
          </a:prstGeom>
          <a:noFill/>
        </p:spPr>
        <p:txBody>
          <a:bodyPr wrap="square" lIns="0" tIns="0" rIns="0" bIns="0" anchor="b">
            <a:noAutofit/>
          </a:bodyPr>
          <a:lstStyle/>
          <a:p>
            <a:pPr algn="l">
              <a:lnSpc>
                <a:spcPct val="95000"/>
              </a:lnSpc>
            </a:pPr>
            <a:r>
              <a:rPr sz="3200" b="1" lang="id-ID">
                <a:solidFill>
                  <a:srgbClr val="1A1A1A"/>
                </a:solidFill>
                <a:latin typeface="Roboto"/>
              </a:rPr>
              <a:t>Pertemuan Kepala BNPB</a:t>
            </a:r>
          </a:p>
          <a:p>
            <a:pPr algn="l">
              <a:lnSpc>
                <a:spcPct val="95000"/>
              </a:lnSpc>
            </a:pPr>
            <a:r>
              <a:rPr sz="3200" b="1" lang="id-ID">
                <a:solidFill>
                  <a:srgbClr val="1A1A1A"/>
                </a:solidFill>
                <a:latin typeface="Roboto"/>
              </a:rPr>
              <a:t>dengan Timbalan Ketua</a:t>
            </a:r>
          </a:p>
          <a:p>
            <a:pPr algn="l">
              <a:lnSpc>
                <a:spcPct val="95000"/>
              </a:lnSpc>
            </a:pPr>
            <a:r>
              <a:rPr sz="3200" b="1" lang="id-ID">
                <a:solidFill>
                  <a:srgbClr val="1A1A1A"/>
                </a:solidFill>
                <a:latin typeface="Roboto"/>
              </a:rPr>
              <a:t>Perwakilan Malaysia</a:t>
            </a:r>
          </a:p>
        </p:txBody>
      </p:sp>
      <p:sp>
        <p:nvSpPr>
          <p:cNvPr id="7" name="TextBox 6"/>
          <p:cNvSpPr txBox="1"/>
          <p:nvPr/>
        </p:nvSpPr>
        <p:spPr>
          <a:xfrm>
            <a:off x="548640" y="3225800"/>
            <a:ext cx="5669280" cy="255588"/>
          </a:xfrm>
          <a:prstGeom prst="rect">
            <a:avLst/>
          </a:prstGeom>
          <a:noFill/>
        </p:spPr>
        <p:txBody>
          <a:bodyPr wrap="square" lIns="0" tIns="0" rIns="0" bIns="0" anchor="t">
            <a:noAutofit/>
          </a:bodyPr>
          <a:lstStyle/>
          <a:p>
            <a:pPr algn="l"/>
            <a:r>
              <a:rPr sz="1610" b="0" lang="id-ID">
                <a:solidFill>
                  <a:srgbClr val="2E3440"/>
                </a:solidFill>
                <a:latin typeface="Roboto"/>
              </a:rPr>
              <a:t>Penanganan Karhutla 2026 dan Kerja Sama dengan Malaysia</a:t>
            </a:r>
          </a:p>
        </p:txBody>
      </p:sp>
      <p:sp>
        <p:nvSpPr>
          <p:cNvPr id="8" name="TextBox 7"/>
          <p:cNvSpPr txBox="1"/>
          <p:nvPr/>
        </p:nvSpPr>
        <p:spPr>
          <a:xfrm>
            <a:off x="548640" y="3633788"/>
            <a:ext cx="5669280" cy="292100"/>
          </a:xfrm>
          <a:prstGeom prst="rect">
            <a:avLst/>
          </a:prstGeom>
          <a:noFill/>
        </p:spPr>
        <p:txBody>
          <a:bodyPr wrap="square" lIns="0" tIns="0" rIns="0" bIns="0" anchor="t">
            <a:noAutofit/>
          </a:bodyPr>
          <a:lstStyle/>
          <a:p>
            <a:pPr algn="l"/>
            <a:r>
              <a:rPr sz="1839" b="1" lang="id-ID">
                <a:solidFill>
                  <a:srgbClr val="00499D"/>
                </a:solidFill>
                <a:latin typeface="Roboto"/>
              </a:rPr>
              <a:t>Badan Nasional Penanggulangan Bencana</a:t>
            </a:r>
          </a:p>
        </p:txBody>
      </p:sp>
      <p:cxnSp>
        <p:nvCxnSpPr>
          <p:cNvPr id="9" name="Connector 8"/>
          <p:cNvCxnSpPr/>
          <p:nvPr/>
        </p:nvCxnSpPr>
        <p:spPr>
          <a:xfrm>
            <a:off x="548640" y="3976688"/>
            <a:ext cx="5120640" cy="0"/>
          </a:xfrm>
          <a:prstGeom prst="line">
            <a:avLst/>
          </a:prstGeom>
          <a:ln w="9525">
            <a:solidFill>
              <a:srgbClr val="1A1A1A"/>
            </a:solidFill>
          </a:ln>
        </p:spPr>
      </p:cxnSp>
      <p:sp>
        <p:nvSpPr>
          <p:cNvPr id="10" name="TextBox 9"/>
          <p:cNvSpPr txBox="1"/>
          <p:nvPr/>
        </p:nvSpPr>
        <p:spPr>
          <a:xfrm>
            <a:off x="548640" y="4129088"/>
            <a:ext cx="5669280" cy="228600"/>
          </a:xfrm>
          <a:prstGeom prst="rect">
            <a:avLst/>
          </a:prstGeom>
          <a:noFill/>
        </p:spPr>
        <p:txBody>
          <a:bodyPr wrap="square" lIns="0" tIns="0" rIns="0" bIns="0" anchor="t">
            <a:noAutofit/>
          </a:bodyPr>
          <a:lstStyle/>
          <a:p>
            <a:pPr algn="l"/>
            <a:r>
              <a:rPr sz="1440" b="1" lang="id-ID">
                <a:solidFill>
                  <a:srgbClr val="D9600B"/>
                </a:solidFill>
                <a:latin typeface="Roboto"/>
              </a:rPr>
              <a:t>Dipresentasikan oleh</a:t>
            </a:r>
          </a:p>
        </p:txBody>
      </p:sp>
      <p:sp>
        <p:nvSpPr>
          <p:cNvPr id="11" name="TextBox 10"/>
          <p:cNvSpPr txBox="1"/>
          <p:nvPr/>
        </p:nvSpPr>
        <p:spPr>
          <a:xfrm>
            <a:off x="548640" y="4383088"/>
            <a:ext cx="5669280" cy="228600"/>
          </a:xfrm>
          <a:prstGeom prst="rect">
            <a:avLst/>
          </a:prstGeom>
          <a:noFill/>
        </p:spPr>
        <p:txBody>
          <a:bodyPr wrap="square" lIns="0" tIns="0" rIns="0" bIns="0" anchor="t">
            <a:noAutofit/>
          </a:bodyPr>
          <a:lstStyle/>
          <a:p>
            <a:pPr algn="l"/>
            <a:r>
              <a:rPr sz="1440" b="1" lang="id-ID">
                <a:solidFill>
                  <a:srgbClr val="1A1A1A"/>
                </a:solidFill>
                <a:latin typeface="Roboto"/>
              </a:rPr>
              <a:t>Letnan Jenderal TNI Kristomei Sianturi, S.Sos., M.Si., M.Si. (Han)</a:t>
            </a:r>
          </a:p>
        </p:txBody>
      </p:sp>
      <p:sp>
        <p:nvSpPr>
          <p:cNvPr id="12" name="TextBox 11"/>
          <p:cNvSpPr txBox="1"/>
          <p:nvPr/>
        </p:nvSpPr>
        <p:spPr>
          <a:xfrm>
            <a:off x="548640" y="4637088"/>
            <a:ext cx="5669280" cy="228600"/>
          </a:xfrm>
          <a:prstGeom prst="rect">
            <a:avLst/>
          </a:prstGeom>
          <a:noFill/>
        </p:spPr>
        <p:txBody>
          <a:bodyPr wrap="square" lIns="0" tIns="0" rIns="0" bIns="0" anchor="t">
            <a:noAutofit/>
          </a:bodyPr>
          <a:lstStyle/>
          <a:p>
            <a:pPr algn="l"/>
            <a:r>
              <a:rPr sz="1440" b="0" lang="id-ID">
                <a:solidFill>
                  <a:srgbClr val="2E3440"/>
                </a:solidFill>
                <a:latin typeface="Roboto"/>
              </a:rPr>
              <a:t>Kepala Badan Nasional Penanggulangan Bencana</a:t>
            </a:r>
          </a:p>
        </p:txBody>
      </p:sp>
      <p:sp>
        <p:nvSpPr>
          <p:cNvPr id="13" name="Rounded Rectangle 12"/>
          <p:cNvSpPr/>
          <p:nvPr/>
        </p:nvSpPr>
        <p:spPr>
          <a:xfrm>
            <a:off x="9204960" y="508000"/>
            <a:ext cx="2438400" cy="1053828"/>
          </a:xfrm>
          <a:prstGeom prst="roundRect">
            <a:avLst>
              <a:gd name="adj" fmla="val 9641"/>
            </a:avLst>
          </a:prstGeom>
          <a:solidFill>
            <a:srgbClr val="FFFFFF"/>
          </a:solidFill>
          <a:ln>
            <a:noFill/>
          </a:ln>
        </p:spPr>
        <p:txBody>
          <a:bodyPr rtlCol="0" anchor="ctr"/>
          <a:lstStyle/>
          <a:p>
            <a:pPr algn="ctr"/>
          </a:p>
        </p:txBody>
      </p:sp>
      <p:pic>
        <p:nvPicPr>
          <p:cNvPr id="14" name="Picture 13" descr="berakhlak.png"/>
          <p:cNvPicPr>
            <a:picLocks noChangeAspect="1"/>
          </p:cNvPicPr>
          <p:nvPr/>
        </p:nvPicPr>
        <p:blipFill>
          <a:blip r:embed="rId4"/>
          <a:stretch>
            <a:fillRect/>
          </a:stretch>
        </p:blipFill>
        <p:spPr>
          <a:xfrm>
            <a:off x="9306560" y="609600"/>
            <a:ext cx="2235200" cy="850628"/>
          </a:xfrm>
          <a:prstGeom prst="rect">
            <a:avLst/>
          </a:prstGeom>
        </p:spPr>
      </p:pic>
      <p:sp>
        <p:nvSpPr>
          <p:cNvPr id="15" name="Rounded Rectangle 14"/>
          <p:cNvSpPr/>
          <p:nvPr/>
        </p:nvSpPr>
        <p:spPr>
          <a:xfrm>
            <a:off x="548640" y="5094288"/>
            <a:ext cx="2926080" cy="383540"/>
          </a:xfrm>
          <a:prstGeom prst="roundRect">
            <a:avLst>
              <a:gd name="adj" fmla="val 50000"/>
            </a:avLst>
          </a:prstGeom>
          <a:solidFill>
            <a:srgbClr val="051C2C"/>
          </a:solidFill>
          <a:ln>
            <a:noFill/>
          </a:ln>
        </p:spPr>
        <p:txBody>
          <a:bodyPr rtlCol="0" anchor="ctr" wrap="none" lIns="0" tIns="0" rIns="0" bIns="0">
            <a:noAutofit/>
          </a:bodyPr>
          <a:lstStyle/>
          <a:p>
            <a:pPr algn="ctr"/>
            <a:r>
              <a:rPr sz="1260" b="1" lang="id-ID">
                <a:solidFill>
                  <a:srgbClr val="FFFFFF"/>
                </a:solidFill>
                <a:latin typeface="Roboto"/>
              </a:rPr>
              <a:t>Selasa, 27 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642600" cy="825500"/>
          </a:xfrm>
          <a:prstGeom prst="rect">
            <a:avLst/>
          </a:prstGeom>
          <a:noFill/>
        </p:spPr>
        <p:txBody>
          <a:bodyPr wrap="square" lIns="0" tIns="0" rIns="0" bIns="0" anchor="b">
            <a:noAutofit/>
          </a:bodyPr>
          <a:lstStyle/>
          <a:p>
            <a:pPr algn="l">
              <a:lnSpc>
                <a:spcPct val="95000"/>
              </a:lnSpc>
            </a:pPr>
            <a:r>
              <a:rPr sz="2200" b="1" lang="id-ID">
                <a:solidFill>
                  <a:srgbClr val="1A1A1A"/>
                </a:solidFill>
                <a:latin typeface="Roboto"/>
              </a:rPr>
              <a:t>BNPB membuka tawaran bantuan dan kerja sama teknologi dengan Pemerintah</a:t>
            </a:r>
            <a:br/>
            <a:r>
              <a:rPr sz="2200" b="1" lang="id-ID">
                <a:solidFill>
                  <a:srgbClr val="1A1A1A"/>
                </a:solidFill>
                <a:latin typeface="Roboto"/>
              </a:rPr>
              <a:t>Malaysia untuk meningkatkan kapasitas penanganan bencana</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2</a:t>
            </a:r>
          </a:p>
        </p:txBody>
      </p:sp>
      <p:sp>
        <p:nvSpPr>
          <p:cNvPr id="8" name="Rounded Rectangle 7"/>
          <p:cNvSpPr/>
          <p:nvPr/>
        </p:nvSpPr>
        <p:spPr>
          <a:xfrm>
            <a:off x="548640" y="1282700"/>
            <a:ext cx="11094720" cy="4800600"/>
          </a:xfrm>
          <a:prstGeom prst="roundRect">
            <a:avLst>
              <a:gd name="adj" fmla="val 1137"/>
            </a:avLst>
          </a:prstGeom>
          <a:solidFill>
            <a:srgbClr val="FFFFFF"/>
          </a:solidFill>
          <a:ln>
            <a:noFill/>
          </a:ln>
        </p:spPr>
        <p:txBody>
          <a:bodyPr rtlCol="0" anchor="ctr"/>
          <a:lstStyle/>
          <a:p>
            <a:pPr algn="ctr"/>
          </a:p>
        </p:txBody>
      </p:sp>
      <p:sp>
        <p:nvSpPr>
          <p:cNvPr id="9" name="Rounded Rectangle 8"/>
          <p:cNvSpPr/>
          <p:nvPr/>
        </p:nvSpPr>
        <p:spPr>
          <a:xfrm>
            <a:off x="548640" y="1282700"/>
            <a:ext cx="11094720" cy="457200"/>
          </a:xfrm>
          <a:prstGeom prst="roundRect">
            <a:avLst>
              <a:gd name="adj" fmla="val 11944"/>
            </a:avLst>
          </a:prstGeom>
          <a:solidFill>
            <a:srgbClr val="E6EAF0"/>
          </a:solidFill>
          <a:ln>
            <a:noFill/>
          </a:ln>
        </p:spPr>
        <p:txBody>
          <a:bodyPr rtlCol="0" anchor="ctr"/>
          <a:lstStyle/>
          <a:p>
            <a:pPr algn="ctr"/>
          </a:p>
        </p:txBody>
      </p:sp>
      <p:sp>
        <p:nvSpPr>
          <p:cNvPr id="10" name="Rectangle 9"/>
          <p:cNvSpPr/>
          <p:nvPr/>
        </p:nvSpPr>
        <p:spPr>
          <a:xfrm>
            <a:off x="548640" y="1511300"/>
            <a:ext cx="11094720" cy="228600"/>
          </a:xfrm>
          <a:prstGeom prst="rect">
            <a:avLst/>
          </a:prstGeom>
          <a:solidFill>
            <a:srgbClr val="E6EAF0"/>
          </a:solidFill>
          <a:ln>
            <a:noFill/>
          </a:ln>
        </p:spPr>
        <p:txBody>
          <a:bodyPr rtlCol="0" anchor="ctr"/>
          <a:lstStyle/>
          <a:p>
            <a:pPr algn="ctr"/>
          </a:p>
        </p:txBody>
      </p:sp>
      <p:sp>
        <p:nvSpPr>
          <p:cNvPr id="11" name="Rounded Rectangle 10"/>
          <p:cNvSpPr/>
          <p:nvPr/>
        </p:nvSpPr>
        <p:spPr>
          <a:xfrm>
            <a:off x="548640" y="1282700"/>
            <a:ext cx="11094720" cy="4800600"/>
          </a:xfrm>
          <a:prstGeom prst="roundRect">
            <a:avLst>
              <a:gd name="adj" fmla="val 1137"/>
            </a:avLst>
          </a:prstGeom>
          <a:noFill/>
          <a:ln w="9525">
            <a:solidFill>
              <a:srgbClr val="BFC5CC"/>
            </a:solidFill>
          </a:ln>
        </p:spPr>
        <p:txBody>
          <a:bodyPr rtlCol="0" anchor="ctr"/>
          <a:lstStyle/>
          <a:p>
            <a:pPr algn="ctr"/>
          </a:p>
        </p:txBody>
      </p:sp>
      <p:sp>
        <p:nvSpPr>
          <p:cNvPr id="12" name="Oval 11"/>
          <p:cNvSpPr/>
          <p:nvPr/>
        </p:nvSpPr>
        <p:spPr>
          <a:xfrm>
            <a:off x="675640" y="1365250"/>
            <a:ext cx="292100" cy="292100"/>
          </a:xfrm>
          <a:prstGeom prst="ellipse">
            <a:avLst/>
          </a:prstGeom>
          <a:solidFill>
            <a:srgbClr val="051C2C"/>
          </a:solidFill>
          <a:ln>
            <a:noFill/>
          </a:ln>
        </p:spPr>
        <p:txBody>
          <a:bodyPr rtlCol="0" anchor="ctr"/>
          <a:lstStyle/>
          <a:p>
            <a:pPr algn="ctr"/>
          </a:p>
        </p:txBody>
      </p:sp>
      <p:pic>
        <p:nvPicPr>
          <p:cNvPr id="13" name="Picture 12" descr="ringkasan-FFFFFF-28e5662b.png"/>
          <p:cNvPicPr>
            <a:picLocks noChangeAspect="1"/>
          </p:cNvPicPr>
          <p:nvPr/>
        </p:nvPicPr>
        <p:blipFill>
          <a:blip r:embed="rId3"/>
          <a:stretch>
            <a:fillRect/>
          </a:stretch>
        </p:blipFill>
        <p:spPr>
          <a:xfrm>
            <a:off x="732790" y="1422400"/>
            <a:ext cx="177800" cy="177800"/>
          </a:xfrm>
          <a:prstGeom prst="rect">
            <a:avLst/>
          </a:prstGeom>
        </p:spPr>
      </p:pic>
      <p:sp>
        <p:nvSpPr>
          <p:cNvPr id="14" name="TextBox 13"/>
          <p:cNvSpPr txBox="1"/>
          <p:nvPr/>
        </p:nvSpPr>
        <p:spPr>
          <a:xfrm>
            <a:off x="1056640" y="1282700"/>
            <a:ext cx="10459720" cy="457200"/>
          </a:xfrm>
          <a:prstGeom prst="rect">
            <a:avLst/>
          </a:prstGeom>
          <a:noFill/>
        </p:spPr>
        <p:txBody>
          <a:bodyPr wrap="none" lIns="0" tIns="0" rIns="0" bIns="0" anchor="ctr">
            <a:noAutofit/>
          </a:bodyPr>
          <a:lstStyle/>
          <a:p>
            <a:pPr algn="l"/>
            <a:r>
              <a:rPr sz="1260" b="1" lang="id-ID">
                <a:solidFill>
                  <a:srgbClr val="1A1A1A"/>
                </a:solidFill>
                <a:latin typeface="Roboto"/>
              </a:rPr>
              <a:t>Executive Summary</a:t>
            </a:r>
          </a:p>
        </p:txBody>
      </p:sp>
      <p:sp>
        <p:nvSpPr>
          <p:cNvPr id="15" name="TextBox 14"/>
          <p:cNvSpPr txBox="1"/>
          <p:nvPr/>
        </p:nvSpPr>
        <p:spPr>
          <a:xfrm>
            <a:off x="675640" y="1841500"/>
            <a:ext cx="10840720" cy="657225"/>
          </a:xfrm>
          <a:prstGeom prst="rect">
            <a:avLst/>
          </a:prstGeom>
          <a:noFill/>
        </p:spPr>
        <p:txBody>
          <a:bodyPr wrap="square" lIns="0" tIns="0" rIns="0" bIns="0" anchor="t">
            <a:noAutofit/>
          </a:bodyPr>
          <a:lstStyle/>
          <a:p>
            <a:pPr algn="just"/>
            <a:r>
              <a:rPr sz="1380" b="1" lang="id-ID">
                <a:solidFill>
                  <a:srgbClr val="051C2C"/>
                </a:solidFill>
                <a:latin typeface="Roboto"/>
              </a:rPr>
              <a:t>Penanganan kebakaran hutan dan lahan di Indonesia dilakukan secara terpadu melalui pemadaman darat dan udara serta operasi modifikasi cuaca, dengan melibatkan seluruh elemen pemerintah dan masyarakat. Tawaran Pemerintah Malaysia akan dipertimbangkan sesuai kebutuhan aktual di lapangan.</a:t>
            </a:r>
          </a:p>
        </p:txBody>
      </p:sp>
      <p:cxnSp>
        <p:nvCxnSpPr>
          <p:cNvPr id="16" name="Connector 15"/>
          <p:cNvCxnSpPr/>
          <p:nvPr/>
        </p:nvCxnSpPr>
        <p:spPr>
          <a:xfrm>
            <a:off x="675640" y="2549525"/>
            <a:ext cx="10840720" cy="0"/>
          </a:xfrm>
          <a:prstGeom prst="line">
            <a:avLst/>
          </a:prstGeom>
          <a:ln w="6350">
            <a:solidFill>
              <a:srgbClr val="E6EAF0"/>
            </a:solidFill>
          </a:ln>
        </p:spPr>
      </p:cxnSp>
      <p:sp>
        <p:nvSpPr>
          <p:cNvPr id="17" name="Oval 16"/>
          <p:cNvSpPr/>
          <p:nvPr/>
        </p:nvSpPr>
        <p:spPr>
          <a:xfrm>
            <a:off x="675640" y="2774632"/>
            <a:ext cx="330200" cy="330200"/>
          </a:xfrm>
          <a:prstGeom prst="ellipse">
            <a:avLst/>
          </a:prstGeom>
          <a:solidFill>
            <a:srgbClr val="051C2C"/>
          </a:solidFill>
          <a:ln>
            <a:noFill/>
          </a:ln>
        </p:spPr>
        <p:txBody>
          <a:bodyPr rtlCol="0" anchor="ctr"/>
          <a:lstStyle/>
          <a:p>
            <a:pPr algn="ctr"/>
          </a:p>
        </p:txBody>
      </p:sp>
      <p:pic>
        <p:nvPicPr>
          <p:cNvPr id="18" name="Picture 17" descr="lembaga-FFFFFF-f44193c4.png"/>
          <p:cNvPicPr>
            <a:picLocks noChangeAspect="1"/>
          </p:cNvPicPr>
          <p:nvPr/>
        </p:nvPicPr>
        <p:blipFill>
          <a:blip r:embed="rId4"/>
          <a:stretch>
            <a:fillRect/>
          </a:stretch>
        </p:blipFill>
        <p:spPr>
          <a:xfrm>
            <a:off x="751586" y="2850578"/>
            <a:ext cx="178308" cy="178308"/>
          </a:xfrm>
          <a:prstGeom prst="rect">
            <a:avLst/>
          </a:prstGeom>
        </p:spPr>
      </p:pic>
      <p:sp>
        <p:nvSpPr>
          <p:cNvPr id="19" name="TextBox 18"/>
          <p:cNvSpPr txBox="1"/>
          <p:nvPr/>
        </p:nvSpPr>
        <p:spPr>
          <a:xfrm>
            <a:off x="1120140" y="2598420"/>
            <a:ext cx="10294620" cy="682625"/>
          </a:xfrm>
          <a:prstGeom prst="rect">
            <a:avLst/>
          </a:prstGeom>
          <a:noFill/>
        </p:spPr>
        <p:txBody>
          <a:bodyPr wrap="square" lIns="0" tIns="0" rIns="0" bIns="0" anchor="ctr">
            <a:noAutofit/>
          </a:bodyPr>
          <a:lstStyle/>
          <a:p>
            <a:pPr algn="just"/>
            <a:r>
              <a:rPr sz="1380" b="1" lang="id-ID">
                <a:solidFill>
                  <a:srgbClr val="1A1A1A"/>
                </a:solidFill>
                <a:latin typeface="Roboto"/>
              </a:rPr>
              <a:t>Histori kerja sama</a:t>
            </a:r>
          </a:p>
          <a:p>
            <a:pPr algn="just"/>
            <a:r>
              <a:rPr sz="1380" b="0" lang="id-ID">
                <a:solidFill>
                  <a:srgbClr val="1A1A1A"/>
                </a:solidFill>
                <a:latin typeface="Roboto"/>
              </a:rPr>
              <a:t>Pada 2015 Malaysia mendukung penanganan karhutla di Sumatera Selatan dengan pesawat amfibi Bombardier CL-415 untuk operasi pemadaman dari udara.</a:t>
            </a:r>
          </a:p>
        </p:txBody>
      </p:sp>
      <p:cxnSp>
        <p:nvCxnSpPr>
          <p:cNvPr id="20" name="Connector 19"/>
          <p:cNvCxnSpPr/>
          <p:nvPr/>
        </p:nvCxnSpPr>
        <p:spPr>
          <a:xfrm>
            <a:off x="675640" y="3279140"/>
            <a:ext cx="10840720" cy="0"/>
          </a:xfrm>
          <a:prstGeom prst="line">
            <a:avLst/>
          </a:prstGeom>
          <a:ln w="6350">
            <a:solidFill>
              <a:srgbClr val="E6EAF0"/>
            </a:solidFill>
          </a:ln>
        </p:spPr>
      </p:cxnSp>
      <p:sp>
        <p:nvSpPr>
          <p:cNvPr id="21" name="Oval 20"/>
          <p:cNvSpPr/>
          <p:nvPr/>
        </p:nvSpPr>
        <p:spPr>
          <a:xfrm>
            <a:off x="675640" y="3453448"/>
            <a:ext cx="330200" cy="330200"/>
          </a:xfrm>
          <a:prstGeom prst="ellipse">
            <a:avLst/>
          </a:prstGeom>
          <a:solidFill>
            <a:srgbClr val="051C2C"/>
          </a:solidFill>
          <a:ln>
            <a:noFill/>
          </a:ln>
        </p:spPr>
        <p:txBody>
          <a:bodyPr rtlCol="0" anchor="ctr"/>
          <a:lstStyle/>
          <a:p>
            <a:pPr algn="ctr"/>
          </a:p>
        </p:txBody>
      </p:sp>
      <p:pic>
        <p:nvPicPr>
          <p:cNvPr id="22" name="Picture 21" descr="karhutla-FFFFFF-1955759a.png"/>
          <p:cNvPicPr>
            <a:picLocks noChangeAspect="1"/>
          </p:cNvPicPr>
          <p:nvPr/>
        </p:nvPicPr>
        <p:blipFill>
          <a:blip r:embed="rId5"/>
          <a:stretch>
            <a:fillRect/>
          </a:stretch>
        </p:blipFill>
        <p:spPr>
          <a:xfrm>
            <a:off x="751586" y="3529394"/>
            <a:ext cx="178308" cy="178308"/>
          </a:xfrm>
          <a:prstGeom prst="rect">
            <a:avLst/>
          </a:prstGeom>
        </p:spPr>
      </p:pic>
      <p:sp>
        <p:nvSpPr>
          <p:cNvPr id="23" name="TextBox 22"/>
          <p:cNvSpPr txBox="1"/>
          <p:nvPr/>
        </p:nvSpPr>
        <p:spPr>
          <a:xfrm>
            <a:off x="1120140" y="3386772"/>
            <a:ext cx="10294620" cy="463550"/>
          </a:xfrm>
          <a:prstGeom prst="rect">
            <a:avLst/>
          </a:prstGeom>
          <a:noFill/>
        </p:spPr>
        <p:txBody>
          <a:bodyPr wrap="square" lIns="0" tIns="0" rIns="0" bIns="0" anchor="ctr">
            <a:noAutofit/>
          </a:bodyPr>
          <a:lstStyle/>
          <a:p>
            <a:pPr algn="just"/>
            <a:r>
              <a:rPr sz="1380" b="1" lang="id-ID">
                <a:solidFill>
                  <a:srgbClr val="1A1A1A"/>
                </a:solidFill>
                <a:latin typeface="Roboto"/>
              </a:rPr>
              <a:t>Karhutla</a:t>
            </a:r>
          </a:p>
          <a:p>
            <a:pPr algn="just"/>
            <a:r>
              <a:rPr sz="1380" b="0" lang="id-ID">
                <a:solidFill>
                  <a:srgbClr val="1A1A1A"/>
                </a:solidFill>
                <a:latin typeface="Roboto"/>
              </a:rPr>
              <a:t>Per tanggal 26 Oktober terdapat </a:t>
            </a:r>
            <a:r>
              <a:rPr sz="1380" b="1" lang="id-ID">
                <a:solidFill>
                  <a:srgbClr val="1A1A1A"/>
                </a:solidFill>
                <a:latin typeface="Roboto"/>
              </a:rPr>
              <a:t>2.935 </a:t>
            </a:r>
            <a:r>
              <a:rPr sz="1380" b="1" i="1" lang="id-ID">
                <a:solidFill>
                  <a:srgbClr val="1A1A1A"/>
                </a:solidFill>
                <a:latin typeface="Roboto"/>
              </a:rPr>
              <a:t>hotspot</a:t>
            </a:r>
            <a:r>
              <a:rPr sz="1380" b="0" lang="id-ID">
                <a:solidFill>
                  <a:srgbClr val="1A1A1A"/>
                </a:solidFill>
                <a:latin typeface="Roboto"/>
              </a:rPr>
              <a:t> dan </a:t>
            </a:r>
            <a:r>
              <a:rPr sz="1380" b="1" lang="id-ID">
                <a:solidFill>
                  <a:srgbClr val="1A1A1A"/>
                </a:solidFill>
                <a:latin typeface="Roboto"/>
              </a:rPr>
              <a:t>1.650 </a:t>
            </a:r>
            <a:r>
              <a:rPr sz="1380" b="1" i="1" lang="id-ID">
                <a:solidFill>
                  <a:srgbClr val="1A1A1A"/>
                </a:solidFill>
                <a:latin typeface="Roboto"/>
              </a:rPr>
              <a:t>firespot</a:t>
            </a:r>
            <a:r>
              <a:rPr sz="1380" b="0" lang="id-ID">
                <a:solidFill>
                  <a:srgbClr val="1A1A1A"/>
                </a:solidFill>
                <a:latin typeface="Roboto"/>
              </a:rPr>
              <a:t>, mayoritas </a:t>
            </a:r>
            <a:r>
              <a:rPr sz="1380" b="0" i="1" lang="id-ID">
                <a:solidFill>
                  <a:srgbClr val="1A1A1A"/>
                </a:solidFill>
                <a:latin typeface="Roboto"/>
              </a:rPr>
              <a:t>firespot</a:t>
            </a:r>
            <a:r>
              <a:rPr sz="1380" b="0" lang="id-ID">
                <a:solidFill>
                  <a:srgbClr val="1A1A1A"/>
                </a:solidFill>
                <a:latin typeface="Roboto"/>
              </a:rPr>
              <a:t> (</a:t>
            </a:r>
            <a:r>
              <a:rPr sz="1380" b="1" lang="id-ID">
                <a:solidFill>
                  <a:srgbClr val="1A1A1A"/>
                </a:solidFill>
                <a:latin typeface="Roboto"/>
              </a:rPr>
              <a:t>82%</a:t>
            </a:r>
            <a:r>
              <a:rPr sz="1380" b="0" lang="id-ID">
                <a:solidFill>
                  <a:srgbClr val="1A1A1A"/>
                </a:solidFill>
                <a:latin typeface="Roboto"/>
              </a:rPr>
              <a:t>) terdapat di </a:t>
            </a:r>
            <a:r>
              <a:rPr sz="1380" b="1" lang="id-ID">
                <a:solidFill>
                  <a:srgbClr val="1A1A1A"/>
                </a:solidFill>
                <a:latin typeface="Roboto"/>
              </a:rPr>
              <a:t>3 provinsi</a:t>
            </a:r>
            <a:r>
              <a:rPr sz="1380" b="0" lang="id-ID">
                <a:solidFill>
                  <a:srgbClr val="1A1A1A"/>
                </a:solidFill>
                <a:latin typeface="Roboto"/>
              </a:rPr>
              <a:t>.</a:t>
            </a:r>
          </a:p>
        </p:txBody>
      </p:sp>
      <p:cxnSp>
        <p:nvCxnSpPr>
          <p:cNvPr id="24" name="Connector 23"/>
          <p:cNvCxnSpPr/>
          <p:nvPr/>
        </p:nvCxnSpPr>
        <p:spPr>
          <a:xfrm>
            <a:off x="675640" y="3957955"/>
            <a:ext cx="10840720" cy="0"/>
          </a:xfrm>
          <a:prstGeom prst="line">
            <a:avLst/>
          </a:prstGeom>
          <a:ln w="6350">
            <a:solidFill>
              <a:srgbClr val="E6EAF0"/>
            </a:solidFill>
          </a:ln>
        </p:spPr>
      </p:cxnSp>
      <p:sp>
        <p:nvSpPr>
          <p:cNvPr id="25" name="Oval 24"/>
          <p:cNvSpPr/>
          <p:nvPr/>
        </p:nvSpPr>
        <p:spPr>
          <a:xfrm>
            <a:off x="675640" y="4132262"/>
            <a:ext cx="330200" cy="330200"/>
          </a:xfrm>
          <a:prstGeom prst="ellipse">
            <a:avLst/>
          </a:prstGeom>
          <a:solidFill>
            <a:srgbClr val="051C2C"/>
          </a:solidFill>
          <a:ln>
            <a:noFill/>
          </a:ln>
        </p:spPr>
        <p:txBody>
          <a:bodyPr rtlCol="0" anchor="ctr"/>
          <a:lstStyle/>
          <a:p>
            <a:pPr algn="ctr"/>
          </a:p>
        </p:txBody>
      </p:sp>
      <p:pic>
        <p:nvPicPr>
          <p:cNvPr id="26" name="Picture 25" descr="kapasitas-FFFFFF-22e801bd.png"/>
          <p:cNvPicPr>
            <a:picLocks noChangeAspect="1"/>
          </p:cNvPicPr>
          <p:nvPr/>
        </p:nvPicPr>
        <p:blipFill>
          <a:blip r:embed="rId6"/>
          <a:stretch>
            <a:fillRect/>
          </a:stretch>
        </p:blipFill>
        <p:spPr>
          <a:xfrm>
            <a:off x="751586" y="4208208"/>
            <a:ext cx="178308" cy="178308"/>
          </a:xfrm>
          <a:prstGeom prst="rect">
            <a:avLst/>
          </a:prstGeom>
        </p:spPr>
      </p:pic>
      <p:sp>
        <p:nvSpPr>
          <p:cNvPr id="27" name="TextBox 26"/>
          <p:cNvSpPr txBox="1"/>
          <p:nvPr/>
        </p:nvSpPr>
        <p:spPr>
          <a:xfrm>
            <a:off x="1120140" y="3956050"/>
            <a:ext cx="10294620" cy="682625"/>
          </a:xfrm>
          <a:prstGeom prst="rect">
            <a:avLst/>
          </a:prstGeom>
          <a:noFill/>
        </p:spPr>
        <p:txBody>
          <a:bodyPr wrap="square" lIns="0" tIns="0" rIns="0" bIns="0" anchor="ctr">
            <a:noAutofit/>
          </a:bodyPr>
          <a:lstStyle/>
          <a:p>
            <a:pPr algn="just"/>
            <a:r>
              <a:rPr sz="1380" b="1" lang="id-ID">
                <a:solidFill>
                  <a:srgbClr val="1A1A1A"/>
                </a:solidFill>
                <a:latin typeface="Roboto"/>
              </a:rPr>
              <a:t>Respons nasional</a:t>
            </a:r>
          </a:p>
          <a:p>
            <a:pPr algn="just"/>
            <a:r>
              <a:rPr sz="1380" b="0" lang="id-ID">
                <a:solidFill>
                  <a:srgbClr val="1A1A1A"/>
                </a:solidFill>
                <a:latin typeface="Roboto"/>
              </a:rPr>
              <a:t>Pemerintah Indonesia telah membentuk satgas gabungan untuk memadamkan api di darat. Penanganan juga dilakukan dengan menggunakan helikopter untuk </a:t>
            </a:r>
            <a:r>
              <a:rPr sz="1380" b="0" i="1" lang="id-ID">
                <a:solidFill>
                  <a:srgbClr val="1A1A1A"/>
                </a:solidFill>
                <a:latin typeface="Roboto"/>
              </a:rPr>
              <a:t>water bombing</a:t>
            </a:r>
            <a:r>
              <a:rPr sz="1380" b="0" lang="id-ID">
                <a:solidFill>
                  <a:srgbClr val="1A1A1A"/>
                </a:solidFill>
                <a:latin typeface="Roboto"/>
              </a:rPr>
              <a:t>, serta koordinasi dengan BMKG untuk menjalankan operasi modifikasi cuaca.</a:t>
            </a:r>
          </a:p>
        </p:txBody>
      </p:sp>
      <p:cxnSp>
        <p:nvCxnSpPr>
          <p:cNvPr id="28" name="Connector 27"/>
          <p:cNvCxnSpPr/>
          <p:nvPr/>
        </p:nvCxnSpPr>
        <p:spPr>
          <a:xfrm>
            <a:off x="675640" y="4636770"/>
            <a:ext cx="10840720" cy="0"/>
          </a:xfrm>
          <a:prstGeom prst="line">
            <a:avLst/>
          </a:prstGeom>
          <a:ln w="6350">
            <a:solidFill>
              <a:srgbClr val="E6EAF0"/>
            </a:solidFill>
          </a:ln>
        </p:spPr>
      </p:cxnSp>
      <p:sp>
        <p:nvSpPr>
          <p:cNvPr id="29" name="Oval 28"/>
          <p:cNvSpPr/>
          <p:nvPr/>
        </p:nvSpPr>
        <p:spPr>
          <a:xfrm>
            <a:off x="675640" y="4811078"/>
            <a:ext cx="330200" cy="330200"/>
          </a:xfrm>
          <a:prstGeom prst="ellipse">
            <a:avLst/>
          </a:prstGeom>
          <a:solidFill>
            <a:srgbClr val="051C2C"/>
          </a:solidFill>
          <a:ln>
            <a:noFill/>
          </a:ln>
        </p:spPr>
        <p:txBody>
          <a:bodyPr rtlCol="0" anchor="ctr"/>
          <a:lstStyle/>
          <a:p>
            <a:pPr algn="ctr"/>
          </a:p>
        </p:txBody>
      </p:sp>
      <p:pic>
        <p:nvPicPr>
          <p:cNvPr id="30" name="Picture 29" descr="wilayah-FFFFFF-37dca10c.png"/>
          <p:cNvPicPr>
            <a:picLocks noChangeAspect="1"/>
          </p:cNvPicPr>
          <p:nvPr/>
        </p:nvPicPr>
        <p:blipFill>
          <a:blip r:embed="rId7"/>
          <a:stretch>
            <a:fillRect/>
          </a:stretch>
        </p:blipFill>
        <p:spPr>
          <a:xfrm>
            <a:off x="751586" y="4887024"/>
            <a:ext cx="178308" cy="178308"/>
          </a:xfrm>
          <a:prstGeom prst="rect">
            <a:avLst/>
          </a:prstGeom>
        </p:spPr>
      </p:pic>
      <p:sp>
        <p:nvSpPr>
          <p:cNvPr id="31" name="TextBox 30"/>
          <p:cNvSpPr txBox="1"/>
          <p:nvPr/>
        </p:nvSpPr>
        <p:spPr>
          <a:xfrm>
            <a:off x="1120140" y="4634865"/>
            <a:ext cx="10294620" cy="682625"/>
          </a:xfrm>
          <a:prstGeom prst="rect">
            <a:avLst/>
          </a:prstGeom>
          <a:noFill/>
        </p:spPr>
        <p:txBody>
          <a:bodyPr wrap="square" lIns="0" tIns="0" rIns="0" bIns="0" anchor="ctr">
            <a:noAutofit/>
          </a:bodyPr>
          <a:lstStyle/>
          <a:p>
            <a:pPr algn="just"/>
            <a:r>
              <a:rPr sz="1380" b="1" lang="id-ID">
                <a:solidFill>
                  <a:srgbClr val="1A1A1A"/>
                </a:solidFill>
                <a:latin typeface="Roboto"/>
              </a:rPr>
              <a:t>Penawaran Pemerintah Malaysia</a:t>
            </a:r>
          </a:p>
          <a:p>
            <a:pPr algn="just"/>
            <a:r>
              <a:rPr sz="1380" b="0" lang="id-ID">
                <a:solidFill>
                  <a:srgbClr val="1A1A1A"/>
                </a:solidFill>
                <a:latin typeface="Roboto"/>
              </a:rPr>
              <a:t>1. Bantuan: </a:t>
            </a:r>
            <a:r>
              <a:rPr sz="1380" b="1" lang="id-ID">
                <a:solidFill>
                  <a:srgbClr val="1A1A1A"/>
                </a:solidFill>
                <a:latin typeface="Roboto"/>
              </a:rPr>
              <a:t>1 pesawat amfibi</a:t>
            </a:r>
            <a:r>
              <a:rPr sz="1380" b="0" lang="id-ID">
                <a:solidFill>
                  <a:srgbClr val="1A1A1A"/>
                </a:solidFill>
                <a:latin typeface="Roboto"/>
              </a:rPr>
              <a:t> CL-415MP, </a:t>
            </a:r>
            <a:r>
              <a:rPr sz="1380" b="1" lang="id-ID">
                <a:solidFill>
                  <a:srgbClr val="1A1A1A"/>
                </a:solidFill>
                <a:latin typeface="Roboto"/>
              </a:rPr>
              <a:t>1 helikopter</a:t>
            </a:r>
            <a:r>
              <a:rPr sz="1380" b="0" lang="id-ID">
                <a:solidFill>
                  <a:srgbClr val="1A1A1A"/>
                </a:solidFill>
                <a:latin typeface="Roboto"/>
              </a:rPr>
              <a:t> Mi-171, dan </a:t>
            </a:r>
            <a:r>
              <a:rPr sz="1380" b="1" lang="id-ID">
                <a:solidFill>
                  <a:srgbClr val="1A1A1A"/>
                </a:solidFill>
                <a:latin typeface="Roboto"/>
              </a:rPr>
              <a:t>44 personel</a:t>
            </a:r>
            <a:r>
              <a:rPr sz="1380" b="0" lang="id-ID">
                <a:solidFill>
                  <a:srgbClr val="1A1A1A"/>
                </a:solidFill>
                <a:latin typeface="Roboto"/>
              </a:rPr>
              <a:t>.</a:t>
            </a:r>
          </a:p>
          <a:p>
            <a:pPr algn="just"/>
            <a:r>
              <a:rPr sz="1380" b="0" lang="id-ID">
                <a:solidFill>
                  <a:srgbClr val="1A1A1A"/>
                </a:solidFill>
                <a:latin typeface="Roboto"/>
              </a:rPr>
              <a:t>2. Kerja sama teknologi: </a:t>
            </a:r>
            <a:r>
              <a:rPr sz="1380" b="1" lang="id-ID">
                <a:solidFill>
                  <a:srgbClr val="1A1A1A"/>
                </a:solidFill>
                <a:latin typeface="Roboto"/>
              </a:rPr>
              <a:t>7 topik</a:t>
            </a:r>
            <a:r>
              <a:rPr sz="1380" b="0" lang="id-ID">
                <a:solidFill>
                  <a:srgbClr val="1A1A1A"/>
                </a:solidFill>
                <a:latin typeface="Roboto"/>
              </a:rPr>
              <a:t>.</a:t>
            </a:r>
          </a:p>
        </p:txBody>
      </p:sp>
      <p:cxnSp>
        <p:nvCxnSpPr>
          <p:cNvPr id="32" name="Connector 31"/>
          <p:cNvCxnSpPr/>
          <p:nvPr/>
        </p:nvCxnSpPr>
        <p:spPr>
          <a:xfrm>
            <a:off x="675640" y="5315585"/>
            <a:ext cx="10840720" cy="0"/>
          </a:xfrm>
          <a:prstGeom prst="line">
            <a:avLst/>
          </a:prstGeom>
          <a:ln w="6350">
            <a:solidFill>
              <a:srgbClr val="E6EAF0"/>
            </a:solidFill>
          </a:ln>
        </p:spPr>
      </p:cxnSp>
      <p:sp>
        <p:nvSpPr>
          <p:cNvPr id="33" name="Oval 32"/>
          <p:cNvSpPr/>
          <p:nvPr/>
        </p:nvSpPr>
        <p:spPr>
          <a:xfrm>
            <a:off x="675640" y="5489892"/>
            <a:ext cx="330200" cy="330200"/>
          </a:xfrm>
          <a:prstGeom prst="ellipse">
            <a:avLst/>
          </a:prstGeom>
          <a:solidFill>
            <a:srgbClr val="051C2C"/>
          </a:solidFill>
          <a:ln>
            <a:noFill/>
          </a:ln>
        </p:spPr>
        <p:txBody>
          <a:bodyPr rtlCol="0" anchor="ctr"/>
          <a:lstStyle/>
          <a:p>
            <a:pPr algn="ctr"/>
          </a:p>
        </p:txBody>
      </p:sp>
      <p:pic>
        <p:nvPicPr>
          <p:cNvPr id="34" name="Picture 33" descr="regulasi-FFFFFF-e639fe9a.png"/>
          <p:cNvPicPr>
            <a:picLocks noChangeAspect="1"/>
          </p:cNvPicPr>
          <p:nvPr/>
        </p:nvPicPr>
        <p:blipFill>
          <a:blip r:embed="rId8"/>
          <a:stretch>
            <a:fillRect/>
          </a:stretch>
        </p:blipFill>
        <p:spPr>
          <a:xfrm>
            <a:off x="751586" y="5565839"/>
            <a:ext cx="178308" cy="178308"/>
          </a:xfrm>
          <a:prstGeom prst="rect">
            <a:avLst/>
          </a:prstGeom>
        </p:spPr>
      </p:pic>
      <p:sp>
        <p:nvSpPr>
          <p:cNvPr id="35" name="TextBox 34"/>
          <p:cNvSpPr txBox="1"/>
          <p:nvPr/>
        </p:nvSpPr>
        <p:spPr>
          <a:xfrm>
            <a:off x="1120140" y="5313680"/>
            <a:ext cx="10294620" cy="682625"/>
          </a:xfrm>
          <a:prstGeom prst="rect">
            <a:avLst/>
          </a:prstGeom>
          <a:noFill/>
        </p:spPr>
        <p:txBody>
          <a:bodyPr wrap="square" lIns="0" tIns="0" rIns="0" bIns="0" anchor="ctr">
            <a:noAutofit/>
          </a:bodyPr>
          <a:lstStyle/>
          <a:p>
            <a:pPr algn="just"/>
            <a:r>
              <a:rPr sz="1380" b="1" lang="id-ID">
                <a:solidFill>
                  <a:srgbClr val="1A1A1A"/>
                </a:solidFill>
                <a:latin typeface="Roboto"/>
              </a:rPr>
              <a:t>Tindak lanjut</a:t>
            </a:r>
          </a:p>
          <a:p>
            <a:pPr algn="just"/>
            <a:r>
              <a:rPr sz="1380" b="0" lang="id-ID">
                <a:solidFill>
                  <a:srgbClr val="1A1A1A"/>
                </a:solidFill>
                <a:latin typeface="Roboto"/>
              </a:rPr>
              <a:t>Koordinasi teknis BNPB dengan NADMA Malaysia, difasilitasi Kementerian Luar Negeri, untuk membahas kesesuaian bantuan dan kerja sama teknologi.</a:t>
            </a:r>
          </a:p>
        </p:txBody>
      </p:sp>
      <p:sp>
        <p:nvSpPr>
          <p:cNvPr id="36" name="Rectangle 35"/>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37" name="TextBox 36"/>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DIBI BNPB 2026; data karhutla dan laporan pengendalian BNPB, Oktober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642600" cy="825500"/>
          </a:xfrm>
          <a:prstGeom prst="rect">
            <a:avLst/>
          </a:prstGeom>
          <a:noFill/>
        </p:spPr>
        <p:txBody>
          <a:bodyPr wrap="square" lIns="0" tIns="0" rIns="0" bIns="0" anchor="b">
            <a:noAutofit/>
          </a:bodyPr>
          <a:lstStyle/>
          <a:p>
            <a:pPr algn="l">
              <a:lnSpc>
                <a:spcPct val="95000"/>
              </a:lnSpc>
            </a:pPr>
            <a:r>
              <a:rPr sz="2200" b="1" lang="id-ID">
                <a:solidFill>
                  <a:srgbClr val="1A1A1A"/>
                </a:solidFill>
                <a:latin typeface="Roboto"/>
              </a:rPr>
              <a:t>Pemerintah Indonesia dan Malaysia telah memiliki histori kerja sama penanganan</a:t>
            </a:r>
            <a:br/>
            <a:r>
              <a:rPr sz="2200" b="1" lang="id-ID">
                <a:solidFill>
                  <a:srgbClr val="1A1A1A"/>
                </a:solidFill>
                <a:latin typeface="Roboto"/>
              </a:rPr>
              <a:t>karhutla di tahun 2015</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3</a:t>
            </a:r>
          </a:p>
        </p:txBody>
      </p:sp>
      <p:sp>
        <p:nvSpPr>
          <p:cNvPr id="8" name="Rounded Rectangle 7"/>
          <p:cNvSpPr/>
          <p:nvPr/>
        </p:nvSpPr>
        <p:spPr>
          <a:xfrm>
            <a:off x="548640" y="4874578"/>
            <a:ext cx="11094720" cy="1208723"/>
          </a:xfrm>
          <a:prstGeom prst="roundRect">
            <a:avLst>
              <a:gd name="adj" fmla="val 6304"/>
            </a:avLst>
          </a:prstGeom>
          <a:solidFill>
            <a:srgbClr val="F3F5F8"/>
          </a:solidFill>
          <a:ln>
            <a:noFill/>
          </a:ln>
        </p:spPr>
        <p:txBody>
          <a:bodyPr rtlCol="0" anchor="ctr"/>
          <a:lstStyle/>
          <a:p>
            <a:pPr algn="ctr"/>
          </a:p>
        </p:txBody>
      </p:sp>
      <p:sp>
        <p:nvSpPr>
          <p:cNvPr id="9" name="TextBox 8"/>
          <p:cNvSpPr txBox="1"/>
          <p:nvPr/>
        </p:nvSpPr>
        <p:spPr>
          <a:xfrm>
            <a:off x="694690" y="4974018"/>
            <a:ext cx="5547360" cy="246888"/>
          </a:xfrm>
          <a:prstGeom prst="rect">
            <a:avLst/>
          </a:prstGeom>
          <a:noFill/>
        </p:spPr>
        <p:txBody>
          <a:bodyPr wrap="none" lIns="0" tIns="0" rIns="0" bIns="0" anchor="t">
            <a:noAutofit/>
          </a:bodyPr>
          <a:lstStyle/>
          <a:p>
            <a:pPr algn="l"/>
            <a:r>
              <a:rPr sz="860" b="1" lang="id-ID" spc="100">
                <a:solidFill>
                  <a:srgbClr val="051C2C"/>
                </a:solidFill>
                <a:latin typeface="Roboto"/>
              </a:rPr>
              <a:t>TUJUAN PERTEMUAN</a:t>
            </a:r>
          </a:p>
        </p:txBody>
      </p:sp>
      <p:sp>
        <p:nvSpPr>
          <p:cNvPr id="10" name="Oval 9"/>
          <p:cNvSpPr/>
          <p:nvPr/>
        </p:nvSpPr>
        <p:spPr>
          <a:xfrm>
            <a:off x="694690" y="5344350"/>
            <a:ext cx="445770" cy="445770"/>
          </a:xfrm>
          <a:prstGeom prst="ellipse">
            <a:avLst/>
          </a:prstGeom>
          <a:solidFill>
            <a:srgbClr val="051C2C"/>
          </a:solidFill>
          <a:ln>
            <a:noFill/>
          </a:ln>
        </p:spPr>
        <p:txBody>
          <a:bodyPr rtlCol="0" anchor="ctr"/>
          <a:lstStyle/>
          <a:p>
            <a:pPr algn="ctr"/>
          </a:p>
        </p:txBody>
      </p:sp>
      <p:pic>
        <p:nvPicPr>
          <p:cNvPr id="11" name="Picture 10" descr="lembaga-FFFFFF-f44193c4.png"/>
          <p:cNvPicPr>
            <a:picLocks noChangeAspect="1"/>
          </p:cNvPicPr>
          <p:nvPr/>
        </p:nvPicPr>
        <p:blipFill>
          <a:blip r:embed="rId3"/>
          <a:stretch>
            <a:fillRect/>
          </a:stretch>
        </p:blipFill>
        <p:spPr>
          <a:xfrm>
            <a:off x="797560" y="5447220"/>
            <a:ext cx="240030" cy="240030"/>
          </a:xfrm>
          <a:prstGeom prst="rect">
            <a:avLst/>
          </a:prstGeom>
        </p:spPr>
      </p:pic>
      <p:sp>
        <p:nvSpPr>
          <p:cNvPr id="12" name="TextBox 11"/>
          <p:cNvSpPr txBox="1"/>
          <p:nvPr/>
        </p:nvSpPr>
        <p:spPr>
          <a:xfrm>
            <a:off x="1262190" y="5268912"/>
            <a:ext cx="2887324" cy="270891"/>
          </a:xfrm>
          <a:prstGeom prst="rect">
            <a:avLst/>
          </a:prstGeom>
          <a:noFill/>
        </p:spPr>
        <p:txBody>
          <a:bodyPr wrap="none" lIns="0" tIns="0" rIns="0" bIns="0" anchor="t">
            <a:noAutofit/>
          </a:bodyPr>
          <a:lstStyle/>
          <a:p>
            <a:pPr algn="l"/>
            <a:r>
              <a:rPr sz="1550" b="1" lang="id-ID">
                <a:solidFill>
                  <a:srgbClr val="1A1A1A"/>
                </a:solidFill>
                <a:latin typeface="Roboto"/>
              </a:rPr>
              <a:t>Memperkuat koordinasi</a:t>
            </a:r>
          </a:p>
        </p:txBody>
      </p:sp>
      <p:sp>
        <p:nvSpPr>
          <p:cNvPr id="13" name="TextBox 12"/>
          <p:cNvSpPr txBox="1"/>
          <p:nvPr/>
        </p:nvSpPr>
        <p:spPr>
          <a:xfrm>
            <a:off x="1262190" y="5543232"/>
            <a:ext cx="2887324" cy="489268"/>
          </a:xfrm>
          <a:prstGeom prst="rect">
            <a:avLst/>
          </a:prstGeom>
          <a:noFill/>
        </p:spPr>
        <p:txBody>
          <a:bodyPr wrap="square" lIns="0" tIns="0" rIns="0" bIns="0" anchor="t">
            <a:noAutofit/>
          </a:bodyPr>
          <a:lstStyle/>
          <a:p>
            <a:pPr algn="just"/>
            <a:r>
              <a:rPr sz="1170" b="0" lang="id-ID">
                <a:solidFill>
                  <a:srgbClr val="2E3440"/>
                </a:solidFill>
                <a:latin typeface="Roboto"/>
              </a:rPr>
              <a:t>Kerja sama bilateral penanganan karhutla.</a:t>
            </a:r>
          </a:p>
        </p:txBody>
      </p:sp>
      <p:cxnSp>
        <p:nvCxnSpPr>
          <p:cNvPr id="14" name="Connector 13"/>
          <p:cNvCxnSpPr/>
          <p:nvPr/>
        </p:nvCxnSpPr>
        <p:spPr>
          <a:xfrm>
            <a:off x="4222538" y="5320348"/>
            <a:ext cx="0" cy="660082"/>
          </a:xfrm>
          <a:prstGeom prst="line">
            <a:avLst/>
          </a:prstGeom>
          <a:ln w="9525">
            <a:solidFill>
              <a:srgbClr val="DCE3EB"/>
            </a:solidFill>
          </a:ln>
        </p:spPr>
      </p:cxnSp>
      <p:sp>
        <p:nvSpPr>
          <p:cNvPr id="15" name="Oval 14"/>
          <p:cNvSpPr/>
          <p:nvPr/>
        </p:nvSpPr>
        <p:spPr>
          <a:xfrm>
            <a:off x="4295563" y="5344350"/>
            <a:ext cx="445770" cy="445770"/>
          </a:xfrm>
          <a:prstGeom prst="ellipse">
            <a:avLst/>
          </a:prstGeom>
          <a:solidFill>
            <a:srgbClr val="051C2C"/>
          </a:solidFill>
          <a:ln>
            <a:noFill/>
          </a:ln>
        </p:spPr>
        <p:txBody>
          <a:bodyPr rtlCol="0" anchor="ctr"/>
          <a:lstStyle/>
          <a:p>
            <a:pPr algn="ctr"/>
          </a:p>
        </p:txBody>
      </p:sp>
      <p:pic>
        <p:nvPicPr>
          <p:cNvPr id="16" name="Picture 15" descr="kapasitas-FFFFFF-22e801bd.png"/>
          <p:cNvPicPr>
            <a:picLocks noChangeAspect="1"/>
          </p:cNvPicPr>
          <p:nvPr/>
        </p:nvPicPr>
        <p:blipFill>
          <a:blip r:embed="rId4"/>
          <a:stretch>
            <a:fillRect/>
          </a:stretch>
        </p:blipFill>
        <p:spPr>
          <a:xfrm>
            <a:off x="4398433" y="5447220"/>
            <a:ext cx="240030" cy="240030"/>
          </a:xfrm>
          <a:prstGeom prst="rect">
            <a:avLst/>
          </a:prstGeom>
        </p:spPr>
      </p:pic>
      <p:sp>
        <p:nvSpPr>
          <p:cNvPr id="17" name="TextBox 16"/>
          <p:cNvSpPr txBox="1"/>
          <p:nvPr/>
        </p:nvSpPr>
        <p:spPr>
          <a:xfrm>
            <a:off x="4863063" y="5268912"/>
            <a:ext cx="2887324" cy="270891"/>
          </a:xfrm>
          <a:prstGeom prst="rect">
            <a:avLst/>
          </a:prstGeom>
          <a:noFill/>
        </p:spPr>
        <p:txBody>
          <a:bodyPr wrap="none" lIns="0" tIns="0" rIns="0" bIns="0" anchor="t">
            <a:noAutofit/>
          </a:bodyPr>
          <a:lstStyle/>
          <a:p>
            <a:pPr algn="l"/>
            <a:r>
              <a:rPr sz="1550" b="1" lang="id-ID">
                <a:solidFill>
                  <a:srgbClr val="1A1A1A"/>
                </a:solidFill>
                <a:latin typeface="Roboto"/>
              </a:rPr>
              <a:t>Membahas tawaran bantuan</a:t>
            </a:r>
          </a:p>
        </p:txBody>
      </p:sp>
      <p:sp>
        <p:nvSpPr>
          <p:cNvPr id="18" name="TextBox 17"/>
          <p:cNvSpPr txBox="1"/>
          <p:nvPr/>
        </p:nvSpPr>
        <p:spPr>
          <a:xfrm>
            <a:off x="4863063" y="5543232"/>
            <a:ext cx="2887324" cy="489268"/>
          </a:xfrm>
          <a:prstGeom prst="rect">
            <a:avLst/>
          </a:prstGeom>
          <a:noFill/>
        </p:spPr>
        <p:txBody>
          <a:bodyPr wrap="square" lIns="0" tIns="0" rIns="0" bIns="0" anchor="t">
            <a:noAutofit/>
          </a:bodyPr>
          <a:lstStyle/>
          <a:p>
            <a:pPr algn="just"/>
            <a:r>
              <a:rPr sz="1170" b="0" lang="id-ID">
                <a:solidFill>
                  <a:srgbClr val="2E3440"/>
                </a:solidFill>
                <a:latin typeface="Roboto"/>
              </a:rPr>
              <a:t>Kesesuaian bantuan dan kerja sama dengan kebutuhan Indonesia.</a:t>
            </a:r>
          </a:p>
        </p:txBody>
      </p:sp>
      <p:cxnSp>
        <p:nvCxnSpPr>
          <p:cNvPr id="19" name="Connector 18"/>
          <p:cNvCxnSpPr/>
          <p:nvPr/>
        </p:nvCxnSpPr>
        <p:spPr>
          <a:xfrm>
            <a:off x="7823412" y="5320348"/>
            <a:ext cx="0" cy="660082"/>
          </a:xfrm>
          <a:prstGeom prst="line">
            <a:avLst/>
          </a:prstGeom>
          <a:ln w="9525">
            <a:solidFill>
              <a:srgbClr val="DCE3EB"/>
            </a:solidFill>
          </a:ln>
        </p:spPr>
      </p:cxnSp>
      <p:sp>
        <p:nvSpPr>
          <p:cNvPr id="20" name="Oval 19"/>
          <p:cNvSpPr/>
          <p:nvPr/>
        </p:nvSpPr>
        <p:spPr>
          <a:xfrm>
            <a:off x="7896437" y="5344350"/>
            <a:ext cx="445770" cy="445770"/>
          </a:xfrm>
          <a:prstGeom prst="ellipse">
            <a:avLst/>
          </a:prstGeom>
          <a:solidFill>
            <a:srgbClr val="051C2C"/>
          </a:solidFill>
          <a:ln>
            <a:noFill/>
          </a:ln>
        </p:spPr>
        <p:txBody>
          <a:bodyPr rtlCol="0" anchor="ctr"/>
          <a:lstStyle/>
          <a:p>
            <a:pPr algn="ctr"/>
          </a:p>
        </p:txBody>
      </p:sp>
      <p:pic>
        <p:nvPicPr>
          <p:cNvPr id="21" name="Picture 20" descr="data-FFFFFF-608a1e16.png"/>
          <p:cNvPicPr>
            <a:picLocks noChangeAspect="1"/>
          </p:cNvPicPr>
          <p:nvPr/>
        </p:nvPicPr>
        <p:blipFill>
          <a:blip r:embed="rId5"/>
          <a:stretch>
            <a:fillRect/>
          </a:stretch>
        </p:blipFill>
        <p:spPr>
          <a:xfrm>
            <a:off x="7999307" y="5447220"/>
            <a:ext cx="240030" cy="240030"/>
          </a:xfrm>
          <a:prstGeom prst="rect">
            <a:avLst/>
          </a:prstGeom>
        </p:spPr>
      </p:pic>
      <p:sp>
        <p:nvSpPr>
          <p:cNvPr id="22" name="TextBox 21"/>
          <p:cNvSpPr txBox="1"/>
          <p:nvPr/>
        </p:nvSpPr>
        <p:spPr>
          <a:xfrm>
            <a:off x="8463936" y="5268912"/>
            <a:ext cx="2887324" cy="270891"/>
          </a:xfrm>
          <a:prstGeom prst="rect">
            <a:avLst/>
          </a:prstGeom>
          <a:noFill/>
        </p:spPr>
        <p:txBody>
          <a:bodyPr wrap="none" lIns="0" tIns="0" rIns="0" bIns="0" anchor="t">
            <a:noAutofit/>
          </a:bodyPr>
          <a:lstStyle/>
          <a:p>
            <a:pPr algn="l"/>
            <a:r>
              <a:rPr sz="1550" b="1" lang="id-ID">
                <a:solidFill>
                  <a:srgbClr val="1A1A1A"/>
                </a:solidFill>
                <a:latin typeface="Roboto"/>
              </a:rPr>
              <a:t>Menjajaki teknologi</a:t>
            </a:r>
          </a:p>
        </p:txBody>
      </p:sp>
      <p:sp>
        <p:nvSpPr>
          <p:cNvPr id="23" name="TextBox 22"/>
          <p:cNvSpPr txBox="1"/>
          <p:nvPr/>
        </p:nvSpPr>
        <p:spPr>
          <a:xfrm>
            <a:off x="8463936" y="5543232"/>
            <a:ext cx="2887324" cy="489268"/>
          </a:xfrm>
          <a:prstGeom prst="rect">
            <a:avLst/>
          </a:prstGeom>
          <a:noFill/>
        </p:spPr>
        <p:txBody>
          <a:bodyPr wrap="square" lIns="0" tIns="0" rIns="0" bIns="0" anchor="t">
            <a:noAutofit/>
          </a:bodyPr>
          <a:lstStyle/>
          <a:p>
            <a:pPr algn="just"/>
            <a:r>
              <a:rPr sz="1170" b="0" lang="id-ID">
                <a:solidFill>
                  <a:srgbClr val="2E3440"/>
                </a:solidFill>
                <a:latin typeface="Roboto"/>
              </a:rPr>
              <a:t>Penjajakan kerja sama di bidang inovasi dan teknologi antara kedua negara.</a:t>
            </a:r>
          </a:p>
        </p:txBody>
      </p:sp>
      <p:sp>
        <p:nvSpPr>
          <p:cNvPr id="24" name="Rounded Rectangle 23"/>
          <p:cNvSpPr/>
          <p:nvPr/>
        </p:nvSpPr>
        <p:spPr>
          <a:xfrm>
            <a:off x="548640" y="1282700"/>
            <a:ext cx="3080309" cy="3454717"/>
          </a:xfrm>
          <a:prstGeom prst="roundRect">
            <a:avLst>
              <a:gd name="adj" fmla="val 1772"/>
            </a:avLst>
          </a:prstGeom>
          <a:solidFill>
            <a:srgbClr val="FFFFFF"/>
          </a:solidFill>
          <a:ln>
            <a:noFill/>
          </a:ln>
        </p:spPr>
        <p:txBody>
          <a:bodyPr rtlCol="0" anchor="ctr"/>
          <a:lstStyle/>
          <a:p>
            <a:pPr algn="ctr"/>
          </a:p>
        </p:txBody>
      </p:sp>
      <p:sp>
        <p:nvSpPr>
          <p:cNvPr id="25" name="Rounded Rectangle 24"/>
          <p:cNvSpPr/>
          <p:nvPr/>
        </p:nvSpPr>
        <p:spPr>
          <a:xfrm>
            <a:off x="548640" y="1282700"/>
            <a:ext cx="3080309" cy="457200"/>
          </a:xfrm>
          <a:prstGeom prst="roundRect">
            <a:avLst>
              <a:gd name="adj" fmla="val 11944"/>
            </a:avLst>
          </a:prstGeom>
          <a:solidFill>
            <a:srgbClr val="E6EAF0"/>
          </a:solidFill>
          <a:ln>
            <a:noFill/>
          </a:ln>
        </p:spPr>
        <p:txBody>
          <a:bodyPr rtlCol="0" anchor="ctr"/>
          <a:lstStyle/>
          <a:p>
            <a:pPr algn="ctr"/>
          </a:p>
        </p:txBody>
      </p:sp>
      <p:sp>
        <p:nvSpPr>
          <p:cNvPr id="26" name="Rectangle 25"/>
          <p:cNvSpPr/>
          <p:nvPr/>
        </p:nvSpPr>
        <p:spPr>
          <a:xfrm>
            <a:off x="548640" y="1511300"/>
            <a:ext cx="3080309" cy="228600"/>
          </a:xfrm>
          <a:prstGeom prst="rect">
            <a:avLst/>
          </a:prstGeom>
          <a:solidFill>
            <a:srgbClr val="E6EAF0"/>
          </a:solidFill>
          <a:ln>
            <a:noFill/>
          </a:ln>
        </p:spPr>
        <p:txBody>
          <a:bodyPr rtlCol="0" anchor="ctr"/>
          <a:lstStyle/>
          <a:p>
            <a:pPr algn="ctr"/>
          </a:p>
        </p:txBody>
      </p:sp>
      <p:sp>
        <p:nvSpPr>
          <p:cNvPr id="27" name="Rounded Rectangle 26"/>
          <p:cNvSpPr/>
          <p:nvPr/>
        </p:nvSpPr>
        <p:spPr>
          <a:xfrm>
            <a:off x="548640" y="1282700"/>
            <a:ext cx="3080309" cy="3454717"/>
          </a:xfrm>
          <a:prstGeom prst="roundRect">
            <a:avLst>
              <a:gd name="adj" fmla="val 1772"/>
            </a:avLst>
          </a:prstGeom>
          <a:noFill/>
          <a:ln w="9525">
            <a:solidFill>
              <a:srgbClr val="BFC5CC"/>
            </a:solidFill>
          </a:ln>
        </p:spPr>
        <p:txBody>
          <a:bodyPr rtlCol="0" anchor="ctr"/>
          <a:lstStyle/>
          <a:p>
            <a:pPr algn="ctr"/>
          </a:p>
        </p:txBody>
      </p:sp>
      <p:sp>
        <p:nvSpPr>
          <p:cNvPr id="28" name="Oval 27"/>
          <p:cNvSpPr/>
          <p:nvPr/>
        </p:nvSpPr>
        <p:spPr>
          <a:xfrm>
            <a:off x="675640" y="1365250"/>
            <a:ext cx="292100" cy="292100"/>
          </a:xfrm>
          <a:prstGeom prst="ellipse">
            <a:avLst/>
          </a:prstGeom>
          <a:solidFill>
            <a:srgbClr val="051C2C"/>
          </a:solidFill>
          <a:ln>
            <a:noFill/>
          </a:ln>
        </p:spPr>
        <p:txBody>
          <a:bodyPr rtlCol="0" anchor="ctr"/>
          <a:lstStyle/>
          <a:p>
            <a:pPr algn="ctr"/>
          </a:p>
        </p:txBody>
      </p:sp>
      <p:pic>
        <p:nvPicPr>
          <p:cNvPr id="29" name="Picture 28" descr="karhutla-FFFFFF-1955759a.png"/>
          <p:cNvPicPr>
            <a:picLocks noChangeAspect="1"/>
          </p:cNvPicPr>
          <p:nvPr/>
        </p:nvPicPr>
        <p:blipFill>
          <a:blip r:embed="rId6"/>
          <a:stretch>
            <a:fillRect/>
          </a:stretch>
        </p:blipFill>
        <p:spPr>
          <a:xfrm>
            <a:off x="732790" y="1422400"/>
            <a:ext cx="177800" cy="177800"/>
          </a:xfrm>
          <a:prstGeom prst="rect">
            <a:avLst/>
          </a:prstGeom>
        </p:spPr>
      </p:pic>
      <p:sp>
        <p:nvSpPr>
          <p:cNvPr id="30" name="TextBox 29"/>
          <p:cNvSpPr txBox="1"/>
          <p:nvPr/>
        </p:nvSpPr>
        <p:spPr>
          <a:xfrm>
            <a:off x="1056640" y="1282700"/>
            <a:ext cx="2445309" cy="457200"/>
          </a:xfrm>
          <a:prstGeom prst="rect">
            <a:avLst/>
          </a:prstGeom>
          <a:noFill/>
        </p:spPr>
        <p:txBody>
          <a:bodyPr wrap="none" lIns="0" tIns="0" rIns="0" bIns="0" anchor="ctr">
            <a:noAutofit/>
          </a:bodyPr>
          <a:lstStyle/>
          <a:p>
            <a:pPr algn="l"/>
            <a:r>
              <a:rPr sz="1260" b="1" lang="id-ID">
                <a:solidFill>
                  <a:srgbClr val="1A1A1A"/>
                </a:solidFill>
                <a:latin typeface="Roboto"/>
              </a:rPr>
              <a:t>Histori kerja sama 2015</a:t>
            </a:r>
          </a:p>
        </p:txBody>
      </p:sp>
      <p:sp>
        <p:nvSpPr>
          <p:cNvPr id="31" name="Oval 30"/>
          <p:cNvSpPr/>
          <p:nvPr/>
        </p:nvSpPr>
        <p:spPr>
          <a:xfrm>
            <a:off x="675640" y="2027277"/>
            <a:ext cx="330200" cy="330200"/>
          </a:xfrm>
          <a:prstGeom prst="ellipse">
            <a:avLst/>
          </a:prstGeom>
          <a:solidFill>
            <a:srgbClr val="051C2C"/>
          </a:solidFill>
          <a:ln>
            <a:noFill/>
          </a:ln>
        </p:spPr>
        <p:txBody>
          <a:bodyPr rtlCol="0" anchor="ctr"/>
          <a:lstStyle/>
          <a:p>
            <a:pPr algn="ctr"/>
          </a:p>
        </p:txBody>
      </p:sp>
      <p:pic>
        <p:nvPicPr>
          <p:cNvPr id="32" name="Picture 31" descr="karhutla-FFFFFF-1955759a.png"/>
          <p:cNvPicPr>
            <a:picLocks noChangeAspect="1"/>
          </p:cNvPicPr>
          <p:nvPr/>
        </p:nvPicPr>
        <p:blipFill>
          <a:blip r:embed="rId6"/>
          <a:stretch>
            <a:fillRect/>
          </a:stretch>
        </p:blipFill>
        <p:spPr>
          <a:xfrm>
            <a:off x="751586" y="2103223"/>
            <a:ext cx="178308" cy="178308"/>
          </a:xfrm>
          <a:prstGeom prst="rect">
            <a:avLst/>
          </a:prstGeom>
        </p:spPr>
      </p:pic>
      <p:sp>
        <p:nvSpPr>
          <p:cNvPr id="33" name="TextBox 32"/>
          <p:cNvSpPr txBox="1"/>
          <p:nvPr/>
        </p:nvSpPr>
        <p:spPr>
          <a:xfrm>
            <a:off x="1120140" y="1851065"/>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Pesawat amfibi</a:t>
            </a:r>
            <a:br/>
            <a:r>
              <a:rPr sz="1380" b="0" lang="id-ID">
                <a:solidFill>
                  <a:srgbClr val="1A1A1A"/>
                </a:solidFill>
                <a:latin typeface="Roboto"/>
              </a:rPr>
              <a:t>Malaysia mengerahkan Bombardier CL-415.</a:t>
            </a:r>
          </a:p>
        </p:txBody>
      </p:sp>
      <p:cxnSp>
        <p:nvCxnSpPr>
          <p:cNvPr id="34" name="Connector 33"/>
          <p:cNvCxnSpPr/>
          <p:nvPr/>
        </p:nvCxnSpPr>
        <p:spPr>
          <a:xfrm>
            <a:off x="675640" y="2543254"/>
            <a:ext cx="2826309" cy="0"/>
          </a:xfrm>
          <a:prstGeom prst="line">
            <a:avLst/>
          </a:prstGeom>
          <a:ln w="6350">
            <a:solidFill>
              <a:srgbClr val="E6EAF0"/>
            </a:solidFill>
          </a:ln>
        </p:spPr>
      </p:cxnSp>
      <p:sp>
        <p:nvSpPr>
          <p:cNvPr id="35" name="Oval 34"/>
          <p:cNvSpPr/>
          <p:nvPr/>
        </p:nvSpPr>
        <p:spPr>
          <a:xfrm>
            <a:off x="675640" y="2729032"/>
            <a:ext cx="330200" cy="330200"/>
          </a:xfrm>
          <a:prstGeom prst="ellipse">
            <a:avLst/>
          </a:prstGeom>
          <a:solidFill>
            <a:srgbClr val="051C2C"/>
          </a:solidFill>
          <a:ln>
            <a:noFill/>
          </a:ln>
        </p:spPr>
        <p:txBody>
          <a:bodyPr rtlCol="0" anchor="ctr"/>
          <a:lstStyle/>
          <a:p>
            <a:pPr algn="ctr"/>
          </a:p>
        </p:txBody>
      </p:sp>
      <p:pic>
        <p:nvPicPr>
          <p:cNvPr id="36" name="Picture 35" descr="wilayah-FFFFFF-37dca10c.png"/>
          <p:cNvPicPr>
            <a:picLocks noChangeAspect="1"/>
          </p:cNvPicPr>
          <p:nvPr/>
        </p:nvPicPr>
        <p:blipFill>
          <a:blip r:embed="rId7"/>
          <a:stretch>
            <a:fillRect/>
          </a:stretch>
        </p:blipFill>
        <p:spPr>
          <a:xfrm>
            <a:off x="751586" y="2804978"/>
            <a:ext cx="178308" cy="178308"/>
          </a:xfrm>
          <a:prstGeom prst="rect">
            <a:avLst/>
          </a:prstGeom>
        </p:spPr>
      </p:pic>
      <p:sp>
        <p:nvSpPr>
          <p:cNvPr id="37" name="TextBox 36"/>
          <p:cNvSpPr txBox="1"/>
          <p:nvPr/>
        </p:nvSpPr>
        <p:spPr>
          <a:xfrm>
            <a:off x="1120140" y="2552819"/>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Sumatera Selatan</a:t>
            </a:r>
            <a:br/>
            <a:r>
              <a:rPr sz="1380" b="0" lang="id-ID">
                <a:solidFill>
                  <a:srgbClr val="1A1A1A"/>
                </a:solidFill>
                <a:latin typeface="Roboto"/>
              </a:rPr>
              <a:t>Lokasi operasi pemadaman dari udara.</a:t>
            </a:r>
          </a:p>
        </p:txBody>
      </p:sp>
      <p:cxnSp>
        <p:nvCxnSpPr>
          <p:cNvPr id="38" name="Connector 37"/>
          <p:cNvCxnSpPr/>
          <p:nvPr/>
        </p:nvCxnSpPr>
        <p:spPr>
          <a:xfrm>
            <a:off x="675640" y="3245009"/>
            <a:ext cx="2826309" cy="0"/>
          </a:xfrm>
          <a:prstGeom prst="line">
            <a:avLst/>
          </a:prstGeom>
          <a:ln w="6350">
            <a:solidFill>
              <a:srgbClr val="E6EAF0"/>
            </a:solidFill>
          </a:ln>
        </p:spPr>
      </p:cxnSp>
      <p:sp>
        <p:nvSpPr>
          <p:cNvPr id="39" name="Oval 38"/>
          <p:cNvSpPr/>
          <p:nvPr/>
        </p:nvSpPr>
        <p:spPr>
          <a:xfrm>
            <a:off x="675640" y="3430786"/>
            <a:ext cx="330200" cy="330200"/>
          </a:xfrm>
          <a:prstGeom prst="ellipse">
            <a:avLst/>
          </a:prstGeom>
          <a:solidFill>
            <a:srgbClr val="051C2C"/>
          </a:solidFill>
          <a:ln>
            <a:noFill/>
          </a:ln>
        </p:spPr>
        <p:txBody>
          <a:bodyPr rtlCol="0" anchor="ctr"/>
          <a:lstStyle/>
          <a:p>
            <a:pPr algn="ctr"/>
          </a:p>
        </p:txBody>
      </p:sp>
      <p:pic>
        <p:nvPicPr>
          <p:cNvPr id="40" name="Picture 39" descr="kapasitas-FFFFFF-22e801bd.png"/>
          <p:cNvPicPr>
            <a:picLocks noChangeAspect="1"/>
          </p:cNvPicPr>
          <p:nvPr/>
        </p:nvPicPr>
        <p:blipFill>
          <a:blip r:embed="rId4"/>
          <a:stretch>
            <a:fillRect/>
          </a:stretch>
        </p:blipFill>
        <p:spPr>
          <a:xfrm>
            <a:off x="751586" y="3506732"/>
            <a:ext cx="178308" cy="178308"/>
          </a:xfrm>
          <a:prstGeom prst="rect">
            <a:avLst/>
          </a:prstGeom>
        </p:spPr>
      </p:pic>
      <p:sp>
        <p:nvSpPr>
          <p:cNvPr id="41" name="TextBox 40"/>
          <p:cNvSpPr txBox="1"/>
          <p:nvPr/>
        </p:nvSpPr>
        <p:spPr>
          <a:xfrm>
            <a:off x="1120140" y="3254573"/>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Dukungan pemadaman</a:t>
            </a:r>
            <a:br/>
            <a:r>
              <a:rPr sz="1380" b="0" lang="id-ID">
                <a:solidFill>
                  <a:srgbClr val="1A1A1A"/>
                </a:solidFill>
                <a:latin typeface="Roboto"/>
              </a:rPr>
              <a:t>Bersama satgas karhutla Indonesia.</a:t>
            </a:r>
          </a:p>
        </p:txBody>
      </p:sp>
      <p:cxnSp>
        <p:nvCxnSpPr>
          <p:cNvPr id="42" name="Connector 41"/>
          <p:cNvCxnSpPr/>
          <p:nvPr/>
        </p:nvCxnSpPr>
        <p:spPr>
          <a:xfrm>
            <a:off x="675640" y="3946763"/>
            <a:ext cx="2826309" cy="0"/>
          </a:xfrm>
          <a:prstGeom prst="line">
            <a:avLst/>
          </a:prstGeom>
          <a:ln w="6350">
            <a:solidFill>
              <a:srgbClr val="E6EAF0"/>
            </a:solidFill>
          </a:ln>
        </p:spPr>
      </p:cxnSp>
      <p:sp>
        <p:nvSpPr>
          <p:cNvPr id="43" name="Oval 42"/>
          <p:cNvSpPr/>
          <p:nvPr/>
        </p:nvSpPr>
        <p:spPr>
          <a:xfrm>
            <a:off x="675640" y="4132540"/>
            <a:ext cx="330200" cy="330200"/>
          </a:xfrm>
          <a:prstGeom prst="ellipse">
            <a:avLst/>
          </a:prstGeom>
          <a:solidFill>
            <a:srgbClr val="051C2C"/>
          </a:solidFill>
          <a:ln>
            <a:noFill/>
          </a:ln>
        </p:spPr>
        <p:txBody>
          <a:bodyPr rtlCol="0" anchor="ctr"/>
          <a:lstStyle/>
          <a:p>
            <a:pPr algn="ctr"/>
          </a:p>
        </p:txBody>
      </p:sp>
      <p:pic>
        <p:nvPicPr>
          <p:cNvPr id="44" name="Picture 43" descr="lembaga-FFFFFF-f44193c4.png"/>
          <p:cNvPicPr>
            <a:picLocks noChangeAspect="1"/>
          </p:cNvPicPr>
          <p:nvPr/>
        </p:nvPicPr>
        <p:blipFill>
          <a:blip r:embed="rId3"/>
          <a:stretch>
            <a:fillRect/>
          </a:stretch>
        </p:blipFill>
        <p:spPr>
          <a:xfrm>
            <a:off x="751586" y="4208486"/>
            <a:ext cx="178308" cy="178308"/>
          </a:xfrm>
          <a:prstGeom prst="rect">
            <a:avLst/>
          </a:prstGeom>
        </p:spPr>
      </p:pic>
      <p:sp>
        <p:nvSpPr>
          <p:cNvPr id="45" name="TextBox 44"/>
          <p:cNvSpPr txBox="1"/>
          <p:nvPr/>
        </p:nvSpPr>
        <p:spPr>
          <a:xfrm>
            <a:off x="1120140" y="3956328"/>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Apresiasi Indonesia</a:t>
            </a:r>
            <a:br/>
            <a:r>
              <a:rPr sz="1380" b="0" lang="id-ID">
                <a:solidFill>
                  <a:srgbClr val="1A1A1A"/>
                </a:solidFill>
                <a:latin typeface="Roboto"/>
              </a:rPr>
              <a:t>Atas dukungan Pemerintah Malaysia.</a:t>
            </a:r>
          </a:p>
        </p:txBody>
      </p:sp>
      <p:sp>
        <p:nvSpPr>
          <p:cNvPr id="46" name="Rounded Rectangle 45"/>
          <p:cNvSpPr/>
          <p:nvPr/>
        </p:nvSpPr>
        <p:spPr>
          <a:xfrm>
            <a:off x="3766109" y="1282700"/>
            <a:ext cx="4659782" cy="3454717"/>
          </a:xfrm>
          <a:prstGeom prst="roundRect">
            <a:avLst>
              <a:gd name="adj" fmla="val 1580"/>
            </a:avLst>
          </a:prstGeom>
          <a:solidFill>
            <a:srgbClr val="FFFFFF"/>
          </a:solidFill>
          <a:ln>
            <a:noFill/>
          </a:ln>
        </p:spPr>
        <p:txBody>
          <a:bodyPr rtlCol="0" anchor="ctr"/>
          <a:lstStyle/>
          <a:p>
            <a:pPr algn="ctr"/>
          </a:p>
        </p:txBody>
      </p:sp>
      <p:sp>
        <p:nvSpPr>
          <p:cNvPr id="47" name="Rounded Rectangle 46"/>
          <p:cNvSpPr/>
          <p:nvPr/>
        </p:nvSpPr>
        <p:spPr>
          <a:xfrm>
            <a:off x="3766109" y="1282700"/>
            <a:ext cx="4659782" cy="457200"/>
          </a:xfrm>
          <a:prstGeom prst="roundRect">
            <a:avLst>
              <a:gd name="adj" fmla="val 11944"/>
            </a:avLst>
          </a:prstGeom>
          <a:solidFill>
            <a:srgbClr val="E6EAF0"/>
          </a:solidFill>
          <a:ln>
            <a:noFill/>
          </a:ln>
        </p:spPr>
        <p:txBody>
          <a:bodyPr rtlCol="0" anchor="ctr"/>
          <a:lstStyle/>
          <a:p>
            <a:pPr algn="ctr"/>
          </a:p>
        </p:txBody>
      </p:sp>
      <p:sp>
        <p:nvSpPr>
          <p:cNvPr id="48" name="Rectangle 47"/>
          <p:cNvSpPr/>
          <p:nvPr/>
        </p:nvSpPr>
        <p:spPr>
          <a:xfrm>
            <a:off x="3766109" y="1511300"/>
            <a:ext cx="4659782" cy="228600"/>
          </a:xfrm>
          <a:prstGeom prst="rect">
            <a:avLst/>
          </a:prstGeom>
          <a:solidFill>
            <a:srgbClr val="E6EAF0"/>
          </a:solidFill>
          <a:ln>
            <a:noFill/>
          </a:ln>
        </p:spPr>
        <p:txBody>
          <a:bodyPr rtlCol="0" anchor="ctr"/>
          <a:lstStyle/>
          <a:p>
            <a:pPr algn="ctr"/>
          </a:p>
        </p:txBody>
      </p:sp>
      <p:sp>
        <p:nvSpPr>
          <p:cNvPr id="49" name="Rounded Rectangle 48"/>
          <p:cNvSpPr/>
          <p:nvPr/>
        </p:nvSpPr>
        <p:spPr>
          <a:xfrm>
            <a:off x="3766109" y="1282700"/>
            <a:ext cx="4659782" cy="3454717"/>
          </a:xfrm>
          <a:prstGeom prst="roundRect">
            <a:avLst>
              <a:gd name="adj" fmla="val 1580"/>
            </a:avLst>
          </a:prstGeom>
          <a:noFill/>
          <a:ln w="9525">
            <a:solidFill>
              <a:srgbClr val="BFC5CC"/>
            </a:solidFill>
          </a:ln>
        </p:spPr>
        <p:txBody>
          <a:bodyPr rtlCol="0" anchor="ctr"/>
          <a:lstStyle/>
          <a:p>
            <a:pPr algn="ctr"/>
          </a:p>
        </p:txBody>
      </p:sp>
      <p:sp>
        <p:nvSpPr>
          <p:cNvPr id="50" name="Oval 49"/>
          <p:cNvSpPr/>
          <p:nvPr/>
        </p:nvSpPr>
        <p:spPr>
          <a:xfrm>
            <a:off x="3893109" y="1365250"/>
            <a:ext cx="292100" cy="292100"/>
          </a:xfrm>
          <a:prstGeom prst="ellipse">
            <a:avLst/>
          </a:prstGeom>
          <a:solidFill>
            <a:srgbClr val="051C2C"/>
          </a:solidFill>
          <a:ln>
            <a:noFill/>
          </a:ln>
        </p:spPr>
        <p:txBody>
          <a:bodyPr rtlCol="0" anchor="ctr"/>
          <a:lstStyle/>
          <a:p>
            <a:pPr algn="ctr"/>
          </a:p>
        </p:txBody>
      </p:sp>
      <p:pic>
        <p:nvPicPr>
          <p:cNvPr id="51" name="Picture 50" descr="kalender-FFFFFF-a840cf9e.png"/>
          <p:cNvPicPr>
            <a:picLocks noChangeAspect="1"/>
          </p:cNvPicPr>
          <p:nvPr/>
        </p:nvPicPr>
        <p:blipFill>
          <a:blip r:embed="rId8"/>
          <a:stretch>
            <a:fillRect/>
          </a:stretch>
        </p:blipFill>
        <p:spPr>
          <a:xfrm>
            <a:off x="3950259" y="1422400"/>
            <a:ext cx="177800" cy="177800"/>
          </a:xfrm>
          <a:prstGeom prst="rect">
            <a:avLst/>
          </a:prstGeom>
        </p:spPr>
      </p:pic>
      <p:sp>
        <p:nvSpPr>
          <p:cNvPr id="52" name="TextBox 51"/>
          <p:cNvSpPr txBox="1"/>
          <p:nvPr/>
        </p:nvSpPr>
        <p:spPr>
          <a:xfrm>
            <a:off x="4274109" y="1282700"/>
            <a:ext cx="3897782" cy="457200"/>
          </a:xfrm>
          <a:prstGeom prst="rect">
            <a:avLst/>
          </a:prstGeom>
          <a:noFill/>
        </p:spPr>
        <p:txBody>
          <a:bodyPr wrap="none" lIns="0" tIns="0" rIns="0" bIns="0" anchor="ctr">
            <a:noAutofit/>
          </a:bodyPr>
          <a:lstStyle/>
          <a:p>
            <a:pPr algn="l"/>
            <a:r>
              <a:rPr sz="1260" b="1" lang="id-ID">
                <a:solidFill>
                  <a:srgbClr val="1A1A1A"/>
                </a:solidFill>
                <a:latin typeface="Roboto"/>
              </a:rPr>
              <a:t>Alur waktu kerja sama 2026</a:t>
            </a:r>
          </a:p>
        </p:txBody>
      </p:sp>
      <p:sp>
        <p:nvSpPr>
          <p:cNvPr id="53" name="TextBox 52"/>
          <p:cNvSpPr txBox="1"/>
          <p:nvPr/>
        </p:nvSpPr>
        <p:spPr>
          <a:xfrm>
            <a:off x="3893109" y="1841500"/>
            <a:ext cx="853698" cy="210820"/>
          </a:xfrm>
          <a:prstGeom prst="rect">
            <a:avLst/>
          </a:prstGeom>
          <a:noFill/>
        </p:spPr>
        <p:txBody>
          <a:bodyPr wrap="none" lIns="0" tIns="0" rIns="0" bIns="0" anchor="ctr">
            <a:noAutofit/>
          </a:bodyPr>
          <a:lstStyle/>
          <a:p>
            <a:pPr algn="ctr"/>
            <a:r>
              <a:rPr sz="750" b="1" lang="id-ID" spc="80">
                <a:solidFill>
                  <a:srgbClr val="6B7280"/>
                </a:solidFill>
                <a:latin typeface="Roboto"/>
              </a:rPr>
              <a:t>WAKTU</a:t>
            </a:r>
          </a:p>
        </p:txBody>
      </p:sp>
      <p:sp>
        <p:nvSpPr>
          <p:cNvPr id="54" name="TextBox 53"/>
          <p:cNvSpPr txBox="1"/>
          <p:nvPr/>
        </p:nvSpPr>
        <p:spPr>
          <a:xfrm>
            <a:off x="4797607" y="1841500"/>
            <a:ext cx="1845729" cy="210820"/>
          </a:xfrm>
          <a:prstGeom prst="rect">
            <a:avLst/>
          </a:prstGeom>
          <a:noFill/>
        </p:spPr>
        <p:txBody>
          <a:bodyPr wrap="none" lIns="0" tIns="0" rIns="0" bIns="0" anchor="ctr">
            <a:noAutofit/>
          </a:bodyPr>
          <a:lstStyle/>
          <a:p>
            <a:pPr algn="ctr"/>
            <a:r>
              <a:rPr sz="750" b="1" lang="id-ID" spc="80">
                <a:solidFill>
                  <a:srgbClr val="6B7280"/>
                </a:solidFill>
                <a:latin typeface="Roboto"/>
              </a:rPr>
              <a:t>TONGGAK</a:t>
            </a:r>
          </a:p>
        </p:txBody>
      </p:sp>
      <p:sp>
        <p:nvSpPr>
          <p:cNvPr id="55" name="TextBox 54"/>
          <p:cNvSpPr txBox="1"/>
          <p:nvPr/>
        </p:nvSpPr>
        <p:spPr>
          <a:xfrm>
            <a:off x="6694136" y="1841500"/>
            <a:ext cx="1553955" cy="210820"/>
          </a:xfrm>
          <a:prstGeom prst="rect">
            <a:avLst/>
          </a:prstGeom>
          <a:noFill/>
        </p:spPr>
        <p:txBody>
          <a:bodyPr wrap="none" lIns="0" tIns="0" rIns="0" bIns="0" anchor="ctr">
            <a:noAutofit/>
          </a:bodyPr>
          <a:lstStyle/>
          <a:p>
            <a:pPr algn="ctr"/>
            <a:r>
              <a:rPr sz="750" b="1" lang="id-ID" spc="80">
                <a:solidFill>
                  <a:srgbClr val="6B7280"/>
                </a:solidFill>
                <a:latin typeface="Roboto"/>
              </a:rPr>
              <a:t>KETERANGAN</a:t>
            </a:r>
          </a:p>
        </p:txBody>
      </p:sp>
      <p:cxnSp>
        <p:nvCxnSpPr>
          <p:cNvPr id="56" name="Connector 55"/>
          <p:cNvCxnSpPr/>
          <p:nvPr/>
        </p:nvCxnSpPr>
        <p:spPr>
          <a:xfrm>
            <a:off x="3893109" y="2052320"/>
            <a:ext cx="4405782" cy="0"/>
          </a:xfrm>
          <a:prstGeom prst="line">
            <a:avLst/>
          </a:prstGeom>
          <a:ln w="9525">
            <a:solidFill>
              <a:srgbClr val="1A1A1A"/>
            </a:solidFill>
          </a:ln>
        </p:spPr>
      </p:cxnSp>
      <p:sp>
        <p:nvSpPr>
          <p:cNvPr id="57" name="TextBox 56"/>
          <p:cNvSpPr txBox="1"/>
          <p:nvPr/>
        </p:nvSpPr>
        <p:spPr>
          <a:xfrm>
            <a:off x="3893109" y="2052320"/>
            <a:ext cx="853698" cy="519240"/>
          </a:xfrm>
          <a:prstGeom prst="rect">
            <a:avLst/>
          </a:prstGeom>
          <a:noFill/>
        </p:spPr>
        <p:txBody>
          <a:bodyPr wrap="none" lIns="0" tIns="0" rIns="0" bIns="0" anchor="ctr">
            <a:noAutofit/>
          </a:bodyPr>
          <a:lstStyle/>
          <a:p>
            <a:pPr algn="l"/>
            <a:r>
              <a:rPr sz="1104" b="1" lang="id-ID">
                <a:solidFill>
                  <a:srgbClr val="1A1A1A"/>
                </a:solidFill>
                <a:latin typeface="Roboto"/>
              </a:rPr>
              <a:t>18 Sep 2026</a:t>
            </a:r>
          </a:p>
        </p:txBody>
      </p:sp>
      <p:sp>
        <p:nvSpPr>
          <p:cNvPr id="58" name="TextBox 57"/>
          <p:cNvSpPr txBox="1"/>
          <p:nvPr/>
        </p:nvSpPr>
        <p:spPr>
          <a:xfrm>
            <a:off x="4797607" y="2052320"/>
            <a:ext cx="1845729" cy="519240"/>
          </a:xfrm>
          <a:prstGeom prst="rect">
            <a:avLst/>
          </a:prstGeom>
          <a:noFill/>
        </p:spPr>
        <p:txBody>
          <a:bodyPr wrap="none" lIns="0" tIns="0" rIns="0" bIns="0" anchor="ctr">
            <a:noAutofit/>
          </a:bodyPr>
          <a:lstStyle/>
          <a:p>
            <a:pPr algn="l"/>
            <a:r>
              <a:rPr sz="1031" b="0" lang="id-ID">
                <a:solidFill>
                  <a:srgbClr val="2E3440"/>
                </a:solidFill>
                <a:latin typeface="Roboto"/>
              </a:rPr>
              <a:t>Kunjungan Wakil PM Malaysia</a:t>
            </a:r>
          </a:p>
        </p:txBody>
      </p:sp>
      <p:sp>
        <p:nvSpPr>
          <p:cNvPr id="59" name="TextBox 58"/>
          <p:cNvSpPr txBox="1"/>
          <p:nvPr/>
        </p:nvSpPr>
        <p:spPr>
          <a:xfrm>
            <a:off x="6694136" y="2052320"/>
            <a:ext cx="1553955" cy="519240"/>
          </a:xfrm>
          <a:prstGeom prst="rect">
            <a:avLst/>
          </a:prstGeom>
          <a:noFill/>
        </p:spPr>
        <p:txBody>
          <a:bodyPr wrap="none" lIns="0" tIns="0" rIns="0" bIns="0" anchor="ctr">
            <a:noAutofit/>
          </a:bodyPr>
          <a:lstStyle/>
          <a:p>
            <a:pPr algn="l"/>
            <a:r>
              <a:rPr sz="1031" b="0" lang="id-ID">
                <a:solidFill>
                  <a:srgbClr val="2E3440"/>
                </a:solidFill>
                <a:latin typeface="Roboto"/>
              </a:rPr>
              <a:t>Tawaran kepada Presiden</a:t>
            </a:r>
          </a:p>
        </p:txBody>
      </p:sp>
      <p:cxnSp>
        <p:nvCxnSpPr>
          <p:cNvPr id="60" name="Connector 59"/>
          <p:cNvCxnSpPr/>
          <p:nvPr/>
        </p:nvCxnSpPr>
        <p:spPr>
          <a:xfrm>
            <a:off x="3893109" y="2571560"/>
            <a:ext cx="4405782" cy="0"/>
          </a:xfrm>
          <a:prstGeom prst="line">
            <a:avLst/>
          </a:prstGeom>
          <a:ln w="6350">
            <a:solidFill>
              <a:srgbClr val="E6EAF0"/>
            </a:solidFill>
          </a:ln>
        </p:spPr>
      </p:cxnSp>
      <p:sp>
        <p:nvSpPr>
          <p:cNvPr id="61" name="TextBox 60"/>
          <p:cNvSpPr txBox="1"/>
          <p:nvPr/>
        </p:nvSpPr>
        <p:spPr>
          <a:xfrm>
            <a:off x="3893109" y="2571560"/>
            <a:ext cx="853698" cy="519240"/>
          </a:xfrm>
          <a:prstGeom prst="rect">
            <a:avLst/>
          </a:prstGeom>
          <a:noFill/>
        </p:spPr>
        <p:txBody>
          <a:bodyPr wrap="none" lIns="0" tIns="0" rIns="0" bIns="0" anchor="ctr">
            <a:noAutofit/>
          </a:bodyPr>
          <a:lstStyle/>
          <a:p>
            <a:pPr algn="l"/>
            <a:r>
              <a:rPr sz="1104" b="1" lang="id-ID">
                <a:solidFill>
                  <a:srgbClr val="1A1A1A"/>
                </a:solidFill>
                <a:latin typeface="Roboto"/>
              </a:rPr>
              <a:t>Sep 2026</a:t>
            </a:r>
          </a:p>
        </p:txBody>
      </p:sp>
      <p:sp>
        <p:nvSpPr>
          <p:cNvPr id="62" name="TextBox 61"/>
          <p:cNvSpPr txBox="1"/>
          <p:nvPr/>
        </p:nvSpPr>
        <p:spPr>
          <a:xfrm>
            <a:off x="4797607" y="2571560"/>
            <a:ext cx="1845729" cy="519240"/>
          </a:xfrm>
          <a:prstGeom prst="rect">
            <a:avLst/>
          </a:prstGeom>
          <a:noFill/>
        </p:spPr>
        <p:txBody>
          <a:bodyPr wrap="none" lIns="0" tIns="0" rIns="0" bIns="0" anchor="ctr">
            <a:noAutofit/>
          </a:bodyPr>
          <a:lstStyle/>
          <a:p>
            <a:pPr algn="l"/>
            <a:r>
              <a:rPr sz="1031" b="0" lang="id-ID">
                <a:solidFill>
                  <a:srgbClr val="2E3440"/>
                </a:solidFill>
                <a:latin typeface="Roboto"/>
              </a:rPr>
              <a:t>Nota diplomatik</a:t>
            </a:r>
          </a:p>
        </p:txBody>
      </p:sp>
      <p:sp>
        <p:nvSpPr>
          <p:cNvPr id="63" name="TextBox 62"/>
          <p:cNvSpPr txBox="1"/>
          <p:nvPr/>
        </p:nvSpPr>
        <p:spPr>
          <a:xfrm>
            <a:off x="6694136" y="2571560"/>
            <a:ext cx="1553955" cy="519240"/>
          </a:xfrm>
          <a:prstGeom prst="rect">
            <a:avLst/>
          </a:prstGeom>
          <a:noFill/>
        </p:spPr>
        <p:txBody>
          <a:bodyPr wrap="none" lIns="0" tIns="0" rIns="0" bIns="0" anchor="ctr">
            <a:noAutofit/>
          </a:bodyPr>
          <a:lstStyle/>
          <a:p>
            <a:pPr algn="l"/>
            <a:r>
              <a:rPr sz="1031" b="0" lang="id-ID">
                <a:solidFill>
                  <a:srgbClr val="2E3440"/>
                </a:solidFill>
                <a:latin typeface="Roboto"/>
              </a:rPr>
              <a:t>NADMA </a:t>
            </a:r>
            <a:r>
              <a:rPr sz="1031" b="0" i="1" lang="id-ID">
                <a:solidFill>
                  <a:srgbClr val="2E3440"/>
                </a:solidFill>
                <a:latin typeface="Roboto"/>
              </a:rPr>
              <a:t>focal point</a:t>
            </a:r>
          </a:p>
        </p:txBody>
      </p:sp>
      <p:cxnSp>
        <p:nvCxnSpPr>
          <p:cNvPr id="64" name="Connector 63"/>
          <p:cNvCxnSpPr/>
          <p:nvPr/>
        </p:nvCxnSpPr>
        <p:spPr>
          <a:xfrm>
            <a:off x="3893109" y="3090799"/>
            <a:ext cx="4405782" cy="0"/>
          </a:xfrm>
          <a:prstGeom prst="line">
            <a:avLst/>
          </a:prstGeom>
          <a:ln w="6350">
            <a:solidFill>
              <a:srgbClr val="E6EAF0"/>
            </a:solidFill>
          </a:ln>
        </p:spPr>
      </p:cxnSp>
      <p:sp>
        <p:nvSpPr>
          <p:cNvPr id="65" name="TextBox 64"/>
          <p:cNvSpPr txBox="1"/>
          <p:nvPr/>
        </p:nvSpPr>
        <p:spPr>
          <a:xfrm>
            <a:off x="3893109" y="3090799"/>
            <a:ext cx="853698" cy="519240"/>
          </a:xfrm>
          <a:prstGeom prst="rect">
            <a:avLst/>
          </a:prstGeom>
          <a:noFill/>
        </p:spPr>
        <p:txBody>
          <a:bodyPr wrap="none" lIns="0" tIns="0" rIns="0" bIns="0" anchor="ctr">
            <a:noAutofit/>
          </a:bodyPr>
          <a:lstStyle/>
          <a:p>
            <a:pPr algn="l"/>
            <a:r>
              <a:rPr sz="1104" b="1" lang="id-ID">
                <a:solidFill>
                  <a:srgbClr val="1A1A1A"/>
                </a:solidFill>
                <a:latin typeface="Roboto"/>
              </a:rPr>
              <a:t>12 Okt 2026</a:t>
            </a:r>
          </a:p>
        </p:txBody>
      </p:sp>
      <p:sp>
        <p:nvSpPr>
          <p:cNvPr id="66" name="TextBox 65"/>
          <p:cNvSpPr txBox="1"/>
          <p:nvPr/>
        </p:nvSpPr>
        <p:spPr>
          <a:xfrm>
            <a:off x="4797607" y="3090799"/>
            <a:ext cx="1845729" cy="519240"/>
          </a:xfrm>
          <a:prstGeom prst="rect">
            <a:avLst/>
          </a:prstGeom>
          <a:noFill/>
        </p:spPr>
        <p:txBody>
          <a:bodyPr wrap="none" lIns="0" tIns="0" rIns="0" bIns="0" anchor="ctr">
            <a:noAutofit/>
          </a:bodyPr>
          <a:lstStyle/>
          <a:p>
            <a:pPr algn="l"/>
            <a:r>
              <a:rPr sz="1031" b="0" lang="id-ID">
                <a:solidFill>
                  <a:srgbClr val="2E3440"/>
                </a:solidFill>
                <a:latin typeface="Roboto"/>
              </a:rPr>
              <a:t>Rapat koordinasi Kemlu</a:t>
            </a:r>
          </a:p>
        </p:txBody>
      </p:sp>
      <p:sp>
        <p:nvSpPr>
          <p:cNvPr id="67" name="TextBox 66"/>
          <p:cNvSpPr txBox="1"/>
          <p:nvPr/>
        </p:nvSpPr>
        <p:spPr>
          <a:xfrm>
            <a:off x="6694136" y="3090799"/>
            <a:ext cx="1553955" cy="519240"/>
          </a:xfrm>
          <a:prstGeom prst="rect">
            <a:avLst/>
          </a:prstGeom>
          <a:noFill/>
        </p:spPr>
        <p:txBody>
          <a:bodyPr wrap="none" lIns="0" tIns="0" rIns="0" bIns="0" anchor="ctr">
            <a:noAutofit/>
          </a:bodyPr>
          <a:lstStyle/>
          <a:p>
            <a:pPr algn="l"/>
            <a:r>
              <a:rPr sz="1031" b="0" lang="id-ID">
                <a:solidFill>
                  <a:srgbClr val="2E3440"/>
                </a:solidFill>
                <a:latin typeface="Roboto"/>
              </a:rPr>
              <a:t>Pembahasan tawaran</a:t>
            </a:r>
          </a:p>
        </p:txBody>
      </p:sp>
      <p:cxnSp>
        <p:nvCxnSpPr>
          <p:cNvPr id="68" name="Connector 67"/>
          <p:cNvCxnSpPr/>
          <p:nvPr/>
        </p:nvCxnSpPr>
        <p:spPr>
          <a:xfrm>
            <a:off x="3893109" y="3610038"/>
            <a:ext cx="4405782" cy="0"/>
          </a:xfrm>
          <a:prstGeom prst="line">
            <a:avLst/>
          </a:prstGeom>
          <a:ln w="6350">
            <a:solidFill>
              <a:srgbClr val="E6EAF0"/>
            </a:solidFill>
          </a:ln>
        </p:spPr>
      </p:cxnSp>
      <p:sp>
        <p:nvSpPr>
          <p:cNvPr id="69" name="TextBox 68"/>
          <p:cNvSpPr txBox="1"/>
          <p:nvPr/>
        </p:nvSpPr>
        <p:spPr>
          <a:xfrm>
            <a:off x="3893109" y="3610038"/>
            <a:ext cx="853698" cy="519240"/>
          </a:xfrm>
          <a:prstGeom prst="rect">
            <a:avLst/>
          </a:prstGeom>
          <a:noFill/>
        </p:spPr>
        <p:txBody>
          <a:bodyPr wrap="none" lIns="0" tIns="0" rIns="0" bIns="0" anchor="ctr">
            <a:noAutofit/>
          </a:bodyPr>
          <a:lstStyle/>
          <a:p>
            <a:pPr algn="l"/>
            <a:r>
              <a:rPr sz="1104" b="1" lang="id-ID">
                <a:solidFill>
                  <a:srgbClr val="1A1A1A"/>
                </a:solidFill>
                <a:latin typeface="Roboto"/>
              </a:rPr>
              <a:t>14 Okt 2026</a:t>
            </a:r>
          </a:p>
        </p:txBody>
      </p:sp>
      <p:sp>
        <p:nvSpPr>
          <p:cNvPr id="70" name="TextBox 69"/>
          <p:cNvSpPr txBox="1"/>
          <p:nvPr/>
        </p:nvSpPr>
        <p:spPr>
          <a:xfrm>
            <a:off x="4797607" y="3610038"/>
            <a:ext cx="1845729" cy="519240"/>
          </a:xfrm>
          <a:prstGeom prst="rect">
            <a:avLst/>
          </a:prstGeom>
          <a:noFill/>
        </p:spPr>
        <p:txBody>
          <a:bodyPr wrap="none" lIns="0" tIns="0" rIns="0" bIns="0" anchor="ctr">
            <a:noAutofit/>
          </a:bodyPr>
          <a:lstStyle/>
          <a:p>
            <a:pPr algn="l"/>
            <a:r>
              <a:rPr sz="1031" b="0" lang="id-ID">
                <a:solidFill>
                  <a:srgbClr val="2E3440"/>
                </a:solidFill>
                <a:latin typeface="Roboto"/>
              </a:rPr>
              <a:t>Laporan hasil rapat</a:t>
            </a:r>
          </a:p>
        </p:txBody>
      </p:sp>
      <p:sp>
        <p:nvSpPr>
          <p:cNvPr id="71" name="TextBox 70"/>
          <p:cNvSpPr txBox="1"/>
          <p:nvPr/>
        </p:nvSpPr>
        <p:spPr>
          <a:xfrm>
            <a:off x="6694136" y="3610038"/>
            <a:ext cx="1553955" cy="519240"/>
          </a:xfrm>
          <a:prstGeom prst="rect">
            <a:avLst/>
          </a:prstGeom>
          <a:noFill/>
        </p:spPr>
        <p:txBody>
          <a:bodyPr wrap="none" lIns="0" tIns="0" rIns="0" bIns="0" anchor="ctr">
            <a:noAutofit/>
          </a:bodyPr>
          <a:lstStyle/>
          <a:p>
            <a:pPr algn="l"/>
            <a:r>
              <a:rPr sz="1031" b="0" lang="id-ID">
                <a:solidFill>
                  <a:srgbClr val="2E3440"/>
                </a:solidFill>
                <a:latin typeface="Roboto"/>
              </a:rPr>
              <a:t>Masukan K/L terkait</a:t>
            </a:r>
          </a:p>
        </p:txBody>
      </p:sp>
      <p:cxnSp>
        <p:nvCxnSpPr>
          <p:cNvPr id="72" name="Connector 71"/>
          <p:cNvCxnSpPr/>
          <p:nvPr/>
        </p:nvCxnSpPr>
        <p:spPr>
          <a:xfrm>
            <a:off x="3893109" y="4129278"/>
            <a:ext cx="4405782" cy="0"/>
          </a:xfrm>
          <a:prstGeom prst="line">
            <a:avLst/>
          </a:prstGeom>
          <a:ln w="6350">
            <a:solidFill>
              <a:srgbClr val="E6EAF0"/>
            </a:solidFill>
          </a:ln>
        </p:spPr>
      </p:cxnSp>
      <p:sp>
        <p:nvSpPr>
          <p:cNvPr id="73" name="TextBox 72"/>
          <p:cNvSpPr txBox="1"/>
          <p:nvPr/>
        </p:nvSpPr>
        <p:spPr>
          <a:xfrm>
            <a:off x="3893109" y="4129278"/>
            <a:ext cx="853698" cy="519240"/>
          </a:xfrm>
          <a:prstGeom prst="rect">
            <a:avLst/>
          </a:prstGeom>
          <a:noFill/>
        </p:spPr>
        <p:txBody>
          <a:bodyPr wrap="none" lIns="0" tIns="0" rIns="0" bIns="0" anchor="ctr">
            <a:noAutofit/>
          </a:bodyPr>
          <a:lstStyle/>
          <a:p>
            <a:pPr algn="l"/>
            <a:r>
              <a:rPr sz="1104" b="1" lang="id-ID">
                <a:solidFill>
                  <a:srgbClr val="1A1A1A"/>
                </a:solidFill>
                <a:latin typeface="Roboto"/>
              </a:rPr>
              <a:t>27 Okt 2026</a:t>
            </a:r>
          </a:p>
        </p:txBody>
      </p:sp>
      <p:sp>
        <p:nvSpPr>
          <p:cNvPr id="74" name="TextBox 73"/>
          <p:cNvSpPr txBox="1"/>
          <p:nvPr/>
        </p:nvSpPr>
        <p:spPr>
          <a:xfrm>
            <a:off x="4797607" y="4129278"/>
            <a:ext cx="1845729" cy="519240"/>
          </a:xfrm>
          <a:prstGeom prst="rect">
            <a:avLst/>
          </a:prstGeom>
          <a:noFill/>
        </p:spPr>
        <p:txBody>
          <a:bodyPr wrap="none" lIns="0" tIns="0" rIns="0" bIns="0" anchor="ctr">
            <a:noAutofit/>
          </a:bodyPr>
          <a:lstStyle/>
          <a:p>
            <a:pPr algn="l"/>
            <a:r>
              <a:rPr sz="1031" b="0" lang="id-ID">
                <a:solidFill>
                  <a:srgbClr val="2E3440"/>
                </a:solidFill>
                <a:latin typeface="Roboto"/>
              </a:rPr>
              <a:t>Pertemuan di BNPB</a:t>
            </a:r>
          </a:p>
        </p:txBody>
      </p:sp>
      <p:sp>
        <p:nvSpPr>
          <p:cNvPr id="75" name="TextBox 74"/>
          <p:cNvSpPr txBox="1"/>
          <p:nvPr/>
        </p:nvSpPr>
        <p:spPr>
          <a:xfrm>
            <a:off x="6694136" y="4129278"/>
            <a:ext cx="1553955" cy="519240"/>
          </a:xfrm>
          <a:prstGeom prst="rect">
            <a:avLst/>
          </a:prstGeom>
          <a:noFill/>
        </p:spPr>
        <p:txBody>
          <a:bodyPr wrap="none" lIns="0" tIns="0" rIns="0" bIns="0" anchor="ctr">
            <a:noAutofit/>
          </a:bodyPr>
          <a:lstStyle/>
          <a:p>
            <a:pPr algn="l"/>
            <a:r>
              <a:rPr sz="1031" b="0" lang="id-ID">
                <a:solidFill>
                  <a:srgbClr val="2E3440"/>
                </a:solidFill>
                <a:latin typeface="Roboto"/>
              </a:rPr>
              <a:t>BNPB dan Malaysia</a:t>
            </a:r>
          </a:p>
        </p:txBody>
      </p:sp>
      <p:sp>
        <p:nvSpPr>
          <p:cNvPr id="76" name="Rounded Rectangle 75"/>
          <p:cNvSpPr/>
          <p:nvPr/>
        </p:nvSpPr>
        <p:spPr>
          <a:xfrm>
            <a:off x="8563051" y="1282700"/>
            <a:ext cx="3080309" cy="3454717"/>
          </a:xfrm>
          <a:prstGeom prst="roundRect">
            <a:avLst>
              <a:gd name="adj" fmla="val 1772"/>
            </a:avLst>
          </a:prstGeom>
          <a:solidFill>
            <a:srgbClr val="FFFFFF"/>
          </a:solidFill>
          <a:ln>
            <a:noFill/>
          </a:ln>
        </p:spPr>
        <p:txBody>
          <a:bodyPr rtlCol="0" anchor="ctr"/>
          <a:lstStyle/>
          <a:p>
            <a:pPr algn="ctr"/>
          </a:p>
        </p:txBody>
      </p:sp>
      <p:sp>
        <p:nvSpPr>
          <p:cNvPr id="77" name="Rounded Rectangle 76"/>
          <p:cNvSpPr/>
          <p:nvPr/>
        </p:nvSpPr>
        <p:spPr>
          <a:xfrm>
            <a:off x="8563051" y="1282700"/>
            <a:ext cx="3080309" cy="457200"/>
          </a:xfrm>
          <a:prstGeom prst="roundRect">
            <a:avLst>
              <a:gd name="adj" fmla="val 11944"/>
            </a:avLst>
          </a:prstGeom>
          <a:solidFill>
            <a:srgbClr val="E6EAF0"/>
          </a:solidFill>
          <a:ln>
            <a:noFill/>
          </a:ln>
        </p:spPr>
        <p:txBody>
          <a:bodyPr rtlCol="0" anchor="ctr"/>
          <a:lstStyle/>
          <a:p>
            <a:pPr algn="ctr"/>
          </a:p>
        </p:txBody>
      </p:sp>
      <p:sp>
        <p:nvSpPr>
          <p:cNvPr id="78" name="Rectangle 77"/>
          <p:cNvSpPr/>
          <p:nvPr/>
        </p:nvSpPr>
        <p:spPr>
          <a:xfrm>
            <a:off x="8563051" y="1511300"/>
            <a:ext cx="3080309" cy="228600"/>
          </a:xfrm>
          <a:prstGeom prst="rect">
            <a:avLst/>
          </a:prstGeom>
          <a:solidFill>
            <a:srgbClr val="E6EAF0"/>
          </a:solidFill>
          <a:ln>
            <a:noFill/>
          </a:ln>
        </p:spPr>
        <p:txBody>
          <a:bodyPr rtlCol="0" anchor="ctr"/>
          <a:lstStyle/>
          <a:p>
            <a:pPr algn="ctr"/>
          </a:p>
        </p:txBody>
      </p:sp>
      <p:sp>
        <p:nvSpPr>
          <p:cNvPr id="79" name="Rounded Rectangle 78"/>
          <p:cNvSpPr/>
          <p:nvPr/>
        </p:nvSpPr>
        <p:spPr>
          <a:xfrm>
            <a:off x="8563051" y="1282700"/>
            <a:ext cx="3080309" cy="3454717"/>
          </a:xfrm>
          <a:prstGeom prst="roundRect">
            <a:avLst>
              <a:gd name="adj" fmla="val 1772"/>
            </a:avLst>
          </a:prstGeom>
          <a:noFill/>
          <a:ln w="9525">
            <a:solidFill>
              <a:srgbClr val="BFC5CC"/>
            </a:solidFill>
          </a:ln>
        </p:spPr>
        <p:txBody>
          <a:bodyPr rtlCol="0" anchor="ctr"/>
          <a:lstStyle/>
          <a:p>
            <a:pPr algn="ctr"/>
          </a:p>
        </p:txBody>
      </p:sp>
      <p:sp>
        <p:nvSpPr>
          <p:cNvPr id="80" name="Oval 79"/>
          <p:cNvSpPr/>
          <p:nvPr/>
        </p:nvSpPr>
        <p:spPr>
          <a:xfrm>
            <a:off x="8690051" y="1365250"/>
            <a:ext cx="292100" cy="292100"/>
          </a:xfrm>
          <a:prstGeom prst="ellipse">
            <a:avLst/>
          </a:prstGeom>
          <a:solidFill>
            <a:srgbClr val="051C2C"/>
          </a:solidFill>
          <a:ln>
            <a:noFill/>
          </a:ln>
        </p:spPr>
        <p:txBody>
          <a:bodyPr rtlCol="0" anchor="ctr"/>
          <a:lstStyle/>
          <a:p>
            <a:pPr algn="ctr"/>
          </a:p>
        </p:txBody>
      </p:sp>
      <p:pic>
        <p:nvPicPr>
          <p:cNvPr id="81" name="Picture 80" descr="lembaga-FFFFFF-f44193c4.png"/>
          <p:cNvPicPr>
            <a:picLocks noChangeAspect="1"/>
          </p:cNvPicPr>
          <p:nvPr/>
        </p:nvPicPr>
        <p:blipFill>
          <a:blip r:embed="rId3"/>
          <a:stretch>
            <a:fillRect/>
          </a:stretch>
        </p:blipFill>
        <p:spPr>
          <a:xfrm>
            <a:off x="8747201" y="1422400"/>
            <a:ext cx="177800" cy="177800"/>
          </a:xfrm>
          <a:prstGeom prst="rect">
            <a:avLst/>
          </a:prstGeom>
        </p:spPr>
      </p:pic>
      <p:sp>
        <p:nvSpPr>
          <p:cNvPr id="82" name="TextBox 81"/>
          <p:cNvSpPr txBox="1"/>
          <p:nvPr/>
        </p:nvSpPr>
        <p:spPr>
          <a:xfrm>
            <a:off x="9071051" y="1282700"/>
            <a:ext cx="2445309" cy="457200"/>
          </a:xfrm>
          <a:prstGeom prst="rect">
            <a:avLst/>
          </a:prstGeom>
          <a:noFill/>
        </p:spPr>
        <p:txBody>
          <a:bodyPr wrap="none" lIns="0" tIns="0" rIns="0" bIns="0" anchor="ctr">
            <a:noAutofit/>
          </a:bodyPr>
          <a:lstStyle/>
          <a:p>
            <a:pPr algn="l"/>
            <a:r>
              <a:rPr sz="1260" b="1" lang="id-ID">
                <a:solidFill>
                  <a:srgbClr val="1A1A1A"/>
                </a:solidFill>
                <a:latin typeface="Roboto"/>
              </a:rPr>
              <a:t>Delegasi Malaysia</a:t>
            </a:r>
          </a:p>
        </p:txBody>
      </p:sp>
      <p:sp>
        <p:nvSpPr>
          <p:cNvPr id="83" name="Oval 82"/>
          <p:cNvSpPr/>
          <p:nvPr/>
        </p:nvSpPr>
        <p:spPr>
          <a:xfrm>
            <a:off x="8690051" y="2027277"/>
            <a:ext cx="330200" cy="330200"/>
          </a:xfrm>
          <a:prstGeom prst="ellipse">
            <a:avLst/>
          </a:prstGeom>
          <a:solidFill>
            <a:srgbClr val="051C2C"/>
          </a:solidFill>
          <a:ln>
            <a:noFill/>
          </a:ln>
        </p:spPr>
        <p:txBody>
          <a:bodyPr rtlCol="0" anchor="ctr"/>
          <a:lstStyle/>
          <a:p>
            <a:pPr algn="ctr"/>
          </a:p>
        </p:txBody>
      </p:sp>
      <p:pic>
        <p:nvPicPr>
          <p:cNvPr id="84" name="Picture 83" descr="jiwa-FFFFFF-9b7037f5.png"/>
          <p:cNvPicPr>
            <a:picLocks noChangeAspect="1"/>
          </p:cNvPicPr>
          <p:nvPr/>
        </p:nvPicPr>
        <p:blipFill>
          <a:blip r:embed="rId9"/>
          <a:stretch>
            <a:fillRect/>
          </a:stretch>
        </p:blipFill>
        <p:spPr>
          <a:xfrm>
            <a:off x="8765997" y="2103223"/>
            <a:ext cx="178308" cy="178308"/>
          </a:xfrm>
          <a:prstGeom prst="rect">
            <a:avLst/>
          </a:prstGeom>
        </p:spPr>
      </p:pic>
      <p:sp>
        <p:nvSpPr>
          <p:cNvPr id="85" name="TextBox 84"/>
          <p:cNvSpPr txBox="1"/>
          <p:nvPr/>
        </p:nvSpPr>
        <p:spPr>
          <a:xfrm>
            <a:off x="9134551" y="1851065"/>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Encik Farzamie Sarkawi</a:t>
            </a:r>
            <a:br/>
            <a:r>
              <a:rPr sz="1380" b="0" lang="id-ID">
                <a:solidFill>
                  <a:srgbClr val="1A1A1A"/>
                </a:solidFill>
                <a:latin typeface="Roboto"/>
              </a:rPr>
              <a:t>Timbalan Ketua Perwakilan Malaysia.</a:t>
            </a:r>
          </a:p>
        </p:txBody>
      </p:sp>
      <p:cxnSp>
        <p:nvCxnSpPr>
          <p:cNvPr id="86" name="Connector 85"/>
          <p:cNvCxnSpPr/>
          <p:nvPr/>
        </p:nvCxnSpPr>
        <p:spPr>
          <a:xfrm>
            <a:off x="8690051" y="2543254"/>
            <a:ext cx="2826309" cy="0"/>
          </a:xfrm>
          <a:prstGeom prst="line">
            <a:avLst/>
          </a:prstGeom>
          <a:ln w="6350">
            <a:solidFill>
              <a:srgbClr val="E6EAF0"/>
            </a:solidFill>
          </a:ln>
        </p:spPr>
      </p:cxnSp>
      <p:sp>
        <p:nvSpPr>
          <p:cNvPr id="87" name="Oval 86"/>
          <p:cNvSpPr/>
          <p:nvPr/>
        </p:nvSpPr>
        <p:spPr>
          <a:xfrm>
            <a:off x="8690051" y="2729032"/>
            <a:ext cx="330200" cy="330200"/>
          </a:xfrm>
          <a:prstGeom prst="ellipse">
            <a:avLst/>
          </a:prstGeom>
          <a:solidFill>
            <a:srgbClr val="051C2C"/>
          </a:solidFill>
          <a:ln>
            <a:noFill/>
          </a:ln>
        </p:spPr>
        <p:txBody>
          <a:bodyPr rtlCol="0" anchor="ctr"/>
          <a:lstStyle/>
          <a:p>
            <a:pPr algn="ctr"/>
          </a:p>
        </p:txBody>
      </p:sp>
      <p:pic>
        <p:nvPicPr>
          <p:cNvPr id="88" name="Picture 87" descr="jiwa-FFFFFF-9b7037f5.png"/>
          <p:cNvPicPr>
            <a:picLocks noChangeAspect="1"/>
          </p:cNvPicPr>
          <p:nvPr/>
        </p:nvPicPr>
        <p:blipFill>
          <a:blip r:embed="rId9"/>
          <a:stretch>
            <a:fillRect/>
          </a:stretch>
        </p:blipFill>
        <p:spPr>
          <a:xfrm>
            <a:off x="8765997" y="2804978"/>
            <a:ext cx="178308" cy="178308"/>
          </a:xfrm>
          <a:prstGeom prst="rect">
            <a:avLst/>
          </a:prstGeom>
        </p:spPr>
      </p:pic>
      <p:sp>
        <p:nvSpPr>
          <p:cNvPr id="89" name="TextBox 88"/>
          <p:cNvSpPr txBox="1"/>
          <p:nvPr/>
        </p:nvSpPr>
        <p:spPr>
          <a:xfrm>
            <a:off x="9134551" y="2552819"/>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Puan Rosnita Hamzah</a:t>
            </a:r>
            <a:br/>
            <a:r>
              <a:rPr sz="1380" b="0" i="1" lang="id-ID">
                <a:solidFill>
                  <a:srgbClr val="1A1A1A"/>
                </a:solidFill>
                <a:latin typeface="Roboto"/>
              </a:rPr>
              <a:t>Counsellor</a:t>
            </a:r>
            <a:r>
              <a:rPr sz="1380" b="0" lang="id-ID">
                <a:solidFill>
                  <a:srgbClr val="1A1A1A"/>
                </a:solidFill>
                <a:latin typeface="Roboto"/>
              </a:rPr>
              <a:t> Kedutaan Besar Malaysia.</a:t>
            </a:r>
          </a:p>
        </p:txBody>
      </p:sp>
      <p:cxnSp>
        <p:nvCxnSpPr>
          <p:cNvPr id="90" name="Connector 89"/>
          <p:cNvCxnSpPr/>
          <p:nvPr/>
        </p:nvCxnSpPr>
        <p:spPr>
          <a:xfrm>
            <a:off x="8690051" y="3245009"/>
            <a:ext cx="2826309" cy="0"/>
          </a:xfrm>
          <a:prstGeom prst="line">
            <a:avLst/>
          </a:prstGeom>
          <a:ln w="6350">
            <a:solidFill>
              <a:srgbClr val="E6EAF0"/>
            </a:solidFill>
          </a:ln>
        </p:spPr>
      </p:cxnSp>
      <p:sp>
        <p:nvSpPr>
          <p:cNvPr id="91" name="Oval 90"/>
          <p:cNvSpPr/>
          <p:nvPr/>
        </p:nvSpPr>
        <p:spPr>
          <a:xfrm>
            <a:off x="8690051" y="3430786"/>
            <a:ext cx="330200" cy="330200"/>
          </a:xfrm>
          <a:prstGeom prst="ellipse">
            <a:avLst/>
          </a:prstGeom>
          <a:solidFill>
            <a:srgbClr val="051C2C"/>
          </a:solidFill>
          <a:ln>
            <a:noFill/>
          </a:ln>
        </p:spPr>
        <p:txBody>
          <a:bodyPr rtlCol="0" anchor="ctr"/>
          <a:lstStyle/>
          <a:p>
            <a:pPr algn="ctr"/>
          </a:p>
        </p:txBody>
      </p:sp>
      <p:pic>
        <p:nvPicPr>
          <p:cNvPr id="92" name="Picture 91" descr="wilayah-FFFFFF-37dca10c.png"/>
          <p:cNvPicPr>
            <a:picLocks noChangeAspect="1"/>
          </p:cNvPicPr>
          <p:nvPr/>
        </p:nvPicPr>
        <p:blipFill>
          <a:blip r:embed="rId7"/>
          <a:stretch>
            <a:fillRect/>
          </a:stretch>
        </p:blipFill>
        <p:spPr>
          <a:xfrm>
            <a:off x="8765997" y="3506732"/>
            <a:ext cx="178308" cy="178308"/>
          </a:xfrm>
          <a:prstGeom prst="rect">
            <a:avLst/>
          </a:prstGeom>
        </p:spPr>
      </p:pic>
      <p:sp>
        <p:nvSpPr>
          <p:cNvPr id="93" name="TextBox 92"/>
          <p:cNvSpPr txBox="1"/>
          <p:nvPr/>
        </p:nvSpPr>
        <p:spPr>
          <a:xfrm>
            <a:off x="9134551" y="3254573"/>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Tempat pertemuan</a:t>
            </a:r>
            <a:br/>
            <a:r>
              <a:rPr sz="1380" b="0" lang="id-ID">
                <a:solidFill>
                  <a:srgbClr val="1A1A1A"/>
                </a:solidFill>
                <a:latin typeface="Roboto"/>
              </a:rPr>
              <a:t>Ruang Multimedia Graha BNPB.</a:t>
            </a:r>
          </a:p>
        </p:txBody>
      </p:sp>
      <p:cxnSp>
        <p:nvCxnSpPr>
          <p:cNvPr id="94" name="Connector 93"/>
          <p:cNvCxnSpPr/>
          <p:nvPr/>
        </p:nvCxnSpPr>
        <p:spPr>
          <a:xfrm>
            <a:off x="8690051" y="3946763"/>
            <a:ext cx="2826309" cy="0"/>
          </a:xfrm>
          <a:prstGeom prst="line">
            <a:avLst/>
          </a:prstGeom>
          <a:ln w="6350">
            <a:solidFill>
              <a:srgbClr val="E6EAF0"/>
            </a:solidFill>
          </a:ln>
        </p:spPr>
      </p:cxnSp>
      <p:sp>
        <p:nvSpPr>
          <p:cNvPr id="95" name="Oval 94"/>
          <p:cNvSpPr/>
          <p:nvPr/>
        </p:nvSpPr>
        <p:spPr>
          <a:xfrm>
            <a:off x="8690051" y="4132540"/>
            <a:ext cx="330200" cy="330200"/>
          </a:xfrm>
          <a:prstGeom prst="ellipse">
            <a:avLst/>
          </a:prstGeom>
          <a:solidFill>
            <a:srgbClr val="051C2C"/>
          </a:solidFill>
          <a:ln>
            <a:noFill/>
          </a:ln>
        </p:spPr>
        <p:txBody>
          <a:bodyPr rtlCol="0" anchor="ctr"/>
          <a:lstStyle/>
          <a:p>
            <a:pPr algn="ctr"/>
          </a:p>
        </p:txBody>
      </p:sp>
      <p:pic>
        <p:nvPicPr>
          <p:cNvPr id="96" name="Picture 95" descr="regulasi-FFFFFF-e639fe9a.png"/>
          <p:cNvPicPr>
            <a:picLocks noChangeAspect="1"/>
          </p:cNvPicPr>
          <p:nvPr/>
        </p:nvPicPr>
        <p:blipFill>
          <a:blip r:embed="rId10"/>
          <a:stretch>
            <a:fillRect/>
          </a:stretch>
        </p:blipFill>
        <p:spPr>
          <a:xfrm>
            <a:off x="8765997" y="4208486"/>
            <a:ext cx="178308" cy="178308"/>
          </a:xfrm>
          <a:prstGeom prst="rect">
            <a:avLst/>
          </a:prstGeom>
        </p:spPr>
      </p:pic>
      <p:sp>
        <p:nvSpPr>
          <p:cNvPr id="97" name="TextBox 96"/>
          <p:cNvSpPr txBox="1"/>
          <p:nvPr/>
        </p:nvSpPr>
        <p:spPr>
          <a:xfrm>
            <a:off x="9134551" y="3956328"/>
            <a:ext cx="2280209" cy="682625"/>
          </a:xfrm>
          <a:prstGeom prst="rect">
            <a:avLst/>
          </a:prstGeom>
          <a:noFill/>
        </p:spPr>
        <p:txBody>
          <a:bodyPr wrap="square" lIns="0" tIns="0" rIns="0" bIns="0" anchor="ctr">
            <a:noAutofit/>
          </a:bodyPr>
          <a:lstStyle/>
          <a:p>
            <a:pPr algn="l"/>
            <a:r>
              <a:rPr sz="1380" b="1" lang="id-ID">
                <a:solidFill>
                  <a:srgbClr val="1A1A1A"/>
                </a:solidFill>
                <a:latin typeface="Roboto"/>
              </a:rPr>
              <a:t>Kementerian Luar Negeri</a:t>
            </a:r>
            <a:br/>
            <a:r>
              <a:rPr sz="1380" b="0" lang="id-ID">
                <a:solidFill>
                  <a:srgbClr val="1A1A1A"/>
                </a:solidFill>
                <a:latin typeface="Roboto"/>
              </a:rPr>
              <a:t>Memfasilitasi koordinasi kedua pihak dengan BNPB.</a:t>
            </a:r>
          </a:p>
        </p:txBody>
      </p:sp>
      <p:sp>
        <p:nvSpPr>
          <p:cNvPr id="98" name="Rectangle 97"/>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99" name="TextBox 98"/>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BNPB dan Kementerian Luar Negeri, Oktober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642600" cy="825500"/>
          </a:xfrm>
          <a:prstGeom prst="rect">
            <a:avLst/>
          </a:prstGeom>
          <a:noFill/>
        </p:spPr>
        <p:txBody>
          <a:bodyPr wrap="square" lIns="0" tIns="0" rIns="0" bIns="0" anchor="b">
            <a:noAutofit/>
          </a:bodyPr>
          <a:lstStyle/>
          <a:p>
            <a:pPr algn="l">
              <a:lnSpc>
                <a:spcPct val="95000"/>
              </a:lnSpc>
            </a:pPr>
            <a:r>
              <a:rPr sz="2200" b="1" lang="id-ID">
                <a:solidFill>
                  <a:srgbClr val="1A1A1A"/>
                </a:solidFill>
                <a:latin typeface="Roboto"/>
              </a:rPr>
              <a:t>BNPB menangani</a:t>
            </a:r>
            <a:r>
              <a:rPr sz="2200" b="1" lang="id-ID">
                <a:solidFill>
                  <a:srgbClr val="D9600B"/>
                </a:solidFill>
                <a:latin typeface="Roboto"/>
              </a:rPr>
              <a:t> 2.299 kejadian</a:t>
            </a:r>
            <a:r>
              <a:rPr sz="2200" b="1" lang="id-ID">
                <a:solidFill>
                  <a:srgbClr val="1A1A1A"/>
                </a:solidFill>
                <a:latin typeface="Roboto"/>
              </a:rPr>
              <a:t> bencana sepanjang 2026; karhutla menyumbang</a:t>
            </a:r>
            <a:br/>
            <a:r>
              <a:rPr sz="2200" b="1" lang="id-ID">
                <a:solidFill>
                  <a:srgbClr val="D9600B"/>
                </a:solidFill>
                <a:latin typeface="Roboto"/>
              </a:rPr>
              <a:t>1.024 kejadian</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4</a:t>
            </a:r>
          </a:p>
        </p:txBody>
      </p:sp>
      <p:sp>
        <p:nvSpPr>
          <p:cNvPr id="8" name="Rounded Rectangle 7"/>
          <p:cNvSpPr/>
          <p:nvPr/>
        </p:nvSpPr>
        <p:spPr>
          <a:xfrm>
            <a:off x="548640" y="1282700"/>
            <a:ext cx="11094720" cy="927100"/>
          </a:xfrm>
          <a:prstGeom prst="roundRect">
            <a:avLst>
              <a:gd name="adj" fmla="val 7945"/>
            </a:avLst>
          </a:prstGeom>
          <a:solidFill>
            <a:srgbClr val="F3F5F8"/>
          </a:solidFill>
          <a:ln>
            <a:noFill/>
          </a:ln>
        </p:spPr>
        <p:txBody>
          <a:bodyPr rtlCol="0" anchor="ctr"/>
          <a:lstStyle/>
          <a:p>
            <a:pPr algn="ctr"/>
          </a:p>
        </p:txBody>
      </p:sp>
      <p:sp>
        <p:nvSpPr>
          <p:cNvPr id="9" name="Rounded Rectangle 8"/>
          <p:cNvSpPr/>
          <p:nvPr/>
        </p:nvSpPr>
        <p:spPr>
          <a:xfrm>
            <a:off x="658368" y="1337310"/>
            <a:ext cx="1194298" cy="182880"/>
          </a:xfrm>
          <a:prstGeom prst="roundRect">
            <a:avLst>
              <a:gd name="adj" fmla="val 50000"/>
            </a:avLst>
          </a:prstGeom>
          <a:solidFill>
            <a:srgbClr val="051C2C"/>
          </a:solidFill>
          <a:ln>
            <a:noFill/>
          </a:ln>
        </p:spPr>
        <p:txBody>
          <a:bodyPr rtlCol="0" anchor="ctr" wrap="none" lIns="259690" tIns="0" rIns="0" bIns="0">
            <a:noAutofit/>
          </a:bodyPr>
          <a:lstStyle/>
          <a:p>
            <a:pPr algn="l"/>
            <a:r>
              <a:rPr sz="760" b="1" lang="id-ID" spc="100">
                <a:solidFill>
                  <a:srgbClr val="FFFFFF"/>
                </a:solidFill>
                <a:latin typeface="Roboto"/>
              </a:rPr>
              <a:t>BENCANA 2026</a:t>
            </a:r>
          </a:p>
        </p:txBody>
      </p:sp>
      <p:pic>
        <p:nvPicPr>
          <p:cNvPr id="10" name="Picture 9" descr="data-FFFFFF-608a1e16.png"/>
          <p:cNvPicPr>
            <a:picLocks noChangeAspect="1"/>
          </p:cNvPicPr>
          <p:nvPr/>
        </p:nvPicPr>
        <p:blipFill>
          <a:blip r:embed="rId3"/>
          <a:stretch>
            <a:fillRect/>
          </a:stretch>
        </p:blipFill>
        <p:spPr>
          <a:xfrm>
            <a:off x="749808" y="1372057"/>
            <a:ext cx="113386" cy="113386"/>
          </a:xfrm>
          <a:prstGeom prst="rect">
            <a:avLst/>
          </a:prstGeom>
        </p:spPr>
      </p:pic>
      <p:sp>
        <p:nvSpPr>
          <p:cNvPr id="11" name="Rounded Rectangle 10"/>
          <p:cNvSpPr/>
          <p:nvPr/>
        </p:nvSpPr>
        <p:spPr>
          <a:xfrm>
            <a:off x="658368" y="1593850"/>
            <a:ext cx="3564128"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2" name="Oval 11"/>
          <p:cNvSpPr/>
          <p:nvPr/>
        </p:nvSpPr>
        <p:spPr>
          <a:xfrm>
            <a:off x="767588" y="1682750"/>
            <a:ext cx="330200" cy="330200"/>
          </a:xfrm>
          <a:prstGeom prst="ellipse">
            <a:avLst/>
          </a:prstGeom>
          <a:solidFill>
            <a:srgbClr val="E6EAF0"/>
          </a:solidFill>
          <a:ln>
            <a:noFill/>
          </a:ln>
        </p:spPr>
        <p:txBody>
          <a:bodyPr rtlCol="0" anchor="ctr"/>
          <a:lstStyle/>
          <a:p>
            <a:pPr algn="ctr"/>
          </a:p>
        </p:txBody>
      </p:sp>
      <p:pic>
        <p:nvPicPr>
          <p:cNvPr id="13" name="Picture 12" descr="jiwa-051C2C-9b7037f5.png"/>
          <p:cNvPicPr>
            <a:picLocks noChangeAspect="1"/>
          </p:cNvPicPr>
          <p:nvPr/>
        </p:nvPicPr>
        <p:blipFill>
          <a:blip r:embed="rId4"/>
          <a:stretch>
            <a:fillRect/>
          </a:stretch>
        </p:blipFill>
        <p:spPr>
          <a:xfrm>
            <a:off x="843788" y="1758950"/>
            <a:ext cx="177800" cy="177800"/>
          </a:xfrm>
          <a:prstGeom prst="rect">
            <a:avLst/>
          </a:prstGeom>
        </p:spPr>
      </p:pic>
      <p:sp>
        <p:nvSpPr>
          <p:cNvPr id="14" name="TextBox 13"/>
          <p:cNvSpPr txBox="1"/>
          <p:nvPr/>
        </p:nvSpPr>
        <p:spPr>
          <a:xfrm>
            <a:off x="1170178" y="1630680"/>
            <a:ext cx="2943098" cy="274320"/>
          </a:xfrm>
          <a:prstGeom prst="rect">
            <a:avLst/>
          </a:prstGeom>
          <a:noFill/>
        </p:spPr>
        <p:txBody>
          <a:bodyPr wrap="none" lIns="0" tIns="0" rIns="0" bIns="0" anchor="ctr">
            <a:noAutofit/>
          </a:bodyPr>
          <a:lstStyle/>
          <a:p>
            <a:pPr algn="l"/>
            <a:r>
              <a:rPr sz="1950" b="1" lang="id-ID">
                <a:solidFill>
                  <a:srgbClr val="051C2C"/>
                </a:solidFill>
                <a:latin typeface="Roboto"/>
              </a:rPr>
              <a:t>548</a:t>
            </a:r>
          </a:p>
        </p:txBody>
      </p:sp>
      <p:sp>
        <p:nvSpPr>
          <p:cNvPr id="15" name="TextBox 14"/>
          <p:cNvSpPr txBox="1"/>
          <p:nvPr/>
        </p:nvSpPr>
        <p:spPr>
          <a:xfrm>
            <a:off x="1170178" y="1896110"/>
            <a:ext cx="2943098" cy="154940"/>
          </a:xfrm>
          <a:prstGeom prst="rect">
            <a:avLst/>
          </a:prstGeom>
          <a:noFill/>
        </p:spPr>
        <p:txBody>
          <a:bodyPr wrap="none" lIns="0" tIns="0" rIns="0" bIns="0" anchor="ctr">
            <a:noAutofit/>
          </a:bodyPr>
          <a:lstStyle/>
          <a:p>
            <a:pPr algn="l"/>
            <a:r>
              <a:rPr sz="860" b="0" lang="id-ID">
                <a:solidFill>
                  <a:srgbClr val="2E3440"/>
                </a:solidFill>
                <a:latin typeface="Roboto"/>
              </a:rPr>
              <a:t>korban jiwa</a:t>
            </a:r>
          </a:p>
        </p:txBody>
      </p:sp>
      <p:sp>
        <p:nvSpPr>
          <p:cNvPr id="16" name="Rounded Rectangle 15"/>
          <p:cNvSpPr/>
          <p:nvPr/>
        </p:nvSpPr>
        <p:spPr>
          <a:xfrm>
            <a:off x="4313936" y="1593850"/>
            <a:ext cx="3564128"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7" name="Oval 16"/>
          <p:cNvSpPr/>
          <p:nvPr/>
        </p:nvSpPr>
        <p:spPr>
          <a:xfrm>
            <a:off x="4423156" y="1682750"/>
            <a:ext cx="330200" cy="330200"/>
          </a:xfrm>
          <a:prstGeom prst="ellipse">
            <a:avLst/>
          </a:prstGeom>
          <a:solidFill>
            <a:srgbClr val="E6EAF0"/>
          </a:solidFill>
          <a:ln>
            <a:noFill/>
          </a:ln>
        </p:spPr>
        <p:txBody>
          <a:bodyPr rtlCol="0" anchor="ctr"/>
          <a:lstStyle/>
          <a:p>
            <a:pPr algn="ctr"/>
          </a:p>
        </p:txBody>
      </p:sp>
      <p:pic>
        <p:nvPicPr>
          <p:cNvPr id="18" name="Picture 17" descr="pengungsi-051C2C-65a2f721.png"/>
          <p:cNvPicPr>
            <a:picLocks noChangeAspect="1"/>
          </p:cNvPicPr>
          <p:nvPr/>
        </p:nvPicPr>
        <p:blipFill>
          <a:blip r:embed="rId5"/>
          <a:stretch>
            <a:fillRect/>
          </a:stretch>
        </p:blipFill>
        <p:spPr>
          <a:xfrm>
            <a:off x="4499356" y="1758950"/>
            <a:ext cx="177800" cy="177800"/>
          </a:xfrm>
          <a:prstGeom prst="rect">
            <a:avLst/>
          </a:prstGeom>
        </p:spPr>
      </p:pic>
      <p:sp>
        <p:nvSpPr>
          <p:cNvPr id="19" name="TextBox 18"/>
          <p:cNvSpPr txBox="1"/>
          <p:nvPr/>
        </p:nvSpPr>
        <p:spPr>
          <a:xfrm>
            <a:off x="4825746" y="1630680"/>
            <a:ext cx="2943098" cy="274320"/>
          </a:xfrm>
          <a:prstGeom prst="rect">
            <a:avLst/>
          </a:prstGeom>
          <a:noFill/>
        </p:spPr>
        <p:txBody>
          <a:bodyPr wrap="none" lIns="0" tIns="0" rIns="0" bIns="0" anchor="ctr">
            <a:noAutofit/>
          </a:bodyPr>
          <a:lstStyle/>
          <a:p>
            <a:pPr algn="l"/>
            <a:r>
              <a:rPr sz="1950" b="1" lang="id-ID">
                <a:solidFill>
                  <a:srgbClr val="051C2C"/>
                </a:solidFill>
                <a:latin typeface="Roboto"/>
              </a:rPr>
              <a:t>252.438</a:t>
            </a:r>
          </a:p>
        </p:txBody>
      </p:sp>
      <p:sp>
        <p:nvSpPr>
          <p:cNvPr id="20" name="TextBox 19"/>
          <p:cNvSpPr txBox="1"/>
          <p:nvPr/>
        </p:nvSpPr>
        <p:spPr>
          <a:xfrm>
            <a:off x="4825746" y="1896110"/>
            <a:ext cx="2943098" cy="154940"/>
          </a:xfrm>
          <a:prstGeom prst="rect">
            <a:avLst/>
          </a:prstGeom>
          <a:noFill/>
        </p:spPr>
        <p:txBody>
          <a:bodyPr wrap="none" lIns="0" tIns="0" rIns="0" bIns="0" anchor="ctr">
            <a:noAutofit/>
          </a:bodyPr>
          <a:lstStyle/>
          <a:p>
            <a:pPr algn="l"/>
            <a:r>
              <a:rPr sz="860" b="0" lang="id-ID">
                <a:solidFill>
                  <a:srgbClr val="2E3440"/>
                </a:solidFill>
                <a:latin typeface="Roboto"/>
              </a:rPr>
              <a:t>jiwa mengungsi</a:t>
            </a:r>
          </a:p>
        </p:txBody>
      </p:sp>
      <p:sp>
        <p:nvSpPr>
          <p:cNvPr id="21" name="Rounded Rectangle 20"/>
          <p:cNvSpPr/>
          <p:nvPr/>
        </p:nvSpPr>
        <p:spPr>
          <a:xfrm>
            <a:off x="7969504" y="1593850"/>
            <a:ext cx="3564128"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22" name="Oval 21"/>
          <p:cNvSpPr/>
          <p:nvPr/>
        </p:nvSpPr>
        <p:spPr>
          <a:xfrm>
            <a:off x="8078724" y="1682750"/>
            <a:ext cx="330200" cy="330200"/>
          </a:xfrm>
          <a:prstGeom prst="ellipse">
            <a:avLst/>
          </a:prstGeom>
          <a:solidFill>
            <a:srgbClr val="E6EAF0"/>
          </a:solidFill>
          <a:ln>
            <a:noFill/>
          </a:ln>
        </p:spPr>
        <p:txBody>
          <a:bodyPr rtlCol="0" anchor="ctr"/>
          <a:lstStyle/>
          <a:p>
            <a:pPr algn="ctr"/>
          </a:p>
        </p:txBody>
      </p:sp>
      <p:pic>
        <p:nvPicPr>
          <p:cNvPr id="23" name="Picture 22" descr="rumah-051C2C-320df645.png"/>
          <p:cNvPicPr>
            <a:picLocks noChangeAspect="1"/>
          </p:cNvPicPr>
          <p:nvPr/>
        </p:nvPicPr>
        <p:blipFill>
          <a:blip r:embed="rId6"/>
          <a:stretch>
            <a:fillRect/>
          </a:stretch>
        </p:blipFill>
        <p:spPr>
          <a:xfrm>
            <a:off x="8154924" y="1758950"/>
            <a:ext cx="177800" cy="177800"/>
          </a:xfrm>
          <a:prstGeom prst="rect">
            <a:avLst/>
          </a:prstGeom>
        </p:spPr>
      </p:pic>
      <p:sp>
        <p:nvSpPr>
          <p:cNvPr id="24" name="TextBox 23"/>
          <p:cNvSpPr txBox="1"/>
          <p:nvPr/>
        </p:nvSpPr>
        <p:spPr>
          <a:xfrm>
            <a:off x="8481314" y="1630680"/>
            <a:ext cx="2943098" cy="274320"/>
          </a:xfrm>
          <a:prstGeom prst="rect">
            <a:avLst/>
          </a:prstGeom>
          <a:noFill/>
        </p:spPr>
        <p:txBody>
          <a:bodyPr wrap="none" lIns="0" tIns="0" rIns="0" bIns="0" anchor="ctr">
            <a:noAutofit/>
          </a:bodyPr>
          <a:lstStyle/>
          <a:p>
            <a:pPr algn="l"/>
            <a:r>
              <a:rPr sz="1950" b="1" lang="id-ID">
                <a:solidFill>
                  <a:srgbClr val="051C2C"/>
                </a:solidFill>
                <a:latin typeface="Roboto"/>
              </a:rPr>
              <a:t>165.564</a:t>
            </a:r>
          </a:p>
        </p:txBody>
      </p:sp>
      <p:sp>
        <p:nvSpPr>
          <p:cNvPr id="25" name="TextBox 24"/>
          <p:cNvSpPr txBox="1"/>
          <p:nvPr/>
        </p:nvSpPr>
        <p:spPr>
          <a:xfrm>
            <a:off x="8481314" y="1896110"/>
            <a:ext cx="2943098" cy="154940"/>
          </a:xfrm>
          <a:prstGeom prst="rect">
            <a:avLst/>
          </a:prstGeom>
          <a:noFill/>
        </p:spPr>
        <p:txBody>
          <a:bodyPr wrap="none" lIns="0" tIns="0" rIns="0" bIns="0" anchor="ctr">
            <a:noAutofit/>
          </a:bodyPr>
          <a:lstStyle/>
          <a:p>
            <a:pPr algn="l"/>
            <a:r>
              <a:rPr sz="860" b="0" lang="id-ID">
                <a:solidFill>
                  <a:srgbClr val="2E3440"/>
                </a:solidFill>
                <a:latin typeface="Roboto"/>
              </a:rPr>
              <a:t>rumah rusak</a:t>
            </a:r>
          </a:p>
        </p:txBody>
      </p:sp>
      <p:sp>
        <p:nvSpPr>
          <p:cNvPr id="26" name="Rounded Rectangle 25"/>
          <p:cNvSpPr/>
          <p:nvPr/>
        </p:nvSpPr>
        <p:spPr>
          <a:xfrm>
            <a:off x="548640" y="2346960"/>
            <a:ext cx="11094720" cy="3736340"/>
          </a:xfrm>
          <a:prstGeom prst="roundRect">
            <a:avLst>
              <a:gd name="adj" fmla="val 1461"/>
            </a:avLst>
          </a:prstGeom>
          <a:solidFill>
            <a:srgbClr val="FFFFFF"/>
          </a:solidFill>
          <a:ln>
            <a:noFill/>
          </a:ln>
        </p:spPr>
        <p:txBody>
          <a:bodyPr rtlCol="0" anchor="ctr"/>
          <a:lstStyle/>
          <a:p>
            <a:pPr algn="ctr"/>
          </a:p>
        </p:txBody>
      </p:sp>
      <p:sp>
        <p:nvSpPr>
          <p:cNvPr id="27" name="Rounded Rectangle 26"/>
          <p:cNvSpPr/>
          <p:nvPr/>
        </p:nvSpPr>
        <p:spPr>
          <a:xfrm>
            <a:off x="548640" y="2346960"/>
            <a:ext cx="11094720" cy="457200"/>
          </a:xfrm>
          <a:prstGeom prst="roundRect">
            <a:avLst>
              <a:gd name="adj" fmla="val 11944"/>
            </a:avLst>
          </a:prstGeom>
          <a:solidFill>
            <a:srgbClr val="E6EAF0"/>
          </a:solidFill>
          <a:ln>
            <a:noFill/>
          </a:ln>
        </p:spPr>
        <p:txBody>
          <a:bodyPr rtlCol="0" anchor="ctr"/>
          <a:lstStyle/>
          <a:p>
            <a:pPr algn="ctr"/>
          </a:p>
        </p:txBody>
      </p:sp>
      <p:sp>
        <p:nvSpPr>
          <p:cNvPr id="28" name="Rectangle 27"/>
          <p:cNvSpPr/>
          <p:nvPr/>
        </p:nvSpPr>
        <p:spPr>
          <a:xfrm>
            <a:off x="548640" y="2575560"/>
            <a:ext cx="11094720" cy="228600"/>
          </a:xfrm>
          <a:prstGeom prst="rect">
            <a:avLst/>
          </a:prstGeom>
          <a:solidFill>
            <a:srgbClr val="E6EAF0"/>
          </a:solidFill>
          <a:ln>
            <a:noFill/>
          </a:ln>
        </p:spPr>
        <p:txBody>
          <a:bodyPr rtlCol="0" anchor="ctr"/>
          <a:lstStyle/>
          <a:p>
            <a:pPr algn="ctr"/>
          </a:p>
        </p:txBody>
      </p:sp>
      <p:sp>
        <p:nvSpPr>
          <p:cNvPr id="29" name="Rounded Rectangle 28"/>
          <p:cNvSpPr/>
          <p:nvPr/>
        </p:nvSpPr>
        <p:spPr>
          <a:xfrm>
            <a:off x="548640" y="2346960"/>
            <a:ext cx="11094720" cy="3736340"/>
          </a:xfrm>
          <a:prstGeom prst="roundRect">
            <a:avLst>
              <a:gd name="adj" fmla="val 1461"/>
            </a:avLst>
          </a:prstGeom>
          <a:noFill/>
          <a:ln w="9525">
            <a:solidFill>
              <a:srgbClr val="BFC5CC"/>
            </a:solidFill>
          </a:ln>
        </p:spPr>
        <p:txBody>
          <a:bodyPr rtlCol="0" anchor="ctr"/>
          <a:lstStyle/>
          <a:p>
            <a:pPr algn="ctr"/>
          </a:p>
        </p:txBody>
      </p:sp>
      <p:sp>
        <p:nvSpPr>
          <p:cNvPr id="30" name="Oval 29"/>
          <p:cNvSpPr/>
          <p:nvPr/>
        </p:nvSpPr>
        <p:spPr>
          <a:xfrm>
            <a:off x="675640" y="2429510"/>
            <a:ext cx="292100" cy="292100"/>
          </a:xfrm>
          <a:prstGeom prst="ellipse">
            <a:avLst/>
          </a:prstGeom>
          <a:solidFill>
            <a:srgbClr val="051C2C"/>
          </a:solidFill>
          <a:ln>
            <a:noFill/>
          </a:ln>
        </p:spPr>
        <p:txBody>
          <a:bodyPr rtlCol="0" anchor="ctr"/>
          <a:lstStyle/>
          <a:p>
            <a:pPr algn="ctr"/>
          </a:p>
        </p:txBody>
      </p:sp>
      <p:pic>
        <p:nvPicPr>
          <p:cNvPr id="31" name="Picture 30" descr="data-FFFFFF-608a1e16.png"/>
          <p:cNvPicPr>
            <a:picLocks noChangeAspect="1"/>
          </p:cNvPicPr>
          <p:nvPr/>
        </p:nvPicPr>
        <p:blipFill>
          <a:blip r:embed="rId3"/>
          <a:stretch>
            <a:fillRect/>
          </a:stretch>
        </p:blipFill>
        <p:spPr>
          <a:xfrm>
            <a:off x="732790" y="2486660"/>
            <a:ext cx="177800" cy="177800"/>
          </a:xfrm>
          <a:prstGeom prst="rect">
            <a:avLst/>
          </a:prstGeom>
        </p:spPr>
      </p:pic>
      <p:sp>
        <p:nvSpPr>
          <p:cNvPr id="32" name="TextBox 31"/>
          <p:cNvSpPr txBox="1"/>
          <p:nvPr/>
        </p:nvSpPr>
        <p:spPr>
          <a:xfrm>
            <a:off x="1056640" y="2346960"/>
            <a:ext cx="10332720" cy="457200"/>
          </a:xfrm>
          <a:prstGeom prst="rect">
            <a:avLst/>
          </a:prstGeom>
          <a:noFill/>
        </p:spPr>
        <p:txBody>
          <a:bodyPr wrap="none" lIns="0" tIns="0" rIns="0" bIns="0" anchor="ctr">
            <a:noAutofit/>
          </a:bodyPr>
          <a:lstStyle/>
          <a:p>
            <a:pPr algn="l"/>
            <a:r>
              <a:rPr sz="1260" b="1" lang="id-ID">
                <a:solidFill>
                  <a:srgbClr val="1A1A1A"/>
                </a:solidFill>
                <a:latin typeface="Roboto"/>
              </a:rPr>
              <a:t>Bencana alam 2026 per jenis dan porsinya</a:t>
            </a:r>
          </a:p>
        </p:txBody>
      </p:sp>
      <p:sp>
        <p:nvSpPr>
          <p:cNvPr id="33" name="TextBox 32"/>
          <p:cNvSpPr txBox="1"/>
          <p:nvPr/>
        </p:nvSpPr>
        <p:spPr>
          <a:xfrm>
            <a:off x="951230" y="2905760"/>
            <a:ext cx="4285488" cy="210820"/>
          </a:xfrm>
          <a:prstGeom prst="rect">
            <a:avLst/>
          </a:prstGeom>
          <a:noFill/>
        </p:spPr>
        <p:txBody>
          <a:bodyPr wrap="none" lIns="0" tIns="0" rIns="0" bIns="0" anchor="ctr">
            <a:noAutofit/>
          </a:bodyPr>
          <a:lstStyle/>
          <a:p>
            <a:pPr algn="ctr"/>
            <a:r>
              <a:rPr sz="750" b="1" lang="id-ID" spc="80">
                <a:solidFill>
                  <a:srgbClr val="6B7280"/>
                </a:solidFill>
                <a:latin typeface="Roboto"/>
              </a:rPr>
              <a:t>JENIS</a:t>
            </a:r>
          </a:p>
        </p:txBody>
      </p:sp>
      <p:sp>
        <p:nvSpPr>
          <p:cNvPr id="34" name="TextBox 33"/>
          <p:cNvSpPr txBox="1"/>
          <p:nvPr/>
        </p:nvSpPr>
        <p:spPr>
          <a:xfrm>
            <a:off x="5287518" y="2905760"/>
            <a:ext cx="1074874" cy="210820"/>
          </a:xfrm>
          <a:prstGeom prst="rect">
            <a:avLst/>
          </a:prstGeom>
          <a:noFill/>
        </p:spPr>
        <p:txBody>
          <a:bodyPr wrap="none" lIns="0" tIns="0" rIns="0" bIns="0" anchor="ctr">
            <a:noAutofit/>
          </a:bodyPr>
          <a:lstStyle/>
          <a:p>
            <a:pPr algn="ctr"/>
            <a:r>
              <a:rPr sz="750" b="1" lang="id-ID" spc="80">
                <a:solidFill>
                  <a:srgbClr val="6B7280"/>
                </a:solidFill>
                <a:latin typeface="Roboto"/>
              </a:rPr>
              <a:t>KEJADIAN</a:t>
            </a:r>
          </a:p>
        </p:txBody>
      </p:sp>
      <p:sp>
        <p:nvSpPr>
          <p:cNvPr id="35" name="TextBox 34"/>
          <p:cNvSpPr txBox="1"/>
          <p:nvPr/>
        </p:nvSpPr>
        <p:spPr>
          <a:xfrm>
            <a:off x="6463992" y="2905760"/>
            <a:ext cx="857140" cy="210820"/>
          </a:xfrm>
          <a:prstGeom prst="rect">
            <a:avLst/>
          </a:prstGeom>
          <a:noFill/>
        </p:spPr>
        <p:txBody>
          <a:bodyPr wrap="none" lIns="0" tIns="0" rIns="0" bIns="0" anchor="ctr">
            <a:noAutofit/>
          </a:bodyPr>
          <a:lstStyle/>
          <a:p>
            <a:pPr algn="ctr"/>
            <a:r>
              <a:rPr sz="750" b="1" lang="id-ID" spc="80">
                <a:solidFill>
                  <a:srgbClr val="6B7280"/>
                </a:solidFill>
                <a:latin typeface="Roboto"/>
              </a:rPr>
              <a:t>%</a:t>
            </a:r>
          </a:p>
        </p:txBody>
      </p:sp>
      <p:sp>
        <p:nvSpPr>
          <p:cNvPr id="36" name="TextBox 35"/>
          <p:cNvSpPr txBox="1"/>
          <p:nvPr/>
        </p:nvSpPr>
        <p:spPr>
          <a:xfrm>
            <a:off x="7422732" y="2905760"/>
            <a:ext cx="1284227" cy="210820"/>
          </a:xfrm>
          <a:prstGeom prst="rect">
            <a:avLst/>
          </a:prstGeom>
          <a:noFill/>
        </p:spPr>
        <p:txBody>
          <a:bodyPr wrap="none" lIns="0" tIns="0" rIns="0" bIns="0" anchor="ctr">
            <a:noAutofit/>
          </a:bodyPr>
          <a:lstStyle/>
          <a:p>
            <a:pPr algn="ctr"/>
            <a:r>
              <a:rPr sz="750" b="1" lang="id-ID" spc="80">
                <a:solidFill>
                  <a:srgbClr val="6B7280"/>
                </a:solidFill>
                <a:latin typeface="Roboto"/>
              </a:rPr>
              <a:t>KORBAN JIWA</a:t>
            </a:r>
          </a:p>
        </p:txBody>
      </p:sp>
      <p:sp>
        <p:nvSpPr>
          <p:cNvPr id="37" name="TextBox 36"/>
          <p:cNvSpPr txBox="1"/>
          <p:nvPr/>
        </p:nvSpPr>
        <p:spPr>
          <a:xfrm>
            <a:off x="8808559" y="2905760"/>
            <a:ext cx="1182982" cy="210820"/>
          </a:xfrm>
          <a:prstGeom prst="rect">
            <a:avLst/>
          </a:prstGeom>
          <a:noFill/>
        </p:spPr>
        <p:txBody>
          <a:bodyPr wrap="none" lIns="0" tIns="0" rIns="0" bIns="0" anchor="ctr">
            <a:noAutofit/>
          </a:bodyPr>
          <a:lstStyle/>
          <a:p>
            <a:pPr algn="ctr"/>
            <a:r>
              <a:rPr sz="750" b="1" lang="id-ID" spc="80">
                <a:solidFill>
                  <a:srgbClr val="6B7280"/>
                </a:solidFill>
                <a:latin typeface="Roboto"/>
              </a:rPr>
              <a:t>MENGUNGSI</a:t>
            </a:r>
          </a:p>
        </p:txBody>
      </p:sp>
      <p:sp>
        <p:nvSpPr>
          <p:cNvPr id="38" name="TextBox 37"/>
          <p:cNvSpPr txBox="1"/>
          <p:nvPr/>
        </p:nvSpPr>
        <p:spPr>
          <a:xfrm>
            <a:off x="10093140" y="2905760"/>
            <a:ext cx="1321620" cy="210820"/>
          </a:xfrm>
          <a:prstGeom prst="rect">
            <a:avLst/>
          </a:prstGeom>
          <a:noFill/>
        </p:spPr>
        <p:txBody>
          <a:bodyPr wrap="none" lIns="0" tIns="0" rIns="0" bIns="0" anchor="ctr">
            <a:noAutofit/>
          </a:bodyPr>
          <a:lstStyle/>
          <a:p>
            <a:pPr algn="ctr"/>
            <a:r>
              <a:rPr sz="750" b="1" lang="id-ID" spc="80">
                <a:solidFill>
                  <a:srgbClr val="6B7280"/>
                </a:solidFill>
                <a:latin typeface="Roboto"/>
              </a:rPr>
              <a:t>RUMAH RUSAK</a:t>
            </a:r>
          </a:p>
        </p:txBody>
      </p:sp>
      <p:cxnSp>
        <p:nvCxnSpPr>
          <p:cNvPr id="39" name="Connector 38"/>
          <p:cNvCxnSpPr/>
          <p:nvPr/>
        </p:nvCxnSpPr>
        <p:spPr>
          <a:xfrm>
            <a:off x="675640" y="3116580"/>
            <a:ext cx="10840720" cy="0"/>
          </a:xfrm>
          <a:prstGeom prst="line">
            <a:avLst/>
          </a:prstGeom>
          <a:ln w="9525">
            <a:solidFill>
              <a:srgbClr val="1A1A1A"/>
            </a:solidFill>
          </a:ln>
        </p:spPr>
      </p:cxnSp>
      <p:sp>
        <p:nvSpPr>
          <p:cNvPr id="40" name="Oval 39"/>
          <p:cNvSpPr/>
          <p:nvPr/>
        </p:nvSpPr>
        <p:spPr>
          <a:xfrm>
            <a:off x="675640" y="3189605"/>
            <a:ext cx="173990" cy="173990"/>
          </a:xfrm>
          <a:prstGeom prst="ellipse">
            <a:avLst/>
          </a:prstGeom>
          <a:solidFill>
            <a:srgbClr val="051C2C"/>
          </a:solidFill>
          <a:ln>
            <a:noFill/>
          </a:ln>
        </p:spPr>
        <p:txBody>
          <a:bodyPr rtlCol="0" anchor="ctr"/>
          <a:lstStyle/>
          <a:p>
            <a:pPr algn="ctr"/>
          </a:p>
        </p:txBody>
      </p:sp>
      <p:pic>
        <p:nvPicPr>
          <p:cNvPr id="41" name="Picture 40" descr="karhutla-FFFFFF-1955759a.png"/>
          <p:cNvPicPr>
            <a:picLocks noChangeAspect="1"/>
          </p:cNvPicPr>
          <p:nvPr/>
        </p:nvPicPr>
        <p:blipFill>
          <a:blip r:embed="rId7"/>
          <a:stretch>
            <a:fillRect/>
          </a:stretch>
        </p:blipFill>
        <p:spPr>
          <a:xfrm>
            <a:off x="708698" y="3222663"/>
            <a:ext cx="107874" cy="107874"/>
          </a:xfrm>
          <a:prstGeom prst="rect">
            <a:avLst/>
          </a:prstGeom>
        </p:spPr>
      </p:pic>
      <p:sp>
        <p:nvSpPr>
          <p:cNvPr id="42" name="TextBox 41"/>
          <p:cNvSpPr txBox="1"/>
          <p:nvPr/>
        </p:nvSpPr>
        <p:spPr>
          <a:xfrm>
            <a:off x="951230" y="311658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Karhutla</a:t>
            </a:r>
          </a:p>
        </p:txBody>
      </p:sp>
      <p:sp>
        <p:nvSpPr>
          <p:cNvPr id="43" name="TextBox 42"/>
          <p:cNvSpPr txBox="1"/>
          <p:nvPr/>
        </p:nvSpPr>
        <p:spPr>
          <a:xfrm>
            <a:off x="5287518" y="311658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1.024</a:t>
            </a:r>
          </a:p>
        </p:txBody>
      </p:sp>
      <p:sp>
        <p:nvSpPr>
          <p:cNvPr id="44" name="TextBox 43"/>
          <p:cNvSpPr txBox="1"/>
          <p:nvPr/>
        </p:nvSpPr>
        <p:spPr>
          <a:xfrm>
            <a:off x="6463992" y="311658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46,5%</a:t>
            </a:r>
          </a:p>
        </p:txBody>
      </p:sp>
      <p:sp>
        <p:nvSpPr>
          <p:cNvPr id="45" name="TextBox 44"/>
          <p:cNvSpPr txBox="1"/>
          <p:nvPr/>
        </p:nvSpPr>
        <p:spPr>
          <a:xfrm>
            <a:off x="7422732" y="311658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8</a:t>
            </a:r>
          </a:p>
        </p:txBody>
      </p:sp>
      <p:sp>
        <p:nvSpPr>
          <p:cNvPr id="46" name="TextBox 45"/>
          <p:cNvSpPr txBox="1"/>
          <p:nvPr/>
        </p:nvSpPr>
        <p:spPr>
          <a:xfrm>
            <a:off x="8808559" y="311658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745</a:t>
            </a:r>
          </a:p>
        </p:txBody>
      </p:sp>
      <p:sp>
        <p:nvSpPr>
          <p:cNvPr id="47" name="TextBox 46"/>
          <p:cNvSpPr txBox="1"/>
          <p:nvPr/>
        </p:nvSpPr>
        <p:spPr>
          <a:xfrm>
            <a:off x="10093140" y="311658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280</a:t>
            </a:r>
          </a:p>
        </p:txBody>
      </p:sp>
      <p:cxnSp>
        <p:nvCxnSpPr>
          <p:cNvPr id="48" name="Connector 47"/>
          <p:cNvCxnSpPr/>
          <p:nvPr/>
        </p:nvCxnSpPr>
        <p:spPr>
          <a:xfrm>
            <a:off x="675640" y="3436620"/>
            <a:ext cx="10840720" cy="0"/>
          </a:xfrm>
          <a:prstGeom prst="line">
            <a:avLst/>
          </a:prstGeom>
          <a:ln w="6350">
            <a:solidFill>
              <a:srgbClr val="E6EAF0"/>
            </a:solidFill>
          </a:ln>
        </p:spPr>
      </p:cxnSp>
      <p:sp>
        <p:nvSpPr>
          <p:cNvPr id="49" name="Oval 48"/>
          <p:cNvSpPr/>
          <p:nvPr/>
        </p:nvSpPr>
        <p:spPr>
          <a:xfrm>
            <a:off x="675640" y="3509645"/>
            <a:ext cx="173990" cy="173990"/>
          </a:xfrm>
          <a:prstGeom prst="ellipse">
            <a:avLst/>
          </a:prstGeom>
          <a:solidFill>
            <a:srgbClr val="051C2C"/>
          </a:solidFill>
          <a:ln>
            <a:noFill/>
          </a:ln>
        </p:spPr>
        <p:txBody>
          <a:bodyPr rtlCol="0" anchor="ctr"/>
          <a:lstStyle/>
          <a:p>
            <a:pPr algn="ctr"/>
          </a:p>
        </p:txBody>
      </p:sp>
      <p:pic>
        <p:nvPicPr>
          <p:cNvPr id="50" name="Picture 49" descr="banjir-FFFFFF-36473509.png"/>
          <p:cNvPicPr>
            <a:picLocks noChangeAspect="1"/>
          </p:cNvPicPr>
          <p:nvPr/>
        </p:nvPicPr>
        <p:blipFill>
          <a:blip r:embed="rId8"/>
          <a:stretch>
            <a:fillRect/>
          </a:stretch>
        </p:blipFill>
        <p:spPr>
          <a:xfrm>
            <a:off x="708698" y="3542703"/>
            <a:ext cx="107874" cy="107874"/>
          </a:xfrm>
          <a:prstGeom prst="rect">
            <a:avLst/>
          </a:prstGeom>
        </p:spPr>
      </p:pic>
      <p:sp>
        <p:nvSpPr>
          <p:cNvPr id="51" name="TextBox 50"/>
          <p:cNvSpPr txBox="1"/>
          <p:nvPr/>
        </p:nvSpPr>
        <p:spPr>
          <a:xfrm>
            <a:off x="951230" y="343662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Banjir</a:t>
            </a:r>
          </a:p>
        </p:txBody>
      </p:sp>
      <p:sp>
        <p:nvSpPr>
          <p:cNvPr id="52" name="TextBox 51"/>
          <p:cNvSpPr txBox="1"/>
          <p:nvPr/>
        </p:nvSpPr>
        <p:spPr>
          <a:xfrm>
            <a:off x="5287518" y="343662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581</a:t>
            </a:r>
          </a:p>
        </p:txBody>
      </p:sp>
      <p:sp>
        <p:nvSpPr>
          <p:cNvPr id="53" name="TextBox 52"/>
          <p:cNvSpPr txBox="1"/>
          <p:nvPr/>
        </p:nvSpPr>
        <p:spPr>
          <a:xfrm>
            <a:off x="6463992" y="343662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26,4%</a:t>
            </a:r>
          </a:p>
        </p:txBody>
      </p:sp>
      <p:sp>
        <p:nvSpPr>
          <p:cNvPr id="54" name="TextBox 53"/>
          <p:cNvSpPr txBox="1"/>
          <p:nvPr/>
        </p:nvSpPr>
        <p:spPr>
          <a:xfrm>
            <a:off x="7422732" y="343662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70</a:t>
            </a:r>
          </a:p>
        </p:txBody>
      </p:sp>
      <p:sp>
        <p:nvSpPr>
          <p:cNvPr id="55" name="TextBox 54"/>
          <p:cNvSpPr txBox="1"/>
          <p:nvPr/>
        </p:nvSpPr>
        <p:spPr>
          <a:xfrm>
            <a:off x="8808559" y="343662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64.624</a:t>
            </a:r>
          </a:p>
        </p:txBody>
      </p:sp>
      <p:sp>
        <p:nvSpPr>
          <p:cNvPr id="56" name="TextBox 55"/>
          <p:cNvSpPr txBox="1"/>
          <p:nvPr/>
        </p:nvSpPr>
        <p:spPr>
          <a:xfrm>
            <a:off x="10093140" y="343662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11.728</a:t>
            </a:r>
          </a:p>
        </p:txBody>
      </p:sp>
      <p:cxnSp>
        <p:nvCxnSpPr>
          <p:cNvPr id="57" name="Connector 56"/>
          <p:cNvCxnSpPr/>
          <p:nvPr/>
        </p:nvCxnSpPr>
        <p:spPr>
          <a:xfrm>
            <a:off x="675640" y="3756660"/>
            <a:ext cx="10840720" cy="0"/>
          </a:xfrm>
          <a:prstGeom prst="line">
            <a:avLst/>
          </a:prstGeom>
          <a:ln w="6350">
            <a:solidFill>
              <a:srgbClr val="E6EAF0"/>
            </a:solidFill>
          </a:ln>
        </p:spPr>
      </p:cxnSp>
      <p:sp>
        <p:nvSpPr>
          <p:cNvPr id="58" name="Oval 57"/>
          <p:cNvSpPr/>
          <p:nvPr/>
        </p:nvSpPr>
        <p:spPr>
          <a:xfrm>
            <a:off x="675640" y="3829685"/>
            <a:ext cx="173990" cy="173990"/>
          </a:xfrm>
          <a:prstGeom prst="ellipse">
            <a:avLst/>
          </a:prstGeom>
          <a:solidFill>
            <a:srgbClr val="051C2C"/>
          </a:solidFill>
          <a:ln>
            <a:noFill/>
          </a:ln>
        </p:spPr>
        <p:txBody>
          <a:bodyPr rtlCol="0" anchor="ctr"/>
          <a:lstStyle/>
          <a:p>
            <a:pPr algn="ctr"/>
          </a:p>
        </p:txBody>
      </p:sp>
      <p:pic>
        <p:nvPicPr>
          <p:cNvPr id="59" name="Picture 58" descr="cuaca-ekstrem-FFFFFF-3711fbf3.png"/>
          <p:cNvPicPr>
            <a:picLocks noChangeAspect="1"/>
          </p:cNvPicPr>
          <p:nvPr/>
        </p:nvPicPr>
        <p:blipFill>
          <a:blip r:embed="rId9"/>
          <a:stretch>
            <a:fillRect/>
          </a:stretch>
        </p:blipFill>
        <p:spPr>
          <a:xfrm>
            <a:off x="708698" y="3862743"/>
            <a:ext cx="107874" cy="107874"/>
          </a:xfrm>
          <a:prstGeom prst="rect">
            <a:avLst/>
          </a:prstGeom>
        </p:spPr>
      </p:pic>
      <p:sp>
        <p:nvSpPr>
          <p:cNvPr id="60" name="TextBox 59"/>
          <p:cNvSpPr txBox="1"/>
          <p:nvPr/>
        </p:nvSpPr>
        <p:spPr>
          <a:xfrm>
            <a:off x="951230" y="375666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Cuaca ekstrem</a:t>
            </a:r>
          </a:p>
        </p:txBody>
      </p:sp>
      <p:sp>
        <p:nvSpPr>
          <p:cNvPr id="61" name="TextBox 60"/>
          <p:cNvSpPr txBox="1"/>
          <p:nvPr/>
        </p:nvSpPr>
        <p:spPr>
          <a:xfrm>
            <a:off x="5287518" y="375666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337</a:t>
            </a:r>
          </a:p>
        </p:txBody>
      </p:sp>
      <p:sp>
        <p:nvSpPr>
          <p:cNvPr id="62" name="TextBox 61"/>
          <p:cNvSpPr txBox="1"/>
          <p:nvPr/>
        </p:nvSpPr>
        <p:spPr>
          <a:xfrm>
            <a:off x="6463992" y="375666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15,3%</a:t>
            </a:r>
          </a:p>
        </p:txBody>
      </p:sp>
      <p:sp>
        <p:nvSpPr>
          <p:cNvPr id="63" name="TextBox 62"/>
          <p:cNvSpPr txBox="1"/>
          <p:nvPr/>
        </p:nvSpPr>
        <p:spPr>
          <a:xfrm>
            <a:off x="7422732" y="375666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23</a:t>
            </a:r>
          </a:p>
        </p:txBody>
      </p:sp>
      <p:sp>
        <p:nvSpPr>
          <p:cNvPr id="64" name="TextBox 63"/>
          <p:cNvSpPr txBox="1"/>
          <p:nvPr/>
        </p:nvSpPr>
        <p:spPr>
          <a:xfrm>
            <a:off x="8808559" y="375666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630</a:t>
            </a:r>
          </a:p>
        </p:txBody>
      </p:sp>
      <p:sp>
        <p:nvSpPr>
          <p:cNvPr id="65" name="TextBox 64"/>
          <p:cNvSpPr txBox="1"/>
          <p:nvPr/>
        </p:nvSpPr>
        <p:spPr>
          <a:xfrm>
            <a:off x="10093140" y="375666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8.072</a:t>
            </a:r>
          </a:p>
        </p:txBody>
      </p:sp>
      <p:cxnSp>
        <p:nvCxnSpPr>
          <p:cNvPr id="66" name="Connector 65"/>
          <p:cNvCxnSpPr/>
          <p:nvPr/>
        </p:nvCxnSpPr>
        <p:spPr>
          <a:xfrm>
            <a:off x="675640" y="4076700"/>
            <a:ext cx="10840720" cy="0"/>
          </a:xfrm>
          <a:prstGeom prst="line">
            <a:avLst/>
          </a:prstGeom>
          <a:ln w="6350">
            <a:solidFill>
              <a:srgbClr val="E6EAF0"/>
            </a:solidFill>
          </a:ln>
        </p:spPr>
      </p:cxnSp>
      <p:sp>
        <p:nvSpPr>
          <p:cNvPr id="67" name="Oval 66"/>
          <p:cNvSpPr/>
          <p:nvPr/>
        </p:nvSpPr>
        <p:spPr>
          <a:xfrm>
            <a:off x="675640" y="4149725"/>
            <a:ext cx="173990" cy="173990"/>
          </a:xfrm>
          <a:prstGeom prst="ellipse">
            <a:avLst/>
          </a:prstGeom>
          <a:solidFill>
            <a:srgbClr val="051C2C"/>
          </a:solidFill>
          <a:ln>
            <a:noFill/>
          </a:ln>
        </p:spPr>
        <p:txBody>
          <a:bodyPr rtlCol="0" anchor="ctr"/>
          <a:lstStyle/>
          <a:p>
            <a:pPr algn="ctr"/>
          </a:p>
        </p:txBody>
      </p:sp>
      <p:pic>
        <p:nvPicPr>
          <p:cNvPr id="68" name="Picture 67" descr="kekeringan-FFFFFF-bd7fcb53.png"/>
          <p:cNvPicPr>
            <a:picLocks noChangeAspect="1"/>
          </p:cNvPicPr>
          <p:nvPr/>
        </p:nvPicPr>
        <p:blipFill>
          <a:blip r:embed="rId10"/>
          <a:stretch>
            <a:fillRect/>
          </a:stretch>
        </p:blipFill>
        <p:spPr>
          <a:xfrm>
            <a:off x="708698" y="4182783"/>
            <a:ext cx="107874" cy="107874"/>
          </a:xfrm>
          <a:prstGeom prst="rect">
            <a:avLst/>
          </a:prstGeom>
        </p:spPr>
      </p:pic>
      <p:sp>
        <p:nvSpPr>
          <p:cNvPr id="69" name="TextBox 68"/>
          <p:cNvSpPr txBox="1"/>
          <p:nvPr/>
        </p:nvSpPr>
        <p:spPr>
          <a:xfrm>
            <a:off x="951230" y="407670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Kekeringan</a:t>
            </a:r>
          </a:p>
        </p:txBody>
      </p:sp>
      <p:sp>
        <p:nvSpPr>
          <p:cNvPr id="70" name="TextBox 69"/>
          <p:cNvSpPr txBox="1"/>
          <p:nvPr/>
        </p:nvSpPr>
        <p:spPr>
          <a:xfrm>
            <a:off x="5287518" y="407670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122</a:t>
            </a:r>
          </a:p>
        </p:txBody>
      </p:sp>
      <p:sp>
        <p:nvSpPr>
          <p:cNvPr id="71" name="TextBox 70"/>
          <p:cNvSpPr txBox="1"/>
          <p:nvPr/>
        </p:nvSpPr>
        <p:spPr>
          <a:xfrm>
            <a:off x="6463992" y="407670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5,5%</a:t>
            </a:r>
          </a:p>
        </p:txBody>
      </p:sp>
      <p:sp>
        <p:nvSpPr>
          <p:cNvPr id="72" name="TextBox 71"/>
          <p:cNvSpPr txBox="1"/>
          <p:nvPr/>
        </p:nvSpPr>
        <p:spPr>
          <a:xfrm>
            <a:off x="7422732" y="407670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0</a:t>
            </a:r>
          </a:p>
        </p:txBody>
      </p:sp>
      <p:sp>
        <p:nvSpPr>
          <p:cNvPr id="73" name="TextBox 72"/>
          <p:cNvSpPr txBox="1"/>
          <p:nvPr/>
        </p:nvSpPr>
        <p:spPr>
          <a:xfrm>
            <a:off x="8808559" y="407670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0</a:t>
            </a:r>
          </a:p>
        </p:txBody>
      </p:sp>
      <p:sp>
        <p:nvSpPr>
          <p:cNvPr id="74" name="TextBox 73"/>
          <p:cNvSpPr txBox="1"/>
          <p:nvPr/>
        </p:nvSpPr>
        <p:spPr>
          <a:xfrm>
            <a:off x="10093140" y="407670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0</a:t>
            </a:r>
          </a:p>
        </p:txBody>
      </p:sp>
      <p:cxnSp>
        <p:nvCxnSpPr>
          <p:cNvPr id="75" name="Connector 74"/>
          <p:cNvCxnSpPr/>
          <p:nvPr/>
        </p:nvCxnSpPr>
        <p:spPr>
          <a:xfrm>
            <a:off x="675640" y="4396740"/>
            <a:ext cx="10840720" cy="0"/>
          </a:xfrm>
          <a:prstGeom prst="line">
            <a:avLst/>
          </a:prstGeom>
          <a:ln w="6350">
            <a:solidFill>
              <a:srgbClr val="E6EAF0"/>
            </a:solidFill>
          </a:ln>
        </p:spPr>
      </p:cxnSp>
      <p:sp>
        <p:nvSpPr>
          <p:cNvPr id="76" name="Oval 75"/>
          <p:cNvSpPr/>
          <p:nvPr/>
        </p:nvSpPr>
        <p:spPr>
          <a:xfrm>
            <a:off x="675640" y="4469765"/>
            <a:ext cx="173990" cy="173990"/>
          </a:xfrm>
          <a:prstGeom prst="ellipse">
            <a:avLst/>
          </a:prstGeom>
          <a:solidFill>
            <a:srgbClr val="051C2C"/>
          </a:solidFill>
          <a:ln>
            <a:noFill/>
          </a:ln>
        </p:spPr>
        <p:txBody>
          <a:bodyPr rtlCol="0" anchor="ctr"/>
          <a:lstStyle/>
          <a:p>
            <a:pPr algn="ctr"/>
          </a:p>
        </p:txBody>
      </p:sp>
      <p:pic>
        <p:nvPicPr>
          <p:cNvPr id="77" name="Picture 76" descr="longsor-FFFFFF-c017b3fe.png"/>
          <p:cNvPicPr>
            <a:picLocks noChangeAspect="1"/>
          </p:cNvPicPr>
          <p:nvPr/>
        </p:nvPicPr>
        <p:blipFill>
          <a:blip r:embed="rId11"/>
          <a:stretch>
            <a:fillRect/>
          </a:stretch>
        </p:blipFill>
        <p:spPr>
          <a:xfrm>
            <a:off x="708698" y="4502823"/>
            <a:ext cx="107874" cy="107874"/>
          </a:xfrm>
          <a:prstGeom prst="rect">
            <a:avLst/>
          </a:prstGeom>
        </p:spPr>
      </p:pic>
      <p:sp>
        <p:nvSpPr>
          <p:cNvPr id="78" name="TextBox 77"/>
          <p:cNvSpPr txBox="1"/>
          <p:nvPr/>
        </p:nvSpPr>
        <p:spPr>
          <a:xfrm>
            <a:off x="951230" y="439674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Longsor</a:t>
            </a:r>
          </a:p>
        </p:txBody>
      </p:sp>
      <p:sp>
        <p:nvSpPr>
          <p:cNvPr id="79" name="TextBox 78"/>
          <p:cNvSpPr txBox="1"/>
          <p:nvPr/>
        </p:nvSpPr>
        <p:spPr>
          <a:xfrm>
            <a:off x="5287518" y="439674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108</a:t>
            </a:r>
          </a:p>
        </p:txBody>
      </p:sp>
      <p:sp>
        <p:nvSpPr>
          <p:cNvPr id="80" name="TextBox 79"/>
          <p:cNvSpPr txBox="1"/>
          <p:nvPr/>
        </p:nvSpPr>
        <p:spPr>
          <a:xfrm>
            <a:off x="6463992" y="439674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4,9%</a:t>
            </a:r>
          </a:p>
        </p:txBody>
      </p:sp>
      <p:sp>
        <p:nvSpPr>
          <p:cNvPr id="81" name="TextBox 80"/>
          <p:cNvSpPr txBox="1"/>
          <p:nvPr/>
        </p:nvSpPr>
        <p:spPr>
          <a:xfrm>
            <a:off x="7422732" y="439674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160</a:t>
            </a:r>
          </a:p>
        </p:txBody>
      </p:sp>
      <p:sp>
        <p:nvSpPr>
          <p:cNvPr id="82" name="TextBox 81"/>
          <p:cNvSpPr txBox="1"/>
          <p:nvPr/>
        </p:nvSpPr>
        <p:spPr>
          <a:xfrm>
            <a:off x="8808559" y="439674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5.250</a:t>
            </a:r>
          </a:p>
        </p:txBody>
      </p:sp>
      <p:sp>
        <p:nvSpPr>
          <p:cNvPr id="83" name="TextBox 82"/>
          <p:cNvSpPr txBox="1"/>
          <p:nvPr/>
        </p:nvSpPr>
        <p:spPr>
          <a:xfrm>
            <a:off x="10093140" y="439674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1.670</a:t>
            </a:r>
          </a:p>
        </p:txBody>
      </p:sp>
      <p:cxnSp>
        <p:nvCxnSpPr>
          <p:cNvPr id="84" name="Connector 83"/>
          <p:cNvCxnSpPr/>
          <p:nvPr/>
        </p:nvCxnSpPr>
        <p:spPr>
          <a:xfrm>
            <a:off x="675640" y="4716780"/>
            <a:ext cx="10840720" cy="0"/>
          </a:xfrm>
          <a:prstGeom prst="line">
            <a:avLst/>
          </a:prstGeom>
          <a:ln w="6350">
            <a:solidFill>
              <a:srgbClr val="E6EAF0"/>
            </a:solidFill>
          </a:ln>
        </p:spPr>
      </p:cxnSp>
      <p:sp>
        <p:nvSpPr>
          <p:cNvPr id="85" name="Oval 84"/>
          <p:cNvSpPr/>
          <p:nvPr/>
        </p:nvSpPr>
        <p:spPr>
          <a:xfrm>
            <a:off x="675640" y="4789805"/>
            <a:ext cx="173990" cy="173990"/>
          </a:xfrm>
          <a:prstGeom prst="ellipse">
            <a:avLst/>
          </a:prstGeom>
          <a:solidFill>
            <a:srgbClr val="051C2C"/>
          </a:solidFill>
          <a:ln>
            <a:noFill/>
          </a:ln>
        </p:spPr>
        <p:txBody>
          <a:bodyPr rtlCol="0" anchor="ctr"/>
          <a:lstStyle/>
          <a:p>
            <a:pPr algn="ctr"/>
          </a:p>
        </p:txBody>
      </p:sp>
      <p:pic>
        <p:nvPicPr>
          <p:cNvPr id="86" name="Picture 85" descr="gelombang-abrasi-FFFFFF-1093a933.png"/>
          <p:cNvPicPr>
            <a:picLocks noChangeAspect="1"/>
          </p:cNvPicPr>
          <p:nvPr/>
        </p:nvPicPr>
        <p:blipFill>
          <a:blip r:embed="rId12"/>
          <a:stretch>
            <a:fillRect/>
          </a:stretch>
        </p:blipFill>
        <p:spPr>
          <a:xfrm>
            <a:off x="708698" y="4822863"/>
            <a:ext cx="107874" cy="107874"/>
          </a:xfrm>
          <a:prstGeom prst="rect">
            <a:avLst/>
          </a:prstGeom>
        </p:spPr>
      </p:pic>
      <p:sp>
        <p:nvSpPr>
          <p:cNvPr id="87" name="TextBox 86"/>
          <p:cNvSpPr txBox="1"/>
          <p:nvPr/>
        </p:nvSpPr>
        <p:spPr>
          <a:xfrm>
            <a:off x="951230" y="471678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Abrasi</a:t>
            </a:r>
          </a:p>
        </p:txBody>
      </p:sp>
      <p:sp>
        <p:nvSpPr>
          <p:cNvPr id="88" name="TextBox 87"/>
          <p:cNvSpPr txBox="1"/>
          <p:nvPr/>
        </p:nvSpPr>
        <p:spPr>
          <a:xfrm>
            <a:off x="5287518" y="471678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14</a:t>
            </a:r>
          </a:p>
        </p:txBody>
      </p:sp>
      <p:sp>
        <p:nvSpPr>
          <p:cNvPr id="89" name="TextBox 88"/>
          <p:cNvSpPr txBox="1"/>
          <p:nvPr/>
        </p:nvSpPr>
        <p:spPr>
          <a:xfrm>
            <a:off x="6463992" y="471678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0,6%</a:t>
            </a:r>
          </a:p>
        </p:txBody>
      </p:sp>
      <p:sp>
        <p:nvSpPr>
          <p:cNvPr id="90" name="TextBox 89"/>
          <p:cNvSpPr txBox="1"/>
          <p:nvPr/>
        </p:nvSpPr>
        <p:spPr>
          <a:xfrm>
            <a:off x="7422732" y="471678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0</a:t>
            </a:r>
          </a:p>
        </p:txBody>
      </p:sp>
      <p:sp>
        <p:nvSpPr>
          <p:cNvPr id="91" name="TextBox 90"/>
          <p:cNvSpPr txBox="1"/>
          <p:nvPr/>
        </p:nvSpPr>
        <p:spPr>
          <a:xfrm>
            <a:off x="8808559" y="471678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53</a:t>
            </a:r>
          </a:p>
        </p:txBody>
      </p:sp>
      <p:sp>
        <p:nvSpPr>
          <p:cNvPr id="92" name="TextBox 91"/>
          <p:cNvSpPr txBox="1"/>
          <p:nvPr/>
        </p:nvSpPr>
        <p:spPr>
          <a:xfrm>
            <a:off x="10093140" y="471678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270</a:t>
            </a:r>
          </a:p>
        </p:txBody>
      </p:sp>
      <p:cxnSp>
        <p:nvCxnSpPr>
          <p:cNvPr id="93" name="Connector 92"/>
          <p:cNvCxnSpPr/>
          <p:nvPr/>
        </p:nvCxnSpPr>
        <p:spPr>
          <a:xfrm>
            <a:off x="675640" y="5036820"/>
            <a:ext cx="10840720" cy="0"/>
          </a:xfrm>
          <a:prstGeom prst="line">
            <a:avLst/>
          </a:prstGeom>
          <a:ln w="6350">
            <a:solidFill>
              <a:srgbClr val="E6EAF0"/>
            </a:solidFill>
          </a:ln>
        </p:spPr>
      </p:cxnSp>
      <p:sp>
        <p:nvSpPr>
          <p:cNvPr id="94" name="Oval 93"/>
          <p:cNvSpPr/>
          <p:nvPr/>
        </p:nvSpPr>
        <p:spPr>
          <a:xfrm>
            <a:off x="675640" y="5109845"/>
            <a:ext cx="173990" cy="173990"/>
          </a:xfrm>
          <a:prstGeom prst="ellipse">
            <a:avLst/>
          </a:prstGeom>
          <a:solidFill>
            <a:srgbClr val="051C2C"/>
          </a:solidFill>
          <a:ln>
            <a:noFill/>
          </a:ln>
        </p:spPr>
        <p:txBody>
          <a:bodyPr rtlCol="0" anchor="ctr"/>
          <a:lstStyle/>
          <a:p>
            <a:pPr algn="ctr"/>
          </a:p>
        </p:txBody>
      </p:sp>
      <p:pic>
        <p:nvPicPr>
          <p:cNvPr id="95" name="Picture 94" descr="gempa-FFFFFF-5740f754.png"/>
          <p:cNvPicPr>
            <a:picLocks noChangeAspect="1"/>
          </p:cNvPicPr>
          <p:nvPr/>
        </p:nvPicPr>
        <p:blipFill>
          <a:blip r:embed="rId13"/>
          <a:stretch>
            <a:fillRect/>
          </a:stretch>
        </p:blipFill>
        <p:spPr>
          <a:xfrm>
            <a:off x="708698" y="5142903"/>
            <a:ext cx="107874" cy="107874"/>
          </a:xfrm>
          <a:prstGeom prst="rect">
            <a:avLst/>
          </a:prstGeom>
        </p:spPr>
      </p:pic>
      <p:sp>
        <p:nvSpPr>
          <p:cNvPr id="96" name="TextBox 95"/>
          <p:cNvSpPr txBox="1"/>
          <p:nvPr/>
        </p:nvSpPr>
        <p:spPr>
          <a:xfrm>
            <a:off x="951230" y="503682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Gempa bumi</a:t>
            </a:r>
          </a:p>
        </p:txBody>
      </p:sp>
      <p:sp>
        <p:nvSpPr>
          <p:cNvPr id="97" name="TextBox 96"/>
          <p:cNvSpPr txBox="1"/>
          <p:nvPr/>
        </p:nvSpPr>
        <p:spPr>
          <a:xfrm>
            <a:off x="5287518" y="503682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14</a:t>
            </a:r>
          </a:p>
        </p:txBody>
      </p:sp>
      <p:sp>
        <p:nvSpPr>
          <p:cNvPr id="98" name="TextBox 97"/>
          <p:cNvSpPr txBox="1"/>
          <p:nvPr/>
        </p:nvSpPr>
        <p:spPr>
          <a:xfrm>
            <a:off x="6463992" y="503682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0,6%</a:t>
            </a:r>
          </a:p>
        </p:txBody>
      </p:sp>
      <p:sp>
        <p:nvSpPr>
          <p:cNvPr id="99" name="TextBox 98"/>
          <p:cNvSpPr txBox="1"/>
          <p:nvPr/>
        </p:nvSpPr>
        <p:spPr>
          <a:xfrm>
            <a:off x="7422732" y="503682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160</a:t>
            </a:r>
          </a:p>
        </p:txBody>
      </p:sp>
      <p:sp>
        <p:nvSpPr>
          <p:cNvPr id="100" name="TextBox 99"/>
          <p:cNvSpPr txBox="1"/>
          <p:nvPr/>
        </p:nvSpPr>
        <p:spPr>
          <a:xfrm>
            <a:off x="8808559" y="503682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174.509</a:t>
            </a:r>
          </a:p>
        </p:txBody>
      </p:sp>
      <p:sp>
        <p:nvSpPr>
          <p:cNvPr id="101" name="TextBox 100"/>
          <p:cNvSpPr txBox="1"/>
          <p:nvPr/>
        </p:nvSpPr>
        <p:spPr>
          <a:xfrm>
            <a:off x="10093140" y="503682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141.492</a:t>
            </a:r>
          </a:p>
        </p:txBody>
      </p:sp>
      <p:cxnSp>
        <p:nvCxnSpPr>
          <p:cNvPr id="102" name="Connector 101"/>
          <p:cNvCxnSpPr/>
          <p:nvPr/>
        </p:nvCxnSpPr>
        <p:spPr>
          <a:xfrm>
            <a:off x="675640" y="5356860"/>
            <a:ext cx="10840720" cy="0"/>
          </a:xfrm>
          <a:prstGeom prst="line">
            <a:avLst/>
          </a:prstGeom>
          <a:ln w="6350">
            <a:solidFill>
              <a:srgbClr val="E6EAF0"/>
            </a:solidFill>
          </a:ln>
        </p:spPr>
      </p:cxnSp>
      <p:sp>
        <p:nvSpPr>
          <p:cNvPr id="103" name="Oval 102"/>
          <p:cNvSpPr/>
          <p:nvPr/>
        </p:nvSpPr>
        <p:spPr>
          <a:xfrm>
            <a:off x="675640" y="5429885"/>
            <a:ext cx="173990" cy="173990"/>
          </a:xfrm>
          <a:prstGeom prst="ellipse">
            <a:avLst/>
          </a:prstGeom>
          <a:solidFill>
            <a:srgbClr val="051C2C"/>
          </a:solidFill>
          <a:ln>
            <a:noFill/>
          </a:ln>
        </p:spPr>
        <p:txBody>
          <a:bodyPr rtlCol="0" anchor="ctr"/>
          <a:lstStyle/>
          <a:p>
            <a:pPr algn="ctr"/>
          </a:p>
        </p:txBody>
      </p:sp>
      <p:pic>
        <p:nvPicPr>
          <p:cNvPr id="104" name="Picture 103" descr="gunungapi-FFFFFF-a5209a68.png"/>
          <p:cNvPicPr>
            <a:picLocks noChangeAspect="1"/>
          </p:cNvPicPr>
          <p:nvPr/>
        </p:nvPicPr>
        <p:blipFill>
          <a:blip r:embed="rId14"/>
          <a:stretch>
            <a:fillRect/>
          </a:stretch>
        </p:blipFill>
        <p:spPr>
          <a:xfrm>
            <a:off x="708698" y="5462943"/>
            <a:ext cx="107874" cy="107874"/>
          </a:xfrm>
          <a:prstGeom prst="rect">
            <a:avLst/>
          </a:prstGeom>
        </p:spPr>
      </p:pic>
      <p:sp>
        <p:nvSpPr>
          <p:cNvPr id="105" name="TextBox 104"/>
          <p:cNvSpPr txBox="1"/>
          <p:nvPr/>
        </p:nvSpPr>
        <p:spPr>
          <a:xfrm>
            <a:off x="951230" y="5356860"/>
            <a:ext cx="4285488" cy="320040"/>
          </a:xfrm>
          <a:prstGeom prst="rect">
            <a:avLst/>
          </a:prstGeom>
          <a:noFill/>
        </p:spPr>
        <p:txBody>
          <a:bodyPr wrap="none" lIns="0" tIns="0" rIns="0" bIns="0" anchor="ctr">
            <a:noAutofit/>
          </a:bodyPr>
          <a:lstStyle/>
          <a:p>
            <a:pPr algn="l"/>
            <a:r>
              <a:rPr sz="919" b="1" lang="id-ID">
                <a:solidFill>
                  <a:srgbClr val="1A1A1A"/>
                </a:solidFill>
                <a:latin typeface="Roboto"/>
              </a:rPr>
              <a:t>Erupsi gunung api</a:t>
            </a:r>
          </a:p>
        </p:txBody>
      </p:sp>
      <p:sp>
        <p:nvSpPr>
          <p:cNvPr id="106" name="TextBox 105"/>
          <p:cNvSpPr txBox="1"/>
          <p:nvPr/>
        </p:nvSpPr>
        <p:spPr>
          <a:xfrm>
            <a:off x="5287518" y="5356860"/>
            <a:ext cx="1074874" cy="320040"/>
          </a:xfrm>
          <a:prstGeom prst="rect">
            <a:avLst/>
          </a:prstGeom>
          <a:noFill/>
        </p:spPr>
        <p:txBody>
          <a:bodyPr wrap="none" lIns="0" tIns="0" rIns="0" bIns="0" anchor="ctr">
            <a:noAutofit/>
          </a:bodyPr>
          <a:lstStyle/>
          <a:p>
            <a:pPr algn="ctr"/>
            <a:r>
              <a:rPr sz="919" b="1" lang="id-ID">
                <a:solidFill>
                  <a:srgbClr val="1A1A1A"/>
                </a:solidFill>
                <a:latin typeface="Roboto"/>
              </a:rPr>
              <a:t>4</a:t>
            </a:r>
          </a:p>
        </p:txBody>
      </p:sp>
      <p:sp>
        <p:nvSpPr>
          <p:cNvPr id="107" name="TextBox 106"/>
          <p:cNvSpPr txBox="1"/>
          <p:nvPr/>
        </p:nvSpPr>
        <p:spPr>
          <a:xfrm>
            <a:off x="6463992" y="5356860"/>
            <a:ext cx="857140" cy="320040"/>
          </a:xfrm>
          <a:prstGeom prst="rect">
            <a:avLst/>
          </a:prstGeom>
          <a:noFill/>
        </p:spPr>
        <p:txBody>
          <a:bodyPr wrap="none" lIns="0" tIns="0" rIns="0" bIns="0" anchor="ctr">
            <a:noAutofit/>
          </a:bodyPr>
          <a:lstStyle/>
          <a:p>
            <a:pPr algn="ctr"/>
            <a:r>
              <a:rPr sz="919" b="1" lang="id-ID">
                <a:solidFill>
                  <a:srgbClr val="1A1A1A"/>
                </a:solidFill>
                <a:latin typeface="Roboto"/>
              </a:rPr>
              <a:t>0,2%</a:t>
            </a:r>
          </a:p>
        </p:txBody>
      </p:sp>
      <p:sp>
        <p:nvSpPr>
          <p:cNvPr id="108" name="TextBox 107"/>
          <p:cNvSpPr txBox="1"/>
          <p:nvPr/>
        </p:nvSpPr>
        <p:spPr>
          <a:xfrm>
            <a:off x="7422732" y="5356860"/>
            <a:ext cx="1284227" cy="320040"/>
          </a:xfrm>
          <a:prstGeom prst="rect">
            <a:avLst/>
          </a:prstGeom>
          <a:noFill/>
        </p:spPr>
        <p:txBody>
          <a:bodyPr wrap="none" lIns="0" tIns="0" rIns="0" bIns="0" anchor="ctr">
            <a:noAutofit/>
          </a:bodyPr>
          <a:lstStyle/>
          <a:p>
            <a:pPr algn="ctr"/>
            <a:r>
              <a:rPr sz="919" b="1" lang="id-ID">
                <a:solidFill>
                  <a:srgbClr val="1A1A1A"/>
                </a:solidFill>
                <a:latin typeface="Roboto"/>
              </a:rPr>
              <a:t>6</a:t>
            </a:r>
          </a:p>
        </p:txBody>
      </p:sp>
      <p:sp>
        <p:nvSpPr>
          <p:cNvPr id="109" name="TextBox 108"/>
          <p:cNvSpPr txBox="1"/>
          <p:nvPr/>
        </p:nvSpPr>
        <p:spPr>
          <a:xfrm>
            <a:off x="8808559" y="5356860"/>
            <a:ext cx="1182982" cy="320040"/>
          </a:xfrm>
          <a:prstGeom prst="rect">
            <a:avLst/>
          </a:prstGeom>
          <a:noFill/>
        </p:spPr>
        <p:txBody>
          <a:bodyPr wrap="none" lIns="0" tIns="0" rIns="0" bIns="0" anchor="ctr">
            <a:noAutofit/>
          </a:bodyPr>
          <a:lstStyle/>
          <a:p>
            <a:pPr algn="ctr"/>
            <a:r>
              <a:rPr sz="919" b="1" lang="id-ID">
                <a:solidFill>
                  <a:srgbClr val="1A1A1A"/>
                </a:solidFill>
                <a:latin typeface="Roboto"/>
              </a:rPr>
              <a:t>650</a:t>
            </a:r>
          </a:p>
        </p:txBody>
      </p:sp>
      <p:sp>
        <p:nvSpPr>
          <p:cNvPr id="110" name="TextBox 109"/>
          <p:cNvSpPr txBox="1"/>
          <p:nvPr/>
        </p:nvSpPr>
        <p:spPr>
          <a:xfrm>
            <a:off x="10093140" y="5356860"/>
            <a:ext cx="1321620" cy="320040"/>
          </a:xfrm>
          <a:prstGeom prst="rect">
            <a:avLst/>
          </a:prstGeom>
          <a:noFill/>
        </p:spPr>
        <p:txBody>
          <a:bodyPr wrap="none" lIns="0" tIns="0" rIns="0" bIns="0" anchor="ctr">
            <a:noAutofit/>
          </a:bodyPr>
          <a:lstStyle/>
          <a:p>
            <a:pPr algn="ctr"/>
            <a:r>
              <a:rPr sz="919" b="1" lang="id-ID">
                <a:solidFill>
                  <a:srgbClr val="1A1A1A"/>
                </a:solidFill>
                <a:latin typeface="Roboto"/>
              </a:rPr>
              <a:t>14</a:t>
            </a:r>
          </a:p>
        </p:txBody>
      </p:sp>
      <p:sp>
        <p:nvSpPr>
          <p:cNvPr id="111" name="Rounded Rectangle 110"/>
          <p:cNvSpPr/>
          <p:nvPr/>
        </p:nvSpPr>
        <p:spPr>
          <a:xfrm>
            <a:off x="675640" y="5727700"/>
            <a:ext cx="10840720" cy="266700"/>
          </a:xfrm>
          <a:prstGeom prst="roundRect">
            <a:avLst>
              <a:gd name="adj" fmla="val 14285"/>
            </a:avLst>
          </a:prstGeom>
          <a:solidFill>
            <a:srgbClr val="051C2C"/>
          </a:solidFill>
          <a:ln>
            <a:noFill/>
          </a:ln>
        </p:spPr>
        <p:txBody>
          <a:bodyPr rtlCol="0" anchor="ctr"/>
          <a:lstStyle/>
          <a:p>
            <a:pPr algn="ctr"/>
          </a:p>
        </p:txBody>
      </p:sp>
      <p:sp>
        <p:nvSpPr>
          <p:cNvPr id="112" name="TextBox 111"/>
          <p:cNvSpPr txBox="1"/>
          <p:nvPr/>
        </p:nvSpPr>
        <p:spPr>
          <a:xfrm>
            <a:off x="951230" y="5727700"/>
            <a:ext cx="4336288" cy="266700"/>
          </a:xfrm>
          <a:prstGeom prst="rect">
            <a:avLst/>
          </a:prstGeom>
          <a:noFill/>
        </p:spPr>
        <p:txBody>
          <a:bodyPr wrap="none" lIns="0" tIns="0" rIns="0" bIns="0" anchor="ctr">
            <a:noAutofit/>
          </a:bodyPr>
          <a:lstStyle/>
          <a:p>
            <a:pPr algn="l"/>
            <a:r>
              <a:rPr sz="919" b="1" lang="id-ID">
                <a:solidFill>
                  <a:srgbClr val="FFFFFF"/>
                </a:solidFill>
                <a:latin typeface="Roboto"/>
              </a:rPr>
              <a:t>Jumlah</a:t>
            </a:r>
          </a:p>
        </p:txBody>
      </p:sp>
      <p:sp>
        <p:nvSpPr>
          <p:cNvPr id="113" name="TextBox 112"/>
          <p:cNvSpPr txBox="1"/>
          <p:nvPr/>
        </p:nvSpPr>
        <p:spPr>
          <a:xfrm>
            <a:off x="5287518" y="5727700"/>
            <a:ext cx="1074874" cy="266700"/>
          </a:xfrm>
          <a:prstGeom prst="rect">
            <a:avLst/>
          </a:prstGeom>
          <a:noFill/>
        </p:spPr>
        <p:txBody>
          <a:bodyPr wrap="none" lIns="0" tIns="0" rIns="0" bIns="0" anchor="ctr">
            <a:noAutofit/>
          </a:bodyPr>
          <a:lstStyle/>
          <a:p>
            <a:pPr algn="ctr"/>
            <a:r>
              <a:rPr sz="919" b="1" lang="id-ID">
                <a:solidFill>
                  <a:srgbClr val="FFFFFF"/>
                </a:solidFill>
                <a:latin typeface="Roboto"/>
              </a:rPr>
              <a:t>2.204</a:t>
            </a:r>
          </a:p>
        </p:txBody>
      </p:sp>
      <p:sp>
        <p:nvSpPr>
          <p:cNvPr id="114" name="TextBox 113"/>
          <p:cNvSpPr txBox="1"/>
          <p:nvPr/>
        </p:nvSpPr>
        <p:spPr>
          <a:xfrm>
            <a:off x="7422732" y="5727700"/>
            <a:ext cx="1284227" cy="266700"/>
          </a:xfrm>
          <a:prstGeom prst="rect">
            <a:avLst/>
          </a:prstGeom>
          <a:noFill/>
        </p:spPr>
        <p:txBody>
          <a:bodyPr wrap="none" lIns="0" tIns="0" rIns="0" bIns="0" anchor="ctr">
            <a:noAutofit/>
          </a:bodyPr>
          <a:lstStyle/>
          <a:p>
            <a:pPr algn="ctr"/>
            <a:r>
              <a:rPr sz="919" b="1" lang="id-ID">
                <a:solidFill>
                  <a:srgbClr val="FFFFFF"/>
                </a:solidFill>
                <a:latin typeface="Roboto"/>
              </a:rPr>
              <a:t>427</a:t>
            </a:r>
          </a:p>
        </p:txBody>
      </p:sp>
      <p:sp>
        <p:nvSpPr>
          <p:cNvPr id="115" name="TextBox 114"/>
          <p:cNvSpPr txBox="1"/>
          <p:nvPr/>
        </p:nvSpPr>
        <p:spPr>
          <a:xfrm>
            <a:off x="8808559" y="5727700"/>
            <a:ext cx="1182982" cy="266700"/>
          </a:xfrm>
          <a:prstGeom prst="rect">
            <a:avLst/>
          </a:prstGeom>
          <a:noFill/>
        </p:spPr>
        <p:txBody>
          <a:bodyPr wrap="none" lIns="0" tIns="0" rIns="0" bIns="0" anchor="ctr">
            <a:noAutofit/>
          </a:bodyPr>
          <a:lstStyle/>
          <a:p>
            <a:pPr algn="ctr"/>
            <a:r>
              <a:rPr sz="919" b="1" lang="id-ID">
                <a:solidFill>
                  <a:srgbClr val="FFFFFF"/>
                </a:solidFill>
                <a:latin typeface="Roboto"/>
              </a:rPr>
              <a:t>246.461</a:t>
            </a:r>
          </a:p>
        </p:txBody>
      </p:sp>
      <p:sp>
        <p:nvSpPr>
          <p:cNvPr id="116" name="TextBox 115"/>
          <p:cNvSpPr txBox="1"/>
          <p:nvPr/>
        </p:nvSpPr>
        <p:spPr>
          <a:xfrm>
            <a:off x="10093140" y="5727700"/>
            <a:ext cx="1321620" cy="266700"/>
          </a:xfrm>
          <a:prstGeom prst="rect">
            <a:avLst/>
          </a:prstGeom>
          <a:noFill/>
        </p:spPr>
        <p:txBody>
          <a:bodyPr wrap="none" lIns="0" tIns="0" rIns="0" bIns="0" anchor="ctr">
            <a:noAutofit/>
          </a:bodyPr>
          <a:lstStyle/>
          <a:p>
            <a:pPr algn="ctr"/>
            <a:r>
              <a:rPr sz="919" b="1" lang="id-ID">
                <a:solidFill>
                  <a:srgbClr val="FFFFFF"/>
                </a:solidFill>
                <a:latin typeface="Roboto"/>
              </a:rPr>
              <a:t>163.526</a:t>
            </a:r>
          </a:p>
        </p:txBody>
      </p:sp>
      <p:sp>
        <p:nvSpPr>
          <p:cNvPr id="117" name="Rectangle 116"/>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118" name="TextBox 117"/>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DIBI BNPB 2026 (sementara); Laporan Kejadian Bencana Harian BNPB, Oktober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642600" cy="825500"/>
          </a:xfrm>
          <a:prstGeom prst="rect">
            <a:avLst/>
          </a:prstGeom>
          <a:noFill/>
        </p:spPr>
        <p:txBody>
          <a:bodyPr wrap="square" lIns="0" tIns="0" rIns="0" bIns="0" anchor="b">
            <a:noAutofit/>
          </a:bodyPr>
          <a:lstStyle/>
          <a:p>
            <a:pPr algn="l">
              <a:lnSpc>
                <a:spcPct val="95000"/>
              </a:lnSpc>
            </a:pPr>
            <a:r>
              <a:rPr sz="2200" b="1" lang="id-ID">
                <a:solidFill>
                  <a:srgbClr val="1A1A1A"/>
                </a:solidFill>
                <a:latin typeface="Roboto"/>
              </a:rPr>
              <a:t>Berdasarkan data 26 Oktober 2026, terdapat</a:t>
            </a:r>
            <a:r>
              <a:rPr sz="2200" b="1" lang="id-ID">
                <a:solidFill>
                  <a:srgbClr val="D9600B"/>
                </a:solidFill>
                <a:latin typeface="Roboto"/>
              </a:rPr>
              <a:t> 1.650 </a:t>
            </a:r>
            <a:r>
              <a:rPr sz="2200" b="1" i="1" lang="id-ID">
                <a:solidFill>
                  <a:srgbClr val="D9600B"/>
                </a:solidFill>
                <a:latin typeface="Roboto"/>
              </a:rPr>
              <a:t>firespot</a:t>
            </a:r>
            <a:r>
              <a:rPr sz="2200" b="1" lang="id-ID">
                <a:solidFill>
                  <a:srgbClr val="1A1A1A"/>
                </a:solidFill>
                <a:latin typeface="Roboto"/>
              </a:rPr>
              <a:t>, mayoritas (</a:t>
            </a:r>
            <a:r>
              <a:rPr sz="2200" b="1" lang="id-ID">
                <a:solidFill>
                  <a:srgbClr val="D9600B"/>
                </a:solidFill>
                <a:latin typeface="Roboto"/>
              </a:rPr>
              <a:t>82%</a:t>
            </a:r>
            <a:r>
              <a:rPr sz="2200" b="1" lang="id-ID">
                <a:solidFill>
                  <a:srgbClr val="1A1A1A"/>
                </a:solidFill>
                <a:latin typeface="Roboto"/>
              </a:rPr>
              <a:t>)</a:t>
            </a:r>
            <a:br/>
            <a:r>
              <a:rPr sz="2200" b="1" lang="id-ID">
                <a:solidFill>
                  <a:srgbClr val="1A1A1A"/>
                </a:solidFill>
                <a:latin typeface="Roboto"/>
              </a:rPr>
              <a:t>terdapat di</a:t>
            </a:r>
            <a:r>
              <a:rPr sz="2200" b="1" lang="id-ID">
                <a:solidFill>
                  <a:srgbClr val="D9600B"/>
                </a:solidFill>
                <a:latin typeface="Roboto"/>
              </a:rPr>
              <a:t> 3 provinsi</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5</a:t>
            </a:r>
          </a:p>
        </p:txBody>
      </p:sp>
      <p:sp>
        <p:nvSpPr>
          <p:cNvPr id="8" name="Rounded Rectangle 7"/>
          <p:cNvSpPr/>
          <p:nvPr/>
        </p:nvSpPr>
        <p:spPr>
          <a:xfrm>
            <a:off x="548640" y="1282700"/>
            <a:ext cx="11094720" cy="927100"/>
          </a:xfrm>
          <a:prstGeom prst="roundRect">
            <a:avLst>
              <a:gd name="adj" fmla="val 7945"/>
            </a:avLst>
          </a:prstGeom>
          <a:solidFill>
            <a:srgbClr val="F3F5F8"/>
          </a:solidFill>
          <a:ln>
            <a:noFill/>
          </a:ln>
        </p:spPr>
        <p:txBody>
          <a:bodyPr rtlCol="0" anchor="ctr"/>
          <a:lstStyle/>
          <a:p>
            <a:pPr algn="ctr"/>
          </a:p>
        </p:txBody>
      </p:sp>
      <p:sp>
        <p:nvSpPr>
          <p:cNvPr id="9" name="Rounded Rectangle 8"/>
          <p:cNvSpPr/>
          <p:nvPr/>
        </p:nvSpPr>
        <p:spPr>
          <a:xfrm>
            <a:off x="658368" y="1337310"/>
            <a:ext cx="1693572" cy="182880"/>
          </a:xfrm>
          <a:prstGeom prst="roundRect">
            <a:avLst>
              <a:gd name="adj" fmla="val 50000"/>
            </a:avLst>
          </a:prstGeom>
          <a:solidFill>
            <a:srgbClr val="051C2C"/>
          </a:solidFill>
          <a:ln>
            <a:noFill/>
          </a:ln>
        </p:spPr>
        <p:txBody>
          <a:bodyPr rtlCol="0" anchor="ctr" wrap="none" lIns="259690" tIns="0" rIns="0" bIns="0">
            <a:noAutofit/>
          </a:bodyPr>
          <a:lstStyle/>
          <a:p>
            <a:pPr algn="l"/>
            <a:r>
              <a:rPr sz="760" b="1" lang="id-ID" spc="100">
                <a:solidFill>
                  <a:srgbClr val="FFFFFF"/>
                </a:solidFill>
                <a:latin typeface="Roboto"/>
              </a:rPr>
              <a:t>DATA 26 OKTOBER 2026</a:t>
            </a:r>
          </a:p>
        </p:txBody>
      </p:sp>
      <p:pic>
        <p:nvPicPr>
          <p:cNvPr id="10" name="Picture 9" descr="karhutla-FFFFFF-1955759a.png"/>
          <p:cNvPicPr>
            <a:picLocks noChangeAspect="1"/>
          </p:cNvPicPr>
          <p:nvPr/>
        </p:nvPicPr>
        <p:blipFill>
          <a:blip r:embed="rId3"/>
          <a:stretch>
            <a:fillRect/>
          </a:stretch>
        </p:blipFill>
        <p:spPr>
          <a:xfrm>
            <a:off x="749808" y="1372057"/>
            <a:ext cx="113386" cy="113386"/>
          </a:xfrm>
          <a:prstGeom prst="rect">
            <a:avLst/>
          </a:prstGeom>
        </p:spPr>
      </p:pic>
      <p:sp>
        <p:nvSpPr>
          <p:cNvPr id="11" name="Rounded Rectangle 10"/>
          <p:cNvSpPr/>
          <p:nvPr/>
        </p:nvSpPr>
        <p:spPr>
          <a:xfrm>
            <a:off x="658368" y="1593850"/>
            <a:ext cx="5391912"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2" name="Oval 11"/>
          <p:cNvSpPr/>
          <p:nvPr/>
        </p:nvSpPr>
        <p:spPr>
          <a:xfrm>
            <a:off x="767588" y="1682750"/>
            <a:ext cx="330200" cy="330200"/>
          </a:xfrm>
          <a:prstGeom prst="ellipse">
            <a:avLst/>
          </a:prstGeom>
          <a:solidFill>
            <a:srgbClr val="E6EAF0"/>
          </a:solidFill>
          <a:ln>
            <a:noFill/>
          </a:ln>
        </p:spPr>
        <p:txBody>
          <a:bodyPr rtlCol="0" anchor="ctr"/>
          <a:lstStyle/>
          <a:p>
            <a:pPr algn="ctr"/>
          </a:p>
        </p:txBody>
      </p:sp>
      <p:pic>
        <p:nvPicPr>
          <p:cNvPr id="13" name="Picture 12" descr="karhutla-051C2C-1955759a.png"/>
          <p:cNvPicPr>
            <a:picLocks noChangeAspect="1"/>
          </p:cNvPicPr>
          <p:nvPr/>
        </p:nvPicPr>
        <p:blipFill>
          <a:blip r:embed="rId4"/>
          <a:stretch>
            <a:fillRect/>
          </a:stretch>
        </p:blipFill>
        <p:spPr>
          <a:xfrm>
            <a:off x="843788" y="1758950"/>
            <a:ext cx="177800" cy="177800"/>
          </a:xfrm>
          <a:prstGeom prst="rect">
            <a:avLst/>
          </a:prstGeom>
        </p:spPr>
      </p:pic>
      <p:sp>
        <p:nvSpPr>
          <p:cNvPr id="14" name="TextBox 13"/>
          <p:cNvSpPr txBox="1"/>
          <p:nvPr/>
        </p:nvSpPr>
        <p:spPr>
          <a:xfrm>
            <a:off x="1170178" y="1630680"/>
            <a:ext cx="4770882" cy="274320"/>
          </a:xfrm>
          <a:prstGeom prst="rect">
            <a:avLst/>
          </a:prstGeom>
          <a:noFill/>
        </p:spPr>
        <p:txBody>
          <a:bodyPr wrap="none" lIns="0" tIns="0" rIns="0" bIns="0" anchor="ctr">
            <a:noAutofit/>
          </a:bodyPr>
          <a:lstStyle/>
          <a:p>
            <a:pPr algn="l"/>
            <a:r>
              <a:rPr sz="1950" b="1" lang="id-ID">
                <a:solidFill>
                  <a:srgbClr val="051C2C"/>
                </a:solidFill>
                <a:latin typeface="Roboto"/>
              </a:rPr>
              <a:t>2.935</a:t>
            </a:r>
          </a:p>
        </p:txBody>
      </p:sp>
      <p:sp>
        <p:nvSpPr>
          <p:cNvPr id="15" name="TextBox 14"/>
          <p:cNvSpPr txBox="1"/>
          <p:nvPr/>
        </p:nvSpPr>
        <p:spPr>
          <a:xfrm>
            <a:off x="1170178" y="1896110"/>
            <a:ext cx="4770882" cy="154940"/>
          </a:xfrm>
          <a:prstGeom prst="rect">
            <a:avLst/>
          </a:prstGeom>
          <a:noFill/>
        </p:spPr>
        <p:txBody>
          <a:bodyPr wrap="none" lIns="0" tIns="0" rIns="0" bIns="0" anchor="ctr">
            <a:noAutofit/>
          </a:bodyPr>
          <a:lstStyle/>
          <a:p>
            <a:pPr algn="l"/>
            <a:r>
              <a:rPr sz="860" b="0" i="1" lang="id-ID">
                <a:solidFill>
                  <a:srgbClr val="2E3440"/>
                </a:solidFill>
                <a:latin typeface="Roboto"/>
              </a:rPr>
              <a:t>hotspot</a:t>
            </a:r>
          </a:p>
        </p:txBody>
      </p:sp>
      <p:sp>
        <p:nvSpPr>
          <p:cNvPr id="16" name="Rounded Rectangle 15"/>
          <p:cNvSpPr/>
          <p:nvPr/>
        </p:nvSpPr>
        <p:spPr>
          <a:xfrm>
            <a:off x="6141720" y="1593850"/>
            <a:ext cx="5391912"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7" name="Oval 16"/>
          <p:cNvSpPr/>
          <p:nvPr/>
        </p:nvSpPr>
        <p:spPr>
          <a:xfrm>
            <a:off x="6250940" y="1682750"/>
            <a:ext cx="330200" cy="330200"/>
          </a:xfrm>
          <a:prstGeom prst="ellipse">
            <a:avLst/>
          </a:prstGeom>
          <a:solidFill>
            <a:srgbClr val="E6EAF0"/>
          </a:solidFill>
          <a:ln>
            <a:noFill/>
          </a:ln>
        </p:spPr>
        <p:txBody>
          <a:bodyPr rtlCol="0" anchor="ctr"/>
          <a:lstStyle/>
          <a:p>
            <a:pPr algn="ctr"/>
          </a:p>
        </p:txBody>
      </p:sp>
      <p:pic>
        <p:nvPicPr>
          <p:cNvPr id="18" name="Picture 17" descr="karhutla-051C2C-1955759a.png"/>
          <p:cNvPicPr>
            <a:picLocks noChangeAspect="1"/>
          </p:cNvPicPr>
          <p:nvPr/>
        </p:nvPicPr>
        <p:blipFill>
          <a:blip r:embed="rId4"/>
          <a:stretch>
            <a:fillRect/>
          </a:stretch>
        </p:blipFill>
        <p:spPr>
          <a:xfrm>
            <a:off x="6327140" y="1758950"/>
            <a:ext cx="177800" cy="177800"/>
          </a:xfrm>
          <a:prstGeom prst="rect">
            <a:avLst/>
          </a:prstGeom>
        </p:spPr>
      </p:pic>
      <p:sp>
        <p:nvSpPr>
          <p:cNvPr id="19" name="TextBox 18"/>
          <p:cNvSpPr txBox="1"/>
          <p:nvPr/>
        </p:nvSpPr>
        <p:spPr>
          <a:xfrm>
            <a:off x="6653530" y="1630680"/>
            <a:ext cx="4770882" cy="274320"/>
          </a:xfrm>
          <a:prstGeom prst="rect">
            <a:avLst/>
          </a:prstGeom>
          <a:noFill/>
        </p:spPr>
        <p:txBody>
          <a:bodyPr wrap="none" lIns="0" tIns="0" rIns="0" bIns="0" anchor="ctr">
            <a:noAutofit/>
          </a:bodyPr>
          <a:lstStyle/>
          <a:p>
            <a:pPr algn="l"/>
            <a:r>
              <a:rPr sz="1950" b="1" lang="id-ID">
                <a:solidFill>
                  <a:srgbClr val="051C2C"/>
                </a:solidFill>
                <a:latin typeface="Roboto"/>
              </a:rPr>
              <a:t>1.650</a:t>
            </a:r>
          </a:p>
        </p:txBody>
      </p:sp>
      <p:sp>
        <p:nvSpPr>
          <p:cNvPr id="20" name="TextBox 19"/>
          <p:cNvSpPr txBox="1"/>
          <p:nvPr/>
        </p:nvSpPr>
        <p:spPr>
          <a:xfrm>
            <a:off x="6653530" y="1896110"/>
            <a:ext cx="4770882" cy="154940"/>
          </a:xfrm>
          <a:prstGeom prst="rect">
            <a:avLst/>
          </a:prstGeom>
          <a:noFill/>
        </p:spPr>
        <p:txBody>
          <a:bodyPr wrap="none" lIns="0" tIns="0" rIns="0" bIns="0" anchor="ctr">
            <a:noAutofit/>
          </a:bodyPr>
          <a:lstStyle/>
          <a:p>
            <a:pPr algn="l"/>
            <a:r>
              <a:rPr sz="860" b="0" i="1" lang="id-ID">
                <a:solidFill>
                  <a:srgbClr val="2E3440"/>
                </a:solidFill>
                <a:latin typeface="Roboto"/>
              </a:rPr>
              <a:t>firespot</a:t>
            </a:r>
          </a:p>
        </p:txBody>
      </p:sp>
      <p:sp>
        <p:nvSpPr>
          <p:cNvPr id="21" name="Rounded Rectangle 20"/>
          <p:cNvSpPr/>
          <p:nvPr/>
        </p:nvSpPr>
        <p:spPr>
          <a:xfrm>
            <a:off x="548640" y="4874578"/>
            <a:ext cx="11094720" cy="1208723"/>
          </a:xfrm>
          <a:prstGeom prst="roundRect">
            <a:avLst>
              <a:gd name="adj" fmla="val 6304"/>
            </a:avLst>
          </a:prstGeom>
          <a:solidFill>
            <a:srgbClr val="F3F5F8"/>
          </a:solidFill>
          <a:ln>
            <a:noFill/>
          </a:ln>
        </p:spPr>
        <p:txBody>
          <a:bodyPr rtlCol="0" anchor="ctr"/>
          <a:lstStyle/>
          <a:p>
            <a:pPr algn="ctr"/>
          </a:p>
        </p:txBody>
      </p:sp>
      <p:sp>
        <p:nvSpPr>
          <p:cNvPr id="22" name="TextBox 21"/>
          <p:cNvSpPr txBox="1"/>
          <p:nvPr/>
        </p:nvSpPr>
        <p:spPr>
          <a:xfrm>
            <a:off x="694690" y="4974018"/>
            <a:ext cx="5547360" cy="246888"/>
          </a:xfrm>
          <a:prstGeom prst="rect">
            <a:avLst/>
          </a:prstGeom>
          <a:noFill/>
        </p:spPr>
        <p:txBody>
          <a:bodyPr wrap="none" lIns="0" tIns="0" rIns="0" bIns="0" anchor="t">
            <a:noAutofit/>
          </a:bodyPr>
          <a:lstStyle/>
          <a:p>
            <a:pPr algn="l"/>
            <a:r>
              <a:rPr sz="860" b="1" lang="id-ID" spc="100">
                <a:solidFill>
                  <a:srgbClr val="051C2C"/>
                </a:solidFill>
                <a:latin typeface="Roboto"/>
              </a:rPr>
              <a:t>SITUASI 26 OKTOBER</a:t>
            </a:r>
          </a:p>
        </p:txBody>
      </p:sp>
      <p:sp>
        <p:nvSpPr>
          <p:cNvPr id="23" name="Oval 22"/>
          <p:cNvSpPr/>
          <p:nvPr/>
        </p:nvSpPr>
        <p:spPr>
          <a:xfrm>
            <a:off x="694690" y="5344350"/>
            <a:ext cx="445770" cy="445770"/>
          </a:xfrm>
          <a:prstGeom prst="ellipse">
            <a:avLst/>
          </a:prstGeom>
          <a:solidFill>
            <a:srgbClr val="051C2C"/>
          </a:solidFill>
          <a:ln>
            <a:noFill/>
          </a:ln>
        </p:spPr>
        <p:txBody>
          <a:bodyPr rtlCol="0" anchor="ctr"/>
          <a:lstStyle/>
          <a:p>
            <a:pPr algn="ctr"/>
          </a:p>
        </p:txBody>
      </p:sp>
      <p:pic>
        <p:nvPicPr>
          <p:cNvPr id="24" name="Picture 23" descr="karhutla-FFFFFF-1955759a.png"/>
          <p:cNvPicPr>
            <a:picLocks noChangeAspect="1"/>
          </p:cNvPicPr>
          <p:nvPr/>
        </p:nvPicPr>
        <p:blipFill>
          <a:blip r:embed="rId3"/>
          <a:stretch>
            <a:fillRect/>
          </a:stretch>
        </p:blipFill>
        <p:spPr>
          <a:xfrm>
            <a:off x="797560" y="5447220"/>
            <a:ext cx="240030" cy="240030"/>
          </a:xfrm>
          <a:prstGeom prst="rect">
            <a:avLst/>
          </a:prstGeom>
        </p:spPr>
      </p:pic>
      <p:sp>
        <p:nvSpPr>
          <p:cNvPr id="25" name="TextBox 24"/>
          <p:cNvSpPr txBox="1"/>
          <p:nvPr/>
        </p:nvSpPr>
        <p:spPr>
          <a:xfrm>
            <a:off x="1262190" y="5268912"/>
            <a:ext cx="2887324" cy="270891"/>
          </a:xfrm>
          <a:prstGeom prst="rect">
            <a:avLst/>
          </a:prstGeom>
          <a:noFill/>
        </p:spPr>
        <p:txBody>
          <a:bodyPr wrap="none" lIns="0" tIns="0" rIns="0" bIns="0" anchor="t">
            <a:noAutofit/>
          </a:bodyPr>
          <a:lstStyle/>
          <a:p>
            <a:pPr algn="l"/>
            <a:r>
              <a:rPr sz="1550" b="1" i="1" lang="id-ID">
                <a:solidFill>
                  <a:srgbClr val="1A1A1A"/>
                </a:solidFill>
                <a:latin typeface="Roboto"/>
              </a:rPr>
              <a:t>Hotspot</a:t>
            </a:r>
            <a:r>
              <a:rPr sz="1550" b="1" lang="id-ID">
                <a:solidFill>
                  <a:srgbClr val="1A1A1A"/>
                </a:solidFill>
                <a:latin typeface="Roboto"/>
              </a:rPr>
              <a:t>*</a:t>
            </a:r>
          </a:p>
        </p:txBody>
      </p:sp>
      <p:sp>
        <p:nvSpPr>
          <p:cNvPr id="26" name="TextBox 25"/>
          <p:cNvSpPr txBox="1"/>
          <p:nvPr/>
        </p:nvSpPr>
        <p:spPr>
          <a:xfrm>
            <a:off x="1262190" y="5543232"/>
            <a:ext cx="2887324" cy="489268"/>
          </a:xfrm>
          <a:prstGeom prst="rect">
            <a:avLst/>
          </a:prstGeom>
          <a:noFill/>
        </p:spPr>
        <p:txBody>
          <a:bodyPr wrap="square" lIns="0" tIns="0" rIns="0" bIns="0" anchor="t">
            <a:noAutofit/>
          </a:bodyPr>
          <a:lstStyle/>
          <a:p>
            <a:pPr algn="just"/>
            <a:r>
              <a:rPr sz="1170" b="1" lang="id-ID">
                <a:solidFill>
                  <a:srgbClr val="2E3440"/>
                </a:solidFill>
                <a:latin typeface="Roboto"/>
              </a:rPr>
              <a:t>2.935 </a:t>
            </a:r>
            <a:r>
              <a:rPr sz="1170" b="1" i="1" lang="id-ID">
                <a:solidFill>
                  <a:srgbClr val="2E3440"/>
                </a:solidFill>
                <a:latin typeface="Roboto"/>
              </a:rPr>
              <a:t>hotspot</a:t>
            </a:r>
            <a:r>
              <a:rPr sz="1170" b="0" lang="id-ID">
                <a:solidFill>
                  <a:srgbClr val="2E3440"/>
                </a:solidFill>
                <a:latin typeface="Roboto"/>
              </a:rPr>
              <a:t> di seluruh Indonesia.</a:t>
            </a:r>
          </a:p>
        </p:txBody>
      </p:sp>
      <p:cxnSp>
        <p:nvCxnSpPr>
          <p:cNvPr id="27" name="Connector 26"/>
          <p:cNvCxnSpPr/>
          <p:nvPr/>
        </p:nvCxnSpPr>
        <p:spPr>
          <a:xfrm>
            <a:off x="4222538" y="5320348"/>
            <a:ext cx="0" cy="660082"/>
          </a:xfrm>
          <a:prstGeom prst="line">
            <a:avLst/>
          </a:prstGeom>
          <a:ln w="9525">
            <a:solidFill>
              <a:srgbClr val="DCE3EB"/>
            </a:solidFill>
          </a:ln>
        </p:spPr>
      </p:cxnSp>
      <p:sp>
        <p:nvSpPr>
          <p:cNvPr id="28" name="Oval 27"/>
          <p:cNvSpPr/>
          <p:nvPr/>
        </p:nvSpPr>
        <p:spPr>
          <a:xfrm>
            <a:off x="4295563" y="5344350"/>
            <a:ext cx="445770" cy="445770"/>
          </a:xfrm>
          <a:prstGeom prst="ellipse">
            <a:avLst/>
          </a:prstGeom>
          <a:solidFill>
            <a:srgbClr val="051C2C"/>
          </a:solidFill>
          <a:ln>
            <a:noFill/>
          </a:ln>
        </p:spPr>
        <p:txBody>
          <a:bodyPr rtlCol="0" anchor="ctr"/>
          <a:lstStyle/>
          <a:p>
            <a:pPr algn="ctr"/>
          </a:p>
        </p:txBody>
      </p:sp>
      <p:pic>
        <p:nvPicPr>
          <p:cNvPr id="29" name="Picture 28" descr="luas-FFFFFF-12322028.png"/>
          <p:cNvPicPr>
            <a:picLocks noChangeAspect="1"/>
          </p:cNvPicPr>
          <p:nvPr/>
        </p:nvPicPr>
        <p:blipFill>
          <a:blip r:embed="rId5"/>
          <a:stretch>
            <a:fillRect/>
          </a:stretch>
        </p:blipFill>
        <p:spPr>
          <a:xfrm>
            <a:off x="4398433" y="5447220"/>
            <a:ext cx="240030" cy="240030"/>
          </a:xfrm>
          <a:prstGeom prst="rect">
            <a:avLst/>
          </a:prstGeom>
        </p:spPr>
      </p:pic>
      <p:sp>
        <p:nvSpPr>
          <p:cNvPr id="30" name="TextBox 29"/>
          <p:cNvSpPr txBox="1"/>
          <p:nvPr/>
        </p:nvSpPr>
        <p:spPr>
          <a:xfrm>
            <a:off x="4863063" y="5268912"/>
            <a:ext cx="2887324" cy="270891"/>
          </a:xfrm>
          <a:prstGeom prst="rect">
            <a:avLst/>
          </a:prstGeom>
          <a:noFill/>
        </p:spPr>
        <p:txBody>
          <a:bodyPr wrap="none" lIns="0" tIns="0" rIns="0" bIns="0" anchor="t">
            <a:noAutofit/>
          </a:bodyPr>
          <a:lstStyle/>
          <a:p>
            <a:pPr algn="l"/>
            <a:r>
              <a:rPr sz="1550" b="1" lang="id-ID">
                <a:solidFill>
                  <a:srgbClr val="1A1A1A"/>
                </a:solidFill>
                <a:latin typeface="Roboto"/>
              </a:rPr>
              <a:t>Luas terbakar*</a:t>
            </a:r>
          </a:p>
        </p:txBody>
      </p:sp>
      <p:sp>
        <p:nvSpPr>
          <p:cNvPr id="31" name="TextBox 30"/>
          <p:cNvSpPr txBox="1"/>
          <p:nvPr/>
        </p:nvSpPr>
        <p:spPr>
          <a:xfrm>
            <a:off x="4863063" y="5543232"/>
            <a:ext cx="2887324" cy="489268"/>
          </a:xfrm>
          <a:prstGeom prst="rect">
            <a:avLst/>
          </a:prstGeom>
          <a:noFill/>
        </p:spPr>
        <p:txBody>
          <a:bodyPr wrap="square" lIns="0" tIns="0" rIns="0" bIns="0" anchor="t">
            <a:noAutofit/>
          </a:bodyPr>
          <a:lstStyle/>
          <a:p>
            <a:pPr algn="just"/>
            <a:r>
              <a:rPr sz="1170" b="0" lang="id-ID">
                <a:solidFill>
                  <a:srgbClr val="2E3440"/>
                </a:solidFill>
                <a:latin typeface="Roboto"/>
              </a:rPr>
              <a:t>±</a:t>
            </a:r>
            <a:r>
              <a:rPr sz="1170" b="1" lang="id-ID">
                <a:solidFill>
                  <a:srgbClr val="2E3440"/>
                </a:solidFill>
                <a:latin typeface="Roboto"/>
              </a:rPr>
              <a:t>5.976 ha</a:t>
            </a:r>
            <a:r>
              <a:rPr sz="1170" b="0" lang="id-ID">
                <a:solidFill>
                  <a:srgbClr val="2E3440"/>
                </a:solidFill>
                <a:latin typeface="Roboto"/>
              </a:rPr>
              <a:t> pada 26 Oktober.</a:t>
            </a:r>
          </a:p>
        </p:txBody>
      </p:sp>
      <p:cxnSp>
        <p:nvCxnSpPr>
          <p:cNvPr id="32" name="Connector 31"/>
          <p:cNvCxnSpPr/>
          <p:nvPr/>
        </p:nvCxnSpPr>
        <p:spPr>
          <a:xfrm>
            <a:off x="7823412" y="5320348"/>
            <a:ext cx="0" cy="660082"/>
          </a:xfrm>
          <a:prstGeom prst="line">
            <a:avLst/>
          </a:prstGeom>
          <a:ln w="9525">
            <a:solidFill>
              <a:srgbClr val="DCE3EB"/>
            </a:solidFill>
          </a:ln>
        </p:spPr>
      </p:cxnSp>
      <p:sp>
        <p:nvSpPr>
          <p:cNvPr id="33" name="Oval 32"/>
          <p:cNvSpPr/>
          <p:nvPr/>
        </p:nvSpPr>
        <p:spPr>
          <a:xfrm>
            <a:off x="7896437" y="5344350"/>
            <a:ext cx="445770" cy="445770"/>
          </a:xfrm>
          <a:prstGeom prst="ellipse">
            <a:avLst/>
          </a:prstGeom>
          <a:solidFill>
            <a:srgbClr val="051C2C"/>
          </a:solidFill>
          <a:ln>
            <a:noFill/>
          </a:ln>
        </p:spPr>
        <p:txBody>
          <a:bodyPr rtlCol="0" anchor="ctr"/>
          <a:lstStyle/>
          <a:p>
            <a:pPr algn="ctr"/>
          </a:p>
        </p:txBody>
      </p:sp>
      <p:pic>
        <p:nvPicPr>
          <p:cNvPr id="34" name="Picture 33" descr="peringatan-FFFFFF-6a80b716.png"/>
          <p:cNvPicPr>
            <a:picLocks noChangeAspect="1"/>
          </p:cNvPicPr>
          <p:nvPr/>
        </p:nvPicPr>
        <p:blipFill>
          <a:blip r:embed="rId6"/>
          <a:stretch>
            <a:fillRect/>
          </a:stretch>
        </p:blipFill>
        <p:spPr>
          <a:xfrm>
            <a:off x="7999307" y="5447220"/>
            <a:ext cx="240030" cy="240030"/>
          </a:xfrm>
          <a:prstGeom prst="rect">
            <a:avLst/>
          </a:prstGeom>
        </p:spPr>
      </p:pic>
      <p:sp>
        <p:nvSpPr>
          <p:cNvPr id="35" name="TextBox 34"/>
          <p:cNvSpPr txBox="1"/>
          <p:nvPr/>
        </p:nvSpPr>
        <p:spPr>
          <a:xfrm>
            <a:off x="8463936" y="5268912"/>
            <a:ext cx="2887324" cy="270891"/>
          </a:xfrm>
          <a:prstGeom prst="rect">
            <a:avLst/>
          </a:prstGeom>
          <a:noFill/>
        </p:spPr>
        <p:txBody>
          <a:bodyPr wrap="none" lIns="0" tIns="0" rIns="0" bIns="0" anchor="t">
            <a:noAutofit/>
          </a:bodyPr>
          <a:lstStyle/>
          <a:p>
            <a:pPr algn="l"/>
            <a:r>
              <a:rPr sz="1550" b="1" lang="id-ID">
                <a:solidFill>
                  <a:srgbClr val="1A1A1A"/>
                </a:solidFill>
                <a:latin typeface="Roboto"/>
              </a:rPr>
              <a:t>Belum padam*</a:t>
            </a:r>
          </a:p>
        </p:txBody>
      </p:sp>
      <p:sp>
        <p:nvSpPr>
          <p:cNvPr id="36" name="TextBox 35"/>
          <p:cNvSpPr txBox="1"/>
          <p:nvPr/>
        </p:nvSpPr>
        <p:spPr>
          <a:xfrm>
            <a:off x="8463936" y="5543232"/>
            <a:ext cx="2887324" cy="489268"/>
          </a:xfrm>
          <a:prstGeom prst="rect">
            <a:avLst/>
          </a:prstGeom>
          <a:noFill/>
        </p:spPr>
        <p:txBody>
          <a:bodyPr wrap="square" lIns="0" tIns="0" rIns="0" bIns="0" anchor="t">
            <a:noAutofit/>
          </a:bodyPr>
          <a:lstStyle/>
          <a:p>
            <a:pPr algn="just"/>
            <a:r>
              <a:rPr sz="1170" b="0" lang="id-ID">
                <a:solidFill>
                  <a:srgbClr val="2E3440"/>
                </a:solidFill>
                <a:latin typeface="Roboto"/>
              </a:rPr>
              <a:t>±</a:t>
            </a:r>
            <a:r>
              <a:rPr sz="1170" b="1" lang="id-ID">
                <a:solidFill>
                  <a:srgbClr val="2E3440"/>
                </a:solidFill>
                <a:latin typeface="Roboto"/>
              </a:rPr>
              <a:t>2.327 ha</a:t>
            </a:r>
            <a:r>
              <a:rPr sz="1170" b="0" lang="id-ID">
                <a:solidFill>
                  <a:srgbClr val="2E3440"/>
                </a:solidFill>
                <a:latin typeface="Roboto"/>
              </a:rPr>
              <a:t> masih ditangani.</a:t>
            </a:r>
          </a:p>
        </p:txBody>
      </p:sp>
      <p:sp>
        <p:nvSpPr>
          <p:cNvPr id="37" name="Rounded Rectangle 36"/>
          <p:cNvSpPr/>
          <p:nvPr/>
        </p:nvSpPr>
        <p:spPr>
          <a:xfrm>
            <a:off x="548640" y="2346960"/>
            <a:ext cx="11094720" cy="2390457"/>
          </a:xfrm>
          <a:prstGeom prst="roundRect">
            <a:avLst>
              <a:gd name="adj" fmla="val 2284"/>
            </a:avLst>
          </a:prstGeom>
          <a:solidFill>
            <a:srgbClr val="FFFFFF"/>
          </a:solidFill>
          <a:ln>
            <a:noFill/>
          </a:ln>
        </p:spPr>
        <p:txBody>
          <a:bodyPr rtlCol="0" anchor="ctr"/>
          <a:lstStyle/>
          <a:p>
            <a:pPr algn="ctr"/>
          </a:p>
        </p:txBody>
      </p:sp>
      <p:sp>
        <p:nvSpPr>
          <p:cNvPr id="38" name="Rounded Rectangle 37"/>
          <p:cNvSpPr/>
          <p:nvPr/>
        </p:nvSpPr>
        <p:spPr>
          <a:xfrm>
            <a:off x="548640" y="2346960"/>
            <a:ext cx="11094720" cy="457200"/>
          </a:xfrm>
          <a:prstGeom prst="roundRect">
            <a:avLst>
              <a:gd name="adj" fmla="val 11944"/>
            </a:avLst>
          </a:prstGeom>
          <a:solidFill>
            <a:srgbClr val="E6EAF0"/>
          </a:solidFill>
          <a:ln>
            <a:noFill/>
          </a:ln>
        </p:spPr>
        <p:txBody>
          <a:bodyPr rtlCol="0" anchor="ctr"/>
          <a:lstStyle/>
          <a:p>
            <a:pPr algn="ctr"/>
          </a:p>
        </p:txBody>
      </p:sp>
      <p:sp>
        <p:nvSpPr>
          <p:cNvPr id="39" name="Rectangle 38"/>
          <p:cNvSpPr/>
          <p:nvPr/>
        </p:nvSpPr>
        <p:spPr>
          <a:xfrm>
            <a:off x="548640" y="2575560"/>
            <a:ext cx="11094720" cy="228600"/>
          </a:xfrm>
          <a:prstGeom prst="rect">
            <a:avLst/>
          </a:prstGeom>
          <a:solidFill>
            <a:srgbClr val="E6EAF0"/>
          </a:solidFill>
          <a:ln>
            <a:noFill/>
          </a:ln>
        </p:spPr>
        <p:txBody>
          <a:bodyPr rtlCol="0" anchor="ctr"/>
          <a:lstStyle/>
          <a:p>
            <a:pPr algn="ctr"/>
          </a:p>
        </p:txBody>
      </p:sp>
      <p:sp>
        <p:nvSpPr>
          <p:cNvPr id="40" name="Rounded Rectangle 39"/>
          <p:cNvSpPr/>
          <p:nvPr/>
        </p:nvSpPr>
        <p:spPr>
          <a:xfrm>
            <a:off x="548640" y="2346960"/>
            <a:ext cx="11094720" cy="2390457"/>
          </a:xfrm>
          <a:prstGeom prst="roundRect">
            <a:avLst>
              <a:gd name="adj" fmla="val 2284"/>
            </a:avLst>
          </a:prstGeom>
          <a:noFill/>
          <a:ln w="9525">
            <a:solidFill>
              <a:srgbClr val="BFC5CC"/>
            </a:solidFill>
          </a:ln>
        </p:spPr>
        <p:txBody>
          <a:bodyPr rtlCol="0" anchor="ctr"/>
          <a:lstStyle/>
          <a:p>
            <a:pPr algn="ctr"/>
          </a:p>
        </p:txBody>
      </p:sp>
      <p:sp>
        <p:nvSpPr>
          <p:cNvPr id="41" name="Oval 40"/>
          <p:cNvSpPr/>
          <p:nvPr/>
        </p:nvSpPr>
        <p:spPr>
          <a:xfrm>
            <a:off x="675640" y="2429510"/>
            <a:ext cx="292100" cy="292100"/>
          </a:xfrm>
          <a:prstGeom prst="ellipse">
            <a:avLst/>
          </a:prstGeom>
          <a:solidFill>
            <a:srgbClr val="051C2C"/>
          </a:solidFill>
          <a:ln>
            <a:noFill/>
          </a:ln>
        </p:spPr>
        <p:txBody>
          <a:bodyPr rtlCol="0" anchor="ctr"/>
          <a:lstStyle/>
          <a:p>
            <a:pPr algn="ctr"/>
          </a:p>
        </p:txBody>
      </p:sp>
      <p:pic>
        <p:nvPicPr>
          <p:cNvPr id="42" name="Picture 41" descr="karhutla-FFFFFF-1955759a.png"/>
          <p:cNvPicPr>
            <a:picLocks noChangeAspect="1"/>
          </p:cNvPicPr>
          <p:nvPr/>
        </p:nvPicPr>
        <p:blipFill>
          <a:blip r:embed="rId3"/>
          <a:stretch>
            <a:fillRect/>
          </a:stretch>
        </p:blipFill>
        <p:spPr>
          <a:xfrm>
            <a:off x="732790" y="2486660"/>
            <a:ext cx="177800" cy="177800"/>
          </a:xfrm>
          <a:prstGeom prst="rect">
            <a:avLst/>
          </a:prstGeom>
        </p:spPr>
      </p:pic>
      <p:sp>
        <p:nvSpPr>
          <p:cNvPr id="43" name="TextBox 42"/>
          <p:cNvSpPr txBox="1"/>
          <p:nvPr/>
        </p:nvSpPr>
        <p:spPr>
          <a:xfrm>
            <a:off x="1056640" y="2346960"/>
            <a:ext cx="10332720" cy="457200"/>
          </a:xfrm>
          <a:prstGeom prst="rect">
            <a:avLst/>
          </a:prstGeom>
          <a:noFill/>
        </p:spPr>
        <p:txBody>
          <a:bodyPr wrap="none" lIns="0" tIns="0" rIns="0" bIns="0" anchor="ctr">
            <a:noAutofit/>
          </a:bodyPr>
          <a:lstStyle/>
          <a:p>
            <a:pPr algn="l"/>
            <a:r>
              <a:rPr sz="1260" b="1" i="1" lang="id-ID">
                <a:solidFill>
                  <a:srgbClr val="1A1A1A"/>
                </a:solidFill>
                <a:latin typeface="Roboto"/>
              </a:rPr>
              <a:t>Firespot</a:t>
            </a:r>
            <a:r>
              <a:rPr sz="1260" b="1" lang="id-ID">
                <a:solidFill>
                  <a:srgbClr val="1A1A1A"/>
                </a:solidFill>
                <a:latin typeface="Roboto"/>
              </a:rPr>
              <a:t> per provinsi, tiga hari terakhir</a:t>
            </a:r>
          </a:p>
        </p:txBody>
      </p:sp>
      <p:sp>
        <p:nvSpPr>
          <p:cNvPr id="44" name="TextBox 43"/>
          <p:cNvSpPr txBox="1"/>
          <p:nvPr/>
        </p:nvSpPr>
        <p:spPr>
          <a:xfrm>
            <a:off x="951230" y="2905760"/>
            <a:ext cx="4285488" cy="210820"/>
          </a:xfrm>
          <a:prstGeom prst="rect">
            <a:avLst/>
          </a:prstGeom>
          <a:noFill/>
        </p:spPr>
        <p:txBody>
          <a:bodyPr wrap="none" lIns="0" tIns="0" rIns="0" bIns="0" anchor="ctr">
            <a:noAutofit/>
          </a:bodyPr>
          <a:lstStyle/>
          <a:p>
            <a:pPr algn="ctr"/>
            <a:r>
              <a:rPr sz="750" b="1" lang="id-ID" spc="80">
                <a:solidFill>
                  <a:srgbClr val="6B7280"/>
                </a:solidFill>
                <a:latin typeface="Roboto"/>
              </a:rPr>
              <a:t>PROVINSI</a:t>
            </a:r>
          </a:p>
        </p:txBody>
      </p:sp>
      <p:sp>
        <p:nvSpPr>
          <p:cNvPr id="45" name="TextBox 44"/>
          <p:cNvSpPr txBox="1"/>
          <p:nvPr/>
        </p:nvSpPr>
        <p:spPr>
          <a:xfrm>
            <a:off x="5287518" y="2905760"/>
            <a:ext cx="1974681" cy="210820"/>
          </a:xfrm>
          <a:prstGeom prst="rect">
            <a:avLst/>
          </a:prstGeom>
          <a:noFill/>
        </p:spPr>
        <p:txBody>
          <a:bodyPr wrap="none" lIns="0" tIns="0" rIns="0" bIns="0" anchor="ctr">
            <a:noAutofit/>
          </a:bodyPr>
          <a:lstStyle/>
          <a:p>
            <a:pPr algn="ctr"/>
            <a:r>
              <a:rPr sz="750" b="1" lang="id-ID" spc="80">
                <a:solidFill>
                  <a:srgbClr val="6B7280"/>
                </a:solidFill>
                <a:latin typeface="Roboto"/>
              </a:rPr>
              <a:t>24 OKT</a:t>
            </a:r>
          </a:p>
        </p:txBody>
      </p:sp>
      <p:sp>
        <p:nvSpPr>
          <p:cNvPr id="46" name="TextBox 45"/>
          <p:cNvSpPr txBox="1"/>
          <p:nvPr/>
        </p:nvSpPr>
        <p:spPr>
          <a:xfrm>
            <a:off x="7363799" y="2905760"/>
            <a:ext cx="1974681" cy="210820"/>
          </a:xfrm>
          <a:prstGeom prst="rect">
            <a:avLst/>
          </a:prstGeom>
          <a:noFill/>
        </p:spPr>
        <p:txBody>
          <a:bodyPr wrap="none" lIns="0" tIns="0" rIns="0" bIns="0" anchor="ctr">
            <a:noAutofit/>
          </a:bodyPr>
          <a:lstStyle/>
          <a:p>
            <a:pPr algn="ctr"/>
            <a:r>
              <a:rPr sz="750" b="1" lang="id-ID" spc="80">
                <a:solidFill>
                  <a:srgbClr val="6B7280"/>
                </a:solidFill>
                <a:latin typeface="Roboto"/>
              </a:rPr>
              <a:t>25 OKT</a:t>
            </a:r>
          </a:p>
        </p:txBody>
      </p:sp>
      <p:sp>
        <p:nvSpPr>
          <p:cNvPr id="47" name="TextBox 46"/>
          <p:cNvSpPr txBox="1"/>
          <p:nvPr/>
        </p:nvSpPr>
        <p:spPr>
          <a:xfrm>
            <a:off x="9440079" y="2905760"/>
            <a:ext cx="1974681" cy="210820"/>
          </a:xfrm>
          <a:prstGeom prst="rect">
            <a:avLst/>
          </a:prstGeom>
          <a:noFill/>
        </p:spPr>
        <p:txBody>
          <a:bodyPr wrap="none" lIns="0" tIns="0" rIns="0" bIns="0" anchor="ctr">
            <a:noAutofit/>
          </a:bodyPr>
          <a:lstStyle/>
          <a:p>
            <a:pPr algn="ctr"/>
            <a:r>
              <a:rPr sz="750" b="1" lang="id-ID" spc="80">
                <a:solidFill>
                  <a:srgbClr val="6B7280"/>
                </a:solidFill>
                <a:latin typeface="Roboto"/>
              </a:rPr>
              <a:t>26 OKT</a:t>
            </a:r>
          </a:p>
        </p:txBody>
      </p:sp>
      <p:cxnSp>
        <p:nvCxnSpPr>
          <p:cNvPr id="48" name="Connector 47"/>
          <p:cNvCxnSpPr/>
          <p:nvPr/>
        </p:nvCxnSpPr>
        <p:spPr>
          <a:xfrm>
            <a:off x="675640" y="3116580"/>
            <a:ext cx="10840720" cy="0"/>
          </a:xfrm>
          <a:prstGeom prst="line">
            <a:avLst/>
          </a:prstGeom>
          <a:ln w="9525">
            <a:solidFill>
              <a:srgbClr val="1A1A1A"/>
            </a:solidFill>
          </a:ln>
        </p:spPr>
      </p:cxnSp>
      <p:sp>
        <p:nvSpPr>
          <p:cNvPr id="49" name="Oval 48"/>
          <p:cNvSpPr/>
          <p:nvPr/>
        </p:nvSpPr>
        <p:spPr>
          <a:xfrm>
            <a:off x="675640" y="3135630"/>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1</a:t>
            </a:r>
          </a:p>
        </p:txBody>
      </p:sp>
      <p:sp>
        <p:nvSpPr>
          <p:cNvPr id="50" name="TextBox 49"/>
          <p:cNvSpPr txBox="1"/>
          <p:nvPr/>
        </p:nvSpPr>
        <p:spPr>
          <a:xfrm>
            <a:off x="951230" y="3116580"/>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Kalimantan Tengah</a:t>
            </a:r>
          </a:p>
        </p:txBody>
      </p:sp>
      <p:sp>
        <p:nvSpPr>
          <p:cNvPr id="51" name="TextBox 50"/>
          <p:cNvSpPr txBox="1"/>
          <p:nvPr/>
        </p:nvSpPr>
        <p:spPr>
          <a:xfrm>
            <a:off x="5287518" y="3116580"/>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5.921</a:t>
            </a:r>
          </a:p>
        </p:txBody>
      </p:sp>
      <p:sp>
        <p:nvSpPr>
          <p:cNvPr id="52" name="TextBox 51"/>
          <p:cNvSpPr txBox="1"/>
          <p:nvPr/>
        </p:nvSpPr>
        <p:spPr>
          <a:xfrm>
            <a:off x="7363799" y="3116580"/>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1.156</a:t>
            </a:r>
          </a:p>
        </p:txBody>
      </p:sp>
      <p:sp>
        <p:nvSpPr>
          <p:cNvPr id="53" name="TextBox 52"/>
          <p:cNvSpPr txBox="1"/>
          <p:nvPr/>
        </p:nvSpPr>
        <p:spPr>
          <a:xfrm>
            <a:off x="9440079" y="3116580"/>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1.076</a:t>
            </a:r>
          </a:p>
        </p:txBody>
      </p:sp>
      <p:cxnSp>
        <p:nvCxnSpPr>
          <p:cNvPr id="54" name="Connector 53"/>
          <p:cNvCxnSpPr/>
          <p:nvPr/>
        </p:nvCxnSpPr>
        <p:spPr>
          <a:xfrm>
            <a:off x="675640" y="3308072"/>
            <a:ext cx="10840720" cy="0"/>
          </a:xfrm>
          <a:prstGeom prst="line">
            <a:avLst/>
          </a:prstGeom>
          <a:ln w="6350">
            <a:solidFill>
              <a:srgbClr val="E6EAF0"/>
            </a:solidFill>
          </a:ln>
        </p:spPr>
      </p:cxnSp>
      <p:sp>
        <p:nvSpPr>
          <p:cNvPr id="55" name="Oval 54"/>
          <p:cNvSpPr/>
          <p:nvPr/>
        </p:nvSpPr>
        <p:spPr>
          <a:xfrm>
            <a:off x="675640" y="3327122"/>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2</a:t>
            </a:r>
          </a:p>
        </p:txBody>
      </p:sp>
      <p:sp>
        <p:nvSpPr>
          <p:cNvPr id="56" name="TextBox 55"/>
          <p:cNvSpPr txBox="1"/>
          <p:nvPr/>
        </p:nvSpPr>
        <p:spPr>
          <a:xfrm>
            <a:off x="951230" y="3308072"/>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Kalimantan Barat</a:t>
            </a:r>
          </a:p>
        </p:txBody>
      </p:sp>
      <p:sp>
        <p:nvSpPr>
          <p:cNvPr id="57" name="TextBox 56"/>
          <p:cNvSpPr txBox="1"/>
          <p:nvPr/>
        </p:nvSpPr>
        <p:spPr>
          <a:xfrm>
            <a:off x="5287518" y="3308072"/>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787</a:t>
            </a:r>
          </a:p>
        </p:txBody>
      </p:sp>
      <p:sp>
        <p:nvSpPr>
          <p:cNvPr id="58" name="TextBox 57"/>
          <p:cNvSpPr txBox="1"/>
          <p:nvPr/>
        </p:nvSpPr>
        <p:spPr>
          <a:xfrm>
            <a:off x="7363799" y="3308072"/>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342</a:t>
            </a:r>
          </a:p>
        </p:txBody>
      </p:sp>
      <p:sp>
        <p:nvSpPr>
          <p:cNvPr id="59" name="TextBox 58"/>
          <p:cNvSpPr txBox="1"/>
          <p:nvPr/>
        </p:nvSpPr>
        <p:spPr>
          <a:xfrm>
            <a:off x="9440079" y="3308072"/>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203</a:t>
            </a:r>
          </a:p>
        </p:txBody>
      </p:sp>
      <p:cxnSp>
        <p:nvCxnSpPr>
          <p:cNvPr id="60" name="Connector 59"/>
          <p:cNvCxnSpPr/>
          <p:nvPr/>
        </p:nvCxnSpPr>
        <p:spPr>
          <a:xfrm>
            <a:off x="675640" y="3499564"/>
            <a:ext cx="10840720" cy="0"/>
          </a:xfrm>
          <a:prstGeom prst="line">
            <a:avLst/>
          </a:prstGeom>
          <a:ln w="6350">
            <a:solidFill>
              <a:srgbClr val="E6EAF0"/>
            </a:solidFill>
          </a:ln>
        </p:spPr>
      </p:cxnSp>
      <p:sp>
        <p:nvSpPr>
          <p:cNvPr id="61" name="Oval 60"/>
          <p:cNvSpPr/>
          <p:nvPr/>
        </p:nvSpPr>
        <p:spPr>
          <a:xfrm>
            <a:off x="675640" y="3518614"/>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3</a:t>
            </a:r>
          </a:p>
        </p:txBody>
      </p:sp>
      <p:sp>
        <p:nvSpPr>
          <p:cNvPr id="62" name="TextBox 61"/>
          <p:cNvSpPr txBox="1"/>
          <p:nvPr/>
        </p:nvSpPr>
        <p:spPr>
          <a:xfrm>
            <a:off x="951230" y="3499564"/>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Kalimantan Timur</a:t>
            </a:r>
          </a:p>
        </p:txBody>
      </p:sp>
      <p:sp>
        <p:nvSpPr>
          <p:cNvPr id="63" name="TextBox 62"/>
          <p:cNvSpPr txBox="1"/>
          <p:nvPr/>
        </p:nvSpPr>
        <p:spPr>
          <a:xfrm>
            <a:off x="5287518" y="3499564"/>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65</a:t>
            </a:r>
          </a:p>
        </p:txBody>
      </p:sp>
      <p:sp>
        <p:nvSpPr>
          <p:cNvPr id="64" name="TextBox 63"/>
          <p:cNvSpPr txBox="1"/>
          <p:nvPr/>
        </p:nvSpPr>
        <p:spPr>
          <a:xfrm>
            <a:off x="7363799" y="3499564"/>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90</a:t>
            </a:r>
          </a:p>
        </p:txBody>
      </p:sp>
      <p:sp>
        <p:nvSpPr>
          <p:cNvPr id="65" name="TextBox 64"/>
          <p:cNvSpPr txBox="1"/>
          <p:nvPr/>
        </p:nvSpPr>
        <p:spPr>
          <a:xfrm>
            <a:off x="9440079" y="3499564"/>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77</a:t>
            </a:r>
          </a:p>
        </p:txBody>
      </p:sp>
      <p:cxnSp>
        <p:nvCxnSpPr>
          <p:cNvPr id="66" name="Connector 65"/>
          <p:cNvCxnSpPr/>
          <p:nvPr/>
        </p:nvCxnSpPr>
        <p:spPr>
          <a:xfrm>
            <a:off x="675640" y="3691057"/>
            <a:ext cx="10840720" cy="0"/>
          </a:xfrm>
          <a:prstGeom prst="line">
            <a:avLst/>
          </a:prstGeom>
          <a:ln w="6350">
            <a:solidFill>
              <a:srgbClr val="E6EAF0"/>
            </a:solidFill>
          </a:ln>
        </p:spPr>
      </p:cxnSp>
      <p:sp>
        <p:nvSpPr>
          <p:cNvPr id="67" name="Oval 66"/>
          <p:cNvSpPr/>
          <p:nvPr/>
        </p:nvSpPr>
        <p:spPr>
          <a:xfrm>
            <a:off x="675640" y="3710107"/>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4</a:t>
            </a:r>
          </a:p>
        </p:txBody>
      </p:sp>
      <p:sp>
        <p:nvSpPr>
          <p:cNvPr id="68" name="TextBox 67"/>
          <p:cNvSpPr txBox="1"/>
          <p:nvPr/>
        </p:nvSpPr>
        <p:spPr>
          <a:xfrm>
            <a:off x="951230" y="3691057"/>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Kalimantan Selatan</a:t>
            </a:r>
          </a:p>
        </p:txBody>
      </p:sp>
      <p:sp>
        <p:nvSpPr>
          <p:cNvPr id="69" name="TextBox 68"/>
          <p:cNvSpPr txBox="1"/>
          <p:nvPr/>
        </p:nvSpPr>
        <p:spPr>
          <a:xfrm>
            <a:off x="5287518" y="3691057"/>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209</a:t>
            </a:r>
          </a:p>
        </p:txBody>
      </p:sp>
      <p:sp>
        <p:nvSpPr>
          <p:cNvPr id="70" name="TextBox 69"/>
          <p:cNvSpPr txBox="1"/>
          <p:nvPr/>
        </p:nvSpPr>
        <p:spPr>
          <a:xfrm>
            <a:off x="7363799" y="3691057"/>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48</a:t>
            </a:r>
          </a:p>
        </p:txBody>
      </p:sp>
      <p:sp>
        <p:nvSpPr>
          <p:cNvPr id="71" name="TextBox 70"/>
          <p:cNvSpPr txBox="1"/>
          <p:nvPr/>
        </p:nvSpPr>
        <p:spPr>
          <a:xfrm>
            <a:off x="9440079" y="3691057"/>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52</a:t>
            </a:r>
          </a:p>
        </p:txBody>
      </p:sp>
      <p:cxnSp>
        <p:nvCxnSpPr>
          <p:cNvPr id="72" name="Connector 71"/>
          <p:cNvCxnSpPr/>
          <p:nvPr/>
        </p:nvCxnSpPr>
        <p:spPr>
          <a:xfrm>
            <a:off x="675640" y="3882549"/>
            <a:ext cx="10840720" cy="0"/>
          </a:xfrm>
          <a:prstGeom prst="line">
            <a:avLst/>
          </a:prstGeom>
          <a:ln w="6350">
            <a:solidFill>
              <a:srgbClr val="E6EAF0"/>
            </a:solidFill>
          </a:ln>
        </p:spPr>
      </p:cxnSp>
      <p:sp>
        <p:nvSpPr>
          <p:cNvPr id="73" name="Oval 72"/>
          <p:cNvSpPr/>
          <p:nvPr/>
        </p:nvSpPr>
        <p:spPr>
          <a:xfrm>
            <a:off x="675640" y="3901599"/>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5</a:t>
            </a:r>
          </a:p>
        </p:txBody>
      </p:sp>
      <p:sp>
        <p:nvSpPr>
          <p:cNvPr id="74" name="TextBox 73"/>
          <p:cNvSpPr txBox="1"/>
          <p:nvPr/>
        </p:nvSpPr>
        <p:spPr>
          <a:xfrm>
            <a:off x="951230" y="3882549"/>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Sumatera Selatan</a:t>
            </a:r>
          </a:p>
        </p:txBody>
      </p:sp>
      <p:sp>
        <p:nvSpPr>
          <p:cNvPr id="75" name="TextBox 74"/>
          <p:cNvSpPr txBox="1"/>
          <p:nvPr/>
        </p:nvSpPr>
        <p:spPr>
          <a:xfrm>
            <a:off x="5287518" y="3882549"/>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1.078</a:t>
            </a:r>
          </a:p>
        </p:txBody>
      </p:sp>
      <p:sp>
        <p:nvSpPr>
          <p:cNvPr id="76" name="TextBox 75"/>
          <p:cNvSpPr txBox="1"/>
          <p:nvPr/>
        </p:nvSpPr>
        <p:spPr>
          <a:xfrm>
            <a:off x="7363799" y="3882549"/>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555</a:t>
            </a:r>
          </a:p>
        </p:txBody>
      </p:sp>
      <p:sp>
        <p:nvSpPr>
          <p:cNvPr id="77" name="TextBox 76"/>
          <p:cNvSpPr txBox="1"/>
          <p:nvPr/>
        </p:nvSpPr>
        <p:spPr>
          <a:xfrm>
            <a:off x="9440079" y="3882549"/>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51</a:t>
            </a:r>
          </a:p>
        </p:txBody>
      </p:sp>
      <p:cxnSp>
        <p:nvCxnSpPr>
          <p:cNvPr id="78" name="Connector 77"/>
          <p:cNvCxnSpPr/>
          <p:nvPr/>
        </p:nvCxnSpPr>
        <p:spPr>
          <a:xfrm>
            <a:off x="675640" y="4074041"/>
            <a:ext cx="10840720" cy="0"/>
          </a:xfrm>
          <a:prstGeom prst="line">
            <a:avLst/>
          </a:prstGeom>
          <a:ln w="6350">
            <a:solidFill>
              <a:srgbClr val="E6EAF0"/>
            </a:solidFill>
          </a:ln>
        </p:spPr>
      </p:cxnSp>
      <p:sp>
        <p:nvSpPr>
          <p:cNvPr id="79" name="Oval 78"/>
          <p:cNvSpPr/>
          <p:nvPr/>
        </p:nvSpPr>
        <p:spPr>
          <a:xfrm>
            <a:off x="675640" y="4093091"/>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6</a:t>
            </a:r>
          </a:p>
        </p:txBody>
      </p:sp>
      <p:sp>
        <p:nvSpPr>
          <p:cNvPr id="80" name="TextBox 79"/>
          <p:cNvSpPr txBox="1"/>
          <p:nvPr/>
        </p:nvSpPr>
        <p:spPr>
          <a:xfrm>
            <a:off x="951230" y="4074041"/>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Maluku Utara</a:t>
            </a:r>
          </a:p>
        </p:txBody>
      </p:sp>
      <p:sp>
        <p:nvSpPr>
          <p:cNvPr id="81" name="TextBox 80"/>
          <p:cNvSpPr txBox="1"/>
          <p:nvPr/>
        </p:nvSpPr>
        <p:spPr>
          <a:xfrm>
            <a:off x="5287518" y="4074041"/>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79</a:t>
            </a:r>
          </a:p>
        </p:txBody>
      </p:sp>
      <p:sp>
        <p:nvSpPr>
          <p:cNvPr id="82" name="TextBox 81"/>
          <p:cNvSpPr txBox="1"/>
          <p:nvPr/>
        </p:nvSpPr>
        <p:spPr>
          <a:xfrm>
            <a:off x="7363799" y="4074041"/>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84</a:t>
            </a:r>
          </a:p>
        </p:txBody>
      </p:sp>
      <p:sp>
        <p:nvSpPr>
          <p:cNvPr id="83" name="TextBox 82"/>
          <p:cNvSpPr txBox="1"/>
          <p:nvPr/>
        </p:nvSpPr>
        <p:spPr>
          <a:xfrm>
            <a:off x="9440079" y="4074041"/>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41</a:t>
            </a:r>
          </a:p>
        </p:txBody>
      </p:sp>
      <p:cxnSp>
        <p:nvCxnSpPr>
          <p:cNvPr id="84" name="Connector 83"/>
          <p:cNvCxnSpPr/>
          <p:nvPr/>
        </p:nvCxnSpPr>
        <p:spPr>
          <a:xfrm>
            <a:off x="675640" y="4265533"/>
            <a:ext cx="10840720" cy="0"/>
          </a:xfrm>
          <a:prstGeom prst="line">
            <a:avLst/>
          </a:prstGeom>
          <a:ln w="6350">
            <a:solidFill>
              <a:srgbClr val="E6EAF0"/>
            </a:solidFill>
          </a:ln>
        </p:spPr>
      </p:cxnSp>
      <p:sp>
        <p:nvSpPr>
          <p:cNvPr id="85" name="Oval 84"/>
          <p:cNvSpPr/>
          <p:nvPr/>
        </p:nvSpPr>
        <p:spPr>
          <a:xfrm>
            <a:off x="675640" y="4284583"/>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7</a:t>
            </a:r>
          </a:p>
        </p:txBody>
      </p:sp>
      <p:sp>
        <p:nvSpPr>
          <p:cNvPr id="86" name="TextBox 85"/>
          <p:cNvSpPr txBox="1"/>
          <p:nvPr/>
        </p:nvSpPr>
        <p:spPr>
          <a:xfrm>
            <a:off x="951230" y="4265533"/>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Sulawesi Tenggara</a:t>
            </a:r>
          </a:p>
        </p:txBody>
      </p:sp>
      <p:sp>
        <p:nvSpPr>
          <p:cNvPr id="87" name="TextBox 86"/>
          <p:cNvSpPr txBox="1"/>
          <p:nvPr/>
        </p:nvSpPr>
        <p:spPr>
          <a:xfrm>
            <a:off x="5287518" y="4265533"/>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164</a:t>
            </a:r>
          </a:p>
        </p:txBody>
      </p:sp>
      <p:sp>
        <p:nvSpPr>
          <p:cNvPr id="88" name="TextBox 87"/>
          <p:cNvSpPr txBox="1"/>
          <p:nvPr/>
        </p:nvSpPr>
        <p:spPr>
          <a:xfrm>
            <a:off x="7363799" y="4265533"/>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93</a:t>
            </a:r>
          </a:p>
        </p:txBody>
      </p:sp>
      <p:sp>
        <p:nvSpPr>
          <p:cNvPr id="89" name="TextBox 88"/>
          <p:cNvSpPr txBox="1"/>
          <p:nvPr/>
        </p:nvSpPr>
        <p:spPr>
          <a:xfrm>
            <a:off x="9440079" y="4265533"/>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35</a:t>
            </a:r>
          </a:p>
        </p:txBody>
      </p:sp>
      <p:cxnSp>
        <p:nvCxnSpPr>
          <p:cNvPr id="90" name="Connector 89"/>
          <p:cNvCxnSpPr/>
          <p:nvPr/>
        </p:nvCxnSpPr>
        <p:spPr>
          <a:xfrm>
            <a:off x="675640" y="4457025"/>
            <a:ext cx="10840720" cy="0"/>
          </a:xfrm>
          <a:prstGeom prst="line">
            <a:avLst/>
          </a:prstGeom>
          <a:ln w="6350">
            <a:solidFill>
              <a:srgbClr val="E6EAF0"/>
            </a:solidFill>
          </a:ln>
        </p:spPr>
      </p:cxnSp>
      <p:sp>
        <p:nvSpPr>
          <p:cNvPr id="91" name="Oval 90"/>
          <p:cNvSpPr/>
          <p:nvPr/>
        </p:nvSpPr>
        <p:spPr>
          <a:xfrm>
            <a:off x="675640" y="4476075"/>
            <a:ext cx="153392" cy="153392"/>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8</a:t>
            </a:r>
          </a:p>
        </p:txBody>
      </p:sp>
      <p:sp>
        <p:nvSpPr>
          <p:cNvPr id="92" name="TextBox 91"/>
          <p:cNvSpPr txBox="1"/>
          <p:nvPr/>
        </p:nvSpPr>
        <p:spPr>
          <a:xfrm>
            <a:off x="951230" y="4457025"/>
            <a:ext cx="4285488" cy="191492"/>
          </a:xfrm>
          <a:prstGeom prst="rect">
            <a:avLst/>
          </a:prstGeom>
          <a:noFill/>
        </p:spPr>
        <p:txBody>
          <a:bodyPr wrap="none" lIns="0" tIns="0" rIns="0" bIns="0" anchor="ctr">
            <a:noAutofit/>
          </a:bodyPr>
          <a:lstStyle/>
          <a:p>
            <a:pPr algn="l"/>
            <a:r>
              <a:rPr sz="1030" b="1" lang="id-ID">
                <a:solidFill>
                  <a:srgbClr val="1A1A1A"/>
                </a:solidFill>
                <a:latin typeface="Roboto"/>
              </a:rPr>
              <a:t>Sulawesi Selatan</a:t>
            </a:r>
          </a:p>
        </p:txBody>
      </p:sp>
      <p:sp>
        <p:nvSpPr>
          <p:cNvPr id="93" name="TextBox 92"/>
          <p:cNvSpPr txBox="1"/>
          <p:nvPr/>
        </p:nvSpPr>
        <p:spPr>
          <a:xfrm>
            <a:off x="5287518" y="4457025"/>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70</a:t>
            </a:r>
          </a:p>
        </p:txBody>
      </p:sp>
      <p:sp>
        <p:nvSpPr>
          <p:cNvPr id="94" name="TextBox 93"/>
          <p:cNvSpPr txBox="1"/>
          <p:nvPr/>
        </p:nvSpPr>
        <p:spPr>
          <a:xfrm>
            <a:off x="7363799" y="4457025"/>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47</a:t>
            </a:r>
          </a:p>
        </p:txBody>
      </p:sp>
      <p:sp>
        <p:nvSpPr>
          <p:cNvPr id="95" name="TextBox 94"/>
          <p:cNvSpPr txBox="1"/>
          <p:nvPr/>
        </p:nvSpPr>
        <p:spPr>
          <a:xfrm>
            <a:off x="9440079" y="4457025"/>
            <a:ext cx="1974681" cy="191492"/>
          </a:xfrm>
          <a:prstGeom prst="rect">
            <a:avLst/>
          </a:prstGeom>
          <a:noFill/>
        </p:spPr>
        <p:txBody>
          <a:bodyPr wrap="none" lIns="0" tIns="0" rIns="0" bIns="0" anchor="ctr">
            <a:noAutofit/>
          </a:bodyPr>
          <a:lstStyle/>
          <a:p>
            <a:pPr algn="ctr"/>
            <a:r>
              <a:rPr sz="1030" b="1" lang="id-ID">
                <a:solidFill>
                  <a:srgbClr val="1A1A1A"/>
                </a:solidFill>
                <a:latin typeface="Roboto"/>
              </a:rPr>
              <a:t>30</a:t>
            </a:r>
          </a:p>
        </p:txBody>
      </p:sp>
      <p:sp>
        <p:nvSpPr>
          <p:cNvPr id="96" name="Rectangle 95"/>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97" name="TextBox 96"/>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*Berdasarkan data satelit NASA FIRMS (VIIRS dan MODIS); Laporan Penanganan Pengendalian Karhutla BNPB, 26 Okt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9890"/>
            <a:ext cx="10642600" cy="391160"/>
          </a:xfrm>
          <a:prstGeom prst="rect">
            <a:avLst/>
          </a:prstGeom>
          <a:noFill/>
        </p:spPr>
        <p:txBody>
          <a:bodyPr wrap="square" lIns="0" tIns="0" rIns="0" bIns="0" anchor="ctr">
            <a:noAutofit/>
          </a:bodyPr>
          <a:lstStyle/>
          <a:p>
            <a:pPr algn="l">
              <a:lnSpc>
                <a:spcPct val="95000"/>
              </a:lnSpc>
            </a:pPr>
            <a:r>
              <a:rPr sz="2200" b="1" lang="id-ID">
                <a:solidFill>
                  <a:srgbClr val="1A1A1A"/>
                </a:solidFill>
                <a:latin typeface="Roboto"/>
              </a:rPr>
              <a:t>Area terdampak kebakaran hutan dan lahan di 2026</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6</a:t>
            </a:r>
          </a:p>
        </p:txBody>
      </p:sp>
      <p:sp>
        <p:nvSpPr>
          <p:cNvPr id="8" name="Rounded Rectangle 7"/>
          <p:cNvSpPr/>
          <p:nvPr/>
        </p:nvSpPr>
        <p:spPr>
          <a:xfrm>
            <a:off x="548640" y="1282700"/>
            <a:ext cx="7176008" cy="927100"/>
          </a:xfrm>
          <a:prstGeom prst="roundRect">
            <a:avLst>
              <a:gd name="adj" fmla="val 7945"/>
            </a:avLst>
          </a:prstGeom>
          <a:solidFill>
            <a:srgbClr val="F3F5F8"/>
          </a:solidFill>
          <a:ln>
            <a:noFill/>
          </a:ln>
        </p:spPr>
        <p:txBody>
          <a:bodyPr rtlCol="0" anchor="ctr"/>
          <a:lstStyle/>
          <a:p>
            <a:pPr algn="ctr"/>
          </a:p>
        </p:txBody>
      </p:sp>
      <p:sp>
        <p:nvSpPr>
          <p:cNvPr id="9" name="Rounded Rectangle 8"/>
          <p:cNvSpPr/>
          <p:nvPr/>
        </p:nvSpPr>
        <p:spPr>
          <a:xfrm>
            <a:off x="658368" y="1337310"/>
            <a:ext cx="1937059" cy="182880"/>
          </a:xfrm>
          <a:prstGeom prst="roundRect">
            <a:avLst>
              <a:gd name="adj" fmla="val 50000"/>
            </a:avLst>
          </a:prstGeom>
          <a:solidFill>
            <a:srgbClr val="051C2C"/>
          </a:solidFill>
          <a:ln>
            <a:noFill/>
          </a:ln>
        </p:spPr>
        <p:txBody>
          <a:bodyPr rtlCol="0" anchor="ctr" wrap="none" lIns="259690" tIns="0" rIns="0" bIns="0">
            <a:noAutofit/>
          </a:bodyPr>
          <a:lstStyle/>
          <a:p>
            <a:pPr algn="l"/>
            <a:r>
              <a:rPr sz="760" b="1" lang="id-ID" spc="100">
                <a:solidFill>
                  <a:srgbClr val="FFFFFF"/>
                </a:solidFill>
                <a:latin typeface="Roboto"/>
              </a:rPr>
              <a:t>BELUM PADAM, 26 OKTOBER</a:t>
            </a:r>
          </a:p>
        </p:txBody>
      </p:sp>
      <p:pic>
        <p:nvPicPr>
          <p:cNvPr id="10" name="Picture 9" descr="karhutla-FFFFFF-1955759a.png"/>
          <p:cNvPicPr>
            <a:picLocks noChangeAspect="1"/>
          </p:cNvPicPr>
          <p:nvPr/>
        </p:nvPicPr>
        <p:blipFill>
          <a:blip r:embed="rId3"/>
          <a:stretch>
            <a:fillRect/>
          </a:stretch>
        </p:blipFill>
        <p:spPr>
          <a:xfrm>
            <a:off x="749808" y="1372057"/>
            <a:ext cx="113386" cy="113386"/>
          </a:xfrm>
          <a:prstGeom prst="rect">
            <a:avLst/>
          </a:prstGeom>
        </p:spPr>
      </p:pic>
      <p:sp>
        <p:nvSpPr>
          <p:cNvPr id="11" name="Rounded Rectangle 10"/>
          <p:cNvSpPr/>
          <p:nvPr/>
        </p:nvSpPr>
        <p:spPr>
          <a:xfrm>
            <a:off x="658368" y="1593850"/>
            <a:ext cx="3432556"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2" name="Oval 11"/>
          <p:cNvSpPr/>
          <p:nvPr/>
        </p:nvSpPr>
        <p:spPr>
          <a:xfrm>
            <a:off x="767588" y="1682750"/>
            <a:ext cx="330200" cy="330200"/>
          </a:xfrm>
          <a:prstGeom prst="ellipse">
            <a:avLst/>
          </a:prstGeom>
          <a:solidFill>
            <a:srgbClr val="E6EAF0"/>
          </a:solidFill>
          <a:ln>
            <a:noFill/>
          </a:ln>
        </p:spPr>
        <p:txBody>
          <a:bodyPr rtlCol="0" anchor="ctr"/>
          <a:lstStyle/>
          <a:p>
            <a:pPr algn="ctr"/>
          </a:p>
        </p:txBody>
      </p:sp>
      <p:pic>
        <p:nvPicPr>
          <p:cNvPr id="13" name="Picture 12" descr="karhutla-051C2C-1955759a.png"/>
          <p:cNvPicPr>
            <a:picLocks noChangeAspect="1"/>
          </p:cNvPicPr>
          <p:nvPr/>
        </p:nvPicPr>
        <p:blipFill>
          <a:blip r:embed="rId4"/>
          <a:stretch>
            <a:fillRect/>
          </a:stretch>
        </p:blipFill>
        <p:spPr>
          <a:xfrm>
            <a:off x="843788" y="1758950"/>
            <a:ext cx="177800" cy="177800"/>
          </a:xfrm>
          <a:prstGeom prst="rect">
            <a:avLst/>
          </a:prstGeom>
        </p:spPr>
      </p:pic>
      <p:sp>
        <p:nvSpPr>
          <p:cNvPr id="14" name="TextBox 13"/>
          <p:cNvSpPr txBox="1"/>
          <p:nvPr/>
        </p:nvSpPr>
        <p:spPr>
          <a:xfrm>
            <a:off x="1170178" y="1630680"/>
            <a:ext cx="2811526" cy="274320"/>
          </a:xfrm>
          <a:prstGeom prst="rect">
            <a:avLst/>
          </a:prstGeom>
          <a:noFill/>
        </p:spPr>
        <p:txBody>
          <a:bodyPr wrap="none" lIns="0" tIns="0" rIns="0" bIns="0" anchor="ctr">
            <a:noAutofit/>
          </a:bodyPr>
          <a:lstStyle/>
          <a:p>
            <a:pPr algn="l"/>
            <a:r>
              <a:rPr sz="1950" b="1" lang="id-ID">
                <a:solidFill>
                  <a:srgbClr val="051C2C"/>
                </a:solidFill>
                <a:latin typeface="Roboto"/>
              </a:rPr>
              <a:t>2.327</a:t>
            </a:r>
          </a:p>
        </p:txBody>
      </p:sp>
      <p:sp>
        <p:nvSpPr>
          <p:cNvPr id="15" name="TextBox 14"/>
          <p:cNvSpPr txBox="1"/>
          <p:nvPr/>
        </p:nvSpPr>
        <p:spPr>
          <a:xfrm>
            <a:off x="1170178" y="1896110"/>
            <a:ext cx="2811526" cy="154940"/>
          </a:xfrm>
          <a:prstGeom prst="rect">
            <a:avLst/>
          </a:prstGeom>
          <a:noFill/>
        </p:spPr>
        <p:txBody>
          <a:bodyPr wrap="none" lIns="0" tIns="0" rIns="0" bIns="0" anchor="ctr">
            <a:noAutofit/>
          </a:bodyPr>
          <a:lstStyle/>
          <a:p>
            <a:pPr algn="l"/>
            <a:r>
              <a:rPr sz="860" b="0" lang="id-ID">
                <a:solidFill>
                  <a:srgbClr val="2E3440"/>
                </a:solidFill>
                <a:latin typeface="Roboto"/>
              </a:rPr>
              <a:t>ha lahan belum padam*</a:t>
            </a:r>
          </a:p>
        </p:txBody>
      </p:sp>
      <p:sp>
        <p:nvSpPr>
          <p:cNvPr id="16" name="Rounded Rectangle 15"/>
          <p:cNvSpPr/>
          <p:nvPr/>
        </p:nvSpPr>
        <p:spPr>
          <a:xfrm>
            <a:off x="4182364" y="1593850"/>
            <a:ext cx="3432556"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17" name="Oval 16"/>
          <p:cNvSpPr/>
          <p:nvPr/>
        </p:nvSpPr>
        <p:spPr>
          <a:xfrm>
            <a:off x="4291584" y="1682750"/>
            <a:ext cx="330200" cy="330200"/>
          </a:xfrm>
          <a:prstGeom prst="ellipse">
            <a:avLst/>
          </a:prstGeom>
          <a:solidFill>
            <a:srgbClr val="E6EAF0"/>
          </a:solidFill>
          <a:ln>
            <a:noFill/>
          </a:ln>
        </p:spPr>
        <p:txBody>
          <a:bodyPr rtlCol="0" anchor="ctr"/>
          <a:lstStyle/>
          <a:p>
            <a:pPr algn="ctr"/>
          </a:p>
        </p:txBody>
      </p:sp>
      <p:pic>
        <p:nvPicPr>
          <p:cNvPr id="18" name="Picture 17" descr="wilayah-051C2C-37dca10c.png"/>
          <p:cNvPicPr>
            <a:picLocks noChangeAspect="1"/>
          </p:cNvPicPr>
          <p:nvPr/>
        </p:nvPicPr>
        <p:blipFill>
          <a:blip r:embed="rId5"/>
          <a:stretch>
            <a:fillRect/>
          </a:stretch>
        </p:blipFill>
        <p:spPr>
          <a:xfrm>
            <a:off x="4367784" y="1758950"/>
            <a:ext cx="177800" cy="177800"/>
          </a:xfrm>
          <a:prstGeom prst="rect">
            <a:avLst/>
          </a:prstGeom>
        </p:spPr>
      </p:pic>
      <p:sp>
        <p:nvSpPr>
          <p:cNvPr id="19" name="TextBox 18"/>
          <p:cNvSpPr txBox="1"/>
          <p:nvPr/>
        </p:nvSpPr>
        <p:spPr>
          <a:xfrm>
            <a:off x="4694174" y="1630680"/>
            <a:ext cx="2811526" cy="274320"/>
          </a:xfrm>
          <a:prstGeom prst="rect">
            <a:avLst/>
          </a:prstGeom>
          <a:noFill/>
        </p:spPr>
        <p:txBody>
          <a:bodyPr wrap="none" lIns="0" tIns="0" rIns="0" bIns="0" anchor="ctr">
            <a:noAutofit/>
          </a:bodyPr>
          <a:lstStyle/>
          <a:p>
            <a:pPr algn="l"/>
            <a:r>
              <a:rPr sz="1950" b="1" lang="id-ID">
                <a:solidFill>
                  <a:srgbClr val="051C2C"/>
                </a:solidFill>
                <a:latin typeface="Roboto"/>
              </a:rPr>
              <a:t>18</a:t>
            </a:r>
          </a:p>
        </p:txBody>
      </p:sp>
      <p:sp>
        <p:nvSpPr>
          <p:cNvPr id="20" name="TextBox 19"/>
          <p:cNvSpPr txBox="1"/>
          <p:nvPr/>
        </p:nvSpPr>
        <p:spPr>
          <a:xfrm>
            <a:off x="4694174" y="1896110"/>
            <a:ext cx="2811526" cy="154940"/>
          </a:xfrm>
          <a:prstGeom prst="rect">
            <a:avLst/>
          </a:prstGeom>
          <a:noFill/>
        </p:spPr>
        <p:txBody>
          <a:bodyPr wrap="none" lIns="0" tIns="0" rIns="0" bIns="0" anchor="ctr">
            <a:noAutofit/>
          </a:bodyPr>
          <a:lstStyle/>
          <a:p>
            <a:pPr algn="l"/>
            <a:r>
              <a:rPr sz="860" b="0" lang="id-ID">
                <a:solidFill>
                  <a:srgbClr val="2E3440"/>
                </a:solidFill>
                <a:latin typeface="Roboto"/>
              </a:rPr>
              <a:t>provinsi dengan lahan belum padam</a:t>
            </a:r>
          </a:p>
        </p:txBody>
      </p:sp>
      <p:sp>
        <p:nvSpPr>
          <p:cNvPr id="21" name="Rounded Rectangle 20"/>
          <p:cNvSpPr/>
          <p:nvPr/>
        </p:nvSpPr>
        <p:spPr>
          <a:xfrm>
            <a:off x="7991348" y="1282700"/>
            <a:ext cx="3652012" cy="927100"/>
          </a:xfrm>
          <a:prstGeom prst="roundRect">
            <a:avLst>
              <a:gd name="adj" fmla="val 7945"/>
            </a:avLst>
          </a:prstGeom>
          <a:solidFill>
            <a:srgbClr val="F3F5F8"/>
          </a:solidFill>
          <a:ln>
            <a:noFill/>
          </a:ln>
        </p:spPr>
        <p:txBody>
          <a:bodyPr rtlCol="0" anchor="ctr"/>
          <a:lstStyle/>
          <a:p>
            <a:pPr algn="ctr"/>
          </a:p>
        </p:txBody>
      </p:sp>
      <p:sp>
        <p:nvSpPr>
          <p:cNvPr id="22" name="Rounded Rectangle 21"/>
          <p:cNvSpPr/>
          <p:nvPr/>
        </p:nvSpPr>
        <p:spPr>
          <a:xfrm>
            <a:off x="8101076" y="1337310"/>
            <a:ext cx="956654" cy="182880"/>
          </a:xfrm>
          <a:prstGeom prst="roundRect">
            <a:avLst>
              <a:gd name="adj" fmla="val 50000"/>
            </a:avLst>
          </a:prstGeom>
          <a:solidFill>
            <a:srgbClr val="051C2C"/>
          </a:solidFill>
          <a:ln>
            <a:noFill/>
          </a:ln>
        </p:spPr>
        <p:txBody>
          <a:bodyPr rtlCol="0" anchor="ctr" wrap="none" lIns="259690" tIns="0" rIns="0" bIns="0">
            <a:noAutofit/>
          </a:bodyPr>
          <a:lstStyle/>
          <a:p>
            <a:pPr algn="l"/>
            <a:r>
              <a:rPr sz="760" b="1" lang="id-ID" spc="100">
                <a:solidFill>
                  <a:srgbClr val="FFFFFF"/>
                </a:solidFill>
                <a:latin typeface="Roboto"/>
              </a:rPr>
              <a:t>TERTINGGI</a:t>
            </a:r>
          </a:p>
        </p:txBody>
      </p:sp>
      <p:pic>
        <p:nvPicPr>
          <p:cNvPr id="23" name="Picture 22" descr="wilayah-FFFFFF-37dca10c.png"/>
          <p:cNvPicPr>
            <a:picLocks noChangeAspect="1"/>
          </p:cNvPicPr>
          <p:nvPr/>
        </p:nvPicPr>
        <p:blipFill>
          <a:blip r:embed="rId6"/>
          <a:stretch>
            <a:fillRect/>
          </a:stretch>
        </p:blipFill>
        <p:spPr>
          <a:xfrm>
            <a:off x="8192516" y="1372057"/>
            <a:ext cx="113386" cy="113386"/>
          </a:xfrm>
          <a:prstGeom prst="rect">
            <a:avLst/>
          </a:prstGeom>
        </p:spPr>
      </p:pic>
      <p:sp>
        <p:nvSpPr>
          <p:cNvPr id="24" name="Rounded Rectangle 23"/>
          <p:cNvSpPr/>
          <p:nvPr/>
        </p:nvSpPr>
        <p:spPr>
          <a:xfrm>
            <a:off x="8101076" y="1593850"/>
            <a:ext cx="3432556" cy="508000"/>
          </a:xfrm>
          <a:prstGeom prst="roundRect">
            <a:avLst>
              <a:gd name="adj" fmla="val 14499"/>
            </a:avLst>
          </a:prstGeom>
          <a:solidFill>
            <a:srgbClr val="FFFFFF"/>
          </a:solidFill>
          <a:ln w="9525">
            <a:solidFill>
              <a:srgbClr val="BFC5CC"/>
            </a:solidFill>
          </a:ln>
        </p:spPr>
        <p:txBody>
          <a:bodyPr rtlCol="0" anchor="ctr"/>
          <a:lstStyle/>
          <a:p>
            <a:pPr algn="ctr"/>
          </a:p>
        </p:txBody>
      </p:sp>
      <p:sp>
        <p:nvSpPr>
          <p:cNvPr id="25" name="Oval 24"/>
          <p:cNvSpPr/>
          <p:nvPr/>
        </p:nvSpPr>
        <p:spPr>
          <a:xfrm>
            <a:off x="8210296" y="1682750"/>
            <a:ext cx="330200" cy="330200"/>
          </a:xfrm>
          <a:prstGeom prst="ellipse">
            <a:avLst/>
          </a:prstGeom>
          <a:solidFill>
            <a:srgbClr val="E6EAF0"/>
          </a:solidFill>
          <a:ln>
            <a:noFill/>
          </a:ln>
        </p:spPr>
        <p:txBody>
          <a:bodyPr rtlCol="0" anchor="ctr"/>
          <a:lstStyle/>
          <a:p>
            <a:pPr algn="ctr"/>
          </a:p>
        </p:txBody>
      </p:sp>
      <p:pic>
        <p:nvPicPr>
          <p:cNvPr id="26" name="Picture 25" descr="karhutla-051C2C-1955759a.png"/>
          <p:cNvPicPr>
            <a:picLocks noChangeAspect="1"/>
          </p:cNvPicPr>
          <p:nvPr/>
        </p:nvPicPr>
        <p:blipFill>
          <a:blip r:embed="rId4"/>
          <a:stretch>
            <a:fillRect/>
          </a:stretch>
        </p:blipFill>
        <p:spPr>
          <a:xfrm>
            <a:off x="8286496" y="1758950"/>
            <a:ext cx="177800" cy="177800"/>
          </a:xfrm>
          <a:prstGeom prst="rect">
            <a:avLst/>
          </a:prstGeom>
        </p:spPr>
      </p:pic>
      <p:sp>
        <p:nvSpPr>
          <p:cNvPr id="27" name="TextBox 26"/>
          <p:cNvSpPr txBox="1"/>
          <p:nvPr/>
        </p:nvSpPr>
        <p:spPr>
          <a:xfrm>
            <a:off x="8612886" y="1630680"/>
            <a:ext cx="2811526" cy="274320"/>
          </a:xfrm>
          <a:prstGeom prst="rect">
            <a:avLst/>
          </a:prstGeom>
          <a:noFill/>
        </p:spPr>
        <p:txBody>
          <a:bodyPr wrap="none" lIns="0" tIns="0" rIns="0" bIns="0" anchor="ctr">
            <a:noAutofit/>
          </a:bodyPr>
          <a:lstStyle/>
          <a:p>
            <a:pPr algn="l"/>
            <a:r>
              <a:rPr sz="1950" b="1" lang="id-ID">
                <a:solidFill>
                  <a:srgbClr val="051C2C"/>
                </a:solidFill>
                <a:latin typeface="Roboto"/>
              </a:rPr>
              <a:t>1.134</a:t>
            </a:r>
          </a:p>
        </p:txBody>
      </p:sp>
      <p:sp>
        <p:nvSpPr>
          <p:cNvPr id="28" name="TextBox 27"/>
          <p:cNvSpPr txBox="1"/>
          <p:nvPr/>
        </p:nvSpPr>
        <p:spPr>
          <a:xfrm>
            <a:off x="8612886" y="1896110"/>
            <a:ext cx="2811526" cy="154940"/>
          </a:xfrm>
          <a:prstGeom prst="rect">
            <a:avLst/>
          </a:prstGeom>
          <a:noFill/>
        </p:spPr>
        <p:txBody>
          <a:bodyPr wrap="none" lIns="0" tIns="0" rIns="0" bIns="0" anchor="ctr">
            <a:noAutofit/>
          </a:bodyPr>
          <a:lstStyle/>
          <a:p>
            <a:pPr algn="l"/>
            <a:r>
              <a:rPr sz="860" b="0" lang="id-ID">
                <a:solidFill>
                  <a:srgbClr val="2E3440"/>
                </a:solidFill>
                <a:latin typeface="Roboto"/>
              </a:rPr>
              <a:t>ha di Kalimantan Tengah</a:t>
            </a:r>
          </a:p>
        </p:txBody>
      </p:sp>
      <p:pic>
        <p:nvPicPr>
          <p:cNvPr id="29" name="Picture 28" descr="peta-belum-26.png"/>
          <p:cNvPicPr>
            <a:picLocks noChangeAspect="1"/>
          </p:cNvPicPr>
          <p:nvPr/>
        </p:nvPicPr>
        <p:blipFill>
          <a:blip r:embed="rId7"/>
          <a:stretch>
            <a:fillRect/>
          </a:stretch>
        </p:blipFill>
        <p:spPr>
          <a:xfrm>
            <a:off x="548640" y="2502082"/>
            <a:ext cx="8072933" cy="3032395"/>
          </a:xfrm>
          <a:prstGeom prst="rect">
            <a:avLst/>
          </a:prstGeom>
        </p:spPr>
      </p:pic>
      <p:sp>
        <p:nvSpPr>
          <p:cNvPr id="30" name="TextBox 29"/>
          <p:cNvSpPr txBox="1"/>
          <p:nvPr/>
        </p:nvSpPr>
        <p:spPr>
          <a:xfrm>
            <a:off x="2011333" y="5610678"/>
            <a:ext cx="700665" cy="177800"/>
          </a:xfrm>
          <a:prstGeom prst="rect">
            <a:avLst/>
          </a:prstGeom>
          <a:noFill/>
        </p:spPr>
        <p:txBody>
          <a:bodyPr wrap="none" lIns="0" tIns="0" rIns="0" bIns="0" anchor="ctr">
            <a:noAutofit/>
          </a:bodyPr>
          <a:lstStyle/>
          <a:p>
            <a:pPr algn="l"/>
            <a:r>
              <a:rPr sz="860" b="1" lang="id-ID">
                <a:solidFill>
                  <a:srgbClr val="1A1A1A"/>
                </a:solidFill>
                <a:latin typeface="Roboto"/>
              </a:rPr>
              <a:t>Belum padam</a:t>
            </a:r>
          </a:p>
        </p:txBody>
      </p:sp>
      <p:sp>
        <p:nvSpPr>
          <p:cNvPr id="31" name="Rectangle 30"/>
          <p:cNvSpPr/>
          <p:nvPr/>
        </p:nvSpPr>
        <p:spPr>
          <a:xfrm>
            <a:off x="2838998" y="5648778"/>
            <a:ext cx="101600" cy="101600"/>
          </a:xfrm>
          <a:prstGeom prst="rect">
            <a:avLst/>
          </a:prstGeom>
          <a:solidFill>
            <a:srgbClr val="8F3F07"/>
          </a:solidFill>
          <a:ln w="6350">
            <a:solidFill>
              <a:srgbClr val="BFC5CC"/>
            </a:solidFill>
          </a:ln>
        </p:spPr>
        <p:txBody>
          <a:bodyPr rtlCol="0" anchor="ctr"/>
          <a:lstStyle/>
          <a:p>
            <a:pPr algn="ctr"/>
          </a:p>
        </p:txBody>
      </p:sp>
      <p:sp>
        <p:nvSpPr>
          <p:cNvPr id="32" name="TextBox 31"/>
          <p:cNvSpPr txBox="1"/>
          <p:nvPr/>
        </p:nvSpPr>
        <p:spPr>
          <a:xfrm>
            <a:off x="2991398" y="5610678"/>
            <a:ext cx="723277" cy="177800"/>
          </a:xfrm>
          <a:prstGeom prst="rect">
            <a:avLst/>
          </a:prstGeom>
          <a:noFill/>
        </p:spPr>
        <p:txBody>
          <a:bodyPr wrap="none" lIns="0" tIns="0" rIns="0" bIns="0" anchor="ctr">
            <a:noAutofit/>
          </a:bodyPr>
          <a:lstStyle/>
          <a:p>
            <a:pPr algn="l"/>
            <a:r>
              <a:rPr sz="860" b="0" lang="id-ID">
                <a:solidFill>
                  <a:srgbClr val="1A1A1A"/>
                </a:solidFill>
                <a:latin typeface="Roboto"/>
              </a:rPr>
              <a:t>Di atas </a:t>
            </a:r>
            <a:r>
              <a:rPr sz="860" b="1" lang="id-ID">
                <a:solidFill>
                  <a:srgbClr val="1A1A1A"/>
                </a:solidFill>
                <a:latin typeface="Roboto"/>
              </a:rPr>
              <a:t>500 ha</a:t>
            </a:r>
          </a:p>
        </p:txBody>
      </p:sp>
      <p:sp>
        <p:nvSpPr>
          <p:cNvPr id="33" name="Rectangle 32"/>
          <p:cNvSpPr/>
          <p:nvPr/>
        </p:nvSpPr>
        <p:spPr>
          <a:xfrm>
            <a:off x="3841676" y="5648778"/>
            <a:ext cx="101600" cy="101600"/>
          </a:xfrm>
          <a:prstGeom prst="rect">
            <a:avLst/>
          </a:prstGeom>
          <a:solidFill>
            <a:srgbClr val="E8894A"/>
          </a:solidFill>
          <a:ln w="6350">
            <a:solidFill>
              <a:srgbClr val="BFC5CC"/>
            </a:solidFill>
          </a:ln>
        </p:spPr>
        <p:txBody>
          <a:bodyPr rtlCol="0" anchor="ctr"/>
          <a:lstStyle/>
          <a:p>
            <a:pPr algn="ctr"/>
          </a:p>
        </p:txBody>
      </p:sp>
      <p:sp>
        <p:nvSpPr>
          <p:cNvPr id="34" name="TextBox 33"/>
          <p:cNvSpPr txBox="1"/>
          <p:nvPr/>
        </p:nvSpPr>
        <p:spPr>
          <a:xfrm>
            <a:off x="3994076" y="5610678"/>
            <a:ext cx="960970" cy="177800"/>
          </a:xfrm>
          <a:prstGeom prst="rect">
            <a:avLst/>
          </a:prstGeom>
          <a:noFill/>
        </p:spPr>
        <p:txBody>
          <a:bodyPr wrap="none" lIns="0" tIns="0" rIns="0" bIns="0" anchor="ctr">
            <a:noAutofit/>
          </a:bodyPr>
          <a:lstStyle/>
          <a:p>
            <a:pPr algn="l"/>
            <a:r>
              <a:rPr sz="860" b="1" lang="id-ID">
                <a:solidFill>
                  <a:srgbClr val="1A1A1A"/>
                </a:solidFill>
                <a:latin typeface="Roboto"/>
              </a:rPr>
              <a:t>100</a:t>
            </a:r>
            <a:r>
              <a:rPr sz="860" b="0" lang="id-ID">
                <a:solidFill>
                  <a:srgbClr val="1A1A1A"/>
                </a:solidFill>
                <a:latin typeface="Roboto"/>
              </a:rPr>
              <a:t> sampai </a:t>
            </a:r>
            <a:r>
              <a:rPr sz="860" b="1" lang="id-ID">
                <a:solidFill>
                  <a:srgbClr val="1A1A1A"/>
                </a:solidFill>
                <a:latin typeface="Roboto"/>
              </a:rPr>
              <a:t>500 ha</a:t>
            </a:r>
          </a:p>
        </p:txBody>
      </p:sp>
      <p:sp>
        <p:nvSpPr>
          <p:cNvPr id="35" name="Rectangle 34"/>
          <p:cNvSpPr/>
          <p:nvPr/>
        </p:nvSpPr>
        <p:spPr>
          <a:xfrm>
            <a:off x="5082045" y="5648778"/>
            <a:ext cx="101600" cy="101600"/>
          </a:xfrm>
          <a:prstGeom prst="rect">
            <a:avLst/>
          </a:prstGeom>
          <a:solidFill>
            <a:srgbClr val="F4C3A0"/>
          </a:solidFill>
          <a:ln w="6350">
            <a:solidFill>
              <a:srgbClr val="BFC5CC"/>
            </a:solidFill>
          </a:ln>
        </p:spPr>
        <p:txBody>
          <a:bodyPr rtlCol="0" anchor="ctr"/>
          <a:lstStyle/>
          <a:p>
            <a:pPr algn="ctr"/>
          </a:p>
        </p:txBody>
      </p:sp>
      <p:sp>
        <p:nvSpPr>
          <p:cNvPr id="36" name="TextBox 35"/>
          <p:cNvSpPr txBox="1"/>
          <p:nvPr/>
        </p:nvSpPr>
        <p:spPr>
          <a:xfrm>
            <a:off x="5234445" y="5610678"/>
            <a:ext cx="898307" cy="177800"/>
          </a:xfrm>
          <a:prstGeom prst="rect">
            <a:avLst/>
          </a:prstGeom>
          <a:noFill/>
        </p:spPr>
        <p:txBody>
          <a:bodyPr wrap="none" lIns="0" tIns="0" rIns="0" bIns="0" anchor="ctr">
            <a:noAutofit/>
          </a:bodyPr>
          <a:lstStyle/>
          <a:p>
            <a:pPr algn="l"/>
            <a:r>
              <a:rPr sz="860" b="1" lang="id-ID">
                <a:solidFill>
                  <a:srgbClr val="1A1A1A"/>
                </a:solidFill>
                <a:latin typeface="Roboto"/>
              </a:rPr>
              <a:t>10</a:t>
            </a:r>
            <a:r>
              <a:rPr sz="860" b="0" lang="id-ID">
                <a:solidFill>
                  <a:srgbClr val="1A1A1A"/>
                </a:solidFill>
                <a:latin typeface="Roboto"/>
              </a:rPr>
              <a:t> sampai </a:t>
            </a:r>
            <a:r>
              <a:rPr sz="860" b="1" lang="id-ID">
                <a:solidFill>
                  <a:srgbClr val="1A1A1A"/>
                </a:solidFill>
                <a:latin typeface="Roboto"/>
              </a:rPr>
              <a:t>100 ha</a:t>
            </a:r>
          </a:p>
        </p:txBody>
      </p:sp>
      <p:sp>
        <p:nvSpPr>
          <p:cNvPr id="37" name="Rectangle 36"/>
          <p:cNvSpPr/>
          <p:nvPr/>
        </p:nvSpPr>
        <p:spPr>
          <a:xfrm>
            <a:off x="6259752" y="5648778"/>
            <a:ext cx="101600" cy="101600"/>
          </a:xfrm>
          <a:prstGeom prst="rect">
            <a:avLst/>
          </a:prstGeom>
          <a:solidFill>
            <a:srgbClr val="FBE7D6"/>
          </a:solidFill>
          <a:ln w="6350">
            <a:solidFill>
              <a:srgbClr val="BFC5CC"/>
            </a:solidFill>
          </a:ln>
        </p:spPr>
        <p:txBody>
          <a:bodyPr rtlCol="0" anchor="ctr"/>
          <a:lstStyle/>
          <a:p>
            <a:pPr algn="ctr"/>
          </a:p>
        </p:txBody>
      </p:sp>
      <p:sp>
        <p:nvSpPr>
          <p:cNvPr id="38" name="TextBox 37"/>
          <p:cNvSpPr txBox="1"/>
          <p:nvPr/>
        </p:nvSpPr>
        <p:spPr>
          <a:xfrm>
            <a:off x="6412152" y="5610678"/>
            <a:ext cx="772128" cy="177800"/>
          </a:xfrm>
          <a:prstGeom prst="rect">
            <a:avLst/>
          </a:prstGeom>
          <a:noFill/>
        </p:spPr>
        <p:txBody>
          <a:bodyPr wrap="none" lIns="0" tIns="0" rIns="0" bIns="0" anchor="ctr">
            <a:noAutofit/>
          </a:bodyPr>
          <a:lstStyle/>
          <a:p>
            <a:pPr algn="l"/>
            <a:r>
              <a:rPr sz="860" b="0" lang="id-ID">
                <a:solidFill>
                  <a:srgbClr val="1A1A1A"/>
                </a:solidFill>
                <a:latin typeface="Roboto"/>
              </a:rPr>
              <a:t>Di bawah </a:t>
            </a:r>
            <a:r>
              <a:rPr sz="860" b="1" lang="id-ID">
                <a:solidFill>
                  <a:srgbClr val="1A1A1A"/>
                </a:solidFill>
                <a:latin typeface="Roboto"/>
              </a:rPr>
              <a:t>10 ha</a:t>
            </a:r>
          </a:p>
        </p:txBody>
      </p:sp>
      <p:sp>
        <p:nvSpPr>
          <p:cNvPr id="39" name="TextBox 38"/>
          <p:cNvSpPr txBox="1"/>
          <p:nvPr/>
        </p:nvSpPr>
        <p:spPr>
          <a:xfrm>
            <a:off x="548640" y="5788478"/>
            <a:ext cx="8072933" cy="139700"/>
          </a:xfrm>
          <a:prstGeom prst="rect">
            <a:avLst/>
          </a:prstGeom>
          <a:noFill/>
        </p:spPr>
        <p:txBody>
          <a:bodyPr wrap="none" lIns="0" tIns="0" rIns="0" bIns="0" anchor="ctr">
            <a:noAutofit/>
          </a:bodyPr>
          <a:lstStyle/>
          <a:p>
            <a:pPr algn="ctr"/>
            <a:r>
              <a:rPr sz="860" b="0" lang="id-ID">
                <a:solidFill>
                  <a:srgbClr val="6B7280"/>
                </a:solidFill>
                <a:latin typeface="Roboto"/>
              </a:rPr>
              <a:t>Sumber batas: Batas administrasi provinsi; WGS84; Ekuirektangular</a:t>
            </a:r>
          </a:p>
        </p:txBody>
      </p:sp>
      <p:sp>
        <p:nvSpPr>
          <p:cNvPr id="40" name="Rounded Rectangle 39"/>
          <p:cNvSpPr/>
          <p:nvPr/>
        </p:nvSpPr>
        <p:spPr>
          <a:xfrm>
            <a:off x="3326071" y="4240789"/>
            <a:ext cx="567650"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Kalteng</a:t>
            </a:r>
          </a:p>
        </p:txBody>
      </p:sp>
      <p:sp>
        <p:nvSpPr>
          <p:cNvPr id="41" name="Rounded Rectangle 40"/>
          <p:cNvSpPr/>
          <p:nvPr/>
        </p:nvSpPr>
        <p:spPr>
          <a:xfrm>
            <a:off x="3202934" y="3139423"/>
            <a:ext cx="503925"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Kalbar</a:t>
            </a:r>
          </a:p>
        </p:txBody>
      </p:sp>
      <p:sp>
        <p:nvSpPr>
          <p:cNvPr id="42" name="Rounded Rectangle 41"/>
          <p:cNvSpPr/>
          <p:nvPr/>
        </p:nvSpPr>
        <p:spPr>
          <a:xfrm>
            <a:off x="7475099" y="5131707"/>
            <a:ext cx="92216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Papua Selatan</a:t>
            </a:r>
          </a:p>
        </p:txBody>
      </p:sp>
      <p:sp>
        <p:nvSpPr>
          <p:cNvPr id="43" name="Rounded Rectangle 42"/>
          <p:cNvSpPr/>
          <p:nvPr/>
        </p:nvSpPr>
        <p:spPr>
          <a:xfrm>
            <a:off x="6007901" y="2982648"/>
            <a:ext cx="465929"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Malut</a:t>
            </a:r>
          </a:p>
        </p:txBody>
      </p:sp>
      <p:sp>
        <p:nvSpPr>
          <p:cNvPr id="44" name="Rounded Rectangle 43"/>
          <p:cNvSpPr/>
          <p:nvPr/>
        </p:nvSpPr>
        <p:spPr>
          <a:xfrm>
            <a:off x="6286661" y="4277178"/>
            <a:ext cx="554243"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Maluku</a:t>
            </a:r>
          </a:p>
        </p:txBody>
      </p:sp>
      <p:sp>
        <p:nvSpPr>
          <p:cNvPr id="45" name="Rounded Rectangle 44"/>
          <p:cNvSpPr/>
          <p:nvPr/>
        </p:nvSpPr>
        <p:spPr>
          <a:xfrm>
            <a:off x="4258208" y="4298708"/>
            <a:ext cx="48749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Sulsel</a:t>
            </a:r>
          </a:p>
        </p:txBody>
      </p:sp>
      <p:sp>
        <p:nvSpPr>
          <p:cNvPr id="46" name="Rounded Rectangle 45"/>
          <p:cNvSpPr/>
          <p:nvPr/>
        </p:nvSpPr>
        <p:spPr>
          <a:xfrm>
            <a:off x="3557050" y="2885005"/>
            <a:ext cx="504495"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Kaltim</a:t>
            </a:r>
          </a:p>
        </p:txBody>
      </p:sp>
      <p:sp>
        <p:nvSpPr>
          <p:cNvPr id="47" name="Rounded Rectangle 46"/>
          <p:cNvSpPr/>
          <p:nvPr/>
        </p:nvSpPr>
        <p:spPr>
          <a:xfrm>
            <a:off x="5166305" y="4598005"/>
            <a:ext cx="47802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Sultra</a:t>
            </a:r>
          </a:p>
        </p:txBody>
      </p:sp>
      <p:sp>
        <p:nvSpPr>
          <p:cNvPr id="48" name="Rounded Rectangle 47"/>
          <p:cNvSpPr/>
          <p:nvPr/>
        </p:nvSpPr>
        <p:spPr>
          <a:xfrm>
            <a:off x="4837932" y="3207045"/>
            <a:ext cx="568050"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Sulteng</a:t>
            </a:r>
          </a:p>
        </p:txBody>
      </p:sp>
      <p:sp>
        <p:nvSpPr>
          <p:cNvPr id="49" name="Rounded Rectangle 48"/>
          <p:cNvSpPr/>
          <p:nvPr/>
        </p:nvSpPr>
        <p:spPr>
          <a:xfrm>
            <a:off x="3997652" y="4532202"/>
            <a:ext cx="487095"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Kalsel</a:t>
            </a:r>
          </a:p>
        </p:txBody>
      </p:sp>
      <p:sp>
        <p:nvSpPr>
          <p:cNvPr id="50" name="Rounded Rectangle 49"/>
          <p:cNvSpPr/>
          <p:nvPr/>
        </p:nvSpPr>
        <p:spPr>
          <a:xfrm>
            <a:off x="2288133" y="3685557"/>
            <a:ext cx="462220"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Babel</a:t>
            </a:r>
          </a:p>
        </p:txBody>
      </p:sp>
      <p:sp>
        <p:nvSpPr>
          <p:cNvPr id="51" name="Rounded Rectangle 50"/>
          <p:cNvSpPr/>
          <p:nvPr/>
        </p:nvSpPr>
        <p:spPr>
          <a:xfrm>
            <a:off x="1596190" y="4557978"/>
            <a:ext cx="557666"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Sumsel</a:t>
            </a:r>
          </a:p>
        </p:txBody>
      </p:sp>
      <p:sp>
        <p:nvSpPr>
          <p:cNvPr id="52" name="Rounded Rectangle 51"/>
          <p:cNvSpPr/>
          <p:nvPr/>
        </p:nvSpPr>
        <p:spPr>
          <a:xfrm>
            <a:off x="3440557" y="5107751"/>
            <a:ext cx="464617"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Jatim</a:t>
            </a:r>
          </a:p>
        </p:txBody>
      </p:sp>
      <p:sp>
        <p:nvSpPr>
          <p:cNvPr id="53" name="Rounded Rectangle 52"/>
          <p:cNvSpPr/>
          <p:nvPr/>
        </p:nvSpPr>
        <p:spPr>
          <a:xfrm>
            <a:off x="5076032" y="5150811"/>
            <a:ext cx="392162"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NTT</a:t>
            </a:r>
          </a:p>
        </p:txBody>
      </p:sp>
      <p:sp>
        <p:nvSpPr>
          <p:cNvPr id="54" name="Rounded Rectangle 53"/>
          <p:cNvSpPr/>
          <p:nvPr/>
        </p:nvSpPr>
        <p:spPr>
          <a:xfrm>
            <a:off x="5555177" y="3551222"/>
            <a:ext cx="438145"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Sulut</a:t>
            </a:r>
          </a:p>
        </p:txBody>
      </p:sp>
      <p:sp>
        <p:nvSpPr>
          <p:cNvPr id="55" name="Rounded Rectangle 54"/>
          <p:cNvSpPr/>
          <p:nvPr/>
        </p:nvSpPr>
        <p:spPr>
          <a:xfrm>
            <a:off x="4997101" y="2970215"/>
            <a:ext cx="68403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Gorontalo</a:t>
            </a:r>
          </a:p>
        </p:txBody>
      </p:sp>
      <p:sp>
        <p:nvSpPr>
          <p:cNvPr id="56" name="Rounded Rectangle 55"/>
          <p:cNvSpPr/>
          <p:nvPr/>
        </p:nvSpPr>
        <p:spPr>
          <a:xfrm>
            <a:off x="4319264" y="5175070"/>
            <a:ext cx="39444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NTB</a:t>
            </a:r>
          </a:p>
        </p:txBody>
      </p:sp>
      <p:sp>
        <p:nvSpPr>
          <p:cNvPr id="57" name="Rounded Rectangle 56"/>
          <p:cNvSpPr/>
          <p:nvPr/>
        </p:nvSpPr>
        <p:spPr>
          <a:xfrm>
            <a:off x="6879317" y="3462676"/>
            <a:ext cx="390964" cy="165100"/>
          </a:xfrm>
          <a:prstGeom prst="roundRect">
            <a:avLst>
              <a:gd name="adj" fmla="val 50000"/>
            </a:avLst>
          </a:prstGeom>
          <a:solidFill>
            <a:srgbClr val="FFFFFF"/>
          </a:solidFill>
          <a:ln w="9525">
            <a:solidFill>
              <a:srgbClr val="BFC5CC"/>
            </a:solidFill>
          </a:ln>
        </p:spPr>
        <p:txBody>
          <a:bodyPr rtlCol="0" anchor="ctr" wrap="none" lIns="0" tIns="0" rIns="0" bIns="0">
            <a:noAutofit/>
          </a:bodyPr>
          <a:lstStyle/>
          <a:p>
            <a:pPr algn="ctr"/>
            <a:r>
              <a:rPr sz="919" b="1" lang="id-ID">
                <a:solidFill>
                  <a:srgbClr val="1A1A1A"/>
                </a:solidFill>
                <a:latin typeface="Roboto"/>
              </a:rPr>
              <a:t>PBD</a:t>
            </a:r>
          </a:p>
        </p:txBody>
      </p:sp>
      <p:sp>
        <p:nvSpPr>
          <p:cNvPr id="58" name="Rounded Rectangle 57"/>
          <p:cNvSpPr/>
          <p:nvPr/>
        </p:nvSpPr>
        <p:spPr>
          <a:xfrm>
            <a:off x="8758733" y="2346960"/>
            <a:ext cx="2884627" cy="3736340"/>
          </a:xfrm>
          <a:prstGeom prst="roundRect">
            <a:avLst>
              <a:gd name="adj" fmla="val 1893"/>
            </a:avLst>
          </a:prstGeom>
          <a:solidFill>
            <a:srgbClr val="FFFFFF"/>
          </a:solidFill>
          <a:ln>
            <a:noFill/>
          </a:ln>
        </p:spPr>
        <p:txBody>
          <a:bodyPr rtlCol="0" anchor="ctr"/>
          <a:lstStyle/>
          <a:p>
            <a:pPr algn="ctr"/>
          </a:p>
        </p:txBody>
      </p:sp>
      <p:sp>
        <p:nvSpPr>
          <p:cNvPr id="59" name="Rounded Rectangle 58"/>
          <p:cNvSpPr/>
          <p:nvPr/>
        </p:nvSpPr>
        <p:spPr>
          <a:xfrm>
            <a:off x="8758733" y="2346960"/>
            <a:ext cx="2884627" cy="457200"/>
          </a:xfrm>
          <a:prstGeom prst="roundRect">
            <a:avLst>
              <a:gd name="adj" fmla="val 11944"/>
            </a:avLst>
          </a:prstGeom>
          <a:solidFill>
            <a:srgbClr val="E6EAF0"/>
          </a:solidFill>
          <a:ln>
            <a:noFill/>
          </a:ln>
        </p:spPr>
        <p:txBody>
          <a:bodyPr rtlCol="0" anchor="ctr"/>
          <a:lstStyle/>
          <a:p>
            <a:pPr algn="ctr"/>
          </a:p>
        </p:txBody>
      </p:sp>
      <p:sp>
        <p:nvSpPr>
          <p:cNvPr id="60" name="Rectangle 59"/>
          <p:cNvSpPr/>
          <p:nvPr/>
        </p:nvSpPr>
        <p:spPr>
          <a:xfrm>
            <a:off x="8758733" y="2575560"/>
            <a:ext cx="2884627" cy="228600"/>
          </a:xfrm>
          <a:prstGeom prst="rect">
            <a:avLst/>
          </a:prstGeom>
          <a:solidFill>
            <a:srgbClr val="E6EAF0"/>
          </a:solidFill>
          <a:ln>
            <a:noFill/>
          </a:ln>
        </p:spPr>
        <p:txBody>
          <a:bodyPr rtlCol="0" anchor="ctr"/>
          <a:lstStyle/>
          <a:p>
            <a:pPr algn="ctr"/>
          </a:p>
        </p:txBody>
      </p:sp>
      <p:sp>
        <p:nvSpPr>
          <p:cNvPr id="61" name="Rounded Rectangle 60"/>
          <p:cNvSpPr/>
          <p:nvPr/>
        </p:nvSpPr>
        <p:spPr>
          <a:xfrm>
            <a:off x="8758733" y="2346960"/>
            <a:ext cx="2884627" cy="3736340"/>
          </a:xfrm>
          <a:prstGeom prst="roundRect">
            <a:avLst>
              <a:gd name="adj" fmla="val 1893"/>
            </a:avLst>
          </a:prstGeom>
          <a:noFill/>
          <a:ln w="9525">
            <a:solidFill>
              <a:srgbClr val="BFC5CC"/>
            </a:solidFill>
          </a:ln>
        </p:spPr>
        <p:txBody>
          <a:bodyPr rtlCol="0" anchor="ctr"/>
          <a:lstStyle/>
          <a:p>
            <a:pPr algn="ctr"/>
          </a:p>
        </p:txBody>
      </p:sp>
      <p:sp>
        <p:nvSpPr>
          <p:cNvPr id="62" name="Oval 61"/>
          <p:cNvSpPr/>
          <p:nvPr/>
        </p:nvSpPr>
        <p:spPr>
          <a:xfrm>
            <a:off x="8885733" y="2429510"/>
            <a:ext cx="292100" cy="292100"/>
          </a:xfrm>
          <a:prstGeom prst="ellipse">
            <a:avLst/>
          </a:prstGeom>
          <a:solidFill>
            <a:srgbClr val="051C2C"/>
          </a:solidFill>
          <a:ln>
            <a:noFill/>
          </a:ln>
        </p:spPr>
        <p:txBody>
          <a:bodyPr rtlCol="0" anchor="ctr"/>
          <a:lstStyle/>
          <a:p>
            <a:pPr algn="ctr"/>
          </a:p>
        </p:txBody>
      </p:sp>
      <p:pic>
        <p:nvPicPr>
          <p:cNvPr id="63" name="Picture 62" descr="karhutla-FFFFFF-1955759a.png"/>
          <p:cNvPicPr>
            <a:picLocks noChangeAspect="1"/>
          </p:cNvPicPr>
          <p:nvPr/>
        </p:nvPicPr>
        <p:blipFill>
          <a:blip r:embed="rId3"/>
          <a:stretch>
            <a:fillRect/>
          </a:stretch>
        </p:blipFill>
        <p:spPr>
          <a:xfrm>
            <a:off x="8942883" y="2486660"/>
            <a:ext cx="177800" cy="177800"/>
          </a:xfrm>
          <a:prstGeom prst="rect">
            <a:avLst/>
          </a:prstGeom>
        </p:spPr>
      </p:pic>
      <p:sp>
        <p:nvSpPr>
          <p:cNvPr id="64" name="TextBox 63"/>
          <p:cNvSpPr txBox="1"/>
          <p:nvPr/>
        </p:nvSpPr>
        <p:spPr>
          <a:xfrm>
            <a:off x="9266733" y="2346960"/>
            <a:ext cx="2122627" cy="457200"/>
          </a:xfrm>
          <a:prstGeom prst="rect">
            <a:avLst/>
          </a:prstGeom>
          <a:noFill/>
        </p:spPr>
        <p:txBody>
          <a:bodyPr wrap="none" lIns="0" tIns="0" rIns="0" bIns="0" anchor="ctr">
            <a:noAutofit/>
          </a:bodyPr>
          <a:lstStyle/>
          <a:p>
            <a:pPr algn="l"/>
            <a:r>
              <a:rPr sz="1260" b="1" lang="id-ID">
                <a:solidFill>
                  <a:srgbClr val="1A1A1A"/>
                </a:solidFill>
                <a:latin typeface="Roboto"/>
              </a:rPr>
              <a:t>Belum padam</a:t>
            </a:r>
          </a:p>
        </p:txBody>
      </p:sp>
      <p:sp>
        <p:nvSpPr>
          <p:cNvPr id="65" name="TextBox 64"/>
          <p:cNvSpPr txBox="1"/>
          <p:nvPr/>
        </p:nvSpPr>
        <p:spPr>
          <a:xfrm>
            <a:off x="8885733" y="2905760"/>
            <a:ext cx="1244955" cy="210820"/>
          </a:xfrm>
          <a:prstGeom prst="rect">
            <a:avLst/>
          </a:prstGeom>
          <a:noFill/>
        </p:spPr>
        <p:txBody>
          <a:bodyPr wrap="none" lIns="0" tIns="0" rIns="0" bIns="0" anchor="ctr">
            <a:noAutofit/>
          </a:bodyPr>
          <a:lstStyle/>
          <a:p>
            <a:pPr algn="ctr"/>
            <a:r>
              <a:rPr sz="750" b="1" lang="id-ID" spc="80">
                <a:solidFill>
                  <a:srgbClr val="6B7280"/>
                </a:solidFill>
                <a:latin typeface="Roboto"/>
              </a:rPr>
              <a:t>PROVINSI</a:t>
            </a:r>
          </a:p>
        </p:txBody>
      </p:sp>
      <p:sp>
        <p:nvSpPr>
          <p:cNvPr id="66" name="TextBox 65"/>
          <p:cNvSpPr txBox="1"/>
          <p:nvPr/>
        </p:nvSpPr>
        <p:spPr>
          <a:xfrm>
            <a:off x="10181488" y="2905760"/>
            <a:ext cx="1233272" cy="210820"/>
          </a:xfrm>
          <a:prstGeom prst="rect">
            <a:avLst/>
          </a:prstGeom>
          <a:noFill/>
        </p:spPr>
        <p:txBody>
          <a:bodyPr wrap="none" lIns="0" tIns="0" rIns="0" bIns="0" anchor="ctr">
            <a:noAutofit/>
          </a:bodyPr>
          <a:lstStyle/>
          <a:p>
            <a:pPr algn="ctr"/>
            <a:r>
              <a:rPr sz="750" b="1" lang="id-ID" spc="80">
                <a:solidFill>
                  <a:srgbClr val="6B7280"/>
                </a:solidFill>
                <a:latin typeface="Roboto"/>
              </a:rPr>
              <a:t>BELUM PADAM, HA</a:t>
            </a:r>
          </a:p>
        </p:txBody>
      </p:sp>
      <p:cxnSp>
        <p:nvCxnSpPr>
          <p:cNvPr id="67" name="Connector 66"/>
          <p:cNvCxnSpPr/>
          <p:nvPr/>
        </p:nvCxnSpPr>
        <p:spPr>
          <a:xfrm>
            <a:off x="8885733" y="3116580"/>
            <a:ext cx="2630627" cy="0"/>
          </a:xfrm>
          <a:prstGeom prst="line">
            <a:avLst/>
          </a:prstGeom>
          <a:ln w="9525">
            <a:solidFill>
              <a:srgbClr val="1A1A1A"/>
            </a:solidFill>
          </a:ln>
        </p:spPr>
      </p:cxnSp>
      <p:sp>
        <p:nvSpPr>
          <p:cNvPr id="68" name="TextBox 67"/>
          <p:cNvSpPr txBox="1"/>
          <p:nvPr/>
        </p:nvSpPr>
        <p:spPr>
          <a:xfrm>
            <a:off x="8885733" y="3116580"/>
            <a:ext cx="1244955" cy="159879"/>
          </a:xfrm>
          <a:prstGeom prst="rect">
            <a:avLst/>
          </a:prstGeom>
          <a:noFill/>
        </p:spPr>
        <p:txBody>
          <a:bodyPr wrap="none" lIns="0" tIns="0" rIns="0" bIns="0" anchor="ctr">
            <a:noAutofit/>
          </a:bodyPr>
          <a:lstStyle/>
          <a:p>
            <a:pPr algn="l"/>
            <a:r>
              <a:rPr sz="919" b="1" lang="id-ID">
                <a:solidFill>
                  <a:srgbClr val="1A1A1A"/>
                </a:solidFill>
                <a:latin typeface="Roboto"/>
              </a:rPr>
              <a:t>Kalimantan Tengah</a:t>
            </a:r>
          </a:p>
        </p:txBody>
      </p:sp>
      <p:sp>
        <p:nvSpPr>
          <p:cNvPr id="69" name="TextBox 68"/>
          <p:cNvSpPr txBox="1"/>
          <p:nvPr/>
        </p:nvSpPr>
        <p:spPr>
          <a:xfrm>
            <a:off x="10181488" y="3116580"/>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1.134</a:t>
            </a:r>
          </a:p>
        </p:txBody>
      </p:sp>
      <p:cxnSp>
        <p:nvCxnSpPr>
          <p:cNvPr id="70" name="Connector 69"/>
          <p:cNvCxnSpPr/>
          <p:nvPr/>
        </p:nvCxnSpPr>
        <p:spPr>
          <a:xfrm>
            <a:off x="8885733" y="3276459"/>
            <a:ext cx="2630627" cy="0"/>
          </a:xfrm>
          <a:prstGeom prst="line">
            <a:avLst/>
          </a:prstGeom>
          <a:ln w="6350">
            <a:solidFill>
              <a:srgbClr val="E6EAF0"/>
            </a:solidFill>
          </a:ln>
        </p:spPr>
      </p:cxnSp>
      <p:sp>
        <p:nvSpPr>
          <p:cNvPr id="71" name="TextBox 70"/>
          <p:cNvSpPr txBox="1"/>
          <p:nvPr/>
        </p:nvSpPr>
        <p:spPr>
          <a:xfrm>
            <a:off x="8885733" y="3276459"/>
            <a:ext cx="1244955" cy="159879"/>
          </a:xfrm>
          <a:prstGeom prst="rect">
            <a:avLst/>
          </a:prstGeom>
          <a:noFill/>
        </p:spPr>
        <p:txBody>
          <a:bodyPr wrap="none" lIns="0" tIns="0" rIns="0" bIns="0" anchor="ctr">
            <a:noAutofit/>
          </a:bodyPr>
          <a:lstStyle/>
          <a:p>
            <a:pPr algn="l"/>
            <a:r>
              <a:rPr sz="919" b="1" lang="id-ID">
                <a:solidFill>
                  <a:srgbClr val="1A1A1A"/>
                </a:solidFill>
                <a:latin typeface="Roboto"/>
              </a:rPr>
              <a:t>Kalimantan Barat</a:t>
            </a:r>
          </a:p>
        </p:txBody>
      </p:sp>
      <p:sp>
        <p:nvSpPr>
          <p:cNvPr id="72" name="TextBox 71"/>
          <p:cNvSpPr txBox="1"/>
          <p:nvPr/>
        </p:nvSpPr>
        <p:spPr>
          <a:xfrm>
            <a:off x="10181488" y="3276459"/>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391</a:t>
            </a:r>
          </a:p>
        </p:txBody>
      </p:sp>
      <p:cxnSp>
        <p:nvCxnSpPr>
          <p:cNvPr id="73" name="Connector 72"/>
          <p:cNvCxnSpPr/>
          <p:nvPr/>
        </p:nvCxnSpPr>
        <p:spPr>
          <a:xfrm>
            <a:off x="8885733" y="3436338"/>
            <a:ext cx="2630627" cy="0"/>
          </a:xfrm>
          <a:prstGeom prst="line">
            <a:avLst/>
          </a:prstGeom>
          <a:ln w="6350">
            <a:solidFill>
              <a:srgbClr val="E6EAF0"/>
            </a:solidFill>
          </a:ln>
        </p:spPr>
      </p:cxnSp>
      <p:sp>
        <p:nvSpPr>
          <p:cNvPr id="74" name="TextBox 73"/>
          <p:cNvSpPr txBox="1"/>
          <p:nvPr/>
        </p:nvSpPr>
        <p:spPr>
          <a:xfrm>
            <a:off x="8885733" y="3436338"/>
            <a:ext cx="1244955" cy="159879"/>
          </a:xfrm>
          <a:prstGeom prst="rect">
            <a:avLst/>
          </a:prstGeom>
          <a:noFill/>
        </p:spPr>
        <p:txBody>
          <a:bodyPr wrap="none" lIns="0" tIns="0" rIns="0" bIns="0" anchor="ctr">
            <a:noAutofit/>
          </a:bodyPr>
          <a:lstStyle/>
          <a:p>
            <a:pPr algn="l"/>
            <a:r>
              <a:rPr sz="919" b="1" lang="id-ID">
                <a:solidFill>
                  <a:srgbClr val="1A1A1A"/>
                </a:solidFill>
                <a:latin typeface="Roboto"/>
              </a:rPr>
              <a:t>Papua Selatan</a:t>
            </a:r>
          </a:p>
        </p:txBody>
      </p:sp>
      <p:sp>
        <p:nvSpPr>
          <p:cNvPr id="75" name="TextBox 74"/>
          <p:cNvSpPr txBox="1"/>
          <p:nvPr/>
        </p:nvSpPr>
        <p:spPr>
          <a:xfrm>
            <a:off x="10181488" y="3436338"/>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241</a:t>
            </a:r>
          </a:p>
        </p:txBody>
      </p:sp>
      <p:cxnSp>
        <p:nvCxnSpPr>
          <p:cNvPr id="76" name="Connector 75"/>
          <p:cNvCxnSpPr/>
          <p:nvPr/>
        </p:nvCxnSpPr>
        <p:spPr>
          <a:xfrm>
            <a:off x="8885733" y="3596217"/>
            <a:ext cx="2630627" cy="0"/>
          </a:xfrm>
          <a:prstGeom prst="line">
            <a:avLst/>
          </a:prstGeom>
          <a:ln w="6350">
            <a:solidFill>
              <a:srgbClr val="E6EAF0"/>
            </a:solidFill>
          </a:ln>
        </p:spPr>
      </p:cxnSp>
      <p:sp>
        <p:nvSpPr>
          <p:cNvPr id="77" name="TextBox 76"/>
          <p:cNvSpPr txBox="1"/>
          <p:nvPr/>
        </p:nvSpPr>
        <p:spPr>
          <a:xfrm>
            <a:off x="8885733" y="3596217"/>
            <a:ext cx="1244955" cy="159879"/>
          </a:xfrm>
          <a:prstGeom prst="rect">
            <a:avLst/>
          </a:prstGeom>
          <a:noFill/>
        </p:spPr>
        <p:txBody>
          <a:bodyPr wrap="none" lIns="0" tIns="0" rIns="0" bIns="0" anchor="ctr">
            <a:noAutofit/>
          </a:bodyPr>
          <a:lstStyle/>
          <a:p>
            <a:pPr algn="l"/>
            <a:r>
              <a:rPr sz="919" b="1" lang="id-ID">
                <a:solidFill>
                  <a:srgbClr val="1A1A1A"/>
                </a:solidFill>
                <a:latin typeface="Roboto"/>
              </a:rPr>
              <a:t>Maluku Utara</a:t>
            </a:r>
          </a:p>
        </p:txBody>
      </p:sp>
      <p:sp>
        <p:nvSpPr>
          <p:cNvPr id="78" name="TextBox 77"/>
          <p:cNvSpPr txBox="1"/>
          <p:nvPr/>
        </p:nvSpPr>
        <p:spPr>
          <a:xfrm>
            <a:off x="10181488" y="3596217"/>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126</a:t>
            </a:r>
          </a:p>
        </p:txBody>
      </p:sp>
      <p:cxnSp>
        <p:nvCxnSpPr>
          <p:cNvPr id="79" name="Connector 78"/>
          <p:cNvCxnSpPr/>
          <p:nvPr/>
        </p:nvCxnSpPr>
        <p:spPr>
          <a:xfrm>
            <a:off x="8885733" y="3756096"/>
            <a:ext cx="2630627" cy="0"/>
          </a:xfrm>
          <a:prstGeom prst="line">
            <a:avLst/>
          </a:prstGeom>
          <a:ln w="6350">
            <a:solidFill>
              <a:srgbClr val="E6EAF0"/>
            </a:solidFill>
          </a:ln>
        </p:spPr>
      </p:cxnSp>
      <p:sp>
        <p:nvSpPr>
          <p:cNvPr id="80" name="TextBox 79"/>
          <p:cNvSpPr txBox="1"/>
          <p:nvPr/>
        </p:nvSpPr>
        <p:spPr>
          <a:xfrm>
            <a:off x="8885733" y="3756096"/>
            <a:ext cx="1244955" cy="159879"/>
          </a:xfrm>
          <a:prstGeom prst="rect">
            <a:avLst/>
          </a:prstGeom>
          <a:noFill/>
        </p:spPr>
        <p:txBody>
          <a:bodyPr wrap="none" lIns="0" tIns="0" rIns="0" bIns="0" anchor="ctr">
            <a:noAutofit/>
          </a:bodyPr>
          <a:lstStyle/>
          <a:p>
            <a:pPr algn="l"/>
            <a:r>
              <a:rPr sz="919" b="1" lang="id-ID">
                <a:solidFill>
                  <a:srgbClr val="1A1A1A"/>
                </a:solidFill>
                <a:latin typeface="Roboto"/>
              </a:rPr>
              <a:t>Maluku</a:t>
            </a:r>
          </a:p>
        </p:txBody>
      </p:sp>
      <p:sp>
        <p:nvSpPr>
          <p:cNvPr id="81" name="TextBox 80"/>
          <p:cNvSpPr txBox="1"/>
          <p:nvPr/>
        </p:nvSpPr>
        <p:spPr>
          <a:xfrm>
            <a:off x="10181488" y="3756096"/>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79</a:t>
            </a:r>
          </a:p>
        </p:txBody>
      </p:sp>
      <p:cxnSp>
        <p:nvCxnSpPr>
          <p:cNvPr id="82" name="Connector 81"/>
          <p:cNvCxnSpPr/>
          <p:nvPr/>
        </p:nvCxnSpPr>
        <p:spPr>
          <a:xfrm>
            <a:off x="8885733" y="3915974"/>
            <a:ext cx="2630627" cy="0"/>
          </a:xfrm>
          <a:prstGeom prst="line">
            <a:avLst/>
          </a:prstGeom>
          <a:ln w="6350">
            <a:solidFill>
              <a:srgbClr val="E6EAF0"/>
            </a:solidFill>
          </a:ln>
        </p:spPr>
      </p:cxnSp>
      <p:sp>
        <p:nvSpPr>
          <p:cNvPr id="83" name="TextBox 82"/>
          <p:cNvSpPr txBox="1"/>
          <p:nvPr/>
        </p:nvSpPr>
        <p:spPr>
          <a:xfrm>
            <a:off x="8885733" y="3915974"/>
            <a:ext cx="1244955" cy="159879"/>
          </a:xfrm>
          <a:prstGeom prst="rect">
            <a:avLst/>
          </a:prstGeom>
          <a:noFill/>
        </p:spPr>
        <p:txBody>
          <a:bodyPr wrap="none" lIns="0" tIns="0" rIns="0" bIns="0" anchor="ctr">
            <a:noAutofit/>
          </a:bodyPr>
          <a:lstStyle/>
          <a:p>
            <a:pPr algn="l"/>
            <a:r>
              <a:rPr sz="919" b="1" lang="id-ID">
                <a:solidFill>
                  <a:srgbClr val="1A1A1A"/>
                </a:solidFill>
                <a:latin typeface="Roboto"/>
              </a:rPr>
              <a:t>Sulawesi Selatan</a:t>
            </a:r>
          </a:p>
        </p:txBody>
      </p:sp>
      <p:sp>
        <p:nvSpPr>
          <p:cNvPr id="84" name="TextBox 83"/>
          <p:cNvSpPr txBox="1"/>
          <p:nvPr/>
        </p:nvSpPr>
        <p:spPr>
          <a:xfrm>
            <a:off x="10181488" y="3915974"/>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76</a:t>
            </a:r>
          </a:p>
        </p:txBody>
      </p:sp>
      <p:cxnSp>
        <p:nvCxnSpPr>
          <p:cNvPr id="85" name="Connector 84"/>
          <p:cNvCxnSpPr/>
          <p:nvPr/>
        </p:nvCxnSpPr>
        <p:spPr>
          <a:xfrm>
            <a:off x="8885733" y="4075853"/>
            <a:ext cx="2630627" cy="0"/>
          </a:xfrm>
          <a:prstGeom prst="line">
            <a:avLst/>
          </a:prstGeom>
          <a:ln w="6350">
            <a:solidFill>
              <a:srgbClr val="E6EAF0"/>
            </a:solidFill>
          </a:ln>
        </p:spPr>
      </p:cxnSp>
      <p:sp>
        <p:nvSpPr>
          <p:cNvPr id="86" name="TextBox 85"/>
          <p:cNvSpPr txBox="1"/>
          <p:nvPr/>
        </p:nvSpPr>
        <p:spPr>
          <a:xfrm>
            <a:off x="8885733" y="4075853"/>
            <a:ext cx="1244955" cy="159879"/>
          </a:xfrm>
          <a:prstGeom prst="rect">
            <a:avLst/>
          </a:prstGeom>
          <a:noFill/>
        </p:spPr>
        <p:txBody>
          <a:bodyPr wrap="none" lIns="0" tIns="0" rIns="0" bIns="0" anchor="ctr">
            <a:noAutofit/>
          </a:bodyPr>
          <a:lstStyle/>
          <a:p>
            <a:pPr algn="l"/>
            <a:r>
              <a:rPr sz="919" b="1" lang="id-ID">
                <a:solidFill>
                  <a:srgbClr val="1A1A1A"/>
                </a:solidFill>
                <a:latin typeface="Roboto"/>
              </a:rPr>
              <a:t>Kalimantan Timur</a:t>
            </a:r>
          </a:p>
        </p:txBody>
      </p:sp>
      <p:sp>
        <p:nvSpPr>
          <p:cNvPr id="87" name="TextBox 86"/>
          <p:cNvSpPr txBox="1"/>
          <p:nvPr/>
        </p:nvSpPr>
        <p:spPr>
          <a:xfrm>
            <a:off x="10181488" y="4075853"/>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68</a:t>
            </a:r>
          </a:p>
        </p:txBody>
      </p:sp>
      <p:cxnSp>
        <p:nvCxnSpPr>
          <p:cNvPr id="88" name="Connector 87"/>
          <p:cNvCxnSpPr/>
          <p:nvPr/>
        </p:nvCxnSpPr>
        <p:spPr>
          <a:xfrm>
            <a:off x="8885733" y="4235732"/>
            <a:ext cx="2630627" cy="0"/>
          </a:xfrm>
          <a:prstGeom prst="line">
            <a:avLst/>
          </a:prstGeom>
          <a:ln w="6350">
            <a:solidFill>
              <a:srgbClr val="E6EAF0"/>
            </a:solidFill>
          </a:ln>
        </p:spPr>
      </p:cxnSp>
      <p:sp>
        <p:nvSpPr>
          <p:cNvPr id="89" name="TextBox 88"/>
          <p:cNvSpPr txBox="1"/>
          <p:nvPr/>
        </p:nvSpPr>
        <p:spPr>
          <a:xfrm>
            <a:off x="8885733" y="4235732"/>
            <a:ext cx="1244955" cy="159879"/>
          </a:xfrm>
          <a:prstGeom prst="rect">
            <a:avLst/>
          </a:prstGeom>
          <a:noFill/>
        </p:spPr>
        <p:txBody>
          <a:bodyPr wrap="none" lIns="0" tIns="0" rIns="0" bIns="0" anchor="ctr">
            <a:noAutofit/>
          </a:bodyPr>
          <a:lstStyle/>
          <a:p>
            <a:pPr algn="l"/>
            <a:r>
              <a:rPr sz="919" b="1" lang="id-ID">
                <a:solidFill>
                  <a:srgbClr val="1A1A1A"/>
                </a:solidFill>
                <a:latin typeface="Roboto"/>
              </a:rPr>
              <a:t>Sulawesi Tenggara</a:t>
            </a:r>
          </a:p>
        </p:txBody>
      </p:sp>
      <p:sp>
        <p:nvSpPr>
          <p:cNvPr id="90" name="TextBox 89"/>
          <p:cNvSpPr txBox="1"/>
          <p:nvPr/>
        </p:nvSpPr>
        <p:spPr>
          <a:xfrm>
            <a:off x="10181488" y="4235732"/>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52</a:t>
            </a:r>
          </a:p>
        </p:txBody>
      </p:sp>
      <p:cxnSp>
        <p:nvCxnSpPr>
          <p:cNvPr id="91" name="Connector 90"/>
          <p:cNvCxnSpPr/>
          <p:nvPr/>
        </p:nvCxnSpPr>
        <p:spPr>
          <a:xfrm>
            <a:off x="8885733" y="4395611"/>
            <a:ext cx="2630627" cy="0"/>
          </a:xfrm>
          <a:prstGeom prst="line">
            <a:avLst/>
          </a:prstGeom>
          <a:ln w="6350">
            <a:solidFill>
              <a:srgbClr val="E6EAF0"/>
            </a:solidFill>
          </a:ln>
        </p:spPr>
      </p:cxnSp>
      <p:sp>
        <p:nvSpPr>
          <p:cNvPr id="92" name="TextBox 91"/>
          <p:cNvSpPr txBox="1"/>
          <p:nvPr/>
        </p:nvSpPr>
        <p:spPr>
          <a:xfrm>
            <a:off x="8885733" y="4395611"/>
            <a:ext cx="1244955" cy="159879"/>
          </a:xfrm>
          <a:prstGeom prst="rect">
            <a:avLst/>
          </a:prstGeom>
          <a:noFill/>
        </p:spPr>
        <p:txBody>
          <a:bodyPr wrap="none" lIns="0" tIns="0" rIns="0" bIns="0" anchor="ctr">
            <a:noAutofit/>
          </a:bodyPr>
          <a:lstStyle/>
          <a:p>
            <a:pPr algn="l"/>
            <a:r>
              <a:rPr sz="919" b="1" lang="id-ID">
                <a:solidFill>
                  <a:srgbClr val="1A1A1A"/>
                </a:solidFill>
                <a:latin typeface="Roboto"/>
              </a:rPr>
              <a:t>Sulawesi Tengah</a:t>
            </a:r>
          </a:p>
        </p:txBody>
      </p:sp>
      <p:sp>
        <p:nvSpPr>
          <p:cNvPr id="93" name="TextBox 92"/>
          <p:cNvSpPr txBox="1"/>
          <p:nvPr/>
        </p:nvSpPr>
        <p:spPr>
          <a:xfrm>
            <a:off x="10181488" y="4395611"/>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46</a:t>
            </a:r>
          </a:p>
        </p:txBody>
      </p:sp>
      <p:cxnSp>
        <p:nvCxnSpPr>
          <p:cNvPr id="94" name="Connector 93"/>
          <p:cNvCxnSpPr/>
          <p:nvPr/>
        </p:nvCxnSpPr>
        <p:spPr>
          <a:xfrm>
            <a:off x="8885733" y="4555490"/>
            <a:ext cx="2630627" cy="0"/>
          </a:xfrm>
          <a:prstGeom prst="line">
            <a:avLst/>
          </a:prstGeom>
          <a:ln w="6350">
            <a:solidFill>
              <a:srgbClr val="E6EAF0"/>
            </a:solidFill>
          </a:ln>
        </p:spPr>
      </p:cxnSp>
      <p:sp>
        <p:nvSpPr>
          <p:cNvPr id="95" name="TextBox 94"/>
          <p:cNvSpPr txBox="1"/>
          <p:nvPr/>
        </p:nvSpPr>
        <p:spPr>
          <a:xfrm>
            <a:off x="8885733" y="4555490"/>
            <a:ext cx="1244955" cy="159879"/>
          </a:xfrm>
          <a:prstGeom prst="rect">
            <a:avLst/>
          </a:prstGeom>
          <a:noFill/>
        </p:spPr>
        <p:txBody>
          <a:bodyPr wrap="none" lIns="0" tIns="0" rIns="0" bIns="0" anchor="ctr">
            <a:noAutofit/>
          </a:bodyPr>
          <a:lstStyle/>
          <a:p>
            <a:pPr algn="l"/>
            <a:r>
              <a:rPr sz="919" b="1" lang="id-ID">
                <a:solidFill>
                  <a:srgbClr val="1A1A1A"/>
                </a:solidFill>
                <a:latin typeface="Roboto"/>
              </a:rPr>
              <a:t>Kalimantan Selatan</a:t>
            </a:r>
          </a:p>
        </p:txBody>
      </p:sp>
      <p:sp>
        <p:nvSpPr>
          <p:cNvPr id="96" name="TextBox 95"/>
          <p:cNvSpPr txBox="1"/>
          <p:nvPr/>
        </p:nvSpPr>
        <p:spPr>
          <a:xfrm>
            <a:off x="10181488" y="4555490"/>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21</a:t>
            </a:r>
          </a:p>
        </p:txBody>
      </p:sp>
      <p:cxnSp>
        <p:nvCxnSpPr>
          <p:cNvPr id="97" name="Connector 96"/>
          <p:cNvCxnSpPr/>
          <p:nvPr/>
        </p:nvCxnSpPr>
        <p:spPr>
          <a:xfrm>
            <a:off x="8885733" y="4715369"/>
            <a:ext cx="2630627" cy="0"/>
          </a:xfrm>
          <a:prstGeom prst="line">
            <a:avLst/>
          </a:prstGeom>
          <a:ln w="6350">
            <a:solidFill>
              <a:srgbClr val="E6EAF0"/>
            </a:solidFill>
          </a:ln>
        </p:spPr>
      </p:cxnSp>
      <p:sp>
        <p:nvSpPr>
          <p:cNvPr id="98" name="TextBox 97"/>
          <p:cNvSpPr txBox="1"/>
          <p:nvPr/>
        </p:nvSpPr>
        <p:spPr>
          <a:xfrm>
            <a:off x="8885733" y="4715369"/>
            <a:ext cx="1244955" cy="159879"/>
          </a:xfrm>
          <a:prstGeom prst="rect">
            <a:avLst/>
          </a:prstGeom>
          <a:noFill/>
        </p:spPr>
        <p:txBody>
          <a:bodyPr wrap="none" lIns="0" tIns="0" rIns="0" bIns="0" anchor="ctr">
            <a:noAutofit/>
          </a:bodyPr>
          <a:lstStyle/>
          <a:p>
            <a:pPr algn="l"/>
            <a:r>
              <a:rPr sz="919" b="1" lang="id-ID">
                <a:solidFill>
                  <a:srgbClr val="1A1A1A"/>
                </a:solidFill>
                <a:latin typeface="Roboto"/>
              </a:rPr>
              <a:t>Bangka Belitung</a:t>
            </a:r>
          </a:p>
        </p:txBody>
      </p:sp>
      <p:sp>
        <p:nvSpPr>
          <p:cNvPr id="99" name="TextBox 98"/>
          <p:cNvSpPr txBox="1"/>
          <p:nvPr/>
        </p:nvSpPr>
        <p:spPr>
          <a:xfrm>
            <a:off x="10181488" y="4715369"/>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21</a:t>
            </a:r>
          </a:p>
        </p:txBody>
      </p:sp>
      <p:cxnSp>
        <p:nvCxnSpPr>
          <p:cNvPr id="100" name="Connector 99"/>
          <p:cNvCxnSpPr/>
          <p:nvPr/>
        </p:nvCxnSpPr>
        <p:spPr>
          <a:xfrm>
            <a:off x="8885733" y="4875248"/>
            <a:ext cx="2630627" cy="0"/>
          </a:xfrm>
          <a:prstGeom prst="line">
            <a:avLst/>
          </a:prstGeom>
          <a:ln w="6350">
            <a:solidFill>
              <a:srgbClr val="E6EAF0"/>
            </a:solidFill>
          </a:ln>
        </p:spPr>
      </p:cxnSp>
      <p:sp>
        <p:nvSpPr>
          <p:cNvPr id="101" name="TextBox 100"/>
          <p:cNvSpPr txBox="1"/>
          <p:nvPr/>
        </p:nvSpPr>
        <p:spPr>
          <a:xfrm>
            <a:off x="8885733" y="4875248"/>
            <a:ext cx="1244955" cy="159879"/>
          </a:xfrm>
          <a:prstGeom prst="rect">
            <a:avLst/>
          </a:prstGeom>
          <a:noFill/>
        </p:spPr>
        <p:txBody>
          <a:bodyPr wrap="none" lIns="0" tIns="0" rIns="0" bIns="0" anchor="ctr">
            <a:noAutofit/>
          </a:bodyPr>
          <a:lstStyle/>
          <a:p>
            <a:pPr algn="l"/>
            <a:r>
              <a:rPr sz="919" b="1" lang="id-ID">
                <a:solidFill>
                  <a:srgbClr val="1A1A1A"/>
                </a:solidFill>
                <a:latin typeface="Roboto"/>
              </a:rPr>
              <a:t>Sumatera Selatan</a:t>
            </a:r>
          </a:p>
        </p:txBody>
      </p:sp>
      <p:sp>
        <p:nvSpPr>
          <p:cNvPr id="102" name="TextBox 101"/>
          <p:cNvSpPr txBox="1"/>
          <p:nvPr/>
        </p:nvSpPr>
        <p:spPr>
          <a:xfrm>
            <a:off x="10181488" y="4875248"/>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21</a:t>
            </a:r>
          </a:p>
        </p:txBody>
      </p:sp>
      <p:cxnSp>
        <p:nvCxnSpPr>
          <p:cNvPr id="103" name="Connector 102"/>
          <p:cNvCxnSpPr/>
          <p:nvPr/>
        </p:nvCxnSpPr>
        <p:spPr>
          <a:xfrm>
            <a:off x="8885733" y="5035127"/>
            <a:ext cx="2630627" cy="0"/>
          </a:xfrm>
          <a:prstGeom prst="line">
            <a:avLst/>
          </a:prstGeom>
          <a:ln w="6350">
            <a:solidFill>
              <a:srgbClr val="E6EAF0"/>
            </a:solidFill>
          </a:ln>
        </p:spPr>
      </p:cxnSp>
      <p:sp>
        <p:nvSpPr>
          <p:cNvPr id="104" name="TextBox 103"/>
          <p:cNvSpPr txBox="1"/>
          <p:nvPr/>
        </p:nvSpPr>
        <p:spPr>
          <a:xfrm>
            <a:off x="8885733" y="5035127"/>
            <a:ext cx="1244955" cy="159879"/>
          </a:xfrm>
          <a:prstGeom prst="rect">
            <a:avLst/>
          </a:prstGeom>
          <a:noFill/>
        </p:spPr>
        <p:txBody>
          <a:bodyPr wrap="none" lIns="0" tIns="0" rIns="0" bIns="0" anchor="ctr">
            <a:noAutofit/>
          </a:bodyPr>
          <a:lstStyle/>
          <a:p>
            <a:pPr algn="l"/>
            <a:r>
              <a:rPr sz="919" b="1" lang="id-ID">
                <a:solidFill>
                  <a:srgbClr val="1A1A1A"/>
                </a:solidFill>
                <a:latin typeface="Roboto"/>
              </a:rPr>
              <a:t>Jawa Timur</a:t>
            </a:r>
          </a:p>
        </p:txBody>
      </p:sp>
      <p:sp>
        <p:nvSpPr>
          <p:cNvPr id="105" name="TextBox 104"/>
          <p:cNvSpPr txBox="1"/>
          <p:nvPr/>
        </p:nvSpPr>
        <p:spPr>
          <a:xfrm>
            <a:off x="10181488" y="5035127"/>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17</a:t>
            </a:r>
          </a:p>
        </p:txBody>
      </p:sp>
      <p:cxnSp>
        <p:nvCxnSpPr>
          <p:cNvPr id="106" name="Connector 105"/>
          <p:cNvCxnSpPr/>
          <p:nvPr/>
        </p:nvCxnSpPr>
        <p:spPr>
          <a:xfrm>
            <a:off x="8885733" y="5195006"/>
            <a:ext cx="2630627" cy="0"/>
          </a:xfrm>
          <a:prstGeom prst="line">
            <a:avLst/>
          </a:prstGeom>
          <a:ln w="6350">
            <a:solidFill>
              <a:srgbClr val="E6EAF0"/>
            </a:solidFill>
          </a:ln>
        </p:spPr>
      </p:cxnSp>
      <p:sp>
        <p:nvSpPr>
          <p:cNvPr id="107" name="TextBox 106"/>
          <p:cNvSpPr txBox="1"/>
          <p:nvPr/>
        </p:nvSpPr>
        <p:spPr>
          <a:xfrm>
            <a:off x="8885733" y="5195006"/>
            <a:ext cx="1244955" cy="159879"/>
          </a:xfrm>
          <a:prstGeom prst="rect">
            <a:avLst/>
          </a:prstGeom>
          <a:noFill/>
        </p:spPr>
        <p:txBody>
          <a:bodyPr wrap="none" lIns="0" tIns="0" rIns="0" bIns="0" anchor="ctr">
            <a:noAutofit/>
          </a:bodyPr>
          <a:lstStyle/>
          <a:p>
            <a:pPr algn="l"/>
            <a:r>
              <a:rPr sz="919" b="1" lang="id-ID">
                <a:solidFill>
                  <a:srgbClr val="1A1A1A"/>
                </a:solidFill>
                <a:latin typeface="Roboto"/>
              </a:rPr>
              <a:t>Nusa Tenggara Timur</a:t>
            </a:r>
          </a:p>
        </p:txBody>
      </p:sp>
      <p:sp>
        <p:nvSpPr>
          <p:cNvPr id="108" name="TextBox 107"/>
          <p:cNvSpPr txBox="1"/>
          <p:nvPr/>
        </p:nvSpPr>
        <p:spPr>
          <a:xfrm>
            <a:off x="10181488" y="5195006"/>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10</a:t>
            </a:r>
          </a:p>
        </p:txBody>
      </p:sp>
      <p:cxnSp>
        <p:nvCxnSpPr>
          <p:cNvPr id="109" name="Connector 108"/>
          <p:cNvCxnSpPr/>
          <p:nvPr/>
        </p:nvCxnSpPr>
        <p:spPr>
          <a:xfrm>
            <a:off x="8885733" y="5354884"/>
            <a:ext cx="2630627" cy="0"/>
          </a:xfrm>
          <a:prstGeom prst="line">
            <a:avLst/>
          </a:prstGeom>
          <a:ln w="6350">
            <a:solidFill>
              <a:srgbClr val="E6EAF0"/>
            </a:solidFill>
          </a:ln>
        </p:spPr>
      </p:cxnSp>
      <p:sp>
        <p:nvSpPr>
          <p:cNvPr id="110" name="TextBox 109"/>
          <p:cNvSpPr txBox="1"/>
          <p:nvPr/>
        </p:nvSpPr>
        <p:spPr>
          <a:xfrm>
            <a:off x="8885733" y="5354884"/>
            <a:ext cx="1244955" cy="159879"/>
          </a:xfrm>
          <a:prstGeom prst="rect">
            <a:avLst/>
          </a:prstGeom>
          <a:noFill/>
        </p:spPr>
        <p:txBody>
          <a:bodyPr wrap="none" lIns="0" tIns="0" rIns="0" bIns="0" anchor="ctr">
            <a:noAutofit/>
          </a:bodyPr>
          <a:lstStyle/>
          <a:p>
            <a:pPr algn="l"/>
            <a:r>
              <a:rPr sz="919" b="1" lang="id-ID">
                <a:solidFill>
                  <a:srgbClr val="1A1A1A"/>
                </a:solidFill>
                <a:latin typeface="Roboto"/>
              </a:rPr>
              <a:t>Sulawesi Utara</a:t>
            </a:r>
          </a:p>
        </p:txBody>
      </p:sp>
      <p:sp>
        <p:nvSpPr>
          <p:cNvPr id="111" name="TextBox 110"/>
          <p:cNvSpPr txBox="1"/>
          <p:nvPr/>
        </p:nvSpPr>
        <p:spPr>
          <a:xfrm>
            <a:off x="10181488" y="5354884"/>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10</a:t>
            </a:r>
          </a:p>
        </p:txBody>
      </p:sp>
      <p:cxnSp>
        <p:nvCxnSpPr>
          <p:cNvPr id="112" name="Connector 111"/>
          <p:cNvCxnSpPr/>
          <p:nvPr/>
        </p:nvCxnSpPr>
        <p:spPr>
          <a:xfrm>
            <a:off x="8885733" y="5514763"/>
            <a:ext cx="2630627" cy="0"/>
          </a:xfrm>
          <a:prstGeom prst="line">
            <a:avLst/>
          </a:prstGeom>
          <a:ln w="6350">
            <a:solidFill>
              <a:srgbClr val="E6EAF0"/>
            </a:solidFill>
          </a:ln>
        </p:spPr>
      </p:cxnSp>
      <p:sp>
        <p:nvSpPr>
          <p:cNvPr id="113" name="TextBox 112"/>
          <p:cNvSpPr txBox="1"/>
          <p:nvPr/>
        </p:nvSpPr>
        <p:spPr>
          <a:xfrm>
            <a:off x="8885733" y="5514763"/>
            <a:ext cx="1244955" cy="159879"/>
          </a:xfrm>
          <a:prstGeom prst="rect">
            <a:avLst/>
          </a:prstGeom>
          <a:noFill/>
        </p:spPr>
        <p:txBody>
          <a:bodyPr wrap="none" lIns="0" tIns="0" rIns="0" bIns="0" anchor="ctr">
            <a:noAutofit/>
          </a:bodyPr>
          <a:lstStyle/>
          <a:p>
            <a:pPr algn="l"/>
            <a:r>
              <a:rPr sz="919" b="1" lang="id-ID">
                <a:solidFill>
                  <a:srgbClr val="1A1A1A"/>
                </a:solidFill>
                <a:latin typeface="Roboto"/>
              </a:rPr>
              <a:t>Gorontalo</a:t>
            </a:r>
          </a:p>
        </p:txBody>
      </p:sp>
      <p:sp>
        <p:nvSpPr>
          <p:cNvPr id="114" name="TextBox 113"/>
          <p:cNvSpPr txBox="1"/>
          <p:nvPr/>
        </p:nvSpPr>
        <p:spPr>
          <a:xfrm>
            <a:off x="10181488" y="5514763"/>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8</a:t>
            </a:r>
          </a:p>
        </p:txBody>
      </p:sp>
      <p:cxnSp>
        <p:nvCxnSpPr>
          <p:cNvPr id="115" name="Connector 114"/>
          <p:cNvCxnSpPr/>
          <p:nvPr/>
        </p:nvCxnSpPr>
        <p:spPr>
          <a:xfrm>
            <a:off x="8885733" y="5674642"/>
            <a:ext cx="2630627" cy="0"/>
          </a:xfrm>
          <a:prstGeom prst="line">
            <a:avLst/>
          </a:prstGeom>
          <a:ln w="6350">
            <a:solidFill>
              <a:srgbClr val="E6EAF0"/>
            </a:solidFill>
          </a:ln>
        </p:spPr>
      </p:cxnSp>
      <p:sp>
        <p:nvSpPr>
          <p:cNvPr id="116" name="TextBox 115"/>
          <p:cNvSpPr txBox="1"/>
          <p:nvPr/>
        </p:nvSpPr>
        <p:spPr>
          <a:xfrm>
            <a:off x="8885733" y="5674642"/>
            <a:ext cx="1244955" cy="159879"/>
          </a:xfrm>
          <a:prstGeom prst="rect">
            <a:avLst/>
          </a:prstGeom>
          <a:noFill/>
        </p:spPr>
        <p:txBody>
          <a:bodyPr wrap="none" lIns="0" tIns="0" rIns="0" bIns="0" anchor="ctr">
            <a:noAutofit/>
          </a:bodyPr>
          <a:lstStyle/>
          <a:p>
            <a:pPr algn="l"/>
            <a:r>
              <a:rPr sz="919" b="1" lang="id-ID">
                <a:solidFill>
                  <a:srgbClr val="1A1A1A"/>
                </a:solidFill>
                <a:latin typeface="Roboto"/>
              </a:rPr>
              <a:t>Nusa Tenggara Barat</a:t>
            </a:r>
          </a:p>
        </p:txBody>
      </p:sp>
      <p:sp>
        <p:nvSpPr>
          <p:cNvPr id="117" name="TextBox 116"/>
          <p:cNvSpPr txBox="1"/>
          <p:nvPr/>
        </p:nvSpPr>
        <p:spPr>
          <a:xfrm>
            <a:off x="10181488" y="5674642"/>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4</a:t>
            </a:r>
          </a:p>
        </p:txBody>
      </p:sp>
      <p:cxnSp>
        <p:nvCxnSpPr>
          <p:cNvPr id="118" name="Connector 117"/>
          <p:cNvCxnSpPr/>
          <p:nvPr/>
        </p:nvCxnSpPr>
        <p:spPr>
          <a:xfrm>
            <a:off x="8885733" y="5834521"/>
            <a:ext cx="2630627" cy="0"/>
          </a:xfrm>
          <a:prstGeom prst="line">
            <a:avLst/>
          </a:prstGeom>
          <a:ln w="6350">
            <a:solidFill>
              <a:srgbClr val="E6EAF0"/>
            </a:solidFill>
          </a:ln>
        </p:spPr>
      </p:cxnSp>
      <p:sp>
        <p:nvSpPr>
          <p:cNvPr id="119" name="TextBox 118"/>
          <p:cNvSpPr txBox="1"/>
          <p:nvPr/>
        </p:nvSpPr>
        <p:spPr>
          <a:xfrm>
            <a:off x="8885733" y="5834521"/>
            <a:ext cx="1244955" cy="159879"/>
          </a:xfrm>
          <a:prstGeom prst="rect">
            <a:avLst/>
          </a:prstGeom>
          <a:noFill/>
        </p:spPr>
        <p:txBody>
          <a:bodyPr wrap="none" lIns="0" tIns="0" rIns="0" bIns="0" anchor="ctr">
            <a:noAutofit/>
          </a:bodyPr>
          <a:lstStyle/>
          <a:p>
            <a:pPr algn="l"/>
            <a:r>
              <a:rPr sz="919" b="1" lang="id-ID">
                <a:solidFill>
                  <a:srgbClr val="1A1A1A"/>
                </a:solidFill>
                <a:latin typeface="Roboto"/>
              </a:rPr>
              <a:t>Papua Barat Daya</a:t>
            </a:r>
          </a:p>
        </p:txBody>
      </p:sp>
      <p:sp>
        <p:nvSpPr>
          <p:cNvPr id="120" name="TextBox 119"/>
          <p:cNvSpPr txBox="1"/>
          <p:nvPr/>
        </p:nvSpPr>
        <p:spPr>
          <a:xfrm>
            <a:off x="10181488" y="5834521"/>
            <a:ext cx="1233272" cy="159879"/>
          </a:xfrm>
          <a:prstGeom prst="rect">
            <a:avLst/>
          </a:prstGeom>
          <a:noFill/>
        </p:spPr>
        <p:txBody>
          <a:bodyPr wrap="none" lIns="0" tIns="0" rIns="0" bIns="0" anchor="ctr">
            <a:noAutofit/>
          </a:bodyPr>
          <a:lstStyle/>
          <a:p>
            <a:pPr algn="ctr"/>
            <a:r>
              <a:rPr sz="919" b="1" lang="id-ID">
                <a:solidFill>
                  <a:srgbClr val="1A1A1A"/>
                </a:solidFill>
                <a:latin typeface="Roboto"/>
              </a:rPr>
              <a:t>2</a:t>
            </a:r>
          </a:p>
        </p:txBody>
      </p:sp>
      <p:sp>
        <p:nvSpPr>
          <p:cNvPr id="121" name="Rectangle 120"/>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122" name="TextBox 121"/>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*Berdasarkan data satelit NASA FIRMS (VIIRS dan MODIS); Laporan Penanganan Pengendalian Karhutla BNPB, 26 Okt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642600" cy="825500"/>
          </a:xfrm>
          <a:prstGeom prst="rect">
            <a:avLst/>
          </a:prstGeom>
          <a:noFill/>
        </p:spPr>
        <p:txBody>
          <a:bodyPr wrap="square" lIns="0" tIns="0" rIns="0" bIns="0" anchor="b">
            <a:noAutofit/>
          </a:bodyPr>
          <a:lstStyle/>
          <a:p>
            <a:pPr algn="l">
              <a:lnSpc>
                <a:spcPct val="95000"/>
              </a:lnSpc>
            </a:pPr>
            <a:r>
              <a:rPr sz="2200" b="1" lang="id-ID">
                <a:solidFill>
                  <a:srgbClr val="1A1A1A"/>
                </a:solidFill>
                <a:latin typeface="Roboto"/>
              </a:rPr>
              <a:t>Penawaran dari Pemerintah Malaysia akan dilakukan pembahasan lebih lanjut</a:t>
            </a:r>
            <a:br/>
            <a:r>
              <a:rPr sz="2200" b="1" lang="id-ID">
                <a:solidFill>
                  <a:srgbClr val="1A1A1A"/>
                </a:solidFill>
                <a:latin typeface="Roboto"/>
              </a:rPr>
              <a:t>sesuai dengan kebutuhan operasi dan kondisi aktual lapangan di Indonesia</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8</a:t>
            </a:r>
          </a:p>
        </p:txBody>
      </p:sp>
      <p:sp>
        <p:nvSpPr>
          <p:cNvPr id="8" name="Rounded Rectangle 7"/>
          <p:cNvSpPr/>
          <p:nvPr/>
        </p:nvSpPr>
        <p:spPr>
          <a:xfrm>
            <a:off x="548640" y="1282700"/>
            <a:ext cx="6213043" cy="4800600"/>
          </a:xfrm>
          <a:prstGeom prst="roundRect">
            <a:avLst>
              <a:gd name="adj" fmla="val 1137"/>
            </a:avLst>
          </a:prstGeom>
          <a:solidFill>
            <a:srgbClr val="FFFFFF"/>
          </a:solidFill>
          <a:ln>
            <a:noFill/>
          </a:ln>
        </p:spPr>
        <p:txBody>
          <a:bodyPr rtlCol="0" anchor="ctr"/>
          <a:lstStyle/>
          <a:p>
            <a:pPr algn="ctr"/>
          </a:p>
        </p:txBody>
      </p:sp>
      <p:sp>
        <p:nvSpPr>
          <p:cNvPr id="9" name="Rounded Rectangle 8"/>
          <p:cNvSpPr/>
          <p:nvPr/>
        </p:nvSpPr>
        <p:spPr>
          <a:xfrm>
            <a:off x="548640" y="1282700"/>
            <a:ext cx="6213043" cy="457200"/>
          </a:xfrm>
          <a:prstGeom prst="roundRect">
            <a:avLst>
              <a:gd name="adj" fmla="val 11944"/>
            </a:avLst>
          </a:prstGeom>
          <a:solidFill>
            <a:srgbClr val="E6EAF0"/>
          </a:solidFill>
          <a:ln>
            <a:noFill/>
          </a:ln>
        </p:spPr>
        <p:txBody>
          <a:bodyPr rtlCol="0" anchor="ctr"/>
          <a:lstStyle/>
          <a:p>
            <a:pPr algn="ctr"/>
          </a:p>
        </p:txBody>
      </p:sp>
      <p:sp>
        <p:nvSpPr>
          <p:cNvPr id="10" name="Rectangle 9"/>
          <p:cNvSpPr/>
          <p:nvPr/>
        </p:nvSpPr>
        <p:spPr>
          <a:xfrm>
            <a:off x="548640" y="1511300"/>
            <a:ext cx="6213043" cy="228600"/>
          </a:xfrm>
          <a:prstGeom prst="rect">
            <a:avLst/>
          </a:prstGeom>
          <a:solidFill>
            <a:srgbClr val="E6EAF0"/>
          </a:solidFill>
          <a:ln>
            <a:noFill/>
          </a:ln>
        </p:spPr>
        <p:txBody>
          <a:bodyPr rtlCol="0" anchor="ctr"/>
          <a:lstStyle/>
          <a:p>
            <a:pPr algn="ctr"/>
          </a:p>
        </p:txBody>
      </p:sp>
      <p:sp>
        <p:nvSpPr>
          <p:cNvPr id="11" name="Rounded Rectangle 10"/>
          <p:cNvSpPr/>
          <p:nvPr/>
        </p:nvSpPr>
        <p:spPr>
          <a:xfrm>
            <a:off x="548640" y="1282700"/>
            <a:ext cx="6213043" cy="4800600"/>
          </a:xfrm>
          <a:prstGeom prst="roundRect">
            <a:avLst>
              <a:gd name="adj" fmla="val 1137"/>
            </a:avLst>
          </a:prstGeom>
          <a:noFill/>
          <a:ln w="9525">
            <a:solidFill>
              <a:srgbClr val="BFC5CC"/>
            </a:solidFill>
          </a:ln>
        </p:spPr>
        <p:txBody>
          <a:bodyPr rtlCol="0" anchor="ctr"/>
          <a:lstStyle/>
          <a:p>
            <a:pPr algn="ctr"/>
          </a:p>
        </p:txBody>
      </p:sp>
      <p:sp>
        <p:nvSpPr>
          <p:cNvPr id="12" name="Oval 11"/>
          <p:cNvSpPr/>
          <p:nvPr/>
        </p:nvSpPr>
        <p:spPr>
          <a:xfrm>
            <a:off x="675640" y="1365250"/>
            <a:ext cx="292100" cy="292100"/>
          </a:xfrm>
          <a:prstGeom prst="ellipse">
            <a:avLst/>
          </a:prstGeom>
          <a:solidFill>
            <a:srgbClr val="051C2C"/>
          </a:solidFill>
          <a:ln>
            <a:noFill/>
          </a:ln>
        </p:spPr>
        <p:txBody>
          <a:bodyPr rtlCol="0" anchor="ctr"/>
          <a:lstStyle/>
          <a:p>
            <a:pPr algn="ctr"/>
          </a:p>
        </p:txBody>
      </p:sp>
      <p:pic>
        <p:nvPicPr>
          <p:cNvPr id="13" name="Picture 12" descr="kapasitas-FFFFFF-22e801bd.png"/>
          <p:cNvPicPr>
            <a:picLocks noChangeAspect="1"/>
          </p:cNvPicPr>
          <p:nvPr/>
        </p:nvPicPr>
        <p:blipFill>
          <a:blip r:embed="rId3"/>
          <a:stretch>
            <a:fillRect/>
          </a:stretch>
        </p:blipFill>
        <p:spPr>
          <a:xfrm>
            <a:off x="732790" y="1422400"/>
            <a:ext cx="177800" cy="177800"/>
          </a:xfrm>
          <a:prstGeom prst="rect">
            <a:avLst/>
          </a:prstGeom>
        </p:spPr>
      </p:pic>
      <p:sp>
        <p:nvSpPr>
          <p:cNvPr id="14" name="TextBox 13"/>
          <p:cNvSpPr txBox="1"/>
          <p:nvPr/>
        </p:nvSpPr>
        <p:spPr>
          <a:xfrm>
            <a:off x="1056640" y="1282700"/>
            <a:ext cx="5451043" cy="457200"/>
          </a:xfrm>
          <a:prstGeom prst="rect">
            <a:avLst/>
          </a:prstGeom>
          <a:noFill/>
        </p:spPr>
        <p:txBody>
          <a:bodyPr wrap="none" lIns="0" tIns="0" rIns="0" bIns="0" anchor="ctr">
            <a:noAutofit/>
          </a:bodyPr>
          <a:lstStyle/>
          <a:p>
            <a:pPr algn="l"/>
            <a:r>
              <a:rPr sz="1260" b="1" lang="id-ID">
                <a:solidFill>
                  <a:srgbClr val="1A1A1A"/>
                </a:solidFill>
                <a:latin typeface="Roboto"/>
              </a:rPr>
              <a:t>Tawaran Malaysia dan kebutuhan Indonesia</a:t>
            </a:r>
          </a:p>
        </p:txBody>
      </p:sp>
      <p:sp>
        <p:nvSpPr>
          <p:cNvPr id="15" name="TextBox 14"/>
          <p:cNvSpPr txBox="1"/>
          <p:nvPr/>
        </p:nvSpPr>
        <p:spPr>
          <a:xfrm>
            <a:off x="951230" y="1841500"/>
            <a:ext cx="1406412" cy="210820"/>
          </a:xfrm>
          <a:prstGeom prst="rect">
            <a:avLst/>
          </a:prstGeom>
          <a:noFill/>
        </p:spPr>
        <p:txBody>
          <a:bodyPr wrap="none" lIns="0" tIns="0" rIns="0" bIns="0" anchor="ctr">
            <a:noAutofit/>
          </a:bodyPr>
          <a:lstStyle/>
          <a:p>
            <a:pPr algn="ctr"/>
            <a:r>
              <a:rPr sz="750" b="1" lang="id-ID" spc="80">
                <a:solidFill>
                  <a:srgbClr val="6B7280"/>
                </a:solidFill>
                <a:latin typeface="Roboto"/>
              </a:rPr>
              <a:t>BIDANG</a:t>
            </a:r>
          </a:p>
        </p:txBody>
      </p:sp>
      <p:sp>
        <p:nvSpPr>
          <p:cNvPr id="16" name="TextBox 15"/>
          <p:cNvSpPr txBox="1"/>
          <p:nvPr/>
        </p:nvSpPr>
        <p:spPr>
          <a:xfrm>
            <a:off x="2408442" y="1841500"/>
            <a:ext cx="1559803" cy="210820"/>
          </a:xfrm>
          <a:prstGeom prst="rect">
            <a:avLst/>
          </a:prstGeom>
          <a:noFill/>
        </p:spPr>
        <p:txBody>
          <a:bodyPr wrap="none" lIns="0" tIns="0" rIns="0" bIns="0" anchor="ctr">
            <a:noAutofit/>
          </a:bodyPr>
          <a:lstStyle/>
          <a:p>
            <a:pPr algn="ctr"/>
            <a:r>
              <a:rPr sz="750" b="1" lang="id-ID" spc="80">
                <a:solidFill>
                  <a:srgbClr val="6B7280"/>
                </a:solidFill>
                <a:latin typeface="Roboto"/>
              </a:rPr>
              <a:t>DITAWARKAN MALAYSIA</a:t>
            </a:r>
          </a:p>
        </p:txBody>
      </p:sp>
      <p:sp>
        <p:nvSpPr>
          <p:cNvPr id="17" name="TextBox 16"/>
          <p:cNvSpPr txBox="1"/>
          <p:nvPr/>
        </p:nvSpPr>
        <p:spPr>
          <a:xfrm>
            <a:off x="4019045" y="1841500"/>
            <a:ext cx="2019975" cy="210820"/>
          </a:xfrm>
          <a:prstGeom prst="rect">
            <a:avLst/>
          </a:prstGeom>
          <a:noFill/>
        </p:spPr>
        <p:txBody>
          <a:bodyPr wrap="none" lIns="0" tIns="0" rIns="0" bIns="0" anchor="ctr">
            <a:noAutofit/>
          </a:bodyPr>
          <a:lstStyle/>
          <a:p>
            <a:pPr algn="ctr"/>
            <a:r>
              <a:rPr sz="750" b="1" lang="id-ID" spc="80">
                <a:solidFill>
                  <a:srgbClr val="6B7280"/>
                </a:solidFill>
                <a:latin typeface="Roboto"/>
              </a:rPr>
              <a:t>KEBUTUHAN INDONESIA</a:t>
            </a:r>
          </a:p>
        </p:txBody>
      </p:sp>
      <p:sp>
        <p:nvSpPr>
          <p:cNvPr id="18" name="TextBox 17"/>
          <p:cNvSpPr txBox="1"/>
          <p:nvPr/>
        </p:nvSpPr>
        <p:spPr>
          <a:xfrm>
            <a:off x="6089821" y="1841500"/>
            <a:ext cx="443262" cy="210820"/>
          </a:xfrm>
          <a:prstGeom prst="rect">
            <a:avLst/>
          </a:prstGeom>
          <a:noFill/>
        </p:spPr>
        <p:txBody>
          <a:bodyPr wrap="none" lIns="0" tIns="0" rIns="0" bIns="0" anchor="ctr">
            <a:noAutofit/>
          </a:bodyPr>
          <a:lstStyle/>
          <a:p>
            <a:pPr algn="ctr"/>
            <a:r>
              <a:rPr sz="750" b="1" lang="id-ID" spc="80">
                <a:solidFill>
                  <a:srgbClr val="6B7280"/>
                </a:solidFill>
                <a:latin typeface="Roboto"/>
              </a:rPr>
              <a:t>JUMLAH</a:t>
            </a:r>
          </a:p>
        </p:txBody>
      </p:sp>
      <p:cxnSp>
        <p:nvCxnSpPr>
          <p:cNvPr id="19" name="Connector 18"/>
          <p:cNvCxnSpPr/>
          <p:nvPr/>
        </p:nvCxnSpPr>
        <p:spPr>
          <a:xfrm>
            <a:off x="675640" y="2052320"/>
            <a:ext cx="5959043" cy="0"/>
          </a:xfrm>
          <a:prstGeom prst="line">
            <a:avLst/>
          </a:prstGeom>
          <a:ln w="9525">
            <a:solidFill>
              <a:srgbClr val="1A1A1A"/>
            </a:solidFill>
          </a:ln>
        </p:spPr>
      </p:cxnSp>
      <p:sp>
        <p:nvSpPr>
          <p:cNvPr id="20" name="Oval 19"/>
          <p:cNvSpPr/>
          <p:nvPr/>
        </p:nvSpPr>
        <p:spPr>
          <a:xfrm>
            <a:off x="675640" y="2622338"/>
            <a:ext cx="173990" cy="173990"/>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1</a:t>
            </a:r>
          </a:p>
        </p:txBody>
      </p:sp>
      <p:sp>
        <p:nvSpPr>
          <p:cNvPr id="21" name="TextBox 20"/>
          <p:cNvSpPr txBox="1"/>
          <p:nvPr/>
        </p:nvSpPr>
        <p:spPr>
          <a:xfrm>
            <a:off x="951230" y="2052320"/>
            <a:ext cx="1406412" cy="1314027"/>
          </a:xfrm>
          <a:prstGeom prst="rect">
            <a:avLst/>
          </a:prstGeom>
          <a:noFill/>
        </p:spPr>
        <p:txBody>
          <a:bodyPr wrap="square" lIns="0" tIns="0" rIns="0" bIns="0" anchor="ctr">
            <a:noAutofit/>
          </a:bodyPr>
          <a:lstStyle/>
          <a:p>
            <a:pPr algn="l"/>
            <a:r>
              <a:rPr sz="1747" b="1" lang="id-ID">
                <a:solidFill>
                  <a:srgbClr val="1A1A1A"/>
                </a:solidFill>
                <a:latin typeface="Roboto"/>
              </a:rPr>
              <a:t>Pemadaman udara</a:t>
            </a:r>
          </a:p>
        </p:txBody>
      </p:sp>
      <p:sp>
        <p:nvSpPr>
          <p:cNvPr id="22" name="TextBox 21"/>
          <p:cNvSpPr txBox="1"/>
          <p:nvPr/>
        </p:nvSpPr>
        <p:spPr>
          <a:xfrm>
            <a:off x="2408442" y="2052320"/>
            <a:ext cx="1559803" cy="1314027"/>
          </a:xfrm>
          <a:prstGeom prst="rect">
            <a:avLst/>
          </a:prstGeom>
          <a:noFill/>
        </p:spPr>
        <p:txBody>
          <a:bodyPr wrap="square" lIns="0" tIns="0" rIns="0" bIns="0" anchor="ctr">
            <a:noAutofit/>
          </a:bodyPr>
          <a:lstStyle/>
          <a:p>
            <a:pPr algn="l"/>
            <a:r>
              <a:rPr sz="1634" b="0" lang="id-ID">
                <a:solidFill>
                  <a:srgbClr val="2E3440"/>
                </a:solidFill>
                <a:latin typeface="Roboto"/>
              </a:rPr>
              <a:t>Amfibi kecil CL-415MP</a:t>
            </a:r>
          </a:p>
        </p:txBody>
      </p:sp>
      <p:sp>
        <p:nvSpPr>
          <p:cNvPr id="23" name="TextBox 22"/>
          <p:cNvSpPr txBox="1"/>
          <p:nvPr/>
        </p:nvSpPr>
        <p:spPr>
          <a:xfrm>
            <a:off x="4019045" y="2052320"/>
            <a:ext cx="2019975" cy="1314027"/>
          </a:xfrm>
          <a:prstGeom prst="rect">
            <a:avLst/>
          </a:prstGeom>
          <a:noFill/>
        </p:spPr>
        <p:txBody>
          <a:bodyPr wrap="square" lIns="0" tIns="0" rIns="0" bIns="0" anchor="ctr">
            <a:noAutofit/>
          </a:bodyPr>
          <a:lstStyle/>
          <a:p>
            <a:pPr algn="l"/>
            <a:r>
              <a:rPr sz="1634" b="0" i="1" lang="id-ID">
                <a:solidFill>
                  <a:srgbClr val="2E3440"/>
                </a:solidFill>
                <a:latin typeface="Roboto"/>
              </a:rPr>
              <a:t>Water bombing</a:t>
            </a:r>
            <a:r>
              <a:rPr sz="1634" b="0" lang="id-ID">
                <a:solidFill>
                  <a:srgbClr val="2E3440"/>
                </a:solidFill>
                <a:latin typeface="Roboto"/>
              </a:rPr>
              <a:t> berkapasitas besar</a:t>
            </a:r>
          </a:p>
        </p:txBody>
      </p:sp>
      <p:sp>
        <p:nvSpPr>
          <p:cNvPr id="24" name="TextBox 23"/>
          <p:cNvSpPr txBox="1"/>
          <p:nvPr/>
        </p:nvSpPr>
        <p:spPr>
          <a:xfrm>
            <a:off x="6089821" y="2052320"/>
            <a:ext cx="443262" cy="1314027"/>
          </a:xfrm>
          <a:prstGeom prst="rect">
            <a:avLst/>
          </a:prstGeom>
          <a:noFill/>
        </p:spPr>
        <p:txBody>
          <a:bodyPr wrap="none" lIns="0" tIns="0" rIns="0" bIns="0" anchor="ctr">
            <a:noAutofit/>
          </a:bodyPr>
          <a:lstStyle/>
          <a:p>
            <a:pPr algn="ctr"/>
            <a:r>
              <a:rPr sz="1747" b="1" lang="id-ID">
                <a:solidFill>
                  <a:srgbClr val="1A1A1A"/>
                </a:solidFill>
                <a:latin typeface="Roboto"/>
              </a:rPr>
              <a:t>1</a:t>
            </a:r>
          </a:p>
        </p:txBody>
      </p:sp>
      <p:cxnSp>
        <p:nvCxnSpPr>
          <p:cNvPr id="25" name="Connector 24"/>
          <p:cNvCxnSpPr/>
          <p:nvPr/>
        </p:nvCxnSpPr>
        <p:spPr>
          <a:xfrm>
            <a:off x="675640" y="3366347"/>
            <a:ext cx="5959043" cy="0"/>
          </a:xfrm>
          <a:prstGeom prst="line">
            <a:avLst/>
          </a:prstGeom>
          <a:ln w="6350">
            <a:solidFill>
              <a:srgbClr val="E6EAF0"/>
            </a:solidFill>
          </a:ln>
        </p:spPr>
      </p:cxnSp>
      <p:sp>
        <p:nvSpPr>
          <p:cNvPr id="26" name="Oval 25"/>
          <p:cNvSpPr/>
          <p:nvPr/>
        </p:nvSpPr>
        <p:spPr>
          <a:xfrm>
            <a:off x="675640" y="3936365"/>
            <a:ext cx="173990" cy="173990"/>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2</a:t>
            </a:r>
          </a:p>
        </p:txBody>
      </p:sp>
      <p:sp>
        <p:nvSpPr>
          <p:cNvPr id="27" name="TextBox 26"/>
          <p:cNvSpPr txBox="1"/>
          <p:nvPr/>
        </p:nvSpPr>
        <p:spPr>
          <a:xfrm>
            <a:off x="951230" y="3366347"/>
            <a:ext cx="1406412" cy="1314027"/>
          </a:xfrm>
          <a:prstGeom prst="rect">
            <a:avLst/>
          </a:prstGeom>
          <a:noFill/>
        </p:spPr>
        <p:txBody>
          <a:bodyPr wrap="none" lIns="0" tIns="0" rIns="0" bIns="0" anchor="ctr">
            <a:noAutofit/>
          </a:bodyPr>
          <a:lstStyle/>
          <a:p>
            <a:pPr algn="l"/>
            <a:r>
              <a:rPr sz="1747" b="1" lang="id-ID">
                <a:solidFill>
                  <a:srgbClr val="1A1A1A"/>
                </a:solidFill>
                <a:latin typeface="Roboto"/>
              </a:rPr>
              <a:t>Helikopter</a:t>
            </a:r>
          </a:p>
        </p:txBody>
      </p:sp>
      <p:sp>
        <p:nvSpPr>
          <p:cNvPr id="28" name="TextBox 27"/>
          <p:cNvSpPr txBox="1"/>
          <p:nvPr/>
        </p:nvSpPr>
        <p:spPr>
          <a:xfrm>
            <a:off x="2408442" y="3366347"/>
            <a:ext cx="1559803" cy="1314027"/>
          </a:xfrm>
          <a:prstGeom prst="rect">
            <a:avLst/>
          </a:prstGeom>
          <a:noFill/>
        </p:spPr>
        <p:txBody>
          <a:bodyPr wrap="square" lIns="0" tIns="0" rIns="0" bIns="0" anchor="ctr">
            <a:noAutofit/>
          </a:bodyPr>
          <a:lstStyle/>
          <a:p>
            <a:pPr algn="l"/>
            <a:r>
              <a:rPr sz="1634" b="0" lang="id-ID">
                <a:solidFill>
                  <a:srgbClr val="2E3440"/>
                </a:solidFill>
                <a:latin typeface="Roboto"/>
              </a:rPr>
              <a:t>Helikopter Mi-171</a:t>
            </a:r>
          </a:p>
        </p:txBody>
      </p:sp>
      <p:sp>
        <p:nvSpPr>
          <p:cNvPr id="29" name="TextBox 28"/>
          <p:cNvSpPr txBox="1"/>
          <p:nvPr/>
        </p:nvSpPr>
        <p:spPr>
          <a:xfrm>
            <a:off x="4019045" y="3366347"/>
            <a:ext cx="2019975" cy="1314027"/>
          </a:xfrm>
          <a:prstGeom prst="rect">
            <a:avLst/>
          </a:prstGeom>
          <a:noFill/>
        </p:spPr>
        <p:txBody>
          <a:bodyPr wrap="square" lIns="0" tIns="0" rIns="0" bIns="0" anchor="ctr">
            <a:noAutofit/>
          </a:bodyPr>
          <a:lstStyle/>
          <a:p>
            <a:pPr algn="l"/>
            <a:r>
              <a:rPr sz="1634" b="0" lang="id-ID">
                <a:solidFill>
                  <a:srgbClr val="2E3440"/>
                </a:solidFill>
                <a:latin typeface="Roboto"/>
              </a:rPr>
              <a:t>Helikopter angkut berat</a:t>
            </a:r>
          </a:p>
        </p:txBody>
      </p:sp>
      <p:sp>
        <p:nvSpPr>
          <p:cNvPr id="30" name="TextBox 29"/>
          <p:cNvSpPr txBox="1"/>
          <p:nvPr/>
        </p:nvSpPr>
        <p:spPr>
          <a:xfrm>
            <a:off x="6089821" y="3366347"/>
            <a:ext cx="443262" cy="1314027"/>
          </a:xfrm>
          <a:prstGeom prst="rect">
            <a:avLst/>
          </a:prstGeom>
          <a:noFill/>
        </p:spPr>
        <p:txBody>
          <a:bodyPr wrap="none" lIns="0" tIns="0" rIns="0" bIns="0" anchor="ctr">
            <a:noAutofit/>
          </a:bodyPr>
          <a:lstStyle/>
          <a:p>
            <a:pPr algn="ctr"/>
            <a:r>
              <a:rPr sz="1747" b="1" lang="id-ID">
                <a:solidFill>
                  <a:srgbClr val="1A1A1A"/>
                </a:solidFill>
                <a:latin typeface="Roboto"/>
              </a:rPr>
              <a:t>1</a:t>
            </a:r>
          </a:p>
        </p:txBody>
      </p:sp>
      <p:cxnSp>
        <p:nvCxnSpPr>
          <p:cNvPr id="31" name="Connector 30"/>
          <p:cNvCxnSpPr/>
          <p:nvPr/>
        </p:nvCxnSpPr>
        <p:spPr>
          <a:xfrm>
            <a:off x="675640" y="4680373"/>
            <a:ext cx="5959043" cy="0"/>
          </a:xfrm>
          <a:prstGeom prst="line">
            <a:avLst/>
          </a:prstGeom>
          <a:ln w="6350">
            <a:solidFill>
              <a:srgbClr val="E6EAF0"/>
            </a:solidFill>
          </a:ln>
        </p:spPr>
      </p:cxnSp>
      <p:sp>
        <p:nvSpPr>
          <p:cNvPr id="32" name="Oval 31"/>
          <p:cNvSpPr/>
          <p:nvPr/>
        </p:nvSpPr>
        <p:spPr>
          <a:xfrm>
            <a:off x="675640" y="5250392"/>
            <a:ext cx="173990" cy="173990"/>
          </a:xfrm>
          <a:prstGeom prst="ellipse">
            <a:avLst/>
          </a:prstGeom>
          <a:solidFill>
            <a:srgbClr val="051C2C"/>
          </a:solidFill>
          <a:ln>
            <a:noFill/>
          </a:ln>
        </p:spPr>
        <p:txBody>
          <a:bodyPr rtlCol="0" anchor="ctr" wrap="none" lIns="0" tIns="0" rIns="0" bIns="0">
            <a:noAutofit/>
          </a:bodyPr>
          <a:lstStyle/>
          <a:p>
            <a:pPr algn="ctr"/>
            <a:r>
              <a:rPr sz="750" b="1" lang="id-ID">
                <a:solidFill>
                  <a:srgbClr val="FFFFFF"/>
                </a:solidFill>
                <a:latin typeface="Roboto"/>
              </a:rPr>
              <a:t>3</a:t>
            </a:r>
          </a:p>
        </p:txBody>
      </p:sp>
      <p:sp>
        <p:nvSpPr>
          <p:cNvPr id="33" name="TextBox 32"/>
          <p:cNvSpPr txBox="1"/>
          <p:nvPr/>
        </p:nvSpPr>
        <p:spPr>
          <a:xfrm>
            <a:off x="951230" y="4680373"/>
            <a:ext cx="1406412" cy="1314027"/>
          </a:xfrm>
          <a:prstGeom prst="rect">
            <a:avLst/>
          </a:prstGeom>
          <a:noFill/>
        </p:spPr>
        <p:txBody>
          <a:bodyPr wrap="none" lIns="0" tIns="0" rIns="0" bIns="0" anchor="ctr">
            <a:noAutofit/>
          </a:bodyPr>
          <a:lstStyle/>
          <a:p>
            <a:pPr algn="l"/>
            <a:r>
              <a:rPr sz="1747" b="1" lang="id-ID">
                <a:solidFill>
                  <a:srgbClr val="1A1A1A"/>
                </a:solidFill>
                <a:latin typeface="Roboto"/>
              </a:rPr>
              <a:t>Personel</a:t>
            </a:r>
          </a:p>
        </p:txBody>
      </p:sp>
      <p:sp>
        <p:nvSpPr>
          <p:cNvPr id="34" name="TextBox 33"/>
          <p:cNvSpPr txBox="1"/>
          <p:nvPr/>
        </p:nvSpPr>
        <p:spPr>
          <a:xfrm>
            <a:off x="2408442" y="4680373"/>
            <a:ext cx="1559803" cy="1314027"/>
          </a:xfrm>
          <a:prstGeom prst="rect">
            <a:avLst/>
          </a:prstGeom>
          <a:noFill/>
        </p:spPr>
        <p:txBody>
          <a:bodyPr wrap="square" lIns="0" tIns="0" rIns="0" bIns="0" anchor="ctr">
            <a:noAutofit/>
          </a:bodyPr>
          <a:lstStyle/>
          <a:p>
            <a:pPr algn="l"/>
            <a:r>
              <a:rPr sz="1634" b="0" lang="id-ID">
                <a:solidFill>
                  <a:srgbClr val="2E3440"/>
                </a:solidFill>
                <a:latin typeface="Roboto"/>
              </a:rPr>
              <a:t>Personel Malaysia</a:t>
            </a:r>
          </a:p>
        </p:txBody>
      </p:sp>
      <p:sp>
        <p:nvSpPr>
          <p:cNvPr id="35" name="TextBox 34"/>
          <p:cNvSpPr txBox="1"/>
          <p:nvPr/>
        </p:nvSpPr>
        <p:spPr>
          <a:xfrm>
            <a:off x="4019045" y="4680373"/>
            <a:ext cx="2019975" cy="1314027"/>
          </a:xfrm>
          <a:prstGeom prst="rect">
            <a:avLst/>
          </a:prstGeom>
          <a:noFill/>
        </p:spPr>
        <p:txBody>
          <a:bodyPr wrap="square" lIns="0" tIns="0" rIns="0" bIns="0" anchor="ctr">
            <a:noAutofit/>
          </a:bodyPr>
          <a:lstStyle/>
          <a:p>
            <a:pPr algn="l"/>
            <a:r>
              <a:rPr sz="1634" b="0" lang="id-ID">
                <a:solidFill>
                  <a:srgbClr val="2E3440"/>
                </a:solidFill>
                <a:latin typeface="Roboto"/>
              </a:rPr>
              <a:t>Awak dan teknisi pesawat besar</a:t>
            </a:r>
          </a:p>
        </p:txBody>
      </p:sp>
      <p:sp>
        <p:nvSpPr>
          <p:cNvPr id="36" name="TextBox 35"/>
          <p:cNvSpPr txBox="1"/>
          <p:nvPr/>
        </p:nvSpPr>
        <p:spPr>
          <a:xfrm>
            <a:off x="6089821" y="4680373"/>
            <a:ext cx="443262" cy="1314027"/>
          </a:xfrm>
          <a:prstGeom prst="rect">
            <a:avLst/>
          </a:prstGeom>
          <a:noFill/>
        </p:spPr>
        <p:txBody>
          <a:bodyPr wrap="none" lIns="0" tIns="0" rIns="0" bIns="0" anchor="ctr">
            <a:noAutofit/>
          </a:bodyPr>
          <a:lstStyle/>
          <a:p>
            <a:pPr algn="ctr"/>
            <a:r>
              <a:rPr sz="1747" b="1" lang="id-ID">
                <a:solidFill>
                  <a:srgbClr val="1A1A1A"/>
                </a:solidFill>
                <a:latin typeface="Roboto"/>
              </a:rPr>
              <a:t>44</a:t>
            </a:r>
          </a:p>
        </p:txBody>
      </p:sp>
      <p:sp>
        <p:nvSpPr>
          <p:cNvPr id="37" name="Rounded Rectangle 36"/>
          <p:cNvSpPr/>
          <p:nvPr/>
        </p:nvSpPr>
        <p:spPr>
          <a:xfrm>
            <a:off x="6898843" y="1282700"/>
            <a:ext cx="4744517" cy="4800600"/>
          </a:xfrm>
          <a:prstGeom prst="roundRect">
            <a:avLst>
              <a:gd name="adj" fmla="val 1151"/>
            </a:avLst>
          </a:prstGeom>
          <a:solidFill>
            <a:srgbClr val="FFFFFF"/>
          </a:solidFill>
          <a:ln>
            <a:noFill/>
          </a:ln>
        </p:spPr>
        <p:txBody>
          <a:bodyPr rtlCol="0" anchor="ctr"/>
          <a:lstStyle/>
          <a:p>
            <a:pPr algn="ctr"/>
          </a:p>
        </p:txBody>
      </p:sp>
      <p:sp>
        <p:nvSpPr>
          <p:cNvPr id="38" name="Rounded Rectangle 37"/>
          <p:cNvSpPr/>
          <p:nvPr/>
        </p:nvSpPr>
        <p:spPr>
          <a:xfrm>
            <a:off x="6898843" y="1282700"/>
            <a:ext cx="4744517" cy="457200"/>
          </a:xfrm>
          <a:prstGeom prst="roundRect">
            <a:avLst>
              <a:gd name="adj" fmla="val 11944"/>
            </a:avLst>
          </a:prstGeom>
          <a:solidFill>
            <a:srgbClr val="E6EAF0"/>
          </a:solidFill>
          <a:ln>
            <a:noFill/>
          </a:ln>
        </p:spPr>
        <p:txBody>
          <a:bodyPr rtlCol="0" anchor="ctr"/>
          <a:lstStyle/>
          <a:p>
            <a:pPr algn="ctr"/>
          </a:p>
        </p:txBody>
      </p:sp>
      <p:sp>
        <p:nvSpPr>
          <p:cNvPr id="39" name="Rectangle 38"/>
          <p:cNvSpPr/>
          <p:nvPr/>
        </p:nvSpPr>
        <p:spPr>
          <a:xfrm>
            <a:off x="6898843" y="1511300"/>
            <a:ext cx="4744517" cy="228600"/>
          </a:xfrm>
          <a:prstGeom prst="rect">
            <a:avLst/>
          </a:prstGeom>
          <a:solidFill>
            <a:srgbClr val="E6EAF0"/>
          </a:solidFill>
          <a:ln>
            <a:noFill/>
          </a:ln>
        </p:spPr>
        <p:txBody>
          <a:bodyPr rtlCol="0" anchor="ctr"/>
          <a:lstStyle/>
          <a:p>
            <a:pPr algn="ctr"/>
          </a:p>
        </p:txBody>
      </p:sp>
      <p:sp>
        <p:nvSpPr>
          <p:cNvPr id="40" name="Rounded Rectangle 39"/>
          <p:cNvSpPr/>
          <p:nvPr/>
        </p:nvSpPr>
        <p:spPr>
          <a:xfrm>
            <a:off x="6898843" y="1282700"/>
            <a:ext cx="4744517" cy="4800600"/>
          </a:xfrm>
          <a:prstGeom prst="roundRect">
            <a:avLst>
              <a:gd name="adj" fmla="val 1151"/>
            </a:avLst>
          </a:prstGeom>
          <a:noFill/>
          <a:ln w="9525">
            <a:solidFill>
              <a:srgbClr val="BFC5CC"/>
            </a:solidFill>
          </a:ln>
        </p:spPr>
        <p:txBody>
          <a:bodyPr rtlCol="0" anchor="ctr"/>
          <a:lstStyle/>
          <a:p>
            <a:pPr algn="ctr"/>
          </a:p>
        </p:txBody>
      </p:sp>
      <p:sp>
        <p:nvSpPr>
          <p:cNvPr id="41" name="Oval 40"/>
          <p:cNvSpPr/>
          <p:nvPr/>
        </p:nvSpPr>
        <p:spPr>
          <a:xfrm>
            <a:off x="7025843" y="1365250"/>
            <a:ext cx="292100" cy="292100"/>
          </a:xfrm>
          <a:prstGeom prst="ellipse">
            <a:avLst/>
          </a:prstGeom>
          <a:solidFill>
            <a:srgbClr val="051C2C"/>
          </a:solidFill>
          <a:ln>
            <a:noFill/>
          </a:ln>
        </p:spPr>
        <p:txBody>
          <a:bodyPr rtlCol="0" anchor="ctr"/>
          <a:lstStyle/>
          <a:p>
            <a:pPr algn="ctr"/>
          </a:p>
        </p:txBody>
      </p:sp>
      <p:pic>
        <p:nvPicPr>
          <p:cNvPr id="42" name="Picture 41" descr="data-FFFFFF-608a1e16.png"/>
          <p:cNvPicPr>
            <a:picLocks noChangeAspect="1"/>
          </p:cNvPicPr>
          <p:nvPr/>
        </p:nvPicPr>
        <p:blipFill>
          <a:blip r:embed="rId4"/>
          <a:stretch>
            <a:fillRect/>
          </a:stretch>
        </p:blipFill>
        <p:spPr>
          <a:xfrm>
            <a:off x="7082993" y="1422400"/>
            <a:ext cx="177800" cy="177800"/>
          </a:xfrm>
          <a:prstGeom prst="rect">
            <a:avLst/>
          </a:prstGeom>
        </p:spPr>
      </p:pic>
      <p:sp>
        <p:nvSpPr>
          <p:cNvPr id="43" name="TextBox 42"/>
          <p:cNvSpPr txBox="1"/>
          <p:nvPr/>
        </p:nvSpPr>
        <p:spPr>
          <a:xfrm>
            <a:off x="7406843" y="1282700"/>
            <a:ext cx="4109517" cy="457200"/>
          </a:xfrm>
          <a:prstGeom prst="rect">
            <a:avLst/>
          </a:prstGeom>
          <a:noFill/>
        </p:spPr>
        <p:txBody>
          <a:bodyPr wrap="none" lIns="0" tIns="0" rIns="0" bIns="0" anchor="ctr">
            <a:noAutofit/>
          </a:bodyPr>
          <a:lstStyle/>
          <a:p>
            <a:pPr algn="l"/>
            <a:r>
              <a:rPr sz="1260" b="1" lang="id-ID">
                <a:solidFill>
                  <a:srgbClr val="1A1A1A"/>
                </a:solidFill>
                <a:latin typeface="Roboto"/>
              </a:rPr>
              <a:t>Hal yang dibahas bersama</a:t>
            </a:r>
          </a:p>
        </p:txBody>
      </p:sp>
      <p:sp>
        <p:nvSpPr>
          <p:cNvPr id="44" name="Oval 43"/>
          <p:cNvSpPr/>
          <p:nvPr/>
        </p:nvSpPr>
        <p:spPr>
          <a:xfrm>
            <a:off x="7025843" y="2002028"/>
            <a:ext cx="330200" cy="330200"/>
          </a:xfrm>
          <a:prstGeom prst="ellipse">
            <a:avLst/>
          </a:prstGeom>
          <a:solidFill>
            <a:srgbClr val="051C2C"/>
          </a:solidFill>
          <a:ln>
            <a:noFill/>
          </a:ln>
        </p:spPr>
        <p:txBody>
          <a:bodyPr rtlCol="0" anchor="ctr"/>
          <a:lstStyle/>
          <a:p>
            <a:pPr algn="ctr"/>
          </a:p>
        </p:txBody>
      </p:sp>
      <p:pic>
        <p:nvPicPr>
          <p:cNvPr id="45" name="Picture 44" descr="karhutla-FFFFFF-1955759a.png"/>
          <p:cNvPicPr>
            <a:picLocks noChangeAspect="1"/>
          </p:cNvPicPr>
          <p:nvPr/>
        </p:nvPicPr>
        <p:blipFill>
          <a:blip r:embed="rId5"/>
          <a:stretch>
            <a:fillRect/>
          </a:stretch>
        </p:blipFill>
        <p:spPr>
          <a:xfrm>
            <a:off x="7101789" y="2077974"/>
            <a:ext cx="178308" cy="178308"/>
          </a:xfrm>
          <a:prstGeom prst="rect">
            <a:avLst/>
          </a:prstGeom>
        </p:spPr>
      </p:pic>
      <p:sp>
        <p:nvSpPr>
          <p:cNvPr id="46" name="TextBox 45"/>
          <p:cNvSpPr txBox="1"/>
          <p:nvPr/>
        </p:nvSpPr>
        <p:spPr>
          <a:xfrm>
            <a:off x="7470343" y="1909064"/>
            <a:ext cx="3944417" cy="516128"/>
          </a:xfrm>
          <a:prstGeom prst="rect">
            <a:avLst/>
          </a:prstGeom>
          <a:noFill/>
        </p:spPr>
        <p:txBody>
          <a:bodyPr wrap="square" lIns="0" tIns="0" rIns="0" bIns="0" anchor="ctr">
            <a:noAutofit/>
          </a:bodyPr>
          <a:lstStyle/>
          <a:p>
            <a:pPr algn="l"/>
            <a:r>
              <a:rPr sz="1545" b="1" lang="id-ID">
                <a:solidFill>
                  <a:srgbClr val="1A1A1A"/>
                </a:solidFill>
                <a:latin typeface="Roboto"/>
              </a:rPr>
              <a:t>Kebutuhan operasi</a:t>
            </a:r>
            <a:br/>
            <a:r>
              <a:rPr sz="1545" b="0" lang="id-ID">
                <a:solidFill>
                  <a:srgbClr val="1A1A1A"/>
                </a:solidFill>
                <a:latin typeface="Roboto"/>
              </a:rPr>
              <a:t>Lokasi dan jenis api yang paling cocok.</a:t>
            </a:r>
          </a:p>
        </p:txBody>
      </p:sp>
      <p:cxnSp>
        <p:nvCxnSpPr>
          <p:cNvPr id="47" name="Connector 46"/>
          <p:cNvCxnSpPr/>
          <p:nvPr/>
        </p:nvCxnSpPr>
        <p:spPr>
          <a:xfrm>
            <a:off x="7025843" y="2492756"/>
            <a:ext cx="4490517" cy="0"/>
          </a:xfrm>
          <a:prstGeom prst="line">
            <a:avLst/>
          </a:prstGeom>
          <a:ln w="6350">
            <a:solidFill>
              <a:srgbClr val="E6EAF0"/>
            </a:solidFill>
          </a:ln>
        </p:spPr>
      </p:cxnSp>
      <p:sp>
        <p:nvSpPr>
          <p:cNvPr id="48" name="Oval 47"/>
          <p:cNvSpPr/>
          <p:nvPr/>
        </p:nvSpPr>
        <p:spPr>
          <a:xfrm>
            <a:off x="7025843" y="2775966"/>
            <a:ext cx="330200" cy="330200"/>
          </a:xfrm>
          <a:prstGeom prst="ellipse">
            <a:avLst/>
          </a:prstGeom>
          <a:solidFill>
            <a:srgbClr val="051C2C"/>
          </a:solidFill>
          <a:ln>
            <a:noFill/>
          </a:ln>
        </p:spPr>
        <p:txBody>
          <a:bodyPr rtlCol="0" anchor="ctr"/>
          <a:lstStyle/>
          <a:p>
            <a:pPr algn="ctr"/>
          </a:p>
        </p:txBody>
      </p:sp>
      <p:pic>
        <p:nvPicPr>
          <p:cNvPr id="49" name="Picture 48" descr="kalender-FFFFFF-a840cf9e.png"/>
          <p:cNvPicPr>
            <a:picLocks noChangeAspect="1"/>
          </p:cNvPicPr>
          <p:nvPr/>
        </p:nvPicPr>
        <p:blipFill>
          <a:blip r:embed="rId6"/>
          <a:stretch>
            <a:fillRect/>
          </a:stretch>
        </p:blipFill>
        <p:spPr>
          <a:xfrm>
            <a:off x="7101789" y="2851912"/>
            <a:ext cx="178308" cy="178308"/>
          </a:xfrm>
          <a:prstGeom prst="rect">
            <a:avLst/>
          </a:prstGeom>
        </p:spPr>
      </p:pic>
      <p:sp>
        <p:nvSpPr>
          <p:cNvPr id="50" name="TextBox 49"/>
          <p:cNvSpPr txBox="1"/>
          <p:nvPr/>
        </p:nvSpPr>
        <p:spPr>
          <a:xfrm>
            <a:off x="7470343" y="2560320"/>
            <a:ext cx="3944417" cy="761492"/>
          </a:xfrm>
          <a:prstGeom prst="rect">
            <a:avLst/>
          </a:prstGeom>
          <a:noFill/>
        </p:spPr>
        <p:txBody>
          <a:bodyPr wrap="square" lIns="0" tIns="0" rIns="0" bIns="0" anchor="ctr">
            <a:noAutofit/>
          </a:bodyPr>
          <a:lstStyle/>
          <a:p>
            <a:pPr algn="l"/>
            <a:r>
              <a:rPr sz="1545" b="1" lang="id-ID">
                <a:solidFill>
                  <a:srgbClr val="1A1A1A"/>
                </a:solidFill>
                <a:latin typeface="Roboto"/>
              </a:rPr>
              <a:t>Masa penugasan</a:t>
            </a:r>
            <a:br/>
            <a:r>
              <a:rPr sz="1545" b="0" lang="id-ID">
                <a:solidFill>
                  <a:srgbClr val="1A1A1A"/>
                </a:solidFill>
                <a:latin typeface="Roboto"/>
              </a:rPr>
              <a:t>Waktu tiba dan lama penugasan di lapangan.</a:t>
            </a:r>
          </a:p>
        </p:txBody>
      </p:sp>
      <p:cxnSp>
        <p:nvCxnSpPr>
          <p:cNvPr id="51" name="Connector 50"/>
          <p:cNvCxnSpPr/>
          <p:nvPr/>
        </p:nvCxnSpPr>
        <p:spPr>
          <a:xfrm>
            <a:off x="7025843" y="3389376"/>
            <a:ext cx="4490517" cy="0"/>
          </a:xfrm>
          <a:prstGeom prst="line">
            <a:avLst/>
          </a:prstGeom>
          <a:ln w="6350">
            <a:solidFill>
              <a:srgbClr val="E6EAF0"/>
            </a:solidFill>
          </a:ln>
        </p:spPr>
      </p:cxnSp>
      <p:sp>
        <p:nvSpPr>
          <p:cNvPr id="52" name="Oval 51"/>
          <p:cNvSpPr/>
          <p:nvPr/>
        </p:nvSpPr>
        <p:spPr>
          <a:xfrm>
            <a:off x="7025843" y="3549904"/>
            <a:ext cx="330200" cy="330200"/>
          </a:xfrm>
          <a:prstGeom prst="ellipse">
            <a:avLst/>
          </a:prstGeom>
          <a:solidFill>
            <a:srgbClr val="051C2C"/>
          </a:solidFill>
          <a:ln>
            <a:noFill/>
          </a:ln>
        </p:spPr>
        <p:txBody>
          <a:bodyPr rtlCol="0" anchor="ctr"/>
          <a:lstStyle/>
          <a:p>
            <a:pPr algn="ctr"/>
          </a:p>
        </p:txBody>
      </p:sp>
      <p:pic>
        <p:nvPicPr>
          <p:cNvPr id="53" name="Picture 52" descr="infrastruktur-FFFFFF-ba1c96e7.png"/>
          <p:cNvPicPr>
            <a:picLocks noChangeAspect="1"/>
          </p:cNvPicPr>
          <p:nvPr/>
        </p:nvPicPr>
        <p:blipFill>
          <a:blip r:embed="rId7"/>
          <a:stretch>
            <a:fillRect/>
          </a:stretch>
        </p:blipFill>
        <p:spPr>
          <a:xfrm>
            <a:off x="7101789" y="3625850"/>
            <a:ext cx="178308" cy="178308"/>
          </a:xfrm>
          <a:prstGeom prst="rect">
            <a:avLst/>
          </a:prstGeom>
        </p:spPr>
      </p:pic>
      <p:sp>
        <p:nvSpPr>
          <p:cNvPr id="54" name="TextBox 53"/>
          <p:cNvSpPr txBox="1"/>
          <p:nvPr/>
        </p:nvSpPr>
        <p:spPr>
          <a:xfrm>
            <a:off x="7470343" y="3456940"/>
            <a:ext cx="3944417" cy="516128"/>
          </a:xfrm>
          <a:prstGeom prst="rect">
            <a:avLst/>
          </a:prstGeom>
          <a:noFill/>
        </p:spPr>
        <p:txBody>
          <a:bodyPr wrap="square" lIns="0" tIns="0" rIns="0" bIns="0" anchor="ctr">
            <a:noAutofit/>
          </a:bodyPr>
          <a:lstStyle/>
          <a:p>
            <a:pPr algn="l"/>
            <a:r>
              <a:rPr sz="1545" b="1" lang="id-ID">
                <a:solidFill>
                  <a:srgbClr val="1A1A1A"/>
                </a:solidFill>
                <a:latin typeface="Roboto"/>
              </a:rPr>
              <a:t>Spesifikasi dan logistik</a:t>
            </a:r>
            <a:br/>
            <a:r>
              <a:rPr sz="1545" b="0" lang="id-ID">
                <a:solidFill>
                  <a:srgbClr val="1A1A1A"/>
                </a:solidFill>
                <a:latin typeface="Roboto"/>
              </a:rPr>
              <a:t>Pangkalan dan sumber air untuk bantuan.</a:t>
            </a:r>
          </a:p>
        </p:txBody>
      </p:sp>
      <p:cxnSp>
        <p:nvCxnSpPr>
          <p:cNvPr id="55" name="Connector 54"/>
          <p:cNvCxnSpPr/>
          <p:nvPr/>
        </p:nvCxnSpPr>
        <p:spPr>
          <a:xfrm>
            <a:off x="7025843" y="4040632"/>
            <a:ext cx="4490517" cy="0"/>
          </a:xfrm>
          <a:prstGeom prst="line">
            <a:avLst/>
          </a:prstGeom>
          <a:ln w="6350">
            <a:solidFill>
              <a:srgbClr val="E6EAF0"/>
            </a:solidFill>
          </a:ln>
        </p:spPr>
      </p:cxnSp>
      <p:sp>
        <p:nvSpPr>
          <p:cNvPr id="56" name="Oval 55"/>
          <p:cNvSpPr/>
          <p:nvPr/>
        </p:nvSpPr>
        <p:spPr>
          <a:xfrm>
            <a:off x="7025843" y="4201160"/>
            <a:ext cx="330200" cy="330200"/>
          </a:xfrm>
          <a:prstGeom prst="ellipse">
            <a:avLst/>
          </a:prstGeom>
          <a:solidFill>
            <a:srgbClr val="051C2C"/>
          </a:solidFill>
          <a:ln>
            <a:noFill/>
          </a:ln>
        </p:spPr>
        <p:txBody>
          <a:bodyPr rtlCol="0" anchor="ctr"/>
          <a:lstStyle/>
          <a:p>
            <a:pPr algn="ctr"/>
          </a:p>
        </p:txBody>
      </p:sp>
      <p:pic>
        <p:nvPicPr>
          <p:cNvPr id="57" name="Picture 56" descr="peringatan-FFFFFF-6a80b716.png"/>
          <p:cNvPicPr>
            <a:picLocks noChangeAspect="1"/>
          </p:cNvPicPr>
          <p:nvPr/>
        </p:nvPicPr>
        <p:blipFill>
          <a:blip r:embed="rId8"/>
          <a:stretch>
            <a:fillRect/>
          </a:stretch>
        </p:blipFill>
        <p:spPr>
          <a:xfrm>
            <a:off x="7101789" y="4277106"/>
            <a:ext cx="178308" cy="178308"/>
          </a:xfrm>
          <a:prstGeom prst="rect">
            <a:avLst/>
          </a:prstGeom>
        </p:spPr>
      </p:pic>
      <p:sp>
        <p:nvSpPr>
          <p:cNvPr id="58" name="TextBox 57"/>
          <p:cNvSpPr txBox="1"/>
          <p:nvPr/>
        </p:nvSpPr>
        <p:spPr>
          <a:xfrm>
            <a:off x="7470343" y="4108196"/>
            <a:ext cx="3944417" cy="516128"/>
          </a:xfrm>
          <a:prstGeom prst="rect">
            <a:avLst/>
          </a:prstGeom>
          <a:noFill/>
        </p:spPr>
        <p:txBody>
          <a:bodyPr wrap="square" lIns="0" tIns="0" rIns="0" bIns="0" anchor="ctr">
            <a:noAutofit/>
          </a:bodyPr>
          <a:lstStyle/>
          <a:p>
            <a:pPr algn="l"/>
            <a:r>
              <a:rPr sz="1545" b="1" lang="id-ID">
                <a:solidFill>
                  <a:srgbClr val="1A1A1A"/>
                </a:solidFill>
                <a:latin typeface="Roboto"/>
              </a:rPr>
              <a:t>Keselamatan penerbangan</a:t>
            </a:r>
            <a:br/>
            <a:r>
              <a:rPr sz="1545" b="0" lang="id-ID">
                <a:solidFill>
                  <a:srgbClr val="1A1A1A"/>
                </a:solidFill>
                <a:latin typeface="Roboto"/>
              </a:rPr>
              <a:t>Prosedur terbang saat asap tebal.</a:t>
            </a:r>
          </a:p>
        </p:txBody>
      </p:sp>
      <p:cxnSp>
        <p:nvCxnSpPr>
          <p:cNvPr id="59" name="Connector 58"/>
          <p:cNvCxnSpPr/>
          <p:nvPr/>
        </p:nvCxnSpPr>
        <p:spPr>
          <a:xfrm>
            <a:off x="7025843" y="4691888"/>
            <a:ext cx="4490517" cy="0"/>
          </a:xfrm>
          <a:prstGeom prst="line">
            <a:avLst/>
          </a:prstGeom>
          <a:ln w="6350">
            <a:solidFill>
              <a:srgbClr val="E6EAF0"/>
            </a:solidFill>
          </a:ln>
        </p:spPr>
      </p:cxnSp>
      <p:sp>
        <p:nvSpPr>
          <p:cNvPr id="60" name="Oval 59"/>
          <p:cNvSpPr/>
          <p:nvPr/>
        </p:nvSpPr>
        <p:spPr>
          <a:xfrm>
            <a:off x="7025843" y="4852416"/>
            <a:ext cx="330200" cy="330200"/>
          </a:xfrm>
          <a:prstGeom prst="ellipse">
            <a:avLst/>
          </a:prstGeom>
          <a:solidFill>
            <a:srgbClr val="051C2C"/>
          </a:solidFill>
          <a:ln>
            <a:noFill/>
          </a:ln>
        </p:spPr>
        <p:txBody>
          <a:bodyPr rtlCol="0" anchor="ctr"/>
          <a:lstStyle/>
          <a:p>
            <a:pPr algn="ctr"/>
          </a:p>
        </p:txBody>
      </p:sp>
      <p:pic>
        <p:nvPicPr>
          <p:cNvPr id="61" name="Picture 60" descr="wilayah-FFFFFF-37dca10c.png"/>
          <p:cNvPicPr>
            <a:picLocks noChangeAspect="1"/>
          </p:cNvPicPr>
          <p:nvPr/>
        </p:nvPicPr>
        <p:blipFill>
          <a:blip r:embed="rId9"/>
          <a:stretch>
            <a:fillRect/>
          </a:stretch>
        </p:blipFill>
        <p:spPr>
          <a:xfrm>
            <a:off x="7101789" y="4928362"/>
            <a:ext cx="178308" cy="178308"/>
          </a:xfrm>
          <a:prstGeom prst="rect">
            <a:avLst/>
          </a:prstGeom>
        </p:spPr>
      </p:pic>
      <p:sp>
        <p:nvSpPr>
          <p:cNvPr id="62" name="TextBox 61"/>
          <p:cNvSpPr txBox="1"/>
          <p:nvPr/>
        </p:nvSpPr>
        <p:spPr>
          <a:xfrm>
            <a:off x="7470343" y="4759452"/>
            <a:ext cx="3944417" cy="516128"/>
          </a:xfrm>
          <a:prstGeom prst="rect">
            <a:avLst/>
          </a:prstGeom>
          <a:noFill/>
        </p:spPr>
        <p:txBody>
          <a:bodyPr wrap="square" lIns="0" tIns="0" rIns="0" bIns="0" anchor="ctr">
            <a:noAutofit/>
          </a:bodyPr>
          <a:lstStyle/>
          <a:p>
            <a:pPr algn="l"/>
            <a:r>
              <a:rPr sz="1545" b="1" lang="id-ID">
                <a:solidFill>
                  <a:srgbClr val="1A1A1A"/>
                </a:solidFill>
                <a:latin typeface="Roboto"/>
              </a:rPr>
              <a:t>Lahan gambut</a:t>
            </a:r>
            <a:br/>
            <a:r>
              <a:rPr sz="1545" b="0" lang="id-ID">
                <a:solidFill>
                  <a:srgbClr val="1A1A1A"/>
                </a:solidFill>
                <a:latin typeface="Roboto"/>
              </a:rPr>
              <a:t>Menentukan cara pemadaman.</a:t>
            </a:r>
          </a:p>
        </p:txBody>
      </p:sp>
      <p:cxnSp>
        <p:nvCxnSpPr>
          <p:cNvPr id="63" name="Connector 62"/>
          <p:cNvCxnSpPr/>
          <p:nvPr/>
        </p:nvCxnSpPr>
        <p:spPr>
          <a:xfrm>
            <a:off x="7025843" y="5343144"/>
            <a:ext cx="4490517" cy="0"/>
          </a:xfrm>
          <a:prstGeom prst="line">
            <a:avLst/>
          </a:prstGeom>
          <a:ln w="6350">
            <a:solidFill>
              <a:srgbClr val="E6EAF0"/>
            </a:solidFill>
          </a:ln>
        </p:spPr>
      </p:cxnSp>
      <p:sp>
        <p:nvSpPr>
          <p:cNvPr id="64" name="Oval 63"/>
          <p:cNvSpPr/>
          <p:nvPr/>
        </p:nvSpPr>
        <p:spPr>
          <a:xfrm>
            <a:off x="7025843" y="5503672"/>
            <a:ext cx="330200" cy="330200"/>
          </a:xfrm>
          <a:prstGeom prst="ellipse">
            <a:avLst/>
          </a:prstGeom>
          <a:solidFill>
            <a:srgbClr val="051C2C"/>
          </a:solidFill>
          <a:ln>
            <a:noFill/>
          </a:ln>
        </p:spPr>
        <p:txBody>
          <a:bodyPr rtlCol="0" anchor="ctr"/>
          <a:lstStyle/>
          <a:p>
            <a:pPr algn="ctr"/>
          </a:p>
        </p:txBody>
      </p:sp>
      <p:pic>
        <p:nvPicPr>
          <p:cNvPr id="65" name="Picture 64" descr="lembaga-FFFFFF-f44193c4.png"/>
          <p:cNvPicPr>
            <a:picLocks noChangeAspect="1"/>
          </p:cNvPicPr>
          <p:nvPr/>
        </p:nvPicPr>
        <p:blipFill>
          <a:blip r:embed="rId10"/>
          <a:stretch>
            <a:fillRect/>
          </a:stretch>
        </p:blipFill>
        <p:spPr>
          <a:xfrm>
            <a:off x="7101789" y="5579618"/>
            <a:ext cx="178308" cy="178308"/>
          </a:xfrm>
          <a:prstGeom prst="rect">
            <a:avLst/>
          </a:prstGeom>
        </p:spPr>
      </p:pic>
      <p:sp>
        <p:nvSpPr>
          <p:cNvPr id="66" name="TextBox 65"/>
          <p:cNvSpPr txBox="1"/>
          <p:nvPr/>
        </p:nvSpPr>
        <p:spPr>
          <a:xfrm>
            <a:off x="7470343" y="5410708"/>
            <a:ext cx="3944417" cy="516128"/>
          </a:xfrm>
          <a:prstGeom prst="rect">
            <a:avLst/>
          </a:prstGeom>
          <a:noFill/>
        </p:spPr>
        <p:txBody>
          <a:bodyPr wrap="square" lIns="0" tIns="0" rIns="0" bIns="0" anchor="ctr">
            <a:noAutofit/>
          </a:bodyPr>
          <a:lstStyle/>
          <a:p>
            <a:pPr algn="l"/>
            <a:r>
              <a:rPr sz="1545" b="1" lang="id-ID">
                <a:solidFill>
                  <a:srgbClr val="1A1A1A"/>
                </a:solidFill>
                <a:latin typeface="Roboto"/>
              </a:rPr>
              <a:t>Kewenangan</a:t>
            </a:r>
            <a:br/>
            <a:r>
              <a:rPr sz="1545" b="0" lang="id-ID">
                <a:solidFill>
                  <a:srgbClr val="1A1A1A"/>
                </a:solidFill>
                <a:latin typeface="Roboto"/>
              </a:rPr>
              <a:t>Berada pada Pemerintah Indonesia.</a:t>
            </a:r>
          </a:p>
        </p:txBody>
      </p:sp>
      <p:sp>
        <p:nvSpPr>
          <p:cNvPr id="67" name="Rectangle 66"/>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68" name="TextBox 67"/>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BNPB dan Kementerian Luar Negeri, Oktober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9890"/>
            <a:ext cx="10642600" cy="391160"/>
          </a:xfrm>
          <a:prstGeom prst="rect">
            <a:avLst/>
          </a:prstGeom>
          <a:noFill/>
        </p:spPr>
        <p:txBody>
          <a:bodyPr wrap="square" lIns="0" tIns="0" rIns="0" bIns="0" anchor="ctr">
            <a:noAutofit/>
          </a:bodyPr>
          <a:lstStyle/>
          <a:p>
            <a:pPr algn="l">
              <a:lnSpc>
                <a:spcPct val="95000"/>
              </a:lnSpc>
            </a:pPr>
            <a:r>
              <a:rPr sz="2200" b="1" lang="id-ID">
                <a:solidFill>
                  <a:srgbClr val="1A1A1A"/>
                </a:solidFill>
                <a:latin typeface="Roboto"/>
              </a:rPr>
              <a:t>Kerja sama teknologi kedua belah pihak mencakup </a:t>
            </a:r>
            <a:r>
              <a:rPr sz="2200" b="1" lang="id-ID">
                <a:solidFill>
                  <a:srgbClr val="D9600B"/>
                </a:solidFill>
                <a:latin typeface="Roboto"/>
              </a:rPr>
              <a:t>7 topik</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9</a:t>
            </a:r>
          </a:p>
        </p:txBody>
      </p:sp>
      <p:sp>
        <p:nvSpPr>
          <p:cNvPr id="8" name="TextBox 7"/>
          <p:cNvSpPr txBox="1"/>
          <p:nvPr/>
        </p:nvSpPr>
        <p:spPr>
          <a:xfrm>
            <a:off x="993140"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LANGKAH</a:t>
            </a:r>
          </a:p>
        </p:txBody>
      </p:sp>
      <p:sp>
        <p:nvSpPr>
          <p:cNvPr id="9" name="TextBox 8"/>
          <p:cNvSpPr txBox="1"/>
          <p:nvPr/>
        </p:nvSpPr>
        <p:spPr>
          <a:xfrm>
            <a:off x="4209898"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RINCIAN</a:t>
            </a:r>
          </a:p>
        </p:txBody>
      </p:sp>
      <p:sp>
        <p:nvSpPr>
          <p:cNvPr id="10" name="TextBox 9"/>
          <p:cNvSpPr txBox="1"/>
          <p:nvPr/>
        </p:nvSpPr>
        <p:spPr>
          <a:xfrm>
            <a:off x="8758733"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PENANGGUNG JAWAB</a:t>
            </a:r>
          </a:p>
        </p:txBody>
      </p:sp>
      <p:cxnSp>
        <p:nvCxnSpPr>
          <p:cNvPr id="11" name="Connector 10"/>
          <p:cNvCxnSpPr/>
          <p:nvPr/>
        </p:nvCxnSpPr>
        <p:spPr>
          <a:xfrm>
            <a:off x="548640" y="1485900"/>
            <a:ext cx="11094720" cy="0"/>
          </a:xfrm>
          <a:prstGeom prst="line">
            <a:avLst/>
          </a:prstGeom>
          <a:ln w="9525">
            <a:solidFill>
              <a:srgbClr val="1A1A1A"/>
            </a:solidFill>
          </a:ln>
        </p:spPr>
      </p:cxnSp>
      <p:sp>
        <p:nvSpPr>
          <p:cNvPr id="12" name="Oval 11"/>
          <p:cNvSpPr/>
          <p:nvPr/>
        </p:nvSpPr>
        <p:spPr>
          <a:xfrm>
            <a:off x="548640" y="1649186"/>
            <a:ext cx="330200" cy="330200"/>
          </a:xfrm>
          <a:prstGeom prst="ellipse">
            <a:avLst/>
          </a:prstGeom>
          <a:solidFill>
            <a:srgbClr val="051C2C"/>
          </a:solidFill>
          <a:ln>
            <a:noFill/>
          </a:ln>
        </p:spPr>
        <p:txBody>
          <a:bodyPr rtlCol="0" anchor="ctr"/>
          <a:lstStyle/>
          <a:p>
            <a:pPr algn="ctr"/>
          </a:p>
        </p:txBody>
      </p:sp>
      <p:pic>
        <p:nvPicPr>
          <p:cNvPr id="13" name="Picture 12" descr="data-FFFFFF-608a1e16.png"/>
          <p:cNvPicPr>
            <a:picLocks noChangeAspect="1"/>
          </p:cNvPicPr>
          <p:nvPr/>
        </p:nvPicPr>
        <p:blipFill>
          <a:blip r:embed="rId3"/>
          <a:stretch>
            <a:fillRect/>
          </a:stretch>
        </p:blipFill>
        <p:spPr>
          <a:xfrm>
            <a:off x="624586" y="1725132"/>
            <a:ext cx="178308" cy="178308"/>
          </a:xfrm>
          <a:prstGeom prst="rect">
            <a:avLst/>
          </a:prstGeom>
        </p:spPr>
      </p:pic>
      <p:sp>
        <p:nvSpPr>
          <p:cNvPr id="14" name="TextBox 13"/>
          <p:cNvSpPr txBox="1"/>
          <p:nvPr/>
        </p:nvSpPr>
        <p:spPr>
          <a:xfrm>
            <a:off x="993140" y="1599656"/>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Pemantauan dan deteksi dini</a:t>
            </a:r>
          </a:p>
        </p:txBody>
      </p:sp>
      <p:sp>
        <p:nvSpPr>
          <p:cNvPr id="15" name="Rounded Rectangle 14"/>
          <p:cNvSpPr/>
          <p:nvPr/>
        </p:nvSpPr>
        <p:spPr>
          <a:xfrm>
            <a:off x="993140" y="1834606"/>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16" name="TextBox 15"/>
          <p:cNvSpPr txBox="1"/>
          <p:nvPr/>
        </p:nvSpPr>
        <p:spPr>
          <a:xfrm>
            <a:off x="4209898" y="1485900"/>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Teknologi pemantauan untuk mendeteksi kebakaran lebih cepat.</a:t>
            </a:r>
          </a:p>
        </p:txBody>
      </p:sp>
      <p:sp>
        <p:nvSpPr>
          <p:cNvPr id="17" name="Rounded Rectangle 16"/>
          <p:cNvSpPr/>
          <p:nvPr/>
        </p:nvSpPr>
        <p:spPr>
          <a:xfrm>
            <a:off x="8758733" y="1731736"/>
            <a:ext cx="2417149"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Deputi Bidang Sistem dan Strategi</a:t>
            </a:r>
          </a:p>
        </p:txBody>
      </p:sp>
      <p:pic>
        <p:nvPicPr>
          <p:cNvPr id="18" name="Picture 17" descr="lembaga-FFFFFF-f44193c4.png"/>
          <p:cNvPicPr>
            <a:picLocks noChangeAspect="1"/>
          </p:cNvPicPr>
          <p:nvPr/>
        </p:nvPicPr>
        <p:blipFill>
          <a:blip r:embed="rId4"/>
          <a:stretch>
            <a:fillRect/>
          </a:stretch>
        </p:blipFill>
        <p:spPr>
          <a:xfrm>
            <a:off x="8841283" y="1763105"/>
            <a:ext cx="102362" cy="102362"/>
          </a:xfrm>
          <a:prstGeom prst="rect">
            <a:avLst/>
          </a:prstGeom>
        </p:spPr>
      </p:pic>
      <p:cxnSp>
        <p:nvCxnSpPr>
          <p:cNvPr id="19" name="Connector 18"/>
          <p:cNvCxnSpPr/>
          <p:nvPr/>
        </p:nvCxnSpPr>
        <p:spPr>
          <a:xfrm>
            <a:off x="548640" y="2142671"/>
            <a:ext cx="11094720" cy="0"/>
          </a:xfrm>
          <a:prstGeom prst="line">
            <a:avLst/>
          </a:prstGeom>
          <a:ln w="6350">
            <a:solidFill>
              <a:srgbClr val="E6EAF0"/>
            </a:solidFill>
          </a:ln>
        </p:spPr>
      </p:cxnSp>
      <p:sp>
        <p:nvSpPr>
          <p:cNvPr id="20" name="Oval 19"/>
          <p:cNvSpPr/>
          <p:nvPr/>
        </p:nvSpPr>
        <p:spPr>
          <a:xfrm>
            <a:off x="548640" y="2305957"/>
            <a:ext cx="330200" cy="330200"/>
          </a:xfrm>
          <a:prstGeom prst="ellipse">
            <a:avLst/>
          </a:prstGeom>
          <a:solidFill>
            <a:srgbClr val="051C2C"/>
          </a:solidFill>
          <a:ln>
            <a:noFill/>
          </a:ln>
        </p:spPr>
        <p:txBody>
          <a:bodyPr rtlCol="0" anchor="ctr"/>
          <a:lstStyle/>
          <a:p>
            <a:pPr algn="ctr"/>
          </a:p>
        </p:txBody>
      </p:sp>
      <p:pic>
        <p:nvPicPr>
          <p:cNvPr id="21" name="Picture 20" descr="data-FFFFFF-608a1e16.png"/>
          <p:cNvPicPr>
            <a:picLocks noChangeAspect="1"/>
          </p:cNvPicPr>
          <p:nvPr/>
        </p:nvPicPr>
        <p:blipFill>
          <a:blip r:embed="rId3"/>
          <a:stretch>
            <a:fillRect/>
          </a:stretch>
        </p:blipFill>
        <p:spPr>
          <a:xfrm>
            <a:off x="624586" y="2381903"/>
            <a:ext cx="178308" cy="178308"/>
          </a:xfrm>
          <a:prstGeom prst="rect">
            <a:avLst/>
          </a:prstGeom>
        </p:spPr>
      </p:pic>
      <p:sp>
        <p:nvSpPr>
          <p:cNvPr id="22" name="TextBox 21"/>
          <p:cNvSpPr txBox="1"/>
          <p:nvPr/>
        </p:nvSpPr>
        <p:spPr>
          <a:xfrm>
            <a:off x="993140" y="2256427"/>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Pengumpulan dan analisis data</a:t>
            </a:r>
          </a:p>
        </p:txBody>
      </p:sp>
      <p:sp>
        <p:nvSpPr>
          <p:cNvPr id="23" name="Rounded Rectangle 22"/>
          <p:cNvSpPr/>
          <p:nvPr/>
        </p:nvSpPr>
        <p:spPr>
          <a:xfrm>
            <a:off x="993140" y="2491377"/>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24" name="TextBox 23"/>
          <p:cNvSpPr txBox="1"/>
          <p:nvPr/>
        </p:nvSpPr>
        <p:spPr>
          <a:xfrm>
            <a:off x="4209898" y="2142671"/>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Data situasi yang diolah menjadi bahan pengambilan keputusan.</a:t>
            </a:r>
          </a:p>
        </p:txBody>
      </p:sp>
      <p:sp>
        <p:nvSpPr>
          <p:cNvPr id="25" name="Rounded Rectangle 24"/>
          <p:cNvSpPr/>
          <p:nvPr/>
        </p:nvSpPr>
        <p:spPr>
          <a:xfrm>
            <a:off x="8758733" y="2388507"/>
            <a:ext cx="2417149"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Deputi Bidang Sistem dan Strategi</a:t>
            </a:r>
          </a:p>
        </p:txBody>
      </p:sp>
      <p:pic>
        <p:nvPicPr>
          <p:cNvPr id="26" name="Picture 25" descr="lembaga-FFFFFF-f44193c4.png"/>
          <p:cNvPicPr>
            <a:picLocks noChangeAspect="1"/>
          </p:cNvPicPr>
          <p:nvPr/>
        </p:nvPicPr>
        <p:blipFill>
          <a:blip r:embed="rId4"/>
          <a:stretch>
            <a:fillRect/>
          </a:stretch>
        </p:blipFill>
        <p:spPr>
          <a:xfrm>
            <a:off x="8841283" y="2419876"/>
            <a:ext cx="102362" cy="102362"/>
          </a:xfrm>
          <a:prstGeom prst="rect">
            <a:avLst/>
          </a:prstGeom>
        </p:spPr>
      </p:pic>
      <p:cxnSp>
        <p:nvCxnSpPr>
          <p:cNvPr id="27" name="Connector 26"/>
          <p:cNvCxnSpPr/>
          <p:nvPr/>
        </p:nvCxnSpPr>
        <p:spPr>
          <a:xfrm>
            <a:off x="548640" y="2799443"/>
            <a:ext cx="11094720" cy="0"/>
          </a:xfrm>
          <a:prstGeom prst="line">
            <a:avLst/>
          </a:prstGeom>
          <a:ln w="6350">
            <a:solidFill>
              <a:srgbClr val="E6EAF0"/>
            </a:solidFill>
          </a:ln>
        </p:spPr>
      </p:cxnSp>
      <p:sp>
        <p:nvSpPr>
          <p:cNvPr id="28" name="Oval 27"/>
          <p:cNvSpPr/>
          <p:nvPr/>
        </p:nvSpPr>
        <p:spPr>
          <a:xfrm>
            <a:off x="548640" y="2962729"/>
            <a:ext cx="330200" cy="330200"/>
          </a:xfrm>
          <a:prstGeom prst="ellipse">
            <a:avLst/>
          </a:prstGeom>
          <a:solidFill>
            <a:srgbClr val="051C2C"/>
          </a:solidFill>
          <a:ln>
            <a:noFill/>
          </a:ln>
        </p:spPr>
        <p:txBody>
          <a:bodyPr rtlCol="0" anchor="ctr"/>
          <a:lstStyle/>
          <a:p>
            <a:pPr algn="ctr"/>
          </a:p>
        </p:txBody>
      </p:sp>
      <p:pic>
        <p:nvPicPr>
          <p:cNvPr id="29" name="Picture 28" descr="data-FFFFFF-608a1e16.png"/>
          <p:cNvPicPr>
            <a:picLocks noChangeAspect="1"/>
          </p:cNvPicPr>
          <p:nvPr/>
        </p:nvPicPr>
        <p:blipFill>
          <a:blip r:embed="rId3"/>
          <a:stretch>
            <a:fillRect/>
          </a:stretch>
        </p:blipFill>
        <p:spPr>
          <a:xfrm>
            <a:off x="624586" y="3038675"/>
            <a:ext cx="178308" cy="178308"/>
          </a:xfrm>
          <a:prstGeom prst="rect">
            <a:avLst/>
          </a:prstGeom>
        </p:spPr>
      </p:pic>
      <p:sp>
        <p:nvSpPr>
          <p:cNvPr id="30" name="TextBox 29"/>
          <p:cNvSpPr txBox="1"/>
          <p:nvPr/>
        </p:nvSpPr>
        <p:spPr>
          <a:xfrm>
            <a:off x="993140" y="2913199"/>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Penilaian situasi dan dampak</a:t>
            </a:r>
          </a:p>
        </p:txBody>
      </p:sp>
      <p:sp>
        <p:nvSpPr>
          <p:cNvPr id="31" name="Rounded Rectangle 30"/>
          <p:cNvSpPr/>
          <p:nvPr/>
        </p:nvSpPr>
        <p:spPr>
          <a:xfrm>
            <a:off x="993140" y="3148149"/>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32" name="TextBox 31"/>
          <p:cNvSpPr txBox="1"/>
          <p:nvPr/>
        </p:nvSpPr>
        <p:spPr>
          <a:xfrm>
            <a:off x="4209898" y="2799443"/>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Penghitungan luas terbakar dan dampak terhadap warga.</a:t>
            </a:r>
          </a:p>
        </p:txBody>
      </p:sp>
      <p:sp>
        <p:nvSpPr>
          <p:cNvPr id="33" name="Rounded Rectangle 32"/>
          <p:cNvSpPr/>
          <p:nvPr/>
        </p:nvSpPr>
        <p:spPr>
          <a:xfrm>
            <a:off x="8758733" y="3045279"/>
            <a:ext cx="2417149"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Deputi Bidang Sistem dan Strategi</a:t>
            </a:r>
          </a:p>
        </p:txBody>
      </p:sp>
      <p:pic>
        <p:nvPicPr>
          <p:cNvPr id="34" name="Picture 33" descr="lembaga-FFFFFF-f44193c4.png"/>
          <p:cNvPicPr>
            <a:picLocks noChangeAspect="1"/>
          </p:cNvPicPr>
          <p:nvPr/>
        </p:nvPicPr>
        <p:blipFill>
          <a:blip r:embed="rId4"/>
          <a:stretch>
            <a:fillRect/>
          </a:stretch>
        </p:blipFill>
        <p:spPr>
          <a:xfrm>
            <a:off x="8841283" y="3076648"/>
            <a:ext cx="102362" cy="102362"/>
          </a:xfrm>
          <a:prstGeom prst="rect">
            <a:avLst/>
          </a:prstGeom>
        </p:spPr>
      </p:pic>
      <p:cxnSp>
        <p:nvCxnSpPr>
          <p:cNvPr id="35" name="Connector 34"/>
          <p:cNvCxnSpPr/>
          <p:nvPr/>
        </p:nvCxnSpPr>
        <p:spPr>
          <a:xfrm>
            <a:off x="548640" y="3456214"/>
            <a:ext cx="11094720" cy="0"/>
          </a:xfrm>
          <a:prstGeom prst="line">
            <a:avLst/>
          </a:prstGeom>
          <a:ln w="6350">
            <a:solidFill>
              <a:srgbClr val="E6EAF0"/>
            </a:solidFill>
          </a:ln>
        </p:spPr>
      </p:cxnSp>
      <p:sp>
        <p:nvSpPr>
          <p:cNvPr id="36" name="Oval 35"/>
          <p:cNvSpPr/>
          <p:nvPr/>
        </p:nvSpPr>
        <p:spPr>
          <a:xfrm>
            <a:off x="548640" y="3619500"/>
            <a:ext cx="330200" cy="330200"/>
          </a:xfrm>
          <a:prstGeom prst="ellipse">
            <a:avLst/>
          </a:prstGeom>
          <a:solidFill>
            <a:srgbClr val="051C2C"/>
          </a:solidFill>
          <a:ln>
            <a:noFill/>
          </a:ln>
        </p:spPr>
        <p:txBody>
          <a:bodyPr rtlCol="0" anchor="ctr"/>
          <a:lstStyle/>
          <a:p>
            <a:pPr algn="ctr"/>
          </a:p>
        </p:txBody>
      </p:sp>
      <p:pic>
        <p:nvPicPr>
          <p:cNvPr id="37" name="Picture 36" descr="kapasitas-FFFFFF-22e801bd.png"/>
          <p:cNvPicPr>
            <a:picLocks noChangeAspect="1"/>
          </p:cNvPicPr>
          <p:nvPr/>
        </p:nvPicPr>
        <p:blipFill>
          <a:blip r:embed="rId5"/>
          <a:stretch>
            <a:fillRect/>
          </a:stretch>
        </p:blipFill>
        <p:spPr>
          <a:xfrm>
            <a:off x="624586" y="3695446"/>
            <a:ext cx="178308" cy="178308"/>
          </a:xfrm>
          <a:prstGeom prst="rect">
            <a:avLst/>
          </a:prstGeom>
        </p:spPr>
      </p:pic>
      <p:sp>
        <p:nvSpPr>
          <p:cNvPr id="38" name="TextBox 37"/>
          <p:cNvSpPr txBox="1"/>
          <p:nvPr/>
        </p:nvSpPr>
        <p:spPr>
          <a:xfrm>
            <a:off x="993140" y="3569970"/>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Strategi pemadaman</a:t>
            </a:r>
          </a:p>
        </p:txBody>
      </p:sp>
      <p:sp>
        <p:nvSpPr>
          <p:cNvPr id="39" name="Rounded Rectangle 38"/>
          <p:cNvSpPr/>
          <p:nvPr/>
        </p:nvSpPr>
        <p:spPr>
          <a:xfrm>
            <a:off x="993140" y="3804920"/>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40" name="TextBox 39"/>
          <p:cNvSpPr txBox="1"/>
          <p:nvPr/>
        </p:nvSpPr>
        <p:spPr>
          <a:xfrm>
            <a:off x="4209898" y="3456214"/>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Dukungan penyusunan rencana pemadaman darat dan udara.</a:t>
            </a:r>
          </a:p>
        </p:txBody>
      </p:sp>
      <p:sp>
        <p:nvSpPr>
          <p:cNvPr id="41" name="Rounded Rectangle 40"/>
          <p:cNvSpPr/>
          <p:nvPr/>
        </p:nvSpPr>
        <p:spPr>
          <a:xfrm>
            <a:off x="8758733" y="3702050"/>
            <a:ext cx="2463393"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Deputi Bidang Penanganan Darurat</a:t>
            </a:r>
          </a:p>
        </p:txBody>
      </p:sp>
      <p:pic>
        <p:nvPicPr>
          <p:cNvPr id="42" name="Picture 41" descr="lembaga-FFFFFF-f44193c4.png"/>
          <p:cNvPicPr>
            <a:picLocks noChangeAspect="1"/>
          </p:cNvPicPr>
          <p:nvPr/>
        </p:nvPicPr>
        <p:blipFill>
          <a:blip r:embed="rId4"/>
          <a:stretch>
            <a:fillRect/>
          </a:stretch>
        </p:blipFill>
        <p:spPr>
          <a:xfrm>
            <a:off x="8841283" y="3733419"/>
            <a:ext cx="102362" cy="102362"/>
          </a:xfrm>
          <a:prstGeom prst="rect">
            <a:avLst/>
          </a:prstGeom>
        </p:spPr>
      </p:pic>
      <p:cxnSp>
        <p:nvCxnSpPr>
          <p:cNvPr id="43" name="Connector 42"/>
          <p:cNvCxnSpPr/>
          <p:nvPr/>
        </p:nvCxnSpPr>
        <p:spPr>
          <a:xfrm>
            <a:off x="548640" y="4112986"/>
            <a:ext cx="11094720" cy="0"/>
          </a:xfrm>
          <a:prstGeom prst="line">
            <a:avLst/>
          </a:prstGeom>
          <a:ln w="6350">
            <a:solidFill>
              <a:srgbClr val="E6EAF0"/>
            </a:solidFill>
          </a:ln>
        </p:spPr>
      </p:cxnSp>
      <p:sp>
        <p:nvSpPr>
          <p:cNvPr id="44" name="Oval 43"/>
          <p:cNvSpPr/>
          <p:nvPr/>
        </p:nvSpPr>
        <p:spPr>
          <a:xfrm>
            <a:off x="548640" y="4276271"/>
            <a:ext cx="330200" cy="330200"/>
          </a:xfrm>
          <a:prstGeom prst="ellipse">
            <a:avLst/>
          </a:prstGeom>
          <a:solidFill>
            <a:srgbClr val="051C2C"/>
          </a:solidFill>
          <a:ln>
            <a:noFill/>
          </a:ln>
        </p:spPr>
        <p:txBody>
          <a:bodyPr rtlCol="0" anchor="ctr"/>
          <a:lstStyle/>
          <a:p>
            <a:pPr algn="ctr"/>
          </a:p>
        </p:txBody>
      </p:sp>
      <p:pic>
        <p:nvPicPr>
          <p:cNvPr id="45" name="Picture 44" descr="data-FFFFFF-608a1e16.png"/>
          <p:cNvPicPr>
            <a:picLocks noChangeAspect="1"/>
          </p:cNvPicPr>
          <p:nvPr/>
        </p:nvPicPr>
        <p:blipFill>
          <a:blip r:embed="rId3"/>
          <a:stretch>
            <a:fillRect/>
          </a:stretch>
        </p:blipFill>
        <p:spPr>
          <a:xfrm>
            <a:off x="624586" y="4352217"/>
            <a:ext cx="178308" cy="178308"/>
          </a:xfrm>
          <a:prstGeom prst="rect">
            <a:avLst/>
          </a:prstGeom>
        </p:spPr>
      </p:pic>
      <p:sp>
        <p:nvSpPr>
          <p:cNvPr id="46" name="TextBox 45"/>
          <p:cNvSpPr txBox="1"/>
          <p:nvPr/>
        </p:nvSpPr>
        <p:spPr>
          <a:xfrm>
            <a:off x="993140" y="4226741"/>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Riset dan inovasi</a:t>
            </a:r>
          </a:p>
        </p:txBody>
      </p:sp>
      <p:sp>
        <p:nvSpPr>
          <p:cNvPr id="47" name="Rounded Rectangle 46"/>
          <p:cNvSpPr/>
          <p:nvPr/>
        </p:nvSpPr>
        <p:spPr>
          <a:xfrm>
            <a:off x="993140" y="4461691"/>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48" name="TextBox 47"/>
          <p:cNvSpPr txBox="1"/>
          <p:nvPr/>
        </p:nvSpPr>
        <p:spPr>
          <a:xfrm>
            <a:off x="4209898" y="4112986"/>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Penjajakan teknologi yang belum dimiliki Indonesia.</a:t>
            </a:r>
          </a:p>
        </p:txBody>
      </p:sp>
      <p:sp>
        <p:nvSpPr>
          <p:cNvPr id="49" name="Rounded Rectangle 48"/>
          <p:cNvSpPr/>
          <p:nvPr/>
        </p:nvSpPr>
        <p:spPr>
          <a:xfrm>
            <a:off x="8758733" y="4358821"/>
            <a:ext cx="702650"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BMKG</a:t>
            </a:r>
          </a:p>
        </p:txBody>
      </p:sp>
      <p:pic>
        <p:nvPicPr>
          <p:cNvPr id="50" name="Picture 49" descr="lembaga-FFFFFF-f44193c4.png"/>
          <p:cNvPicPr>
            <a:picLocks noChangeAspect="1"/>
          </p:cNvPicPr>
          <p:nvPr/>
        </p:nvPicPr>
        <p:blipFill>
          <a:blip r:embed="rId4"/>
          <a:stretch>
            <a:fillRect/>
          </a:stretch>
        </p:blipFill>
        <p:spPr>
          <a:xfrm>
            <a:off x="8841283" y="4390190"/>
            <a:ext cx="102362" cy="102362"/>
          </a:xfrm>
          <a:prstGeom prst="rect">
            <a:avLst/>
          </a:prstGeom>
        </p:spPr>
      </p:pic>
      <p:sp>
        <p:nvSpPr>
          <p:cNvPr id="51" name="Rounded Rectangle 50"/>
          <p:cNvSpPr/>
          <p:nvPr/>
        </p:nvSpPr>
        <p:spPr>
          <a:xfrm>
            <a:off x="9512182" y="4358821"/>
            <a:ext cx="626862"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1073" b="1" lang="id-ID">
                <a:solidFill>
                  <a:srgbClr val="1A1A1A"/>
                </a:solidFill>
                <a:latin typeface="Roboto"/>
              </a:rPr>
              <a:t>BRIN</a:t>
            </a:r>
          </a:p>
        </p:txBody>
      </p:sp>
      <p:pic>
        <p:nvPicPr>
          <p:cNvPr id="52" name="Picture 51" descr="lembaga-051C2C-f44193c4.png"/>
          <p:cNvPicPr>
            <a:picLocks noChangeAspect="1"/>
          </p:cNvPicPr>
          <p:nvPr/>
        </p:nvPicPr>
        <p:blipFill>
          <a:blip r:embed="rId6"/>
          <a:stretch>
            <a:fillRect/>
          </a:stretch>
        </p:blipFill>
        <p:spPr>
          <a:xfrm>
            <a:off x="9594732" y="4390190"/>
            <a:ext cx="102362" cy="102362"/>
          </a:xfrm>
          <a:prstGeom prst="rect">
            <a:avLst/>
          </a:prstGeom>
        </p:spPr>
      </p:pic>
      <p:cxnSp>
        <p:nvCxnSpPr>
          <p:cNvPr id="53" name="Connector 52"/>
          <p:cNvCxnSpPr/>
          <p:nvPr/>
        </p:nvCxnSpPr>
        <p:spPr>
          <a:xfrm>
            <a:off x="548640" y="4769757"/>
            <a:ext cx="11094720" cy="0"/>
          </a:xfrm>
          <a:prstGeom prst="line">
            <a:avLst/>
          </a:prstGeom>
          <a:ln w="6350">
            <a:solidFill>
              <a:srgbClr val="E6EAF0"/>
            </a:solidFill>
          </a:ln>
        </p:spPr>
      </p:cxnSp>
      <p:sp>
        <p:nvSpPr>
          <p:cNvPr id="54" name="Oval 53"/>
          <p:cNvSpPr/>
          <p:nvPr/>
        </p:nvSpPr>
        <p:spPr>
          <a:xfrm>
            <a:off x="548640" y="4933043"/>
            <a:ext cx="330200" cy="330200"/>
          </a:xfrm>
          <a:prstGeom prst="ellipse">
            <a:avLst/>
          </a:prstGeom>
          <a:solidFill>
            <a:srgbClr val="051C2C"/>
          </a:solidFill>
          <a:ln>
            <a:noFill/>
          </a:ln>
        </p:spPr>
        <p:txBody>
          <a:bodyPr rtlCol="0" anchor="ctr"/>
          <a:lstStyle/>
          <a:p>
            <a:pPr algn="ctr"/>
          </a:p>
        </p:txBody>
      </p:sp>
      <p:pic>
        <p:nvPicPr>
          <p:cNvPr id="55" name="Picture 54" descr="regulasi-FFFFFF-e639fe9a.png"/>
          <p:cNvPicPr>
            <a:picLocks noChangeAspect="1"/>
          </p:cNvPicPr>
          <p:nvPr/>
        </p:nvPicPr>
        <p:blipFill>
          <a:blip r:embed="rId7"/>
          <a:stretch>
            <a:fillRect/>
          </a:stretch>
        </p:blipFill>
        <p:spPr>
          <a:xfrm>
            <a:off x="624586" y="5008989"/>
            <a:ext cx="178308" cy="178308"/>
          </a:xfrm>
          <a:prstGeom prst="rect">
            <a:avLst/>
          </a:prstGeom>
        </p:spPr>
      </p:pic>
      <p:sp>
        <p:nvSpPr>
          <p:cNvPr id="56" name="TextBox 55"/>
          <p:cNvSpPr txBox="1"/>
          <p:nvPr/>
        </p:nvSpPr>
        <p:spPr>
          <a:xfrm>
            <a:off x="993140" y="4883513"/>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Koordinasi teknis</a:t>
            </a:r>
          </a:p>
        </p:txBody>
      </p:sp>
      <p:sp>
        <p:nvSpPr>
          <p:cNvPr id="57" name="Rounded Rectangle 56"/>
          <p:cNvSpPr/>
          <p:nvPr/>
        </p:nvSpPr>
        <p:spPr>
          <a:xfrm>
            <a:off x="993140" y="5118463"/>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58" name="TextBox 57"/>
          <p:cNvSpPr txBox="1"/>
          <p:nvPr/>
        </p:nvSpPr>
        <p:spPr>
          <a:xfrm>
            <a:off x="4209898" y="4769757"/>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Koordinasi teknis antara BNPB dan NADMA Malaysia.</a:t>
            </a:r>
          </a:p>
        </p:txBody>
      </p:sp>
      <p:sp>
        <p:nvSpPr>
          <p:cNvPr id="59" name="Rounded Rectangle 58"/>
          <p:cNvSpPr/>
          <p:nvPr/>
        </p:nvSpPr>
        <p:spPr>
          <a:xfrm>
            <a:off x="8758733" y="5015593"/>
            <a:ext cx="2070949"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Karo Hukum dan Kerja Sama</a:t>
            </a:r>
          </a:p>
        </p:txBody>
      </p:sp>
      <p:pic>
        <p:nvPicPr>
          <p:cNvPr id="60" name="Picture 59" descr="lembaga-FFFFFF-f44193c4.png"/>
          <p:cNvPicPr>
            <a:picLocks noChangeAspect="1"/>
          </p:cNvPicPr>
          <p:nvPr/>
        </p:nvPicPr>
        <p:blipFill>
          <a:blip r:embed="rId4"/>
          <a:stretch>
            <a:fillRect/>
          </a:stretch>
        </p:blipFill>
        <p:spPr>
          <a:xfrm>
            <a:off x="8841283" y="5046962"/>
            <a:ext cx="102362" cy="102362"/>
          </a:xfrm>
          <a:prstGeom prst="rect">
            <a:avLst/>
          </a:prstGeom>
        </p:spPr>
      </p:pic>
      <p:cxnSp>
        <p:nvCxnSpPr>
          <p:cNvPr id="61" name="Connector 60"/>
          <p:cNvCxnSpPr/>
          <p:nvPr/>
        </p:nvCxnSpPr>
        <p:spPr>
          <a:xfrm>
            <a:off x="548640" y="5426529"/>
            <a:ext cx="11094720" cy="0"/>
          </a:xfrm>
          <a:prstGeom prst="line">
            <a:avLst/>
          </a:prstGeom>
          <a:ln w="6350">
            <a:solidFill>
              <a:srgbClr val="E6EAF0"/>
            </a:solidFill>
          </a:ln>
        </p:spPr>
      </p:cxnSp>
      <p:sp>
        <p:nvSpPr>
          <p:cNvPr id="62" name="Oval 61"/>
          <p:cNvSpPr/>
          <p:nvPr/>
        </p:nvSpPr>
        <p:spPr>
          <a:xfrm>
            <a:off x="548640" y="5589814"/>
            <a:ext cx="330200" cy="330200"/>
          </a:xfrm>
          <a:prstGeom prst="ellipse">
            <a:avLst/>
          </a:prstGeom>
          <a:solidFill>
            <a:srgbClr val="051C2C"/>
          </a:solidFill>
          <a:ln>
            <a:noFill/>
          </a:ln>
        </p:spPr>
        <p:txBody>
          <a:bodyPr rtlCol="0" anchor="ctr"/>
          <a:lstStyle/>
          <a:p>
            <a:pPr algn="ctr"/>
          </a:p>
        </p:txBody>
      </p:sp>
      <p:pic>
        <p:nvPicPr>
          <p:cNvPr id="63" name="Picture 62" descr="kapasitas-FFFFFF-22e801bd.png"/>
          <p:cNvPicPr>
            <a:picLocks noChangeAspect="1"/>
          </p:cNvPicPr>
          <p:nvPr/>
        </p:nvPicPr>
        <p:blipFill>
          <a:blip r:embed="rId5"/>
          <a:stretch>
            <a:fillRect/>
          </a:stretch>
        </p:blipFill>
        <p:spPr>
          <a:xfrm>
            <a:off x="624586" y="5665760"/>
            <a:ext cx="178308" cy="178308"/>
          </a:xfrm>
          <a:prstGeom prst="rect">
            <a:avLst/>
          </a:prstGeom>
        </p:spPr>
      </p:pic>
      <p:sp>
        <p:nvSpPr>
          <p:cNvPr id="64" name="TextBox 63"/>
          <p:cNvSpPr txBox="1"/>
          <p:nvPr/>
        </p:nvSpPr>
        <p:spPr>
          <a:xfrm>
            <a:off x="993140" y="5540284"/>
            <a:ext cx="3102458" cy="177800"/>
          </a:xfrm>
          <a:prstGeom prst="rect">
            <a:avLst/>
          </a:prstGeom>
          <a:noFill/>
        </p:spPr>
        <p:txBody>
          <a:bodyPr wrap="none" lIns="0" tIns="0" rIns="0" bIns="0" anchor="ctr">
            <a:noAutofit/>
          </a:bodyPr>
          <a:lstStyle/>
          <a:p>
            <a:pPr algn="l"/>
            <a:r>
              <a:rPr sz="1493" b="1" lang="id-ID">
                <a:solidFill>
                  <a:srgbClr val="1A1A1A"/>
                </a:solidFill>
                <a:latin typeface="Roboto"/>
              </a:rPr>
              <a:t>Penguatan kapasitas</a:t>
            </a:r>
          </a:p>
        </p:txBody>
      </p:sp>
      <p:sp>
        <p:nvSpPr>
          <p:cNvPr id="65" name="Rounded Rectangle 64"/>
          <p:cNvSpPr/>
          <p:nvPr/>
        </p:nvSpPr>
        <p:spPr>
          <a:xfrm>
            <a:off x="993140" y="5775234"/>
            <a:ext cx="1005149" cy="165100"/>
          </a:xfrm>
          <a:prstGeom prst="roundRect">
            <a:avLst>
              <a:gd name="adj" fmla="val 50000"/>
            </a:avLst>
          </a:prstGeom>
          <a:solidFill>
            <a:srgbClr val="051C2C"/>
          </a:solidFill>
          <a:ln>
            <a:noFill/>
          </a:ln>
        </p:spPr>
        <p:txBody>
          <a:bodyPr rtlCol="0" anchor="ctr" wrap="none" lIns="0" tIns="0" rIns="0" bIns="0">
            <a:noAutofit/>
          </a:bodyPr>
          <a:lstStyle/>
          <a:p>
            <a:pPr algn="ctr"/>
            <a:r>
              <a:rPr sz="1073" b="1" lang="id-ID">
                <a:solidFill>
                  <a:srgbClr val="FFFFFF"/>
                </a:solidFill>
                <a:latin typeface="Roboto"/>
              </a:rPr>
              <a:t>Direncanakan</a:t>
            </a:r>
          </a:p>
        </p:txBody>
      </p:sp>
      <p:sp>
        <p:nvSpPr>
          <p:cNvPr id="66" name="TextBox 65"/>
          <p:cNvSpPr txBox="1"/>
          <p:nvPr/>
        </p:nvSpPr>
        <p:spPr>
          <a:xfrm>
            <a:off x="4209898" y="5426529"/>
            <a:ext cx="4320235" cy="656771"/>
          </a:xfrm>
          <a:prstGeom prst="rect">
            <a:avLst/>
          </a:prstGeom>
          <a:noFill/>
        </p:spPr>
        <p:txBody>
          <a:bodyPr wrap="square" lIns="0" tIns="0" rIns="0" bIns="0" anchor="ctr">
            <a:noAutofit/>
          </a:bodyPr>
          <a:lstStyle/>
          <a:p>
            <a:pPr algn="just"/>
            <a:r>
              <a:rPr sz="1333" b="0" lang="id-ID">
                <a:solidFill>
                  <a:srgbClr val="1A1A1A"/>
                </a:solidFill>
                <a:latin typeface="Roboto"/>
              </a:rPr>
              <a:t>Pelatihan bagi pengguna teknologi di Indonesia.</a:t>
            </a:r>
          </a:p>
        </p:txBody>
      </p:sp>
      <p:sp>
        <p:nvSpPr>
          <p:cNvPr id="67" name="Rounded Rectangle 66"/>
          <p:cNvSpPr/>
          <p:nvPr/>
        </p:nvSpPr>
        <p:spPr>
          <a:xfrm>
            <a:off x="8758733" y="5672364"/>
            <a:ext cx="1968346" cy="165100"/>
          </a:xfrm>
          <a:prstGeom prst="roundRect">
            <a:avLst>
              <a:gd name="adj" fmla="val 50000"/>
            </a:avLst>
          </a:prstGeom>
          <a:solidFill>
            <a:srgbClr val="051C2C"/>
          </a:solidFill>
          <a:ln>
            <a:noFill/>
          </a:ln>
        </p:spPr>
        <p:txBody>
          <a:bodyPr rtlCol="0" anchor="ctr" wrap="none" lIns="234442" tIns="0" rIns="0" bIns="0">
            <a:noAutofit/>
          </a:bodyPr>
          <a:lstStyle/>
          <a:p>
            <a:pPr algn="l"/>
            <a:r>
              <a:rPr sz="1073" b="1" lang="id-ID">
                <a:solidFill>
                  <a:srgbClr val="FFFFFF"/>
                </a:solidFill>
                <a:latin typeface="Roboto"/>
              </a:rPr>
              <a:t>Deputi Bidang Pencegahan</a:t>
            </a:r>
          </a:p>
        </p:txBody>
      </p:sp>
      <p:pic>
        <p:nvPicPr>
          <p:cNvPr id="68" name="Picture 67" descr="lembaga-FFFFFF-f44193c4.png"/>
          <p:cNvPicPr>
            <a:picLocks noChangeAspect="1"/>
          </p:cNvPicPr>
          <p:nvPr/>
        </p:nvPicPr>
        <p:blipFill>
          <a:blip r:embed="rId4"/>
          <a:stretch>
            <a:fillRect/>
          </a:stretch>
        </p:blipFill>
        <p:spPr>
          <a:xfrm>
            <a:off x="8841283" y="5703733"/>
            <a:ext cx="102362" cy="102362"/>
          </a:xfrm>
          <a:prstGeom prst="rect">
            <a:avLst/>
          </a:prstGeom>
        </p:spPr>
      </p:pic>
      <p:sp>
        <p:nvSpPr>
          <p:cNvPr id="69" name="Rectangle 68"/>
          <p:cNvSpPr/>
          <p:nvPr/>
        </p:nvSpPr>
        <p:spPr>
          <a:xfrm>
            <a:off x="548640" y="6178550"/>
            <a:ext cx="38100" cy="165100"/>
          </a:xfrm>
          <a:prstGeom prst="rect">
            <a:avLst/>
          </a:prstGeom>
          <a:solidFill>
            <a:srgbClr val="4A9BE0"/>
          </a:solidFill>
          <a:ln>
            <a:noFill/>
          </a:ln>
        </p:spPr>
        <p:txBody>
          <a:bodyPr rtlCol="0" anchor="ctr"/>
          <a:lstStyle/>
          <a:p>
            <a:pPr algn="ctr"/>
          </a:p>
        </p:txBody>
      </p:sp>
      <p:sp>
        <p:nvSpPr>
          <p:cNvPr id="70" name="TextBox 69"/>
          <p:cNvSpPr txBox="1"/>
          <p:nvPr/>
        </p:nvSpPr>
        <p:spPr>
          <a:xfrm>
            <a:off x="640080" y="6159500"/>
            <a:ext cx="11003280" cy="203200"/>
          </a:xfrm>
          <a:prstGeom prst="rect">
            <a:avLst/>
          </a:prstGeom>
          <a:noFill/>
        </p:spPr>
        <p:txBody>
          <a:bodyPr wrap="none" lIns="0" tIns="0" rIns="0" bIns="0" anchor="ctr">
            <a:noAutofit/>
          </a:bodyPr>
          <a:lstStyle/>
          <a:p>
            <a:pPr algn="l"/>
            <a:r>
              <a:rPr sz="860" b="0" lang="id-ID">
                <a:solidFill>
                  <a:srgbClr val="6B7280"/>
                </a:solidFill>
                <a:latin typeface="Roboto"/>
              </a:rPr>
              <a:t>Sumber: BNPB dan Kementerian Luar Negeri, Oktober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9890"/>
            <a:ext cx="10642600" cy="391160"/>
          </a:xfrm>
          <a:prstGeom prst="rect">
            <a:avLst/>
          </a:prstGeom>
          <a:noFill/>
        </p:spPr>
        <p:txBody>
          <a:bodyPr wrap="square" lIns="0" tIns="0" rIns="0" bIns="0" anchor="ctr">
            <a:noAutofit/>
          </a:bodyPr>
          <a:lstStyle/>
          <a:p>
            <a:pPr algn="l">
              <a:lnSpc>
                <a:spcPct val="95000"/>
              </a:lnSpc>
            </a:pPr>
            <a:r>
              <a:rPr sz="2200" b="1" lang="id-ID">
                <a:solidFill>
                  <a:srgbClr val="1A1A1A"/>
                </a:solidFill>
                <a:latin typeface="Roboto"/>
              </a:rPr>
              <a:t>Enam langkah tindak lanjut kerja sama penanganan karhutla dengan Malaysia</a:t>
            </a:r>
          </a:p>
        </p:txBody>
      </p:sp>
      <p:cxnSp>
        <p:nvCxnSpPr>
          <p:cNvPr id="3" name="Connector 2"/>
          <p:cNvCxnSpPr/>
          <p:nvPr/>
        </p:nvCxnSpPr>
        <p:spPr>
          <a:xfrm>
            <a:off x="548640" y="1206500"/>
            <a:ext cx="11094720" cy="0"/>
          </a:xfrm>
          <a:prstGeom prst="line">
            <a:avLst/>
          </a:prstGeom>
          <a:ln w="9525">
            <a:solidFill>
              <a:srgbClr val="1A1A1A"/>
            </a:solidFill>
          </a:ln>
        </p:spPr>
      </p:cxnSp>
      <p:cxnSp>
        <p:nvCxnSpPr>
          <p:cNvPr id="4" name="Connector 3"/>
          <p:cNvCxnSpPr/>
          <p:nvPr/>
        </p:nvCxnSpPr>
        <p:spPr>
          <a:xfrm>
            <a:off x="548640" y="6446520"/>
            <a:ext cx="11094720" cy="0"/>
          </a:xfrm>
          <a:prstGeom prst="line">
            <a:avLst/>
          </a:prstGeom>
          <a:ln w="9525">
            <a:solidFill>
              <a:srgbClr val="1A1A1A"/>
            </a:solidFill>
          </a:ln>
        </p:spPr>
      </p:cxnSp>
      <p:pic>
        <p:nvPicPr>
          <p:cNvPr id="5" name="Picture 4" descr="sumber-bnpb.png"/>
          <p:cNvPicPr>
            <a:picLocks noChangeAspect="1"/>
          </p:cNvPicPr>
          <p:nvPr/>
        </p:nvPicPr>
        <p:blipFill>
          <a:blip r:embed="rId2"/>
          <a:stretch>
            <a:fillRect/>
          </a:stretch>
        </p:blipFill>
        <p:spPr>
          <a:xfrm>
            <a:off x="11295380" y="365760"/>
            <a:ext cx="347980" cy="439420"/>
          </a:xfrm>
          <a:prstGeom prst="rect">
            <a:avLst/>
          </a:prstGeom>
        </p:spPr>
      </p:pic>
      <p:sp>
        <p:nvSpPr>
          <p:cNvPr id="6" name="TextBox 5"/>
          <p:cNvSpPr txBox="1"/>
          <p:nvPr/>
        </p:nvSpPr>
        <p:spPr>
          <a:xfrm>
            <a:off x="548640" y="6510020"/>
            <a:ext cx="5486400" cy="200660"/>
          </a:xfrm>
          <a:prstGeom prst="rect">
            <a:avLst/>
          </a:prstGeom>
          <a:noFill/>
        </p:spPr>
        <p:txBody>
          <a:bodyPr wrap="none" lIns="0" tIns="0" rIns="0" bIns="0" anchor="t">
            <a:noAutofit/>
          </a:bodyPr>
          <a:lstStyle/>
          <a:p>
            <a:pPr algn="l"/>
            <a:r>
              <a:rPr sz="980" b="0" lang="id-ID">
                <a:solidFill>
                  <a:srgbClr val="1A1A1A"/>
                </a:solidFill>
                <a:latin typeface="Roboto"/>
              </a:rPr>
              <a:t>Badan Nasional Penanggulangan Bencana  |  Copyright 2026</a:t>
            </a:r>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10</a:t>
            </a:r>
          </a:p>
        </p:txBody>
      </p:sp>
      <p:sp>
        <p:nvSpPr>
          <p:cNvPr id="8" name="TextBox 7"/>
          <p:cNvSpPr txBox="1"/>
          <p:nvPr/>
        </p:nvSpPr>
        <p:spPr>
          <a:xfrm>
            <a:off x="993140"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LANGKAH</a:t>
            </a:r>
          </a:p>
        </p:txBody>
      </p:sp>
      <p:sp>
        <p:nvSpPr>
          <p:cNvPr id="9" name="TextBox 8"/>
          <p:cNvSpPr txBox="1"/>
          <p:nvPr/>
        </p:nvSpPr>
        <p:spPr>
          <a:xfrm>
            <a:off x="4209898"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RINCIAN</a:t>
            </a:r>
          </a:p>
        </p:txBody>
      </p:sp>
      <p:sp>
        <p:nvSpPr>
          <p:cNvPr id="10" name="TextBox 9"/>
          <p:cNvSpPr txBox="1"/>
          <p:nvPr/>
        </p:nvSpPr>
        <p:spPr>
          <a:xfrm>
            <a:off x="8758733" y="1282700"/>
            <a:ext cx="2540000" cy="177800"/>
          </a:xfrm>
          <a:prstGeom prst="rect">
            <a:avLst/>
          </a:prstGeom>
          <a:noFill/>
        </p:spPr>
        <p:txBody>
          <a:bodyPr wrap="none" lIns="0" tIns="0" rIns="0" bIns="0" anchor="ctr">
            <a:noAutofit/>
          </a:bodyPr>
          <a:lstStyle/>
          <a:p>
            <a:pPr algn="l"/>
            <a:r>
              <a:rPr sz="750" b="1" lang="id-ID" spc="80">
                <a:solidFill>
                  <a:srgbClr val="6B7280"/>
                </a:solidFill>
                <a:latin typeface="Roboto"/>
              </a:rPr>
              <a:t>PENANGGUNG JAWAB</a:t>
            </a:r>
          </a:p>
        </p:txBody>
      </p:sp>
      <p:cxnSp>
        <p:nvCxnSpPr>
          <p:cNvPr id="11" name="Connector 10"/>
          <p:cNvCxnSpPr/>
          <p:nvPr/>
        </p:nvCxnSpPr>
        <p:spPr>
          <a:xfrm>
            <a:off x="548640" y="1485900"/>
            <a:ext cx="11094720" cy="0"/>
          </a:xfrm>
          <a:prstGeom prst="line">
            <a:avLst/>
          </a:prstGeom>
          <a:ln w="9525">
            <a:solidFill>
              <a:srgbClr val="1A1A1A"/>
            </a:solidFill>
          </a:ln>
        </p:spPr>
      </p:cxnSp>
      <p:sp>
        <p:nvSpPr>
          <p:cNvPr id="12" name="Rounded Rectangle 11"/>
          <p:cNvSpPr/>
          <p:nvPr/>
        </p:nvSpPr>
        <p:spPr>
          <a:xfrm>
            <a:off x="548640" y="5320348"/>
            <a:ext cx="11094720" cy="1029652"/>
          </a:xfrm>
          <a:prstGeom prst="roundRect">
            <a:avLst>
              <a:gd name="adj" fmla="val 7400"/>
            </a:avLst>
          </a:prstGeom>
          <a:solidFill>
            <a:srgbClr val="F3F5F8"/>
          </a:solidFill>
          <a:ln>
            <a:noFill/>
          </a:ln>
        </p:spPr>
        <p:txBody>
          <a:bodyPr rtlCol="0" anchor="ctr"/>
          <a:lstStyle/>
          <a:p>
            <a:pPr algn="ctr"/>
          </a:p>
        </p:txBody>
      </p:sp>
      <p:sp>
        <p:nvSpPr>
          <p:cNvPr id="13" name="TextBox 12"/>
          <p:cNvSpPr txBox="1"/>
          <p:nvPr/>
        </p:nvSpPr>
        <p:spPr>
          <a:xfrm>
            <a:off x="694690" y="5405056"/>
            <a:ext cx="5547360" cy="210312"/>
          </a:xfrm>
          <a:prstGeom prst="rect">
            <a:avLst/>
          </a:prstGeom>
          <a:noFill/>
        </p:spPr>
        <p:txBody>
          <a:bodyPr wrap="none" lIns="0" tIns="0" rIns="0" bIns="0" anchor="t">
            <a:noAutofit/>
          </a:bodyPr>
          <a:lstStyle/>
          <a:p>
            <a:pPr algn="l"/>
            <a:r>
              <a:rPr sz="860" b="1" lang="id-ID" spc="100">
                <a:solidFill>
                  <a:srgbClr val="051C2C"/>
                </a:solidFill>
                <a:latin typeface="Roboto"/>
              </a:rPr>
              <a:t>HASIL YANG DIHARAPKAN</a:t>
            </a:r>
          </a:p>
        </p:txBody>
      </p:sp>
      <p:sp>
        <p:nvSpPr>
          <p:cNvPr id="14" name="Oval 13"/>
          <p:cNvSpPr/>
          <p:nvPr/>
        </p:nvSpPr>
        <p:spPr>
          <a:xfrm>
            <a:off x="694690" y="5720524"/>
            <a:ext cx="379730" cy="379730"/>
          </a:xfrm>
          <a:prstGeom prst="ellipse">
            <a:avLst/>
          </a:prstGeom>
          <a:solidFill>
            <a:srgbClr val="051C2C"/>
          </a:solidFill>
          <a:ln>
            <a:noFill/>
          </a:ln>
        </p:spPr>
        <p:txBody>
          <a:bodyPr rtlCol="0" anchor="ctr"/>
          <a:lstStyle/>
          <a:p>
            <a:pPr algn="ctr"/>
          </a:p>
        </p:txBody>
      </p:sp>
      <p:pic>
        <p:nvPicPr>
          <p:cNvPr id="15" name="Picture 14" descr="lembaga-FFFFFF-f44193c4.png"/>
          <p:cNvPicPr>
            <a:picLocks noChangeAspect="1"/>
          </p:cNvPicPr>
          <p:nvPr/>
        </p:nvPicPr>
        <p:blipFill>
          <a:blip r:embed="rId3"/>
          <a:stretch>
            <a:fillRect/>
          </a:stretch>
        </p:blipFill>
        <p:spPr>
          <a:xfrm>
            <a:off x="782320" y="5808154"/>
            <a:ext cx="204470" cy="204470"/>
          </a:xfrm>
          <a:prstGeom prst="rect">
            <a:avLst/>
          </a:prstGeom>
        </p:spPr>
      </p:pic>
      <p:sp>
        <p:nvSpPr>
          <p:cNvPr id="16" name="TextBox 15"/>
          <p:cNvSpPr txBox="1"/>
          <p:nvPr/>
        </p:nvSpPr>
        <p:spPr>
          <a:xfrm>
            <a:off x="1178116" y="5656262"/>
            <a:ext cx="2971398" cy="230759"/>
          </a:xfrm>
          <a:prstGeom prst="rect">
            <a:avLst/>
          </a:prstGeom>
          <a:noFill/>
        </p:spPr>
        <p:txBody>
          <a:bodyPr wrap="none" lIns="0" tIns="0" rIns="0" bIns="0" anchor="t">
            <a:noAutofit/>
          </a:bodyPr>
          <a:lstStyle/>
          <a:p>
            <a:pPr algn="l"/>
            <a:r>
              <a:rPr sz="1590" b="1" lang="id-ID">
                <a:solidFill>
                  <a:srgbClr val="1A1A1A"/>
                </a:solidFill>
                <a:latin typeface="Roboto"/>
              </a:rPr>
              <a:t>Kerja sama konkret</a:t>
            </a:r>
          </a:p>
        </p:txBody>
      </p:sp>
      <p:sp>
        <p:nvSpPr>
          <p:cNvPr id="17" name="TextBox 16"/>
          <p:cNvSpPr txBox="1"/>
          <p:nvPr/>
        </p:nvSpPr>
        <p:spPr>
          <a:xfrm>
            <a:off x="1178116" y="5889942"/>
            <a:ext cx="2971398" cy="409257"/>
          </a:xfrm>
          <a:prstGeom prst="rect">
            <a:avLst/>
          </a:prstGeom>
          <a:noFill/>
        </p:spPr>
        <p:txBody>
          <a:bodyPr wrap="square" lIns="0" tIns="0" rIns="0" bIns="0" anchor="t">
            <a:noAutofit/>
          </a:bodyPr>
          <a:lstStyle/>
          <a:p>
            <a:pPr algn="just"/>
            <a:r>
              <a:rPr sz="1200" b="0" lang="id-ID">
                <a:solidFill>
                  <a:srgbClr val="2E3440"/>
                </a:solidFill>
                <a:latin typeface="Roboto"/>
              </a:rPr>
              <a:t>Dukungan operasional sesuai kebutuhan lapangan.</a:t>
            </a:r>
          </a:p>
        </p:txBody>
      </p:sp>
      <p:cxnSp>
        <p:nvCxnSpPr>
          <p:cNvPr id="18" name="Connector 17"/>
          <p:cNvCxnSpPr/>
          <p:nvPr/>
        </p:nvCxnSpPr>
        <p:spPr>
          <a:xfrm>
            <a:off x="4222538" y="5700078"/>
            <a:ext cx="0" cy="562292"/>
          </a:xfrm>
          <a:prstGeom prst="line">
            <a:avLst/>
          </a:prstGeom>
          <a:ln w="9525">
            <a:solidFill>
              <a:srgbClr val="DCE3EB"/>
            </a:solidFill>
          </a:ln>
        </p:spPr>
      </p:cxnSp>
      <p:sp>
        <p:nvSpPr>
          <p:cNvPr id="19" name="Oval 18"/>
          <p:cNvSpPr/>
          <p:nvPr/>
        </p:nvSpPr>
        <p:spPr>
          <a:xfrm>
            <a:off x="4295563" y="5720524"/>
            <a:ext cx="379730" cy="379730"/>
          </a:xfrm>
          <a:prstGeom prst="ellipse">
            <a:avLst/>
          </a:prstGeom>
          <a:solidFill>
            <a:srgbClr val="051C2C"/>
          </a:solidFill>
          <a:ln>
            <a:noFill/>
          </a:ln>
        </p:spPr>
        <p:txBody>
          <a:bodyPr rtlCol="0" anchor="ctr"/>
          <a:lstStyle/>
          <a:p>
            <a:pPr algn="ctr"/>
          </a:p>
        </p:txBody>
      </p:sp>
      <p:pic>
        <p:nvPicPr>
          <p:cNvPr id="20" name="Picture 19" descr="data-FFFFFF-608a1e16.png"/>
          <p:cNvPicPr>
            <a:picLocks noChangeAspect="1"/>
          </p:cNvPicPr>
          <p:nvPr/>
        </p:nvPicPr>
        <p:blipFill>
          <a:blip r:embed="rId4"/>
          <a:stretch>
            <a:fillRect/>
          </a:stretch>
        </p:blipFill>
        <p:spPr>
          <a:xfrm>
            <a:off x="4383193" y="5808154"/>
            <a:ext cx="204470" cy="204470"/>
          </a:xfrm>
          <a:prstGeom prst="rect">
            <a:avLst/>
          </a:prstGeom>
        </p:spPr>
      </p:pic>
      <p:sp>
        <p:nvSpPr>
          <p:cNvPr id="21" name="TextBox 20"/>
          <p:cNvSpPr txBox="1"/>
          <p:nvPr/>
        </p:nvSpPr>
        <p:spPr>
          <a:xfrm>
            <a:off x="4778989" y="5656262"/>
            <a:ext cx="2971398" cy="230759"/>
          </a:xfrm>
          <a:prstGeom prst="rect">
            <a:avLst/>
          </a:prstGeom>
          <a:noFill/>
        </p:spPr>
        <p:txBody>
          <a:bodyPr wrap="none" lIns="0" tIns="0" rIns="0" bIns="0" anchor="t">
            <a:noAutofit/>
          </a:bodyPr>
          <a:lstStyle/>
          <a:p>
            <a:pPr algn="l"/>
            <a:r>
              <a:rPr sz="1590" b="1" lang="id-ID">
                <a:solidFill>
                  <a:srgbClr val="1A1A1A"/>
                </a:solidFill>
                <a:latin typeface="Roboto"/>
              </a:rPr>
              <a:t>Kapasitas teknologi</a:t>
            </a:r>
          </a:p>
        </p:txBody>
      </p:sp>
      <p:sp>
        <p:nvSpPr>
          <p:cNvPr id="22" name="TextBox 21"/>
          <p:cNvSpPr txBox="1"/>
          <p:nvPr/>
        </p:nvSpPr>
        <p:spPr>
          <a:xfrm>
            <a:off x="4778989" y="5889942"/>
            <a:ext cx="2971398" cy="409257"/>
          </a:xfrm>
          <a:prstGeom prst="rect">
            <a:avLst/>
          </a:prstGeom>
          <a:noFill/>
        </p:spPr>
        <p:txBody>
          <a:bodyPr wrap="square" lIns="0" tIns="0" rIns="0" bIns="0" anchor="t">
            <a:noAutofit/>
          </a:bodyPr>
          <a:lstStyle/>
          <a:p>
            <a:pPr algn="just"/>
            <a:r>
              <a:rPr sz="1200" b="0" lang="id-ID">
                <a:solidFill>
                  <a:srgbClr val="2E3440"/>
                </a:solidFill>
                <a:latin typeface="Roboto"/>
              </a:rPr>
              <a:t>Teknologi yang memberikan dampak dan nilai tambah untuk kedua pemerintahan.</a:t>
            </a:r>
          </a:p>
        </p:txBody>
      </p:sp>
      <p:cxnSp>
        <p:nvCxnSpPr>
          <p:cNvPr id="23" name="Connector 22"/>
          <p:cNvCxnSpPr/>
          <p:nvPr/>
        </p:nvCxnSpPr>
        <p:spPr>
          <a:xfrm>
            <a:off x="7823412" y="5700078"/>
            <a:ext cx="0" cy="562292"/>
          </a:xfrm>
          <a:prstGeom prst="line">
            <a:avLst/>
          </a:prstGeom>
          <a:ln w="9525">
            <a:solidFill>
              <a:srgbClr val="DCE3EB"/>
            </a:solidFill>
          </a:ln>
        </p:spPr>
      </p:cxnSp>
      <p:sp>
        <p:nvSpPr>
          <p:cNvPr id="24" name="Oval 23"/>
          <p:cNvSpPr/>
          <p:nvPr/>
        </p:nvSpPr>
        <p:spPr>
          <a:xfrm>
            <a:off x="7896437" y="5720524"/>
            <a:ext cx="379730" cy="379730"/>
          </a:xfrm>
          <a:prstGeom prst="ellipse">
            <a:avLst/>
          </a:prstGeom>
          <a:solidFill>
            <a:srgbClr val="051C2C"/>
          </a:solidFill>
          <a:ln>
            <a:noFill/>
          </a:ln>
        </p:spPr>
        <p:txBody>
          <a:bodyPr rtlCol="0" anchor="ctr"/>
          <a:lstStyle/>
          <a:p>
            <a:pPr algn="ctr"/>
          </a:p>
        </p:txBody>
      </p:sp>
      <p:pic>
        <p:nvPicPr>
          <p:cNvPr id="25" name="Picture 24" descr="karhutla-FFFFFF-1955759a.png"/>
          <p:cNvPicPr>
            <a:picLocks noChangeAspect="1"/>
          </p:cNvPicPr>
          <p:nvPr/>
        </p:nvPicPr>
        <p:blipFill>
          <a:blip r:embed="rId5"/>
          <a:stretch>
            <a:fillRect/>
          </a:stretch>
        </p:blipFill>
        <p:spPr>
          <a:xfrm>
            <a:off x="7984067" y="5808154"/>
            <a:ext cx="204470" cy="204470"/>
          </a:xfrm>
          <a:prstGeom prst="rect">
            <a:avLst/>
          </a:prstGeom>
        </p:spPr>
      </p:pic>
      <p:sp>
        <p:nvSpPr>
          <p:cNvPr id="26" name="TextBox 25"/>
          <p:cNvSpPr txBox="1"/>
          <p:nvPr/>
        </p:nvSpPr>
        <p:spPr>
          <a:xfrm>
            <a:off x="8379862" y="5656262"/>
            <a:ext cx="2971398" cy="230759"/>
          </a:xfrm>
          <a:prstGeom prst="rect">
            <a:avLst/>
          </a:prstGeom>
          <a:noFill/>
        </p:spPr>
        <p:txBody>
          <a:bodyPr wrap="none" lIns="0" tIns="0" rIns="0" bIns="0" anchor="t">
            <a:noAutofit/>
          </a:bodyPr>
          <a:lstStyle/>
          <a:p>
            <a:pPr algn="l"/>
            <a:r>
              <a:rPr sz="1590" b="1" lang="id-ID">
                <a:solidFill>
                  <a:srgbClr val="1A1A1A"/>
                </a:solidFill>
                <a:latin typeface="Roboto"/>
              </a:rPr>
              <a:t>Kerja sama bilateral</a:t>
            </a:r>
          </a:p>
        </p:txBody>
      </p:sp>
      <p:sp>
        <p:nvSpPr>
          <p:cNvPr id="27" name="TextBox 26"/>
          <p:cNvSpPr txBox="1"/>
          <p:nvPr/>
        </p:nvSpPr>
        <p:spPr>
          <a:xfrm>
            <a:off x="8379862" y="5889942"/>
            <a:ext cx="2971398" cy="409257"/>
          </a:xfrm>
          <a:prstGeom prst="rect">
            <a:avLst/>
          </a:prstGeom>
          <a:noFill/>
        </p:spPr>
        <p:txBody>
          <a:bodyPr wrap="square" lIns="0" tIns="0" rIns="0" bIns="0" anchor="t">
            <a:noAutofit/>
          </a:bodyPr>
          <a:lstStyle/>
          <a:p>
            <a:pPr algn="just"/>
            <a:r>
              <a:rPr sz="1200" b="0" lang="id-ID">
                <a:solidFill>
                  <a:srgbClr val="2E3440"/>
                </a:solidFill>
                <a:latin typeface="Roboto"/>
              </a:rPr>
              <a:t>Kerja sama bilateral yang berkelanjutan.</a:t>
            </a:r>
          </a:p>
        </p:txBody>
      </p:sp>
      <p:sp>
        <p:nvSpPr>
          <p:cNvPr id="28" name="Oval 27"/>
          <p:cNvSpPr/>
          <p:nvPr/>
        </p:nvSpPr>
        <p:spPr>
          <a:xfrm>
            <a:off x="548640" y="1628907"/>
            <a:ext cx="330200" cy="330200"/>
          </a:xfrm>
          <a:prstGeom prst="ellipse">
            <a:avLst/>
          </a:prstGeom>
          <a:solidFill>
            <a:srgbClr val="051C2C"/>
          </a:solidFill>
          <a:ln>
            <a:noFill/>
          </a:ln>
        </p:spPr>
        <p:txBody>
          <a:bodyPr rtlCol="0" anchor="ctr"/>
          <a:lstStyle/>
          <a:p>
            <a:pPr algn="ctr"/>
          </a:p>
        </p:txBody>
      </p:sp>
      <p:pic>
        <p:nvPicPr>
          <p:cNvPr id="29" name="Picture 28" descr="kapasitas-FFFFFF-22e801bd.png"/>
          <p:cNvPicPr>
            <a:picLocks noChangeAspect="1"/>
          </p:cNvPicPr>
          <p:nvPr/>
        </p:nvPicPr>
        <p:blipFill>
          <a:blip r:embed="rId6"/>
          <a:stretch>
            <a:fillRect/>
          </a:stretch>
        </p:blipFill>
        <p:spPr>
          <a:xfrm>
            <a:off x="624586" y="1704853"/>
            <a:ext cx="178308" cy="178308"/>
          </a:xfrm>
          <a:prstGeom prst="rect">
            <a:avLst/>
          </a:prstGeom>
        </p:spPr>
      </p:pic>
      <p:sp>
        <p:nvSpPr>
          <p:cNvPr id="30" name="TextBox 29"/>
          <p:cNvSpPr txBox="1"/>
          <p:nvPr/>
        </p:nvSpPr>
        <p:spPr>
          <a:xfrm>
            <a:off x="993140" y="1579377"/>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Bahas kesesuaian tawaran</a:t>
            </a:r>
          </a:p>
        </p:txBody>
      </p:sp>
      <p:sp>
        <p:nvSpPr>
          <p:cNvPr id="31" name="Rounded Rectangle 30"/>
          <p:cNvSpPr/>
          <p:nvPr/>
        </p:nvSpPr>
        <p:spPr>
          <a:xfrm>
            <a:off x="993140" y="1814327"/>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32" name="TextBox 31"/>
          <p:cNvSpPr txBox="1"/>
          <p:nvPr/>
        </p:nvSpPr>
        <p:spPr>
          <a:xfrm>
            <a:off x="4209898" y="1485900"/>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Bantuan udara dan personel Malaysia dicocokkan dengan kebutuhan serta kondisi operasi karhutla di Indonesia.</a:t>
            </a:r>
          </a:p>
        </p:txBody>
      </p:sp>
      <p:sp>
        <p:nvSpPr>
          <p:cNvPr id="33" name="Rounded Rectangle 32"/>
          <p:cNvSpPr/>
          <p:nvPr/>
        </p:nvSpPr>
        <p:spPr>
          <a:xfrm>
            <a:off x="8758733" y="1711457"/>
            <a:ext cx="2093324"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Deputi Bidang Penanganan Darurat</a:t>
            </a:r>
          </a:p>
        </p:txBody>
      </p:sp>
      <p:pic>
        <p:nvPicPr>
          <p:cNvPr id="34" name="Picture 33" descr="lembaga-FFFFFF-f44193c4.png"/>
          <p:cNvPicPr>
            <a:picLocks noChangeAspect="1"/>
          </p:cNvPicPr>
          <p:nvPr/>
        </p:nvPicPr>
        <p:blipFill>
          <a:blip r:embed="rId3"/>
          <a:stretch>
            <a:fillRect/>
          </a:stretch>
        </p:blipFill>
        <p:spPr>
          <a:xfrm>
            <a:off x="8841283" y="1742826"/>
            <a:ext cx="102362" cy="102362"/>
          </a:xfrm>
          <a:prstGeom prst="rect">
            <a:avLst/>
          </a:prstGeom>
        </p:spPr>
      </p:pic>
      <p:cxnSp>
        <p:nvCxnSpPr>
          <p:cNvPr id="35" name="Connector 34"/>
          <p:cNvCxnSpPr/>
          <p:nvPr/>
        </p:nvCxnSpPr>
        <p:spPr>
          <a:xfrm>
            <a:off x="548640" y="2102115"/>
            <a:ext cx="11094720" cy="0"/>
          </a:xfrm>
          <a:prstGeom prst="line">
            <a:avLst/>
          </a:prstGeom>
          <a:ln w="6350">
            <a:solidFill>
              <a:srgbClr val="E6EAF0"/>
            </a:solidFill>
          </a:ln>
        </p:spPr>
      </p:cxnSp>
      <p:sp>
        <p:nvSpPr>
          <p:cNvPr id="36" name="Oval 35"/>
          <p:cNvSpPr/>
          <p:nvPr/>
        </p:nvSpPr>
        <p:spPr>
          <a:xfrm>
            <a:off x="548640" y="2245122"/>
            <a:ext cx="330200" cy="330200"/>
          </a:xfrm>
          <a:prstGeom prst="ellipse">
            <a:avLst/>
          </a:prstGeom>
          <a:solidFill>
            <a:srgbClr val="051C2C"/>
          </a:solidFill>
          <a:ln>
            <a:noFill/>
          </a:ln>
        </p:spPr>
        <p:txBody>
          <a:bodyPr rtlCol="0" anchor="ctr"/>
          <a:lstStyle/>
          <a:p>
            <a:pPr algn="ctr"/>
          </a:p>
        </p:txBody>
      </p:sp>
      <p:pic>
        <p:nvPicPr>
          <p:cNvPr id="37" name="Picture 36" descr="infrastruktur-FFFFFF-ba1c96e7.png"/>
          <p:cNvPicPr>
            <a:picLocks noChangeAspect="1"/>
          </p:cNvPicPr>
          <p:nvPr/>
        </p:nvPicPr>
        <p:blipFill>
          <a:blip r:embed="rId7"/>
          <a:stretch>
            <a:fillRect/>
          </a:stretch>
        </p:blipFill>
        <p:spPr>
          <a:xfrm>
            <a:off x="624586" y="2321068"/>
            <a:ext cx="178308" cy="178308"/>
          </a:xfrm>
          <a:prstGeom prst="rect">
            <a:avLst/>
          </a:prstGeom>
        </p:spPr>
      </p:pic>
      <p:sp>
        <p:nvSpPr>
          <p:cNvPr id="38" name="TextBox 37"/>
          <p:cNvSpPr txBox="1"/>
          <p:nvPr/>
        </p:nvSpPr>
        <p:spPr>
          <a:xfrm>
            <a:off x="993140" y="2195592"/>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Klarifikasi kesiapan pengerahan</a:t>
            </a:r>
          </a:p>
        </p:txBody>
      </p:sp>
      <p:sp>
        <p:nvSpPr>
          <p:cNvPr id="39" name="Rounded Rectangle 38"/>
          <p:cNvSpPr/>
          <p:nvPr/>
        </p:nvSpPr>
        <p:spPr>
          <a:xfrm>
            <a:off x="993140" y="2430542"/>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40" name="TextBox 39"/>
          <p:cNvSpPr txBox="1"/>
          <p:nvPr/>
        </p:nvSpPr>
        <p:spPr>
          <a:xfrm>
            <a:off x="4209898" y="2102115"/>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Durasi penugasan dan spesifikasi peralatan diperjelas, termasuk kebutuhan logistik serta prosedur keselamatan operasi.</a:t>
            </a:r>
          </a:p>
        </p:txBody>
      </p:sp>
      <p:sp>
        <p:nvSpPr>
          <p:cNvPr id="41" name="Rounded Rectangle 40"/>
          <p:cNvSpPr/>
          <p:nvPr/>
        </p:nvSpPr>
        <p:spPr>
          <a:xfrm>
            <a:off x="8758733" y="2219722"/>
            <a:ext cx="2191508"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Deputi Bidang Logistik dan Peralatan</a:t>
            </a:r>
          </a:p>
        </p:txBody>
      </p:sp>
      <p:pic>
        <p:nvPicPr>
          <p:cNvPr id="42" name="Picture 41" descr="lembaga-FFFFFF-f44193c4.png"/>
          <p:cNvPicPr>
            <a:picLocks noChangeAspect="1"/>
          </p:cNvPicPr>
          <p:nvPr/>
        </p:nvPicPr>
        <p:blipFill>
          <a:blip r:embed="rId3"/>
          <a:stretch>
            <a:fillRect/>
          </a:stretch>
        </p:blipFill>
        <p:spPr>
          <a:xfrm>
            <a:off x="8841283" y="2251091"/>
            <a:ext cx="102362" cy="102362"/>
          </a:xfrm>
          <a:prstGeom prst="rect">
            <a:avLst/>
          </a:prstGeom>
        </p:spPr>
      </p:pic>
      <p:sp>
        <p:nvSpPr>
          <p:cNvPr id="43" name="Rounded Rectangle 42"/>
          <p:cNvSpPr/>
          <p:nvPr/>
        </p:nvSpPr>
        <p:spPr>
          <a:xfrm>
            <a:off x="8758733" y="2435622"/>
            <a:ext cx="2093324"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888" b="1" lang="id-ID">
                <a:solidFill>
                  <a:srgbClr val="1A1A1A"/>
                </a:solidFill>
                <a:latin typeface="Roboto"/>
              </a:rPr>
              <a:t>Deputi Bidang Penanganan Darurat</a:t>
            </a:r>
          </a:p>
        </p:txBody>
      </p:sp>
      <p:pic>
        <p:nvPicPr>
          <p:cNvPr id="44" name="Picture 43" descr="lembaga-051C2C-f44193c4.png"/>
          <p:cNvPicPr>
            <a:picLocks noChangeAspect="1"/>
          </p:cNvPicPr>
          <p:nvPr/>
        </p:nvPicPr>
        <p:blipFill>
          <a:blip r:embed="rId8"/>
          <a:stretch>
            <a:fillRect/>
          </a:stretch>
        </p:blipFill>
        <p:spPr>
          <a:xfrm>
            <a:off x="8841283" y="2466991"/>
            <a:ext cx="102362" cy="102362"/>
          </a:xfrm>
          <a:prstGeom prst="rect">
            <a:avLst/>
          </a:prstGeom>
        </p:spPr>
      </p:pic>
      <p:cxnSp>
        <p:nvCxnSpPr>
          <p:cNvPr id="45" name="Connector 44"/>
          <p:cNvCxnSpPr/>
          <p:nvPr/>
        </p:nvCxnSpPr>
        <p:spPr>
          <a:xfrm>
            <a:off x="548640" y="2718329"/>
            <a:ext cx="11094720" cy="0"/>
          </a:xfrm>
          <a:prstGeom prst="line">
            <a:avLst/>
          </a:prstGeom>
          <a:ln w="6350">
            <a:solidFill>
              <a:srgbClr val="E6EAF0"/>
            </a:solidFill>
          </a:ln>
        </p:spPr>
      </p:cxnSp>
      <p:sp>
        <p:nvSpPr>
          <p:cNvPr id="46" name="Oval 45"/>
          <p:cNvSpPr/>
          <p:nvPr/>
        </p:nvSpPr>
        <p:spPr>
          <a:xfrm>
            <a:off x="548640" y="2861336"/>
            <a:ext cx="330200" cy="330200"/>
          </a:xfrm>
          <a:prstGeom prst="ellipse">
            <a:avLst/>
          </a:prstGeom>
          <a:solidFill>
            <a:srgbClr val="051C2C"/>
          </a:solidFill>
          <a:ln>
            <a:noFill/>
          </a:ln>
        </p:spPr>
        <p:txBody>
          <a:bodyPr rtlCol="0" anchor="ctr"/>
          <a:lstStyle/>
          <a:p>
            <a:pPr algn="ctr"/>
          </a:p>
        </p:txBody>
      </p:sp>
      <p:pic>
        <p:nvPicPr>
          <p:cNvPr id="47" name="Picture 46" descr="kapasitas-FFFFFF-22e801bd.png"/>
          <p:cNvPicPr>
            <a:picLocks noChangeAspect="1"/>
          </p:cNvPicPr>
          <p:nvPr/>
        </p:nvPicPr>
        <p:blipFill>
          <a:blip r:embed="rId6"/>
          <a:stretch>
            <a:fillRect/>
          </a:stretch>
        </p:blipFill>
        <p:spPr>
          <a:xfrm>
            <a:off x="624586" y="2937282"/>
            <a:ext cx="178308" cy="178308"/>
          </a:xfrm>
          <a:prstGeom prst="rect">
            <a:avLst/>
          </a:prstGeom>
        </p:spPr>
      </p:pic>
      <p:sp>
        <p:nvSpPr>
          <p:cNvPr id="48" name="TextBox 47"/>
          <p:cNvSpPr txBox="1"/>
          <p:nvPr/>
        </p:nvSpPr>
        <p:spPr>
          <a:xfrm>
            <a:off x="993140" y="2811806"/>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Siapkan alternatif dukungan</a:t>
            </a:r>
          </a:p>
        </p:txBody>
      </p:sp>
      <p:sp>
        <p:nvSpPr>
          <p:cNvPr id="49" name="Rounded Rectangle 48"/>
          <p:cNvSpPr/>
          <p:nvPr/>
        </p:nvSpPr>
        <p:spPr>
          <a:xfrm>
            <a:off x="993140" y="3046756"/>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50" name="TextBox 49"/>
          <p:cNvSpPr txBox="1"/>
          <p:nvPr/>
        </p:nvSpPr>
        <p:spPr>
          <a:xfrm>
            <a:off x="4209898" y="2718329"/>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Bentuk dukungan lain dibahas bila asap tebal dan jarak pandang rendah mengurangi efektivitas bantuan udara.</a:t>
            </a:r>
          </a:p>
        </p:txBody>
      </p:sp>
      <p:sp>
        <p:nvSpPr>
          <p:cNvPr id="51" name="Rounded Rectangle 50"/>
          <p:cNvSpPr/>
          <p:nvPr/>
        </p:nvSpPr>
        <p:spPr>
          <a:xfrm>
            <a:off x="8758733" y="2943886"/>
            <a:ext cx="2093324"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Deputi Bidang Penanganan Darurat</a:t>
            </a:r>
          </a:p>
        </p:txBody>
      </p:sp>
      <p:pic>
        <p:nvPicPr>
          <p:cNvPr id="52" name="Picture 51" descr="lembaga-FFFFFF-f44193c4.png"/>
          <p:cNvPicPr>
            <a:picLocks noChangeAspect="1"/>
          </p:cNvPicPr>
          <p:nvPr/>
        </p:nvPicPr>
        <p:blipFill>
          <a:blip r:embed="rId3"/>
          <a:stretch>
            <a:fillRect/>
          </a:stretch>
        </p:blipFill>
        <p:spPr>
          <a:xfrm>
            <a:off x="8841283" y="2975255"/>
            <a:ext cx="102362" cy="102362"/>
          </a:xfrm>
          <a:prstGeom prst="rect">
            <a:avLst/>
          </a:prstGeom>
        </p:spPr>
      </p:pic>
      <p:cxnSp>
        <p:nvCxnSpPr>
          <p:cNvPr id="53" name="Connector 52"/>
          <p:cNvCxnSpPr/>
          <p:nvPr/>
        </p:nvCxnSpPr>
        <p:spPr>
          <a:xfrm>
            <a:off x="548640" y="3334544"/>
            <a:ext cx="11094720" cy="0"/>
          </a:xfrm>
          <a:prstGeom prst="line">
            <a:avLst/>
          </a:prstGeom>
          <a:ln w="6350">
            <a:solidFill>
              <a:srgbClr val="E6EAF0"/>
            </a:solidFill>
          </a:ln>
        </p:spPr>
      </p:cxnSp>
      <p:sp>
        <p:nvSpPr>
          <p:cNvPr id="54" name="Oval 53"/>
          <p:cNvSpPr/>
          <p:nvPr/>
        </p:nvSpPr>
        <p:spPr>
          <a:xfrm>
            <a:off x="548640" y="3477551"/>
            <a:ext cx="330200" cy="330200"/>
          </a:xfrm>
          <a:prstGeom prst="ellipse">
            <a:avLst/>
          </a:prstGeom>
          <a:solidFill>
            <a:srgbClr val="051C2C"/>
          </a:solidFill>
          <a:ln>
            <a:noFill/>
          </a:ln>
        </p:spPr>
        <p:txBody>
          <a:bodyPr rtlCol="0" anchor="ctr"/>
          <a:lstStyle/>
          <a:p>
            <a:pPr algn="ctr"/>
          </a:p>
        </p:txBody>
      </p:sp>
      <p:pic>
        <p:nvPicPr>
          <p:cNvPr id="55" name="Picture 54" descr="data-FFFFFF-608a1e16.png"/>
          <p:cNvPicPr>
            <a:picLocks noChangeAspect="1"/>
          </p:cNvPicPr>
          <p:nvPr/>
        </p:nvPicPr>
        <p:blipFill>
          <a:blip r:embed="rId4"/>
          <a:stretch>
            <a:fillRect/>
          </a:stretch>
        </p:blipFill>
        <p:spPr>
          <a:xfrm>
            <a:off x="624586" y="3553497"/>
            <a:ext cx="178308" cy="178308"/>
          </a:xfrm>
          <a:prstGeom prst="rect">
            <a:avLst/>
          </a:prstGeom>
        </p:spPr>
      </p:pic>
      <p:sp>
        <p:nvSpPr>
          <p:cNvPr id="56" name="TextBox 55"/>
          <p:cNvSpPr txBox="1"/>
          <p:nvPr/>
        </p:nvSpPr>
        <p:spPr>
          <a:xfrm>
            <a:off x="993140" y="3428021"/>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Petakan kerja sama teknologi</a:t>
            </a:r>
          </a:p>
        </p:txBody>
      </p:sp>
      <p:sp>
        <p:nvSpPr>
          <p:cNvPr id="57" name="Rounded Rectangle 56"/>
          <p:cNvSpPr/>
          <p:nvPr/>
        </p:nvSpPr>
        <p:spPr>
          <a:xfrm>
            <a:off x="993140" y="3662971"/>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58" name="TextBox 57"/>
          <p:cNvSpPr txBox="1"/>
          <p:nvPr/>
        </p:nvSpPr>
        <p:spPr>
          <a:xfrm>
            <a:off x="4209898" y="3334544"/>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Teknologi pemantauan dan analisis data karhutla yang melengkapi kapasitas nasional diidentifikasi bersama lembaga riset.</a:t>
            </a:r>
          </a:p>
        </p:txBody>
      </p:sp>
      <p:sp>
        <p:nvSpPr>
          <p:cNvPr id="59" name="Rounded Rectangle 58"/>
          <p:cNvSpPr/>
          <p:nvPr/>
        </p:nvSpPr>
        <p:spPr>
          <a:xfrm>
            <a:off x="8758733" y="3452151"/>
            <a:ext cx="2055053"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Deputi Bidang Sistem dan Strategi</a:t>
            </a:r>
          </a:p>
        </p:txBody>
      </p:sp>
      <p:pic>
        <p:nvPicPr>
          <p:cNvPr id="60" name="Picture 59" descr="lembaga-FFFFFF-f44193c4.png"/>
          <p:cNvPicPr>
            <a:picLocks noChangeAspect="1"/>
          </p:cNvPicPr>
          <p:nvPr/>
        </p:nvPicPr>
        <p:blipFill>
          <a:blip r:embed="rId3"/>
          <a:stretch>
            <a:fillRect/>
          </a:stretch>
        </p:blipFill>
        <p:spPr>
          <a:xfrm>
            <a:off x="8841283" y="3483520"/>
            <a:ext cx="102362" cy="102362"/>
          </a:xfrm>
          <a:prstGeom prst="rect">
            <a:avLst/>
          </a:prstGeom>
        </p:spPr>
      </p:pic>
      <p:sp>
        <p:nvSpPr>
          <p:cNvPr id="61" name="Rounded Rectangle 60"/>
          <p:cNvSpPr/>
          <p:nvPr/>
        </p:nvSpPr>
        <p:spPr>
          <a:xfrm>
            <a:off x="10864586" y="3452151"/>
            <a:ext cx="636157"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888" b="1" lang="id-ID">
                <a:solidFill>
                  <a:srgbClr val="1A1A1A"/>
                </a:solidFill>
                <a:latin typeface="Roboto"/>
              </a:rPr>
              <a:t>BMKG</a:t>
            </a:r>
          </a:p>
        </p:txBody>
      </p:sp>
      <p:pic>
        <p:nvPicPr>
          <p:cNvPr id="62" name="Picture 61" descr="lembaga-051C2C-f44193c4.png"/>
          <p:cNvPicPr>
            <a:picLocks noChangeAspect="1"/>
          </p:cNvPicPr>
          <p:nvPr/>
        </p:nvPicPr>
        <p:blipFill>
          <a:blip r:embed="rId8"/>
          <a:stretch>
            <a:fillRect/>
          </a:stretch>
        </p:blipFill>
        <p:spPr>
          <a:xfrm>
            <a:off x="10947136" y="3483520"/>
            <a:ext cx="102362" cy="102362"/>
          </a:xfrm>
          <a:prstGeom prst="rect">
            <a:avLst/>
          </a:prstGeom>
        </p:spPr>
      </p:pic>
      <p:sp>
        <p:nvSpPr>
          <p:cNvPr id="63" name="Rounded Rectangle 62"/>
          <p:cNvSpPr/>
          <p:nvPr/>
        </p:nvSpPr>
        <p:spPr>
          <a:xfrm>
            <a:off x="8758733" y="3668051"/>
            <a:ext cx="573436"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888" b="1" lang="id-ID">
                <a:solidFill>
                  <a:srgbClr val="1A1A1A"/>
                </a:solidFill>
                <a:latin typeface="Roboto"/>
              </a:rPr>
              <a:t>BRIN</a:t>
            </a:r>
          </a:p>
        </p:txBody>
      </p:sp>
      <p:pic>
        <p:nvPicPr>
          <p:cNvPr id="64" name="Picture 63" descr="lembaga-051C2C-f44193c4.png"/>
          <p:cNvPicPr>
            <a:picLocks noChangeAspect="1"/>
          </p:cNvPicPr>
          <p:nvPr/>
        </p:nvPicPr>
        <p:blipFill>
          <a:blip r:embed="rId8"/>
          <a:stretch>
            <a:fillRect/>
          </a:stretch>
        </p:blipFill>
        <p:spPr>
          <a:xfrm>
            <a:off x="8841283" y="3699420"/>
            <a:ext cx="102362" cy="102362"/>
          </a:xfrm>
          <a:prstGeom prst="rect">
            <a:avLst/>
          </a:prstGeom>
        </p:spPr>
      </p:pic>
      <p:cxnSp>
        <p:nvCxnSpPr>
          <p:cNvPr id="65" name="Connector 64"/>
          <p:cNvCxnSpPr/>
          <p:nvPr/>
        </p:nvCxnSpPr>
        <p:spPr>
          <a:xfrm>
            <a:off x="548640" y="3950758"/>
            <a:ext cx="11094720" cy="0"/>
          </a:xfrm>
          <a:prstGeom prst="line">
            <a:avLst/>
          </a:prstGeom>
          <a:ln w="6350">
            <a:solidFill>
              <a:srgbClr val="E6EAF0"/>
            </a:solidFill>
          </a:ln>
        </p:spPr>
      </p:cxnSp>
      <p:sp>
        <p:nvSpPr>
          <p:cNvPr id="66" name="Oval 65"/>
          <p:cNvSpPr/>
          <p:nvPr/>
        </p:nvSpPr>
        <p:spPr>
          <a:xfrm>
            <a:off x="548640" y="4093766"/>
            <a:ext cx="330200" cy="330200"/>
          </a:xfrm>
          <a:prstGeom prst="ellipse">
            <a:avLst/>
          </a:prstGeom>
          <a:solidFill>
            <a:srgbClr val="051C2C"/>
          </a:solidFill>
          <a:ln>
            <a:noFill/>
          </a:ln>
        </p:spPr>
        <p:txBody>
          <a:bodyPr rtlCol="0" anchor="ctr"/>
          <a:lstStyle/>
          <a:p>
            <a:pPr algn="ctr"/>
          </a:p>
        </p:txBody>
      </p:sp>
      <p:pic>
        <p:nvPicPr>
          <p:cNvPr id="67" name="Picture 66" descr="regulasi-FFFFFF-e639fe9a.png"/>
          <p:cNvPicPr>
            <a:picLocks noChangeAspect="1"/>
          </p:cNvPicPr>
          <p:nvPr/>
        </p:nvPicPr>
        <p:blipFill>
          <a:blip r:embed="rId9"/>
          <a:stretch>
            <a:fillRect/>
          </a:stretch>
        </p:blipFill>
        <p:spPr>
          <a:xfrm>
            <a:off x="624586" y="4169712"/>
            <a:ext cx="178308" cy="178308"/>
          </a:xfrm>
          <a:prstGeom prst="rect">
            <a:avLst/>
          </a:prstGeom>
        </p:spPr>
      </p:pic>
      <p:sp>
        <p:nvSpPr>
          <p:cNvPr id="68" name="TextBox 67"/>
          <p:cNvSpPr txBox="1"/>
          <p:nvPr/>
        </p:nvSpPr>
        <p:spPr>
          <a:xfrm>
            <a:off x="993140" y="4044236"/>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Koordinasi teknis BNPB dan NADMA</a:t>
            </a:r>
          </a:p>
        </p:txBody>
      </p:sp>
      <p:sp>
        <p:nvSpPr>
          <p:cNvPr id="69" name="Rounded Rectangle 68"/>
          <p:cNvSpPr/>
          <p:nvPr/>
        </p:nvSpPr>
        <p:spPr>
          <a:xfrm>
            <a:off x="993140" y="4279186"/>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70" name="TextBox 69"/>
          <p:cNvSpPr txBox="1"/>
          <p:nvPr/>
        </p:nvSpPr>
        <p:spPr>
          <a:xfrm>
            <a:off x="4209898" y="3950758"/>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Mekanisme dan tindak lanjut dukungan dibahas BNPB dengan NADMA Malaysia, difasilitasi Kementerian Luar Negeri.</a:t>
            </a:r>
          </a:p>
        </p:txBody>
      </p:sp>
      <p:sp>
        <p:nvSpPr>
          <p:cNvPr id="71" name="Rounded Rectangle 70"/>
          <p:cNvSpPr/>
          <p:nvPr/>
        </p:nvSpPr>
        <p:spPr>
          <a:xfrm>
            <a:off x="8758733" y="4068366"/>
            <a:ext cx="1768542"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Karo Hukum dan Kerja Sama</a:t>
            </a:r>
          </a:p>
        </p:txBody>
      </p:sp>
      <p:pic>
        <p:nvPicPr>
          <p:cNvPr id="72" name="Picture 71" descr="lembaga-FFFFFF-f44193c4.png"/>
          <p:cNvPicPr>
            <a:picLocks noChangeAspect="1"/>
          </p:cNvPicPr>
          <p:nvPr/>
        </p:nvPicPr>
        <p:blipFill>
          <a:blip r:embed="rId3"/>
          <a:stretch>
            <a:fillRect/>
          </a:stretch>
        </p:blipFill>
        <p:spPr>
          <a:xfrm>
            <a:off x="8841283" y="4099735"/>
            <a:ext cx="102362" cy="102362"/>
          </a:xfrm>
          <a:prstGeom prst="rect">
            <a:avLst/>
          </a:prstGeom>
        </p:spPr>
      </p:pic>
      <p:sp>
        <p:nvSpPr>
          <p:cNvPr id="73" name="Rounded Rectangle 72"/>
          <p:cNvSpPr/>
          <p:nvPr/>
        </p:nvSpPr>
        <p:spPr>
          <a:xfrm>
            <a:off x="8758733" y="4284266"/>
            <a:ext cx="1583905"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888" b="1" lang="id-ID">
                <a:solidFill>
                  <a:srgbClr val="1A1A1A"/>
                </a:solidFill>
                <a:latin typeface="Roboto"/>
              </a:rPr>
              <a:t>Kementerian Luar Negeri</a:t>
            </a:r>
          </a:p>
        </p:txBody>
      </p:sp>
      <p:pic>
        <p:nvPicPr>
          <p:cNvPr id="74" name="Picture 73" descr="lembaga-051C2C-f44193c4.png"/>
          <p:cNvPicPr>
            <a:picLocks noChangeAspect="1"/>
          </p:cNvPicPr>
          <p:nvPr/>
        </p:nvPicPr>
        <p:blipFill>
          <a:blip r:embed="rId8"/>
          <a:stretch>
            <a:fillRect/>
          </a:stretch>
        </p:blipFill>
        <p:spPr>
          <a:xfrm>
            <a:off x="8841283" y="4315635"/>
            <a:ext cx="102362" cy="102362"/>
          </a:xfrm>
          <a:prstGeom prst="rect">
            <a:avLst/>
          </a:prstGeom>
        </p:spPr>
      </p:pic>
      <p:cxnSp>
        <p:nvCxnSpPr>
          <p:cNvPr id="75" name="Connector 74"/>
          <p:cNvCxnSpPr/>
          <p:nvPr/>
        </p:nvCxnSpPr>
        <p:spPr>
          <a:xfrm>
            <a:off x="548640" y="4566973"/>
            <a:ext cx="11094720" cy="0"/>
          </a:xfrm>
          <a:prstGeom prst="line">
            <a:avLst/>
          </a:prstGeom>
          <a:ln w="6350">
            <a:solidFill>
              <a:srgbClr val="E6EAF0"/>
            </a:solidFill>
          </a:ln>
        </p:spPr>
      </p:cxnSp>
      <p:sp>
        <p:nvSpPr>
          <p:cNvPr id="76" name="Oval 75"/>
          <p:cNvSpPr/>
          <p:nvPr/>
        </p:nvSpPr>
        <p:spPr>
          <a:xfrm>
            <a:off x="548640" y="4709980"/>
            <a:ext cx="330200" cy="330200"/>
          </a:xfrm>
          <a:prstGeom prst="ellipse">
            <a:avLst/>
          </a:prstGeom>
          <a:solidFill>
            <a:srgbClr val="051C2C"/>
          </a:solidFill>
          <a:ln>
            <a:noFill/>
          </a:ln>
        </p:spPr>
        <p:txBody>
          <a:bodyPr rtlCol="0" anchor="ctr"/>
          <a:lstStyle/>
          <a:p>
            <a:pPr algn="ctr"/>
          </a:p>
        </p:txBody>
      </p:sp>
      <p:pic>
        <p:nvPicPr>
          <p:cNvPr id="77" name="Picture 76" descr="regulasi-FFFFFF-e639fe9a.png"/>
          <p:cNvPicPr>
            <a:picLocks noChangeAspect="1"/>
          </p:cNvPicPr>
          <p:nvPr/>
        </p:nvPicPr>
        <p:blipFill>
          <a:blip r:embed="rId9"/>
          <a:stretch>
            <a:fillRect/>
          </a:stretch>
        </p:blipFill>
        <p:spPr>
          <a:xfrm>
            <a:off x="624586" y="4785926"/>
            <a:ext cx="178308" cy="178308"/>
          </a:xfrm>
          <a:prstGeom prst="rect">
            <a:avLst/>
          </a:prstGeom>
        </p:spPr>
      </p:pic>
      <p:sp>
        <p:nvSpPr>
          <p:cNvPr id="78" name="TextBox 77"/>
          <p:cNvSpPr txBox="1"/>
          <p:nvPr/>
        </p:nvSpPr>
        <p:spPr>
          <a:xfrm>
            <a:off x="993140" y="4660450"/>
            <a:ext cx="3102458" cy="177800"/>
          </a:xfrm>
          <a:prstGeom prst="rect">
            <a:avLst/>
          </a:prstGeom>
          <a:noFill/>
        </p:spPr>
        <p:txBody>
          <a:bodyPr wrap="none" lIns="0" tIns="0" rIns="0" bIns="0" anchor="ctr">
            <a:noAutofit/>
          </a:bodyPr>
          <a:lstStyle/>
          <a:p>
            <a:pPr algn="l"/>
            <a:r>
              <a:rPr sz="1236" b="1" lang="id-ID">
                <a:solidFill>
                  <a:srgbClr val="1A1A1A"/>
                </a:solidFill>
                <a:latin typeface="Roboto"/>
              </a:rPr>
              <a:t>Pastikan kendali otoritas Indonesia</a:t>
            </a:r>
          </a:p>
        </p:txBody>
      </p:sp>
      <p:sp>
        <p:nvSpPr>
          <p:cNvPr id="79" name="Rounded Rectangle 78"/>
          <p:cNvSpPr/>
          <p:nvPr/>
        </p:nvSpPr>
        <p:spPr>
          <a:xfrm>
            <a:off x="993140" y="4895400"/>
            <a:ext cx="860313" cy="165100"/>
          </a:xfrm>
          <a:prstGeom prst="roundRect">
            <a:avLst>
              <a:gd name="adj" fmla="val 50000"/>
            </a:avLst>
          </a:prstGeom>
          <a:solidFill>
            <a:srgbClr val="051C2C"/>
          </a:solidFill>
          <a:ln>
            <a:noFill/>
          </a:ln>
        </p:spPr>
        <p:txBody>
          <a:bodyPr rtlCol="0" anchor="ctr" wrap="none" lIns="0" tIns="0" rIns="0" bIns="0">
            <a:noAutofit/>
          </a:bodyPr>
          <a:lstStyle/>
          <a:p>
            <a:pPr algn="ctr"/>
            <a:r>
              <a:rPr sz="888" b="1" lang="id-ID">
                <a:solidFill>
                  <a:srgbClr val="FFFFFF"/>
                </a:solidFill>
                <a:latin typeface="Roboto"/>
              </a:rPr>
              <a:t>Direncanakan</a:t>
            </a:r>
          </a:p>
        </p:txBody>
      </p:sp>
      <p:sp>
        <p:nvSpPr>
          <p:cNvPr id="80" name="TextBox 79"/>
          <p:cNvSpPr txBox="1"/>
          <p:nvPr/>
        </p:nvSpPr>
        <p:spPr>
          <a:xfrm>
            <a:off x="4209898" y="4566973"/>
            <a:ext cx="4320235" cy="616215"/>
          </a:xfrm>
          <a:prstGeom prst="rect">
            <a:avLst/>
          </a:prstGeom>
          <a:noFill/>
        </p:spPr>
        <p:txBody>
          <a:bodyPr wrap="square" lIns="0" tIns="0" rIns="0" bIns="0" anchor="ctr">
            <a:noAutofit/>
          </a:bodyPr>
          <a:lstStyle/>
          <a:p>
            <a:pPr algn="just"/>
            <a:r>
              <a:rPr sz="1104" b="0" lang="id-ID">
                <a:solidFill>
                  <a:srgbClr val="1A1A1A"/>
                </a:solidFill>
                <a:latin typeface="Roboto"/>
              </a:rPr>
              <a:t>Seluruh dukungan internasional dilaksanakan sesuai ketentuan yang berlaku dan berada dalam kewenangan Pemerintah Indonesia.</a:t>
            </a:r>
          </a:p>
        </p:txBody>
      </p:sp>
      <p:sp>
        <p:nvSpPr>
          <p:cNvPr id="81" name="Rounded Rectangle 80"/>
          <p:cNvSpPr/>
          <p:nvPr/>
        </p:nvSpPr>
        <p:spPr>
          <a:xfrm>
            <a:off x="8758733" y="4684580"/>
            <a:ext cx="988251" cy="165100"/>
          </a:xfrm>
          <a:prstGeom prst="roundRect">
            <a:avLst>
              <a:gd name="adj" fmla="val 50000"/>
            </a:avLst>
          </a:prstGeom>
          <a:solidFill>
            <a:srgbClr val="051C2C"/>
          </a:solidFill>
          <a:ln>
            <a:noFill/>
          </a:ln>
        </p:spPr>
        <p:txBody>
          <a:bodyPr rtlCol="0" anchor="ctr" wrap="none" lIns="234442" tIns="0" rIns="0" bIns="0">
            <a:noAutofit/>
          </a:bodyPr>
          <a:lstStyle/>
          <a:p>
            <a:pPr algn="l"/>
            <a:r>
              <a:rPr sz="888" b="1" lang="id-ID">
                <a:solidFill>
                  <a:srgbClr val="FFFFFF"/>
                </a:solidFill>
                <a:latin typeface="Roboto"/>
              </a:rPr>
              <a:t>Kepala BNPB</a:t>
            </a:r>
          </a:p>
        </p:txBody>
      </p:sp>
      <p:pic>
        <p:nvPicPr>
          <p:cNvPr id="82" name="Picture 81" descr="lembaga-FFFFFF-f44193c4.png"/>
          <p:cNvPicPr>
            <a:picLocks noChangeAspect="1"/>
          </p:cNvPicPr>
          <p:nvPr/>
        </p:nvPicPr>
        <p:blipFill>
          <a:blip r:embed="rId3"/>
          <a:stretch>
            <a:fillRect/>
          </a:stretch>
        </p:blipFill>
        <p:spPr>
          <a:xfrm>
            <a:off x="8841283" y="4715949"/>
            <a:ext cx="102362" cy="102362"/>
          </a:xfrm>
          <a:prstGeom prst="rect">
            <a:avLst/>
          </a:prstGeom>
        </p:spPr>
      </p:pic>
      <p:sp>
        <p:nvSpPr>
          <p:cNvPr id="83" name="Rounded Rectangle 82"/>
          <p:cNvSpPr/>
          <p:nvPr/>
        </p:nvSpPr>
        <p:spPr>
          <a:xfrm>
            <a:off x="8758733" y="4900480"/>
            <a:ext cx="1948995" cy="165100"/>
          </a:xfrm>
          <a:prstGeom prst="roundRect">
            <a:avLst>
              <a:gd name="adj" fmla="val 50000"/>
            </a:avLst>
          </a:prstGeom>
          <a:solidFill>
            <a:srgbClr val="FFFFFF"/>
          </a:solidFill>
          <a:ln w="9525">
            <a:solidFill>
              <a:srgbClr val="BFC5CC"/>
            </a:solidFill>
          </a:ln>
        </p:spPr>
        <p:txBody>
          <a:bodyPr rtlCol="0" anchor="ctr" wrap="none" lIns="234442" tIns="0" rIns="0" bIns="0">
            <a:noAutofit/>
          </a:bodyPr>
          <a:lstStyle/>
          <a:p>
            <a:pPr algn="l"/>
            <a:r>
              <a:rPr sz="888" b="1" lang="id-ID">
                <a:solidFill>
                  <a:srgbClr val="1A1A1A"/>
                </a:solidFill>
                <a:latin typeface="Roboto"/>
              </a:rPr>
              <a:t>Kementerian Sekretariat Negara</a:t>
            </a:r>
          </a:p>
        </p:txBody>
      </p:sp>
      <p:pic>
        <p:nvPicPr>
          <p:cNvPr id="84" name="Picture 83" descr="lembaga-051C2C-f44193c4.png"/>
          <p:cNvPicPr>
            <a:picLocks noChangeAspect="1"/>
          </p:cNvPicPr>
          <p:nvPr/>
        </p:nvPicPr>
        <p:blipFill>
          <a:blip r:embed="rId8"/>
          <a:stretch>
            <a:fillRect/>
          </a:stretch>
        </p:blipFill>
        <p:spPr>
          <a:xfrm>
            <a:off x="8841283" y="4931849"/>
            <a:ext cx="102362" cy="10236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ertemuan-malaysia-sampul-foto-heli.png"/>
          <p:cNvPicPr>
            <a:picLocks noChangeAspect="1"/>
          </p:cNvPicPr>
          <p:nvPr/>
        </p:nvPicPr>
        <p:blipFill>
          <a:blip r:embed="rId2"/>
          <a:stretch>
            <a:fillRect/>
          </a:stretch>
        </p:blipFill>
        <p:spPr>
          <a:xfrm>
            <a:off x="6311900" y="0"/>
            <a:ext cx="5880100" cy="6858000"/>
          </a:xfrm>
          <a:prstGeom prst="rect">
            <a:avLst/>
          </a:prstGeom>
        </p:spPr>
      </p:pic>
      <p:sp>
        <p:nvSpPr>
          <p:cNvPr id="3" name="TextBox 2"/>
          <p:cNvSpPr txBox="1"/>
          <p:nvPr/>
        </p:nvSpPr>
        <p:spPr>
          <a:xfrm>
            <a:off x="7223760" y="6565900"/>
            <a:ext cx="4693920" cy="182880"/>
          </a:xfrm>
          <a:prstGeom prst="rect">
            <a:avLst/>
          </a:prstGeom>
          <a:noFill/>
        </p:spPr>
        <p:txBody>
          <a:bodyPr wrap="none" lIns="0" tIns="0" rIns="0" bIns="0" anchor="t">
            <a:noAutofit/>
          </a:bodyPr>
          <a:lstStyle/>
          <a:p>
            <a:pPr algn="r"/>
            <a:r>
              <a:rPr sz="800" b="0" lang="id-ID">
                <a:solidFill>
                  <a:srgbClr val="FFFFFF"/>
                </a:solidFill>
                <a:latin typeface="Roboto"/>
              </a:rPr>
              <a:t>Foto: DenY Krisbiyantoro, CC BY-SA 4.0, Wikimedia Commons</a:t>
            </a:r>
          </a:p>
        </p:txBody>
      </p:sp>
      <p:sp>
        <p:nvSpPr>
          <p:cNvPr id="4" name="Oval 3"/>
          <p:cNvSpPr/>
          <p:nvPr/>
        </p:nvSpPr>
        <p:spPr>
          <a:xfrm>
            <a:off x="548640" y="502920"/>
            <a:ext cx="1005840" cy="1005840"/>
          </a:xfrm>
          <a:prstGeom prst="ellipse">
            <a:avLst/>
          </a:prstGeom>
          <a:solidFill>
            <a:srgbClr val="FFFFFF"/>
          </a:solidFill>
          <a:ln>
            <a:noFill/>
          </a:ln>
        </p:spPr>
        <p:txBody>
          <a:bodyPr rtlCol="0" anchor="ctr"/>
          <a:lstStyle/>
          <a:p>
            <a:pPr algn="ctr"/>
          </a:p>
        </p:txBody>
      </p:sp>
      <p:pic>
        <p:nvPicPr>
          <p:cNvPr id="5" name="Picture 4" descr="sumber-bnpb.png"/>
          <p:cNvPicPr>
            <a:picLocks noChangeAspect="1"/>
          </p:cNvPicPr>
          <p:nvPr/>
        </p:nvPicPr>
        <p:blipFill>
          <a:blip r:embed="rId3"/>
          <a:stretch>
            <a:fillRect/>
          </a:stretch>
        </p:blipFill>
        <p:spPr>
          <a:xfrm>
            <a:off x="788126" y="673913"/>
            <a:ext cx="526869" cy="663854"/>
          </a:xfrm>
          <a:prstGeom prst="rect">
            <a:avLst/>
          </a:prstGeom>
        </p:spPr>
      </p:pic>
      <p:sp>
        <p:nvSpPr>
          <p:cNvPr id="6" name="TextBox 5"/>
          <p:cNvSpPr txBox="1"/>
          <p:nvPr/>
        </p:nvSpPr>
        <p:spPr>
          <a:xfrm>
            <a:off x="548640" y="2468880"/>
            <a:ext cx="5669280" cy="1005840"/>
          </a:xfrm>
          <a:prstGeom prst="rect">
            <a:avLst/>
          </a:prstGeom>
          <a:noFill/>
        </p:spPr>
        <p:txBody>
          <a:bodyPr wrap="none" lIns="0" tIns="0" rIns="0" bIns="0" anchor="b">
            <a:noAutofit/>
          </a:bodyPr>
          <a:lstStyle/>
          <a:p>
            <a:pPr algn="l"/>
            <a:r>
              <a:rPr sz="5400" b="1" lang="id-ID">
                <a:solidFill>
                  <a:srgbClr val="1A1A1A"/>
                </a:solidFill>
                <a:latin typeface="Roboto"/>
              </a:rPr>
              <a:t>Terima kasih</a:t>
            </a:r>
          </a:p>
        </p:txBody>
      </p:sp>
      <p:sp>
        <p:nvSpPr>
          <p:cNvPr id="7" name="Rectangle 6"/>
          <p:cNvSpPr/>
          <p:nvPr/>
        </p:nvSpPr>
        <p:spPr>
          <a:xfrm>
            <a:off x="548640" y="3644900"/>
            <a:ext cx="4754880" cy="25400"/>
          </a:xfrm>
          <a:prstGeom prst="rect">
            <a:avLst/>
          </a:prstGeom>
          <a:solidFill>
            <a:srgbClr val="D9600B"/>
          </a:solidFill>
          <a:ln>
            <a:noFill/>
          </a:ln>
        </p:spPr>
        <p:txBody>
          <a:bodyPr rtlCol="0" anchor="ctr"/>
          <a:lstStyle/>
          <a:p>
            <a:pPr algn="ctr"/>
          </a:p>
        </p:txBody>
      </p:sp>
      <p:sp>
        <p:nvSpPr>
          <p:cNvPr id="8" name="TextBox 7"/>
          <p:cNvSpPr txBox="1"/>
          <p:nvPr/>
        </p:nvSpPr>
        <p:spPr>
          <a:xfrm>
            <a:off x="548640" y="3840480"/>
            <a:ext cx="5669280" cy="365760"/>
          </a:xfrm>
          <a:prstGeom prst="rect">
            <a:avLst/>
          </a:prstGeom>
          <a:noFill/>
        </p:spPr>
        <p:txBody>
          <a:bodyPr wrap="none" lIns="0" tIns="0" rIns="0" bIns="0" anchor="ctr">
            <a:noAutofit/>
          </a:bodyPr>
          <a:lstStyle/>
          <a:p>
            <a:pPr algn="l"/>
            <a:r>
              <a:rPr sz="2070" b="1" lang="id-ID">
                <a:solidFill>
                  <a:srgbClr val="00499D"/>
                </a:solidFill>
                <a:latin typeface="Roboto"/>
              </a:rPr>
              <a:t>Badan Nasional Penanggulangan Bencana</a:t>
            </a:r>
          </a:p>
        </p:txBody>
      </p:sp>
      <p:sp>
        <p:nvSpPr>
          <p:cNvPr id="9" name="TextBox 8"/>
          <p:cNvSpPr txBox="1"/>
          <p:nvPr/>
        </p:nvSpPr>
        <p:spPr>
          <a:xfrm>
            <a:off x="548640" y="4241800"/>
            <a:ext cx="5669280" cy="640080"/>
          </a:xfrm>
          <a:prstGeom prst="rect">
            <a:avLst/>
          </a:prstGeom>
          <a:noFill/>
        </p:spPr>
        <p:txBody>
          <a:bodyPr wrap="square" lIns="0" tIns="0" rIns="0" bIns="0" anchor="t">
            <a:noAutofit/>
          </a:bodyPr>
          <a:lstStyle/>
          <a:p>
            <a:pPr algn="l"/>
            <a:r>
              <a:rPr sz="1490" b="0" lang="id-ID">
                <a:solidFill>
                  <a:srgbClr val="2E3440"/>
                </a:solidFill>
                <a:latin typeface="Roboto"/>
              </a:rPr>
              <a:t>Pertemuan dengan Perwakilan Malaysia</a:t>
            </a:r>
          </a:p>
        </p:txBody>
      </p:sp>
      <p:sp>
        <p:nvSpPr>
          <p:cNvPr id="10" name="Rounded Rectangle 9"/>
          <p:cNvSpPr/>
          <p:nvPr/>
        </p:nvSpPr>
        <p:spPr>
          <a:xfrm>
            <a:off x="548640" y="4690999"/>
            <a:ext cx="2926080" cy="383540"/>
          </a:xfrm>
          <a:prstGeom prst="roundRect">
            <a:avLst>
              <a:gd name="adj" fmla="val 50000"/>
            </a:avLst>
          </a:prstGeom>
          <a:solidFill>
            <a:srgbClr val="051C2C"/>
          </a:solidFill>
          <a:ln>
            <a:noFill/>
          </a:ln>
        </p:spPr>
        <p:txBody>
          <a:bodyPr rtlCol="0" anchor="ctr" wrap="none" lIns="0" tIns="0" rIns="0" bIns="0">
            <a:noAutofit/>
          </a:bodyPr>
          <a:lstStyle/>
          <a:p>
            <a:pPr algn="ctr"/>
            <a:r>
              <a:rPr sz="1260" b="1" lang="id-ID">
                <a:solidFill>
                  <a:srgbClr val="FFFFFF"/>
                </a:solidFill>
                <a:latin typeface="Roboto"/>
              </a:rPr>
              <a:t>Selasa, 27 Oktober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274320"/>
            <a:ext cx="10454335" cy="603504"/>
          </a:xfrm>
          <a:prstGeom prst="rect">
            <a:avLst/>
          </a:prstGeom>
          <a:noFill/>
          <a:ln/>
        </p:spPr>
        <p:txBody>
          <a:bodyPr wrap="square" lIns="0" tIns="0" rIns="0" bIns="0" rtlCol="0" anchor="b"/>
          <a:lstStyle/>
          <a:p>
            <a:pPr indent="0" marL="0">
              <a:lnSpc>
                <a:spcPct val="95000"/>
              </a:lnSpc>
              <a:buNone/>
            </a:pPr>
            <a:r>
              <a:rPr lang="en-US" sz="2184" b="1" dirty="0">
                <a:solidFill>
                  <a:srgbClr val="1A1A1A"/>
                </a:solidFill>
                <a:latin typeface="Roboto" pitchFamily="34" charset="0"/>
                <a:ea typeface="Roboto" pitchFamily="34" charset="-122"/>
                <a:cs typeface="Roboto" pitchFamily="34" charset="-120"/>
              </a:rPr>
              <a:t>Operasi Penanganan Karhutla yang Dilakukan per Tanggal </a:t>
            </a:r>
            <a:pPr indent="0" marL="0">
              <a:lnSpc>
                <a:spcPct val="95000"/>
              </a:lnSpc>
              <a:buNone/>
            </a:pPr>
            <a:r>
              <a:rPr lang="en-US" sz="2184" b="1" dirty="0">
                <a:solidFill>
                  <a:srgbClr val="1A1A1A"/>
                </a:solidFill>
                <a:latin typeface="Roboto" pitchFamily="34" charset="0"/>
                <a:ea typeface="Roboto" pitchFamily="34" charset="-122"/>
                <a:cs typeface="Roboto" pitchFamily="34" charset="-120"/>
              </a:rPr>
              <a:t>25</a:t>
            </a:r>
            <a:pPr indent="0" marL="0">
              <a:lnSpc>
                <a:spcPct val="95000"/>
              </a:lnSpc>
              <a:buNone/>
            </a:pPr>
            <a:r>
              <a:rPr lang="en-US" sz="2184" b="1" dirty="0">
                <a:solidFill>
                  <a:srgbClr val="1A1A1A"/>
                </a:solidFill>
                <a:latin typeface="Roboto" pitchFamily="34" charset="0"/>
                <a:ea typeface="Roboto" pitchFamily="34" charset="-122"/>
                <a:cs typeface="Roboto" pitchFamily="34" charset="-120"/>
              </a:rPr>
              <a:t> Oktober </a:t>
            </a:r>
            <a:pPr indent="0" marL="0">
              <a:lnSpc>
                <a:spcPct val="95000"/>
              </a:lnSpc>
              <a:buNone/>
            </a:pPr>
            <a:r>
              <a:rPr lang="en-US" sz="2184" b="1" dirty="0">
                <a:solidFill>
                  <a:srgbClr val="1A1A1A"/>
                </a:solidFill>
                <a:latin typeface="Roboto" pitchFamily="34" charset="0"/>
                <a:ea typeface="Roboto" pitchFamily="34" charset="-122"/>
                <a:cs typeface="Roboto" pitchFamily="34" charset="-120"/>
              </a:rPr>
              <a:t>2026</a:t>
            </a:r>
            <a:endParaRPr lang="en-US" sz="2184" dirty="0"/>
          </a:p>
        </p:txBody>
      </p:sp>
      <p:sp>
        <p:nvSpPr>
          <p:cNvPr id="3" name="Text 1"/>
          <p:cNvSpPr txBox="1"/>
          <p:nvPr/>
        </p:nvSpPr>
        <p:spPr>
          <a:xfrm>
            <a:off x="548640" y="905256"/>
            <a:ext cx="10454335" cy="256032"/>
          </a:xfrm>
          <a:prstGeom prst="rect">
            <a:avLst/>
          </a:prstGeom>
          <a:noFill/>
          <a:ln/>
        </p:spPr>
        <p:txBody>
          <a:bodyPr wrap="square" lIns="0" tIns="0" rIns="0" bIns="0" rtlCol="0" anchor="b"/>
          <a:lstStyle/>
          <a:p>
            <a:pPr indent="0" marL="0">
              <a:buNone/>
            </a:pPr>
            <a:r>
              <a:rPr lang="en-US" sz="1200" b="1" dirty="0">
                <a:solidFill>
                  <a:srgbClr val="D9600B"/>
                </a:solidFill>
                <a:latin typeface="Roboto" pitchFamily="34" charset="0"/>
                <a:ea typeface="Roboto" pitchFamily="34" charset="-122"/>
                <a:cs typeface="Roboto" pitchFamily="34" charset="-120"/>
              </a:rPr>
              <a:t>71.878</a:t>
            </a:r>
            <a:pPr indent="0" marL="0">
              <a:buNone/>
            </a:pPr>
            <a:r>
              <a:rPr lang="en-US" sz="1200" dirty="0">
                <a:solidFill>
                  <a:srgbClr val="1A1A1A"/>
                </a:solidFill>
                <a:latin typeface="Roboto" pitchFamily="34" charset="0"/>
                <a:ea typeface="Roboto" pitchFamily="34" charset="-122"/>
                <a:cs typeface="Roboto" pitchFamily="34" charset="-120"/>
              </a:rPr>
              <a:t> personel darat, </a:t>
            </a:r>
            <a:pPr indent="0" marL="0">
              <a:buNone/>
            </a:pPr>
            <a:r>
              <a:rPr lang="en-US" sz="1200" b="1" dirty="0">
                <a:solidFill>
                  <a:srgbClr val="D9600B"/>
                </a:solidFill>
                <a:latin typeface="Roboto" pitchFamily="34" charset="0"/>
                <a:ea typeface="Roboto" pitchFamily="34" charset="-122"/>
                <a:cs typeface="Roboto" pitchFamily="34" charset="-120"/>
              </a:rPr>
              <a:t>63</a:t>
            </a:r>
            <a:pPr indent="0" marL="0">
              <a:buNone/>
            </a:pPr>
            <a:r>
              <a:rPr lang="en-US" sz="1200" dirty="0">
                <a:solidFill>
                  <a:srgbClr val="1A1A1A"/>
                </a:solidFill>
                <a:latin typeface="Roboto" pitchFamily="34" charset="0"/>
                <a:ea typeface="Roboto" pitchFamily="34" charset="-122"/>
                <a:cs typeface="Roboto" pitchFamily="34" charset="-120"/>
              </a:rPr>
              <a:t> armada udara, dan OMC di </a:t>
            </a:r>
            <a:pPr indent="0" marL="0">
              <a:buNone/>
            </a:pPr>
            <a:r>
              <a:rPr lang="en-US" sz="1200" b="1" dirty="0">
                <a:solidFill>
                  <a:srgbClr val="D9600B"/>
                </a:solidFill>
                <a:latin typeface="Roboto" pitchFamily="34" charset="0"/>
                <a:ea typeface="Roboto" pitchFamily="34" charset="-122"/>
                <a:cs typeface="Roboto" pitchFamily="34" charset="-120"/>
              </a:rPr>
              <a:t>3 provinsi</a:t>
            </a:r>
            <a:pPr indent="0" marL="0">
              <a:buNone/>
            </a:pPr>
            <a:r>
              <a:rPr lang="en-US" sz="1200" dirty="0">
                <a:solidFill>
                  <a:srgbClr val="1A1A1A"/>
                </a:solidFill>
                <a:latin typeface="Roboto" pitchFamily="34" charset="0"/>
                <a:ea typeface="Roboto" pitchFamily="34" charset="-122"/>
                <a:cs typeface="Roboto" pitchFamily="34" charset="-120"/>
              </a:rPr>
              <a:t> dengan hujan dilaporkan di </a:t>
            </a:r>
            <a:pPr indent="0" marL="0">
              <a:buNone/>
            </a:pPr>
            <a:r>
              <a:rPr lang="en-US" sz="1200" b="1" dirty="0">
                <a:solidFill>
                  <a:srgbClr val="D9600B"/>
                </a:solidFill>
                <a:latin typeface="Roboto" pitchFamily="34" charset="0"/>
                <a:ea typeface="Roboto" pitchFamily="34" charset="-122"/>
                <a:cs typeface="Roboto" pitchFamily="34" charset="-120"/>
              </a:rPr>
              <a:t>6 provinsi</a:t>
            </a:r>
            <a:endParaRPr lang="en-US" sz="1200" dirty="0"/>
          </a:p>
        </p:txBody>
      </p:sp>
      <p:sp>
        <p:nvSpPr>
          <p:cNvPr id="4" name="Shape 2"/>
          <p:cNvSpPr/>
          <p:nvPr/>
        </p:nvSpPr>
        <p:spPr>
          <a:xfrm>
            <a:off x="548640" y="1207008"/>
            <a:ext cx="11094415" cy="0"/>
          </a:xfrm>
          <a:prstGeom prst="line">
            <a:avLst/>
          </a:prstGeom>
          <a:noFill/>
          <a:ln w="9525">
            <a:solidFill>
              <a:srgbClr val="1A1A1A"/>
            </a:solidFill>
            <a:prstDash val="solid"/>
          </a:ln>
        </p:spPr>
        <p:txBody>
          <a:bodyPr/>
          <a:p/>
        </p:txBody>
      </p:sp>
      <p:sp>
        <p:nvSpPr>
          <p:cNvPr id="5" name="Shape 3"/>
          <p:cNvSpPr/>
          <p:nvPr/>
        </p:nvSpPr>
        <p:spPr>
          <a:xfrm>
            <a:off x="548640" y="6446520"/>
            <a:ext cx="11094415" cy="0"/>
          </a:xfrm>
          <a:prstGeom prst="line">
            <a:avLst/>
          </a:prstGeom>
          <a:noFill/>
          <a:ln w="9525">
            <a:solidFill>
              <a:srgbClr val="1A1A1A"/>
            </a:solidFill>
            <a:prstDash val="solid"/>
          </a:ln>
        </p:spPr>
        <p:txBody>
          <a:bodyPr/>
          <a:p/>
        </p:txBody>
      </p:sp>
      <p:pic>
        <p:nvPicPr>
          <p:cNvPr id="6" name="Image 0" descr="preencoded.png">    </p:cNvPr>
          <p:cNvPicPr>
            <a:picLocks noChangeAspect="1"/>
          </p:cNvPicPr>
          <p:nvPr/>
        </p:nvPicPr>
        <p:blipFill>
          <a:blip r:embed="rId2"/>
          <a:stretch>
            <a:fillRect/>
          </a:stretch>
        </p:blipFill>
        <p:spPr>
          <a:xfrm>
            <a:off x="11295583" y="365760"/>
            <a:ext cx="347472" cy="438912"/>
          </a:xfrm>
          <a:prstGeom prst="rect">
            <a:avLst/>
          </a:prstGeom>
        </p:spPr>
      </p:pic>
      <p:sp>
        <p:nvSpPr>
          <p:cNvPr id="7" name="Text 4"/>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8" name="Text 5"/>
          <p:cNvSpPr txBox="1"/>
          <p:nvPr/>
        </p:nvSpPr>
        <p:spPr>
          <a:xfrm>
            <a:off x="11094415" y="5806723"/>
            <a:ext cx="548640" cy="161969"/>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3</a:t>
            </a:r>
            <a:endParaRPr lang="en-US" sz="850" dirty="0"/>
          </a:p>
        </p:txBody>
      </p:sp>
      <p:sp>
        <p:nvSpPr>
          <p:cNvPr id="9" name="Shape 6"/>
          <p:cNvSpPr/>
          <p:nvPr/>
        </p:nvSpPr>
        <p:spPr>
          <a:xfrm>
            <a:off x="548640" y="1325880"/>
            <a:ext cx="7116775" cy="749808"/>
          </a:xfrm>
          <a:prstGeom prst="roundRect">
            <a:avLst>
              <a:gd name="adj" fmla="val 9756"/>
            </a:avLst>
          </a:prstGeom>
          <a:solidFill>
            <a:srgbClr val="FFFFFF"/>
          </a:solidFill>
          <a:ln w="9525">
            <a:solidFill>
              <a:srgbClr val="BFC5CC"/>
            </a:solidFill>
            <a:prstDash val="solid"/>
          </a:ln>
        </p:spPr>
        <p:txBody>
          <a:bodyPr/>
          <a:p/>
        </p:txBody>
      </p:sp>
      <p:sp>
        <p:nvSpPr>
          <p:cNvPr id="10" name="Shape 7"/>
          <p:cNvSpPr/>
          <p:nvPr/>
        </p:nvSpPr>
        <p:spPr>
          <a:xfrm>
            <a:off x="676656" y="1508760"/>
            <a:ext cx="384048" cy="384048"/>
          </a:xfrm>
          <a:prstGeom prst="ellipse">
            <a:avLst/>
          </a:prstGeom>
          <a:solidFill>
            <a:srgbClr val="051C2C"/>
          </a:solidFill>
          <a:ln/>
        </p:spPr>
        <p:txBody>
          <a:bodyPr/>
          <a:p/>
        </p:txBody>
      </p:sp>
      <p:pic>
        <p:nvPicPr>
          <p:cNvPr id="11" name="Image 1" descr="preencoded.png">    </p:cNvPr>
          <p:cNvPicPr>
            <a:picLocks noChangeAspect="1"/>
          </p:cNvPicPr>
          <p:nvPr/>
        </p:nvPicPr>
        <p:blipFill>
          <a:blip r:embed="rId3"/>
          <a:stretch>
            <a:fillRect/>
          </a:stretch>
        </p:blipFill>
        <p:spPr>
          <a:xfrm>
            <a:off x="768096" y="1600200"/>
            <a:ext cx="201168" cy="201168"/>
          </a:xfrm>
          <a:prstGeom prst="rect">
            <a:avLst/>
          </a:prstGeom>
        </p:spPr>
      </p:pic>
      <p:sp>
        <p:nvSpPr>
          <p:cNvPr id="12" name="Text 8"/>
          <p:cNvSpPr txBox="1"/>
          <p:nvPr/>
        </p:nvSpPr>
        <p:spPr>
          <a:xfrm>
            <a:off x="1152144" y="1399032"/>
            <a:ext cx="1828800" cy="164592"/>
          </a:xfrm>
          <a:prstGeom prst="rect">
            <a:avLst/>
          </a:prstGeom>
          <a:noFill/>
          <a:ln/>
        </p:spPr>
        <p:txBody>
          <a:bodyPr wrap="square" lIns="0" tIns="0" rIns="0" bIns="0" rtlCol="0" anchor="t"/>
          <a:lstStyle/>
          <a:p>
            <a:pPr indent="0" marL="0">
              <a:buNone/>
            </a:pPr>
            <a:r>
              <a:rPr lang="en-US" sz="700" b="1" spc="100" kern="0" dirty="0">
                <a:solidFill>
                  <a:srgbClr val="051C2C"/>
                </a:solidFill>
                <a:latin typeface="Roboto" pitchFamily="34" charset="0"/>
                <a:ea typeface="Roboto" pitchFamily="34" charset="-122"/>
                <a:cs typeface="Roboto" pitchFamily="34" charset="-120"/>
              </a:rPr>
              <a:t>PENANGANAN</a:t>
            </a:r>
            <a:endParaRPr lang="en-US" sz="700" dirty="0"/>
          </a:p>
        </p:txBody>
      </p:sp>
      <p:pic>
        <p:nvPicPr>
          <p:cNvPr id="13" name="Image 2" descr="preencoded.png">    </p:cNvPr>
          <p:cNvPicPr>
            <a:picLocks noChangeAspect="1"/>
          </p:cNvPicPr>
          <p:nvPr/>
        </p:nvPicPr>
        <p:blipFill>
          <a:blip r:embed="rId4"/>
          <a:stretch>
            <a:fillRect/>
          </a:stretch>
        </p:blipFill>
        <p:spPr>
          <a:xfrm>
            <a:off x="1152144" y="1655064"/>
            <a:ext cx="146304" cy="146304"/>
          </a:xfrm>
          <a:prstGeom prst="rect">
            <a:avLst/>
          </a:prstGeom>
        </p:spPr>
      </p:pic>
      <p:sp>
        <p:nvSpPr>
          <p:cNvPr id="14" name="Text 9"/>
          <p:cNvSpPr txBox="1"/>
          <p:nvPr/>
        </p:nvSpPr>
        <p:spPr>
          <a:xfrm>
            <a:off x="1335024" y="1572768"/>
            <a:ext cx="822960" cy="274320"/>
          </a:xfrm>
          <a:prstGeom prst="rect">
            <a:avLst/>
          </a:prstGeom>
          <a:noFill/>
          <a:ln/>
        </p:spPr>
        <p:txBody>
          <a:bodyPr wrap="square" lIns="0" tIns="0" rIns="0" bIns="0" rtlCol="0" anchor="ctr"/>
          <a:lstStyle/>
          <a:p>
            <a:pPr indent="0" marL="0">
              <a:buNone/>
            </a:pPr>
            <a:r>
              <a:rPr lang="en-US" sz="1400" b="1" dirty="0">
                <a:solidFill>
                  <a:srgbClr val="051C2C"/>
                </a:solidFill>
                <a:latin typeface="Roboto" pitchFamily="34" charset="0"/>
                <a:ea typeface="Roboto" pitchFamily="34" charset="-122"/>
                <a:cs typeface="Roboto" pitchFamily="34" charset="-120"/>
              </a:rPr>
              <a:t>71.878</a:t>
            </a:r>
            <a:endParaRPr lang="en-US" sz="1400" dirty="0"/>
          </a:p>
        </p:txBody>
      </p:sp>
      <p:sp>
        <p:nvSpPr>
          <p:cNvPr id="15" name="Text 10"/>
          <p:cNvSpPr txBox="1"/>
          <p:nvPr/>
        </p:nvSpPr>
        <p:spPr>
          <a:xfrm>
            <a:off x="1152144" y="1847088"/>
            <a:ext cx="1005840" cy="146304"/>
          </a:xfrm>
          <a:prstGeom prst="rect">
            <a:avLst/>
          </a:prstGeom>
          <a:noFill/>
          <a:ln/>
        </p:spPr>
        <p:txBody>
          <a:bodyPr wrap="square" lIns="0" tIns="0" rIns="0" bIns="0" rtlCol="0" anchor="t"/>
          <a:lstStyle/>
          <a:p>
            <a:pPr indent="0" marL="0">
              <a:buNone/>
            </a:pPr>
            <a:r>
              <a:rPr lang="en-US" sz="650" dirty="0">
                <a:solidFill>
                  <a:srgbClr val="2E3440"/>
                </a:solidFill>
                <a:latin typeface="Roboto" pitchFamily="34" charset="0"/>
                <a:ea typeface="Roboto" pitchFamily="34" charset="-122"/>
                <a:cs typeface="Roboto" pitchFamily="34" charset="-120"/>
              </a:rPr>
              <a:t>personel darat</a:t>
            </a:r>
            <a:endParaRPr lang="en-US" sz="650" dirty="0"/>
          </a:p>
        </p:txBody>
      </p:sp>
      <p:pic>
        <p:nvPicPr>
          <p:cNvPr id="16" name="Image 3" descr="preencoded.png">    </p:cNvPr>
          <p:cNvPicPr>
            <a:picLocks noChangeAspect="1"/>
          </p:cNvPicPr>
          <p:nvPr/>
        </p:nvPicPr>
        <p:blipFill>
          <a:blip r:embed="rId5"/>
          <a:stretch>
            <a:fillRect/>
          </a:stretch>
        </p:blipFill>
        <p:spPr>
          <a:xfrm>
            <a:off x="2020824" y="1655064"/>
            <a:ext cx="146304" cy="146304"/>
          </a:xfrm>
          <a:prstGeom prst="rect">
            <a:avLst/>
          </a:prstGeom>
        </p:spPr>
      </p:pic>
      <p:sp>
        <p:nvSpPr>
          <p:cNvPr id="17" name="Text 11"/>
          <p:cNvSpPr txBox="1"/>
          <p:nvPr/>
        </p:nvSpPr>
        <p:spPr>
          <a:xfrm>
            <a:off x="2203704" y="1572768"/>
            <a:ext cx="822960" cy="274320"/>
          </a:xfrm>
          <a:prstGeom prst="rect">
            <a:avLst/>
          </a:prstGeom>
          <a:noFill/>
          <a:ln/>
        </p:spPr>
        <p:txBody>
          <a:bodyPr wrap="square" lIns="0" tIns="0" rIns="0" bIns="0" rtlCol="0" anchor="ctr"/>
          <a:lstStyle/>
          <a:p>
            <a:pPr indent="0" marL="0">
              <a:buNone/>
            </a:pPr>
            <a:r>
              <a:rPr lang="en-US" sz="1400" b="1" dirty="0">
                <a:solidFill>
                  <a:srgbClr val="051C2C"/>
                </a:solidFill>
                <a:latin typeface="Roboto" pitchFamily="34" charset="0"/>
                <a:ea typeface="Roboto" pitchFamily="34" charset="-122"/>
                <a:cs typeface="Roboto" pitchFamily="34" charset="-120"/>
              </a:rPr>
              <a:t>39</a:t>
            </a:r>
            <a:endParaRPr lang="en-US" sz="1400" dirty="0"/>
          </a:p>
        </p:txBody>
      </p:sp>
      <p:sp>
        <p:nvSpPr>
          <p:cNvPr id="18" name="Text 12"/>
          <p:cNvSpPr txBox="1"/>
          <p:nvPr/>
        </p:nvSpPr>
        <p:spPr>
          <a:xfrm>
            <a:off x="2020824" y="1847088"/>
            <a:ext cx="1005840" cy="146304"/>
          </a:xfrm>
          <a:prstGeom prst="rect">
            <a:avLst/>
          </a:prstGeom>
          <a:noFill/>
          <a:ln/>
        </p:spPr>
        <p:txBody>
          <a:bodyPr wrap="square" lIns="0" tIns="0" rIns="0" bIns="0" rtlCol="0" anchor="t"/>
          <a:lstStyle/>
          <a:p>
            <a:pPr indent="0" marL="0">
              <a:buNone/>
            </a:pPr>
            <a:r>
              <a:rPr lang="en-US" sz="650" dirty="0">
                <a:solidFill>
                  <a:srgbClr val="2E3440"/>
                </a:solidFill>
                <a:latin typeface="Roboto" pitchFamily="34" charset="0"/>
                <a:ea typeface="Roboto" pitchFamily="34" charset="-122"/>
                <a:cs typeface="Roboto" pitchFamily="34" charset="-120"/>
              </a:rPr>
              <a:t>heli water bombing</a:t>
            </a:r>
            <a:endParaRPr lang="en-US" sz="650" dirty="0"/>
          </a:p>
        </p:txBody>
      </p:sp>
      <p:pic>
        <p:nvPicPr>
          <p:cNvPr id="19" name="Image 4" descr="preencoded.png">    </p:cNvPr>
          <p:cNvPicPr>
            <a:picLocks noChangeAspect="1"/>
          </p:cNvPicPr>
          <p:nvPr/>
        </p:nvPicPr>
        <p:blipFill>
          <a:blip r:embed="rId6"/>
          <a:stretch>
            <a:fillRect/>
          </a:stretch>
        </p:blipFill>
        <p:spPr>
          <a:xfrm>
            <a:off x="2889504" y="1655064"/>
            <a:ext cx="146304" cy="146304"/>
          </a:xfrm>
          <a:prstGeom prst="rect">
            <a:avLst/>
          </a:prstGeom>
        </p:spPr>
      </p:pic>
      <p:sp>
        <p:nvSpPr>
          <p:cNvPr id="20" name="Text 13"/>
          <p:cNvSpPr txBox="1"/>
          <p:nvPr/>
        </p:nvSpPr>
        <p:spPr>
          <a:xfrm>
            <a:off x="3072384" y="1572768"/>
            <a:ext cx="822960" cy="274320"/>
          </a:xfrm>
          <a:prstGeom prst="rect">
            <a:avLst/>
          </a:prstGeom>
          <a:noFill/>
          <a:ln/>
        </p:spPr>
        <p:txBody>
          <a:bodyPr wrap="square" lIns="0" tIns="0" rIns="0" bIns="0" rtlCol="0" anchor="ctr"/>
          <a:lstStyle/>
          <a:p>
            <a:pPr indent="0" marL="0">
              <a:buNone/>
            </a:pPr>
            <a:r>
              <a:rPr lang="en-US" sz="1400" b="1" dirty="0">
                <a:solidFill>
                  <a:srgbClr val="051C2C"/>
                </a:solidFill>
                <a:latin typeface="Roboto" pitchFamily="34" charset="0"/>
                <a:ea typeface="Roboto" pitchFamily="34" charset="-122"/>
                <a:cs typeface="Roboto" pitchFamily="34" charset="-120"/>
              </a:rPr>
              <a:t>24</a:t>
            </a:r>
            <a:endParaRPr lang="en-US" sz="1400" dirty="0"/>
          </a:p>
        </p:txBody>
      </p:sp>
      <p:sp>
        <p:nvSpPr>
          <p:cNvPr id="21" name="Text 14"/>
          <p:cNvSpPr txBox="1"/>
          <p:nvPr/>
        </p:nvSpPr>
        <p:spPr>
          <a:xfrm>
            <a:off x="2889504" y="1847088"/>
            <a:ext cx="1005840" cy="146304"/>
          </a:xfrm>
          <a:prstGeom prst="rect">
            <a:avLst/>
          </a:prstGeom>
          <a:noFill/>
          <a:ln/>
        </p:spPr>
        <p:txBody>
          <a:bodyPr wrap="square" lIns="0" tIns="0" rIns="0" bIns="0" rtlCol="0" anchor="t"/>
          <a:lstStyle/>
          <a:p>
            <a:pPr indent="0" marL="0">
              <a:buNone/>
            </a:pPr>
            <a:r>
              <a:rPr lang="en-US" sz="650" dirty="0">
                <a:solidFill>
                  <a:srgbClr val="2E3440"/>
                </a:solidFill>
                <a:latin typeface="Roboto" pitchFamily="34" charset="0"/>
                <a:ea typeface="Roboto" pitchFamily="34" charset="-122"/>
                <a:cs typeface="Roboto" pitchFamily="34" charset="-120"/>
              </a:rPr>
              <a:t>pesawat patroli/OMC</a:t>
            </a:r>
            <a:endParaRPr lang="en-US" sz="650" dirty="0"/>
          </a:p>
        </p:txBody>
      </p:sp>
      <p:sp>
        <p:nvSpPr>
          <p:cNvPr id="22" name="Shape 15"/>
          <p:cNvSpPr/>
          <p:nvPr/>
        </p:nvSpPr>
        <p:spPr>
          <a:xfrm>
            <a:off x="3749040" y="1417320"/>
            <a:ext cx="0" cy="566928"/>
          </a:xfrm>
          <a:prstGeom prst="line">
            <a:avLst/>
          </a:prstGeom>
          <a:noFill/>
          <a:ln w="9525">
            <a:solidFill>
              <a:srgbClr val="E5E7EB"/>
            </a:solidFill>
            <a:prstDash val="solid"/>
          </a:ln>
        </p:spPr>
        <p:txBody>
          <a:bodyPr/>
          <a:p/>
        </p:txBody>
      </p:sp>
      <p:pic>
        <p:nvPicPr>
          <p:cNvPr id="23" name="Image 5" descr="preencoded.png">    </p:cNvPr>
          <p:cNvPicPr>
            <a:picLocks noChangeAspect="1"/>
          </p:cNvPicPr>
          <p:nvPr/>
        </p:nvPicPr>
        <p:blipFill>
          <a:blip r:embed="rId7"/>
          <a:stretch>
            <a:fillRect/>
          </a:stretch>
        </p:blipFill>
        <p:spPr>
          <a:xfrm>
            <a:off x="3840480" y="1440180"/>
            <a:ext cx="109728" cy="109728"/>
          </a:xfrm>
          <a:prstGeom prst="rect">
            <a:avLst/>
          </a:prstGeom>
        </p:spPr>
      </p:pic>
      <p:sp>
        <p:nvSpPr>
          <p:cNvPr id="24" name="Text 16"/>
          <p:cNvSpPr txBox="1"/>
          <p:nvPr/>
        </p:nvSpPr>
        <p:spPr>
          <a:xfrm>
            <a:off x="3986784" y="1399032"/>
            <a:ext cx="731520" cy="192024"/>
          </a:xfrm>
          <a:prstGeom prst="rect">
            <a:avLst/>
          </a:prstGeom>
          <a:noFill/>
          <a:ln/>
        </p:spPr>
        <p:txBody>
          <a:bodyPr wrap="square" lIns="0" tIns="0" rIns="0" bIns="0" rtlCol="0" anchor="ctr"/>
          <a:lstStyle/>
          <a:p>
            <a:pPr indent="0" marL="0">
              <a:buNone/>
            </a:pPr>
            <a:r>
              <a:rPr lang="en-US" sz="680" b="1" dirty="0">
                <a:solidFill>
                  <a:srgbClr val="D9600B"/>
                </a:solidFill>
                <a:latin typeface="Roboto" pitchFamily="34" charset="0"/>
                <a:ea typeface="Roboto" pitchFamily="34" charset="-122"/>
                <a:cs typeface="Roboto" pitchFamily="34" charset="-120"/>
              </a:rPr>
              <a:t>TNI</a:t>
            </a:r>
            <a:endParaRPr lang="en-US" sz="680" dirty="0"/>
          </a:p>
        </p:txBody>
      </p:sp>
      <p:sp>
        <p:nvSpPr>
          <p:cNvPr id="25" name="Text 17"/>
          <p:cNvSpPr txBox="1"/>
          <p:nvPr/>
        </p:nvSpPr>
        <p:spPr>
          <a:xfrm>
            <a:off x="3840480" y="1399032"/>
            <a:ext cx="1134770" cy="192024"/>
          </a:xfrm>
          <a:prstGeom prst="rect">
            <a:avLst/>
          </a:prstGeom>
          <a:noFill/>
          <a:ln/>
        </p:spPr>
        <p:txBody>
          <a:bodyPr wrap="square" lIns="0" tIns="0" rIns="0" bIns="0" rtlCol="0" anchor="ctr"/>
          <a:lstStyle/>
          <a:p>
            <a:pPr algn="r" indent="0" marL="0">
              <a:buNone/>
            </a:pPr>
            <a:r>
              <a:rPr lang="en-US" sz="800" b="1" dirty="0">
                <a:solidFill>
                  <a:srgbClr val="D9600B"/>
                </a:solidFill>
                <a:latin typeface="Roboto" pitchFamily="34" charset="0"/>
                <a:ea typeface="Roboto" pitchFamily="34" charset="-122"/>
                <a:cs typeface="Roboto" pitchFamily="34" charset="-120"/>
              </a:rPr>
              <a:t>13.396</a:t>
            </a:r>
            <a:pPr algn="r" indent="0" marL="0">
              <a:buNone/>
            </a:pPr>
            <a:r>
              <a:rPr lang="en-US" sz="650" dirty="0">
                <a:solidFill>
                  <a:srgbClr val="6B7280"/>
                </a:solidFill>
                <a:latin typeface="Roboto" pitchFamily="34" charset="0"/>
                <a:ea typeface="Roboto" pitchFamily="34" charset="-122"/>
                <a:cs typeface="Roboto" pitchFamily="34" charset="-120"/>
              </a:rPr>
              <a:t>  20%</a:t>
            </a:r>
            <a:endParaRPr lang="en-US" sz="1200" dirty="0"/>
          </a:p>
        </p:txBody>
      </p:sp>
      <p:pic>
        <p:nvPicPr>
          <p:cNvPr id="26" name="Image 6" descr="preencoded.png">    </p:cNvPr>
          <p:cNvPicPr>
            <a:picLocks noChangeAspect="1"/>
          </p:cNvPicPr>
          <p:nvPr/>
        </p:nvPicPr>
        <p:blipFill>
          <a:blip r:embed="rId8"/>
          <a:stretch>
            <a:fillRect/>
          </a:stretch>
        </p:blipFill>
        <p:spPr>
          <a:xfrm>
            <a:off x="3840480" y="1645920"/>
            <a:ext cx="109728" cy="109728"/>
          </a:xfrm>
          <a:prstGeom prst="rect">
            <a:avLst/>
          </a:prstGeom>
        </p:spPr>
      </p:pic>
      <p:sp>
        <p:nvSpPr>
          <p:cNvPr id="27" name="Text 18"/>
          <p:cNvSpPr txBox="1"/>
          <p:nvPr/>
        </p:nvSpPr>
        <p:spPr>
          <a:xfrm>
            <a:off x="3986784" y="160477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BPBD</a:t>
            </a:r>
            <a:endParaRPr lang="en-US" sz="680" dirty="0"/>
          </a:p>
        </p:txBody>
      </p:sp>
      <p:sp>
        <p:nvSpPr>
          <p:cNvPr id="28" name="Text 19"/>
          <p:cNvSpPr txBox="1"/>
          <p:nvPr/>
        </p:nvSpPr>
        <p:spPr>
          <a:xfrm>
            <a:off x="3840480" y="160477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11.231</a:t>
            </a:r>
            <a:pPr algn="r" indent="0" marL="0">
              <a:buNone/>
            </a:pPr>
            <a:r>
              <a:rPr lang="en-US" sz="650" dirty="0">
                <a:solidFill>
                  <a:srgbClr val="6B7280"/>
                </a:solidFill>
                <a:latin typeface="Roboto" pitchFamily="34" charset="0"/>
                <a:ea typeface="Roboto" pitchFamily="34" charset="-122"/>
                <a:cs typeface="Roboto" pitchFamily="34" charset="-120"/>
              </a:rPr>
              <a:t>  17%</a:t>
            </a:r>
            <a:endParaRPr lang="en-US" sz="1200" dirty="0"/>
          </a:p>
        </p:txBody>
      </p:sp>
      <p:pic>
        <p:nvPicPr>
          <p:cNvPr id="29" name="Image 7" descr="preencoded.png">    </p:cNvPr>
          <p:cNvPicPr>
            <a:picLocks noChangeAspect="1"/>
          </p:cNvPicPr>
          <p:nvPr/>
        </p:nvPicPr>
        <p:blipFill>
          <a:blip r:embed="rId9"/>
          <a:stretch>
            <a:fillRect/>
          </a:stretch>
        </p:blipFill>
        <p:spPr>
          <a:xfrm>
            <a:off x="3840480" y="1851660"/>
            <a:ext cx="109728" cy="109728"/>
          </a:xfrm>
          <a:prstGeom prst="rect">
            <a:avLst/>
          </a:prstGeom>
        </p:spPr>
      </p:pic>
      <p:sp>
        <p:nvSpPr>
          <p:cNvPr id="30" name="Text 20"/>
          <p:cNvSpPr txBox="1"/>
          <p:nvPr/>
        </p:nvSpPr>
        <p:spPr>
          <a:xfrm>
            <a:off x="3986784" y="181051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Polri</a:t>
            </a:r>
            <a:endParaRPr lang="en-US" sz="680" dirty="0"/>
          </a:p>
        </p:txBody>
      </p:sp>
      <p:sp>
        <p:nvSpPr>
          <p:cNvPr id="31" name="Text 21"/>
          <p:cNvSpPr txBox="1"/>
          <p:nvPr/>
        </p:nvSpPr>
        <p:spPr>
          <a:xfrm>
            <a:off x="3840480" y="181051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10.446</a:t>
            </a:r>
            <a:pPr algn="r" indent="0" marL="0">
              <a:buNone/>
            </a:pPr>
            <a:r>
              <a:rPr lang="en-US" sz="650" dirty="0">
                <a:solidFill>
                  <a:srgbClr val="6B7280"/>
                </a:solidFill>
                <a:latin typeface="Roboto" pitchFamily="34" charset="0"/>
                <a:ea typeface="Roboto" pitchFamily="34" charset="-122"/>
                <a:cs typeface="Roboto" pitchFamily="34" charset="-120"/>
              </a:rPr>
              <a:t>  16%</a:t>
            </a:r>
            <a:endParaRPr lang="en-US" sz="1200" dirty="0"/>
          </a:p>
        </p:txBody>
      </p:sp>
      <p:pic>
        <p:nvPicPr>
          <p:cNvPr id="32" name="Image 8" descr="preencoded.png">    </p:cNvPr>
          <p:cNvPicPr>
            <a:picLocks noChangeAspect="1"/>
          </p:cNvPicPr>
          <p:nvPr/>
        </p:nvPicPr>
        <p:blipFill>
          <a:blip r:embed="rId10"/>
          <a:stretch>
            <a:fillRect/>
          </a:stretch>
        </p:blipFill>
        <p:spPr>
          <a:xfrm>
            <a:off x="5084978" y="1440180"/>
            <a:ext cx="109728" cy="109728"/>
          </a:xfrm>
          <a:prstGeom prst="rect">
            <a:avLst/>
          </a:prstGeom>
        </p:spPr>
      </p:pic>
      <p:sp>
        <p:nvSpPr>
          <p:cNvPr id="33" name="Text 22"/>
          <p:cNvSpPr txBox="1"/>
          <p:nvPr/>
        </p:nvSpPr>
        <p:spPr>
          <a:xfrm>
            <a:off x="5231282" y="139903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Swasta</a:t>
            </a:r>
            <a:endParaRPr lang="en-US" sz="680" dirty="0"/>
          </a:p>
        </p:txBody>
      </p:sp>
      <p:sp>
        <p:nvSpPr>
          <p:cNvPr id="34" name="Text 23"/>
          <p:cNvSpPr txBox="1"/>
          <p:nvPr/>
        </p:nvSpPr>
        <p:spPr>
          <a:xfrm>
            <a:off x="5084978" y="139903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8.950</a:t>
            </a:r>
            <a:pPr algn="r" indent="0" marL="0">
              <a:buNone/>
            </a:pPr>
            <a:r>
              <a:rPr lang="en-US" sz="650" dirty="0">
                <a:solidFill>
                  <a:srgbClr val="6B7280"/>
                </a:solidFill>
                <a:latin typeface="Roboto" pitchFamily="34" charset="0"/>
                <a:ea typeface="Roboto" pitchFamily="34" charset="-122"/>
                <a:cs typeface="Roboto" pitchFamily="34" charset="-120"/>
              </a:rPr>
              <a:t>  14%</a:t>
            </a:r>
            <a:endParaRPr lang="en-US" sz="1200" dirty="0"/>
          </a:p>
        </p:txBody>
      </p:sp>
      <p:pic>
        <p:nvPicPr>
          <p:cNvPr id="35" name="Image 9" descr="preencoded.png">    </p:cNvPr>
          <p:cNvPicPr>
            <a:picLocks noChangeAspect="1"/>
          </p:cNvPicPr>
          <p:nvPr/>
        </p:nvPicPr>
        <p:blipFill>
          <a:blip r:embed="rId11"/>
          <a:stretch>
            <a:fillRect/>
          </a:stretch>
        </p:blipFill>
        <p:spPr>
          <a:xfrm>
            <a:off x="5084978" y="1645920"/>
            <a:ext cx="109728" cy="109728"/>
          </a:xfrm>
          <a:prstGeom prst="rect">
            <a:avLst/>
          </a:prstGeom>
        </p:spPr>
      </p:pic>
      <p:sp>
        <p:nvSpPr>
          <p:cNvPr id="36" name="Text 24"/>
          <p:cNvSpPr txBox="1"/>
          <p:nvPr/>
        </p:nvSpPr>
        <p:spPr>
          <a:xfrm>
            <a:off x="5231282" y="160477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Relawan</a:t>
            </a:r>
            <a:endParaRPr lang="en-US" sz="680" dirty="0"/>
          </a:p>
        </p:txBody>
      </p:sp>
      <p:sp>
        <p:nvSpPr>
          <p:cNvPr id="37" name="Text 25"/>
          <p:cNvSpPr txBox="1"/>
          <p:nvPr/>
        </p:nvSpPr>
        <p:spPr>
          <a:xfrm>
            <a:off x="5084978" y="160477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8.201</a:t>
            </a:r>
            <a:pPr algn="r" indent="0" marL="0">
              <a:buNone/>
            </a:pPr>
            <a:r>
              <a:rPr lang="en-US" sz="650" dirty="0">
                <a:solidFill>
                  <a:srgbClr val="6B7280"/>
                </a:solidFill>
                <a:latin typeface="Roboto" pitchFamily="34" charset="0"/>
                <a:ea typeface="Roboto" pitchFamily="34" charset="-122"/>
                <a:cs typeface="Roboto" pitchFamily="34" charset="-120"/>
              </a:rPr>
              <a:t>  13%</a:t>
            </a:r>
            <a:endParaRPr lang="en-US" sz="1200" dirty="0"/>
          </a:p>
        </p:txBody>
      </p:sp>
      <p:pic>
        <p:nvPicPr>
          <p:cNvPr id="38" name="Image 10" descr="preencoded.png">    </p:cNvPr>
          <p:cNvPicPr>
            <a:picLocks noChangeAspect="1"/>
          </p:cNvPicPr>
          <p:nvPr/>
        </p:nvPicPr>
        <p:blipFill>
          <a:blip r:embed="rId12"/>
          <a:stretch>
            <a:fillRect/>
          </a:stretch>
        </p:blipFill>
        <p:spPr>
          <a:xfrm>
            <a:off x="5084978" y="1851660"/>
            <a:ext cx="109728" cy="109728"/>
          </a:xfrm>
          <a:prstGeom prst="rect">
            <a:avLst/>
          </a:prstGeom>
        </p:spPr>
      </p:pic>
      <p:sp>
        <p:nvSpPr>
          <p:cNvPr id="39" name="Text 26"/>
          <p:cNvSpPr txBox="1"/>
          <p:nvPr/>
        </p:nvSpPr>
        <p:spPr>
          <a:xfrm>
            <a:off x="5231282" y="181051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Pemda</a:t>
            </a:r>
            <a:endParaRPr lang="en-US" sz="680" dirty="0"/>
          </a:p>
        </p:txBody>
      </p:sp>
      <p:sp>
        <p:nvSpPr>
          <p:cNvPr id="40" name="Text 27"/>
          <p:cNvSpPr txBox="1"/>
          <p:nvPr/>
        </p:nvSpPr>
        <p:spPr>
          <a:xfrm>
            <a:off x="5084978" y="181051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4.767</a:t>
            </a:r>
            <a:pPr algn="r" indent="0" marL="0">
              <a:buNone/>
            </a:pPr>
            <a:r>
              <a:rPr lang="en-US" sz="650" dirty="0">
                <a:solidFill>
                  <a:srgbClr val="6B7280"/>
                </a:solidFill>
                <a:latin typeface="Roboto" pitchFamily="34" charset="0"/>
                <a:ea typeface="Roboto" pitchFamily="34" charset="-122"/>
                <a:cs typeface="Roboto" pitchFamily="34" charset="-120"/>
              </a:rPr>
              <a:t>  7%</a:t>
            </a:r>
            <a:endParaRPr lang="en-US" sz="1200" dirty="0"/>
          </a:p>
        </p:txBody>
      </p:sp>
      <p:pic>
        <p:nvPicPr>
          <p:cNvPr id="41" name="Image 11" descr="preencoded.png">    </p:cNvPr>
          <p:cNvPicPr>
            <a:picLocks noChangeAspect="1"/>
          </p:cNvPicPr>
          <p:nvPr/>
        </p:nvPicPr>
        <p:blipFill>
          <a:blip r:embed="rId13"/>
          <a:stretch>
            <a:fillRect/>
          </a:stretch>
        </p:blipFill>
        <p:spPr>
          <a:xfrm>
            <a:off x="6329477" y="1440180"/>
            <a:ext cx="109728" cy="109728"/>
          </a:xfrm>
          <a:prstGeom prst="rect">
            <a:avLst/>
          </a:prstGeom>
        </p:spPr>
      </p:pic>
      <p:sp>
        <p:nvSpPr>
          <p:cNvPr id="42" name="Text 28"/>
          <p:cNvSpPr txBox="1"/>
          <p:nvPr/>
        </p:nvSpPr>
        <p:spPr>
          <a:xfrm>
            <a:off x="6475781" y="139903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MPA</a:t>
            </a:r>
            <a:endParaRPr lang="en-US" sz="680" dirty="0"/>
          </a:p>
        </p:txBody>
      </p:sp>
      <p:sp>
        <p:nvSpPr>
          <p:cNvPr id="43" name="Text 29"/>
          <p:cNvSpPr txBox="1"/>
          <p:nvPr/>
        </p:nvSpPr>
        <p:spPr>
          <a:xfrm>
            <a:off x="6329477" y="139903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4.749</a:t>
            </a:r>
            <a:pPr algn="r" indent="0" marL="0">
              <a:buNone/>
            </a:pPr>
            <a:r>
              <a:rPr lang="en-US" sz="650" dirty="0">
                <a:solidFill>
                  <a:srgbClr val="6B7280"/>
                </a:solidFill>
                <a:latin typeface="Roboto" pitchFamily="34" charset="0"/>
                <a:ea typeface="Roboto" pitchFamily="34" charset="-122"/>
                <a:cs typeface="Roboto" pitchFamily="34" charset="-120"/>
              </a:rPr>
              <a:t>  7%</a:t>
            </a:r>
            <a:endParaRPr lang="en-US" sz="1200" dirty="0"/>
          </a:p>
        </p:txBody>
      </p:sp>
      <p:pic>
        <p:nvPicPr>
          <p:cNvPr id="44" name="Image 12" descr="preencoded.png">    </p:cNvPr>
          <p:cNvPicPr>
            <a:picLocks noChangeAspect="1"/>
          </p:cNvPicPr>
          <p:nvPr/>
        </p:nvPicPr>
        <p:blipFill>
          <a:blip r:embed="rId14"/>
          <a:stretch>
            <a:fillRect/>
          </a:stretch>
        </p:blipFill>
        <p:spPr>
          <a:xfrm>
            <a:off x="6329477" y="1645920"/>
            <a:ext cx="109728" cy="109728"/>
          </a:xfrm>
          <a:prstGeom prst="rect">
            <a:avLst/>
          </a:prstGeom>
        </p:spPr>
      </p:pic>
      <p:sp>
        <p:nvSpPr>
          <p:cNvPr id="45" name="Text 30"/>
          <p:cNvSpPr txBox="1"/>
          <p:nvPr/>
        </p:nvSpPr>
        <p:spPr>
          <a:xfrm>
            <a:off x="6475781" y="160477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Kehutanan</a:t>
            </a:r>
            <a:endParaRPr lang="en-US" sz="680" dirty="0"/>
          </a:p>
        </p:txBody>
      </p:sp>
      <p:sp>
        <p:nvSpPr>
          <p:cNvPr id="46" name="Text 31"/>
          <p:cNvSpPr txBox="1"/>
          <p:nvPr/>
        </p:nvSpPr>
        <p:spPr>
          <a:xfrm>
            <a:off x="6329477" y="160477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2.031</a:t>
            </a:r>
            <a:pPr algn="r" indent="0" marL="0">
              <a:buNone/>
            </a:pPr>
            <a:r>
              <a:rPr lang="en-US" sz="650" dirty="0">
                <a:solidFill>
                  <a:srgbClr val="6B7280"/>
                </a:solidFill>
                <a:latin typeface="Roboto" pitchFamily="34" charset="0"/>
                <a:ea typeface="Roboto" pitchFamily="34" charset="-122"/>
                <a:cs typeface="Roboto" pitchFamily="34" charset="-120"/>
              </a:rPr>
              <a:t>  3%</a:t>
            </a:r>
            <a:endParaRPr lang="en-US" sz="1200" dirty="0"/>
          </a:p>
        </p:txBody>
      </p:sp>
      <p:pic>
        <p:nvPicPr>
          <p:cNvPr id="47" name="Image 13" descr="preencoded.png">    </p:cNvPr>
          <p:cNvPicPr>
            <a:picLocks noChangeAspect="1"/>
          </p:cNvPicPr>
          <p:nvPr/>
        </p:nvPicPr>
        <p:blipFill>
          <a:blip r:embed="rId15"/>
          <a:stretch>
            <a:fillRect/>
          </a:stretch>
        </p:blipFill>
        <p:spPr>
          <a:xfrm>
            <a:off x="6329477" y="1851660"/>
            <a:ext cx="109728" cy="109728"/>
          </a:xfrm>
          <a:prstGeom prst="rect">
            <a:avLst/>
          </a:prstGeom>
        </p:spPr>
      </p:pic>
      <p:sp>
        <p:nvSpPr>
          <p:cNvPr id="48" name="Text 32"/>
          <p:cNvSpPr txBox="1"/>
          <p:nvPr/>
        </p:nvSpPr>
        <p:spPr>
          <a:xfrm>
            <a:off x="6475781" y="1810512"/>
            <a:ext cx="731520" cy="192024"/>
          </a:xfrm>
          <a:prstGeom prst="rect">
            <a:avLst/>
          </a:prstGeom>
          <a:noFill/>
          <a:ln/>
        </p:spPr>
        <p:txBody>
          <a:bodyPr wrap="square" lIns="0" tIns="0" rIns="0" bIns="0" rtlCol="0" anchor="ctr"/>
          <a:lstStyle/>
          <a:p>
            <a:pPr indent="0" marL="0">
              <a:buNone/>
            </a:pPr>
            <a:r>
              <a:rPr lang="en-US" sz="680" dirty="0">
                <a:solidFill>
                  <a:srgbClr val="2E3440"/>
                </a:solidFill>
                <a:latin typeface="Roboto" pitchFamily="34" charset="0"/>
                <a:ea typeface="Roboto" pitchFamily="34" charset="-122"/>
                <a:cs typeface="Roboto" pitchFamily="34" charset="-120"/>
              </a:rPr>
              <a:t>M. Agni</a:t>
            </a:r>
            <a:endParaRPr lang="en-US" sz="680" dirty="0"/>
          </a:p>
        </p:txBody>
      </p:sp>
      <p:sp>
        <p:nvSpPr>
          <p:cNvPr id="49" name="Text 33"/>
          <p:cNvSpPr txBox="1"/>
          <p:nvPr/>
        </p:nvSpPr>
        <p:spPr>
          <a:xfrm>
            <a:off x="6329477" y="1810512"/>
            <a:ext cx="1134770" cy="192024"/>
          </a:xfrm>
          <a:prstGeom prst="rect">
            <a:avLst/>
          </a:prstGeom>
          <a:noFill/>
          <a:ln/>
        </p:spPr>
        <p:txBody>
          <a:bodyPr wrap="square" lIns="0" tIns="0" rIns="0" bIns="0" rtlCol="0" anchor="ctr"/>
          <a:lstStyle/>
          <a:p>
            <a:pPr algn="r" indent="0" marL="0">
              <a:buNone/>
            </a:pPr>
            <a:r>
              <a:rPr lang="en-US" sz="800" b="1" dirty="0">
                <a:solidFill>
                  <a:srgbClr val="051C2C"/>
                </a:solidFill>
                <a:latin typeface="Roboto" pitchFamily="34" charset="0"/>
                <a:ea typeface="Roboto" pitchFamily="34" charset="-122"/>
                <a:cs typeface="Roboto" pitchFamily="34" charset="-120"/>
              </a:rPr>
              <a:t>1.758</a:t>
            </a:r>
            <a:pPr algn="r" indent="0" marL="0">
              <a:buNone/>
            </a:pPr>
            <a:r>
              <a:rPr lang="en-US" sz="650" dirty="0">
                <a:solidFill>
                  <a:srgbClr val="6B7280"/>
                </a:solidFill>
                <a:latin typeface="Roboto" pitchFamily="34" charset="0"/>
                <a:ea typeface="Roboto" pitchFamily="34" charset="-122"/>
                <a:cs typeface="Roboto" pitchFamily="34" charset="-120"/>
              </a:rPr>
              <a:t>  3%</a:t>
            </a:r>
            <a:endParaRPr lang="en-US" sz="1200" dirty="0"/>
          </a:p>
        </p:txBody>
      </p:sp>
      <p:sp>
        <p:nvSpPr>
          <p:cNvPr id="50" name="Shape 34"/>
          <p:cNvSpPr/>
          <p:nvPr/>
        </p:nvSpPr>
        <p:spPr>
          <a:xfrm>
            <a:off x="7802575" y="1325880"/>
            <a:ext cx="3840480" cy="749808"/>
          </a:xfrm>
          <a:prstGeom prst="roundRect">
            <a:avLst>
              <a:gd name="adj" fmla="val 9756"/>
            </a:avLst>
          </a:prstGeom>
          <a:solidFill>
            <a:srgbClr val="FFFFFF"/>
          </a:solidFill>
          <a:ln w="9525">
            <a:solidFill>
              <a:srgbClr val="BFC5CC"/>
            </a:solidFill>
            <a:prstDash val="solid"/>
          </a:ln>
        </p:spPr>
        <p:txBody>
          <a:bodyPr/>
          <a:p/>
        </p:txBody>
      </p:sp>
      <p:sp>
        <p:nvSpPr>
          <p:cNvPr id="51" name="Text 35"/>
          <p:cNvSpPr txBox="1"/>
          <p:nvPr/>
        </p:nvSpPr>
        <p:spPr>
          <a:xfrm>
            <a:off x="7948879" y="1389888"/>
            <a:ext cx="2743200" cy="146304"/>
          </a:xfrm>
          <a:prstGeom prst="rect">
            <a:avLst/>
          </a:prstGeom>
          <a:noFill/>
          <a:ln/>
        </p:spPr>
        <p:txBody>
          <a:bodyPr wrap="square" lIns="0" tIns="0" rIns="0" bIns="0" rtlCol="0" anchor="t"/>
          <a:lstStyle/>
          <a:p>
            <a:pPr indent="0" marL="0">
              <a:buNone/>
            </a:pPr>
            <a:r>
              <a:rPr lang="en-US" sz="650" b="1" spc="100" kern="0" dirty="0">
                <a:solidFill>
                  <a:srgbClr val="6B7280"/>
                </a:solidFill>
                <a:latin typeface="Roboto" pitchFamily="34" charset="0"/>
                <a:ea typeface="Roboto" pitchFamily="34" charset="-122"/>
                <a:cs typeface="Roboto" pitchFamily="34" charset="-120"/>
              </a:rPr>
              <a:t>PERSONEL PER PROVINSI</a:t>
            </a:r>
            <a:endParaRPr lang="en-US" sz="650" dirty="0"/>
          </a:p>
        </p:txBody>
      </p:sp>
      <p:sp>
        <p:nvSpPr>
          <p:cNvPr id="52" name="Shape 36"/>
          <p:cNvSpPr/>
          <p:nvPr/>
        </p:nvSpPr>
        <p:spPr>
          <a:xfrm>
            <a:off x="7948879" y="1572768"/>
            <a:ext cx="1139952" cy="196596"/>
          </a:xfrm>
          <a:prstGeom prst="roundRect">
            <a:avLst>
              <a:gd name="adj" fmla="val 23256"/>
            </a:avLst>
          </a:prstGeom>
          <a:solidFill>
            <a:srgbClr val="E6EAF0"/>
          </a:solidFill>
          <a:ln/>
        </p:spPr>
        <p:txBody>
          <a:bodyPr/>
          <a:p/>
        </p:txBody>
      </p:sp>
      <p:sp>
        <p:nvSpPr>
          <p:cNvPr id="53" name="Text 37"/>
          <p:cNvSpPr txBox="1"/>
          <p:nvPr/>
        </p:nvSpPr>
        <p:spPr>
          <a:xfrm>
            <a:off x="8022031" y="1572768"/>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Kalteng</a:t>
            </a:r>
            <a:endParaRPr lang="en-US" sz="700" dirty="0"/>
          </a:p>
        </p:txBody>
      </p:sp>
      <p:sp>
        <p:nvSpPr>
          <p:cNvPr id="54" name="Text 38"/>
          <p:cNvSpPr txBox="1"/>
          <p:nvPr/>
        </p:nvSpPr>
        <p:spPr>
          <a:xfrm>
            <a:off x="8406079" y="1572768"/>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16.387</a:t>
            </a:r>
            <a:pPr algn="r" indent="0" marL="0">
              <a:buNone/>
            </a:pPr>
            <a:r>
              <a:rPr lang="en-US" sz="650" dirty="0">
                <a:solidFill>
                  <a:srgbClr val="6B7280"/>
                </a:solidFill>
                <a:latin typeface="Roboto" pitchFamily="34" charset="0"/>
                <a:ea typeface="Roboto" pitchFamily="34" charset="-122"/>
                <a:cs typeface="Roboto" pitchFamily="34" charset="-120"/>
              </a:rPr>
              <a:t>  23%</a:t>
            </a:r>
            <a:endParaRPr lang="en-US" sz="1200" dirty="0"/>
          </a:p>
        </p:txBody>
      </p:sp>
      <p:sp>
        <p:nvSpPr>
          <p:cNvPr id="55" name="Shape 39"/>
          <p:cNvSpPr/>
          <p:nvPr/>
        </p:nvSpPr>
        <p:spPr>
          <a:xfrm>
            <a:off x="9152839" y="1572768"/>
            <a:ext cx="1139952" cy="196596"/>
          </a:xfrm>
          <a:prstGeom prst="roundRect">
            <a:avLst>
              <a:gd name="adj" fmla="val 23256"/>
            </a:avLst>
          </a:prstGeom>
          <a:solidFill>
            <a:srgbClr val="F3F5F8"/>
          </a:solidFill>
          <a:ln/>
        </p:spPr>
        <p:txBody>
          <a:bodyPr/>
          <a:p/>
        </p:txBody>
      </p:sp>
      <p:sp>
        <p:nvSpPr>
          <p:cNvPr id="56" name="Text 40"/>
          <p:cNvSpPr txBox="1"/>
          <p:nvPr/>
        </p:nvSpPr>
        <p:spPr>
          <a:xfrm>
            <a:off x="9225991" y="1572768"/>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Riau</a:t>
            </a:r>
            <a:endParaRPr lang="en-US" sz="700" dirty="0"/>
          </a:p>
        </p:txBody>
      </p:sp>
      <p:sp>
        <p:nvSpPr>
          <p:cNvPr id="57" name="Text 41"/>
          <p:cNvSpPr txBox="1"/>
          <p:nvPr/>
        </p:nvSpPr>
        <p:spPr>
          <a:xfrm>
            <a:off x="9610039" y="1572768"/>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14.837</a:t>
            </a:r>
            <a:pPr algn="r" indent="0" marL="0">
              <a:buNone/>
            </a:pPr>
            <a:r>
              <a:rPr lang="en-US" sz="650" dirty="0">
                <a:solidFill>
                  <a:srgbClr val="6B7280"/>
                </a:solidFill>
                <a:latin typeface="Roboto" pitchFamily="34" charset="0"/>
                <a:ea typeface="Roboto" pitchFamily="34" charset="-122"/>
                <a:cs typeface="Roboto" pitchFamily="34" charset="-120"/>
              </a:rPr>
              <a:t>  21%</a:t>
            </a:r>
            <a:endParaRPr lang="en-US" sz="1200" dirty="0"/>
          </a:p>
        </p:txBody>
      </p:sp>
      <p:sp>
        <p:nvSpPr>
          <p:cNvPr id="58" name="Shape 42"/>
          <p:cNvSpPr/>
          <p:nvPr/>
        </p:nvSpPr>
        <p:spPr>
          <a:xfrm>
            <a:off x="10356799" y="1572768"/>
            <a:ext cx="1139952" cy="196596"/>
          </a:xfrm>
          <a:prstGeom prst="roundRect">
            <a:avLst>
              <a:gd name="adj" fmla="val 23256"/>
            </a:avLst>
          </a:prstGeom>
          <a:solidFill>
            <a:srgbClr val="F3F5F8"/>
          </a:solidFill>
          <a:ln/>
        </p:spPr>
        <p:txBody>
          <a:bodyPr/>
          <a:p/>
        </p:txBody>
      </p:sp>
      <p:sp>
        <p:nvSpPr>
          <p:cNvPr id="59" name="Text 43"/>
          <p:cNvSpPr txBox="1"/>
          <p:nvPr/>
        </p:nvSpPr>
        <p:spPr>
          <a:xfrm>
            <a:off x="10429951" y="1572768"/>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Kalbar</a:t>
            </a:r>
            <a:endParaRPr lang="en-US" sz="700" dirty="0"/>
          </a:p>
        </p:txBody>
      </p:sp>
      <p:sp>
        <p:nvSpPr>
          <p:cNvPr id="60" name="Text 44"/>
          <p:cNvSpPr txBox="1"/>
          <p:nvPr/>
        </p:nvSpPr>
        <p:spPr>
          <a:xfrm>
            <a:off x="10813999" y="1572768"/>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14.458</a:t>
            </a:r>
            <a:pPr algn="r" indent="0" marL="0">
              <a:buNone/>
            </a:pPr>
            <a:r>
              <a:rPr lang="en-US" sz="650" dirty="0">
                <a:solidFill>
                  <a:srgbClr val="6B7280"/>
                </a:solidFill>
                <a:latin typeface="Roboto" pitchFamily="34" charset="0"/>
                <a:ea typeface="Roboto" pitchFamily="34" charset="-122"/>
                <a:cs typeface="Roboto" pitchFamily="34" charset="-120"/>
              </a:rPr>
              <a:t>  20%</a:t>
            </a:r>
            <a:endParaRPr lang="en-US" sz="1200" dirty="0"/>
          </a:p>
        </p:txBody>
      </p:sp>
      <p:sp>
        <p:nvSpPr>
          <p:cNvPr id="61" name="Shape 45"/>
          <p:cNvSpPr/>
          <p:nvPr/>
        </p:nvSpPr>
        <p:spPr>
          <a:xfrm>
            <a:off x="7948879" y="1833372"/>
            <a:ext cx="1139952" cy="196596"/>
          </a:xfrm>
          <a:prstGeom prst="roundRect">
            <a:avLst>
              <a:gd name="adj" fmla="val 23256"/>
            </a:avLst>
          </a:prstGeom>
          <a:solidFill>
            <a:srgbClr val="F3F5F8"/>
          </a:solidFill>
          <a:ln/>
        </p:spPr>
        <p:txBody>
          <a:bodyPr/>
          <a:p/>
        </p:txBody>
      </p:sp>
      <p:sp>
        <p:nvSpPr>
          <p:cNvPr id="62" name="Text 46"/>
          <p:cNvSpPr txBox="1"/>
          <p:nvPr/>
        </p:nvSpPr>
        <p:spPr>
          <a:xfrm>
            <a:off x="8022031" y="1833372"/>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Sumsel</a:t>
            </a:r>
            <a:endParaRPr lang="en-US" sz="700" dirty="0"/>
          </a:p>
        </p:txBody>
      </p:sp>
      <p:sp>
        <p:nvSpPr>
          <p:cNvPr id="63" name="Text 47"/>
          <p:cNvSpPr txBox="1"/>
          <p:nvPr/>
        </p:nvSpPr>
        <p:spPr>
          <a:xfrm>
            <a:off x="8406079" y="1833372"/>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12.285</a:t>
            </a:r>
            <a:pPr algn="r" indent="0" marL="0">
              <a:buNone/>
            </a:pPr>
            <a:r>
              <a:rPr lang="en-US" sz="650" dirty="0">
                <a:solidFill>
                  <a:srgbClr val="6B7280"/>
                </a:solidFill>
                <a:latin typeface="Roboto" pitchFamily="34" charset="0"/>
                <a:ea typeface="Roboto" pitchFamily="34" charset="-122"/>
                <a:cs typeface="Roboto" pitchFamily="34" charset="-120"/>
              </a:rPr>
              <a:t>  17%</a:t>
            </a:r>
            <a:endParaRPr lang="en-US" sz="1200" dirty="0"/>
          </a:p>
        </p:txBody>
      </p:sp>
      <p:sp>
        <p:nvSpPr>
          <p:cNvPr id="64" name="Shape 48"/>
          <p:cNvSpPr/>
          <p:nvPr/>
        </p:nvSpPr>
        <p:spPr>
          <a:xfrm>
            <a:off x="9152839" y="1833372"/>
            <a:ext cx="1139952" cy="196596"/>
          </a:xfrm>
          <a:prstGeom prst="roundRect">
            <a:avLst>
              <a:gd name="adj" fmla="val 23256"/>
            </a:avLst>
          </a:prstGeom>
          <a:solidFill>
            <a:srgbClr val="F3F5F8"/>
          </a:solidFill>
          <a:ln/>
        </p:spPr>
        <p:txBody>
          <a:bodyPr/>
          <a:p/>
        </p:txBody>
      </p:sp>
      <p:sp>
        <p:nvSpPr>
          <p:cNvPr id="65" name="Text 49"/>
          <p:cNvSpPr txBox="1"/>
          <p:nvPr/>
        </p:nvSpPr>
        <p:spPr>
          <a:xfrm>
            <a:off x="9225991" y="1833372"/>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Kalsel</a:t>
            </a:r>
            <a:endParaRPr lang="en-US" sz="700" dirty="0"/>
          </a:p>
        </p:txBody>
      </p:sp>
      <p:sp>
        <p:nvSpPr>
          <p:cNvPr id="66" name="Text 50"/>
          <p:cNvSpPr txBox="1"/>
          <p:nvPr/>
        </p:nvSpPr>
        <p:spPr>
          <a:xfrm>
            <a:off x="9610039" y="1833372"/>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7.927</a:t>
            </a:r>
            <a:pPr algn="r" indent="0" marL="0">
              <a:buNone/>
            </a:pPr>
            <a:r>
              <a:rPr lang="en-US" sz="650" dirty="0">
                <a:solidFill>
                  <a:srgbClr val="6B7280"/>
                </a:solidFill>
                <a:latin typeface="Roboto" pitchFamily="34" charset="0"/>
                <a:ea typeface="Roboto" pitchFamily="34" charset="-122"/>
                <a:cs typeface="Roboto" pitchFamily="34" charset="-120"/>
              </a:rPr>
              <a:t>  11%</a:t>
            </a:r>
            <a:endParaRPr lang="en-US" sz="1200" dirty="0"/>
          </a:p>
        </p:txBody>
      </p:sp>
      <p:sp>
        <p:nvSpPr>
          <p:cNvPr id="67" name="Shape 51"/>
          <p:cNvSpPr/>
          <p:nvPr/>
        </p:nvSpPr>
        <p:spPr>
          <a:xfrm>
            <a:off x="10356799" y="1833372"/>
            <a:ext cx="1139952" cy="196596"/>
          </a:xfrm>
          <a:prstGeom prst="roundRect">
            <a:avLst>
              <a:gd name="adj" fmla="val 23256"/>
            </a:avLst>
          </a:prstGeom>
          <a:solidFill>
            <a:srgbClr val="F3F5F8"/>
          </a:solidFill>
          <a:ln/>
        </p:spPr>
        <p:txBody>
          <a:bodyPr/>
          <a:p/>
        </p:txBody>
      </p:sp>
      <p:sp>
        <p:nvSpPr>
          <p:cNvPr id="68" name="Text 52"/>
          <p:cNvSpPr txBox="1"/>
          <p:nvPr/>
        </p:nvSpPr>
        <p:spPr>
          <a:xfrm>
            <a:off x="10429951" y="1833372"/>
            <a:ext cx="548640" cy="196596"/>
          </a:xfrm>
          <a:prstGeom prst="rect">
            <a:avLst/>
          </a:prstGeom>
          <a:noFill/>
          <a:ln/>
        </p:spPr>
        <p:txBody>
          <a:bodyPr wrap="square" lIns="0" tIns="0" rIns="0" bIns="0" rtlCol="0" anchor="ctr"/>
          <a:lstStyle/>
          <a:p>
            <a:pPr indent="0" marL="0">
              <a:buNone/>
            </a:pPr>
            <a:r>
              <a:rPr lang="en-US" sz="700" b="1" dirty="0">
                <a:solidFill>
                  <a:srgbClr val="2E3440"/>
                </a:solidFill>
                <a:latin typeface="Roboto" pitchFamily="34" charset="0"/>
                <a:ea typeface="Roboto" pitchFamily="34" charset="-122"/>
                <a:cs typeface="Roboto" pitchFamily="34" charset="-120"/>
              </a:rPr>
              <a:t>Jambi</a:t>
            </a:r>
            <a:endParaRPr lang="en-US" sz="700" dirty="0"/>
          </a:p>
        </p:txBody>
      </p:sp>
      <p:sp>
        <p:nvSpPr>
          <p:cNvPr id="69" name="Text 53"/>
          <p:cNvSpPr txBox="1"/>
          <p:nvPr/>
        </p:nvSpPr>
        <p:spPr>
          <a:xfrm>
            <a:off x="10813999" y="1833372"/>
            <a:ext cx="609600" cy="196596"/>
          </a:xfrm>
          <a:prstGeom prst="rect">
            <a:avLst/>
          </a:prstGeom>
          <a:noFill/>
          <a:ln/>
        </p:spPr>
        <p:txBody>
          <a:bodyPr wrap="square" lIns="0" tIns="0" rIns="0" bIns="0" rtlCol="0" anchor="ctr"/>
          <a:lstStyle/>
          <a:p>
            <a:pPr algn="r" indent="0" marL="0">
              <a:buNone/>
            </a:pPr>
            <a:r>
              <a:rPr lang="en-US" sz="950" b="1" dirty="0">
                <a:solidFill>
                  <a:srgbClr val="051C2C"/>
                </a:solidFill>
                <a:latin typeface="Roboto" pitchFamily="34" charset="0"/>
                <a:ea typeface="Roboto" pitchFamily="34" charset="-122"/>
                <a:cs typeface="Roboto" pitchFamily="34" charset="-120"/>
              </a:rPr>
              <a:t>5.984</a:t>
            </a:r>
            <a:pPr algn="r" indent="0" marL="0">
              <a:buNone/>
            </a:pPr>
            <a:r>
              <a:rPr lang="en-US" sz="650" dirty="0">
                <a:solidFill>
                  <a:srgbClr val="6B7280"/>
                </a:solidFill>
                <a:latin typeface="Roboto" pitchFamily="34" charset="0"/>
                <a:ea typeface="Roboto" pitchFamily="34" charset="-122"/>
                <a:cs typeface="Roboto" pitchFamily="34" charset="-120"/>
              </a:rPr>
              <a:t>  8%</a:t>
            </a:r>
            <a:endParaRPr lang="en-US" sz="1200" dirty="0"/>
          </a:p>
        </p:txBody>
      </p:sp>
      <p:sp>
        <p:nvSpPr>
          <p:cNvPr id="70" name="Shape 54"/>
          <p:cNvSpPr/>
          <p:nvPr/>
        </p:nvSpPr>
        <p:spPr>
          <a:xfrm>
            <a:off x="548640" y="2212848"/>
            <a:ext cx="5478628" cy="4142232"/>
          </a:xfrm>
          <a:prstGeom prst="roundRect">
            <a:avLst>
              <a:gd name="adj" fmla="val 1766"/>
            </a:avLst>
          </a:prstGeom>
          <a:solidFill>
            <a:srgbClr val="FFFFFF"/>
          </a:solidFill>
          <a:ln w="9525">
            <a:solidFill>
              <a:srgbClr val="BFC5CC"/>
            </a:solidFill>
            <a:prstDash val="solid"/>
          </a:ln>
        </p:spPr>
        <p:txBody>
          <a:bodyPr/>
          <a:p/>
        </p:txBody>
      </p:sp>
      <p:sp>
        <p:nvSpPr>
          <p:cNvPr id="71" name="Shape 55"/>
          <p:cNvSpPr/>
          <p:nvPr/>
        </p:nvSpPr>
        <p:spPr>
          <a:xfrm>
            <a:off x="676656" y="2304288"/>
            <a:ext cx="329184" cy="329184"/>
          </a:xfrm>
          <a:prstGeom prst="ellipse">
            <a:avLst/>
          </a:prstGeom>
          <a:solidFill>
            <a:srgbClr val="051C2C"/>
          </a:solidFill>
          <a:ln/>
        </p:spPr>
        <p:txBody>
          <a:bodyPr/>
          <a:p/>
        </p:txBody>
      </p:sp>
      <p:pic>
        <p:nvPicPr>
          <p:cNvPr id="72" name="Image 14" descr="preencoded.png">    </p:cNvPr>
          <p:cNvPicPr>
            <a:picLocks noChangeAspect="1"/>
          </p:cNvPicPr>
          <p:nvPr/>
        </p:nvPicPr>
        <p:blipFill>
          <a:blip r:embed="rId16"/>
          <a:stretch>
            <a:fillRect/>
          </a:stretch>
        </p:blipFill>
        <p:spPr>
          <a:xfrm>
            <a:off x="749808" y="2377440"/>
            <a:ext cx="182880" cy="182880"/>
          </a:xfrm>
          <a:prstGeom prst="rect">
            <a:avLst/>
          </a:prstGeom>
        </p:spPr>
      </p:pic>
      <p:sp>
        <p:nvSpPr>
          <p:cNvPr id="73" name="Text 56"/>
          <p:cNvSpPr txBox="1"/>
          <p:nvPr/>
        </p:nvSpPr>
        <p:spPr>
          <a:xfrm>
            <a:off x="1097280" y="2304288"/>
            <a:ext cx="2743200" cy="329184"/>
          </a:xfrm>
          <a:prstGeom prst="rect">
            <a:avLst/>
          </a:prstGeom>
          <a:noFill/>
          <a:ln/>
        </p:spPr>
        <p:txBody>
          <a:bodyPr wrap="square" lIns="0" tIns="0" rIns="0" bIns="0" rtlCol="0" anchor="ctr"/>
          <a:lstStyle/>
          <a:p>
            <a:pPr indent="0" marL="0">
              <a:buNone/>
            </a:pPr>
            <a:r>
              <a:rPr lang="en-US" sz="1440" b="1" spc="100" kern="0" dirty="0">
                <a:solidFill>
                  <a:srgbClr val="051C2C"/>
                </a:solidFill>
                <a:latin typeface="Roboto" pitchFamily="34" charset="0"/>
                <a:ea typeface="Roboto" pitchFamily="34" charset="-122"/>
                <a:cs typeface="Roboto" pitchFamily="34" charset="-120"/>
              </a:rPr>
              <a:t>MODIFIKASI CUACA</a:t>
            </a:r>
            <a:endParaRPr lang="en-US" sz="1440" dirty="0"/>
          </a:p>
        </p:txBody>
      </p:sp>
      <p:sp>
        <p:nvSpPr>
          <p:cNvPr id="74" name="Shape 57"/>
          <p:cNvSpPr/>
          <p:nvPr/>
        </p:nvSpPr>
        <p:spPr>
          <a:xfrm>
            <a:off x="676656" y="2688336"/>
            <a:ext cx="5222596" cy="0"/>
          </a:xfrm>
          <a:prstGeom prst="line">
            <a:avLst/>
          </a:prstGeom>
          <a:noFill/>
          <a:ln w="9525">
            <a:solidFill>
              <a:srgbClr val="1A1A1A"/>
            </a:solidFill>
            <a:prstDash val="solid"/>
          </a:ln>
        </p:spPr>
        <p:txBody>
          <a:bodyPr/>
          <a:p/>
        </p:txBody>
      </p:sp>
      <p:sp>
        <p:nvSpPr>
          <p:cNvPr id="75" name="Shape 58"/>
          <p:cNvSpPr/>
          <p:nvPr/>
        </p:nvSpPr>
        <p:spPr>
          <a:xfrm>
            <a:off x="676656" y="2734056"/>
            <a:ext cx="201168" cy="201168"/>
          </a:xfrm>
          <a:prstGeom prst="ellipse">
            <a:avLst/>
          </a:prstGeom>
          <a:solidFill>
            <a:srgbClr val="051C2C"/>
          </a:solidFill>
          <a:ln/>
        </p:spPr>
        <p:txBody>
          <a:bodyPr/>
          <a:p/>
        </p:txBody>
      </p:sp>
      <p:pic>
        <p:nvPicPr>
          <p:cNvPr id="76" name="Image 15" descr="preencoded.png">    </p:cNvPr>
          <p:cNvPicPr>
            <a:picLocks noChangeAspect="1"/>
          </p:cNvPicPr>
          <p:nvPr/>
        </p:nvPicPr>
        <p:blipFill>
          <a:blip r:embed="rId17"/>
          <a:stretch>
            <a:fillRect/>
          </a:stretch>
        </p:blipFill>
        <p:spPr>
          <a:xfrm>
            <a:off x="717804" y="2775204"/>
            <a:ext cx="118872" cy="118872"/>
          </a:xfrm>
          <a:prstGeom prst="rect">
            <a:avLst/>
          </a:prstGeom>
        </p:spPr>
      </p:pic>
      <p:sp>
        <p:nvSpPr>
          <p:cNvPr id="77" name="Text 59"/>
          <p:cNvSpPr txBox="1"/>
          <p:nvPr/>
        </p:nvSpPr>
        <p:spPr>
          <a:xfrm>
            <a:off x="932688" y="2743200"/>
            <a:ext cx="1463040" cy="182880"/>
          </a:xfrm>
          <a:prstGeom prst="rect">
            <a:avLst/>
          </a:prstGeom>
          <a:noFill/>
          <a:ln/>
        </p:spPr>
        <p:txBody>
          <a:bodyPr wrap="square" lIns="0" tIns="0" rIns="0" bIns="0" rtlCol="0" anchor="ctr"/>
          <a:lstStyle/>
          <a:p>
            <a:pPr indent="0" marL="0">
              <a:buNone/>
            </a:pPr>
            <a:r>
              <a:rPr lang="en-US" sz="840" b="1" spc="100" kern="0" dirty="0">
                <a:solidFill>
                  <a:srgbClr val="051C2C"/>
                </a:solidFill>
                <a:latin typeface="Roboto" pitchFamily="34" charset="0"/>
                <a:ea typeface="Roboto" pitchFamily="34" charset="-122"/>
                <a:cs typeface="Roboto" pitchFamily="34" charset="-120"/>
              </a:rPr>
              <a:t>HUJAN SETELAH OMC</a:t>
            </a:r>
            <a:endParaRPr lang="en-US" sz="840" dirty="0"/>
          </a:p>
        </p:txBody>
      </p:sp>
      <p:sp>
        <p:nvSpPr>
          <p:cNvPr id="78" name="Shape 60"/>
          <p:cNvSpPr/>
          <p:nvPr/>
        </p:nvSpPr>
        <p:spPr>
          <a:xfrm>
            <a:off x="2536546" y="2752344"/>
            <a:ext cx="570586" cy="164592"/>
          </a:xfrm>
          <a:prstGeom prst="roundRect">
            <a:avLst>
              <a:gd name="adj" fmla="val 50000"/>
            </a:avLst>
          </a:prstGeom>
          <a:solidFill>
            <a:srgbClr val="E6EAF0"/>
          </a:solidFill>
          <a:ln/>
        </p:spPr>
        <p:txBody>
          <a:bodyPr/>
          <a:p/>
        </p:txBody>
      </p:sp>
      <p:sp>
        <p:nvSpPr>
          <p:cNvPr id="79" name="Text 61"/>
          <p:cNvSpPr txBox="1"/>
          <p:nvPr/>
        </p:nvSpPr>
        <p:spPr>
          <a:xfrm>
            <a:off x="2536546" y="2752344"/>
            <a:ext cx="570586" cy="164592"/>
          </a:xfrm>
          <a:prstGeom prst="rect">
            <a:avLst/>
          </a:prstGeom>
          <a:noFill/>
          <a:ln/>
        </p:spPr>
        <p:txBody>
          <a:bodyPr wrap="square" lIns="0" tIns="0" rIns="0" bIns="0" rtlCol="0" anchor="ctr"/>
          <a:lstStyle/>
          <a:p>
            <a:pPr algn="ctr" indent="0" marL="0">
              <a:buNone/>
            </a:pPr>
            <a:r>
              <a:rPr lang="en-US" sz="792" b="1" dirty="0">
                <a:solidFill>
                  <a:srgbClr val="051C2C"/>
                </a:solidFill>
                <a:latin typeface="Roboto" pitchFamily="34" charset="0"/>
                <a:ea typeface="Roboto" pitchFamily="34" charset="-122"/>
                <a:cs typeface="Roboto" pitchFamily="34" charset="-120"/>
              </a:rPr>
              <a:t>25 Okt</a:t>
            </a:r>
            <a:endParaRPr lang="en-US" sz="792" dirty="0"/>
          </a:p>
        </p:txBody>
      </p:sp>
      <p:sp>
        <p:nvSpPr>
          <p:cNvPr id="80" name="Shape 62"/>
          <p:cNvSpPr/>
          <p:nvPr/>
        </p:nvSpPr>
        <p:spPr>
          <a:xfrm>
            <a:off x="4628236" y="2752344"/>
            <a:ext cx="1271016" cy="164592"/>
          </a:xfrm>
          <a:prstGeom prst="roundRect">
            <a:avLst>
              <a:gd name="adj" fmla="val 50000"/>
            </a:avLst>
          </a:prstGeom>
          <a:solidFill>
            <a:srgbClr val="051C2C"/>
          </a:solidFill>
          <a:ln/>
        </p:spPr>
        <p:txBody>
          <a:bodyPr/>
          <a:p/>
        </p:txBody>
      </p:sp>
      <p:sp>
        <p:nvSpPr>
          <p:cNvPr id="81" name="Text 63"/>
          <p:cNvSpPr txBox="1"/>
          <p:nvPr/>
        </p:nvSpPr>
        <p:spPr>
          <a:xfrm>
            <a:off x="4628236" y="2752344"/>
            <a:ext cx="1271016" cy="164592"/>
          </a:xfrm>
          <a:prstGeom prst="rect">
            <a:avLst/>
          </a:prstGeom>
          <a:noFill/>
          <a:ln/>
        </p:spPr>
        <p:txBody>
          <a:bodyPr wrap="square" lIns="0" tIns="0" rIns="0" bIns="0" rtlCol="0" anchor="ctr"/>
          <a:lstStyle/>
          <a:p>
            <a:pPr algn="ctr" indent="0" marL="0">
              <a:buNone/>
            </a:pPr>
            <a:r>
              <a:rPr lang="en-US" sz="792" b="1" dirty="0">
                <a:solidFill>
                  <a:srgbClr val="FFFFFF"/>
                </a:solidFill>
                <a:latin typeface="Roboto" pitchFamily="34" charset="0"/>
                <a:ea typeface="Roboto" pitchFamily="34" charset="-122"/>
                <a:cs typeface="Roboto" pitchFamily="34" charset="-120"/>
              </a:rPr>
              <a:t>4 dari 4 provinsi hujan</a:t>
            </a:r>
            <a:endParaRPr lang="en-US" sz="792" dirty="0"/>
          </a:p>
        </p:txBody>
      </p:sp>
      <p:sp>
        <p:nvSpPr>
          <p:cNvPr id="82" name="Text 64"/>
          <p:cNvSpPr txBox="1"/>
          <p:nvPr/>
        </p:nvSpPr>
        <p:spPr>
          <a:xfrm>
            <a:off x="2027869" y="2962656"/>
            <a:ext cx="1280160" cy="137160"/>
          </a:xfrm>
          <a:prstGeom prst="rect">
            <a:avLst/>
          </a:prstGeom>
          <a:noFill/>
          <a:ln/>
        </p:spPr>
        <p:txBody>
          <a:bodyPr wrap="square" lIns="0" tIns="0" rIns="0" bIns="0" rtlCol="0" anchor="t"/>
          <a:lstStyle/>
          <a:p>
            <a:pPr indent="0" marL="0">
              <a:buNone/>
            </a:pPr>
            <a:r>
              <a:rPr lang="en-US" sz="720" b="1" spc="50" kern="0" dirty="0">
                <a:solidFill>
                  <a:srgbClr val="6B7280"/>
                </a:solidFill>
                <a:latin typeface="Roboto" pitchFamily="34" charset="0"/>
                <a:ea typeface="Roboto" pitchFamily="34" charset="-122"/>
                <a:cs typeface="Roboto" pitchFamily="34" charset="-120"/>
              </a:rPr>
              <a:t>SASARAN OMC</a:t>
            </a:r>
            <a:endParaRPr lang="en-US" sz="720" dirty="0"/>
          </a:p>
        </p:txBody>
      </p:sp>
      <p:sp>
        <p:nvSpPr>
          <p:cNvPr id="83" name="Text 65"/>
          <p:cNvSpPr txBox="1"/>
          <p:nvPr/>
        </p:nvSpPr>
        <p:spPr>
          <a:xfrm>
            <a:off x="3561885" y="2962656"/>
            <a:ext cx="1463040" cy="137160"/>
          </a:xfrm>
          <a:prstGeom prst="rect">
            <a:avLst/>
          </a:prstGeom>
          <a:noFill/>
          <a:ln/>
        </p:spPr>
        <p:txBody>
          <a:bodyPr wrap="square" lIns="0" tIns="0" rIns="0" bIns="0" rtlCol="0" anchor="t"/>
          <a:lstStyle/>
          <a:p>
            <a:pPr indent="0" marL="0">
              <a:buNone/>
            </a:pPr>
            <a:r>
              <a:rPr lang="en-US" sz="720" b="1" spc="50" kern="0" dirty="0">
                <a:solidFill>
                  <a:srgbClr val="6B7280"/>
                </a:solidFill>
                <a:latin typeface="Roboto" pitchFamily="34" charset="0"/>
                <a:ea typeface="Roboto" pitchFamily="34" charset="-122"/>
                <a:cs typeface="Roboto" pitchFamily="34" charset="-120"/>
              </a:rPr>
              <a:t>HASIL</a:t>
            </a:r>
            <a:endParaRPr lang="en-US" sz="720" dirty="0"/>
          </a:p>
        </p:txBody>
      </p:sp>
      <p:sp>
        <p:nvSpPr>
          <p:cNvPr id="84" name="Shape 66"/>
          <p:cNvSpPr/>
          <p:nvPr/>
        </p:nvSpPr>
        <p:spPr>
          <a:xfrm>
            <a:off x="676656" y="3294126"/>
            <a:ext cx="73152" cy="73152"/>
          </a:xfrm>
          <a:prstGeom prst="ellipse">
            <a:avLst/>
          </a:prstGeom>
          <a:solidFill>
            <a:srgbClr val="4A9BE0"/>
          </a:solidFill>
          <a:ln/>
        </p:spPr>
        <p:txBody>
          <a:bodyPr/>
          <a:p/>
        </p:txBody>
      </p:sp>
      <p:sp>
        <p:nvSpPr>
          <p:cNvPr id="85" name="Text 67"/>
          <p:cNvSpPr txBox="1"/>
          <p:nvPr/>
        </p:nvSpPr>
        <p:spPr>
          <a:xfrm>
            <a:off x="795528" y="3108960"/>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Kalimantan Barat</a:t>
            </a:r>
            <a:endParaRPr lang="en-US" sz="960" dirty="0"/>
          </a:p>
        </p:txBody>
      </p:sp>
      <p:sp>
        <p:nvSpPr>
          <p:cNvPr id="86" name="Text 68"/>
          <p:cNvSpPr txBox="1"/>
          <p:nvPr/>
        </p:nvSpPr>
        <p:spPr>
          <a:xfrm>
            <a:off x="2027869" y="3108960"/>
            <a:ext cx="1442576" cy="443484"/>
          </a:xfrm>
          <a:prstGeom prst="rect">
            <a:avLst/>
          </a:prstGeom>
          <a:noFill/>
          <a:ln/>
        </p:spPr>
        <p:txBody>
          <a:bodyPr wrap="square" lIns="0" tIns="0" rIns="0" bIns="0" rtlCol="0" anchor="ctr"/>
          <a:lstStyle/>
          <a:p>
            <a:pPr indent="0" marL="0">
              <a:lnSpc>
                <a:spcPct val="90000"/>
              </a:lnSpc>
              <a:buNone/>
            </a:pPr>
            <a:r>
              <a:rPr lang="en-US" sz="864" dirty="0">
                <a:solidFill>
                  <a:srgbClr val="2E3440"/>
                </a:solidFill>
                <a:latin typeface="Roboto" pitchFamily="34" charset="0"/>
                <a:ea typeface="Roboto" pitchFamily="34" charset="-122"/>
                <a:cs typeface="Roboto" pitchFamily="34" charset="-120"/>
              </a:rPr>
              <a:t>OMC tidak dilaksanakan</a:t>
            </a:r>
            <a:endParaRPr lang="en-US" sz="864" dirty="0"/>
          </a:p>
        </p:txBody>
      </p:sp>
      <p:sp>
        <p:nvSpPr>
          <p:cNvPr id="87" name="Shape 69"/>
          <p:cNvSpPr/>
          <p:nvPr/>
        </p:nvSpPr>
        <p:spPr>
          <a:xfrm>
            <a:off x="3561885" y="3170682"/>
            <a:ext cx="994000" cy="155448"/>
          </a:xfrm>
          <a:prstGeom prst="roundRect">
            <a:avLst>
              <a:gd name="adj" fmla="val 50000"/>
            </a:avLst>
          </a:prstGeom>
          <a:solidFill>
            <a:srgbClr val="4A9BE0"/>
          </a:solidFill>
          <a:ln/>
        </p:spPr>
        <p:txBody>
          <a:bodyPr/>
          <a:p/>
        </p:txBody>
      </p:sp>
      <p:sp>
        <p:nvSpPr>
          <p:cNvPr id="88" name="Text 70"/>
          <p:cNvSpPr txBox="1"/>
          <p:nvPr/>
        </p:nvSpPr>
        <p:spPr>
          <a:xfrm>
            <a:off x="3561885" y="3170682"/>
            <a:ext cx="994000"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 SEDANG</a:t>
            </a:r>
            <a:endParaRPr lang="en-US" sz="756" dirty="0"/>
          </a:p>
        </p:txBody>
      </p:sp>
      <p:sp>
        <p:nvSpPr>
          <p:cNvPr id="89" name="Text 71"/>
          <p:cNvSpPr txBox="1"/>
          <p:nvPr/>
        </p:nvSpPr>
        <p:spPr>
          <a:xfrm>
            <a:off x="3561885" y="3335274"/>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di Kapuas Hulu, 25 Okt (tanpa OMC)</a:t>
            </a:r>
            <a:endParaRPr lang="en-US" sz="840" dirty="0"/>
          </a:p>
        </p:txBody>
      </p:sp>
      <p:sp>
        <p:nvSpPr>
          <p:cNvPr id="90" name="Shape 72"/>
          <p:cNvSpPr/>
          <p:nvPr/>
        </p:nvSpPr>
        <p:spPr>
          <a:xfrm>
            <a:off x="676656" y="3737610"/>
            <a:ext cx="73152" cy="73152"/>
          </a:xfrm>
          <a:prstGeom prst="ellipse">
            <a:avLst/>
          </a:prstGeom>
          <a:solidFill>
            <a:srgbClr val="4A9BE0"/>
          </a:solidFill>
          <a:ln/>
        </p:spPr>
        <p:txBody>
          <a:bodyPr/>
          <a:p/>
        </p:txBody>
      </p:sp>
      <p:sp>
        <p:nvSpPr>
          <p:cNvPr id="91" name="Text 73"/>
          <p:cNvSpPr txBox="1"/>
          <p:nvPr/>
        </p:nvSpPr>
        <p:spPr>
          <a:xfrm>
            <a:off x="795528" y="3552444"/>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Kalimantan Tengah</a:t>
            </a:r>
            <a:endParaRPr lang="en-US" sz="960" dirty="0"/>
          </a:p>
        </p:txBody>
      </p:sp>
      <p:sp>
        <p:nvSpPr>
          <p:cNvPr id="92" name="Text 74"/>
          <p:cNvSpPr txBox="1"/>
          <p:nvPr/>
        </p:nvSpPr>
        <p:spPr>
          <a:xfrm>
            <a:off x="2027869" y="3552444"/>
            <a:ext cx="1442576" cy="443484"/>
          </a:xfrm>
          <a:prstGeom prst="rect">
            <a:avLst/>
          </a:prstGeom>
          <a:noFill/>
          <a:ln/>
        </p:spPr>
        <p:txBody>
          <a:bodyPr wrap="square" lIns="0" tIns="0" rIns="0" bIns="0" rtlCol="0" anchor="ctr"/>
          <a:lstStyle/>
          <a:p>
            <a:pPr indent="0" marL="0">
              <a:lnSpc>
                <a:spcPct val="90000"/>
              </a:lnSpc>
              <a:buNone/>
            </a:pPr>
            <a:r>
              <a:rPr lang="en-US" sz="864" dirty="0">
                <a:solidFill>
                  <a:srgbClr val="2E3440"/>
                </a:solidFill>
                <a:latin typeface="Roboto" pitchFamily="34" charset="0"/>
                <a:ea typeface="Roboto" pitchFamily="34" charset="-122"/>
                <a:cs typeface="Roboto" pitchFamily="34" charset="-120"/>
              </a:rPr>
              <a:t>Palangka Raya, Katingan, Pulpis, Kotim, Kobar</a:t>
            </a:r>
            <a:endParaRPr lang="en-US" sz="864" dirty="0"/>
          </a:p>
        </p:txBody>
      </p:sp>
      <p:sp>
        <p:nvSpPr>
          <p:cNvPr id="105" name="Shape 87"/>
          <p:cNvSpPr/>
          <p:nvPr/>
        </p:nvSpPr>
        <p:spPr>
          <a:xfrm>
            <a:off x="3561885" y="3614166"/>
            <a:ext cx="922000" cy="155448"/>
          </a:xfrm>
          <a:prstGeom prst="roundRect">
            <a:avLst>
              <a:gd name="adj" fmla="val 50000"/>
            </a:avLst>
          </a:prstGeom>
          <a:solidFill>
            <a:srgbClr val="4A9BE0"/>
          </a:solidFill>
          <a:ln/>
        </p:spPr>
        <p:txBody>
          <a:bodyPr/>
          <a:p/>
        </p:txBody>
      </p:sp>
      <p:sp>
        <p:nvSpPr>
          <p:cNvPr id="106" name="Text 88"/>
          <p:cNvSpPr txBox="1"/>
          <p:nvPr/>
        </p:nvSpPr>
        <p:spPr>
          <a:xfrm>
            <a:off x="3561885" y="3614166"/>
            <a:ext cx="922000"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 DERAS</a:t>
            </a:r>
            <a:endParaRPr lang="en-US" sz="756" dirty="0"/>
          </a:p>
        </p:txBody>
      </p:sp>
      <p:sp>
        <p:nvSpPr>
          <p:cNvPr id="95" name="Text 77"/>
          <p:cNvSpPr txBox="1"/>
          <p:nvPr/>
        </p:nvSpPr>
        <p:spPr>
          <a:xfrm>
            <a:off x="3561885" y="3778758"/>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di Kab. Seruyan, 25 Okt</a:t>
            </a:r>
            <a:endParaRPr lang="en-US" sz="840" dirty="0"/>
          </a:p>
        </p:txBody>
      </p:sp>
      <p:sp>
        <p:nvSpPr>
          <p:cNvPr id="96" name="Shape 78"/>
          <p:cNvSpPr/>
          <p:nvPr/>
        </p:nvSpPr>
        <p:spPr>
          <a:xfrm>
            <a:off x="676656" y="4181094"/>
            <a:ext cx="73152" cy="73152"/>
          </a:xfrm>
          <a:prstGeom prst="ellipse">
            <a:avLst/>
          </a:prstGeom>
          <a:solidFill>
            <a:srgbClr val="4A9BE0"/>
          </a:solidFill>
          <a:ln/>
        </p:spPr>
        <p:txBody>
          <a:bodyPr/>
          <a:p/>
        </p:txBody>
      </p:sp>
      <p:sp>
        <p:nvSpPr>
          <p:cNvPr id="97" name="Text 79"/>
          <p:cNvSpPr txBox="1"/>
          <p:nvPr/>
        </p:nvSpPr>
        <p:spPr>
          <a:xfrm>
            <a:off x="795528" y="3995928"/>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Sumatera Selatan</a:t>
            </a:r>
            <a:endParaRPr lang="en-US" sz="960" dirty="0"/>
          </a:p>
        </p:txBody>
      </p:sp>
      <p:sp>
        <p:nvSpPr>
          <p:cNvPr id="98" name="Text 80"/>
          <p:cNvSpPr txBox="1"/>
          <p:nvPr/>
        </p:nvSpPr>
        <p:spPr>
          <a:xfrm>
            <a:off x="2027869" y="3995928"/>
            <a:ext cx="1442576" cy="443484"/>
          </a:xfrm>
          <a:prstGeom prst="rect">
            <a:avLst/>
          </a:prstGeom>
          <a:noFill/>
          <a:ln/>
        </p:spPr>
        <p:txBody>
          <a:bodyPr wrap="square" lIns="0" tIns="0" rIns="0" bIns="0" rtlCol="0" anchor="ctr"/>
          <a:lstStyle/>
          <a:p>
            <a:pPr indent="0" marL="0">
              <a:lnSpc>
                <a:spcPct val="90000"/>
              </a:lnSpc>
              <a:buNone/>
            </a:pPr>
            <a:r>
              <a:rPr lang="en-US" sz="864" dirty="0">
                <a:solidFill>
                  <a:srgbClr val="2E3440"/>
                </a:solidFill>
                <a:latin typeface="Roboto" pitchFamily="34" charset="0"/>
                <a:ea typeface="Roboto" pitchFamily="34" charset="-122"/>
                <a:cs typeface="Roboto" pitchFamily="34" charset="-120"/>
              </a:rPr>
              <a:t>Palembang, Banyuasin, OKI, Muba</a:t>
            </a:r>
            <a:endParaRPr lang="en-US" sz="864" dirty="0"/>
          </a:p>
        </p:txBody>
      </p:sp>
      <p:sp>
        <p:nvSpPr>
          <p:cNvPr id="99" name="Shape 87"/>
          <p:cNvSpPr/>
          <p:nvPr/>
        </p:nvSpPr>
        <p:spPr>
          <a:xfrm>
            <a:off x="3561885" y="4057650"/>
            <a:ext cx="490000" cy="155448"/>
          </a:xfrm>
          <a:prstGeom prst="roundRect">
            <a:avLst>
              <a:gd name="adj" fmla="val 50000"/>
            </a:avLst>
          </a:prstGeom>
          <a:solidFill>
            <a:srgbClr val="4A9BE0"/>
          </a:solidFill>
          <a:ln/>
        </p:spPr>
        <p:txBody>
          <a:bodyPr/>
          <a:p/>
        </p:txBody>
      </p:sp>
      <p:sp>
        <p:nvSpPr>
          <p:cNvPr id="100" name="Text 88"/>
          <p:cNvSpPr txBox="1"/>
          <p:nvPr/>
        </p:nvSpPr>
        <p:spPr>
          <a:xfrm>
            <a:off x="3561885" y="4057650"/>
            <a:ext cx="490000"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a:t>
            </a:r>
            <a:endParaRPr lang="en-US" sz="756" dirty="0"/>
          </a:p>
        </p:txBody>
      </p:sp>
      <p:sp>
        <p:nvSpPr>
          <p:cNvPr id="101" name="Text 83"/>
          <p:cNvSpPr txBox="1"/>
          <p:nvPr/>
        </p:nvSpPr>
        <p:spPr>
          <a:xfrm>
            <a:off x="3561885" y="4222242"/>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di Muba, Palembang, Banyuasin, OKI</a:t>
            </a:r>
            <a:endParaRPr lang="en-US" sz="840" dirty="0"/>
          </a:p>
        </p:txBody>
      </p:sp>
      <p:sp>
        <p:nvSpPr>
          <p:cNvPr id="102" name="Shape 84"/>
          <p:cNvSpPr/>
          <p:nvPr/>
        </p:nvSpPr>
        <p:spPr>
          <a:xfrm>
            <a:off x="676656" y="4624578"/>
            <a:ext cx="73152" cy="73152"/>
          </a:xfrm>
          <a:prstGeom prst="ellipse">
            <a:avLst/>
          </a:prstGeom>
          <a:solidFill>
            <a:srgbClr val="4A9BE0"/>
          </a:solidFill>
          <a:ln/>
        </p:spPr>
        <p:txBody>
          <a:bodyPr/>
          <a:p/>
        </p:txBody>
      </p:sp>
      <p:sp>
        <p:nvSpPr>
          <p:cNvPr id="103" name="Text 85"/>
          <p:cNvSpPr txBox="1"/>
          <p:nvPr/>
        </p:nvSpPr>
        <p:spPr>
          <a:xfrm>
            <a:off x="795528" y="4439412"/>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Kalimantan Selatan</a:t>
            </a:r>
            <a:endParaRPr lang="en-US" sz="960" dirty="0"/>
          </a:p>
        </p:txBody>
      </p:sp>
      <p:sp>
        <p:nvSpPr>
          <p:cNvPr id="104" name="Text 86"/>
          <p:cNvSpPr txBox="1"/>
          <p:nvPr/>
        </p:nvSpPr>
        <p:spPr>
          <a:xfrm>
            <a:off x="2027869" y="4439412"/>
            <a:ext cx="1442576" cy="443484"/>
          </a:xfrm>
          <a:prstGeom prst="rect">
            <a:avLst/>
          </a:prstGeom>
          <a:noFill/>
          <a:ln/>
        </p:spPr>
        <p:txBody>
          <a:bodyPr wrap="square" lIns="0" tIns="0" rIns="0" bIns="0" rtlCol="0" anchor="ctr"/>
          <a:lstStyle/>
          <a:p>
            <a:pPr indent="0" marL="0">
              <a:lnSpc>
                <a:spcPct val="90000"/>
              </a:lnSpc>
              <a:buNone/>
            </a:pPr>
            <a:r>
              <a:rPr lang="en-US" sz="864" dirty="0">
                <a:solidFill>
                  <a:srgbClr val="2E3440"/>
                </a:solidFill>
                <a:latin typeface="Roboto" pitchFamily="34" charset="0"/>
                <a:ea typeface="Roboto" pitchFamily="34" charset="-122"/>
                <a:cs typeface="Roboto" pitchFamily="34" charset="-120"/>
              </a:rPr>
              <a:t>Tala, Kotabaru, Batola, Tapin, HSS, HSU, Balangan</a:t>
            </a:r>
            <a:endParaRPr lang="en-US" sz="864" dirty="0"/>
          </a:p>
        </p:txBody>
      </p:sp>
      <p:sp>
        <p:nvSpPr>
          <p:cNvPr id="93" name="Shape 75"/>
          <p:cNvSpPr/>
          <p:nvPr/>
        </p:nvSpPr>
        <p:spPr>
          <a:xfrm>
            <a:off x="3561885" y="4501134"/>
            <a:ext cx="530352" cy="155448"/>
          </a:xfrm>
          <a:prstGeom prst="roundRect">
            <a:avLst>
              <a:gd name="adj" fmla="val 50000"/>
            </a:avLst>
          </a:prstGeom>
          <a:solidFill>
            <a:srgbClr val="4A9BE0"/>
          </a:solidFill>
          <a:ln/>
        </p:spPr>
        <p:txBody>
          <a:bodyPr/>
          <a:p/>
        </p:txBody>
      </p:sp>
      <p:sp>
        <p:nvSpPr>
          <p:cNvPr id="94" name="Text 76"/>
          <p:cNvSpPr txBox="1"/>
          <p:nvPr/>
        </p:nvSpPr>
        <p:spPr>
          <a:xfrm>
            <a:off x="3561885" y="4501134"/>
            <a:ext cx="530352"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a:t>
            </a:r>
            <a:endParaRPr lang="en-US" sz="756" dirty="0"/>
          </a:p>
        </p:txBody>
      </p:sp>
      <p:sp>
        <p:nvSpPr>
          <p:cNvPr id="107" name="Text 89"/>
          <p:cNvSpPr txBox="1"/>
          <p:nvPr/>
        </p:nvSpPr>
        <p:spPr>
          <a:xfrm>
            <a:off x="3561885" y="4665726"/>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di Tapin dan Kotabaru; 2 sortie, 2.000 kg NaCl</a:t>
            </a:r>
            <a:endParaRPr lang="en-US" sz="840" dirty="0"/>
          </a:p>
        </p:txBody>
      </p:sp>
      <p:sp>
        <p:nvSpPr>
          <p:cNvPr id="108" name="Shape 90"/>
          <p:cNvSpPr/>
          <p:nvPr/>
        </p:nvSpPr>
        <p:spPr>
          <a:xfrm>
            <a:off x="676656" y="4919472"/>
            <a:ext cx="5222596" cy="0"/>
          </a:xfrm>
          <a:prstGeom prst="line">
            <a:avLst/>
          </a:prstGeom>
          <a:noFill/>
          <a:ln w="9525">
            <a:solidFill>
              <a:srgbClr val="1A1A1A"/>
            </a:solidFill>
            <a:prstDash val="solid"/>
          </a:ln>
        </p:spPr>
        <p:txBody>
          <a:bodyPr/>
          <a:p/>
        </p:txBody>
      </p:sp>
      <p:sp>
        <p:nvSpPr>
          <p:cNvPr id="109" name="Shape 91"/>
          <p:cNvSpPr/>
          <p:nvPr/>
        </p:nvSpPr>
        <p:spPr>
          <a:xfrm>
            <a:off x="676656" y="4965192"/>
            <a:ext cx="201168" cy="201168"/>
          </a:xfrm>
          <a:prstGeom prst="ellipse">
            <a:avLst/>
          </a:prstGeom>
          <a:solidFill>
            <a:srgbClr val="051C2C"/>
          </a:solidFill>
          <a:ln/>
        </p:spPr>
        <p:txBody>
          <a:bodyPr/>
          <a:p/>
        </p:txBody>
      </p:sp>
      <p:pic>
        <p:nvPicPr>
          <p:cNvPr id="110" name="Image 16" descr="preencoded.png">    </p:cNvPr>
          <p:cNvPicPr>
            <a:picLocks noChangeAspect="1"/>
          </p:cNvPicPr>
          <p:nvPr/>
        </p:nvPicPr>
        <p:blipFill>
          <a:blip r:embed="rId18"/>
          <a:stretch>
            <a:fillRect/>
          </a:stretch>
        </p:blipFill>
        <p:spPr>
          <a:xfrm>
            <a:off x="717804" y="5006340"/>
            <a:ext cx="118872" cy="118872"/>
          </a:xfrm>
          <a:prstGeom prst="rect">
            <a:avLst/>
          </a:prstGeom>
        </p:spPr>
      </p:pic>
      <p:sp>
        <p:nvSpPr>
          <p:cNvPr id="111" name="Text 92"/>
          <p:cNvSpPr txBox="1"/>
          <p:nvPr/>
        </p:nvSpPr>
        <p:spPr>
          <a:xfrm>
            <a:off x="932688" y="4974336"/>
            <a:ext cx="1463040" cy="182880"/>
          </a:xfrm>
          <a:prstGeom prst="rect">
            <a:avLst/>
          </a:prstGeom>
          <a:noFill/>
          <a:ln/>
        </p:spPr>
        <p:txBody>
          <a:bodyPr wrap="square" lIns="0" tIns="0" rIns="0" bIns="0" rtlCol="0" anchor="ctr"/>
          <a:lstStyle/>
          <a:p>
            <a:pPr indent="0" marL="0">
              <a:buNone/>
            </a:pPr>
            <a:r>
              <a:rPr lang="en-US" sz="840" b="1" spc="100" kern="0" dirty="0">
                <a:solidFill>
                  <a:srgbClr val="051C2C"/>
                </a:solidFill>
                <a:latin typeface="Roboto" pitchFamily="34" charset="0"/>
                <a:ea typeface="Roboto" pitchFamily="34" charset="-122"/>
                <a:cs typeface="Roboto" pitchFamily="34" charset="-120"/>
              </a:rPr>
              <a:t>SEMAI OMC</a:t>
            </a:r>
            <a:endParaRPr lang="en-US" sz="840" dirty="0"/>
          </a:p>
        </p:txBody>
      </p:sp>
      <p:sp>
        <p:nvSpPr>
          <p:cNvPr id="112" name="Shape 93"/>
          <p:cNvSpPr/>
          <p:nvPr/>
        </p:nvSpPr>
        <p:spPr>
          <a:xfrm>
            <a:off x="2185416" y="4983480"/>
            <a:ext cx="570586" cy="164592"/>
          </a:xfrm>
          <a:prstGeom prst="roundRect">
            <a:avLst>
              <a:gd name="adj" fmla="val 50000"/>
            </a:avLst>
          </a:prstGeom>
          <a:solidFill>
            <a:srgbClr val="E6EAF0"/>
          </a:solidFill>
          <a:ln/>
        </p:spPr>
        <p:txBody>
          <a:bodyPr/>
          <a:p/>
        </p:txBody>
      </p:sp>
      <p:sp>
        <p:nvSpPr>
          <p:cNvPr id="113" name="Text 94"/>
          <p:cNvSpPr txBox="1"/>
          <p:nvPr/>
        </p:nvSpPr>
        <p:spPr>
          <a:xfrm>
            <a:off x="2185416" y="4983480"/>
            <a:ext cx="570586" cy="164592"/>
          </a:xfrm>
          <a:prstGeom prst="rect">
            <a:avLst/>
          </a:prstGeom>
          <a:noFill/>
          <a:ln/>
        </p:spPr>
        <p:txBody>
          <a:bodyPr wrap="square" lIns="0" tIns="0" rIns="0" bIns="0" rtlCol="0" anchor="ctr"/>
          <a:lstStyle/>
          <a:p>
            <a:pPr algn="ctr" indent="0" marL="0">
              <a:buNone/>
            </a:pPr>
            <a:r>
              <a:rPr lang="en-US" sz="792" b="1" dirty="0">
                <a:solidFill>
                  <a:srgbClr val="051C2C"/>
                </a:solidFill>
                <a:latin typeface="Roboto" pitchFamily="34" charset="0"/>
                <a:ea typeface="Roboto" pitchFamily="34" charset="-122"/>
                <a:cs typeface="Roboto" pitchFamily="34" charset="-120"/>
              </a:rPr>
              <a:t>25 Okt</a:t>
            </a:r>
            <a:endParaRPr lang="en-US" sz="792" dirty="0"/>
          </a:p>
        </p:txBody>
      </p:sp>
      <p:sp>
        <p:nvSpPr>
          <p:cNvPr id="114" name="Shape 95"/>
          <p:cNvSpPr/>
          <p:nvPr/>
        </p:nvSpPr>
        <p:spPr>
          <a:xfrm>
            <a:off x="4389252" y="4983480"/>
            <a:ext cx="1510000" cy="164592"/>
          </a:xfrm>
          <a:prstGeom prst="roundRect">
            <a:avLst>
              <a:gd name="adj" fmla="val 50000"/>
            </a:avLst>
          </a:prstGeom>
          <a:solidFill>
            <a:srgbClr val="051C2C"/>
          </a:solidFill>
          <a:ln/>
        </p:spPr>
        <p:txBody>
          <a:bodyPr/>
          <a:p/>
        </p:txBody>
      </p:sp>
      <p:sp>
        <p:nvSpPr>
          <p:cNvPr id="115" name="Text 96"/>
          <p:cNvSpPr txBox="1"/>
          <p:nvPr/>
        </p:nvSpPr>
        <p:spPr>
          <a:xfrm>
            <a:off x="4389252" y="4983480"/>
            <a:ext cx="1510000" cy="164592"/>
          </a:xfrm>
          <a:prstGeom prst="rect">
            <a:avLst/>
          </a:prstGeom>
          <a:noFill/>
          <a:ln/>
        </p:spPr>
        <p:txBody>
          <a:bodyPr wrap="square" lIns="0" tIns="0" rIns="0" bIns="0" rtlCol="0" anchor="ctr"/>
          <a:lstStyle/>
          <a:p>
            <a:pPr algn="ctr" indent="0" marL="0">
              <a:buNone/>
            </a:pPr>
            <a:r>
              <a:rPr lang="en-US" sz="792" b="1" dirty="0">
                <a:solidFill>
                  <a:srgbClr val="FFFFFF"/>
                </a:solidFill>
                <a:latin typeface="Roboto" pitchFamily="34" charset="0"/>
                <a:ea typeface="Roboto" pitchFamily="34" charset="-122"/>
                <a:cs typeface="Roboto" pitchFamily="34" charset="-120"/>
              </a:rPr>
              <a:t>18 sortie, 21.600 kg</a:t>
            </a:r>
            <a:endParaRPr lang="en-US" sz="792" dirty="0"/>
          </a:p>
        </p:txBody>
      </p:sp>
      <p:sp>
        <p:nvSpPr>
          <p:cNvPr id="116" name="Text 97"/>
          <p:cNvSpPr txBox="1"/>
          <p:nvPr/>
        </p:nvSpPr>
        <p:spPr>
          <a:xfrm>
            <a:off x="2027869" y="5193792"/>
            <a:ext cx="1280160" cy="137160"/>
          </a:xfrm>
          <a:prstGeom prst="rect">
            <a:avLst/>
          </a:prstGeom>
          <a:noFill/>
          <a:ln/>
        </p:spPr>
        <p:txBody>
          <a:bodyPr wrap="square" lIns="0" tIns="0" rIns="0" bIns="0" rtlCol="0" anchor="t"/>
          <a:lstStyle/>
          <a:p>
            <a:pPr indent="0" marL="0">
              <a:buNone/>
            </a:pPr>
            <a:r>
              <a:rPr lang="en-US" sz="720" b="1" spc="50" kern="0" dirty="0">
                <a:solidFill>
                  <a:srgbClr val="6B7280"/>
                </a:solidFill>
                <a:latin typeface="Roboto" pitchFamily="34" charset="0"/>
                <a:ea typeface="Roboto" pitchFamily="34" charset="-122"/>
                <a:cs typeface="Roboto" pitchFamily="34" charset="-120"/>
              </a:rPr>
              <a:t>DRY ICE + NaCl</a:t>
            </a:r>
            <a:endParaRPr lang="en-US" sz="720" dirty="0"/>
          </a:p>
        </p:txBody>
      </p:sp>
      <p:sp>
        <p:nvSpPr>
          <p:cNvPr id="117" name="Text 98"/>
          <p:cNvSpPr txBox="1"/>
          <p:nvPr/>
        </p:nvSpPr>
        <p:spPr>
          <a:xfrm>
            <a:off x="3561885" y="5193792"/>
            <a:ext cx="1463040" cy="137160"/>
          </a:xfrm>
          <a:prstGeom prst="rect">
            <a:avLst/>
          </a:prstGeom>
          <a:noFill/>
          <a:ln/>
        </p:spPr>
        <p:txBody>
          <a:bodyPr wrap="square" lIns="0" tIns="0" rIns="0" bIns="0" rtlCol="0" anchor="t"/>
          <a:lstStyle/>
          <a:p>
            <a:pPr indent="0" marL="0">
              <a:buNone/>
            </a:pPr>
            <a:r>
              <a:rPr lang="en-US" sz="720" b="1" spc="50" kern="0" dirty="0">
                <a:solidFill>
                  <a:srgbClr val="6B7280"/>
                </a:solidFill>
                <a:latin typeface="Roboto" pitchFamily="34" charset="0"/>
                <a:ea typeface="Roboto" pitchFamily="34" charset="-122"/>
                <a:cs typeface="Roboto" pitchFamily="34" charset="-120"/>
              </a:rPr>
              <a:t>HASIL</a:t>
            </a:r>
            <a:endParaRPr lang="en-US" sz="720" dirty="0"/>
          </a:p>
        </p:txBody>
      </p:sp>
      <p:sp>
        <p:nvSpPr>
          <p:cNvPr id="118" name="Shape 99"/>
          <p:cNvSpPr/>
          <p:nvPr/>
        </p:nvSpPr>
        <p:spPr>
          <a:xfrm>
            <a:off x="676656" y="5525262"/>
            <a:ext cx="73152" cy="73152"/>
          </a:xfrm>
          <a:prstGeom prst="ellipse">
            <a:avLst/>
          </a:prstGeom>
          <a:solidFill>
            <a:srgbClr val="051C2C"/>
          </a:solidFill>
          <a:ln/>
        </p:spPr>
        <p:txBody>
          <a:bodyPr/>
          <a:p/>
        </p:txBody>
      </p:sp>
      <p:sp>
        <p:nvSpPr>
          <p:cNvPr id="119" name="Text 100"/>
          <p:cNvSpPr txBox="1"/>
          <p:nvPr/>
        </p:nvSpPr>
        <p:spPr>
          <a:xfrm>
            <a:off x="795528" y="5340096"/>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Kalimantan Tengah</a:t>
            </a:r>
            <a:endParaRPr lang="en-US" sz="960" dirty="0"/>
          </a:p>
        </p:txBody>
      </p:sp>
      <p:sp>
        <p:nvSpPr>
          <p:cNvPr id="120" name="Text 101"/>
          <p:cNvSpPr txBox="1"/>
          <p:nvPr/>
        </p:nvSpPr>
        <p:spPr>
          <a:xfrm>
            <a:off x="2027869" y="5340096"/>
            <a:ext cx="1442576" cy="443484"/>
          </a:xfrm>
          <a:prstGeom prst="rect">
            <a:avLst/>
          </a:prstGeom>
          <a:noFill/>
          <a:ln/>
        </p:spPr>
        <p:txBody>
          <a:bodyPr wrap="square" lIns="0" tIns="0" rIns="0" bIns="0" rtlCol="0" anchor="ctr"/>
          <a:lstStyle/>
          <a:p>
            <a:pPr indent="0" marL="0">
              <a:lnSpc>
                <a:spcPct val="90000"/>
              </a:lnSpc>
              <a:buNone/>
            </a:pPr>
            <a:r>
              <a:rPr lang="en-US" sz="1020" b="1" dirty="0">
                <a:solidFill>
                  <a:srgbClr val="051C2C"/>
                </a:solidFill>
                <a:latin typeface="Roboto" pitchFamily="34" charset="0"/>
                <a:ea typeface="Roboto" pitchFamily="34" charset="-122"/>
                <a:cs typeface="Roboto" pitchFamily="34" charset="-120"/>
              </a:rPr>
              <a:t>7.500 kg</a:t>
            </a:r>
            <a:endParaRPr lang="en-US" sz="864" dirty="0"/>
          </a:p>
        </p:txBody>
      </p:sp>
      <p:sp>
        <p:nvSpPr>
          <p:cNvPr id="121" name="Shape 102"/>
          <p:cNvSpPr/>
          <p:nvPr/>
        </p:nvSpPr>
        <p:spPr>
          <a:xfrm>
            <a:off x="3561885" y="5401818"/>
            <a:ext cx="922000" cy="155448"/>
          </a:xfrm>
          <a:prstGeom prst="roundRect">
            <a:avLst>
              <a:gd name="adj" fmla="val 50000"/>
            </a:avLst>
          </a:prstGeom>
          <a:solidFill>
            <a:srgbClr val="4A9BE0"/>
          </a:solidFill>
          <a:ln/>
        </p:spPr>
        <p:txBody>
          <a:bodyPr/>
          <a:p/>
        </p:txBody>
      </p:sp>
      <p:sp>
        <p:nvSpPr>
          <p:cNvPr id="122" name="Text 103"/>
          <p:cNvSpPr txBox="1"/>
          <p:nvPr/>
        </p:nvSpPr>
        <p:spPr>
          <a:xfrm>
            <a:off x="3561885" y="5401818"/>
            <a:ext cx="922000"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 DERAS</a:t>
            </a:r>
            <a:endParaRPr lang="en-US" sz="756" dirty="0"/>
          </a:p>
        </p:txBody>
      </p:sp>
      <p:sp>
        <p:nvSpPr>
          <p:cNvPr id="123" name="Text 104"/>
          <p:cNvSpPr txBox="1"/>
          <p:nvPr/>
        </p:nvSpPr>
        <p:spPr>
          <a:xfrm>
            <a:off x="3561885" y="5566410"/>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NaCl 3.000 kg, dry ice 4.500 kg</a:t>
            </a:r>
            <a:endParaRPr lang="en-US" sz="840" dirty="0"/>
          </a:p>
        </p:txBody>
      </p:sp>
      <p:sp>
        <p:nvSpPr>
          <p:cNvPr id="124" name="Shape 105"/>
          <p:cNvSpPr/>
          <p:nvPr/>
        </p:nvSpPr>
        <p:spPr>
          <a:xfrm>
            <a:off x="2649661" y="5479542"/>
            <a:ext cx="502920" cy="164592"/>
          </a:xfrm>
          <a:prstGeom prst="roundRect">
            <a:avLst>
              <a:gd name="adj" fmla="val 50000"/>
            </a:avLst>
          </a:prstGeom>
          <a:solidFill>
            <a:srgbClr val="E6EAF0"/>
          </a:solidFill>
          <a:ln/>
        </p:spPr>
        <p:txBody>
          <a:bodyPr/>
          <a:p/>
        </p:txBody>
      </p:sp>
      <p:sp>
        <p:nvSpPr>
          <p:cNvPr id="125" name="Text 106"/>
          <p:cNvSpPr txBox="1"/>
          <p:nvPr/>
        </p:nvSpPr>
        <p:spPr>
          <a:xfrm>
            <a:off x="2649661" y="5479542"/>
            <a:ext cx="502920" cy="164592"/>
          </a:xfrm>
          <a:prstGeom prst="rect">
            <a:avLst/>
          </a:prstGeom>
          <a:noFill/>
          <a:ln/>
        </p:spPr>
        <p:txBody>
          <a:bodyPr wrap="square" lIns="0" tIns="0" rIns="0" bIns="0" rtlCol="0" anchor="ctr"/>
          <a:lstStyle/>
          <a:p>
            <a:pPr algn="ctr" indent="0" marL="0">
              <a:buNone/>
            </a:pPr>
            <a:r>
              <a:rPr lang="en-US" sz="792" b="1" dirty="0">
                <a:solidFill>
                  <a:srgbClr val="051C2C"/>
                </a:solidFill>
                <a:latin typeface="Roboto" pitchFamily="34" charset="0"/>
                <a:ea typeface="Roboto" pitchFamily="34" charset="-122"/>
                <a:cs typeface="Roboto" pitchFamily="34" charset="-120"/>
              </a:rPr>
              <a:t>8 sortie</a:t>
            </a:r>
            <a:endParaRPr lang="en-US" sz="792" dirty="0"/>
          </a:p>
        </p:txBody>
      </p:sp>
      <p:sp>
        <p:nvSpPr>
          <p:cNvPr id="126" name="Shape 107"/>
          <p:cNvSpPr/>
          <p:nvPr/>
        </p:nvSpPr>
        <p:spPr>
          <a:xfrm>
            <a:off x="676656" y="5968746"/>
            <a:ext cx="73152" cy="73152"/>
          </a:xfrm>
          <a:prstGeom prst="ellipse">
            <a:avLst/>
          </a:prstGeom>
          <a:solidFill>
            <a:srgbClr val="051C2C"/>
          </a:solidFill>
          <a:ln/>
        </p:spPr>
        <p:txBody>
          <a:bodyPr/>
          <a:p/>
        </p:txBody>
      </p:sp>
      <p:sp>
        <p:nvSpPr>
          <p:cNvPr id="127" name="Text 108"/>
          <p:cNvSpPr txBox="1"/>
          <p:nvPr/>
        </p:nvSpPr>
        <p:spPr>
          <a:xfrm>
            <a:off x="795528" y="5783580"/>
            <a:ext cx="1204909" cy="443484"/>
          </a:xfrm>
          <a:prstGeom prst="rect">
            <a:avLst/>
          </a:prstGeom>
          <a:noFill/>
          <a:ln/>
        </p:spPr>
        <p:txBody>
          <a:bodyPr wrap="square" lIns="0" tIns="0" rIns="0" bIns="0" rtlCol="0" anchor="ctr"/>
          <a:lstStyle/>
          <a:p>
            <a:pPr indent="0" marL="0">
              <a:buNone/>
            </a:pPr>
            <a:r>
              <a:rPr lang="en-US" sz="960" b="1" dirty="0">
                <a:solidFill>
                  <a:srgbClr val="051C2C"/>
                </a:solidFill>
                <a:latin typeface="Roboto" pitchFamily="34" charset="0"/>
                <a:ea typeface="Roboto" pitchFamily="34" charset="-122"/>
                <a:cs typeface="Roboto" pitchFamily="34" charset="-120"/>
              </a:rPr>
              <a:t>Sumatera Selatan</a:t>
            </a:r>
            <a:endParaRPr lang="en-US" sz="960" dirty="0"/>
          </a:p>
        </p:txBody>
      </p:sp>
      <p:sp>
        <p:nvSpPr>
          <p:cNvPr id="128" name="Text 109"/>
          <p:cNvSpPr txBox="1"/>
          <p:nvPr/>
        </p:nvSpPr>
        <p:spPr>
          <a:xfrm>
            <a:off x="2027869" y="5783580"/>
            <a:ext cx="1442576" cy="443484"/>
          </a:xfrm>
          <a:prstGeom prst="rect">
            <a:avLst/>
          </a:prstGeom>
          <a:noFill/>
          <a:ln/>
        </p:spPr>
        <p:txBody>
          <a:bodyPr wrap="square" lIns="0" tIns="0" rIns="0" bIns="0" rtlCol="0" anchor="ctr"/>
          <a:lstStyle/>
          <a:p>
            <a:pPr indent="0" marL="0">
              <a:lnSpc>
                <a:spcPct val="90000"/>
              </a:lnSpc>
              <a:buNone/>
            </a:pPr>
            <a:r>
              <a:rPr lang="en-US" sz="1020" b="1" dirty="0">
                <a:solidFill>
                  <a:srgbClr val="051C2C"/>
                </a:solidFill>
                <a:latin typeface="Roboto" pitchFamily="34" charset="0"/>
                <a:ea typeface="Roboto" pitchFamily="34" charset="-122"/>
                <a:cs typeface="Roboto" pitchFamily="34" charset="-120"/>
              </a:rPr>
              <a:t>12.100 kg</a:t>
            </a:r>
            <a:endParaRPr lang="en-US" sz="864" dirty="0"/>
          </a:p>
        </p:txBody>
      </p:sp>
      <p:sp>
        <p:nvSpPr>
          <p:cNvPr id="129" name="Shape 110"/>
          <p:cNvSpPr/>
          <p:nvPr/>
        </p:nvSpPr>
        <p:spPr>
          <a:xfrm>
            <a:off x="3561885" y="5845302"/>
            <a:ext cx="490000" cy="155448"/>
          </a:xfrm>
          <a:prstGeom prst="roundRect">
            <a:avLst>
              <a:gd name="adj" fmla="val 50000"/>
            </a:avLst>
          </a:prstGeom>
          <a:solidFill>
            <a:srgbClr val="4A9BE0"/>
          </a:solidFill>
          <a:ln/>
        </p:spPr>
        <p:txBody>
          <a:bodyPr/>
          <a:p/>
        </p:txBody>
      </p:sp>
      <p:sp>
        <p:nvSpPr>
          <p:cNvPr id="130" name="Text 111"/>
          <p:cNvSpPr txBox="1"/>
          <p:nvPr/>
        </p:nvSpPr>
        <p:spPr>
          <a:xfrm>
            <a:off x="3561885" y="5845302"/>
            <a:ext cx="490000" cy="155448"/>
          </a:xfrm>
          <a:prstGeom prst="rect">
            <a:avLst/>
          </a:prstGeom>
          <a:noFill/>
          <a:ln/>
        </p:spPr>
        <p:txBody>
          <a:bodyPr wrap="square" lIns="0" tIns="0" rIns="0" bIns="0" rtlCol="0" anchor="ctr"/>
          <a:lstStyle/>
          <a:p>
            <a:pPr algn="ctr" indent="0" marL="0">
              <a:buNone/>
            </a:pPr>
            <a:r>
              <a:rPr lang="en-US" sz="756" b="1" spc="50" kern="0" dirty="0">
                <a:solidFill>
                  <a:srgbClr val="FFFFFF"/>
                </a:solidFill>
                <a:latin typeface="Roboto" pitchFamily="34" charset="0"/>
                <a:ea typeface="Roboto" pitchFamily="34" charset="-122"/>
                <a:cs typeface="Roboto" pitchFamily="34" charset="-120"/>
              </a:rPr>
              <a:t>HUJAN</a:t>
            </a:r>
            <a:endParaRPr lang="en-US" sz="756" dirty="0"/>
          </a:p>
        </p:txBody>
      </p:sp>
      <p:sp>
        <p:nvSpPr>
          <p:cNvPr id="131" name="Text 112"/>
          <p:cNvSpPr txBox="1"/>
          <p:nvPr/>
        </p:nvSpPr>
        <p:spPr>
          <a:xfrm>
            <a:off x="3561885" y="6009894"/>
            <a:ext cx="2337366" cy="146304"/>
          </a:xfrm>
          <a:prstGeom prst="rect">
            <a:avLst/>
          </a:prstGeom>
          <a:noFill/>
          <a:ln/>
        </p:spPr>
        <p:txBody>
          <a:bodyPr wrap="square" lIns="0" tIns="0" rIns="0" bIns="0" rtlCol="0" anchor="ctr"/>
          <a:lstStyle/>
          <a:p>
            <a:pPr indent="0" marL="0">
              <a:buNone/>
            </a:pPr>
            <a:r>
              <a:rPr lang="en-US" sz="840" dirty="0">
                <a:solidFill>
                  <a:srgbClr val="2E3440"/>
                </a:solidFill>
                <a:latin typeface="Roboto" pitchFamily="34" charset="0"/>
                <a:ea typeface="Roboto" pitchFamily="34" charset="-122"/>
                <a:cs typeface="Roboto" pitchFamily="34" charset="-120"/>
              </a:rPr>
              <a:t>NaCl 8.800 kg, dry ice 3.300 kg</a:t>
            </a:r>
            <a:endParaRPr lang="en-US" sz="840" dirty="0"/>
          </a:p>
        </p:txBody>
      </p:sp>
      <p:sp>
        <p:nvSpPr>
          <p:cNvPr id="132" name="Shape 113"/>
          <p:cNvSpPr/>
          <p:nvPr/>
        </p:nvSpPr>
        <p:spPr>
          <a:xfrm>
            <a:off x="2649661" y="5923026"/>
            <a:ext cx="502920" cy="164592"/>
          </a:xfrm>
          <a:prstGeom prst="roundRect">
            <a:avLst>
              <a:gd name="adj" fmla="val 50000"/>
            </a:avLst>
          </a:prstGeom>
          <a:solidFill>
            <a:srgbClr val="E6EAF0"/>
          </a:solidFill>
          <a:ln/>
        </p:spPr>
        <p:txBody>
          <a:bodyPr/>
          <a:p/>
        </p:txBody>
      </p:sp>
      <p:sp>
        <p:nvSpPr>
          <p:cNvPr id="133" name="Text 114"/>
          <p:cNvSpPr txBox="1"/>
          <p:nvPr/>
        </p:nvSpPr>
        <p:spPr>
          <a:xfrm>
            <a:off x="2649661" y="5923026"/>
            <a:ext cx="502920" cy="164592"/>
          </a:xfrm>
          <a:prstGeom prst="rect">
            <a:avLst/>
          </a:prstGeom>
          <a:noFill/>
          <a:ln/>
        </p:spPr>
        <p:txBody>
          <a:bodyPr wrap="square" lIns="0" tIns="0" rIns="0" bIns="0" rtlCol="0" anchor="ctr"/>
          <a:lstStyle/>
          <a:p>
            <a:pPr algn="ctr" indent="0" marL="0">
              <a:buNone/>
            </a:pPr>
            <a:r>
              <a:rPr lang="en-US" sz="792" b="1" dirty="0">
                <a:solidFill>
                  <a:srgbClr val="051C2C"/>
                </a:solidFill>
                <a:latin typeface="Roboto" pitchFamily="34" charset="0"/>
                <a:ea typeface="Roboto" pitchFamily="34" charset="-122"/>
                <a:cs typeface="Roboto" pitchFamily="34" charset="-120"/>
              </a:rPr>
              <a:t>8 sortie</a:t>
            </a:r>
            <a:endParaRPr lang="en-US" sz="792" dirty="0"/>
          </a:p>
        </p:txBody>
      </p:sp>
      <p:sp>
        <p:nvSpPr>
          <p:cNvPr id="134" name="Shape 115"/>
          <p:cNvSpPr/>
          <p:nvPr/>
        </p:nvSpPr>
        <p:spPr>
          <a:xfrm>
            <a:off x="6164428" y="2212848"/>
            <a:ext cx="5478628" cy="4142232"/>
          </a:xfrm>
          <a:prstGeom prst="roundRect">
            <a:avLst>
              <a:gd name="adj" fmla="val 1766"/>
            </a:avLst>
          </a:prstGeom>
          <a:solidFill>
            <a:srgbClr val="FFFFFF"/>
          </a:solidFill>
          <a:ln w="9525">
            <a:solidFill>
              <a:srgbClr val="BFC5CC"/>
            </a:solidFill>
            <a:prstDash val="solid"/>
          </a:ln>
        </p:spPr>
        <p:txBody>
          <a:bodyPr/>
          <a:p/>
        </p:txBody>
      </p:sp>
      <p:sp>
        <p:nvSpPr>
          <p:cNvPr id="135" name="Shape 116"/>
          <p:cNvSpPr/>
          <p:nvPr/>
        </p:nvSpPr>
        <p:spPr>
          <a:xfrm>
            <a:off x="6292444" y="2340864"/>
            <a:ext cx="384048" cy="384048"/>
          </a:xfrm>
          <a:prstGeom prst="ellipse">
            <a:avLst/>
          </a:prstGeom>
          <a:solidFill>
            <a:srgbClr val="051C2C"/>
          </a:solidFill>
          <a:ln/>
        </p:spPr>
        <p:txBody>
          <a:bodyPr/>
          <a:p/>
        </p:txBody>
      </p:sp>
      <p:pic>
        <p:nvPicPr>
          <p:cNvPr id="136" name="Image 17" descr="preencoded.png">    </p:cNvPr>
          <p:cNvPicPr>
            <a:picLocks noChangeAspect="1"/>
          </p:cNvPicPr>
          <p:nvPr/>
        </p:nvPicPr>
        <p:blipFill>
          <a:blip r:embed="rId19"/>
          <a:stretch>
            <a:fillRect/>
          </a:stretch>
        </p:blipFill>
        <p:spPr>
          <a:xfrm>
            <a:off x="6383884" y="2432304"/>
            <a:ext cx="201168" cy="201168"/>
          </a:xfrm>
          <a:prstGeom prst="rect">
            <a:avLst/>
          </a:prstGeom>
        </p:spPr>
      </p:pic>
      <p:sp>
        <p:nvSpPr>
          <p:cNvPr id="137" name="Text 117"/>
          <p:cNvSpPr txBox="1"/>
          <p:nvPr/>
        </p:nvSpPr>
        <p:spPr>
          <a:xfrm>
            <a:off x="6786220" y="2322576"/>
            <a:ext cx="1828800" cy="164592"/>
          </a:xfrm>
          <a:prstGeom prst="rect">
            <a:avLst/>
          </a:prstGeom>
          <a:noFill/>
          <a:ln/>
        </p:spPr>
        <p:txBody>
          <a:bodyPr wrap="square" lIns="0" tIns="0" rIns="0" bIns="0" rtlCol="0" anchor="ctr"/>
          <a:lstStyle/>
          <a:p>
            <a:pPr indent="0" marL="0">
              <a:buNone/>
            </a:pPr>
            <a:r>
              <a:rPr lang="en-US" sz="750" b="1" spc="100" kern="0" dirty="0">
                <a:solidFill>
                  <a:srgbClr val="051C2C"/>
                </a:solidFill>
                <a:latin typeface="Roboto" pitchFamily="34" charset="0"/>
                <a:ea typeface="Roboto" pitchFamily="34" charset="-122"/>
                <a:cs typeface="Roboto" pitchFamily="34" charset="-120"/>
              </a:rPr>
              <a:t>ARMADA UDARA</a:t>
            </a:r>
            <a:endParaRPr lang="en-US" sz="750" dirty="0"/>
          </a:p>
        </p:txBody>
      </p:sp>
      <p:sp>
        <p:nvSpPr>
          <p:cNvPr id="138" name="Shape 118"/>
          <p:cNvSpPr/>
          <p:nvPr/>
        </p:nvSpPr>
        <p:spPr>
          <a:xfrm>
            <a:off x="7792060" y="2327148"/>
            <a:ext cx="530352" cy="155448"/>
          </a:xfrm>
          <a:prstGeom prst="roundRect">
            <a:avLst>
              <a:gd name="adj" fmla="val 50000"/>
            </a:avLst>
          </a:prstGeom>
          <a:solidFill>
            <a:srgbClr val="E6EAF0"/>
          </a:solidFill>
          <a:ln/>
        </p:spPr>
        <p:txBody>
          <a:bodyPr/>
          <a:p/>
        </p:txBody>
      </p:sp>
      <p:sp>
        <p:nvSpPr>
          <p:cNvPr id="139" name="Text 119"/>
          <p:cNvSpPr txBox="1"/>
          <p:nvPr/>
        </p:nvSpPr>
        <p:spPr>
          <a:xfrm>
            <a:off x="7792060" y="2327148"/>
            <a:ext cx="530352" cy="155448"/>
          </a:xfrm>
          <a:prstGeom prst="rect">
            <a:avLst/>
          </a:prstGeom>
          <a:noFill/>
          <a:ln/>
        </p:spPr>
        <p:txBody>
          <a:bodyPr wrap="square" lIns="0" tIns="0" rIns="0" bIns="0" rtlCol="0" anchor="ctr"/>
          <a:lstStyle/>
          <a:p>
            <a:pPr algn="ctr" indent="0" marL="0">
              <a:buNone/>
            </a:pPr>
            <a:r>
              <a:rPr lang="en-US" sz="680" b="1" dirty="0">
                <a:solidFill>
                  <a:srgbClr val="051C2C"/>
                </a:solidFill>
                <a:latin typeface="Roboto" pitchFamily="34" charset="0"/>
                <a:ea typeface="Roboto" pitchFamily="34" charset="-122"/>
                <a:cs typeface="Roboto" pitchFamily="34" charset="-120"/>
              </a:rPr>
              <a:t>25 Okt</a:t>
            </a:r>
            <a:endParaRPr lang="en-US" sz="680" dirty="0"/>
          </a:p>
        </p:txBody>
      </p:sp>
      <p:sp>
        <p:nvSpPr>
          <p:cNvPr id="140" name="Text 120"/>
          <p:cNvSpPr txBox="1"/>
          <p:nvPr/>
        </p:nvSpPr>
        <p:spPr>
          <a:xfrm>
            <a:off x="6786220" y="2487168"/>
            <a:ext cx="914400" cy="274320"/>
          </a:xfrm>
          <a:prstGeom prst="rect">
            <a:avLst/>
          </a:prstGeom>
          <a:noFill/>
          <a:ln/>
        </p:spPr>
        <p:txBody>
          <a:bodyPr wrap="square" lIns="0" tIns="0" rIns="0" bIns="0" rtlCol="0" anchor="ctr"/>
          <a:lstStyle/>
          <a:p>
            <a:pPr indent="0" marL="0">
              <a:buNone/>
            </a:pPr>
            <a:r>
              <a:rPr lang="en-US" sz="1500" b="1" dirty="0">
                <a:solidFill>
                  <a:srgbClr val="051C2C"/>
                </a:solidFill>
                <a:latin typeface="Roboto" pitchFamily="34" charset="0"/>
                <a:ea typeface="Roboto" pitchFamily="34" charset="-122"/>
                <a:cs typeface="Roboto" pitchFamily="34" charset="-120"/>
              </a:rPr>
              <a:t>63 unit</a:t>
            </a:r>
            <a:endParaRPr lang="en-US" sz="1500" dirty="0"/>
          </a:p>
        </p:txBody>
      </p:sp>
      <p:sp>
        <p:nvSpPr>
          <p:cNvPr id="141" name="Shape 121"/>
          <p:cNvSpPr/>
          <p:nvPr/>
        </p:nvSpPr>
        <p:spPr>
          <a:xfrm>
            <a:off x="7490308" y="2514600"/>
            <a:ext cx="1324051" cy="219456"/>
          </a:xfrm>
          <a:prstGeom prst="roundRect">
            <a:avLst>
              <a:gd name="adj" fmla="val 50000"/>
            </a:avLst>
          </a:prstGeom>
          <a:solidFill>
            <a:srgbClr val="051C2C"/>
          </a:solidFill>
          <a:ln/>
        </p:spPr>
        <p:txBody>
          <a:bodyPr/>
          <a:p/>
        </p:txBody>
      </p:sp>
      <p:pic>
        <p:nvPicPr>
          <p:cNvPr id="142" name="Image 18" descr="preencoded.png">    </p:cNvPr>
          <p:cNvPicPr>
            <a:picLocks noChangeAspect="1"/>
          </p:cNvPicPr>
          <p:nvPr/>
        </p:nvPicPr>
        <p:blipFill>
          <a:blip r:embed="rId20"/>
          <a:stretch>
            <a:fillRect/>
          </a:stretch>
        </p:blipFill>
        <p:spPr>
          <a:xfrm>
            <a:off x="7590892" y="2555748"/>
            <a:ext cx="137160" cy="137160"/>
          </a:xfrm>
          <a:prstGeom prst="rect">
            <a:avLst/>
          </a:prstGeom>
        </p:spPr>
      </p:pic>
      <p:sp>
        <p:nvSpPr>
          <p:cNvPr id="143" name="Text 122"/>
          <p:cNvSpPr txBox="1"/>
          <p:nvPr/>
        </p:nvSpPr>
        <p:spPr>
          <a:xfrm>
            <a:off x="7764628" y="2514600"/>
            <a:ext cx="1141171" cy="219456"/>
          </a:xfrm>
          <a:prstGeom prst="rect">
            <a:avLst/>
          </a:prstGeom>
          <a:noFill/>
          <a:ln/>
        </p:spPr>
        <p:txBody>
          <a:bodyPr wrap="square" lIns="0" tIns="0" rIns="0" bIns="0" rtlCol="0" anchor="ctr"/>
          <a:lstStyle/>
          <a:p>
            <a:pPr algn="l" indent="0" marL="0">
              <a:buNone/>
            </a:pPr>
            <a:r>
              <a:rPr lang="en-US" sz="950" b="1" dirty="0">
                <a:solidFill>
                  <a:srgbClr val="FFFFFF"/>
                </a:solidFill>
                <a:latin typeface="Roboto" pitchFamily="34" charset="0"/>
                <a:ea typeface="Roboto" pitchFamily="34" charset="-122"/>
                <a:cs typeface="Roboto" pitchFamily="34" charset="-120"/>
              </a:rPr>
              <a:t>24 </a:t>
            </a:r>
            <a:pPr algn="l" indent="0" marL="0">
              <a:buNone/>
            </a:pPr>
            <a:r>
              <a:rPr lang="en-US" sz="750" b="1" dirty="0">
                <a:solidFill>
                  <a:srgbClr val="FFFFFF"/>
                </a:solidFill>
                <a:latin typeface="Roboto" pitchFamily="34" charset="0"/>
                <a:ea typeface="Roboto" pitchFamily="34" charset="-122"/>
                <a:cs typeface="Roboto" pitchFamily="34" charset="-120"/>
              </a:rPr>
              <a:t>patroli/CASA/OMC</a:t>
            </a:r>
            <a:endParaRPr lang="en-US" sz="1200" dirty="0"/>
          </a:p>
        </p:txBody>
      </p:sp>
      <p:sp>
        <p:nvSpPr>
          <p:cNvPr id="144" name="Shape 123"/>
          <p:cNvSpPr/>
          <p:nvPr/>
        </p:nvSpPr>
        <p:spPr>
          <a:xfrm>
            <a:off x="8869223" y="2514600"/>
            <a:ext cx="1419149" cy="219456"/>
          </a:xfrm>
          <a:prstGeom prst="roundRect">
            <a:avLst>
              <a:gd name="adj" fmla="val 50000"/>
            </a:avLst>
          </a:prstGeom>
          <a:solidFill>
            <a:srgbClr val="D9600B"/>
          </a:solidFill>
          <a:ln/>
        </p:spPr>
        <p:txBody>
          <a:bodyPr/>
          <a:p/>
        </p:txBody>
      </p:sp>
      <p:pic>
        <p:nvPicPr>
          <p:cNvPr id="145" name="Image 19" descr="preencoded.png">    </p:cNvPr>
          <p:cNvPicPr>
            <a:picLocks noChangeAspect="1"/>
          </p:cNvPicPr>
          <p:nvPr/>
        </p:nvPicPr>
        <p:blipFill>
          <a:blip r:embed="rId21"/>
          <a:stretch>
            <a:fillRect/>
          </a:stretch>
        </p:blipFill>
        <p:spPr>
          <a:xfrm>
            <a:off x="8969807" y="2555748"/>
            <a:ext cx="137160" cy="137160"/>
          </a:xfrm>
          <a:prstGeom prst="rect">
            <a:avLst/>
          </a:prstGeom>
        </p:spPr>
      </p:pic>
      <p:sp>
        <p:nvSpPr>
          <p:cNvPr id="146" name="Text 124"/>
          <p:cNvSpPr txBox="1"/>
          <p:nvPr/>
        </p:nvSpPr>
        <p:spPr>
          <a:xfrm>
            <a:off x="9143543" y="2514600"/>
            <a:ext cx="1236269" cy="219456"/>
          </a:xfrm>
          <a:prstGeom prst="rect">
            <a:avLst/>
          </a:prstGeom>
          <a:noFill/>
          <a:ln/>
        </p:spPr>
        <p:txBody>
          <a:bodyPr wrap="square" lIns="0" tIns="0" rIns="0" bIns="0" rtlCol="0" anchor="ctr"/>
          <a:lstStyle/>
          <a:p>
            <a:pPr algn="l" indent="0" marL="0">
              <a:buNone/>
            </a:pPr>
            <a:r>
              <a:rPr lang="en-US" sz="950" b="1" dirty="0">
                <a:solidFill>
                  <a:srgbClr val="FFFFFF"/>
                </a:solidFill>
                <a:latin typeface="Roboto" pitchFamily="34" charset="0"/>
                <a:ea typeface="Roboto" pitchFamily="34" charset="-122"/>
                <a:cs typeface="Roboto" pitchFamily="34" charset="-120"/>
              </a:rPr>
              <a:t>39 </a:t>
            </a:r>
            <a:pPr algn="l" indent="0" marL="0">
              <a:buNone/>
            </a:pPr>
            <a:r>
              <a:rPr lang="en-US" sz="750" b="1" dirty="0">
                <a:solidFill>
                  <a:srgbClr val="FFFFFF"/>
                </a:solidFill>
                <a:latin typeface="Roboto" pitchFamily="34" charset="0"/>
                <a:ea typeface="Roboto" pitchFamily="34" charset="-122"/>
                <a:cs typeface="Roboto" pitchFamily="34" charset="-120"/>
              </a:rPr>
              <a:t>heli water bombing</a:t>
            </a:r>
            <a:endParaRPr lang="en-US" sz="1200" dirty="0"/>
          </a:p>
        </p:txBody>
      </p:sp>
      <p:sp>
        <p:nvSpPr>
          <p:cNvPr id="147" name="Text 125"/>
          <p:cNvSpPr txBox="1"/>
          <p:nvPr/>
        </p:nvSpPr>
        <p:spPr>
          <a:xfrm>
            <a:off x="6329020" y="2898648"/>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Kalimantan Selatan</a:t>
            </a:r>
            <a:endParaRPr lang="en-US" sz="900" dirty="0"/>
          </a:p>
        </p:txBody>
      </p:sp>
      <p:sp>
        <p:nvSpPr>
          <p:cNvPr id="148" name="Shape 126"/>
          <p:cNvSpPr/>
          <p:nvPr/>
        </p:nvSpPr>
        <p:spPr>
          <a:xfrm>
            <a:off x="7791889" y="2942821"/>
            <a:ext cx="1237006" cy="220866"/>
          </a:xfrm>
          <a:prstGeom prst="rect">
            <a:avLst/>
          </a:prstGeom>
          <a:solidFill>
            <a:srgbClr val="051C2C"/>
          </a:solidFill>
          <a:ln/>
        </p:spPr>
        <p:txBody>
          <a:bodyPr/>
          <a:p/>
        </p:txBody>
      </p:sp>
      <p:sp>
        <p:nvSpPr>
          <p:cNvPr id="149" name="Text 127"/>
          <p:cNvSpPr txBox="1"/>
          <p:nvPr/>
        </p:nvSpPr>
        <p:spPr>
          <a:xfrm>
            <a:off x="7791889" y="2942821"/>
            <a:ext cx="1237006"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9</a:t>
            </a:r>
            <a:endParaRPr lang="en-US" sz="1000" dirty="0"/>
          </a:p>
        </p:txBody>
      </p:sp>
      <p:sp>
        <p:nvSpPr>
          <p:cNvPr id="150" name="Shape 128"/>
          <p:cNvSpPr/>
          <p:nvPr/>
        </p:nvSpPr>
        <p:spPr>
          <a:xfrm>
            <a:off x="9028895" y="2942821"/>
            <a:ext cx="824670" cy="220866"/>
          </a:xfrm>
          <a:prstGeom prst="rect">
            <a:avLst/>
          </a:prstGeom>
          <a:solidFill>
            <a:srgbClr val="D9600B"/>
          </a:solidFill>
          <a:ln/>
        </p:spPr>
        <p:txBody>
          <a:bodyPr/>
          <a:p/>
        </p:txBody>
      </p:sp>
      <p:sp>
        <p:nvSpPr>
          <p:cNvPr id="151" name="Text 129"/>
          <p:cNvSpPr txBox="1"/>
          <p:nvPr/>
        </p:nvSpPr>
        <p:spPr>
          <a:xfrm>
            <a:off x="9028895" y="2942821"/>
            <a:ext cx="824670"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6</a:t>
            </a:r>
            <a:endParaRPr lang="en-US" sz="1000" dirty="0"/>
          </a:p>
        </p:txBody>
      </p:sp>
      <p:sp>
        <p:nvSpPr>
          <p:cNvPr id="152" name="Text 130"/>
          <p:cNvSpPr txBox="1"/>
          <p:nvPr/>
        </p:nvSpPr>
        <p:spPr>
          <a:xfrm>
            <a:off x="9944804" y="2898648"/>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15</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53" name="Text 131"/>
          <p:cNvSpPr txBox="1"/>
          <p:nvPr/>
        </p:nvSpPr>
        <p:spPr>
          <a:xfrm>
            <a:off x="6329020" y="3207861"/>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Sumatera Selatan</a:t>
            </a:r>
            <a:endParaRPr lang="en-US" sz="900" dirty="0"/>
          </a:p>
        </p:txBody>
      </p:sp>
      <p:sp>
        <p:nvSpPr>
          <p:cNvPr id="154" name="Shape 132"/>
          <p:cNvSpPr/>
          <p:nvPr/>
        </p:nvSpPr>
        <p:spPr>
          <a:xfrm>
            <a:off x="7791889" y="3252034"/>
            <a:ext cx="687225" cy="220866"/>
          </a:xfrm>
          <a:prstGeom prst="rect">
            <a:avLst/>
          </a:prstGeom>
          <a:solidFill>
            <a:srgbClr val="051C2C"/>
          </a:solidFill>
          <a:ln/>
        </p:spPr>
        <p:txBody>
          <a:bodyPr/>
          <a:p/>
        </p:txBody>
      </p:sp>
      <p:sp>
        <p:nvSpPr>
          <p:cNvPr id="155" name="Text 133"/>
          <p:cNvSpPr txBox="1"/>
          <p:nvPr/>
        </p:nvSpPr>
        <p:spPr>
          <a:xfrm>
            <a:off x="7791889" y="3252034"/>
            <a:ext cx="68722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5</a:t>
            </a:r>
            <a:endParaRPr lang="en-US" sz="1000" dirty="0"/>
          </a:p>
        </p:txBody>
      </p:sp>
      <p:sp>
        <p:nvSpPr>
          <p:cNvPr id="156" name="Shape 134"/>
          <p:cNvSpPr/>
          <p:nvPr/>
        </p:nvSpPr>
        <p:spPr>
          <a:xfrm>
            <a:off x="8479114" y="3252034"/>
            <a:ext cx="687225" cy="220866"/>
          </a:xfrm>
          <a:prstGeom prst="rect">
            <a:avLst/>
          </a:prstGeom>
          <a:solidFill>
            <a:srgbClr val="D9600B"/>
          </a:solidFill>
          <a:ln/>
        </p:spPr>
        <p:txBody>
          <a:bodyPr/>
          <a:p/>
        </p:txBody>
      </p:sp>
      <p:sp>
        <p:nvSpPr>
          <p:cNvPr id="157" name="Text 135"/>
          <p:cNvSpPr txBox="1"/>
          <p:nvPr/>
        </p:nvSpPr>
        <p:spPr>
          <a:xfrm>
            <a:off x="8479114" y="3252034"/>
            <a:ext cx="68722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5</a:t>
            </a:r>
            <a:endParaRPr lang="en-US" sz="1000" dirty="0"/>
          </a:p>
        </p:txBody>
      </p:sp>
      <p:sp>
        <p:nvSpPr>
          <p:cNvPr id="158" name="Text 136"/>
          <p:cNvSpPr txBox="1"/>
          <p:nvPr/>
        </p:nvSpPr>
        <p:spPr>
          <a:xfrm>
            <a:off x="9257579" y="3207861"/>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10</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59" name="Text 137"/>
          <p:cNvSpPr txBox="1"/>
          <p:nvPr/>
        </p:nvSpPr>
        <p:spPr>
          <a:xfrm>
            <a:off x="6329020" y="3517074"/>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Kalimantan Tengah</a:t>
            </a:r>
            <a:endParaRPr lang="en-US" sz="900" dirty="0"/>
          </a:p>
        </p:txBody>
      </p:sp>
      <p:sp>
        <p:nvSpPr>
          <p:cNvPr id="160" name="Shape 138"/>
          <p:cNvSpPr/>
          <p:nvPr/>
        </p:nvSpPr>
        <p:spPr>
          <a:xfrm>
            <a:off x="7791889" y="3561247"/>
            <a:ext cx="274890" cy="220866"/>
          </a:xfrm>
          <a:prstGeom prst="rect">
            <a:avLst/>
          </a:prstGeom>
          <a:solidFill>
            <a:srgbClr val="051C2C"/>
          </a:solidFill>
          <a:ln/>
        </p:spPr>
        <p:txBody>
          <a:bodyPr/>
          <a:p/>
        </p:txBody>
      </p:sp>
      <p:sp>
        <p:nvSpPr>
          <p:cNvPr id="161" name="Text 139"/>
          <p:cNvSpPr txBox="1"/>
          <p:nvPr/>
        </p:nvSpPr>
        <p:spPr>
          <a:xfrm>
            <a:off x="7791889" y="3561247"/>
            <a:ext cx="274890"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2</a:t>
            </a:r>
            <a:endParaRPr lang="en-US" sz="1000" dirty="0"/>
          </a:p>
        </p:txBody>
      </p:sp>
      <p:sp>
        <p:nvSpPr>
          <p:cNvPr id="162" name="Shape 140"/>
          <p:cNvSpPr/>
          <p:nvPr/>
        </p:nvSpPr>
        <p:spPr>
          <a:xfrm>
            <a:off x="8066779" y="3561247"/>
            <a:ext cx="1099560" cy="220866"/>
          </a:xfrm>
          <a:prstGeom prst="rect">
            <a:avLst/>
          </a:prstGeom>
          <a:solidFill>
            <a:srgbClr val="D9600B"/>
          </a:solidFill>
          <a:ln/>
        </p:spPr>
        <p:txBody>
          <a:bodyPr/>
          <a:p/>
        </p:txBody>
      </p:sp>
      <p:sp>
        <p:nvSpPr>
          <p:cNvPr id="163" name="Text 141"/>
          <p:cNvSpPr txBox="1"/>
          <p:nvPr/>
        </p:nvSpPr>
        <p:spPr>
          <a:xfrm>
            <a:off x="8066779" y="3561247"/>
            <a:ext cx="1099560"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8</a:t>
            </a:r>
            <a:endParaRPr lang="en-US" sz="1000" dirty="0"/>
          </a:p>
        </p:txBody>
      </p:sp>
      <p:sp>
        <p:nvSpPr>
          <p:cNvPr id="164" name="Text 142"/>
          <p:cNvSpPr txBox="1"/>
          <p:nvPr/>
        </p:nvSpPr>
        <p:spPr>
          <a:xfrm>
            <a:off x="9257579" y="3517074"/>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10</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65" name="Text 143"/>
          <p:cNvSpPr txBox="1"/>
          <p:nvPr/>
        </p:nvSpPr>
        <p:spPr>
          <a:xfrm>
            <a:off x="6329020" y="3826287"/>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Kalimantan Barat</a:t>
            </a:r>
            <a:endParaRPr lang="en-US" sz="900" dirty="0"/>
          </a:p>
        </p:txBody>
      </p:sp>
      <p:sp>
        <p:nvSpPr>
          <p:cNvPr id="166" name="Shape 144"/>
          <p:cNvSpPr/>
          <p:nvPr/>
        </p:nvSpPr>
        <p:spPr>
          <a:xfrm>
            <a:off x="7791889" y="3870460"/>
            <a:ext cx="274890" cy="220866"/>
          </a:xfrm>
          <a:prstGeom prst="rect">
            <a:avLst/>
          </a:prstGeom>
          <a:solidFill>
            <a:srgbClr val="051C2C"/>
          </a:solidFill>
          <a:ln/>
        </p:spPr>
        <p:txBody>
          <a:bodyPr/>
          <a:p/>
        </p:txBody>
      </p:sp>
      <p:sp>
        <p:nvSpPr>
          <p:cNvPr id="167" name="Text 145"/>
          <p:cNvSpPr txBox="1"/>
          <p:nvPr/>
        </p:nvSpPr>
        <p:spPr>
          <a:xfrm>
            <a:off x="7791889" y="3870460"/>
            <a:ext cx="274890"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2</a:t>
            </a:r>
            <a:endParaRPr lang="en-US" sz="1000" dirty="0"/>
          </a:p>
        </p:txBody>
      </p:sp>
      <p:sp>
        <p:nvSpPr>
          <p:cNvPr id="168" name="Shape 146"/>
          <p:cNvSpPr/>
          <p:nvPr/>
        </p:nvSpPr>
        <p:spPr>
          <a:xfrm>
            <a:off x="8066779" y="3870460"/>
            <a:ext cx="962115" cy="220866"/>
          </a:xfrm>
          <a:prstGeom prst="rect">
            <a:avLst/>
          </a:prstGeom>
          <a:solidFill>
            <a:srgbClr val="D9600B"/>
          </a:solidFill>
          <a:ln/>
        </p:spPr>
        <p:txBody>
          <a:bodyPr/>
          <a:p/>
        </p:txBody>
      </p:sp>
      <p:sp>
        <p:nvSpPr>
          <p:cNvPr id="169" name="Text 147"/>
          <p:cNvSpPr txBox="1"/>
          <p:nvPr/>
        </p:nvSpPr>
        <p:spPr>
          <a:xfrm>
            <a:off x="8066779" y="3870460"/>
            <a:ext cx="96211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7</a:t>
            </a:r>
            <a:endParaRPr lang="en-US" sz="1000" dirty="0"/>
          </a:p>
        </p:txBody>
      </p:sp>
      <p:sp>
        <p:nvSpPr>
          <p:cNvPr id="170" name="Text 148"/>
          <p:cNvSpPr txBox="1"/>
          <p:nvPr/>
        </p:nvSpPr>
        <p:spPr>
          <a:xfrm>
            <a:off x="9120134" y="3826287"/>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9</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71" name="Text 149"/>
          <p:cNvSpPr txBox="1"/>
          <p:nvPr/>
        </p:nvSpPr>
        <p:spPr>
          <a:xfrm>
            <a:off x="6329020" y="4135500"/>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Riau</a:t>
            </a:r>
            <a:endParaRPr lang="en-US" sz="900" dirty="0"/>
          </a:p>
        </p:txBody>
      </p:sp>
      <p:sp>
        <p:nvSpPr>
          <p:cNvPr id="172" name="Shape 150"/>
          <p:cNvSpPr/>
          <p:nvPr/>
        </p:nvSpPr>
        <p:spPr>
          <a:xfrm>
            <a:off x="7791889" y="4179673"/>
            <a:ext cx="137445" cy="220866"/>
          </a:xfrm>
          <a:prstGeom prst="rect">
            <a:avLst/>
          </a:prstGeom>
          <a:solidFill>
            <a:srgbClr val="051C2C"/>
          </a:solidFill>
          <a:ln/>
        </p:spPr>
        <p:txBody>
          <a:bodyPr/>
          <a:p/>
        </p:txBody>
      </p:sp>
      <p:sp>
        <p:nvSpPr>
          <p:cNvPr id="173" name="Text 151"/>
          <p:cNvSpPr txBox="1"/>
          <p:nvPr/>
        </p:nvSpPr>
        <p:spPr>
          <a:xfrm>
            <a:off x="7791889" y="4179673"/>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74" name="Shape 152"/>
          <p:cNvSpPr/>
          <p:nvPr/>
        </p:nvSpPr>
        <p:spPr>
          <a:xfrm>
            <a:off x="7929334" y="4179673"/>
            <a:ext cx="549780" cy="220866"/>
          </a:xfrm>
          <a:prstGeom prst="rect">
            <a:avLst/>
          </a:prstGeom>
          <a:solidFill>
            <a:srgbClr val="D9600B"/>
          </a:solidFill>
          <a:ln/>
        </p:spPr>
        <p:txBody>
          <a:bodyPr/>
          <a:p/>
        </p:txBody>
      </p:sp>
      <p:sp>
        <p:nvSpPr>
          <p:cNvPr id="175" name="Text 153"/>
          <p:cNvSpPr txBox="1"/>
          <p:nvPr/>
        </p:nvSpPr>
        <p:spPr>
          <a:xfrm>
            <a:off x="7929334" y="4179673"/>
            <a:ext cx="549780"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4</a:t>
            </a:r>
            <a:endParaRPr lang="en-US" sz="1000" dirty="0"/>
          </a:p>
        </p:txBody>
      </p:sp>
      <p:sp>
        <p:nvSpPr>
          <p:cNvPr id="176" name="Text 154"/>
          <p:cNvSpPr txBox="1"/>
          <p:nvPr/>
        </p:nvSpPr>
        <p:spPr>
          <a:xfrm>
            <a:off x="8570353" y="4135500"/>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5</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77" name="Text 155"/>
          <p:cNvSpPr txBox="1"/>
          <p:nvPr/>
        </p:nvSpPr>
        <p:spPr>
          <a:xfrm>
            <a:off x="6329020" y="4444713"/>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Jambi</a:t>
            </a:r>
            <a:endParaRPr lang="en-US" sz="900" dirty="0"/>
          </a:p>
        </p:txBody>
      </p:sp>
      <p:sp>
        <p:nvSpPr>
          <p:cNvPr id="178" name="Shape 156"/>
          <p:cNvSpPr/>
          <p:nvPr/>
        </p:nvSpPr>
        <p:spPr>
          <a:xfrm>
            <a:off x="7791889" y="4488886"/>
            <a:ext cx="137445" cy="220866"/>
          </a:xfrm>
          <a:prstGeom prst="rect">
            <a:avLst/>
          </a:prstGeom>
          <a:solidFill>
            <a:srgbClr val="051C2C"/>
          </a:solidFill>
          <a:ln/>
        </p:spPr>
        <p:txBody>
          <a:bodyPr/>
          <a:p/>
        </p:txBody>
      </p:sp>
      <p:sp>
        <p:nvSpPr>
          <p:cNvPr id="179" name="Text 157"/>
          <p:cNvSpPr txBox="1"/>
          <p:nvPr/>
        </p:nvSpPr>
        <p:spPr>
          <a:xfrm>
            <a:off x="7791889" y="4488886"/>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80" name="Shape 158"/>
          <p:cNvSpPr/>
          <p:nvPr/>
        </p:nvSpPr>
        <p:spPr>
          <a:xfrm>
            <a:off x="7929334" y="4488886"/>
            <a:ext cx="412335" cy="220866"/>
          </a:xfrm>
          <a:prstGeom prst="rect">
            <a:avLst/>
          </a:prstGeom>
          <a:solidFill>
            <a:srgbClr val="D9600B"/>
          </a:solidFill>
          <a:ln/>
        </p:spPr>
        <p:txBody>
          <a:bodyPr/>
          <a:p/>
        </p:txBody>
      </p:sp>
      <p:sp>
        <p:nvSpPr>
          <p:cNvPr id="181" name="Text 159"/>
          <p:cNvSpPr txBox="1"/>
          <p:nvPr/>
        </p:nvSpPr>
        <p:spPr>
          <a:xfrm>
            <a:off x="7929334" y="4488886"/>
            <a:ext cx="41233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3</a:t>
            </a:r>
            <a:endParaRPr lang="en-US" sz="1000" dirty="0"/>
          </a:p>
        </p:txBody>
      </p:sp>
      <p:sp>
        <p:nvSpPr>
          <p:cNvPr id="182" name="Text 160"/>
          <p:cNvSpPr txBox="1"/>
          <p:nvPr/>
        </p:nvSpPr>
        <p:spPr>
          <a:xfrm>
            <a:off x="8432908" y="4444713"/>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4</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83" name="Text 161"/>
          <p:cNvSpPr txBox="1"/>
          <p:nvPr/>
        </p:nvSpPr>
        <p:spPr>
          <a:xfrm>
            <a:off x="6329020" y="5063139"/>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Jawa Timur</a:t>
            </a:r>
            <a:endParaRPr lang="en-US" sz="900" dirty="0"/>
          </a:p>
        </p:txBody>
      </p:sp>
      <p:sp>
        <p:nvSpPr>
          <p:cNvPr id="184" name="Shape 162"/>
          <p:cNvSpPr/>
          <p:nvPr/>
        </p:nvSpPr>
        <p:spPr>
          <a:xfrm>
            <a:off x="7791889" y="5107312"/>
            <a:ext cx="137445" cy="220866"/>
          </a:xfrm>
          <a:prstGeom prst="rect">
            <a:avLst/>
          </a:prstGeom>
          <a:solidFill>
            <a:srgbClr val="051C2C"/>
          </a:solidFill>
          <a:ln/>
        </p:spPr>
        <p:txBody>
          <a:bodyPr/>
          <a:p/>
        </p:txBody>
      </p:sp>
      <p:sp>
        <p:nvSpPr>
          <p:cNvPr id="185" name="Text 163"/>
          <p:cNvSpPr txBox="1"/>
          <p:nvPr/>
        </p:nvSpPr>
        <p:spPr>
          <a:xfrm>
            <a:off x="7791889" y="5107312"/>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86" name="Shape 164"/>
          <p:cNvSpPr/>
          <p:nvPr/>
        </p:nvSpPr>
        <p:spPr>
          <a:xfrm>
            <a:off x="7929334" y="5107312"/>
            <a:ext cx="137445" cy="220866"/>
          </a:xfrm>
          <a:prstGeom prst="rect">
            <a:avLst/>
          </a:prstGeom>
          <a:solidFill>
            <a:srgbClr val="D9600B"/>
          </a:solidFill>
          <a:ln/>
        </p:spPr>
        <p:txBody>
          <a:bodyPr/>
          <a:p/>
        </p:txBody>
      </p:sp>
      <p:sp>
        <p:nvSpPr>
          <p:cNvPr id="187" name="Text 165"/>
          <p:cNvSpPr txBox="1"/>
          <p:nvPr/>
        </p:nvSpPr>
        <p:spPr>
          <a:xfrm>
            <a:off x="7929334" y="5107312"/>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88" name="Text 166"/>
          <p:cNvSpPr txBox="1"/>
          <p:nvPr/>
        </p:nvSpPr>
        <p:spPr>
          <a:xfrm>
            <a:off x="8158018" y="5063139"/>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2</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89" name="Text 167"/>
          <p:cNvSpPr txBox="1"/>
          <p:nvPr/>
        </p:nvSpPr>
        <p:spPr>
          <a:xfrm>
            <a:off x="6329020" y="5372352"/>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Lampung</a:t>
            </a:r>
            <a:endParaRPr lang="en-US" sz="900" dirty="0"/>
          </a:p>
        </p:txBody>
      </p:sp>
      <p:sp>
        <p:nvSpPr>
          <p:cNvPr id="190" name="Shape 168"/>
          <p:cNvSpPr/>
          <p:nvPr/>
        </p:nvSpPr>
        <p:spPr>
          <a:xfrm>
            <a:off x="7929334" y="5416525"/>
            <a:ext cx="137445" cy="220866"/>
          </a:xfrm>
          <a:prstGeom prst="rect">
            <a:avLst/>
          </a:prstGeom>
          <a:solidFill>
            <a:srgbClr val="D9600B"/>
          </a:solidFill>
          <a:ln/>
        </p:spPr>
        <p:txBody>
          <a:bodyPr/>
          <a:p/>
        </p:txBody>
      </p:sp>
      <p:sp>
        <p:nvSpPr>
          <p:cNvPr id="191" name="Text 169"/>
          <p:cNvSpPr txBox="1"/>
          <p:nvPr/>
        </p:nvSpPr>
        <p:spPr>
          <a:xfrm>
            <a:off x="7929334" y="5416525"/>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92" name="Text 170"/>
          <p:cNvSpPr txBox="1"/>
          <p:nvPr/>
        </p:nvSpPr>
        <p:spPr>
          <a:xfrm>
            <a:off x="8158018" y="5372352"/>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2</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93" name="Text 149"/>
          <p:cNvSpPr txBox="1"/>
          <p:nvPr/>
        </p:nvSpPr>
        <p:spPr>
          <a:xfrm>
            <a:off x="6329020" y="4753926"/>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Jawa Barat</a:t>
            </a:r>
            <a:endParaRPr lang="en-US" sz="900" dirty="0"/>
          </a:p>
        </p:txBody>
      </p:sp>
      <p:sp>
        <p:nvSpPr>
          <p:cNvPr id="194" name="Shape 150"/>
          <p:cNvSpPr/>
          <p:nvPr/>
        </p:nvSpPr>
        <p:spPr>
          <a:xfrm>
            <a:off x="7791889" y="4798099"/>
            <a:ext cx="137445" cy="220866"/>
          </a:xfrm>
          <a:prstGeom prst="rect">
            <a:avLst/>
          </a:prstGeom>
          <a:solidFill>
            <a:srgbClr val="051C2C"/>
          </a:solidFill>
          <a:ln/>
        </p:spPr>
        <p:txBody>
          <a:bodyPr/>
          <a:p/>
        </p:txBody>
      </p:sp>
      <p:sp>
        <p:nvSpPr>
          <p:cNvPr id="195" name="Text 151"/>
          <p:cNvSpPr txBox="1"/>
          <p:nvPr/>
        </p:nvSpPr>
        <p:spPr>
          <a:xfrm>
            <a:off x="7791889" y="4798099"/>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96" name="Shape 152"/>
          <p:cNvSpPr/>
          <p:nvPr/>
        </p:nvSpPr>
        <p:spPr>
          <a:xfrm>
            <a:off x="7929334" y="4798099"/>
            <a:ext cx="412335" cy="220866"/>
          </a:xfrm>
          <a:prstGeom prst="rect">
            <a:avLst/>
          </a:prstGeom>
          <a:solidFill>
            <a:srgbClr val="D9600B"/>
          </a:solidFill>
          <a:ln/>
        </p:spPr>
        <p:txBody>
          <a:bodyPr/>
          <a:p/>
        </p:txBody>
      </p:sp>
      <p:sp>
        <p:nvSpPr>
          <p:cNvPr id="197" name="Text 153"/>
          <p:cNvSpPr txBox="1"/>
          <p:nvPr/>
        </p:nvSpPr>
        <p:spPr>
          <a:xfrm>
            <a:off x="7929334" y="4798099"/>
            <a:ext cx="41233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3</a:t>
            </a:r>
            <a:endParaRPr lang="en-US" sz="1000" dirty="0"/>
          </a:p>
        </p:txBody>
      </p:sp>
      <p:sp>
        <p:nvSpPr>
          <p:cNvPr id="198" name="Text 154"/>
          <p:cNvSpPr txBox="1"/>
          <p:nvPr/>
        </p:nvSpPr>
        <p:spPr>
          <a:xfrm>
            <a:off x="8432908" y="4753926"/>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4</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199" name="Text 149"/>
          <p:cNvSpPr txBox="1"/>
          <p:nvPr/>
        </p:nvSpPr>
        <p:spPr>
          <a:xfrm>
            <a:off x="6329020" y="5681565"/>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Kalimantan Timur/IKN</a:t>
            </a:r>
            <a:endParaRPr lang="en-US" sz="900" dirty="0"/>
          </a:p>
        </p:txBody>
      </p:sp>
      <p:sp>
        <p:nvSpPr>
          <p:cNvPr id="201" name="Text 151"/>
          <p:cNvSpPr txBox="1"/>
          <p:nvPr/>
        </p:nvSpPr>
        <p:spPr>
          <a:xfrm>
            <a:off x="7791889" y="5725738"/>
            <a:ext cx="206167"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202" name="Shape 152"/>
          <p:cNvSpPr/>
          <p:nvPr/>
        </p:nvSpPr>
        <p:spPr>
          <a:xfrm>
            <a:off x="7791889" y="5725738"/>
            <a:ext cx="137445" cy="220866"/>
          </a:xfrm>
          <a:prstGeom prst="rect">
            <a:avLst/>
          </a:prstGeom>
          <a:solidFill>
            <a:srgbClr val="D9600B"/>
          </a:solidFill>
          <a:ln/>
        </p:spPr>
        <p:txBody>
          <a:bodyPr/>
          <a:p/>
        </p:txBody>
      </p:sp>
      <p:sp>
        <p:nvSpPr>
          <p:cNvPr id="203" name="Text 153"/>
          <p:cNvSpPr txBox="1"/>
          <p:nvPr/>
        </p:nvSpPr>
        <p:spPr>
          <a:xfrm>
            <a:off x="7791889" y="5725738"/>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204" name="Text 154"/>
          <p:cNvSpPr txBox="1"/>
          <p:nvPr/>
        </p:nvSpPr>
        <p:spPr>
          <a:xfrm>
            <a:off x="8020573" y="5681565"/>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1</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205" name="Text 149"/>
          <p:cNvSpPr txBox="1"/>
          <p:nvPr/>
        </p:nvSpPr>
        <p:spPr>
          <a:xfrm>
            <a:off x="6329020" y="5990778"/>
            <a:ext cx="1417320" cy="309213"/>
          </a:xfrm>
          <a:prstGeom prst="rect">
            <a:avLst/>
          </a:prstGeom>
          <a:noFill/>
          <a:ln/>
        </p:spPr>
        <p:txBody>
          <a:bodyPr wrap="square" lIns="0" tIns="0" rIns="0" bIns="0" rtlCol="0" anchor="ctr"/>
          <a:lstStyle/>
          <a:p>
            <a:pPr indent="0" marL="0">
              <a:buNone/>
            </a:pPr>
            <a:r>
              <a:rPr lang="en-US" sz="900" b="1" dirty="0">
                <a:solidFill>
                  <a:srgbClr val="051C2C"/>
                </a:solidFill>
                <a:latin typeface="Roboto" pitchFamily="34" charset="0"/>
                <a:ea typeface="Roboto" pitchFamily="34" charset="-122"/>
                <a:cs typeface="Roboto" pitchFamily="34" charset="-120"/>
              </a:rPr>
              <a:t>Papua Selatan</a:t>
            </a:r>
            <a:endParaRPr lang="en-US" sz="900" dirty="0"/>
          </a:p>
        </p:txBody>
      </p:sp>
      <p:sp>
        <p:nvSpPr>
          <p:cNvPr id="206" name="Shape 150"/>
          <p:cNvSpPr/>
          <p:nvPr/>
        </p:nvSpPr>
        <p:spPr>
          <a:xfrm>
            <a:off x="7791889" y="6034951"/>
            <a:ext cx="137445" cy="220866"/>
          </a:xfrm>
          <a:prstGeom prst="rect">
            <a:avLst/>
          </a:prstGeom>
          <a:solidFill>
            <a:srgbClr val="051C2C"/>
          </a:solidFill>
          <a:ln/>
        </p:spPr>
        <p:txBody>
          <a:bodyPr/>
          <a:p/>
        </p:txBody>
      </p:sp>
      <p:sp>
        <p:nvSpPr>
          <p:cNvPr id="207" name="Text 151"/>
          <p:cNvSpPr txBox="1"/>
          <p:nvPr/>
        </p:nvSpPr>
        <p:spPr>
          <a:xfrm>
            <a:off x="7791889" y="6034951"/>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210" name="Text 154"/>
          <p:cNvSpPr txBox="1"/>
          <p:nvPr/>
        </p:nvSpPr>
        <p:spPr>
          <a:xfrm>
            <a:off x="8020573" y="5990778"/>
            <a:ext cx="64008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1</a:t>
            </a:r>
            <a:pPr algn="l" indent="0" marL="0">
              <a:buNone/>
            </a:pPr>
            <a:r>
              <a:rPr lang="en-US" sz="800" dirty="0">
                <a:solidFill>
                  <a:srgbClr val="6B7280"/>
                </a:solidFill>
                <a:latin typeface="Roboto" pitchFamily="34" charset="0"/>
                <a:ea typeface="Roboto" pitchFamily="34" charset="-122"/>
                <a:cs typeface="Roboto" pitchFamily="34" charset="-120"/>
              </a:rPr>
              <a:t> unit</a:t>
            </a:r>
            <a:endParaRPr lang="en-US" sz="1200" dirty="0"/>
          </a:p>
        </p:txBody>
      </p:sp>
      <p:sp>
        <p:nvSpPr>
          <p:cNvPr id="211" name="Shape 168"/>
          <p:cNvSpPr/>
          <p:nvPr/>
        </p:nvSpPr>
        <p:spPr>
          <a:xfrm>
            <a:off x="7791889" y="5416525"/>
            <a:ext cx="137445" cy="220866"/>
          </a:xfrm>
          <a:prstGeom prst="rect">
            <a:avLst/>
          </a:prstGeom>
          <a:solidFill>
            <a:srgbClr val="051C2C"/>
          </a:solidFill>
          <a:ln/>
        </p:spPr>
        <p:txBody>
          <a:bodyPr/>
          <a:p/>
        </p:txBody>
      </p:sp>
      <p:sp>
        <p:nvSpPr>
          <p:cNvPr id="212" name="Text 169"/>
          <p:cNvSpPr txBox="1"/>
          <p:nvPr/>
        </p:nvSpPr>
        <p:spPr>
          <a:xfrm>
            <a:off x="7791889" y="5416525"/>
            <a:ext cx="137445" cy="220866"/>
          </a:xfrm>
          <a:prstGeom prst="rect">
            <a:avLst/>
          </a:prstGeom>
          <a:noFill/>
          <a:ln/>
        </p:spPr>
        <p:txBody>
          <a:bodyPr wrap="square" lIns="0" tIns="0" rIns="0" bIns="0" rtlCol="0" anchor="ctr"/>
          <a:lstStyle/>
          <a:p>
            <a:pPr algn="ctr" indent="0" marL="0">
              <a:buNone/>
            </a:pPr>
            <a:r>
              <a:rPr lang="en-US" sz="1000" b="1" dirty="0">
                <a:solidFill>
                  <a:srgbClr val="FFFFFF"/>
                </a:solidFill>
                <a:latin typeface="Roboto" pitchFamily="34" charset="0"/>
                <a:ea typeface="Roboto" pitchFamily="34" charset="-122"/>
                <a:cs typeface="Roboto" pitchFamily="34" charset="-120"/>
              </a:rPr>
              <a:t>1</a:t>
            </a:r>
            <a:endParaRPr lang="en-US" sz="1000" dirty="0"/>
          </a:p>
        </p:txBody>
      </p:sp>
      <p:sp>
        <p:nvSpPr>
          <p:cNvPr id="137" name="Text 117"/>
          <p:cNvSpPr txBox="1"/>
          <p:nvPr/>
        </p:nvSpPr>
        <p:spPr>
          <a:xfrm>
            <a:off x="10820400" y="2749550"/>
            <a:ext cx="812800" cy="164592"/>
          </a:xfrm>
          <a:prstGeom prst="rect">
            <a:avLst/>
          </a:prstGeom>
          <a:noFill/>
          <a:ln/>
        </p:spPr>
        <p:txBody>
          <a:bodyPr wrap="square" lIns="0" tIns="0" rIns="0" bIns="0" rtlCol="0" anchor="ctr"/>
          <a:lstStyle/>
          <a:p>
            <a:pPr indent="0" marL="0">
              <a:buNone/>
            </a:pPr>
            <a:r>
              <a:rPr lang="en-US" sz="630" b="1" spc="100" kern="0" dirty="0">
                <a:solidFill>
                  <a:srgbClr val="051C2C"/>
                </a:solidFill>
                <a:latin typeface="Roboto" pitchFamily="34" charset="0"/>
                <a:ea typeface="Roboto" pitchFamily="34" charset="-122"/>
                <a:cs typeface="Roboto" pitchFamily="34" charset="-120"/>
              </a:rPr>
              <a:t>JAM TERBANG</a:t>
            </a:r>
            <a:endParaRPr lang="en-US" sz="750" dirty="0"/>
          </a:p>
        </p:txBody>
      </p:sp>
      <p:sp>
        <p:nvSpPr>
          <p:cNvPr id="138" name="Shape 118"/>
          <p:cNvSpPr/>
          <p:nvPr/>
        </p:nvSpPr>
        <p:spPr>
          <a:xfrm>
            <a:off x="10350500" y="2326640"/>
            <a:ext cx="1244600" cy="155448"/>
          </a:xfrm>
          <a:prstGeom prst="roundRect">
            <a:avLst>
              <a:gd name="adj" fmla="val 50000"/>
            </a:avLst>
          </a:prstGeom>
          <a:solidFill>
            <a:srgbClr val="E6EAF0"/>
          </a:solidFill>
          <a:ln/>
        </p:spPr>
        <p:txBody>
          <a:bodyPr/>
          <a:p/>
        </p:txBody>
      </p:sp>
      <p:sp>
        <p:nvSpPr>
          <p:cNvPr id="139" name="Text 119"/>
          <p:cNvSpPr txBox="1"/>
          <p:nvPr/>
        </p:nvSpPr>
        <p:spPr>
          <a:xfrm>
            <a:off x="10350500" y="2326640"/>
            <a:ext cx="1244600" cy="155448"/>
          </a:xfrm>
          <a:prstGeom prst="rect">
            <a:avLst/>
          </a:prstGeom>
          <a:noFill/>
          <a:ln/>
        </p:spPr>
        <p:txBody>
          <a:bodyPr wrap="square" lIns="0" tIns="0" rIns="0" bIns="0" rtlCol="0" anchor="ctr"/>
          <a:lstStyle/>
          <a:p>
            <a:pPr algn="ctr" indent="0" marL="0">
              <a:buNone/>
            </a:pPr>
            <a:r>
              <a:rPr lang="en-US" sz="680" b="1" dirty="0">
                <a:solidFill>
                  <a:srgbClr val="051C2C"/>
                </a:solidFill>
                <a:latin typeface="Roboto" pitchFamily="34" charset="0"/>
                <a:ea typeface="Roboto" pitchFamily="34" charset="-122"/>
                <a:cs typeface="Roboto" pitchFamily="34" charset="-120"/>
              </a:rPr>
              <a:t>1.821 jam heli BNPB</a:t>
            </a:r>
            <a:endParaRPr lang="en-US" sz="680" dirty="0"/>
          </a:p>
        </p:txBody>
      </p:sp>
      <p:sp>
        <p:nvSpPr>
          <p:cNvPr id="152" name="Text 130"/>
          <p:cNvSpPr txBox="1"/>
          <p:nvPr/>
        </p:nvSpPr>
        <p:spPr>
          <a:xfrm>
            <a:off x="10820400" y="2898648"/>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283</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3207861"/>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372</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3517074"/>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258</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3826287"/>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348</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4135500"/>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343</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4444713"/>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209</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152" name="Text 130"/>
          <p:cNvSpPr txBox="1"/>
          <p:nvPr/>
        </p:nvSpPr>
        <p:spPr>
          <a:xfrm>
            <a:off x="10820400" y="5372352"/>
            <a:ext cx="812800" cy="309213"/>
          </a:xfrm>
          <a:prstGeom prst="rect">
            <a:avLst/>
          </a:prstGeom>
          <a:noFill/>
          <a:ln/>
        </p:spPr>
        <p:txBody>
          <a:bodyPr wrap="square" lIns="0" tIns="0" rIns="0" bIns="0" rtlCol="0" anchor="ctr"/>
          <a:lstStyle/>
          <a:p>
            <a:pPr algn="l" indent="0" marL="0">
              <a:buNone/>
            </a:pPr>
            <a:r>
              <a:rPr lang="en-US" sz="1200" b="1" dirty="0">
                <a:solidFill>
                  <a:srgbClr val="051C2C"/>
                </a:solidFill>
                <a:latin typeface="Roboto" pitchFamily="34" charset="0"/>
                <a:ea typeface="Roboto" pitchFamily="34" charset="-122"/>
                <a:cs typeface="Roboto" pitchFamily="34" charset="-120"/>
              </a:rPr>
              <a:t>8</a:t>
            </a:r>
            <a:pPr algn="l" indent="0" marL="0">
              <a:buNone/>
            </a:pPr>
            <a:r>
              <a:rPr lang="en-US" sz="800" dirty="0">
                <a:solidFill>
                  <a:srgbClr val="6B7280"/>
                </a:solidFill>
                <a:latin typeface="Roboto" pitchFamily="34" charset="0"/>
                <a:ea typeface="Roboto" pitchFamily="34" charset="-122"/>
                <a:cs typeface="Roboto" pitchFamily="34" charset="-120"/>
              </a:rPr>
              <a:t> jam</a:t>
            </a:r>
            <a:endParaRPr lang="en-US" sz="1200" dirty="0"/>
          </a:p>
        </p:txBody>
      </p:sp>
      <p:sp>
        <p:nvSpPr>
          <p:cNvPr id="7" name="TextBox 6"/>
          <p:cNvSpPr txBox="1"/>
          <p:nvPr/>
        </p:nvSpPr>
        <p:spPr>
          <a:xfrm>
            <a:off x="11094720" y="6510020"/>
            <a:ext cx="548640" cy="200660"/>
          </a:xfrm>
          <a:prstGeom prst="rect">
            <a:avLst/>
          </a:prstGeom>
          <a:noFill/>
        </p:spPr>
        <p:txBody>
          <a:bodyPr wrap="none" lIns="0" tIns="0" rIns="0" bIns="0" anchor="t">
            <a:noAutofit/>
          </a:bodyPr>
          <a:lstStyle/>
          <a:p>
            <a:pPr algn="r"/>
            <a:r>
              <a:rPr sz="980" b="1" lang="id-ID">
                <a:solidFill>
                  <a:srgbClr val="1A1A1A"/>
                </a:solidFill>
                <a:latin typeface="Roboto"/>
              </a:rPr>
              <a:t>7</a:t>
            </a:r>
          </a:p>
        </p:txBody>
      </p:sp>
    </p:spTree>
  </p:cSld>
  <p:clrMapOvr>
    <a:masterClrMapping/>
  </p:clrMapOvr>
</p:sld>
</file>

<file path=ppt/theme/theme1.xml><?xml version="1.0" encoding="utf-8"?>
<a:theme xmlns:a="http://schemas.openxmlformats.org/drawingml/2006/main" name="Office Theme">
  <a:themeElements>
    <a:clrScheme name="Office">
      <a:dk1>
        <a:srgbClr val="1A1A1A"/>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Badan Nasional Penanggulangan Bencana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Kepala BNPB dengan Timbalan Ketua Perwakilan Malaysia</dc:title>
  <dc:subject>Penanganan Karhutla 2026 dan Kerja Sama dengan Malaysia</dc:subject>
  <dc:creator>Badan Nasional Penanggulangan Bencana</dc:creator>
  <cp:lastModifiedBy>Badan Nasional Penanggulangan Bencana</cp:lastModifiedBy>
  <cp:revision>1</cp:revision>
  <dcterms:created xsi:type="dcterms:W3CDTF">2026-10-22T07:37:45Z</dcterms:created>
  <dcterms:modified xsi:type="dcterms:W3CDTF">2026-10-22T07:37:45Z</dcterms:modified>
  <cp:keywords>BNPB; Malaysia; NADMA; karhutla; CL-415MP</cp:keywords>
  <dc:language>id-ID</dc:language>
  <cp:category>Kajian</cp:category>
  <dc:description>Indonesia menangani karhutla 2026 secara terpadu; tawaran Malaysia dibahas agar sesuai kebutuhan dan kerja sama teknologi memberi nilai tambah nyata.</dc:description>
</cp:coreProperties>
</file>