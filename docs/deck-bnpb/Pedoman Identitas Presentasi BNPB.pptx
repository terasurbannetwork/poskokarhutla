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F8200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Mei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Agu</c:v>
                  </c:pt>
                  <c:pt idx="4">
                    <c:v>Sep</c:v>
                  </c:pt>
                  <c:pt idx="5">
                    <c:v>Okt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2.1</c:v>
                </c:pt>
                <c:pt idx="2">
                  <c:v>4.8</c:v>
                </c:pt>
                <c:pt idx="3">
                  <c:v>9.6</c:v>
                </c:pt>
                <c:pt idx="4">
                  <c:v>12.4</c:v>
                </c:pt>
                <c:pt idx="5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Rata-rata 2021-2025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Mei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Agu</c:v>
                  </c:pt>
                  <c:pt idx="4">
                    <c:v>Sep</c:v>
                  </c:pt>
                  <c:pt idx="5">
                    <c:v>Okt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</c:v>
                </c:pt>
                <c:pt idx="1">
                  <c:v>1.6</c:v>
                </c:pt>
                <c:pt idx="2">
                  <c:v>3.1</c:v>
                </c:pt>
                <c:pt idx="3">
                  <c:v>6.2</c:v>
                </c:pt>
                <c:pt idx="4">
                  <c:v>7.8</c:v>
                </c:pt>
                <c:pt idx="5">
                  <c:v>4.1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Robo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6EEF7"/>
          </a:solidFill>
          <a:ln/>
        </p:spPr>
      </p:sp>
      <p:pic>
        <p:nvPicPr>
          <p:cNvPr id="3" name="Image 0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177" y="201168"/>
            <a:ext cx="399143" cy="5029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L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4632" y="2377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IR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120" y="0"/>
            <a:ext cx="8945575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84632" y="411480"/>
            <a:ext cx="2487168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F82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846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62626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926080"/>
            <a:ext cx="2240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3" name="grad:E6EEF7:FFFFFF:9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E6EEF7"/>
              </a:gs>
              <a:gs pos="100000">
                <a:srgbClr val="FFFFFF"/>
              </a:gs>
            </a:gsLst>
            <a:lin ang="5400000" scaled="0"/>
          </a:gradFill>
          <a:ln/>
        </p:spPr>
      </p:sp>
      <p:pic>
        <p:nvPicPr>
          <p:cNvPr id="4" name="Image 0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218" y="1955825"/>
            <a:ext cx="3706275" cy="3632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" y="6309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84632" y="2377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Pedoman Identitas Presentasi BNPB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84632" y="3977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Aturan logo, warna, huruf, lambang, dan halaman untuk setiap paparan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4632" y="5806440"/>
            <a:ext cx="2743200" cy="0"/>
          </a:xfrm>
          <a:prstGeom prst="line">
            <a:avLst/>
          </a:prstGeom>
          <a:noFill/>
          <a:ln w="25400">
            <a:solidFill>
              <a:srgbClr val="EF82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5943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 kerja, Oktober 2026</a:t>
            </a:r>
            <a:endParaRPr lang="en-US" sz="1200" dirty="0"/>
          </a:p>
        </p:txBody>
      </p:sp>
      <p:pic>
        <p:nvPicPr>
          <p:cNvPr id="10" name="Image 1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411480"/>
            <a:ext cx="979714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Setiap paparan BNPB harus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tenang, berbasis data, netral, dan empatik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Prinsip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Pedoman nada presentasi lembaga negara (draf kerja)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220791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557784" y="1444752"/>
            <a:ext cx="2098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Prinsip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29118" y="1444752"/>
            <a:ext cx="3330153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6"/>
          <p:cNvSpPr/>
          <p:nvPr/>
        </p:nvSpPr>
        <p:spPr>
          <a:xfrm>
            <a:off x="2802270" y="1444752"/>
            <a:ext cx="32204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Lakukan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444752"/>
            <a:ext cx="2881256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6169000" y="1444752"/>
            <a:ext cx="277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Hindari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13680" y="1444752"/>
            <a:ext cx="2656807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9086832" y="1444752"/>
            <a:ext cx="2547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2002536"/>
            <a:ext cx="11222431" cy="953262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" y="2250567"/>
            <a:ext cx="457200" cy="457200"/>
          </a:xfrm>
          <a:prstGeom prst="ellipse">
            <a:avLst/>
          </a:prstGeom>
          <a:solidFill>
            <a:srgbClr val="00499D"/>
          </a:solidFill>
          <a:ln/>
        </p:spPr>
      </p:sp>
      <p:pic>
        <p:nvPicPr>
          <p:cNvPr id="15" name="Image 0" descr="/Users/priyankaalfatehan28/.claude/skills/ppt-konsultan/mesin/cache-ikon/shield-check-fil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51151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04" y="2002536"/>
            <a:ext cx="1595262" cy="95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02270" y="2039112"/>
            <a:ext cx="322042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Bahasa Indonesia baku dan resmi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 pesan utama per slide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69000" y="2039112"/>
            <a:ext cx="27715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Hiperbola dan tanda seru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Merah untuk hal di luar peringatan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86832" y="2039112"/>
            <a:ext cx="2547079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"Jumlah titik panas </a:t>
            </a:r>
            <a:r>
              <a:rPr lang="en-US" sz="10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berpotensi meningkat</a:t>
            </a: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pada Agustus"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" y="3001518"/>
            <a:ext cx="11222431" cy="95326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557784" y="3249549"/>
            <a:ext cx="457200" cy="457200"/>
          </a:xfrm>
          <a:prstGeom prst="ellipse">
            <a:avLst/>
          </a:prstGeom>
          <a:solidFill>
            <a:srgbClr val="00499D"/>
          </a:solidFill>
          <a:ln/>
        </p:spPr>
      </p:sp>
      <p:pic>
        <p:nvPicPr>
          <p:cNvPr id="22" name="Image 1" descr="/Users/priyankaalfatehan28/.claude/skills/ppt-konsultan/mesin/cache-ikon/chart-bar-fill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350133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60704" y="3001518"/>
            <a:ext cx="1595262" cy="95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Berbasis data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802270" y="3038094"/>
            <a:ext cx="322042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Angka bersumber resmi dan bertanggal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Satuan dan cakupan wilayah ditulis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169000" y="3038094"/>
            <a:ext cx="27715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Proyeksi tanpa label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ilustrasi tanpa tanda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086832" y="3038094"/>
            <a:ext cx="2547079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r>
              <a:rPr lang="en-US" sz="10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12.400 titik</a:t>
            </a: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pada September 2026 (BMKG, 1 Okt)"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" y="4000500"/>
            <a:ext cx="11222431" cy="953262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28" name="Shape 24"/>
          <p:cNvSpPr/>
          <p:nvPr/>
        </p:nvSpPr>
        <p:spPr>
          <a:xfrm>
            <a:off x="557784" y="4248531"/>
            <a:ext cx="457200" cy="457200"/>
          </a:xfrm>
          <a:prstGeom prst="ellipse">
            <a:avLst/>
          </a:prstGeom>
          <a:solidFill>
            <a:srgbClr val="00499D"/>
          </a:solidFill>
          <a:ln/>
        </p:spPr>
      </p:sp>
      <p:pic>
        <p:nvPicPr>
          <p:cNvPr id="29" name="Image 2" descr="/Users/priyankaalfatehan28/.claude/skills/ppt-konsultan/mesin/cache-ikon/scales-fill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49115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60704" y="4000500"/>
            <a:ext cx="1595262" cy="95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Netral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2802270" y="4037076"/>
            <a:ext cx="322042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Kinerja lembaga lain disajikan dengan data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Nomenklatur jabatan lengkap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169000" y="4037076"/>
            <a:ext cx="27715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Menyalahkan pihak tertentu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Atribut partai atau kampanye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086832" y="4037076"/>
            <a:ext cx="2547079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"Capaian </a:t>
            </a:r>
            <a:r>
              <a:rPr lang="en-US" sz="10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62%</a:t>
            </a: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dari target tahunan"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84632" y="4999482"/>
            <a:ext cx="11222431" cy="95326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Shape 30"/>
          <p:cNvSpPr/>
          <p:nvPr/>
        </p:nvSpPr>
        <p:spPr>
          <a:xfrm>
            <a:off x="557784" y="5247513"/>
            <a:ext cx="457200" cy="457200"/>
          </a:xfrm>
          <a:prstGeom prst="ellipse">
            <a:avLst/>
          </a:prstGeom>
          <a:solidFill>
            <a:srgbClr val="00499D"/>
          </a:solidFill>
          <a:ln/>
        </p:spPr>
      </p:sp>
      <p:pic>
        <p:nvPicPr>
          <p:cNvPr id="36" name="Image 3" descr="/Users/priyankaalfatehan28/.claude/skills/ppt-konsultan/mesin/cache-ikon/hand-heart-fill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48097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60704" y="4999482"/>
            <a:ext cx="1595262" cy="95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Empatik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2802270" y="5036058"/>
            <a:ext cx="322042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Warga terdampak disebut dengan hormat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Fokus pada tindakan dan pemulihan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169000" y="5036058"/>
            <a:ext cx="27715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korban yang merendahkan</a:t>
            </a:r>
            <a:endParaRPr lang="en-US" sz="10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Angka korban tanpa sumber resmi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086832" y="5036058"/>
            <a:ext cx="2547079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r>
              <a:rPr lang="en-US" sz="10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1.240 warga terdampak</a:t>
            </a: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telah menerima bantuan logistik"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 BNPB dipakai dalam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tiga versi</a:t>
            </a: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sesuai latar dan ruang yang tersedia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Aset logo BNPB; berkas vektor resmi perlu diperoleh dari Humas BNPB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3618890" cy="2891333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6" name="Image 0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557" y="1968703"/>
            <a:ext cx="1463040" cy="18434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" y="4445813"/>
            <a:ext cx="3618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Warna penuh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4738421"/>
            <a:ext cx="361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Latar putih atau tint biru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402" y="1444752"/>
            <a:ext cx="3618890" cy="2891333"/>
          </a:xfrm>
          <a:prstGeom prst="rect">
            <a:avLst/>
          </a:prstGeom>
          <a:solidFill>
            <a:srgbClr val="00499D"/>
          </a:solidFill>
          <a:ln/>
        </p:spPr>
      </p:sp>
      <p:pic>
        <p:nvPicPr>
          <p:cNvPr id="10" name="Image 1" descr="/Users/priyankaalfatehan28/.claude/skills/ppt-konsultan/mesin/merek/bnpb/logo-puti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8" y="1968703"/>
            <a:ext cx="1463040" cy="18434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86402" y="4445813"/>
            <a:ext cx="3618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Putih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86402" y="4738421"/>
            <a:ext cx="361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atas panel biru BNPB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88173" y="1444752"/>
            <a:ext cx="3618890" cy="2891333"/>
          </a:xfrm>
          <a:prstGeom prst="rect">
            <a:avLst/>
          </a:prstGeom>
          <a:solidFill>
            <a:srgbClr val="E6EEF7"/>
          </a:solidFill>
          <a:ln/>
        </p:spPr>
      </p:sp>
      <p:pic>
        <p:nvPicPr>
          <p:cNvPr id="14" name="Image 2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098" y="2173529"/>
            <a:ext cx="1463040" cy="143377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88173" y="4445813"/>
            <a:ext cx="3618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Lambang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088173" y="4738421"/>
            <a:ext cx="361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Ruang sempit; nama lembaga ditulis di dekatnya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" y="5159045"/>
            <a:ext cx="11222431" cy="1104595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8" name="Text 13"/>
          <p:cNvSpPr/>
          <p:nvPr/>
        </p:nvSpPr>
        <p:spPr>
          <a:xfrm>
            <a:off x="713232" y="5159045"/>
            <a:ext cx="10765231" cy="110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Zona aman: </a:t>
            </a: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kosongkan ruang di sekeliling logo minimal setinggi huruf "B" pada tulisan BNPB (sekitar 15% tinggi logo).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Ukuran minimal: </a:t>
            </a: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tinggi 0,5 in di slide; di bawah itu pakai lambang.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Enam perlakuan ini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merusak</a:t>
            </a: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logo dan tidak boleh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Diadaptasi dari Pedoman Identitas Visual HUT RI ke-78 (2023)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6" name="Image 0" descr="/Users/priyankaalfatehan28/.claude/skills/ppt-konsultan/mesin/merek/bnpb/contoh/pu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8675"/>
            <a:ext cx="1809445" cy="1850158"/>
          </a:xfrm>
          <a:prstGeom prst="rect">
            <a:avLst/>
          </a:prstGeom>
        </p:spPr>
      </p:pic>
      <p:pic>
        <p:nvPicPr>
          <p:cNvPr id="7" name="Image 1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88" y="167335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83588" y="2130552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83588" y="2404872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Diputar atau dimiringkan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286402" y="1444752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1" name="Image 2" descr="/Users/priyankaalfatehan28/.claude/skills/ppt-konsultan/mesin/merek/bnpb/contoh/gepe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282" y="1678675"/>
            <a:ext cx="1809445" cy="1850158"/>
          </a:xfrm>
          <a:prstGeom prst="rect">
            <a:avLst/>
          </a:prstGeom>
        </p:spPr>
      </p:pic>
      <p:pic>
        <p:nvPicPr>
          <p:cNvPr id="12" name="Image 3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359" y="1673352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85359" y="2130552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85359" y="2404872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Proporsi diubah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088173" y="1444752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6" name="Image 4" descr="/Users/priyankaalfatehan28/.claude/skills/ppt-konsultan/mesin/merek/bnpb/contoh/warn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053" y="1678675"/>
            <a:ext cx="1809445" cy="1850158"/>
          </a:xfrm>
          <a:prstGeom prst="rect">
            <a:avLst/>
          </a:prstGeom>
        </p:spPr>
      </p:pic>
      <p:pic>
        <p:nvPicPr>
          <p:cNvPr id="17" name="Image 5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129" y="1673352"/>
            <a:ext cx="384048" cy="3840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187129" y="2130552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10187129" y="2404872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Warna diganti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84632" y="3945636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21" name="Image 6" descr="/Users/priyankaalfatehan28/.claude/skills/ppt-konsultan/mesin/merek/bnpb/contoh/bayang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179559"/>
            <a:ext cx="1809445" cy="1850158"/>
          </a:xfrm>
          <a:prstGeom prst="rect">
            <a:avLst/>
          </a:prstGeom>
        </p:spPr>
      </p:pic>
      <p:pic>
        <p:nvPicPr>
          <p:cNvPr id="22" name="Image 7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3588" y="4174236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583588" y="4631436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2583588" y="4905756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Diberi bayangan atau efek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4286402" y="3945636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26" name="Image 8" descr="/Users/priyankaalfatehan28/.claude/skills/ppt-konsultan/mesin/merek/bnpb/contoh/rama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9282" y="4179559"/>
            <a:ext cx="1809445" cy="1850158"/>
          </a:xfrm>
          <a:prstGeom prst="rect">
            <a:avLst/>
          </a:prstGeom>
        </p:spPr>
      </p:pic>
      <p:pic>
        <p:nvPicPr>
          <p:cNvPr id="27" name="Image 9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359" y="4174236"/>
            <a:ext cx="384048" cy="38404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385359" y="4631436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6385359" y="4905756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atas latar ramai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8088173" y="3945636"/>
            <a:ext cx="3618890" cy="2318004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31" name="Image 10" descr="/Users/priyankaalfatehan28/.claude/skills/ppt-konsultan/mesin/merek/bnpb/contoh/gari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1053" y="4179559"/>
            <a:ext cx="1809445" cy="1850158"/>
          </a:xfrm>
          <a:prstGeom prst="rect">
            <a:avLst/>
          </a:prstGeom>
        </p:spPr>
      </p:pic>
      <p:pic>
        <p:nvPicPr>
          <p:cNvPr id="32" name="Image 11" descr="/Users/priyankaalfatehan28/.claude/skills/ppt-konsultan/mesin/cache-ikon/prohibit-bold-E500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7129" y="4174236"/>
            <a:ext cx="384048" cy="38404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0187129" y="4631436"/>
            <a:ext cx="1447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10187129" y="4905756"/>
            <a:ext cx="1356116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Dibuat garis luar saja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Biru BNPB memimpin, oranye menyorot, dan merah hanya untuk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peringatan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Warna diukur dari logo BNPB; status mengikuti tingkatan Normal, Waspada, Siaga, Awas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2134758" cy="1643241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3179433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Biru BNPB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3472041"/>
            <a:ext cx="2134758" cy="96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#00499D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 0, 73, 157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Utama: judul bagian, tabel, panel, seri utama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550" y="1444752"/>
            <a:ext cx="2134758" cy="1643241"/>
          </a:xfrm>
          <a:prstGeom prst="rect">
            <a:avLst/>
          </a:prstGeom>
          <a:solidFill>
            <a:srgbClr val="EF820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6550" y="3179433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Oranye BNPB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56550" y="3472041"/>
            <a:ext cx="2134758" cy="96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#EF8200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 239, 130,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Aksen bidang: sorotan, pil, garis aksen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8468" y="1444752"/>
            <a:ext cx="2134758" cy="1643241"/>
          </a:xfrm>
          <a:prstGeom prst="rect">
            <a:avLst/>
          </a:prstGeom>
          <a:solidFill>
            <a:srgbClr val="E5001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8468" y="3179433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Merah BNPB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8468" y="3472041"/>
            <a:ext cx="2134758" cy="96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#E50012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 229, 0,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Hanya peringatan dan status Awas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00387" y="1444752"/>
            <a:ext cx="2134758" cy="1643241"/>
          </a:xfrm>
          <a:prstGeom prst="rect">
            <a:avLst/>
          </a:prstGeom>
          <a:solidFill>
            <a:srgbClr val="E6EE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0387" y="3179433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Biru tint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00387" y="3472041"/>
            <a:ext cx="2134758" cy="96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#E6EEF7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 230, 238, 247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Latar panel dan pita kaki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72305" y="1444752"/>
            <a:ext cx="2134758" cy="1643241"/>
          </a:xfrm>
          <a:prstGeom prst="rect">
            <a:avLst/>
          </a:prstGeom>
          <a:solidFill>
            <a:srgbClr val="FFF3E5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2305" y="3179433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Oranye tint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72305" y="3472041"/>
            <a:ext cx="2134758" cy="96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#FFF3E5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RGB 255, 243, 229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Latar sorotan lembut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" y="4661063"/>
            <a:ext cx="2286000" cy="160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Warna status kebencanaan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62072" y="4661063"/>
            <a:ext cx="2138096" cy="1602577"/>
          </a:xfrm>
          <a:prstGeom prst="rect">
            <a:avLst/>
          </a:prstGeom>
          <a:solidFill>
            <a:srgbClr val="26844C"/>
          </a:solidFill>
          <a:ln/>
        </p:spPr>
      </p:sp>
      <p:sp>
        <p:nvSpPr>
          <p:cNvPr id="22" name="Text 20"/>
          <p:cNvSpPr/>
          <p:nvPr/>
        </p:nvSpPr>
        <p:spPr>
          <a:xfrm>
            <a:off x="2953512" y="4661063"/>
            <a:ext cx="1982648" cy="160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#2E9E5B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3320" y="4661063"/>
            <a:ext cx="2138096" cy="1602577"/>
          </a:xfrm>
          <a:prstGeom prst="rect">
            <a:avLst/>
          </a:prstGeom>
          <a:solidFill>
            <a:srgbClr val="F2C200"/>
          </a:solidFill>
          <a:ln/>
        </p:spPr>
      </p:sp>
      <p:sp>
        <p:nvSpPr>
          <p:cNvPr id="24" name="Text 22"/>
          <p:cNvSpPr/>
          <p:nvPr/>
        </p:nvSpPr>
        <p:spPr>
          <a:xfrm>
            <a:off x="5164760" y="4661063"/>
            <a:ext cx="1982648" cy="160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Waspada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#F2C200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84568" y="4661063"/>
            <a:ext cx="2138096" cy="1602577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76008" y="4661063"/>
            <a:ext cx="1982648" cy="160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Siaga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#EF8200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95815" y="4661063"/>
            <a:ext cx="2138096" cy="1602577"/>
          </a:xfrm>
          <a:prstGeom prst="rect">
            <a:avLst/>
          </a:prstGeom>
          <a:solidFill>
            <a:srgbClr val="E50012"/>
          </a:solidFill>
          <a:ln/>
        </p:spPr>
      </p:sp>
      <p:sp>
        <p:nvSpPr>
          <p:cNvPr id="28" name="Text 26"/>
          <p:cNvSpPr/>
          <p:nvPr/>
        </p:nvSpPr>
        <p:spPr>
          <a:xfrm>
            <a:off x="9587255" y="4661063"/>
            <a:ext cx="1982648" cy="1602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#E50012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 keluarga huruf, enam ukuran, supaya setiap slide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 dan terbaca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Tipografi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Roboto, Google Fonts (lisensi Apache 2.0)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4632" y="14447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84632" y="25877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 keluarga huruf untuk semua slide: tegas, mudah dibaca dari jauh, tersedia di semua perangkat kerja.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33649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 Bb Cc Dd Ee Ff Gg Hh Ii Jj Kk Ll Mm Nn Oo Pp Qq Rr Ss Tt Uu Vv Ww Xx Yy Zz 0123456789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" y="4233672"/>
            <a:ext cx="4206240" cy="202996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4325112"/>
            <a:ext cx="38404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Maksimal 7 ukuran huruf per slide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Tebal</a:t>
            </a: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hanya untuk kata kunci dan angka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huruf kapital penuh untuk penekanan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miring, garis bawah, atau bayangan teks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10 pt; 8 pt hanya untuk sumber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48072" y="1444752"/>
            <a:ext cx="6558991" cy="7848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5148072" y="2229612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444752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62472" y="1444752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Judul slide: kalimat kesimpulan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60152" y="1444752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Tebal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48072" y="3032760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2247900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2472" y="2247900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figur dan subjudul bagian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60152" y="2247900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Tebal biru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48072" y="3051048"/>
            <a:ext cx="6558991" cy="7848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48072" y="3835908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051048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62472" y="3051048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Judul kartu dan kepala panel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60152" y="3051048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Tebal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48072" y="4639056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3854196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62472" y="3854196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Isi, butir, dan tabel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0152" y="3854196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48072" y="4657344"/>
            <a:ext cx="6558991" cy="7848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8072" y="5442204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4657344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pt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62472" y="4657344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grafik dan catatan figur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60152" y="4657344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48072" y="6245352"/>
            <a:ext cx="6558991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5460492"/>
            <a:ext cx="82296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62472" y="5460492"/>
            <a:ext cx="4206240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 dan catatan kaki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360152" y="5460492"/>
            <a:ext cx="1346911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Lambang BNPB asli menjadi pengenal di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sampul, divider, dan penutup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Lambang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Lambang BNPB dari aset logo resmi</a:t>
            </a:r>
            <a:endParaRPr lang="en-US" sz="800" dirty="0"/>
          </a:p>
        </p:txBody>
      </p:sp>
      <p:sp>
        <p:nvSpPr>
          <p:cNvPr id="5" name="grad:E6EEF7:FFFFFF:90"/>
          <p:cNvSpPr/>
          <p:nvPr/>
        </p:nvSpPr>
        <p:spPr>
          <a:xfrm>
            <a:off x="484632" y="1444752"/>
            <a:ext cx="4572000" cy="4818888"/>
          </a:xfrm>
          <a:prstGeom prst="rect">
            <a:avLst/>
          </a:prstGeom>
          <a:gradFill rotWithShape="1">
            <a:gsLst>
              <a:gs pos="0">
                <a:srgbClr val="E6EEF7"/>
              </a:gs>
              <a:gs pos="100000">
                <a:srgbClr val="FFFFFF"/>
              </a:gs>
            </a:gsLst>
            <a:lin ang="5400000" scaled="0"/>
          </a:gradFill>
          <a:ln/>
        </p:spPr>
      </p:sp>
      <p:pic>
        <p:nvPicPr>
          <p:cNvPr id="6" name="Image 0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601" y="2408530"/>
            <a:ext cx="3442063" cy="33732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Lambang BNPB asli, tanpa tulisan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85232" y="1353312"/>
            <a:ext cx="3279496" cy="2852928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9" name="Shape 6"/>
          <p:cNvSpPr/>
          <p:nvPr/>
        </p:nvSpPr>
        <p:spPr>
          <a:xfrm>
            <a:off x="8564728" y="1353312"/>
            <a:ext cx="3142336" cy="2852928"/>
          </a:xfrm>
          <a:prstGeom prst="rect">
            <a:avLst/>
          </a:prstGeom>
          <a:solidFill>
            <a:srgbClr val="FDEBEC"/>
          </a:solidFill>
          <a:ln/>
        </p:spPr>
      </p:sp>
      <p:sp>
        <p:nvSpPr>
          <p:cNvPr id="10" name="Text 7"/>
          <p:cNvSpPr/>
          <p:nvPr/>
        </p:nvSpPr>
        <p:spPr>
          <a:xfrm>
            <a:off x="5422392" y="1444752"/>
            <a:ext cx="300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Boleh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22392" y="1810512"/>
            <a:ext cx="300517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Sampul, divider, dan penutup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kanan 40% berlatar tint biru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Berkas lambang asli, proporsi tetap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01888" y="1444752"/>
            <a:ext cx="300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Dilarang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01888" y="1810512"/>
            <a:ext cx="286801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slide isi yang memuat data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Digambar ulang, diputar, atau diganti warna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Menutupi teks atau keluar halaman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Digabung dengan batik atau ornamen lain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22392" y="4879524"/>
            <a:ext cx="1972970" cy="11097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15" name="Image 1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77" y="5196018"/>
            <a:ext cx="599783" cy="58778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32120" y="5323442"/>
            <a:ext cx="789188" cy="64008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17" name="Text 13"/>
          <p:cNvSpPr/>
          <p:nvPr/>
        </p:nvSpPr>
        <p:spPr>
          <a:xfrm>
            <a:off x="5422392" y="6025896"/>
            <a:ext cx="1972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Sampul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578242" y="4879524"/>
            <a:ext cx="1972970" cy="11097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78242" y="4879524"/>
            <a:ext cx="789188" cy="1109796"/>
          </a:xfrm>
          <a:prstGeom prst="rect">
            <a:avLst/>
          </a:prstGeom>
          <a:solidFill>
            <a:srgbClr val="E6EEF7"/>
          </a:solidFill>
          <a:ln/>
        </p:spPr>
      </p:sp>
      <p:pic>
        <p:nvPicPr>
          <p:cNvPr id="20" name="Image 2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945" y="5196018"/>
            <a:ext cx="599783" cy="58778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525268" y="5323442"/>
            <a:ext cx="789188" cy="64008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22" name="Text 17"/>
          <p:cNvSpPr/>
          <p:nvPr/>
        </p:nvSpPr>
        <p:spPr>
          <a:xfrm>
            <a:off x="7578242" y="6025896"/>
            <a:ext cx="1972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734093" y="4879524"/>
            <a:ext cx="1972970" cy="11097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4" name="Image 3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2578" y="5196018"/>
            <a:ext cx="599783" cy="587787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843821" y="5323442"/>
            <a:ext cx="789188" cy="64008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26" name="Text 20"/>
          <p:cNvSpPr/>
          <p:nvPr/>
        </p:nvSpPr>
        <p:spPr>
          <a:xfrm>
            <a:off x="9734093" y="6025896"/>
            <a:ext cx="1972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Penutup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Setiap slide isi memakai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zona tetap</a:t>
            </a: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sehingga mata selalu tahu di mana mencari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Kerangka halaman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Sistem halaman mesin ppt-konsultan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" y="1444752"/>
            <a:ext cx="6583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9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6340" y="1553385"/>
            <a:ext cx="5382293" cy="469099"/>
          </a:xfrm>
          <a:prstGeom prst="rect">
            <a:avLst/>
          </a:prstGeom>
          <a:solidFill>
            <a:srgbClr val="E6EEF7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64628" y="1553385"/>
            <a:ext cx="5345717" cy="46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Judul kesimpulan, 2 baris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86645" y="1553385"/>
            <a:ext cx="518478" cy="271584"/>
          </a:xfrm>
          <a:prstGeom prst="rect">
            <a:avLst/>
          </a:prstGeom>
          <a:solidFill>
            <a:srgbClr val="FFF3E5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304933" y="1553385"/>
            <a:ext cx="481902" cy="27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6340" y="1997795"/>
            <a:ext cx="2962730" cy="177764"/>
          </a:xfrm>
          <a:prstGeom prst="rect">
            <a:avLst/>
          </a:prstGeom>
          <a:solidFill>
            <a:srgbClr val="FFF3E5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64628" y="1997795"/>
            <a:ext cx="2926154" cy="17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figur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6340" y="2234813"/>
            <a:ext cx="3752791" cy="2518321"/>
          </a:xfrm>
          <a:prstGeom prst="rect">
            <a:avLst/>
          </a:prstGeom>
          <a:solidFill>
            <a:srgbClr val="E6EEF7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64628" y="2234813"/>
            <a:ext cx="3716215" cy="25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 utama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2454" y="2234813"/>
            <a:ext cx="2172669" cy="2518321"/>
          </a:xfrm>
          <a:prstGeom prst="rect">
            <a:avLst/>
          </a:prstGeom>
          <a:solidFill>
            <a:srgbClr val="FFF3E5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650742" y="2234813"/>
            <a:ext cx="2136093" cy="25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temuan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6340" y="4940773"/>
            <a:ext cx="3950307" cy="158012"/>
          </a:xfrm>
          <a:prstGeom prst="rect">
            <a:avLst/>
          </a:prstGeom>
          <a:solidFill>
            <a:srgbClr val="F3F6FA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64628" y="4940773"/>
            <a:ext cx="3913731" cy="1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08850" y="4930898"/>
            <a:ext cx="296273" cy="177764"/>
          </a:xfrm>
          <a:prstGeom prst="rect">
            <a:avLst/>
          </a:prstGeom>
          <a:solidFill>
            <a:srgbClr val="F3F6FA"/>
          </a:solidFill>
          <a:ln w="6350">
            <a:solidFill>
              <a:srgbClr val="00499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27138" y="4930898"/>
            <a:ext cx="259697" cy="17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" y="5376672"/>
            <a:ext cx="1543050" cy="886968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376672"/>
            <a:ext cx="132359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0,53 in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 semua sisi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164842" y="5376672"/>
            <a:ext cx="1543050" cy="886968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23" name="Text 21"/>
          <p:cNvSpPr/>
          <p:nvPr/>
        </p:nvSpPr>
        <p:spPr>
          <a:xfrm>
            <a:off x="2274570" y="5376672"/>
            <a:ext cx="132359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baris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judul kesimpulan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45052" y="5376672"/>
            <a:ext cx="1543050" cy="886968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25" name="Text 23"/>
          <p:cNvSpPr/>
          <p:nvPr/>
        </p:nvSpPr>
        <p:spPr>
          <a:xfrm>
            <a:off x="3954780" y="5376672"/>
            <a:ext cx="132359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0,55 in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tinggi logo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525262" y="5376672"/>
            <a:ext cx="1543050" cy="886968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27" name="Text 25"/>
          <p:cNvSpPr/>
          <p:nvPr/>
        </p:nvSpPr>
        <p:spPr>
          <a:xfrm>
            <a:off x="5634990" y="5376672"/>
            <a:ext cx="132359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pt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 dan catatan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34072" y="1444752"/>
            <a:ext cx="4272991" cy="481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Kanvas 16:9, margin 0,53 in di semua sisi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Judul selalu kalimat kesimpulan, maksimal 2 baris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figur biru tebal: nama ukuran, cakupan, tahun, satuan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Logo kanan atas, tinggi 0,55 in, tanpa elemen lain di zona amannya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 kiri bawah 8 pt; nomor kanan bawah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Latar putih; panel tint biru atau oranye untuk temuan</a:t>
            </a:r>
            <a:endParaRPr lang="en-US" sz="1200" dirty="0"/>
          </a:p>
          <a:p>
            <a:pPr marL="177800" indent="-177800">
              <a:spcBef>
                <a:spcPts val="600"/>
              </a:spcBef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Tidak ada latar gelap penuh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Contoh: titik panas naik tajam pada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Agustus–September</a:t>
            </a: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puncak musim kemarau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Contoh slide isi</a:t>
            </a:r>
            <a:endParaRPr lang="en-US" sz="1600" dirty="0"/>
          </a:p>
        </p:txBody>
      </p:sp>
      <p:sp>
        <p:nvSpPr>
          <p:cNvPr id="4" name="grad:00499D:4878AF:0"/>
          <p:cNvSpPr/>
          <p:nvPr/>
        </p:nvSpPr>
        <p:spPr>
          <a:xfrm>
            <a:off x="484632" y="5806440"/>
            <a:ext cx="11222431" cy="457200"/>
          </a:xfrm>
          <a:prstGeom prst="rect">
            <a:avLst/>
          </a:prstGeom>
          <a:gradFill rotWithShape="1">
            <a:gsLst>
              <a:gs pos="0">
                <a:srgbClr val="00499D"/>
              </a:gs>
              <a:gs pos="100000">
                <a:srgbClr val="4878AF"/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621792" y="5916168"/>
            <a:ext cx="292608" cy="237744"/>
          </a:xfrm>
          <a:prstGeom prst="rightArrow">
            <a:avLst/>
          </a:prstGeom>
          <a:solidFill>
            <a:srgbClr val="EF8200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5806440"/>
            <a:ext cx="105366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Siaga darurat perlu ditetapkan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sebelum Agustus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 provinsi rawan.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ILUSTRASI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64922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Data ilustrasi untuk contoh tata letak; tidak berasal dari data resmi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1444752"/>
            <a:ext cx="67334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Titik panas bulanan</a:t>
            </a: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ribu titik (ilustrasi)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" y="1773936"/>
          <a:ext cx="6733459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" y="3254167"/>
            <a:ext cx="6733459" cy="0"/>
          </a:xfrm>
          <a:prstGeom prst="line">
            <a:avLst/>
          </a:prstGeom>
          <a:noFill/>
          <a:ln w="15875">
            <a:solidFill>
              <a:srgbClr val="EF820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84632" y="2979847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Puncak rata-rata 5 tahun: 7,8 rb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38131" y="1444752"/>
            <a:ext cx="4168932" cy="1322832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14" name="Shape 11"/>
          <p:cNvSpPr/>
          <p:nvPr/>
        </p:nvSpPr>
        <p:spPr>
          <a:xfrm>
            <a:off x="7538131" y="1444752"/>
            <a:ext cx="64008" cy="1322832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15" name="Text 12"/>
          <p:cNvSpPr/>
          <p:nvPr/>
        </p:nvSpPr>
        <p:spPr>
          <a:xfrm>
            <a:off x="7766731" y="1517904"/>
            <a:ext cx="1750952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Siaga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517682" y="1517904"/>
            <a:ext cx="2097941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tertinggi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enam provinsi rawan (ilustrasi)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38131" y="2895600"/>
            <a:ext cx="4168932" cy="13228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Shape 15"/>
          <p:cNvSpPr/>
          <p:nvPr/>
        </p:nvSpPr>
        <p:spPr>
          <a:xfrm>
            <a:off x="7538131" y="2895600"/>
            <a:ext cx="64008" cy="1322832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19" name="Text 16"/>
          <p:cNvSpPr/>
          <p:nvPr/>
        </p:nvSpPr>
        <p:spPr>
          <a:xfrm>
            <a:off x="7766731" y="2968752"/>
            <a:ext cx="1750952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12,4 rb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517682" y="2968752"/>
            <a:ext cx="2097941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Puncak September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2,6 kali dari Juli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38131" y="4346448"/>
            <a:ext cx="4168932" cy="13228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538131" y="4346448"/>
            <a:ext cx="64008" cy="1322832"/>
          </a:xfrm>
          <a:prstGeom prst="rect">
            <a:avLst/>
          </a:prstGeom>
          <a:solidFill>
            <a:srgbClr val="00499D"/>
          </a:solidFill>
          <a:ln/>
        </p:spPr>
      </p:sp>
      <p:sp>
        <p:nvSpPr>
          <p:cNvPr id="23" name="Text 20"/>
          <p:cNvSpPr/>
          <p:nvPr/>
        </p:nvSpPr>
        <p:spPr>
          <a:xfrm>
            <a:off x="7766731" y="4419600"/>
            <a:ext cx="1750952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 jam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517682" y="4419600"/>
            <a:ext cx="2097941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respons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Dari deteksi sampai pemadaman awal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menampilkan </a:t>
            </a:r>
            <a:r>
              <a:rPr lang="en-US" sz="22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kerja penanganan</a:t>
            </a:r>
            <a:r>
              <a: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dan pemulihan warga terdampak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1024128"/>
            <a:ext cx="11222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5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dan ikon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" y="6492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Pedoman nada presentasi lembaga negara (draf kerja)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4632" y="1444752"/>
            <a:ext cx="545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00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Dianjurkan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" y="1828800"/>
            <a:ext cx="5451196" cy="0"/>
          </a:xfrm>
          <a:prstGeom prst="line">
            <a:avLst/>
          </a:prstGeom>
          <a:noFill/>
          <a:ln w="25400">
            <a:solidFill>
              <a:srgbClr val="E500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947672"/>
            <a:ext cx="5451196" cy="136550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8" name="Image 0" descr="/Users/priyankaalfatehan28/.claude/skills/ppt-konsultan/mesin/cache-ikon/camera-regular-E50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57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993392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lapangan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19991" y="1993392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Petugas BNPB, BPBD, TNI, Polri, relawan saat bekerja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Pengambilan resmi atau dengan izin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" y="3386328"/>
            <a:ext cx="5451196" cy="13655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1" descr="/Users/priyankaalfatehan28/.claude/skills/ppt-konsultan/mesin/cache-ikon/shapes-regular-E50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4960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3272" y="3432048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19991" y="3432048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Phosphor garis satu warna biru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Ikon putih di lingkaran biru untuk kepala baris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" y="4824984"/>
            <a:ext cx="5451196" cy="136550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6" name="Image 2" descr="/Users/priyankaalfatehan28/.claude/skills/ppt-konsultan/mesin/cache-ikon/map-trifold-regular-E500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93471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33272" y="4870704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119991" y="4870704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Empat warna status, tanpa skala pelangi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 peta dan tanggal data ditulis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5868" y="1444752"/>
            <a:ext cx="545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Dihindari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55868" y="1828800"/>
            <a:ext cx="5451196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55868" y="1947672"/>
            <a:ext cx="5451196" cy="136550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2" name="Image 3" descr="/Users/priyankaalfatehan28/.claude/skills/ppt-konsultan/mesin/cache-ikon/eye-slash-regular-C00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08" y="20574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4508" y="1993392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korban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891226" y="1993392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Jenazah, luka, atau wajah anak tanpa izin</a:t>
            </a:r>
            <a:endParaRPr lang="en-US" sz="1200" dirty="0"/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yang mempermalukan warga terdampak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55868" y="3386328"/>
            <a:ext cx="5451196" cy="136550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4" descr="/Users/priyankaalfatehan28/.claude/skills/ppt-konsultan/mesin/cache-ikon/warning-regular-C000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308" y="349605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04508" y="3432048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Ikon campur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891226" y="3432048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Clip-art kartun, emoji, ikon beda gaya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55868" y="4824984"/>
            <a:ext cx="5451196" cy="136550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0" name="Image 5" descr="/Users/priyankaalfatehan28/.claude/skills/ppt-konsultan/mesin/cache-ikon/globe-hemisphere-west-regular-C000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308" y="4934712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04508" y="4870704"/>
            <a:ext cx="1040999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stok asing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891226" y="4870704"/>
            <a:ext cx="3724397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Bencana di negara lain sebagai ilustrasi Indonesia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3" name="grad:E6EEF7:FFFFFF:9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E6EEF7"/>
              </a:gs>
              <a:gs pos="100000">
                <a:srgbClr val="FFFFFF"/>
              </a:gs>
            </a:gsLst>
            <a:lin ang="5400000" scaled="0"/>
          </a:gradFill>
          <a:ln/>
        </p:spPr>
      </p:sp>
      <p:pic>
        <p:nvPicPr>
          <p:cNvPr id="4" name="Image 0" descr="/Users/priyankaalfatehan28/.claude/skills/ppt-konsultan/mesin/merek/bnpb/lamb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218" y="1955825"/>
            <a:ext cx="3706275" cy="3632150"/>
          </a:xfrm>
          <a:prstGeom prst="rect">
            <a:avLst/>
          </a:prstGeom>
        </p:spPr>
      </p:pic>
      <p:pic>
        <p:nvPicPr>
          <p:cNvPr id="5" name="Image 1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411480"/>
            <a:ext cx="979714" cy="123444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84632" y="2377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84632" y="37490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Pedoman ini draf kerja dan akan diperbarui mengikuti pedoman resmi Humas BNPB.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84632" y="4937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Graha BNPB, Jakarta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Pedoman Identitas Presentasi BNPB</dc:title>
  <dc:subject>PptxGenJS Presentation</dc:subject>
  <dc:creator>PptxGenJS</dc:creator>
  <cp:lastModifiedBy>PptxGenJS</cp:lastModifiedBy>
  <cp:revision>1</cp:revision>
  <dcterms:created xsi:type="dcterms:W3CDTF">2026-10-26T00:46:30Z</dcterms:created>
  <dcterms:modified xsi:type="dcterms:W3CDTF">2026-10-26T00:46:30Z</dcterms:modified>
</cp:coreProperties>
</file>