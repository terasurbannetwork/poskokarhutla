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1"/>
    <p:sldId id="261" r:id="rId12"/>
    <p:sldId id="268" r:id="rId19"/>
    <p:sldId id="263" r:id="rId14"/>
    <p:sldId id="264" r:id="rId15"/>
    <p:sldId id="265" r:id="rId16"/>
    <p:sldId id="266" r:id="rId17"/>
    <p:sldId id="267" r:id="rId18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6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Relationship Id="rId8" Type="http://schemas.openxmlformats.org/officeDocument/2006/relationships/image" Target="../media/image10.png"/><Relationship Id="rId9" Type="http://schemas.openxmlformats.org/officeDocument/2006/relationships/image" Target="../media/image8.png"/><Relationship Id="rId10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8.png"/><Relationship Id="rId7" Type="http://schemas.openxmlformats.org/officeDocument/2006/relationships/image" Target="../media/image14.png"/><Relationship Id="rId8" Type="http://schemas.openxmlformats.org/officeDocument/2006/relationships/image" Target="../media/image26.png"/><Relationship Id="rId9" Type="http://schemas.openxmlformats.org/officeDocument/2006/relationships/image" Target="../media/image5.png"/><Relationship Id="rId10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0.png"/><Relationship Id="rId8" Type="http://schemas.openxmlformats.org/officeDocument/2006/relationships/image" Target="../media/image13.png"/><Relationship Id="rId9" Type="http://schemas.openxmlformats.org/officeDocument/2006/relationships/image" Target="../media/image5.png"/><Relationship Id="rId10" Type="http://schemas.openxmlformats.org/officeDocument/2006/relationships/image" Target="../media/image26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9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9.png"/><Relationship Id="rId10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Relationship Id="rId9" Type="http://schemas.openxmlformats.org/officeDocument/2006/relationships/image" Target="../media/image45.png"/><Relationship Id="rId10" Type="http://schemas.openxmlformats.org/officeDocument/2006/relationships/image" Target="../media/image46.png"/><Relationship Id="rId11" Type="http://schemas.openxmlformats.org/officeDocument/2006/relationships/image" Target="../media/image47.png"/><Relationship Id="rId12" Type="http://schemas.openxmlformats.org/officeDocument/2006/relationships/image" Target="../media/image48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51.png"/><Relationship Id="rId16" Type="http://schemas.openxmlformats.org/officeDocument/2006/relationships/image" Target="../media/image52.png"/><Relationship Id="rId17" Type="http://schemas.openxmlformats.org/officeDocument/2006/relationships/image" Target="../media/image53.png"/><Relationship Id="rId18" Type="http://schemas.openxmlformats.org/officeDocument/2006/relationships/image" Target="../media/image54.png"/><Relationship Id="rId19" Type="http://schemas.openxmlformats.org/officeDocument/2006/relationships/image" Target="../media/image55.png"/><Relationship Id="rId20" Type="http://schemas.openxmlformats.org/officeDocument/2006/relationships/image" Target="../media/image56.png"/><Relationship Id="rId21" Type="http://schemas.openxmlformats.org/officeDocument/2006/relationships/image" Target="../media/image57.png"/><Relationship Id="rId22" Type="http://schemas.openxmlformats.org/officeDocument/2006/relationships/image" Target="../media/image58.png"/><Relationship Id="rId2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temuan-australia-id-sampul-foto-pemad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00" y="0"/>
            <a:ext cx="58801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lang="id-ID">
                <a:solidFill>
                  <a:srgbClr val="FFFFFF"/>
                </a:solidFill>
                <a:latin typeface="Roboto"/>
              </a:rPr>
              <a:t>Foto: DenY Krisbiyantoro,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600200"/>
            <a:ext cx="5669280" cy="152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1A1A1A"/>
                </a:solidFill>
                <a:latin typeface="Roboto"/>
              </a:rPr>
              <a:t>Pertemuan Kepala BNPB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1A1A1A"/>
                </a:solidFill>
                <a:latin typeface="Roboto"/>
              </a:rPr>
              <a:t>dengan Duta Besar Australia</a:t>
            </a:r>
          </a:p>
          <a:p>
            <a:pPr algn="l">
              <a:lnSpc>
                <a:spcPct val="95000"/>
              </a:lnSpc>
            </a:pPr>
            <a:r>
              <a:rPr sz="3200" b="1" lang="id-ID">
                <a:solidFill>
                  <a:srgbClr val="1A1A1A"/>
                </a:solidFill>
                <a:latin typeface="Roboto"/>
              </a:rPr>
              <a:t>dan NSW Rural Fire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25800"/>
            <a:ext cx="5669280" cy="2555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10" b="0" lang="id-ID">
                <a:solidFill>
                  <a:srgbClr val="2E3440"/>
                </a:solidFill>
                <a:latin typeface="Roboto"/>
              </a:rPr>
              <a:t>Musim Karhutla 2026 dan Kerja Sama dengan Australia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33788"/>
            <a:ext cx="566928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39" b="1" lang="id-ID">
                <a:solidFill>
                  <a:srgbClr val="00499D"/>
                </a:solidFill>
                <a:latin typeface="Roboto"/>
              </a:rPr>
              <a:t>Badan Nasional Penanggulangan Bencana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976688"/>
            <a:ext cx="512064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412908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1" lang="id-ID">
                <a:solidFill>
                  <a:srgbClr val="D9600B"/>
                </a:solidFill>
                <a:latin typeface="Roboto"/>
              </a:rPr>
              <a:t>DISAMPAIKAN OLEH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308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37088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4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4960" y="508000"/>
            <a:ext cx="2438400" cy="1053828"/>
          </a:xfrm>
          <a:prstGeom prst="roundRect">
            <a:avLst>
              <a:gd name="adj" fmla="val 964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berakhla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6560" y="609600"/>
            <a:ext cx="2235200" cy="85062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760720"/>
            <a:ext cx="2926080" cy="38354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60" b="1" lang="id-ID">
                <a:solidFill>
                  <a:srgbClr val="FFFFFF"/>
                </a:solidFill>
                <a:latin typeface="Roboto"/>
              </a:rPr>
              <a:t>Senin, 26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BNPB menyambut tawaran dukungan udara dan tenaga ahli Australia untuk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melengkapi respons nasional Indonesia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270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1130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282700"/>
            <a:ext cx="11094720" cy="4800600"/>
          </a:xfrm>
          <a:prstGeom prst="roundRect">
            <a:avLst>
              <a:gd name="adj" fmla="val 1137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564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ringkasan-FFFFFF-28e566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142240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56640" y="1282700"/>
            <a:ext cx="10459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Pesan kunci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" y="1841500"/>
            <a:ext cx="10840720" cy="438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80" b="1" lang="id-ID">
                <a:solidFill>
                  <a:srgbClr val="051C2C"/>
                </a:solidFill>
                <a:latin typeface="Roboto"/>
              </a:rPr>
              <a:t>Data BNPB 26 Oktober memuat 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197 firespot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 di 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6 provinsi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; Indonesia telah mengerahkan 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39 helikopter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 dan ±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71.878 personel</a:t>
            </a:r>
            <a:r>
              <a:rPr sz="1380" b="1" lang="id-ID">
                <a:solidFill>
                  <a:srgbClr val="051C2C"/>
                </a:solidFill>
                <a:latin typeface="Roboto"/>
              </a:rPr>
              <a:t>, serta menyambut tenaga ahli Australia untuk melengkapi respons.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75640" y="2330450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675640" y="246327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FFFFFF-608a1e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86" y="2539217"/>
            <a:ext cx="178308" cy="1783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0140" y="2396596"/>
            <a:ext cx="10294620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Respons bencana.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BNPB menangani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2.299 kejadian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sepanjang 2026, termasuk gempa bumi NTT dengan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27.563 jiwa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tertampung.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75640" y="2983442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1" name="Oval 20"/>
          <p:cNvSpPr/>
          <p:nvPr/>
        </p:nvSpPr>
        <p:spPr>
          <a:xfrm>
            <a:off x="675640" y="311943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karhutla-FFFFFF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586" y="3195384"/>
            <a:ext cx="178308" cy="1783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20140" y="3119438"/>
            <a:ext cx="1029462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Karhutla.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197 firespot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pada 26 Oktober;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6 provinsi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menetapkan status darurat untuk mempercepat penanganan.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5640" y="3585633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675640" y="372162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3797575"/>
            <a:ext cx="178308" cy="178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20140" y="3721629"/>
            <a:ext cx="1029462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Respons nasional.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39 helikopter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, ±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71.878 personel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di darat, dan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18 sorti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modifikasi cuaca;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1.135.000 liter per hari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dijatuhkan.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5640" y="4187825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675640" y="432382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wilayah-FFFFFF-37dca10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586" y="4399767"/>
            <a:ext cx="178308" cy="1783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20140" y="4323821"/>
            <a:ext cx="1029462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Tawaran Australia.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2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Citation,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King Air,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Bell 412, dan tenaga ahli kebakaran.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5640" y="4790017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675640" y="4872037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pasitas-FFFFFF-22e801b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586" y="4947983"/>
            <a:ext cx="178308" cy="1783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20140" y="4805362"/>
            <a:ext cx="10294620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Angkutan udara HADR.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Armada C-17A, C-130J, C-27J, dan KC-30A RAAF berjumlah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36 pesawat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; KC-30A berjangkauan </a:t>
            </a:r>
            <a:r>
              <a:rPr sz="1380" b="1" lang="id-ID">
                <a:solidFill>
                  <a:srgbClr val="1A1A1A"/>
                </a:solidFill>
                <a:latin typeface="Roboto"/>
              </a:rPr>
              <a:t>14.800 km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5640" y="5392208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37" name="Oval 36"/>
          <p:cNvSpPr/>
          <p:nvPr/>
        </p:nvSpPr>
        <p:spPr>
          <a:xfrm>
            <a:off x="675640" y="547422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regulasi-FFFFFF-e639fe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586" y="5550175"/>
            <a:ext cx="178308" cy="1783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20140" y="5407554"/>
            <a:ext cx="10294620" cy="4635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80" b="1" lang="id-ID">
                <a:solidFill>
                  <a:srgbClr val="1A1A1A"/>
                </a:solidFill>
                <a:latin typeface="Roboto"/>
              </a:rPr>
              <a:t>Tindak lanjut.</a:t>
            </a:r>
            <a:r>
              <a:rPr sz="1380" b="0" lang="id-ID">
                <a:solidFill>
                  <a:srgbClr val="1A1A1A"/>
                </a:solidFill>
                <a:latin typeface="Roboto"/>
              </a:rPr>
              <a:t> Enam langkah bersama, dari tawaran tenaga ahli dan spesifikasi aset sampai kerja sama riset dengan BMKG dan BRIN.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DIBI BNPB 2026; data karhutla dan laporan harian BNPB; ADF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Indonesia dan Australia telah bekerja sama dalam penanganan karhutla sejak 2015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279812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DUKUNGAN 2015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rhutla-051C2C-195575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pesawat Australia dikerahkan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2177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TAWARAN 2026</a:t>
            </a:r>
          </a:p>
        </p:txBody>
      </p:sp>
      <p:pic>
        <p:nvPicPr>
          <p:cNvPr id="18" name="Picture 17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wilayah-051C2C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aset udara ditawarkan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jiwa-051C2C-9b7037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anggota delegasi NSW RFS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74578"/>
            <a:ext cx="11094720" cy="1208723"/>
          </a:xfrm>
          <a:prstGeom prst="roundRect">
            <a:avLst>
              <a:gd name="adj" fmla="val 6304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4974018"/>
            <a:ext cx="5547360" cy="2468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TUJUAN PERTEMUAN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344350"/>
            <a:ext cx="445770" cy="4457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560" y="5447220"/>
            <a:ext cx="240030" cy="24003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62190" y="5268912"/>
            <a:ext cx="2887324" cy="2708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50" b="1" lang="id-ID">
                <a:solidFill>
                  <a:srgbClr val="1A1A1A"/>
                </a:solidFill>
                <a:latin typeface="Roboto"/>
              </a:rPr>
              <a:t>Bertukar pengalaman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2190" y="5543232"/>
            <a:ext cx="2887324" cy="489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1170" b="0" lang="id-ID">
                <a:solidFill>
                  <a:srgbClr val="2E3440"/>
                </a:solidFill>
                <a:latin typeface="Roboto"/>
              </a:rPr>
              <a:t>Manajemen insiden dan pemadaman.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22538" y="5320348"/>
            <a:ext cx="0" cy="660082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4295563" y="5344350"/>
            <a:ext cx="445770" cy="4457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kapasitas-FFFFFF-22e801b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433" y="5447220"/>
            <a:ext cx="240030" cy="24003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63063" y="5268912"/>
            <a:ext cx="2887324" cy="2708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50" b="1" lang="id-ID">
                <a:solidFill>
                  <a:srgbClr val="1A1A1A"/>
                </a:solidFill>
                <a:latin typeface="Roboto"/>
              </a:rPr>
              <a:t>Membahas dukungan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63063" y="5543232"/>
            <a:ext cx="2887324" cy="489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1170" b="0" lang="id-ID">
                <a:solidFill>
                  <a:srgbClr val="2E3440"/>
                </a:solidFill>
                <a:latin typeface="Roboto"/>
              </a:rPr>
              <a:t>Aset udara dan tenaga ahli untuk 2026.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23412" y="5320348"/>
            <a:ext cx="0" cy="660082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896437" y="5344350"/>
            <a:ext cx="445770" cy="44577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wilayah-FFFFFF-37dca1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9307" y="5447220"/>
            <a:ext cx="240030" cy="24003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63936" y="5268912"/>
            <a:ext cx="2887324" cy="2708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550" b="1" lang="id-ID">
                <a:solidFill>
                  <a:srgbClr val="1A1A1A"/>
                </a:solidFill>
                <a:latin typeface="Roboto"/>
              </a:rPr>
              <a:t>Menyelaraskan prioritas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3936" y="5543232"/>
            <a:ext cx="2887324" cy="4892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1170" b="0" lang="id-ID">
                <a:solidFill>
                  <a:srgbClr val="2E3440"/>
                </a:solidFill>
                <a:latin typeface="Roboto"/>
              </a:rPr>
              <a:t>Terpadu dengan komando Indonesia.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6656832" cy="2390457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6656832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2575560"/>
            <a:ext cx="6656832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6656832" cy="2390457"/>
          </a:xfrm>
          <a:prstGeom prst="roundRect">
            <a:avLst>
              <a:gd name="adj" fmla="val 228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56640" y="2346960"/>
            <a:ext cx="5894832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Tonggak kerja sama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5640" y="2905760"/>
            <a:ext cx="20834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WAKTU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9917" y="2905760"/>
            <a:ext cx="20834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TONGGAK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4195" y="2905760"/>
            <a:ext cx="208347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KETERANGAN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116580"/>
            <a:ext cx="6402832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75640" y="3116580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2015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09917" y="3116580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Dukungan karhutla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44195" y="3116580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Pesawat "Thor" dan "Birddog"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5640" y="3308072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0" name="TextBox 59"/>
          <p:cNvSpPr txBox="1"/>
          <p:nvPr/>
        </p:nvSpPr>
        <p:spPr>
          <a:xfrm>
            <a:off x="675640" y="3308072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2015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09917" y="3308072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Tenaga ahli Australia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44195" y="3308072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Pemadaman udara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5640" y="3499564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675640" y="3499564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Berjalan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09917" y="3499564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InaSAFE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44195" y="3499564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Bersama Australia dan Bank Dunia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75640" y="3691057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8" name="TextBox 67"/>
          <p:cNvSpPr txBox="1"/>
          <p:nvPr/>
        </p:nvSpPr>
        <p:spPr>
          <a:xfrm>
            <a:off x="675640" y="3691057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Sep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9917" y="3691057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Nota diplomatik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44195" y="3691057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Tawaran empat aset udara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75640" y="3882549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75640" y="3882549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Sep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09917" y="3882549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Surat Kemlu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44195" y="3882549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Tawaran diteruskan ke BNPB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074041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675640" y="4074041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Okt 2026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09917" y="4074041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Ministerial Council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44195" y="4074041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Law and Security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675640" y="4265533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0" name="TextBox 79"/>
          <p:cNvSpPr txBox="1"/>
          <p:nvPr/>
        </p:nvSpPr>
        <p:spPr>
          <a:xfrm>
            <a:off x="675640" y="4265533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Okt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09917" y="4265533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Tawaran tenaga ahli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44195" y="4265533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Tambahan atas tawaran pesawat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75640" y="4457025"/>
            <a:ext cx="6402832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675640" y="4457025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Okt 2026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09917" y="4457025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Pertemuan di BNPB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44195" y="4457025"/>
            <a:ext cx="2083477" cy="1914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Dubes dan tim NSW RFS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42632" y="2346960"/>
            <a:ext cx="4300728" cy="2390457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7342632" y="2346960"/>
            <a:ext cx="4300728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342632" y="2575560"/>
            <a:ext cx="4300728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7342632" y="2346960"/>
            <a:ext cx="4300728" cy="2390457"/>
          </a:xfrm>
          <a:prstGeom prst="roundRect">
            <a:avLst>
              <a:gd name="adj" fmla="val 2284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7469632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2" name="Picture 9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6782" y="2486660"/>
            <a:ext cx="177800" cy="1778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7850632" y="2346960"/>
            <a:ext cx="3538728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Delegasi Australia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69632" y="2905760"/>
            <a:ext cx="197256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NAMA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92996" y="2905760"/>
            <a:ext cx="197256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JABATAN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469632" y="3116580"/>
            <a:ext cx="404672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7469632" y="3116580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H.E. Rod Brazier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92996" y="3116580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Duta Besar untuk Indonesia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7469632" y="3371903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7469632" y="3371903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Tim Stapleton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92996" y="3371903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Minister Counsellor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7469632" y="3627226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7469632" y="3627226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Paula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492996" y="3627226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Counsellor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7469632" y="3882549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6" name="TextBox 105"/>
          <p:cNvSpPr txBox="1"/>
          <p:nvPr/>
        </p:nvSpPr>
        <p:spPr>
          <a:xfrm>
            <a:off x="7469632" y="3882549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Leigh Pilkington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492996" y="3882549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Ketua Tim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469632" y="4137872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7469632" y="4137872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Bronwyn Dawn Waters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92996" y="4137872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Spesialis Manajemen Insiden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7469632" y="4393195"/>
            <a:ext cx="4046728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7469632" y="4393195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Rodney Allan Rusden Walker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92996" y="4393195"/>
            <a:ext cx="1972564" cy="2553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Spesialis Manajemen Insiden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BNPB, Oktober 2026; Renstra BNPB 2025–2029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BNPB menangani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2.299 kejadian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bencana sepanjang 2026; karhutla menyumbang</a:t>
            </a:r>
            <a:br/>
            <a:r>
              <a:rPr sz="2200" b="1" lang="id-ID">
                <a:solidFill>
                  <a:srgbClr val="D9600B"/>
                </a:solidFill>
                <a:latin typeface="Roboto"/>
              </a:rPr>
              <a:t>1.024 kejadian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1109472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19429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BENCANA 2026</a:t>
            </a:r>
          </a:p>
        </p:txBody>
      </p:sp>
      <p:pic>
        <p:nvPicPr>
          <p:cNvPr id="10" name="Picture 9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548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korban jiwa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3936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2315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engungsi-051C2C-65a2f7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56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25746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252.438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5746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jiwa mengungsi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69504" y="1593850"/>
            <a:ext cx="3564128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78724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rumah-051C2C-320df64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24" y="1758950"/>
            <a:ext cx="177800" cy="177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81314" y="1630680"/>
            <a:ext cx="2943098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165.564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1314" y="1896110"/>
            <a:ext cx="2943098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rumah rusak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CAPAIAN RESPONS</a:t>
            </a:r>
          </a:p>
        </p:txBody>
      </p:sp>
      <p:sp>
        <p:nvSpPr>
          <p:cNvPr id="28" name="Oval 27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rumah-FFFFFF-320df64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Pemulihan gempa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1" lang="id-ID">
                <a:solidFill>
                  <a:srgbClr val="2E3440"/>
                </a:solidFill>
                <a:latin typeface="Roboto"/>
              </a:rPr>
              <a:t>193 unit huntara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sedang dibangun di NTT.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air-baku-FFFFFF-271d6c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Air bersih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Distribusi air menjangkau </a:t>
            </a:r>
            <a:r>
              <a:rPr sz="869" b="1" lang="id-ID">
                <a:solidFill>
                  <a:srgbClr val="2E3440"/>
                </a:solidFill>
                <a:latin typeface="Roboto"/>
              </a:rPr>
              <a:t>44.045 KK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di Jawa Tengah.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karhutla-FFFFFF-195575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Respons karhutla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1" lang="id-ID">
                <a:solidFill>
                  <a:srgbClr val="2E3440"/>
                </a:solidFill>
                <a:latin typeface="Roboto"/>
              </a:rPr>
              <a:t>19 kejadian karhutla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ditangani regu di lapangan.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346960"/>
            <a:ext cx="11094720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2346960"/>
            <a:ext cx="1109472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2575560"/>
            <a:ext cx="1109472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11094720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data-FFFFFF-608a1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56640" y="2346960"/>
            <a:ext cx="1033272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Bencana alam 2026 per jenis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1230" y="2905760"/>
            <a:ext cx="428548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JENIS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87518" y="2905760"/>
            <a:ext cx="1314559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KEJADIAN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3677" y="2905760"/>
            <a:ext cx="152391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KORBAN JIWA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9189" y="2905760"/>
            <a:ext cx="142266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MENGUNGSI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53455" y="2905760"/>
            <a:ext cx="15613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RUMAH RUSAK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5640" y="3116580"/>
            <a:ext cx="10840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5" name="Oval 54"/>
          <p:cNvSpPr/>
          <p:nvPr/>
        </p:nvSpPr>
        <p:spPr>
          <a:xfrm>
            <a:off x="675640" y="314491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6" name="Picture 55" descr="karhutla-FFFFFF-195575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98" y="3177975"/>
            <a:ext cx="107874" cy="10787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1230" y="3116580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Karhutla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87518" y="3116580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03677" y="3116580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9189" y="3116580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745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53455" y="3116580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280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347244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Oval 62"/>
          <p:cNvSpPr/>
          <p:nvPr/>
        </p:nvSpPr>
        <p:spPr>
          <a:xfrm>
            <a:off x="675640" y="337558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banjir-FFFFFF-364735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98" y="3408639"/>
            <a:ext cx="107874" cy="107874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51230" y="3347244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Banjir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87518" y="3347244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581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03677" y="3347244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9189" y="3347244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64.624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53455" y="3347244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11.728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577908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675640" y="360624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cuaca-ekstrem-FFFFFF-3711fbf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698" y="3639302"/>
            <a:ext cx="107874" cy="10787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51230" y="3577908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Cuaca ekstrem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87518" y="3577908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03677" y="3577908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29189" y="3577908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630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53455" y="3577908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8.072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75640" y="3808571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Oval 78"/>
          <p:cNvSpPr/>
          <p:nvPr/>
        </p:nvSpPr>
        <p:spPr>
          <a:xfrm>
            <a:off x="675640" y="383690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kekeringan-FFFFFF-bd7fcb5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8698" y="3869966"/>
            <a:ext cx="107874" cy="10787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951230" y="3808571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Kekeringan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87518" y="3808571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03677" y="3808571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9189" y="3808571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853455" y="3808571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039235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675640" y="406757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longsor-FFFFFF-c017b3f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698" y="4100630"/>
            <a:ext cx="107874" cy="107874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51230" y="4039235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Longsor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87518" y="4039235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03677" y="4039235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9189" y="4039235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5.250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853455" y="4039235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1.670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75640" y="4269899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Oval 94"/>
          <p:cNvSpPr/>
          <p:nvPr/>
        </p:nvSpPr>
        <p:spPr>
          <a:xfrm>
            <a:off x="675640" y="429823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gelombang-abrasi-FFFFFF-1093a93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8698" y="4331294"/>
            <a:ext cx="107874" cy="107874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951230" y="4269899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Abrasi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87518" y="4269899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03677" y="4269899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29189" y="4269899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853455" y="4269899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75640" y="4500562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3" name="Oval 102"/>
          <p:cNvSpPr/>
          <p:nvPr/>
        </p:nvSpPr>
        <p:spPr>
          <a:xfrm>
            <a:off x="675640" y="452889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gempa-FFFFFF-5740f75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98" y="4561957"/>
            <a:ext cx="107874" cy="107874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51230" y="4500562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Gempa bumi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87518" y="4500562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03677" y="4500562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329189" y="4500562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174.509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53455" y="4500562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141.492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75640" y="4731226"/>
            <a:ext cx="10840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1" name="Oval 110"/>
          <p:cNvSpPr/>
          <p:nvPr/>
        </p:nvSpPr>
        <p:spPr>
          <a:xfrm>
            <a:off x="675640" y="47595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gunungapi-FFFFFF-a5209a6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98" y="4792621"/>
            <a:ext cx="107874" cy="107874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51230" y="4731226"/>
            <a:ext cx="428548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Erupsi gunung api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87518" y="4731226"/>
            <a:ext cx="1314559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703677" y="4731226"/>
            <a:ext cx="152391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329189" y="4731226"/>
            <a:ext cx="1422666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650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853455" y="4731226"/>
            <a:ext cx="1561305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DIBI BNPB 2026 (sementara); Laporan Kejadian Bencana Harian BNPB, Oktober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Data BNPB 26 Oktober memuat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197 firespot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 provinsi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;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6 provinsi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telah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menetapkan status darurat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89757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FIRESPOT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di Sumatera Selatan, tertinggi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557515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DALAM PENANGANAN</a:t>
            </a:r>
          </a:p>
        </p:txBody>
      </p:sp>
      <p:pic>
        <p:nvPicPr>
          <p:cNvPr id="18" name="Picture 17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uas-051C2C-123220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28.016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ha dengan regu di lapangan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rhutla-051C2C-1955759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1.407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ha ditangani pemadaman udara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346960"/>
            <a:ext cx="5769254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2346960"/>
            <a:ext cx="576925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2575560"/>
            <a:ext cx="576925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48640" y="2346960"/>
            <a:ext cx="5769254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56640" y="2346960"/>
            <a:ext cx="500725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Firespot per provinsi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5640" y="2905760"/>
            <a:ext cx="3309153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Firespot</a:t>
            </a:r>
            <a:r>
              <a:rPr sz="1150" b="0" lang="id-ID">
                <a:solidFill>
                  <a:srgbClr val="1A1A1A"/>
                </a:solidFill>
                <a:latin typeface="Roboto"/>
              </a:rPr>
              <a:t>, 26 Oktober 2026</a:t>
            </a:r>
          </a:p>
        </p:txBody>
      </p:sp>
      <p:sp>
        <p:nvSpPr>
          <p:cNvPr id="37" name="Round Same Side Corner Rectangle 36"/>
          <p:cNvSpPr/>
          <p:nvPr/>
        </p:nvSpPr>
        <p:spPr>
          <a:xfrm>
            <a:off x="850290" y="3274060"/>
            <a:ext cx="569910" cy="2440940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640" y="3121660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5640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Sumsel</a:t>
            </a:r>
          </a:p>
        </p:txBody>
      </p:sp>
      <p:sp>
        <p:nvSpPr>
          <p:cNvPr id="40" name="Round Same Side Corner Rectangle 39"/>
          <p:cNvSpPr/>
          <p:nvPr/>
        </p:nvSpPr>
        <p:spPr>
          <a:xfrm>
            <a:off x="1769499" y="4362587"/>
            <a:ext cx="569910" cy="135241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94849" y="4210187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41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4849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Kalsel</a:t>
            </a:r>
          </a:p>
        </p:txBody>
      </p:sp>
      <p:sp>
        <p:nvSpPr>
          <p:cNvPr id="43" name="Round Same Side Corner Rectangle 42"/>
          <p:cNvSpPr/>
          <p:nvPr/>
        </p:nvSpPr>
        <p:spPr>
          <a:xfrm>
            <a:off x="2688708" y="4593487"/>
            <a:ext cx="569910" cy="1121513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14058" y="4441087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14058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Jambi</a:t>
            </a:r>
          </a:p>
        </p:txBody>
      </p:sp>
      <p:sp>
        <p:nvSpPr>
          <p:cNvPr id="46" name="Round Same Side Corner Rectangle 45"/>
          <p:cNvSpPr/>
          <p:nvPr/>
        </p:nvSpPr>
        <p:spPr>
          <a:xfrm>
            <a:off x="3607917" y="4956329"/>
            <a:ext cx="569910" cy="758671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3267" y="4803929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33267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Kalteng</a:t>
            </a:r>
          </a:p>
        </p:txBody>
      </p:sp>
      <p:sp>
        <p:nvSpPr>
          <p:cNvPr id="49" name="Round Same Side Corner Rectangle 48"/>
          <p:cNvSpPr/>
          <p:nvPr/>
        </p:nvSpPr>
        <p:spPr>
          <a:xfrm>
            <a:off x="4527126" y="5088272"/>
            <a:ext cx="569910" cy="626728"/>
          </a:xfrm>
          <a:prstGeom prst="round2SameRect">
            <a:avLst>
              <a:gd name="adj1" fmla="val 22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476" y="4935872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2476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Kalbar</a:t>
            </a:r>
          </a:p>
        </p:txBody>
      </p:sp>
      <p:sp>
        <p:nvSpPr>
          <p:cNvPr id="52" name="Round Same Side Corner Rectangle 51"/>
          <p:cNvSpPr/>
          <p:nvPr/>
        </p:nvSpPr>
        <p:spPr>
          <a:xfrm>
            <a:off x="5446335" y="5517086"/>
            <a:ext cx="569910" cy="19791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71685" y="5364686"/>
            <a:ext cx="919209" cy="1397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86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1685" y="5740400"/>
            <a:ext cx="919209" cy="127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750" b="0" lang="id-ID">
                <a:solidFill>
                  <a:srgbClr val="6B7280"/>
                </a:solidFill>
                <a:latin typeface="Roboto"/>
              </a:rPr>
              <a:t>Riau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5715000"/>
            <a:ext cx="5515254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56" name="Rounded Rectangle 55"/>
          <p:cNvSpPr/>
          <p:nvPr/>
        </p:nvSpPr>
        <p:spPr>
          <a:xfrm>
            <a:off x="6455054" y="2346960"/>
            <a:ext cx="5188306" cy="3736340"/>
          </a:xfrm>
          <a:prstGeom prst="roundRect">
            <a:avLst>
              <a:gd name="adj" fmla="val 1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55054" y="2346960"/>
            <a:ext cx="518830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55054" y="2575560"/>
            <a:ext cx="518830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55054" y="2346960"/>
            <a:ext cx="5188306" cy="3736340"/>
          </a:xfrm>
          <a:prstGeom prst="roundRect">
            <a:avLst>
              <a:gd name="adj" fmla="val 1461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82054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regulasi-FFFFFF-e639fe9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9204" y="2486660"/>
            <a:ext cx="177800" cy="1778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63054" y="2346960"/>
            <a:ext cx="442630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Status darurat ditetapkan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7644" y="2905760"/>
            <a:ext cx="1502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WILAYAH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0550" y="2905760"/>
            <a:ext cx="1502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963455" y="2905760"/>
            <a:ext cx="1502105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BERLAKU S.D.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582054" y="3116580"/>
            <a:ext cx="493430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7" name="Oval 66"/>
          <p:cNvSpPr/>
          <p:nvPr/>
        </p:nvSpPr>
        <p:spPr>
          <a:xfrm>
            <a:off x="6582054" y="31629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7644" y="31165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711403" y="3154680"/>
            <a:ext cx="900398" cy="1905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Tanggap Darurat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3455" y="31165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29 Okt 2026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582054" y="33832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2" name="Oval 71"/>
          <p:cNvSpPr/>
          <p:nvPr/>
        </p:nvSpPr>
        <p:spPr>
          <a:xfrm>
            <a:off x="6582054" y="34296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7644" y="33832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Barat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78722" y="34213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63455" y="33832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31 Des 2026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582054" y="36499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7" name="Oval 76"/>
          <p:cNvSpPr/>
          <p:nvPr/>
        </p:nvSpPr>
        <p:spPr>
          <a:xfrm>
            <a:off x="6582054" y="36963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7644" y="36499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778722" y="36880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963455" y="36499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582054" y="39166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2" name="Oval 81"/>
          <p:cNvSpPr/>
          <p:nvPr/>
        </p:nvSpPr>
        <p:spPr>
          <a:xfrm>
            <a:off x="6582054" y="39630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7644" y="39166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778722" y="39547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963455" y="39166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582054" y="41833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Oval 86"/>
          <p:cNvSpPr/>
          <p:nvPr/>
        </p:nvSpPr>
        <p:spPr>
          <a:xfrm>
            <a:off x="6582054" y="42297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7644" y="41833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Timur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78722" y="42214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3455" y="41833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582054" y="44500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2" name="Oval 91"/>
          <p:cNvSpPr/>
          <p:nvPr/>
        </p:nvSpPr>
        <p:spPr>
          <a:xfrm>
            <a:off x="6582054" y="44964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7644" y="44500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778722" y="44881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963455" y="44500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Nov 2026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6582054" y="47167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7" name="Oval 96"/>
          <p:cNvSpPr/>
          <p:nvPr/>
        </p:nvSpPr>
        <p:spPr>
          <a:xfrm>
            <a:off x="6582054" y="47631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7644" y="47167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Karanganyar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11403" y="4754880"/>
            <a:ext cx="900398" cy="1905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Tanggap Darurat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3455" y="47167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30 Okt 2026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582054" y="49834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2" name="Oval 101"/>
          <p:cNvSpPr/>
          <p:nvPr/>
        </p:nvSpPr>
        <p:spPr>
          <a:xfrm>
            <a:off x="6582054" y="50298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7644" y="49834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TN Way Kambas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778722" y="50215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963455" y="49834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berjalan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6582054" y="5250180"/>
            <a:ext cx="493430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7" name="Oval 106"/>
          <p:cNvSpPr/>
          <p:nvPr/>
        </p:nvSpPr>
        <p:spPr>
          <a:xfrm>
            <a:off x="6582054" y="5296535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7644" y="52501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Wonosobo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778722" y="5288280"/>
            <a:ext cx="76576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600B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1A1A1A"/>
                </a:solidFill>
                <a:latin typeface="Roboto"/>
              </a:rPr>
              <a:t>Siaga Darurat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963455" y="5250180"/>
            <a:ext cx="1502105" cy="266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31 Des 2026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582054" y="5643880"/>
            <a:ext cx="4934306" cy="350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Layanan kesehatan dan masker disediakan bagi warga di kota terdampak.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Data karhutla BNPB, 26 Okt 2026; laporan harian dan paparan operasi BNPB, Oktober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Area terdampak kebakaran sejak Januari sekitar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2.099.692 ha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di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 14 provinsi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; regu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aktif di ±</a:t>
            </a:r>
            <a:r>
              <a:rPr sz="2200" b="1" lang="id-ID">
                <a:solidFill>
                  <a:srgbClr val="051C2C"/>
                </a:solidFill>
                <a:latin typeface="Roboto"/>
              </a:rPr>
              <a:t>28.016 ha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SITUASI HARI TERAKHIR</a:t>
            </a:r>
          </a:p>
        </p:txBody>
      </p:sp>
      <p:sp>
        <p:nvSpPr>
          <p:cNvPr id="10" name="Oval 9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±</a:t>
            </a:r>
            <a:r>
              <a:rPr sz="869" b="1" lang="id-ID">
                <a:solidFill>
                  <a:srgbClr val="2E3440"/>
                </a:solidFill>
                <a:latin typeface="Roboto"/>
              </a:rPr>
              <a:t>20.532 ha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ditangani regu darat dan udara.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wilayah-FFFFFF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TN Tanjung Puting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±</a:t>
            </a:r>
            <a:r>
              <a:rPr sz="869" b="1" lang="id-ID">
                <a:solidFill>
                  <a:srgbClr val="2E3440"/>
                </a:solidFill>
                <a:latin typeface="Roboto"/>
              </a:rPr>
              <a:t>1.407 ha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ditangani pemadaman udara.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kalender-FFFFFF-a840cf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Laporan harian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1" lang="id-ID">
                <a:solidFill>
                  <a:srgbClr val="2E3440"/>
                </a:solidFill>
                <a:latin typeface="Roboto"/>
              </a:rPr>
              <a:t>19 kejadian karhutla</a:t>
            </a:r>
            <a:r>
              <a:rPr sz="869" b="0" lang="id-ID">
                <a:solidFill>
                  <a:srgbClr val="2E3440"/>
                </a:solidFill>
                <a:latin typeface="Roboto"/>
              </a:rPr>
              <a:t> tercatat, regu di lapangan.</a:t>
            </a:r>
          </a:p>
        </p:txBody>
      </p:sp>
      <p:pic>
        <p:nvPicPr>
          <p:cNvPr id="24" name="Picture 23" descr="peta-luas-terbakar-2026-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8721"/>
            <a:ext cx="7407250" cy="27823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804912" y="4437269"/>
            <a:ext cx="700132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1" lang="id-ID">
                <a:solidFill>
                  <a:srgbClr val="1A1A1A"/>
                </a:solidFill>
                <a:latin typeface="Roboto"/>
              </a:rPr>
              <a:t>Luas terbakar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2044" y="4475369"/>
            <a:ext cx="101600" cy="101600"/>
          </a:xfrm>
          <a:prstGeom prst="rect">
            <a:avLst/>
          </a:prstGeom>
          <a:solidFill>
            <a:srgbClr val="8F3F07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84444" y="4437269"/>
            <a:ext cx="66477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1A1A1A"/>
                </a:solidFill>
                <a:latin typeface="Roboto"/>
              </a:rPr>
              <a:t>Sangat tinggi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6218" y="4475369"/>
            <a:ext cx="101600" cy="101600"/>
          </a:xfrm>
          <a:prstGeom prst="rect">
            <a:avLst/>
          </a:prstGeom>
          <a:solidFill>
            <a:srgbClr val="E8894A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8618" y="4437269"/>
            <a:ext cx="326395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1A1A1A"/>
                </a:solidFill>
                <a:latin typeface="Roboto"/>
              </a:rPr>
              <a:t>Tinggi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82013" y="4475369"/>
            <a:ext cx="101600" cy="101600"/>
          </a:xfrm>
          <a:prstGeom prst="rect">
            <a:avLst/>
          </a:prstGeom>
          <a:solidFill>
            <a:srgbClr val="FBE7D6"/>
          </a:solidFill>
          <a:ln w="6350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4413" y="4437269"/>
            <a:ext cx="390604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1A1A1A"/>
                </a:solidFill>
                <a:latin typeface="Roboto"/>
              </a:rPr>
              <a:t>Sedang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15069"/>
            <a:ext cx="740725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6B7280"/>
                </a:solidFill>
                <a:latin typeface="Roboto"/>
              </a:rPr>
              <a:t>Sumber batas: Berkas batas wilayah Pantau Bencana; WGS84; Ekuirektangular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70725" y="3360344"/>
            <a:ext cx="118533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57793" y="4139402"/>
            <a:ext cx="922164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Papua Selatan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5668" y="3499462"/>
            <a:ext cx="109924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3050" y="1282700"/>
            <a:ext cx="3550310" cy="376809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3050" y="1282700"/>
            <a:ext cx="3550310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93050" y="1511300"/>
            <a:ext cx="3550310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93050" y="1282700"/>
            <a:ext cx="3550310" cy="3768090"/>
          </a:xfrm>
          <a:prstGeom prst="roundRect">
            <a:avLst>
              <a:gd name="adj" fmla="val 1538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0050" y="136525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200" y="1422400"/>
            <a:ext cx="177800" cy="1778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01050" y="1282700"/>
            <a:ext cx="2788310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Luas terbakar dan aktif per provinsi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0050" y="1841500"/>
            <a:ext cx="1267724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PROVINSI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8574" y="1841500"/>
            <a:ext cx="101257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TERBAKAR, 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47" y="1841500"/>
            <a:ext cx="76201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AKTIF, HA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20050" y="2052320"/>
            <a:ext cx="329631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8220050" y="205232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Tengah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38574" y="2052320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742.664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47" y="2052320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20.532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220050" y="222393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1" name="TextBox 50"/>
          <p:cNvSpPr txBox="1"/>
          <p:nvPr/>
        </p:nvSpPr>
        <p:spPr>
          <a:xfrm>
            <a:off x="8220050" y="222393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Barat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38574" y="2223933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357.532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52747" y="2223933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1.487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220050" y="2395547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8220050" y="2395547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Papua Selatan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38574" y="2395547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315.344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52747" y="2395547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842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0050" y="2567160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8220050" y="256716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Sumatera Selatan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38574" y="2567160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230.181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52747" y="2567160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2.628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20050" y="273877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8220050" y="273877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Timur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38574" y="2738773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141.174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52747" y="2738773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597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8220050" y="2910386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8220050" y="2910386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Kalimantan Selatan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38574" y="2910386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119.336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52747" y="2910386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994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220050" y="3082000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8220050" y="308200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Jambi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38574" y="3082000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38.103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52747" y="3082000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936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220050" y="325361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8220050" y="325361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Bangka Belitung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38574" y="3253613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35.928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52747" y="3253613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321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220050" y="3425226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9" name="TextBox 78"/>
          <p:cNvSpPr txBox="1"/>
          <p:nvPr/>
        </p:nvSpPr>
        <p:spPr>
          <a:xfrm>
            <a:off x="8220050" y="3425226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Sulawesi Tenggara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38574" y="3425226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35.345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47" y="3425226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255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220050" y="3596840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3" name="TextBox 82"/>
          <p:cNvSpPr txBox="1"/>
          <p:nvPr/>
        </p:nvSpPr>
        <p:spPr>
          <a:xfrm>
            <a:off x="8220050" y="3596840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Riau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538574" y="3596840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31.414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52747" y="3596840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8220050" y="376845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8220050" y="376845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Nusa Tenggara Barat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538574" y="3768453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29.051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52747" y="3768453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64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8220050" y="3940066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8220050" y="3940066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Sulawesi Selatan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38574" y="3940066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18.217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652747" y="3940066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170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8220050" y="4111679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8220050" y="4111679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Lampung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538574" y="4111679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2.800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652747" y="4111679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220050" y="4283293"/>
            <a:ext cx="329631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8220050" y="4283293"/>
            <a:ext cx="1267724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Jawa Timur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38574" y="4283293"/>
            <a:ext cx="101257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2.603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52747" y="4283293"/>
            <a:ext cx="762013" cy="17161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0050" y="4581906"/>
            <a:ext cx="3296310" cy="3799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Kelas peta: sangat tinggi di atas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300.000 ha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; tinggi mulai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30.000 ha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; sedang di bawahnya.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Laporan Kejadian Bencana Harian BNPB, Oktober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Australia menawarkan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4 aset udara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dan tenaga ahli kebakaran yang melengkapi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armada nasional Indonesia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2177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TAWARAN 2026</a:t>
            </a:r>
          </a:p>
        </p:txBody>
      </p:sp>
      <p:pic>
        <p:nvPicPr>
          <p:cNvPr id="10" name="Picture 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wilayah-051C2C-37dca1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Citation pemantau udara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FBE7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karhutla-D9600B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D9600B"/>
                </a:solidFill>
                <a:latin typeface="Roboto"/>
              </a:rPr>
              <a:t>4.200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liter belly tank Bell 412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1045703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KOORDINASI</a:t>
            </a:r>
          </a:p>
        </p:txBody>
      </p:sp>
      <p:pic>
        <p:nvPicPr>
          <p:cNvPr id="23" name="Picture 22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kalender-051C2C-a840cf9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tahap koordinasi sejak September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karhutla-051C2C-1955759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pesawat dukungan 2015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KEMAMPUAN AUSTRALIA YANG MELENGKAPI INDONESIA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wilayah-FFFFFF-37dca10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Pemantauan udara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Penerbangan Citation memetakan front api dan melengkapi data satelit.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Informasi situasi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Peta api harian dibagikan ke posko provinsi.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Manajemen insiden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Keahlian NSW RFS dalam komando gabungan darat dan udara.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6878726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6878726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6878726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6878726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6116726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Tawaran Australia 2026, dukungan 2015, dan armada udara nasional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151566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PIHAK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42102" y="2905760"/>
            <a:ext cx="151566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ASET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8564" y="2905760"/>
            <a:ext cx="151566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FUNGSI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75026" y="2905760"/>
            <a:ext cx="151566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STATUS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1488" y="2905760"/>
            <a:ext cx="25727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UNIT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116580"/>
            <a:ext cx="6624726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75640" y="3116580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2102" y="3116580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Cessna Citation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08564" y="3116580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Pemantauan udara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75026" y="3116580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Dibahas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1488" y="3116580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347244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3347244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42102" y="3347244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King Air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08564" y="3347244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Pesawat pendukung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75026" y="3347244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Dibahas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1488" y="3347244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3577908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3577908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42102" y="3577908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Bell 412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08564" y="3577908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Water bombing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5026" y="3577908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Dibahas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1488" y="3577908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3808571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3808571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2026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42102" y="3808571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Tenaga ahli kebakaran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08564" y="3808571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Penasihat insiden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75026" y="3808571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Dibahas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41488" y="3808571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039235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675640" y="4039235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42102" y="4039235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L-100 Hercules "Thor"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08564" y="4039235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Pesawat pemadam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75026" y="4039235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Pernah beroperasi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941488" y="4039235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269899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4269899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Australia 2015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42102" y="4269899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Turbo Commander "Birddog"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08564" y="4269899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Pesawat pemandu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75026" y="4269899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Pernah beroperasi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941488" y="4269899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75640" y="4500562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675640" y="4500562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Indonesia 2026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42102" y="4500562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Helikopter nasional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808564" y="4500562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Water bombing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75026" y="4500562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Beroperasi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941488" y="4500562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30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75640" y="4731226"/>
            <a:ext cx="6624726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675640" y="4731226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Indonesia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42102" y="4731226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Pesawat nasional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808564" y="4731226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Patroli dan modifikasi cuaca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75026" y="4731226"/>
            <a:ext cx="1515662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Beroperasi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1488" y="4731226"/>
            <a:ext cx="25727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64526" y="2346960"/>
            <a:ext cx="4078834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7564526" y="2346960"/>
            <a:ext cx="4078834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64526" y="2575560"/>
            <a:ext cx="4078834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7564526" y="2346960"/>
            <a:ext cx="4078834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691526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kalender-FFFFFF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8676" y="2486660"/>
            <a:ext cx="177800" cy="177800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8072526" y="2346960"/>
            <a:ext cx="3316834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Kronologi koordinasi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91526" y="2905760"/>
            <a:ext cx="18616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TANGGAL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603943" y="2905760"/>
            <a:ext cx="1861617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PERISTIWA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691526" y="3116580"/>
            <a:ext cx="3824834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0" name="TextBox 119"/>
          <p:cNvSpPr txBox="1"/>
          <p:nvPr/>
        </p:nvSpPr>
        <p:spPr>
          <a:xfrm>
            <a:off x="7691526" y="311658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7 Sep 2026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03943" y="311658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Nota diplomatik Kedubes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7691526" y="3279902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7691526" y="3279902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8 Sep 2026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03943" y="3279902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Surat Kemlu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691526" y="3443224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6" name="TextBox 125"/>
          <p:cNvSpPr txBox="1"/>
          <p:nvPr/>
        </p:nvSpPr>
        <p:spPr>
          <a:xfrm>
            <a:off x="7691526" y="3443224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14 Okt 2026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603943" y="3443224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Pertemuan dengan Menteri Burke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7691526" y="3606546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9" name="TextBox 128"/>
          <p:cNvSpPr txBox="1"/>
          <p:nvPr/>
        </p:nvSpPr>
        <p:spPr>
          <a:xfrm>
            <a:off x="7691526" y="3606546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22 Okt 2026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603943" y="3606546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Ministerial Council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7691526" y="3769868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2" name="TextBox 131"/>
          <p:cNvSpPr txBox="1"/>
          <p:nvPr/>
        </p:nvSpPr>
        <p:spPr>
          <a:xfrm>
            <a:off x="7691526" y="3769868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23 Okt 2026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03943" y="3769868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Tawaran tenaga ahli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7691526" y="3933190"/>
            <a:ext cx="3824834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35" name="TextBox 134"/>
          <p:cNvSpPr txBox="1"/>
          <p:nvPr/>
        </p:nvSpPr>
        <p:spPr>
          <a:xfrm>
            <a:off x="7691526" y="393319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26 Okt 2026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603943" y="3933190"/>
            <a:ext cx="1861617" cy="16332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Pertemuan di BNPB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691526" y="4223512"/>
            <a:ext cx="3824834" cy="7383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Bell 412 membawa sekitar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4.200 liter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 per sorti; armada nasional menyalurkan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1.135.000 liter per hari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Tenaga ahli kebakaran ditawarkan sebagai tambahan atas tawaran pesawat.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Pengerahan 2015 menjadi dasar operasi udara bersama.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Nota Diplomatik Kedubes Australia; Kementerian Luar Negeri; BNPB, Oktober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Empat jenis pesawat angkut RAAF berjumlah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36 pesawat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mendukung bantuan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kemanusiaan dan penanggulangan bencana (HADR)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1371547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ANGKUTAN BERAT</a:t>
            </a:r>
          </a:p>
        </p:txBody>
      </p:sp>
      <p:pic>
        <p:nvPicPr>
          <p:cNvPr id="10" name="Picture 9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kapasitas-051C2C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ton muatan maksimum C-17A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136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1058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785" y="1758950"/>
            <a:ext cx="177800" cy="177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1317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317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unit C-17A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29350" y="1282700"/>
            <a:ext cx="5414010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9078" y="1337310"/>
            <a:ext cx="105941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JARAK JAUH</a:t>
            </a:r>
          </a:p>
        </p:txBody>
      </p:sp>
      <p:pic>
        <p:nvPicPr>
          <p:cNvPr id="23" name="Picture 22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518" y="1372057"/>
            <a:ext cx="113386" cy="11338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339078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829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pengungsi-051C2C-65a2f72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498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0888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0888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penumpang KC-30A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2075" y="1593850"/>
            <a:ext cx="2551557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91295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data-051C2C-608a1e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7495" y="1758950"/>
            <a:ext cx="177800" cy="177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93885" y="1630680"/>
            <a:ext cx="1930527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93885" y="1896110"/>
            <a:ext cx="1930527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unit C-130J taktis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PENGATURAN PENGERAHAN</a:t>
            </a:r>
          </a:p>
        </p:txBody>
      </p:sp>
      <p:sp>
        <p:nvSpPr>
          <p:cNvPr id="36" name="Oval 35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kalender-FFFFFF-a840cf9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Rencana terbang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Jendela terbang disusun dengan informasi cuaca BMKG.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wilayah-FFFFFF-37dca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Pangkalan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Landasan dan sumber air disepakati sebelum operasi.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6" name="Oval 45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kapasitas-FFFFFF-22e801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Avtur dan pemeliharaan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Avtur dan suku cadang disiapkan bersama.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2346960"/>
            <a:ext cx="7322515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48640" y="2346960"/>
            <a:ext cx="732251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2575560"/>
            <a:ext cx="732251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48640" y="2346960"/>
            <a:ext cx="7322515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5" name="Picture 54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56640" y="2346960"/>
            <a:ext cx="656051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Spesifikasi empat pesawat angkut RAAF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640" y="2905760"/>
            <a:ext cx="2776606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BESARAN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3046" y="2905760"/>
            <a:ext cx="95038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C-17A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5029" y="2905760"/>
            <a:ext cx="95862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C-130J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15252" y="2905760"/>
            <a:ext cx="950383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C-27J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67235" y="2905760"/>
            <a:ext cx="975320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KC-30A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75640" y="3116580"/>
            <a:ext cx="706851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75640" y="3116580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Unit dalam armada RAAF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3046" y="3116580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55029" y="3116580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15252" y="3116580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67235" y="3116580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75640" y="3380196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9" name="TextBox 68"/>
          <p:cNvSpPr txBox="1"/>
          <p:nvPr/>
        </p:nvSpPr>
        <p:spPr>
          <a:xfrm>
            <a:off x="675640" y="3380196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Muatan maksimum, kg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03046" y="3380196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70.000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55029" y="3380196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19.500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15252" y="3380196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5.000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67235" y="3380196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34.000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5640" y="3643811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75640" y="3643811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Penumpang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03046" y="3643811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134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55029" y="3643811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15252" y="3643811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7235" y="3643811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270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3907427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75640" y="3907427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Tandu pasien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03046" y="3907427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55029" y="3907427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97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15252" y="3907427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21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67235" y="3907427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–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75640" y="4171043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675640" y="4171043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Jangkauan, km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03046" y="4171043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4.445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55029" y="4171043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5.100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15252" y="4171043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1.700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67235" y="4171043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14.800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75640" y="4434659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675640" y="4434659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Kecepatan jelajah, km/jam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03046" y="4434659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829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55029" y="4434659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575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615252" y="4434659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670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67235" y="4434659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860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675640" y="4698274"/>
            <a:ext cx="706851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675640" y="4698274"/>
            <a:ext cx="2776606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Ketinggian maksimum, kaki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503046" y="4698274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45.000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55029" y="4698274"/>
            <a:ext cx="95862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40.000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15252" y="4698274"/>
            <a:ext cx="950383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30.000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67235" y="4698274"/>
            <a:ext cx="975320" cy="263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19" b="1" lang="id-ID">
                <a:solidFill>
                  <a:srgbClr val="1A1A1A"/>
                </a:solidFill>
                <a:latin typeface="Roboto"/>
              </a:rPr>
              <a:t>41.000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008315" y="2346960"/>
            <a:ext cx="3635045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8008315" y="2346960"/>
            <a:ext cx="3635045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08315" y="2575560"/>
            <a:ext cx="3635045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8008315" y="2346960"/>
            <a:ext cx="3635045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135315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pengungsi-FFFFFF-65a2f7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2465" y="2486660"/>
            <a:ext cx="177800" cy="1778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8516315" y="2346960"/>
            <a:ext cx="2873045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Peran potensial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135315" y="2905760"/>
            <a:ext cx="16397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PESAWAT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25838" y="2905760"/>
            <a:ext cx="1639722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MISI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8135315" y="3116580"/>
            <a:ext cx="3381045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14" name="TextBox 113"/>
          <p:cNvSpPr txBox="1"/>
          <p:nvPr/>
        </p:nvSpPr>
        <p:spPr>
          <a:xfrm>
            <a:off x="8135315" y="3116580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C-17A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825838" y="3116580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Alat berat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135315" y="3316764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17" name="TextBox 116"/>
          <p:cNvSpPr txBox="1"/>
          <p:nvPr/>
        </p:nvSpPr>
        <p:spPr>
          <a:xfrm>
            <a:off x="8135315" y="3316764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C-130J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25838" y="3316764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Landasan tanah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8135315" y="3516948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0" name="TextBox 119"/>
          <p:cNvSpPr txBox="1"/>
          <p:nvPr/>
        </p:nvSpPr>
        <p:spPr>
          <a:xfrm>
            <a:off x="8135315" y="3516948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C-27J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25838" y="3516948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Bandara perintis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8135315" y="3717131"/>
            <a:ext cx="3381045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8135315" y="3717131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KC-30A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825838" y="3717131"/>
            <a:ext cx="1639722" cy="2001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Angkut jarak jauh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135315" y="4044315"/>
            <a:ext cx="3381045" cy="9175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87704" indent="-87704"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KC-30A berjangkauan </a:t>
            </a:r>
            <a:r>
              <a:rPr sz="830" b="1" lang="id-ID">
                <a:solidFill>
                  <a:srgbClr val="1A1A1A"/>
                </a:solidFill>
                <a:latin typeface="Roboto"/>
              </a:rPr>
              <a:t>14.800 km</a:t>
            </a:r>
            <a:r>
              <a:rPr sz="83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Bandara perintis di Kalimantan dan Papua cocok untuk pesawat taktis.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Pangkalan dan avtur disiapkan bersama.</a:t>
            </a:r>
          </a:p>
          <a:p>
            <a:pPr algn="just" marL="87704" indent="-87704">
              <a:spcBef>
                <a:spcPts val="415"/>
              </a:spcBef>
              <a:buClr>
                <a:srgbClr val="6B7280"/>
              </a:buClr>
              <a:buFont typeface="Roboto"/>
              <a:buChar char="•"/>
            </a:pPr>
            <a:r>
              <a:rPr sz="830" b="0" lang="id-ID">
                <a:solidFill>
                  <a:srgbClr val="1A1A1A"/>
                </a:solidFill>
                <a:latin typeface="Roboto"/>
              </a:rPr>
              <a:t>Lanud TNI AU dapat menampung angkutan logistik bantuan.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ADF Capabilities, Air Mobility Group; BNPB, Oktober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Pertukaran pengalaman dengan NSW RFS mencakup</a:t>
            </a:r>
            <a:r>
              <a:rPr sz="2200" b="1" lang="id-ID">
                <a:solidFill>
                  <a:srgbClr val="D9600B"/>
                </a:solidFill>
                <a:latin typeface="Roboto"/>
              </a:rPr>
              <a:t> 8 topik</a:t>
            </a:r>
            <a:r>
              <a:rPr sz="2200" b="1" lang="id-ID">
                <a:solidFill>
                  <a:srgbClr val="1A1A1A"/>
                </a:solidFill>
                <a:latin typeface="Roboto"/>
              </a:rPr>
              <a:t> yang disesuaikan</a:t>
            </a:r>
            <a:br/>
            <a:r>
              <a:rPr sz="2200" b="1" lang="id-ID">
                <a:solidFill>
                  <a:srgbClr val="1A1A1A"/>
                </a:solidFill>
                <a:latin typeface="Roboto"/>
              </a:rPr>
              <a:t>dengan geografi dan sistem penanggulangan bencana Indonesia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2700"/>
            <a:ext cx="3652012" cy="927100"/>
          </a:xfrm>
          <a:prstGeom prst="roundRect">
            <a:avLst>
              <a:gd name="adj" fmla="val 7945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37310"/>
            <a:ext cx="849768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FFFFFF"/>
                </a:solidFill>
                <a:latin typeface="Roboto"/>
              </a:rPr>
              <a:t>NSW RFS</a:t>
            </a:r>
          </a:p>
        </p:txBody>
      </p:sp>
      <p:pic>
        <p:nvPicPr>
          <p:cNvPr id="10" name="Picture 9" descr="karhutla-FFFFFF-195575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72057"/>
            <a:ext cx="113386" cy="11338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7588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jiwa-051C2C-9b7037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88" y="1758950"/>
            <a:ext cx="177800" cy="177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0178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178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spesialis manajemen insiden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67352" y="1282700"/>
            <a:ext cx="7176008" cy="927100"/>
          </a:xfrm>
          <a:prstGeom prst="roundRect">
            <a:avLst>
              <a:gd name="adj" fmla="val 7945"/>
            </a:avLst>
          </a:prstGeom>
          <a:solidFill>
            <a:srgbClr val="EEF5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7080" y="1337310"/>
            <a:ext cx="1365113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B7A99"/>
            </a:solidFill>
          </a:ln>
        </p:spPr>
        <p:txBody>
          <a:bodyPr rtlCol="0" anchor="ctr" wrap="none" lIns="259690" tIns="0" rIns="0" bIns="0">
            <a:noAutofit/>
          </a:bodyPr>
          <a:lstStyle/>
          <a:p>
            <a:pPr algn="l"/>
            <a:r>
              <a:rPr sz="760" b="1" lang="id-ID" spc="100">
                <a:solidFill>
                  <a:srgbClr val="1A1A1A"/>
                </a:solidFill>
                <a:latin typeface="Roboto"/>
              </a:rPr>
              <a:t>MITRA INDONESIA</a:t>
            </a:r>
          </a:p>
        </p:txBody>
      </p:sp>
      <p:pic>
        <p:nvPicPr>
          <p:cNvPr id="18" name="Picture 17" descr="lembaga-1A1A1A-f44193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520" y="1372057"/>
            <a:ext cx="113386" cy="11338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77080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6300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lembaga-051C2C-f44193c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758950"/>
            <a:ext cx="177800" cy="177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88890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8890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lembaga riset dan teknologi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076" y="1593850"/>
            <a:ext cx="3432556" cy="508000"/>
          </a:xfrm>
          <a:prstGeom prst="roundRect">
            <a:avLst>
              <a:gd name="adj" fmla="val 14499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10296" y="1682750"/>
            <a:ext cx="330200" cy="330200"/>
          </a:xfrm>
          <a:prstGeom prst="ellipse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-051C2C-608a1e1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496" y="1758950"/>
            <a:ext cx="177800" cy="177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12886" y="1630680"/>
            <a:ext cx="2811526" cy="2743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950" b="1" lang="id-ID">
                <a:solidFill>
                  <a:srgbClr val="051C2C"/>
                </a:solidFill>
                <a:latin typeface="Robot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2886" y="1896110"/>
            <a:ext cx="2811526" cy="1549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2E3440"/>
                </a:solidFill>
                <a:latin typeface="Roboto"/>
              </a:rPr>
              <a:t>topik pertukaran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1879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690" y="52616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LANGKAH KE DEPAN</a:t>
            </a:r>
          </a:p>
        </p:txBody>
      </p:sp>
      <p:sp>
        <p:nvSpPr>
          <p:cNvPr id="31" name="Oval 30"/>
          <p:cNvSpPr/>
          <p:nvPr/>
        </p:nvSpPr>
        <p:spPr>
          <a:xfrm>
            <a:off x="694690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embaga-FFFFFF-f44193c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890" y="5612130"/>
            <a:ext cx="177800" cy="1778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060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Praktik baik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060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Disesuaikan dengan geografi dan sistem penanggulangan bencana Indonesia.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22538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36" name="Oval 35"/>
          <p:cNvSpPr/>
          <p:nvPr/>
        </p:nvSpPr>
        <p:spPr>
          <a:xfrm>
            <a:off x="4295563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data-FFFFFF-608a1e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1763" y="5612130"/>
            <a:ext cx="177800" cy="1778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15933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BMKG dan BRIN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5933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Pertukaran informasi riset dan inovasi penanganan karhutla.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823412" y="55181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41" name="Oval 40"/>
          <p:cNvSpPr/>
          <p:nvPr/>
        </p:nvSpPr>
        <p:spPr>
          <a:xfrm>
            <a:off x="7896437" y="55359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Picture 41" descr="kalender-FFFFFF-a840cf9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72637" y="5612130"/>
            <a:ext cx="177800" cy="1778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316807" y="54800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Sesi teknis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6807" y="56832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Sesi lanjutan disusun bersama tiap unit pengampu.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2346960"/>
            <a:ext cx="8210093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8640" y="2346960"/>
            <a:ext cx="8210093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2575560"/>
            <a:ext cx="8210093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8640" y="2346960"/>
            <a:ext cx="8210093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5640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kapasitas-FFFFFF-22e801b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2790" y="2486660"/>
            <a:ext cx="177800" cy="1778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056640" y="2346960"/>
            <a:ext cx="7448093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Topik dan unit pengampu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1230" y="2905760"/>
            <a:ext cx="25093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TOPIK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11398" y="2905760"/>
            <a:ext cx="25093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FOKUS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71565" y="2905760"/>
            <a:ext cx="2509368" cy="2108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6B7280"/>
                </a:solidFill>
                <a:latin typeface="Roboto"/>
              </a:rPr>
              <a:t>PENGAMPU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5640" y="3116580"/>
            <a:ext cx="7956093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6" name="Oval 55"/>
          <p:cNvSpPr/>
          <p:nvPr/>
        </p:nvSpPr>
        <p:spPr>
          <a:xfrm>
            <a:off x="675640" y="3144917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51230" y="3116580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Manajemen insiden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11398" y="3116580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Struktur dan peran tim insiden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71565" y="3116580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Penanganan Darurat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75640" y="3347244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1" name="Oval 60"/>
          <p:cNvSpPr/>
          <p:nvPr/>
        </p:nvSpPr>
        <p:spPr>
          <a:xfrm>
            <a:off x="675640" y="3375581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1230" y="3347244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Koordinasi komando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11398" y="3347244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Komando gabungan lintas lembaga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71565" y="3347244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Penanganan Darurat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75640" y="3577908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6" name="Oval 65"/>
          <p:cNvSpPr/>
          <p:nvPr/>
        </p:nvSpPr>
        <p:spPr>
          <a:xfrm>
            <a:off x="675640" y="3606244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1230" y="3577908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Informasi situasi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11398" y="3577908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Peta api harian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71565" y="3577908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Sistem dan Strategi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75640" y="3808571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1" name="Oval 70"/>
          <p:cNvSpPr/>
          <p:nvPr/>
        </p:nvSpPr>
        <p:spPr>
          <a:xfrm>
            <a:off x="675640" y="3836908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1230" y="3808571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Integrasi darat dan udara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11398" y="3808571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Heli dan regu dalam satu rencana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71565" y="3808571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Penanganan Darurat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75640" y="4039235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6" name="Oval 75"/>
          <p:cNvSpPr/>
          <p:nvPr/>
        </p:nvSpPr>
        <p:spPr>
          <a:xfrm>
            <a:off x="675640" y="4067572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1230" y="4039235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Praktik baik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11398" y="4039235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Disesuaikan untuk gambut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71565" y="4039235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Pencegahan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5640" y="4269899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1" name="Oval 80"/>
          <p:cNvSpPr/>
          <p:nvPr/>
        </p:nvSpPr>
        <p:spPr>
          <a:xfrm>
            <a:off x="675640" y="4298236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1230" y="4269899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Teknologi dan riset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11398" y="4269899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Modifikasi cuaca dan inovasi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71565" y="4269899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BMKG dan BRIN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75640" y="4500562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86" name="Oval 85"/>
          <p:cNvSpPr/>
          <p:nvPr/>
        </p:nvSpPr>
        <p:spPr>
          <a:xfrm>
            <a:off x="675640" y="4528899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1230" y="4500562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Keselamatan operasi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11398" y="4500562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Keselamatan regu dan penerbangan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71565" y="4500562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Logistik dan Peralatan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40" y="4731226"/>
            <a:ext cx="7956093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1" name="Oval 90"/>
          <p:cNvSpPr/>
          <p:nvPr/>
        </p:nvSpPr>
        <p:spPr>
          <a:xfrm>
            <a:off x="675640" y="4759563"/>
            <a:ext cx="173990" cy="17399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5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1230" y="4731226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19" b="1" lang="id-ID">
                <a:solidFill>
                  <a:srgbClr val="1A1A1A"/>
                </a:solidFill>
                <a:latin typeface="Roboto"/>
              </a:rPr>
              <a:t>Latihan bersama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11398" y="4731226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Latihan posko dan regu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71565" y="4731226"/>
            <a:ext cx="2509368" cy="23066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60" b="0" lang="id-ID">
                <a:solidFill>
                  <a:srgbClr val="2E3440"/>
                </a:solidFill>
                <a:latin typeface="Roboto"/>
              </a:rPr>
              <a:t>Deputi Pencegahan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895893" y="2346960"/>
            <a:ext cx="2747467" cy="2703830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895893" y="2346960"/>
            <a:ext cx="2747467" cy="457200"/>
          </a:xfrm>
          <a:prstGeom prst="roundRect">
            <a:avLst>
              <a:gd name="adj" fmla="val 11944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95893" y="2575560"/>
            <a:ext cx="2747467" cy="228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8895893" y="2346960"/>
            <a:ext cx="2747467" cy="2703830"/>
          </a:xfrm>
          <a:prstGeom prst="roundRect">
            <a:avLst>
              <a:gd name="adj" fmla="val 2019"/>
            </a:avLst>
          </a:prstGeom>
          <a:noFill/>
          <a:ln w="9525">
            <a:solidFill>
              <a:srgbClr val="BFC5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022893" y="2429510"/>
            <a:ext cx="292100" cy="2921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wilayah-FFFFFF-37dca10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0043" y="2486660"/>
            <a:ext cx="177800" cy="1778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403893" y="2346960"/>
            <a:ext cx="2112467" cy="457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60" b="1" lang="id-ID">
                <a:solidFill>
                  <a:srgbClr val="1A1A1A"/>
                </a:solidFill>
                <a:latin typeface="Roboto"/>
              </a:rPr>
              <a:t>Konteks Indonesia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22893" y="2905760"/>
            <a:ext cx="2493467" cy="2056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 marL="103555" indent="-103555"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Penanganan kebakaran gambut di Kalimantan Tengah mencakup ±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20.532 ha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Regu darat ±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71.878 personel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 di enam provinsi.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BMKG dan BRIN memimpin riset dan modifikasi cuaca untuk penanganan karhutla.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Armada nasional menyalurkan 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1.135.000 liter per hari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 lewat water bombing.</a:t>
            </a:r>
          </a:p>
          <a:p>
            <a:pPr algn="just" marL="103555" indent="-103555">
              <a:spcBef>
                <a:spcPts val="490"/>
              </a:spcBef>
              <a:buClr>
                <a:srgbClr val="6B7280"/>
              </a:buClr>
              <a:buFont typeface="Roboto"/>
              <a:buChar char="•"/>
            </a:pPr>
            <a:r>
              <a:rPr sz="980" b="0" lang="id-ID">
                <a:solidFill>
                  <a:srgbClr val="1A1A1A"/>
                </a:solidFill>
                <a:latin typeface="Roboto"/>
              </a:rPr>
              <a:t>Modifikasi cuaca berjalan </a:t>
            </a:r>
            <a:r>
              <a:rPr sz="980" b="1" lang="id-ID">
                <a:solidFill>
                  <a:srgbClr val="1A1A1A"/>
                </a:solidFill>
                <a:latin typeface="Roboto"/>
              </a:rPr>
              <a:t>18 sorti</a:t>
            </a:r>
            <a:r>
              <a:rPr sz="980" b="0" lang="id-ID">
                <a:solidFill>
                  <a:srgbClr val="1A1A1A"/>
                </a:solidFill>
                <a:latin typeface="Roboto"/>
              </a:rPr>
              <a:t> mendampingi pemadaman darat dan udara.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48640" y="6178550"/>
            <a:ext cx="38100" cy="165100"/>
          </a:xfrm>
          <a:prstGeom prst="rect">
            <a:avLst/>
          </a:prstGeom>
          <a:solidFill>
            <a:srgbClr val="4A9B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6159500"/>
            <a:ext cx="1100328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60" b="0" lang="id-ID">
                <a:solidFill>
                  <a:srgbClr val="6B7280"/>
                </a:solidFill>
                <a:latin typeface="Roboto"/>
              </a:rPr>
              <a:t>Sumber: BNPB, Oktober 2026; laporan harian dan paparan operasi BNPB, Oktober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642600" cy="825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lang="id-ID">
                <a:solidFill>
                  <a:srgbClr val="1A1A1A"/>
                </a:solidFill>
                <a:latin typeface="Roboto"/>
              </a:rPr>
              <a:t>Enam langkah tindak lanjut untuk aksi bersama dengan mitra Australia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80" b="0" lang="id-ID">
                <a:solidFill>
                  <a:srgbClr val="1A1A1A"/>
                </a:solidFill>
                <a:latin typeface="Roboto"/>
              </a:rPr>
              <a:t>Badan Nasional Penanggulangan Bencana  |  Copyright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80" b="1" lang="id-ID">
                <a:solidFill>
                  <a:srgbClr val="1A1A1A"/>
                </a:solidFill>
                <a:latin typeface="Roboto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3140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80">
                <a:solidFill>
                  <a:srgbClr val="6B7280"/>
                </a:solidFill>
                <a:latin typeface="Roboto"/>
              </a:rPr>
              <a:t>LANGKAH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9898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80">
                <a:solidFill>
                  <a:srgbClr val="6B7280"/>
                </a:solidFill>
                <a:latin typeface="Roboto"/>
              </a:rPr>
              <a:t>RINCIAN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8733" y="1282700"/>
            <a:ext cx="2540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750" b="1" lang="id-ID" spc="80">
                <a:solidFill>
                  <a:srgbClr val="6B7280"/>
                </a:solidFill>
                <a:latin typeface="Roboto"/>
              </a:rPr>
              <a:t>PENANGGUNG JAWAB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4859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12" name="Rounded Rectangle 11"/>
          <p:cNvSpPr/>
          <p:nvPr/>
        </p:nvSpPr>
        <p:spPr>
          <a:xfrm>
            <a:off x="548640" y="5454650"/>
            <a:ext cx="11094720" cy="895350"/>
          </a:xfrm>
          <a:prstGeom prst="roundRect">
            <a:avLst>
              <a:gd name="adj" fmla="val 851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690" y="5528310"/>
            <a:ext cx="554736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60" b="1" lang="id-ID" spc="100">
                <a:solidFill>
                  <a:srgbClr val="051C2C"/>
                </a:solidFill>
                <a:latin typeface="Roboto"/>
              </a:rPr>
              <a:t>HASIL YANG DIHARAPKAN</a:t>
            </a:r>
          </a:p>
        </p:txBody>
      </p:sp>
      <p:sp>
        <p:nvSpPr>
          <p:cNvPr id="14" name="Oval 13"/>
          <p:cNvSpPr/>
          <p:nvPr/>
        </p:nvSpPr>
        <p:spPr>
          <a:xfrm>
            <a:off x="694690" y="58026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5878830"/>
            <a:ext cx="177800" cy="177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060" y="57467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Keberlanjutan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060" y="59499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Dukungan Australia sejak 2015 menjadi dasar kerja sama 2026.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22538" y="57848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4295563" y="58026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kapasitas-FFFFFF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763" y="5878830"/>
            <a:ext cx="177800" cy="177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15933" y="57467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Berbagi pengalaman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5933" y="59499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Pertukaran praktis dengan NSW RFS tentang manajemen insiden.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823412" y="5784850"/>
            <a:ext cx="0" cy="488950"/>
          </a:xfrm>
          <a:prstGeom prst="line">
            <a:avLst/>
          </a:prstGeom>
          <a:ln w="9525">
            <a:solidFill>
              <a:srgbClr val="DCE3EB"/>
            </a:solidFill>
          </a:ln>
        </p:spPr>
      </p:cxnSp>
      <p:sp>
        <p:nvSpPr>
          <p:cNvPr id="24" name="Oval 23"/>
          <p:cNvSpPr/>
          <p:nvPr/>
        </p:nvSpPr>
        <p:spPr>
          <a:xfrm>
            <a:off x="7896437" y="5802630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karhutla-FFFFFF-1955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2637" y="5878830"/>
            <a:ext cx="177800" cy="177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16807" y="5746750"/>
            <a:ext cx="3034453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lang="id-ID">
                <a:solidFill>
                  <a:srgbClr val="1A1A1A"/>
                </a:solidFill>
                <a:latin typeface="Roboto"/>
              </a:rPr>
              <a:t>Kemitraan lebih kuat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807" y="5949950"/>
            <a:ext cx="3034453" cy="34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sz="869" b="0" lang="id-ID">
                <a:solidFill>
                  <a:srgbClr val="2E3440"/>
                </a:solidFill>
                <a:latin typeface="Roboto"/>
              </a:rPr>
              <a:t>Tindak lanjut konkret memperkuat penanganan karhutla bersama.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1640099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kapasitas-FFFFFF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" y="1716045"/>
            <a:ext cx="178308" cy="1783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93140" y="1590569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Pastikan tawaran tenaga ahli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140" y="1825519"/>
            <a:ext cx="664323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32" name="Picture 31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1856888"/>
            <a:ext cx="102362" cy="102362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1708263" y="1825519"/>
            <a:ext cx="74444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Direncanakan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9898" y="1485900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Tenaga ahli dipastikan sebagai tambahan atas tawaran pesawat. Jumlah dan kompetensi dirinci bersama ruang lingkup tugas dan durasi penugasan.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8733" y="1614699"/>
            <a:ext cx="179726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36" name="Picture 35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1646068"/>
            <a:ext cx="102362" cy="10236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8758733" y="1830599"/>
            <a:ext cx="2335910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Kepala Biro Hukum, Organisasi, dan Kerja Sama</a:t>
            </a:r>
          </a:p>
        </p:txBody>
      </p:sp>
      <p:pic>
        <p:nvPicPr>
          <p:cNvPr id="38" name="Picture 37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1861968"/>
            <a:ext cx="102362" cy="102362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>
            <a:off x="548640" y="2124498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548640" y="2278698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infrastruktur-FFFFFF-ba1c96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86" y="2354644"/>
            <a:ext cx="178308" cy="1783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93140" y="2229168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Konfirmasi spesifikasi tiap aset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3140" y="2464118"/>
            <a:ext cx="664323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44" name="Picture 43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2495486"/>
            <a:ext cx="102362" cy="10236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1708263" y="2464118"/>
            <a:ext cx="74444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Direncanakan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09898" y="2124498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Spesifikasi dan kesiapan tiap pesawat dan helikopter dikonfirmasi dengan pihak Australia. Kebutuhan teknis dan logistik dirinci per aset.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8733" y="2253298"/>
            <a:ext cx="1879088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Deputi Bidang Logistik dan Peralatan</a:t>
            </a:r>
          </a:p>
        </p:txBody>
      </p:sp>
      <p:pic>
        <p:nvPicPr>
          <p:cNvPr id="48" name="Picture 47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2284666"/>
            <a:ext cx="102362" cy="10236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758733" y="2469198"/>
            <a:ext cx="179726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50" name="Picture 49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2500566"/>
            <a:ext cx="102362" cy="102362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2763097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548640" y="2917296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3" name="Picture 52" descr="regulasi-FFFFFF-e639fe9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86" y="2993242"/>
            <a:ext cx="178308" cy="17830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93140" y="2867766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Sepakati skema operasional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93140" y="3102716"/>
            <a:ext cx="664323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56" name="Picture 55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3134085"/>
            <a:ext cx="102362" cy="10236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708263" y="3102716"/>
            <a:ext cx="74444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Direncanakan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9898" y="2763097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Mobilisasi dan pangkalan disepakati dengan otoritas Indonesia yang memegang komando. Avtur dan pemeliharaan disiapkan sesuai prosedur keselamatan.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58733" y="2891896"/>
            <a:ext cx="1676995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Kementerian Sekretariat Negara</a:t>
            </a:r>
          </a:p>
        </p:txBody>
      </p:sp>
      <p:pic>
        <p:nvPicPr>
          <p:cNvPr id="60" name="Picture 59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2923265"/>
            <a:ext cx="102362" cy="102362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758733" y="3107796"/>
            <a:ext cx="1797269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62" name="Picture 61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3139165"/>
            <a:ext cx="102362" cy="102362"/>
          </a:xfrm>
          <a:prstGeom prst="rect">
            <a:avLst/>
          </a:prstGeom>
        </p:spPr>
      </p:pic>
      <p:cxnSp>
        <p:nvCxnSpPr>
          <p:cNvPr id="63" name="Connector 62"/>
          <p:cNvCxnSpPr/>
          <p:nvPr/>
        </p:nvCxnSpPr>
        <p:spPr>
          <a:xfrm>
            <a:off x="548640" y="3401695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64" name="Oval 63"/>
          <p:cNvSpPr/>
          <p:nvPr/>
        </p:nvSpPr>
        <p:spPr>
          <a:xfrm>
            <a:off x="548640" y="3555894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5" name="Picture 64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3631840"/>
            <a:ext cx="178308" cy="17830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93140" y="3506364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Nilai kebutuhan operasi bersama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93140" y="3741314"/>
            <a:ext cx="664323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100 hari</a:t>
            </a:r>
          </a:p>
        </p:txBody>
      </p:sp>
      <p:pic>
        <p:nvPicPr>
          <p:cNvPr id="68" name="Picture 67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3772683"/>
            <a:ext cx="102362" cy="102362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1708263" y="3741314"/>
            <a:ext cx="74444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Direncanakan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9898" y="3401695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Kebutuhan dinilai bersama unit teknis dan operasi untuk memilih bentuk dukungan yang paling sesuai sejak hari pertama.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58733" y="3638444"/>
            <a:ext cx="1765376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Deputi Bidang Sistem dan Strategi</a:t>
            </a:r>
          </a:p>
        </p:txBody>
      </p:sp>
      <p:pic>
        <p:nvPicPr>
          <p:cNvPr id="72" name="Picture 71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3669813"/>
            <a:ext cx="102362" cy="102362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10574909" y="3638444"/>
            <a:ext cx="582963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BMKG</a:t>
            </a:r>
          </a:p>
        </p:txBody>
      </p:sp>
      <p:pic>
        <p:nvPicPr>
          <p:cNvPr id="74" name="Picture 73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7459" y="3669813"/>
            <a:ext cx="102362" cy="102362"/>
          </a:xfrm>
          <a:prstGeom prst="rect">
            <a:avLst/>
          </a:prstGeom>
        </p:spPr>
      </p:pic>
      <p:sp>
        <p:nvSpPr>
          <p:cNvPr id="75" name="Rounded Rectangle 74"/>
          <p:cNvSpPr/>
          <p:nvPr/>
        </p:nvSpPr>
        <p:spPr>
          <a:xfrm>
            <a:off x="8758733" y="3854344"/>
            <a:ext cx="53069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BRIN</a:t>
            </a:r>
          </a:p>
        </p:txBody>
      </p:sp>
      <p:pic>
        <p:nvPicPr>
          <p:cNvPr id="76" name="Picture 75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3885713"/>
            <a:ext cx="102362" cy="102362"/>
          </a:xfrm>
          <a:prstGeom prst="rect">
            <a:avLst/>
          </a:prstGeom>
        </p:spPr>
      </p:pic>
      <p:cxnSp>
        <p:nvCxnSpPr>
          <p:cNvPr id="77" name="Connector 76"/>
          <p:cNvCxnSpPr/>
          <p:nvPr/>
        </p:nvCxnSpPr>
        <p:spPr>
          <a:xfrm>
            <a:off x="548640" y="4040293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78" name="Oval 77"/>
          <p:cNvSpPr/>
          <p:nvPr/>
        </p:nvSpPr>
        <p:spPr>
          <a:xfrm>
            <a:off x="548640" y="4194492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9" name="Picture 78" descr="kapasitas-FFFFFF-22e801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86" y="4270438"/>
            <a:ext cx="178308" cy="1783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93140" y="4144962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Berbagi pengalaman manajemen insiden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93140" y="4379912"/>
            <a:ext cx="807725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82" name="Picture 81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4411282"/>
            <a:ext cx="102362" cy="10236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1851665" y="4379912"/>
            <a:ext cx="74444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Direncanakan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9898" y="4040293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Sesi teknis dengan NSW RFS tentang komando insiden dan pemadaman gabungan darat dan udara, disesuaikan dengan geografi Indonesia.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758733" y="4169092"/>
            <a:ext cx="1797269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Deputi Bidang Penanganan Darurat</a:t>
            </a:r>
          </a:p>
        </p:txBody>
      </p:sp>
      <p:pic>
        <p:nvPicPr>
          <p:cNvPr id="86" name="Picture 85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4200462"/>
            <a:ext cx="102362" cy="102362"/>
          </a:xfrm>
          <a:prstGeom prst="rect">
            <a:avLst/>
          </a:prstGeom>
        </p:spPr>
      </p:pic>
      <p:sp>
        <p:nvSpPr>
          <p:cNvPr id="87" name="Rounded Rectangle 86"/>
          <p:cNvSpPr/>
          <p:nvPr/>
        </p:nvSpPr>
        <p:spPr>
          <a:xfrm>
            <a:off x="8758733" y="4384992"/>
            <a:ext cx="1455857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Deputi Bidang Pencegahan</a:t>
            </a:r>
          </a:p>
        </p:txBody>
      </p:sp>
      <p:pic>
        <p:nvPicPr>
          <p:cNvPr id="88" name="Picture 87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1283" y="4416362"/>
            <a:ext cx="102362" cy="102362"/>
          </a:xfrm>
          <a:prstGeom prst="rect">
            <a:avLst/>
          </a:prstGeom>
        </p:spPr>
      </p:pic>
      <p:cxnSp>
        <p:nvCxnSpPr>
          <p:cNvPr id="89" name="Connector 88"/>
          <p:cNvCxnSpPr/>
          <p:nvPr/>
        </p:nvCxnSpPr>
        <p:spPr>
          <a:xfrm>
            <a:off x="548640" y="4678892"/>
            <a:ext cx="11094720" cy="0"/>
          </a:xfrm>
          <a:prstGeom prst="line">
            <a:avLst/>
          </a:prstGeom>
          <a:ln w="6350">
            <a:solidFill>
              <a:srgbClr val="E6EAF0"/>
            </a:solidFill>
          </a:ln>
        </p:spPr>
      </p:cxnSp>
      <p:sp>
        <p:nvSpPr>
          <p:cNvPr id="90" name="Oval 89"/>
          <p:cNvSpPr/>
          <p:nvPr/>
        </p:nvSpPr>
        <p:spPr>
          <a:xfrm>
            <a:off x="548640" y="4833091"/>
            <a:ext cx="330200" cy="3302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1" name="Picture 90" descr="data-FFFFFF-608a1e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586" y="4909037"/>
            <a:ext cx="178308" cy="17830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993140" y="4783561"/>
            <a:ext cx="3102458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30" b="1" lang="id-ID">
                <a:solidFill>
                  <a:srgbClr val="1A1A1A"/>
                </a:solidFill>
                <a:latin typeface="Roboto"/>
              </a:rPr>
              <a:t>Hubungkan riset dan teknologi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3140" y="5018511"/>
            <a:ext cx="807725" cy="1651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2026–2027</a:t>
            </a:r>
          </a:p>
        </p:txBody>
      </p:sp>
      <p:pic>
        <p:nvPicPr>
          <p:cNvPr id="94" name="Picture 93" descr="kalender-1A1A1A-a840cf9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690" y="5049880"/>
            <a:ext cx="102362" cy="102362"/>
          </a:xfrm>
          <a:prstGeom prst="rect">
            <a:avLst/>
          </a:prstGeom>
        </p:spPr>
      </p:pic>
      <p:sp>
        <p:nvSpPr>
          <p:cNvPr id="95" name="Rounded Rectangle 94"/>
          <p:cNvSpPr/>
          <p:nvPr/>
        </p:nvSpPr>
        <p:spPr>
          <a:xfrm>
            <a:off x="1851665" y="5018511"/>
            <a:ext cx="744444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740" b="1" lang="id-ID">
                <a:solidFill>
                  <a:srgbClr val="FFFFFF"/>
                </a:solidFill>
                <a:latin typeface="Roboto"/>
              </a:rPr>
              <a:t>Direncanakan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09898" y="4678892"/>
            <a:ext cx="4320235" cy="6385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just"/>
            <a:r>
              <a:rPr sz="919" b="0" lang="id-ID">
                <a:solidFill>
                  <a:srgbClr val="1A1A1A"/>
                </a:solidFill>
                <a:latin typeface="Roboto"/>
              </a:rPr>
              <a:t>Pertukaran informasi antara lembaga riset Indonesia dan mitra Australia tentang modifikasi cuaca dan riset kebakaran.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758733" y="4915641"/>
            <a:ext cx="582963" cy="1651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FFFFFF"/>
                </a:solidFill>
                <a:latin typeface="Roboto"/>
              </a:rPr>
              <a:t>BMKG</a:t>
            </a:r>
          </a:p>
        </p:txBody>
      </p:sp>
      <p:pic>
        <p:nvPicPr>
          <p:cNvPr id="98" name="Picture 97" descr="lembaga-FFFFFF-f44193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1283" y="4947010"/>
            <a:ext cx="102362" cy="102362"/>
          </a:xfrm>
          <a:prstGeom prst="rect">
            <a:avLst/>
          </a:prstGeom>
        </p:spPr>
      </p:pic>
      <p:sp>
        <p:nvSpPr>
          <p:cNvPr id="99" name="Rounded Rectangle 98"/>
          <p:cNvSpPr/>
          <p:nvPr/>
        </p:nvSpPr>
        <p:spPr>
          <a:xfrm>
            <a:off x="9392496" y="4915641"/>
            <a:ext cx="530696" cy="165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  <p:txBody>
          <a:bodyPr rtlCol="0" anchor="ctr" wrap="none" lIns="234442" tIns="0" rIns="0" bIns="0">
            <a:noAutofit/>
          </a:bodyPr>
          <a:lstStyle/>
          <a:p>
            <a:pPr algn="l"/>
            <a:r>
              <a:rPr sz="740" b="1" lang="id-ID">
                <a:solidFill>
                  <a:srgbClr val="1A1A1A"/>
                </a:solidFill>
                <a:latin typeface="Roboto"/>
              </a:rPr>
              <a:t>BRIN</a:t>
            </a:r>
          </a:p>
        </p:txBody>
      </p:sp>
      <p:pic>
        <p:nvPicPr>
          <p:cNvPr id="100" name="Picture 99" descr="lembaga-051C2C-f44193c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5046" y="4947010"/>
            <a:ext cx="102362" cy="102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ertemuan-australia-id-penutup-foto-he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23760" y="6565900"/>
            <a:ext cx="469392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lang="id-ID">
                <a:solidFill>
                  <a:srgbClr val="FFFFFF"/>
                </a:solidFill>
                <a:latin typeface="Roboto"/>
              </a:rPr>
              <a:t>Foto: DenY Krisbiyantoro, CC BY-SA 4.0, Wikimedia Commons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26" y="673913"/>
            <a:ext cx="526869" cy="6638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2468880"/>
            <a:ext cx="9144000" cy="10058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5400" b="1" lang="id-ID">
                <a:solidFill>
                  <a:srgbClr val="FFFFFF"/>
                </a:solidFill>
                <a:latin typeface="Roboto"/>
              </a:rPr>
              <a:t>Terima kasih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44900"/>
            <a:ext cx="4754880" cy="254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070" b="1" lang="id-ID">
                <a:solidFill>
                  <a:srgbClr val="FFFFFF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9144000" cy="3200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490" b="0" lang="id-ID">
                <a:solidFill>
                  <a:srgbClr val="C9D1E3"/>
                </a:solidFill>
                <a:latin typeface="Roboto"/>
              </a:rPr>
              <a:t>Pertemuan dengan Duta Besar Australia dan NSW RFS, Senin 26 Oktober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274320"/>
            <a:ext cx="104543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Operasi Penanganan Karhutla yang Dilakukan per Tanggal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Oktober </a:t>
            </a:r>
            <a:pPr indent="0" marL="0">
              <a:lnSpc>
                <a:spcPct val="95000"/>
              </a:lnSpc>
              <a:buNone/>
            </a:pPr>
            <a:r>
              <a:rPr lang="en-US" sz="2184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2026</a:t>
            </a:r>
            <a:endParaRPr lang="en-US" sz="2184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05256"/>
            <a:ext cx="104543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personel darat,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armada udara, dan OMC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provinsi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dengan hujan dilaporkan di </a:t>
            </a:r>
            <a:pPr indent="0" marL="0">
              <a:buNone/>
            </a:pPr>
            <a:r>
              <a:rPr lang="en-US" sz="12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provinsi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11094415" y="5806723"/>
            <a:ext cx="548640" cy="161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7116775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" y="1508760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0020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52144" y="139903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PENANGANAN</a:t>
            </a:r>
            <a:endParaRPr lang="en-US" sz="7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1655064"/>
            <a:ext cx="146304" cy="1463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71.878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5214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darat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0824" y="1655064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20370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202082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6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9504" y="1655064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072384" y="1572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2889504" y="184708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pesawat patroli/OMC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3749040" y="1417320"/>
            <a:ext cx="0" cy="566928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1440180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986784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TNI</a:t>
            </a:r>
            <a:endParaRPr lang="en-US" sz="680" dirty="0"/>
          </a:p>
        </p:txBody>
      </p:sp>
      <p:sp>
        <p:nvSpPr>
          <p:cNvPr id="25" name="Text 17"/>
          <p:cNvSpPr txBox="1"/>
          <p:nvPr/>
        </p:nvSpPr>
        <p:spPr>
          <a:xfrm>
            <a:off x="3840480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13.396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1645920"/>
            <a:ext cx="109728" cy="10972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3986784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BPBD</a:t>
            </a:r>
            <a:endParaRPr lang="en-US" sz="680" dirty="0"/>
          </a:p>
        </p:txBody>
      </p:sp>
      <p:sp>
        <p:nvSpPr>
          <p:cNvPr id="28" name="Text 19"/>
          <p:cNvSpPr txBox="1"/>
          <p:nvPr/>
        </p:nvSpPr>
        <p:spPr>
          <a:xfrm>
            <a:off x="3840480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11.231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0480" y="1851660"/>
            <a:ext cx="109728" cy="109728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986784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Polri</a:t>
            </a:r>
            <a:endParaRPr lang="en-US" sz="680" dirty="0"/>
          </a:p>
        </p:txBody>
      </p:sp>
      <p:sp>
        <p:nvSpPr>
          <p:cNvPr id="31" name="Text 21"/>
          <p:cNvSpPr txBox="1"/>
          <p:nvPr/>
        </p:nvSpPr>
        <p:spPr>
          <a:xfrm>
            <a:off x="3840480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10.446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16%</a:t>
            </a:r>
            <a:endParaRPr lang="en-US" sz="12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4978" y="1440180"/>
            <a:ext cx="109728" cy="109728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5231282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Swasta</a:t>
            </a:r>
            <a:endParaRPr lang="en-US" sz="680" dirty="0"/>
          </a:p>
        </p:txBody>
      </p:sp>
      <p:sp>
        <p:nvSpPr>
          <p:cNvPr id="34" name="Text 23"/>
          <p:cNvSpPr txBox="1"/>
          <p:nvPr/>
        </p:nvSpPr>
        <p:spPr>
          <a:xfrm>
            <a:off x="5084978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8.950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14%</a:t>
            </a:r>
            <a:endParaRPr lang="en-US" sz="120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84978" y="1645920"/>
            <a:ext cx="109728" cy="109728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231282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Relawan</a:t>
            </a:r>
            <a:endParaRPr lang="en-US" sz="680" dirty="0"/>
          </a:p>
        </p:txBody>
      </p:sp>
      <p:sp>
        <p:nvSpPr>
          <p:cNvPr id="37" name="Text 25"/>
          <p:cNvSpPr txBox="1"/>
          <p:nvPr/>
        </p:nvSpPr>
        <p:spPr>
          <a:xfrm>
            <a:off x="5084978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8.201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13%</a:t>
            </a:r>
            <a:endParaRPr lang="en-US" sz="12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4978" y="1851660"/>
            <a:ext cx="109728" cy="109728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5231282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Pemda</a:t>
            </a:r>
            <a:endParaRPr lang="en-US" sz="680" dirty="0"/>
          </a:p>
        </p:txBody>
      </p:sp>
      <p:sp>
        <p:nvSpPr>
          <p:cNvPr id="40" name="Text 27"/>
          <p:cNvSpPr txBox="1"/>
          <p:nvPr/>
        </p:nvSpPr>
        <p:spPr>
          <a:xfrm>
            <a:off x="5084978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4.767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77" y="1440180"/>
            <a:ext cx="109728" cy="10972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6475781" y="139903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MPA</a:t>
            </a:r>
            <a:endParaRPr lang="en-US" sz="680" dirty="0"/>
          </a:p>
        </p:txBody>
      </p:sp>
      <p:sp>
        <p:nvSpPr>
          <p:cNvPr id="43" name="Text 29"/>
          <p:cNvSpPr txBox="1"/>
          <p:nvPr/>
        </p:nvSpPr>
        <p:spPr>
          <a:xfrm>
            <a:off x="6329477" y="139903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4.749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7%</a:t>
            </a:r>
            <a:endParaRPr lang="en-US" sz="120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9477" y="1645920"/>
            <a:ext cx="109728" cy="109728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6475781" y="160477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Kehutanan</a:t>
            </a:r>
            <a:endParaRPr lang="en-US" sz="680" dirty="0"/>
          </a:p>
        </p:txBody>
      </p:sp>
      <p:sp>
        <p:nvSpPr>
          <p:cNvPr id="46" name="Text 31"/>
          <p:cNvSpPr txBox="1"/>
          <p:nvPr/>
        </p:nvSpPr>
        <p:spPr>
          <a:xfrm>
            <a:off x="6329477" y="160477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2.031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pic>
        <p:nvPicPr>
          <p:cNvPr id="47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9477" y="1851660"/>
            <a:ext cx="109728" cy="109728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6475781" y="1810512"/>
            <a:ext cx="7315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M. Agni</a:t>
            </a:r>
            <a:endParaRPr lang="en-US" sz="680" dirty="0"/>
          </a:p>
        </p:txBody>
      </p:sp>
      <p:sp>
        <p:nvSpPr>
          <p:cNvPr id="49" name="Text 33"/>
          <p:cNvSpPr txBox="1"/>
          <p:nvPr/>
        </p:nvSpPr>
        <p:spPr>
          <a:xfrm>
            <a:off x="6329477" y="1810512"/>
            <a:ext cx="113477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1.758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3%</a:t>
            </a:r>
            <a:endParaRPr lang="en-US" sz="1200" dirty="0"/>
          </a:p>
        </p:txBody>
      </p:sp>
      <p:sp>
        <p:nvSpPr>
          <p:cNvPr id="50" name="Shape 34"/>
          <p:cNvSpPr/>
          <p:nvPr/>
        </p:nvSpPr>
        <p:spPr>
          <a:xfrm>
            <a:off x="7802575" y="1325880"/>
            <a:ext cx="3840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51" name="Text 35"/>
          <p:cNvSpPr txBox="1"/>
          <p:nvPr/>
        </p:nvSpPr>
        <p:spPr>
          <a:xfrm>
            <a:off x="7948879" y="138988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PERSONEL PER PROVINSI</a:t>
            </a:r>
            <a:endParaRPr lang="en-US" sz="650" dirty="0"/>
          </a:p>
        </p:txBody>
      </p:sp>
      <p:sp>
        <p:nvSpPr>
          <p:cNvPr id="52" name="Shape 36"/>
          <p:cNvSpPr/>
          <p:nvPr/>
        </p:nvSpPr>
        <p:spPr>
          <a:xfrm>
            <a:off x="794887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E6EAF0"/>
          </a:solidFill>
          <a:ln/>
        </p:spPr>
      </p:sp>
      <p:sp>
        <p:nvSpPr>
          <p:cNvPr id="53" name="Text 37"/>
          <p:cNvSpPr txBox="1"/>
          <p:nvPr/>
        </p:nvSpPr>
        <p:spPr>
          <a:xfrm>
            <a:off x="802203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Kalteng</a:t>
            </a:r>
            <a:endParaRPr lang="en-US" sz="700" dirty="0"/>
          </a:p>
        </p:txBody>
      </p:sp>
      <p:sp>
        <p:nvSpPr>
          <p:cNvPr id="54" name="Text 38"/>
          <p:cNvSpPr txBox="1"/>
          <p:nvPr/>
        </p:nvSpPr>
        <p:spPr>
          <a:xfrm>
            <a:off x="840607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16.387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23%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915283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922599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700" dirty="0"/>
          </a:p>
        </p:txBody>
      </p:sp>
      <p:sp>
        <p:nvSpPr>
          <p:cNvPr id="57" name="Text 41"/>
          <p:cNvSpPr txBox="1"/>
          <p:nvPr/>
        </p:nvSpPr>
        <p:spPr>
          <a:xfrm>
            <a:off x="961003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14.837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21%</a:t>
            </a:r>
            <a:endParaRPr lang="en-US" sz="1200" dirty="0"/>
          </a:p>
        </p:txBody>
      </p:sp>
      <p:sp>
        <p:nvSpPr>
          <p:cNvPr id="58" name="Shape 42"/>
          <p:cNvSpPr/>
          <p:nvPr/>
        </p:nvSpPr>
        <p:spPr>
          <a:xfrm>
            <a:off x="10356799" y="1572768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59" name="Text 43"/>
          <p:cNvSpPr txBox="1"/>
          <p:nvPr/>
        </p:nvSpPr>
        <p:spPr>
          <a:xfrm>
            <a:off x="10429951" y="1572768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Kalbar</a:t>
            </a:r>
            <a:endParaRPr lang="en-US" sz="700" dirty="0"/>
          </a:p>
        </p:txBody>
      </p:sp>
      <p:sp>
        <p:nvSpPr>
          <p:cNvPr id="60" name="Text 44"/>
          <p:cNvSpPr txBox="1"/>
          <p:nvPr/>
        </p:nvSpPr>
        <p:spPr>
          <a:xfrm>
            <a:off x="10813999" y="1572768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14.458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20%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794887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2" name="Text 46"/>
          <p:cNvSpPr txBox="1"/>
          <p:nvPr/>
        </p:nvSpPr>
        <p:spPr>
          <a:xfrm>
            <a:off x="802203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Sumsel</a:t>
            </a:r>
            <a:endParaRPr lang="en-US" sz="700" dirty="0"/>
          </a:p>
        </p:txBody>
      </p:sp>
      <p:sp>
        <p:nvSpPr>
          <p:cNvPr id="63" name="Text 47"/>
          <p:cNvSpPr txBox="1"/>
          <p:nvPr/>
        </p:nvSpPr>
        <p:spPr>
          <a:xfrm>
            <a:off x="840607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12.285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17%</a:t>
            </a:r>
            <a:endParaRPr lang="en-US" sz="1200" dirty="0"/>
          </a:p>
        </p:txBody>
      </p:sp>
      <p:sp>
        <p:nvSpPr>
          <p:cNvPr id="64" name="Shape 48"/>
          <p:cNvSpPr/>
          <p:nvPr/>
        </p:nvSpPr>
        <p:spPr>
          <a:xfrm>
            <a:off x="915283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5" name="Text 49"/>
          <p:cNvSpPr txBox="1"/>
          <p:nvPr/>
        </p:nvSpPr>
        <p:spPr>
          <a:xfrm>
            <a:off x="922599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Kalsel</a:t>
            </a:r>
            <a:endParaRPr lang="en-US" sz="700" dirty="0"/>
          </a:p>
        </p:txBody>
      </p:sp>
      <p:sp>
        <p:nvSpPr>
          <p:cNvPr id="66" name="Text 50"/>
          <p:cNvSpPr txBox="1"/>
          <p:nvPr/>
        </p:nvSpPr>
        <p:spPr>
          <a:xfrm>
            <a:off x="961003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7.927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11%</a:t>
            </a:r>
            <a:endParaRPr lang="en-US" sz="1200" dirty="0"/>
          </a:p>
        </p:txBody>
      </p:sp>
      <p:sp>
        <p:nvSpPr>
          <p:cNvPr id="67" name="Shape 51"/>
          <p:cNvSpPr/>
          <p:nvPr/>
        </p:nvSpPr>
        <p:spPr>
          <a:xfrm>
            <a:off x="10356799" y="1833372"/>
            <a:ext cx="1139952" cy="196596"/>
          </a:xfrm>
          <a:prstGeom prst="roundRect">
            <a:avLst>
              <a:gd name="adj" fmla="val 23256"/>
            </a:avLst>
          </a:prstGeom>
          <a:solidFill>
            <a:srgbClr val="F3F5F8"/>
          </a:solidFill>
          <a:ln/>
        </p:spPr>
      </p:sp>
      <p:sp>
        <p:nvSpPr>
          <p:cNvPr id="68" name="Text 52"/>
          <p:cNvSpPr txBox="1"/>
          <p:nvPr/>
        </p:nvSpPr>
        <p:spPr>
          <a:xfrm>
            <a:off x="10429951" y="1833372"/>
            <a:ext cx="54864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700" dirty="0"/>
          </a:p>
        </p:txBody>
      </p:sp>
      <p:sp>
        <p:nvSpPr>
          <p:cNvPr id="69" name="Text 53"/>
          <p:cNvSpPr txBox="1"/>
          <p:nvPr/>
        </p:nvSpPr>
        <p:spPr>
          <a:xfrm>
            <a:off x="10813999" y="1833372"/>
            <a:ext cx="60960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5.984</a:t>
            </a:r>
            <a:pPr algn="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8%</a:t>
            </a:r>
            <a:endParaRPr lang="en-US" sz="1200" dirty="0"/>
          </a:p>
        </p:txBody>
      </p:sp>
      <p:sp>
        <p:nvSpPr>
          <p:cNvPr id="70" name="Shape 54"/>
          <p:cNvSpPr/>
          <p:nvPr/>
        </p:nvSpPr>
        <p:spPr>
          <a:xfrm>
            <a:off x="548640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71" name="Shape 55"/>
          <p:cNvSpPr/>
          <p:nvPr/>
        </p:nvSpPr>
        <p:spPr>
          <a:xfrm>
            <a:off x="676656" y="2304288"/>
            <a:ext cx="329184" cy="329184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2" name="Image 14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9808" y="2377440"/>
            <a:ext cx="182880" cy="182880"/>
          </a:xfrm>
          <a:prstGeom prst="rect">
            <a:avLst/>
          </a:prstGeom>
        </p:spPr>
      </p:pic>
      <p:sp>
        <p:nvSpPr>
          <p:cNvPr id="73" name="Text 56"/>
          <p:cNvSpPr txBox="1"/>
          <p:nvPr/>
        </p:nvSpPr>
        <p:spPr>
          <a:xfrm>
            <a:off x="1097280" y="23042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MODIFIKASI CUACA</a:t>
            </a:r>
            <a:endParaRPr lang="en-US" sz="1440" dirty="0"/>
          </a:p>
        </p:txBody>
      </p:sp>
      <p:sp>
        <p:nvSpPr>
          <p:cNvPr id="74" name="Shape 57"/>
          <p:cNvSpPr/>
          <p:nvPr/>
        </p:nvSpPr>
        <p:spPr>
          <a:xfrm>
            <a:off x="676656" y="2688336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75" name="Shape 58"/>
          <p:cNvSpPr/>
          <p:nvPr/>
        </p:nvSpPr>
        <p:spPr>
          <a:xfrm>
            <a:off x="676656" y="2734056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76" name="Image 15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7804" y="2775204"/>
            <a:ext cx="118872" cy="118872"/>
          </a:xfrm>
          <a:prstGeom prst="rect">
            <a:avLst/>
          </a:prstGeom>
        </p:spPr>
      </p:pic>
      <p:sp>
        <p:nvSpPr>
          <p:cNvPr id="77" name="Text 59"/>
          <p:cNvSpPr txBox="1"/>
          <p:nvPr/>
        </p:nvSpPr>
        <p:spPr>
          <a:xfrm>
            <a:off x="932688" y="27432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SETELAH OMC</a:t>
            </a:r>
            <a:endParaRPr lang="en-US" sz="840" dirty="0"/>
          </a:p>
        </p:txBody>
      </p:sp>
      <p:sp>
        <p:nvSpPr>
          <p:cNvPr id="78" name="Shape 60"/>
          <p:cNvSpPr/>
          <p:nvPr/>
        </p:nvSpPr>
        <p:spPr>
          <a:xfrm>
            <a:off x="2536546" y="275234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79" name="Text 61"/>
          <p:cNvSpPr txBox="1"/>
          <p:nvPr/>
        </p:nvSpPr>
        <p:spPr>
          <a:xfrm>
            <a:off x="2536546" y="2752344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792" dirty="0"/>
          </a:p>
        </p:txBody>
      </p:sp>
      <p:sp>
        <p:nvSpPr>
          <p:cNvPr id="80" name="Shape 62"/>
          <p:cNvSpPr/>
          <p:nvPr/>
        </p:nvSpPr>
        <p:spPr>
          <a:xfrm>
            <a:off x="4628236" y="2752344"/>
            <a:ext cx="1271016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81" name="Text 63"/>
          <p:cNvSpPr txBox="1"/>
          <p:nvPr/>
        </p:nvSpPr>
        <p:spPr>
          <a:xfrm>
            <a:off x="4628236" y="275234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dari 4 provinsi hujan</a:t>
            </a:r>
            <a:endParaRPr lang="en-US" sz="792" dirty="0"/>
          </a:p>
        </p:txBody>
      </p:sp>
      <p:sp>
        <p:nvSpPr>
          <p:cNvPr id="82" name="Text 64"/>
          <p:cNvSpPr txBox="1"/>
          <p:nvPr/>
        </p:nvSpPr>
        <p:spPr>
          <a:xfrm>
            <a:off x="2027869" y="2962656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SASARAN OMC</a:t>
            </a:r>
            <a:endParaRPr lang="en-US" sz="720" dirty="0"/>
          </a:p>
        </p:txBody>
      </p:sp>
      <p:sp>
        <p:nvSpPr>
          <p:cNvPr id="83" name="Text 65"/>
          <p:cNvSpPr txBox="1"/>
          <p:nvPr/>
        </p:nvSpPr>
        <p:spPr>
          <a:xfrm>
            <a:off x="3561885" y="2962656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84" name="Shape 66"/>
          <p:cNvSpPr/>
          <p:nvPr/>
        </p:nvSpPr>
        <p:spPr>
          <a:xfrm>
            <a:off x="676656" y="3294126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85" name="Text 67"/>
          <p:cNvSpPr txBox="1"/>
          <p:nvPr/>
        </p:nvSpPr>
        <p:spPr>
          <a:xfrm>
            <a:off x="795528" y="310896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60" dirty="0"/>
          </a:p>
        </p:txBody>
      </p:sp>
      <p:sp>
        <p:nvSpPr>
          <p:cNvPr id="86" name="Text 68"/>
          <p:cNvSpPr txBox="1"/>
          <p:nvPr/>
        </p:nvSpPr>
        <p:spPr>
          <a:xfrm>
            <a:off x="2027869" y="310896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OMC tidak dilaksanakan</a:t>
            </a:r>
            <a:endParaRPr lang="en-US" sz="864" dirty="0"/>
          </a:p>
        </p:txBody>
      </p:sp>
      <p:sp>
        <p:nvSpPr>
          <p:cNvPr id="87" name="Shape 69"/>
          <p:cNvSpPr/>
          <p:nvPr/>
        </p:nvSpPr>
        <p:spPr>
          <a:xfrm>
            <a:off x="3561885" y="3170682"/>
            <a:ext cx="994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88" name="Text 70"/>
          <p:cNvSpPr txBox="1"/>
          <p:nvPr/>
        </p:nvSpPr>
        <p:spPr>
          <a:xfrm>
            <a:off x="3561885" y="3170682"/>
            <a:ext cx="99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SEDANG</a:t>
            </a:r>
            <a:endParaRPr lang="en-US" sz="756" dirty="0"/>
          </a:p>
        </p:txBody>
      </p:sp>
      <p:sp>
        <p:nvSpPr>
          <p:cNvPr id="89" name="Text 71"/>
          <p:cNvSpPr txBox="1"/>
          <p:nvPr/>
        </p:nvSpPr>
        <p:spPr>
          <a:xfrm>
            <a:off x="3561885" y="333527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Kapuas Hulu, 24 Okt (tanpa OMC)</a:t>
            </a:r>
            <a:endParaRPr lang="en-US" sz="840" dirty="0"/>
          </a:p>
        </p:txBody>
      </p:sp>
      <p:sp>
        <p:nvSpPr>
          <p:cNvPr id="90" name="Shape 72"/>
          <p:cNvSpPr/>
          <p:nvPr/>
        </p:nvSpPr>
        <p:spPr>
          <a:xfrm>
            <a:off x="676656" y="3737610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1" name="Text 73"/>
          <p:cNvSpPr txBox="1"/>
          <p:nvPr/>
        </p:nvSpPr>
        <p:spPr>
          <a:xfrm>
            <a:off x="795528" y="3552444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92" name="Text 74"/>
          <p:cNvSpPr txBox="1"/>
          <p:nvPr/>
        </p:nvSpPr>
        <p:spPr>
          <a:xfrm>
            <a:off x="2027869" y="3552444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Palangka Raya, Katingan, Pulpis, Kotim, Kobar</a:t>
            </a:r>
            <a:endParaRPr lang="en-US" sz="864" dirty="0"/>
          </a:p>
        </p:txBody>
      </p:sp>
      <p:sp>
        <p:nvSpPr>
          <p:cNvPr id="105" name="Shape 87"/>
          <p:cNvSpPr/>
          <p:nvPr/>
        </p:nvSpPr>
        <p:spPr>
          <a:xfrm>
            <a:off x="3561885" y="3614166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6" name="Text 88"/>
          <p:cNvSpPr txBox="1"/>
          <p:nvPr/>
        </p:nvSpPr>
        <p:spPr>
          <a:xfrm>
            <a:off x="3561885" y="3614166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DERAS</a:t>
            </a:r>
            <a:endParaRPr lang="en-US" sz="756" dirty="0"/>
          </a:p>
        </p:txBody>
      </p:sp>
      <p:sp>
        <p:nvSpPr>
          <p:cNvPr id="95" name="Text 77"/>
          <p:cNvSpPr txBox="1"/>
          <p:nvPr/>
        </p:nvSpPr>
        <p:spPr>
          <a:xfrm>
            <a:off x="3561885" y="3778758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Kab. Seruyan, 24 Okt</a:t>
            </a:r>
            <a:endParaRPr lang="en-US" sz="840" dirty="0"/>
          </a:p>
        </p:txBody>
      </p:sp>
      <p:sp>
        <p:nvSpPr>
          <p:cNvPr id="96" name="Shape 78"/>
          <p:cNvSpPr/>
          <p:nvPr/>
        </p:nvSpPr>
        <p:spPr>
          <a:xfrm>
            <a:off x="676656" y="4181094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97" name="Text 79"/>
          <p:cNvSpPr txBox="1"/>
          <p:nvPr/>
        </p:nvSpPr>
        <p:spPr>
          <a:xfrm>
            <a:off x="795528" y="3995928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98" name="Text 80"/>
          <p:cNvSpPr txBox="1"/>
          <p:nvPr/>
        </p:nvSpPr>
        <p:spPr>
          <a:xfrm>
            <a:off x="2027869" y="3995928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Palembang, Banyuasin, OKI, Muba</a:t>
            </a:r>
            <a:endParaRPr lang="en-US" sz="864" dirty="0"/>
          </a:p>
        </p:txBody>
      </p:sp>
      <p:sp>
        <p:nvSpPr>
          <p:cNvPr id="99" name="Shape 87"/>
          <p:cNvSpPr/>
          <p:nvPr/>
        </p:nvSpPr>
        <p:spPr>
          <a:xfrm>
            <a:off x="3561885" y="4057650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00" name="Text 88"/>
          <p:cNvSpPr txBox="1"/>
          <p:nvPr/>
        </p:nvSpPr>
        <p:spPr>
          <a:xfrm>
            <a:off x="3561885" y="4057650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1" name="Text 83"/>
          <p:cNvSpPr txBox="1"/>
          <p:nvPr/>
        </p:nvSpPr>
        <p:spPr>
          <a:xfrm>
            <a:off x="3561885" y="4222242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Muba, Palembang, Banyuasin, OKI</a:t>
            </a:r>
            <a:endParaRPr lang="en-US" sz="840" dirty="0"/>
          </a:p>
        </p:txBody>
      </p:sp>
      <p:sp>
        <p:nvSpPr>
          <p:cNvPr id="102" name="Shape 84"/>
          <p:cNvSpPr/>
          <p:nvPr/>
        </p:nvSpPr>
        <p:spPr>
          <a:xfrm>
            <a:off x="676656" y="4624578"/>
            <a:ext cx="73152" cy="73152"/>
          </a:xfrm>
          <a:prstGeom prst="ellipse">
            <a:avLst/>
          </a:prstGeom>
          <a:solidFill>
            <a:srgbClr val="4A9BE0"/>
          </a:solidFill>
          <a:ln/>
        </p:spPr>
      </p:sp>
      <p:sp>
        <p:nvSpPr>
          <p:cNvPr id="103" name="Text 85"/>
          <p:cNvSpPr txBox="1"/>
          <p:nvPr/>
        </p:nvSpPr>
        <p:spPr>
          <a:xfrm>
            <a:off x="795528" y="4439412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60" dirty="0"/>
          </a:p>
        </p:txBody>
      </p:sp>
      <p:sp>
        <p:nvSpPr>
          <p:cNvPr id="104" name="Text 86"/>
          <p:cNvSpPr txBox="1"/>
          <p:nvPr/>
        </p:nvSpPr>
        <p:spPr>
          <a:xfrm>
            <a:off x="2027869" y="4439412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64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Tala, Kotabaru, Batola, Tapin, HSS, HSU, Balangan</a:t>
            </a:r>
            <a:endParaRPr lang="en-US" sz="864" dirty="0"/>
          </a:p>
        </p:txBody>
      </p:sp>
      <p:sp>
        <p:nvSpPr>
          <p:cNvPr id="93" name="Shape 75"/>
          <p:cNvSpPr/>
          <p:nvPr/>
        </p:nvSpPr>
        <p:spPr>
          <a:xfrm>
            <a:off x="3561885" y="4501134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94" name="Text 76"/>
          <p:cNvSpPr txBox="1"/>
          <p:nvPr/>
        </p:nvSpPr>
        <p:spPr>
          <a:xfrm>
            <a:off x="3561885" y="450113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07" name="Text 89"/>
          <p:cNvSpPr txBox="1"/>
          <p:nvPr/>
        </p:nvSpPr>
        <p:spPr>
          <a:xfrm>
            <a:off x="3561885" y="4665726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 Tapin dan Kotabaru; 2 sortie, 2.000 kg NaCl</a:t>
            </a:r>
            <a:endParaRPr lang="en-US" sz="840" dirty="0"/>
          </a:p>
        </p:txBody>
      </p:sp>
      <p:sp>
        <p:nvSpPr>
          <p:cNvPr id="108" name="Shape 90"/>
          <p:cNvSpPr/>
          <p:nvPr/>
        </p:nvSpPr>
        <p:spPr>
          <a:xfrm>
            <a:off x="676656" y="4919472"/>
            <a:ext cx="5222596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09" name="Shape 91"/>
          <p:cNvSpPr/>
          <p:nvPr/>
        </p:nvSpPr>
        <p:spPr>
          <a:xfrm>
            <a:off x="676656" y="4965192"/>
            <a:ext cx="201168" cy="20116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10" name="Image 16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7804" y="5006340"/>
            <a:ext cx="118872" cy="118872"/>
          </a:xfrm>
          <a:prstGeom prst="rect">
            <a:avLst/>
          </a:prstGeom>
        </p:spPr>
      </p:pic>
      <p:sp>
        <p:nvSpPr>
          <p:cNvPr id="111" name="Text 92"/>
          <p:cNvSpPr txBox="1"/>
          <p:nvPr/>
        </p:nvSpPr>
        <p:spPr>
          <a:xfrm>
            <a:off x="932688" y="49743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SEMAI OMC</a:t>
            </a:r>
            <a:endParaRPr lang="en-US" sz="840" dirty="0"/>
          </a:p>
        </p:txBody>
      </p:sp>
      <p:sp>
        <p:nvSpPr>
          <p:cNvPr id="112" name="Shape 93"/>
          <p:cNvSpPr/>
          <p:nvPr/>
        </p:nvSpPr>
        <p:spPr>
          <a:xfrm>
            <a:off x="2185416" y="4983480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13" name="Text 94"/>
          <p:cNvSpPr txBox="1"/>
          <p:nvPr/>
        </p:nvSpPr>
        <p:spPr>
          <a:xfrm>
            <a:off x="2185416" y="4983480"/>
            <a:ext cx="5705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792" dirty="0"/>
          </a:p>
        </p:txBody>
      </p:sp>
      <p:sp>
        <p:nvSpPr>
          <p:cNvPr id="114" name="Shape 95"/>
          <p:cNvSpPr/>
          <p:nvPr/>
        </p:nvSpPr>
        <p:spPr>
          <a:xfrm>
            <a:off x="4389252" y="4983480"/>
            <a:ext cx="1510000" cy="164592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15" name="Text 96"/>
          <p:cNvSpPr txBox="1"/>
          <p:nvPr/>
        </p:nvSpPr>
        <p:spPr>
          <a:xfrm>
            <a:off x="4389252" y="4983480"/>
            <a:ext cx="151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 sortie, 21.600 kg</a:t>
            </a:r>
            <a:endParaRPr lang="en-US" sz="792" dirty="0"/>
          </a:p>
        </p:txBody>
      </p:sp>
      <p:sp>
        <p:nvSpPr>
          <p:cNvPr id="116" name="Text 97"/>
          <p:cNvSpPr txBox="1"/>
          <p:nvPr/>
        </p:nvSpPr>
        <p:spPr>
          <a:xfrm>
            <a:off x="2027869" y="5193792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DRY ICE + NaCl</a:t>
            </a:r>
            <a:endParaRPr lang="en-US" sz="720" dirty="0"/>
          </a:p>
        </p:txBody>
      </p:sp>
      <p:sp>
        <p:nvSpPr>
          <p:cNvPr id="117" name="Text 98"/>
          <p:cNvSpPr txBox="1"/>
          <p:nvPr/>
        </p:nvSpPr>
        <p:spPr>
          <a:xfrm>
            <a:off x="3561885" y="5193792"/>
            <a:ext cx="1463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spc="50" kern="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HASIL</a:t>
            </a:r>
            <a:endParaRPr lang="en-US" sz="720" dirty="0"/>
          </a:p>
        </p:txBody>
      </p:sp>
      <p:sp>
        <p:nvSpPr>
          <p:cNvPr id="118" name="Shape 99"/>
          <p:cNvSpPr/>
          <p:nvPr/>
        </p:nvSpPr>
        <p:spPr>
          <a:xfrm>
            <a:off x="676656" y="5525262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9" name="Text 100"/>
          <p:cNvSpPr txBox="1"/>
          <p:nvPr/>
        </p:nvSpPr>
        <p:spPr>
          <a:xfrm>
            <a:off x="795528" y="5340096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60" dirty="0"/>
          </a:p>
        </p:txBody>
      </p:sp>
      <p:sp>
        <p:nvSpPr>
          <p:cNvPr id="120" name="Text 101"/>
          <p:cNvSpPr txBox="1"/>
          <p:nvPr/>
        </p:nvSpPr>
        <p:spPr>
          <a:xfrm>
            <a:off x="2027869" y="5340096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7.500 kg</a:t>
            </a:r>
            <a:endParaRPr lang="en-US" sz="864" dirty="0"/>
          </a:p>
        </p:txBody>
      </p:sp>
      <p:sp>
        <p:nvSpPr>
          <p:cNvPr id="121" name="Shape 102"/>
          <p:cNvSpPr/>
          <p:nvPr/>
        </p:nvSpPr>
        <p:spPr>
          <a:xfrm>
            <a:off x="3561885" y="5401818"/>
            <a:ext cx="922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22" name="Text 103"/>
          <p:cNvSpPr txBox="1"/>
          <p:nvPr/>
        </p:nvSpPr>
        <p:spPr>
          <a:xfrm>
            <a:off x="3561885" y="5401818"/>
            <a:ext cx="922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 DERAS</a:t>
            </a:r>
            <a:endParaRPr lang="en-US" sz="756" dirty="0"/>
          </a:p>
        </p:txBody>
      </p:sp>
      <p:sp>
        <p:nvSpPr>
          <p:cNvPr id="123" name="Text 104"/>
          <p:cNvSpPr txBox="1"/>
          <p:nvPr/>
        </p:nvSpPr>
        <p:spPr>
          <a:xfrm>
            <a:off x="3561885" y="5566410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3.000 kg, dry ice 4.500 kg</a:t>
            </a:r>
            <a:endParaRPr lang="en-US" sz="840" dirty="0"/>
          </a:p>
        </p:txBody>
      </p:sp>
      <p:sp>
        <p:nvSpPr>
          <p:cNvPr id="124" name="Shape 105"/>
          <p:cNvSpPr/>
          <p:nvPr/>
        </p:nvSpPr>
        <p:spPr>
          <a:xfrm>
            <a:off x="2649661" y="5479542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25" name="Text 106"/>
          <p:cNvSpPr txBox="1"/>
          <p:nvPr/>
        </p:nvSpPr>
        <p:spPr>
          <a:xfrm>
            <a:off x="2649661" y="547954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26" name="Shape 107"/>
          <p:cNvSpPr/>
          <p:nvPr/>
        </p:nvSpPr>
        <p:spPr>
          <a:xfrm>
            <a:off x="676656" y="5968746"/>
            <a:ext cx="73152" cy="73152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27" name="Text 108"/>
          <p:cNvSpPr txBox="1"/>
          <p:nvPr/>
        </p:nvSpPr>
        <p:spPr>
          <a:xfrm>
            <a:off x="795528" y="5783580"/>
            <a:ext cx="1204909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60" dirty="0"/>
          </a:p>
        </p:txBody>
      </p:sp>
      <p:sp>
        <p:nvSpPr>
          <p:cNvPr id="128" name="Text 109"/>
          <p:cNvSpPr txBox="1"/>
          <p:nvPr/>
        </p:nvSpPr>
        <p:spPr>
          <a:xfrm>
            <a:off x="2027869" y="5783580"/>
            <a:ext cx="1442576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2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12.100 kg</a:t>
            </a:r>
            <a:endParaRPr lang="en-US" sz="864" dirty="0"/>
          </a:p>
        </p:txBody>
      </p:sp>
      <p:sp>
        <p:nvSpPr>
          <p:cNvPr id="129" name="Shape 110"/>
          <p:cNvSpPr/>
          <p:nvPr/>
        </p:nvSpPr>
        <p:spPr>
          <a:xfrm>
            <a:off x="3561885" y="5845302"/>
            <a:ext cx="490000" cy="155448"/>
          </a:xfrm>
          <a:prstGeom prst="roundRect">
            <a:avLst>
              <a:gd name="adj" fmla="val 50000"/>
            </a:avLst>
          </a:prstGeom>
          <a:solidFill>
            <a:srgbClr val="4A9BE0"/>
          </a:solidFill>
          <a:ln/>
        </p:spPr>
      </p:sp>
      <p:sp>
        <p:nvSpPr>
          <p:cNvPr id="130" name="Text 111"/>
          <p:cNvSpPr txBox="1"/>
          <p:nvPr/>
        </p:nvSpPr>
        <p:spPr>
          <a:xfrm>
            <a:off x="3561885" y="5845302"/>
            <a:ext cx="490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6" b="1" spc="50" kern="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HUJAN</a:t>
            </a:r>
            <a:endParaRPr lang="en-US" sz="756" dirty="0"/>
          </a:p>
        </p:txBody>
      </p:sp>
      <p:sp>
        <p:nvSpPr>
          <p:cNvPr id="131" name="Text 112"/>
          <p:cNvSpPr txBox="1"/>
          <p:nvPr/>
        </p:nvSpPr>
        <p:spPr>
          <a:xfrm>
            <a:off x="3561885" y="6009894"/>
            <a:ext cx="233736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2E344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NaCl 8.800 kg, dry ice 3.300 kg</a:t>
            </a:r>
            <a:endParaRPr lang="en-US" sz="840" dirty="0"/>
          </a:p>
        </p:txBody>
      </p:sp>
      <p:sp>
        <p:nvSpPr>
          <p:cNvPr id="132" name="Shape 113"/>
          <p:cNvSpPr/>
          <p:nvPr/>
        </p:nvSpPr>
        <p:spPr>
          <a:xfrm>
            <a:off x="2649661" y="5923026"/>
            <a:ext cx="502920" cy="16459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3" name="Text 114"/>
          <p:cNvSpPr txBox="1"/>
          <p:nvPr/>
        </p:nvSpPr>
        <p:spPr>
          <a:xfrm>
            <a:off x="2649661" y="592302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sortie</a:t>
            </a:r>
            <a:endParaRPr lang="en-US" sz="792" dirty="0"/>
          </a:p>
        </p:txBody>
      </p:sp>
      <p:sp>
        <p:nvSpPr>
          <p:cNvPr id="134" name="Shape 115"/>
          <p:cNvSpPr/>
          <p:nvPr/>
        </p:nvSpPr>
        <p:spPr>
          <a:xfrm>
            <a:off x="6164428" y="2212848"/>
            <a:ext cx="5478628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9525">
            <a:solidFill>
              <a:srgbClr val="BFC5CC"/>
            </a:solidFill>
            <a:prstDash val="solid"/>
          </a:ln>
        </p:spPr>
      </p:sp>
      <p:sp>
        <p:nvSpPr>
          <p:cNvPr id="135" name="Shape 116"/>
          <p:cNvSpPr/>
          <p:nvPr/>
        </p:nvSpPr>
        <p:spPr>
          <a:xfrm>
            <a:off x="6292444" y="2340864"/>
            <a:ext cx="384048" cy="384048"/>
          </a:xfrm>
          <a:prstGeom prst="ellipse">
            <a:avLst/>
          </a:prstGeom>
          <a:solidFill>
            <a:srgbClr val="051C2C"/>
          </a:solidFill>
          <a:ln/>
        </p:spPr>
      </p:sp>
      <p:pic>
        <p:nvPicPr>
          <p:cNvPr id="136" name="Image 17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83884" y="2432304"/>
            <a:ext cx="201168" cy="201168"/>
          </a:xfrm>
          <a:prstGeom prst="rect">
            <a:avLst/>
          </a:prstGeom>
        </p:spPr>
      </p:pic>
      <p:sp>
        <p:nvSpPr>
          <p:cNvPr id="137" name="Text 117"/>
          <p:cNvSpPr txBox="1"/>
          <p:nvPr/>
        </p:nvSpPr>
        <p:spPr>
          <a:xfrm>
            <a:off x="6786220" y="232257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ARMADA UDARA</a:t>
            </a:r>
            <a:endParaRPr lang="en-US" sz="750" dirty="0"/>
          </a:p>
        </p:txBody>
      </p:sp>
      <p:sp>
        <p:nvSpPr>
          <p:cNvPr id="138" name="Shape 118"/>
          <p:cNvSpPr/>
          <p:nvPr/>
        </p:nvSpPr>
        <p:spPr>
          <a:xfrm>
            <a:off x="7792060" y="2327148"/>
            <a:ext cx="530352" cy="155448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/>
        </p:spPr>
      </p:sp>
      <p:sp>
        <p:nvSpPr>
          <p:cNvPr id="139" name="Text 119"/>
          <p:cNvSpPr txBox="1"/>
          <p:nvPr/>
        </p:nvSpPr>
        <p:spPr>
          <a:xfrm>
            <a:off x="7792060" y="2327148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Okt</a:t>
            </a:r>
            <a:endParaRPr lang="en-US" sz="680" dirty="0"/>
          </a:p>
        </p:txBody>
      </p:sp>
      <p:sp>
        <p:nvSpPr>
          <p:cNvPr id="140" name="Text 120"/>
          <p:cNvSpPr txBox="1"/>
          <p:nvPr/>
        </p:nvSpPr>
        <p:spPr>
          <a:xfrm>
            <a:off x="678622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63 unit</a:t>
            </a:r>
            <a:endParaRPr lang="en-US" sz="1500" dirty="0"/>
          </a:p>
        </p:txBody>
      </p:sp>
      <p:sp>
        <p:nvSpPr>
          <p:cNvPr id="141" name="Shape 121"/>
          <p:cNvSpPr/>
          <p:nvPr/>
        </p:nvSpPr>
        <p:spPr>
          <a:xfrm>
            <a:off x="7490308" y="2514600"/>
            <a:ext cx="1324051" cy="219456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pic>
        <p:nvPicPr>
          <p:cNvPr id="142" name="Image 18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90892" y="2555748"/>
            <a:ext cx="137160" cy="137160"/>
          </a:xfrm>
          <a:prstGeom prst="rect">
            <a:avLst/>
          </a:prstGeom>
        </p:spPr>
      </p:pic>
      <p:sp>
        <p:nvSpPr>
          <p:cNvPr id="143" name="Text 122"/>
          <p:cNvSpPr txBox="1"/>
          <p:nvPr/>
        </p:nvSpPr>
        <p:spPr>
          <a:xfrm>
            <a:off x="7764628" y="2514600"/>
            <a:ext cx="1141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patroli/CASA/OMC</a:t>
            </a:r>
            <a:endParaRPr lang="en-US" sz="1200" dirty="0"/>
          </a:p>
        </p:txBody>
      </p:sp>
      <p:sp>
        <p:nvSpPr>
          <p:cNvPr id="144" name="Shape 123"/>
          <p:cNvSpPr/>
          <p:nvPr/>
        </p:nvSpPr>
        <p:spPr>
          <a:xfrm>
            <a:off x="8869223" y="2514600"/>
            <a:ext cx="1419149" cy="219456"/>
          </a:xfrm>
          <a:prstGeom prst="roundRect">
            <a:avLst>
              <a:gd name="adj" fmla="val 50000"/>
            </a:avLst>
          </a:prstGeom>
          <a:solidFill>
            <a:srgbClr val="D9600B"/>
          </a:solidFill>
          <a:ln/>
        </p:spPr>
      </p:sp>
      <p:pic>
        <p:nvPicPr>
          <p:cNvPr id="145" name="Image 19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69807" y="2555748"/>
            <a:ext cx="137160" cy="137160"/>
          </a:xfrm>
          <a:prstGeom prst="rect">
            <a:avLst/>
          </a:prstGeom>
        </p:spPr>
      </p:pic>
      <p:sp>
        <p:nvSpPr>
          <p:cNvPr id="146" name="Text 124"/>
          <p:cNvSpPr txBox="1"/>
          <p:nvPr/>
        </p:nvSpPr>
        <p:spPr>
          <a:xfrm>
            <a:off x="9143543" y="2514600"/>
            <a:ext cx="123626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 </a:t>
            </a:r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heli water bombing</a:t>
            </a:r>
            <a:endParaRPr lang="en-US" sz="1200" dirty="0"/>
          </a:p>
        </p:txBody>
      </p:sp>
      <p:sp>
        <p:nvSpPr>
          <p:cNvPr id="147" name="Text 125"/>
          <p:cNvSpPr txBox="1"/>
          <p:nvPr/>
        </p:nvSpPr>
        <p:spPr>
          <a:xfrm>
            <a:off x="6329020" y="289864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Selatan</a:t>
            </a:r>
            <a:endParaRPr lang="en-US" sz="900" dirty="0"/>
          </a:p>
        </p:txBody>
      </p:sp>
      <p:sp>
        <p:nvSpPr>
          <p:cNvPr id="148" name="Shape 126"/>
          <p:cNvSpPr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9" name="Text 127"/>
          <p:cNvSpPr txBox="1"/>
          <p:nvPr/>
        </p:nvSpPr>
        <p:spPr>
          <a:xfrm>
            <a:off x="7792060" y="2942821"/>
            <a:ext cx="171806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endParaRPr lang="en-US" sz="1000" dirty="0"/>
          </a:p>
        </p:txBody>
      </p:sp>
      <p:sp>
        <p:nvSpPr>
          <p:cNvPr id="150" name="Shape 128"/>
          <p:cNvSpPr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1" name="Text 129"/>
          <p:cNvSpPr txBox="1"/>
          <p:nvPr/>
        </p:nvSpPr>
        <p:spPr>
          <a:xfrm>
            <a:off x="9510124" y="2942821"/>
            <a:ext cx="114537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000" dirty="0"/>
          </a:p>
        </p:txBody>
      </p:sp>
      <p:sp>
        <p:nvSpPr>
          <p:cNvPr id="152" name="Text 130"/>
          <p:cNvSpPr txBox="1"/>
          <p:nvPr/>
        </p:nvSpPr>
        <p:spPr>
          <a:xfrm>
            <a:off x="10746943" y="289864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3" name="Text 131"/>
          <p:cNvSpPr txBox="1"/>
          <p:nvPr/>
        </p:nvSpPr>
        <p:spPr>
          <a:xfrm>
            <a:off x="6329020" y="3207861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Sumatera Selatan</a:t>
            </a:r>
            <a:endParaRPr lang="en-US" sz="900" dirty="0"/>
          </a:p>
        </p:txBody>
      </p:sp>
      <p:sp>
        <p:nvSpPr>
          <p:cNvPr id="154" name="Shape 132"/>
          <p:cNvSpPr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55" name="Text 133"/>
          <p:cNvSpPr txBox="1"/>
          <p:nvPr/>
        </p:nvSpPr>
        <p:spPr>
          <a:xfrm>
            <a:off x="779206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6" name="Shape 134"/>
          <p:cNvSpPr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57" name="Text 135"/>
          <p:cNvSpPr txBox="1"/>
          <p:nvPr/>
        </p:nvSpPr>
        <p:spPr>
          <a:xfrm>
            <a:off x="8746540" y="3252034"/>
            <a:ext cx="954480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000" dirty="0"/>
          </a:p>
        </p:txBody>
      </p:sp>
      <p:sp>
        <p:nvSpPr>
          <p:cNvPr id="158" name="Text 136"/>
          <p:cNvSpPr txBox="1"/>
          <p:nvPr/>
        </p:nvSpPr>
        <p:spPr>
          <a:xfrm>
            <a:off x="9792463" y="3207861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59" name="Text 137"/>
          <p:cNvSpPr txBox="1"/>
          <p:nvPr/>
        </p:nvSpPr>
        <p:spPr>
          <a:xfrm>
            <a:off x="6329020" y="3517074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Tengah</a:t>
            </a:r>
            <a:endParaRPr lang="en-US" sz="900" dirty="0"/>
          </a:p>
        </p:txBody>
      </p:sp>
      <p:sp>
        <p:nvSpPr>
          <p:cNvPr id="160" name="Shape 138"/>
          <p:cNvSpPr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1" name="Text 139"/>
          <p:cNvSpPr txBox="1"/>
          <p:nvPr/>
        </p:nvSpPr>
        <p:spPr>
          <a:xfrm>
            <a:off x="7792060" y="3561247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2" name="Shape 140"/>
          <p:cNvSpPr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3" name="Text 141"/>
          <p:cNvSpPr txBox="1"/>
          <p:nvPr/>
        </p:nvSpPr>
        <p:spPr>
          <a:xfrm>
            <a:off x="8173852" y="3561247"/>
            <a:ext cx="152716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000" dirty="0"/>
          </a:p>
        </p:txBody>
      </p:sp>
      <p:sp>
        <p:nvSpPr>
          <p:cNvPr id="164" name="Text 142"/>
          <p:cNvSpPr txBox="1"/>
          <p:nvPr/>
        </p:nvSpPr>
        <p:spPr>
          <a:xfrm>
            <a:off x="9792463" y="3517074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65" name="Text 143"/>
          <p:cNvSpPr txBox="1"/>
          <p:nvPr/>
        </p:nvSpPr>
        <p:spPr>
          <a:xfrm>
            <a:off x="6329020" y="3826287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Barat</a:t>
            </a:r>
            <a:endParaRPr lang="en-US" sz="900" dirty="0"/>
          </a:p>
        </p:txBody>
      </p:sp>
      <p:sp>
        <p:nvSpPr>
          <p:cNvPr id="166" name="Shape 144"/>
          <p:cNvSpPr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67" name="Text 145"/>
          <p:cNvSpPr txBox="1"/>
          <p:nvPr/>
        </p:nvSpPr>
        <p:spPr>
          <a:xfrm>
            <a:off x="7792060" y="3870460"/>
            <a:ext cx="38179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000" dirty="0"/>
          </a:p>
        </p:txBody>
      </p:sp>
      <p:sp>
        <p:nvSpPr>
          <p:cNvPr id="168" name="Shape 146"/>
          <p:cNvSpPr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69" name="Text 147"/>
          <p:cNvSpPr txBox="1"/>
          <p:nvPr/>
        </p:nvSpPr>
        <p:spPr>
          <a:xfrm>
            <a:off x="8173852" y="3870460"/>
            <a:ext cx="1336272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000" dirty="0"/>
          </a:p>
        </p:txBody>
      </p:sp>
      <p:sp>
        <p:nvSpPr>
          <p:cNvPr id="170" name="Text 148"/>
          <p:cNvSpPr txBox="1"/>
          <p:nvPr/>
        </p:nvSpPr>
        <p:spPr>
          <a:xfrm>
            <a:off x="9601567" y="3826287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1" name="Text 149"/>
          <p:cNvSpPr txBox="1"/>
          <p:nvPr/>
        </p:nvSpPr>
        <p:spPr>
          <a:xfrm>
            <a:off x="6329020" y="4135500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Riau</a:t>
            </a:r>
            <a:endParaRPr lang="en-US" sz="900" dirty="0"/>
          </a:p>
        </p:txBody>
      </p:sp>
      <p:sp>
        <p:nvSpPr>
          <p:cNvPr id="172" name="Shape 150"/>
          <p:cNvSpPr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3" name="Text 151"/>
          <p:cNvSpPr txBox="1"/>
          <p:nvPr/>
        </p:nvSpPr>
        <p:spPr>
          <a:xfrm>
            <a:off x="7792060" y="4179673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74" name="Shape 152"/>
          <p:cNvSpPr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75" name="Text 153"/>
          <p:cNvSpPr txBox="1"/>
          <p:nvPr/>
        </p:nvSpPr>
        <p:spPr>
          <a:xfrm>
            <a:off x="7982956" y="4179673"/>
            <a:ext cx="76358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000" dirty="0"/>
          </a:p>
        </p:txBody>
      </p:sp>
      <p:sp>
        <p:nvSpPr>
          <p:cNvPr id="176" name="Text 154"/>
          <p:cNvSpPr txBox="1"/>
          <p:nvPr/>
        </p:nvSpPr>
        <p:spPr>
          <a:xfrm>
            <a:off x="8837983" y="4135500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77" name="Text 155"/>
          <p:cNvSpPr txBox="1"/>
          <p:nvPr/>
        </p:nvSpPr>
        <p:spPr>
          <a:xfrm>
            <a:off x="6329020" y="4444713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Jambi</a:t>
            </a:r>
            <a:endParaRPr lang="en-US" sz="900" dirty="0"/>
          </a:p>
        </p:txBody>
      </p:sp>
      <p:sp>
        <p:nvSpPr>
          <p:cNvPr id="178" name="Shape 156"/>
          <p:cNvSpPr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79" name="Text 157"/>
          <p:cNvSpPr txBox="1"/>
          <p:nvPr/>
        </p:nvSpPr>
        <p:spPr>
          <a:xfrm>
            <a:off x="7792060" y="4488886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0" name="Shape 158"/>
          <p:cNvSpPr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1" name="Text 159"/>
          <p:cNvSpPr txBox="1"/>
          <p:nvPr/>
        </p:nvSpPr>
        <p:spPr>
          <a:xfrm>
            <a:off x="7982956" y="4488886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82" name="Text 160"/>
          <p:cNvSpPr txBox="1"/>
          <p:nvPr/>
        </p:nvSpPr>
        <p:spPr>
          <a:xfrm>
            <a:off x="8647087" y="4444713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3" name="Text 161"/>
          <p:cNvSpPr txBox="1"/>
          <p:nvPr/>
        </p:nvSpPr>
        <p:spPr>
          <a:xfrm>
            <a:off x="6329020" y="5063139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Timur</a:t>
            </a:r>
            <a:endParaRPr lang="en-US" sz="900" dirty="0"/>
          </a:p>
        </p:txBody>
      </p:sp>
      <p:sp>
        <p:nvSpPr>
          <p:cNvPr id="184" name="Shape 162"/>
          <p:cNvSpPr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85" name="Text 163"/>
          <p:cNvSpPr txBox="1"/>
          <p:nvPr/>
        </p:nvSpPr>
        <p:spPr>
          <a:xfrm>
            <a:off x="7792060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6" name="Shape 164"/>
          <p:cNvSpPr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87" name="Text 165"/>
          <p:cNvSpPr txBox="1"/>
          <p:nvPr/>
        </p:nvSpPr>
        <p:spPr>
          <a:xfrm>
            <a:off x="7982956" y="5107312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88" name="Text 166"/>
          <p:cNvSpPr txBox="1"/>
          <p:nvPr/>
        </p:nvSpPr>
        <p:spPr>
          <a:xfrm>
            <a:off x="8265295" y="5063139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89" name="Text 167"/>
          <p:cNvSpPr txBox="1"/>
          <p:nvPr/>
        </p:nvSpPr>
        <p:spPr>
          <a:xfrm>
            <a:off x="6329020" y="5372352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Lampung</a:t>
            </a:r>
            <a:endParaRPr lang="en-US" sz="900" dirty="0"/>
          </a:p>
        </p:txBody>
      </p:sp>
      <p:sp>
        <p:nvSpPr>
          <p:cNvPr id="190" name="Shape 168"/>
          <p:cNvSpPr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1" name="Text 169"/>
          <p:cNvSpPr txBox="1"/>
          <p:nvPr/>
        </p:nvSpPr>
        <p:spPr>
          <a:xfrm>
            <a:off x="7982956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2" name="Text 170"/>
          <p:cNvSpPr txBox="1"/>
          <p:nvPr/>
        </p:nvSpPr>
        <p:spPr>
          <a:xfrm>
            <a:off x="8265295" y="5372352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3" name="Text 149"/>
          <p:cNvSpPr txBox="1"/>
          <p:nvPr/>
        </p:nvSpPr>
        <p:spPr>
          <a:xfrm>
            <a:off x="6329020" y="4753926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Jawa Barat</a:t>
            </a:r>
            <a:endParaRPr lang="en-US" sz="900" dirty="0"/>
          </a:p>
        </p:txBody>
      </p:sp>
      <p:sp>
        <p:nvSpPr>
          <p:cNvPr id="194" name="Shape 150"/>
          <p:cNvSpPr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5" name="Text 151"/>
          <p:cNvSpPr txBox="1"/>
          <p:nvPr/>
        </p:nvSpPr>
        <p:spPr>
          <a:xfrm>
            <a:off x="7792060" y="4798099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196" name="Shape 152"/>
          <p:cNvSpPr/>
          <p:nvPr/>
        </p:nvSpPr>
        <p:spPr>
          <a:xfrm>
            <a:off x="7982956" y="4798099"/>
            <a:ext cx="572688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197" name="Text 153"/>
          <p:cNvSpPr txBox="1"/>
          <p:nvPr/>
        </p:nvSpPr>
        <p:spPr>
          <a:xfrm>
            <a:off x="7982956" y="4798099"/>
            <a:ext cx="572688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000" dirty="0"/>
          </a:p>
        </p:txBody>
      </p:sp>
      <p:sp>
        <p:nvSpPr>
          <p:cNvPr id="198" name="Text 154"/>
          <p:cNvSpPr txBox="1"/>
          <p:nvPr/>
        </p:nvSpPr>
        <p:spPr>
          <a:xfrm>
            <a:off x="8647087" y="4753926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199" name="Text 149"/>
          <p:cNvSpPr txBox="1"/>
          <p:nvPr/>
        </p:nvSpPr>
        <p:spPr>
          <a:xfrm>
            <a:off x="6329020" y="5681565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Kalimantan Timur/IKN</a:t>
            </a:r>
            <a:endParaRPr lang="en-US" sz="900" dirty="0"/>
          </a:p>
        </p:txBody>
      </p:sp>
      <p:sp>
        <p:nvSpPr>
          <p:cNvPr id="201" name="Text 151"/>
          <p:cNvSpPr txBox="1"/>
          <p:nvPr/>
        </p:nvSpPr>
        <p:spPr>
          <a:xfrm>
            <a:off x="7792060" y="5725738"/>
            <a:ext cx="286344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2" name="Shape 152"/>
          <p:cNvSpPr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solidFill>
            <a:srgbClr val="D9600B"/>
          </a:solidFill>
          <a:ln/>
        </p:spPr>
      </p:sp>
      <p:sp>
        <p:nvSpPr>
          <p:cNvPr id="203" name="Text 153"/>
          <p:cNvSpPr txBox="1"/>
          <p:nvPr/>
        </p:nvSpPr>
        <p:spPr>
          <a:xfrm>
            <a:off x="7792060" y="5725738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04" name="Text 154"/>
          <p:cNvSpPr txBox="1"/>
          <p:nvPr/>
        </p:nvSpPr>
        <p:spPr>
          <a:xfrm>
            <a:off x="8074399" y="5681565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05" name="Text 149"/>
          <p:cNvSpPr txBox="1"/>
          <p:nvPr/>
        </p:nvSpPr>
        <p:spPr>
          <a:xfrm>
            <a:off x="6329020" y="5990778"/>
            <a:ext cx="141732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Papua Selatan</a:t>
            </a:r>
            <a:endParaRPr lang="en-US" sz="900" dirty="0"/>
          </a:p>
        </p:txBody>
      </p:sp>
      <p:sp>
        <p:nvSpPr>
          <p:cNvPr id="206" name="Shape 150"/>
          <p:cNvSpPr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07" name="Text 151"/>
          <p:cNvSpPr txBox="1"/>
          <p:nvPr/>
        </p:nvSpPr>
        <p:spPr>
          <a:xfrm>
            <a:off x="7792060" y="6034951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  <p:sp>
        <p:nvSpPr>
          <p:cNvPr id="210" name="Text 154"/>
          <p:cNvSpPr txBox="1"/>
          <p:nvPr/>
        </p:nvSpPr>
        <p:spPr>
          <a:xfrm>
            <a:off x="8074399" y="5990778"/>
            <a:ext cx="640080" cy="309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unit</a:t>
            </a:r>
            <a:endParaRPr lang="en-US" sz="1200" dirty="0"/>
          </a:p>
        </p:txBody>
      </p:sp>
      <p:sp>
        <p:nvSpPr>
          <p:cNvPr id="211" name="Shape 168"/>
          <p:cNvSpPr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12" name="Text 169"/>
          <p:cNvSpPr txBox="1"/>
          <p:nvPr/>
        </p:nvSpPr>
        <p:spPr>
          <a:xfrm>
            <a:off x="7792060" y="5416525"/>
            <a:ext cx="190896" cy="2208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Kepala BNPB dengan Duta Besar Australia dan NSW Rural Fire Service</dc:title>
  <dc:subject>Musim Karhutla 2026 dan Kerja Sama dengan Australia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Australia; NSW Rural Fire Service; karhutla; bantuan internasional; HADR</cp:keywords>
  <dc:language>id-ID</dc:language>
  <cp:category>Kajian</cp:category>
  <dc:description>Indonesia telah mengerahkan respons nasional penuh pada musim karhutla 2026; pemantauan udara dan keahlian manajemen insiden Australia dapat memperkuatnya.</dc:description>
</cp:coreProperties>
</file>