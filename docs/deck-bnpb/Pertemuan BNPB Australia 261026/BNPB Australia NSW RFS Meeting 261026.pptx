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8" r:id="rId19"/>
    <p:sldId id="263" r:id="rId14"/>
    <p:sldId id="264" r:id="rId15"/>
    <p:sldId id="265" r:id="rId16"/>
    <p:sldId id="266" r:id="rId17"/>
    <p:sldId id="267" r:id="rId18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6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2.png"/><Relationship Id="rId6" Type="http://schemas.openxmlformats.org/officeDocument/2006/relationships/image" Target="../media/image26.png"/><Relationship Id="rId7" Type="http://schemas.openxmlformats.org/officeDocument/2006/relationships/image" Target="../media/image33.png"/><Relationship Id="rId8" Type="http://schemas.openxmlformats.org/officeDocument/2006/relationships/image" Target="../media/image10.png"/><Relationship Id="rId9" Type="http://schemas.openxmlformats.org/officeDocument/2006/relationships/image" Target="../media/image8.png"/><Relationship Id="rId10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26.png"/><Relationship Id="rId9" Type="http://schemas.openxmlformats.org/officeDocument/2006/relationships/image" Target="../media/image5.png"/><Relationship Id="rId10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0.png"/><Relationship Id="rId8" Type="http://schemas.openxmlformats.org/officeDocument/2006/relationships/image" Target="../media/image13.png"/><Relationship Id="rId9" Type="http://schemas.openxmlformats.org/officeDocument/2006/relationships/image" Target="../media/image5.png"/><Relationship Id="rId10" Type="http://schemas.openxmlformats.org/officeDocument/2006/relationships/image" Target="../media/image26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9.png"/><Relationship Id="rId10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5.png"/><Relationship Id="rId20" Type="http://schemas.openxmlformats.org/officeDocument/2006/relationships/image" Target="../media/image56.png"/><Relationship Id="rId21" Type="http://schemas.openxmlformats.org/officeDocument/2006/relationships/image" Target="../media/image57.png"/><Relationship Id="rId22" Type="http://schemas.openxmlformats.org/officeDocument/2006/relationships/image" Target="../media/image58.png"/><Relationship Id="rId23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eting-australia-en-sampul-foto-pemad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lang="id-ID">
                <a:solidFill>
                  <a:srgbClr val="FFFFFF"/>
                </a:solidFill>
                <a:latin typeface="Roboto"/>
              </a:rPr>
              <a:t>Photo: DenY Krisbiyantoro,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1A1A1A"/>
                </a:solidFill>
                <a:latin typeface="Roboto"/>
              </a:rPr>
              <a:t>Head of BNPB Meeting with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1A1A1A"/>
                </a:solidFill>
                <a:latin typeface="Roboto"/>
              </a:rPr>
              <a:t>the Ambassador of Australia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1A1A1A"/>
                </a:solidFill>
                <a:latin typeface="Roboto"/>
              </a:rPr>
              <a:t>and NSW Rural Fire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511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10" b="0" lang="id-ID">
                <a:solidFill>
                  <a:srgbClr val="2E3440"/>
                </a:solidFill>
                <a:latin typeface="Roboto"/>
              </a:rPr>
              <a:t>Indonesia’s 2026 Fire Season and Collaboration with Australia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9375"/>
            <a:ext cx="566928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39" b="1" lang="id-ID">
                <a:solidFill>
                  <a:srgbClr val="00499D"/>
                </a:solidFill>
                <a:latin typeface="Roboto"/>
              </a:rPr>
              <a:t>National Disaster Management Agency (BNPB)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32275"/>
            <a:ext cx="512064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4384675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40" b="1" lang="id-ID">
                <a:solidFill>
                  <a:srgbClr val="D9600B"/>
                </a:solidFill>
                <a:latin typeface="Roboto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38675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40" b="1" lang="id-ID">
                <a:solidFill>
                  <a:srgbClr val="1A1A1A"/>
                </a:solidFill>
                <a:latin typeface="Roboto"/>
              </a:rPr>
              <a:t>Lieutenant General Kristomei Sianturi, S.Sos., M.Si., M.Si. (Han)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675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40" b="0" lang="id-ID">
                <a:solidFill>
                  <a:srgbClr val="2E3440"/>
                </a:solidFill>
                <a:latin typeface="Roboto"/>
              </a:rPr>
              <a:t>Head of the National Disaster Management Agency (BNPB)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4960" y="508000"/>
            <a:ext cx="2438400" cy="1053828"/>
          </a:xfrm>
          <a:prstGeom prst="roundRect">
            <a:avLst>
              <a:gd name="adj" fmla="val 964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erakhl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6560" y="609600"/>
            <a:ext cx="2235200" cy="8506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60" b="1" lang="id-ID">
                <a:solidFill>
                  <a:srgbClr val="FFFFFF"/>
                </a:solidFill>
                <a:latin typeface="Roboto"/>
              </a:rPr>
              <a:t>Monday, 26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BNPB welcomes Australia’s offer of aerial support and fire expertise to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complement Indonesia’s national response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ringkasan-FFFFFF-28e566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Key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40" y="1841500"/>
            <a:ext cx="1084072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80" b="1" lang="id-ID">
                <a:solidFill>
                  <a:srgbClr val="051C2C"/>
                </a:solidFill>
                <a:latin typeface="Roboto"/>
              </a:rPr>
              <a:t>BNPB recorded 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197 firespots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 across 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6 priority provinces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 on 26 October; Indonesia has deployed 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39 helicopters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 and ±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71,878 personnel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, and welcomes Australian expertise to complement the response.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5640" y="233045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675640" y="246327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86" y="2539217"/>
            <a:ext cx="178308" cy="1783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0140" y="2396596"/>
            <a:ext cx="10294620" cy="4635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Disaster response.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BNPB has responded to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2,299 events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in 2026, including the East Nusa Tenggara earthquake, where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27,563 people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are sheltered.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5640" y="2983442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675640" y="306546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karhutla-FFFFFF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86" y="3141408"/>
            <a:ext cx="178308" cy="1783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0140" y="2998788"/>
            <a:ext cx="10294620" cy="4635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Forest and land fires.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197 firespots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recorded by BNPB on 26 October;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6 provinces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have activated emergency status to speed up the response.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5640" y="3585633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675640" y="366765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pasitas-FFFFFF-22e801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3743600"/>
            <a:ext cx="178308" cy="1783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20140" y="3600979"/>
            <a:ext cx="10294620" cy="4635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National response.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39 helicopters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, ±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71,878 personnel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on the ground, and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18 sorties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of weather modification;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1,135,000 litres per day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dropped.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5640" y="4187825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675640" y="432382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wilayah-FFFFFF-37dca1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4399767"/>
            <a:ext cx="178308" cy="1783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20140" y="4323821"/>
            <a:ext cx="1029462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Australian offer.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2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Citation,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King Air,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Bell 412, and fire specialists.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5640" y="4790017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675640" y="492601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apasitas-FFFFFF-22e801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5001958"/>
            <a:ext cx="178308" cy="1783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20140" y="4926012"/>
            <a:ext cx="1029462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HADR airlift.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RAAF C-17A, C-130J, C-27J, and KC-30A fleets number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36 aircraft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; the KC-30A reaches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14,800 km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5640" y="5392208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675640" y="552820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5604150"/>
            <a:ext cx="178308" cy="1783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20140" y="5528204"/>
            <a:ext cx="1029462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Next steps.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Six joint steps, from the specialist offer and asset specifications to research links with BMKG and BRIN.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Source: BNPB DIBI 2026; BNPB forest fire data and daily reports; ADF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Indonesia and Australia have worked together on forest fire response since 2015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342821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SUPPORT IN 2015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rhutla-051C2C-195575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Australian aircraft deployed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352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7080" y="1337310"/>
            <a:ext cx="117037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OFFER IN 2026</a:t>
            </a:r>
          </a:p>
        </p:txBody>
      </p:sp>
      <p:pic>
        <p:nvPicPr>
          <p:cNvPr id="18" name="Picture 17" descr="kapasitas-FFFFFF-22e80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520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7080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630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wilayah-051C2C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8890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90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aerial assets offered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jiwa-051C2C-9b7037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NSW RFS delegation members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74578"/>
            <a:ext cx="11094720" cy="1208723"/>
          </a:xfrm>
          <a:prstGeom prst="roundRect">
            <a:avLst>
              <a:gd name="adj" fmla="val 6304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690" y="4974018"/>
            <a:ext cx="5547360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PURPOSE OF THE MEETING</a:t>
            </a:r>
          </a:p>
        </p:txBody>
      </p:sp>
      <p:sp>
        <p:nvSpPr>
          <p:cNvPr id="31" name="Oval 30"/>
          <p:cNvSpPr/>
          <p:nvPr/>
        </p:nvSpPr>
        <p:spPr>
          <a:xfrm>
            <a:off x="694690" y="5344350"/>
            <a:ext cx="445770" cy="4457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560" y="5447220"/>
            <a:ext cx="240030" cy="24003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62190" y="5268912"/>
            <a:ext cx="2887324" cy="2708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50" b="1" lang="id-ID">
                <a:solidFill>
                  <a:srgbClr val="1A1A1A"/>
                </a:solidFill>
                <a:latin typeface="Roboto"/>
              </a:rPr>
              <a:t>Share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2190" y="5543232"/>
            <a:ext cx="2887324" cy="489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1170" b="0" lang="id-ID">
                <a:solidFill>
                  <a:srgbClr val="2E3440"/>
                </a:solidFill>
                <a:latin typeface="Roboto"/>
              </a:rPr>
              <a:t>Incident management and joint firefighting.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22538" y="5320348"/>
            <a:ext cx="0" cy="660082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4295563" y="5344350"/>
            <a:ext cx="445770" cy="4457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kapasitas-FFFFFF-22e80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433" y="5447220"/>
            <a:ext cx="240030" cy="24003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63063" y="5268912"/>
            <a:ext cx="2887324" cy="2708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50" b="1" lang="id-ID">
                <a:solidFill>
                  <a:srgbClr val="1A1A1A"/>
                </a:solidFill>
                <a:latin typeface="Roboto"/>
              </a:rPr>
              <a:t>Discuss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3063" y="5543232"/>
            <a:ext cx="2887324" cy="489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1170" b="0" lang="id-ID">
                <a:solidFill>
                  <a:srgbClr val="2E3440"/>
                </a:solidFill>
                <a:latin typeface="Roboto"/>
              </a:rPr>
              <a:t>Aerial assets and fire specialists for 2026.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23412" y="5320348"/>
            <a:ext cx="0" cy="660082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7896437" y="5344350"/>
            <a:ext cx="445770" cy="4457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wilayah-FFFFFF-37dca10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9307" y="5447220"/>
            <a:ext cx="240030" cy="24003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463936" y="5268912"/>
            <a:ext cx="2887324" cy="2708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50" b="1" lang="id-ID">
                <a:solidFill>
                  <a:srgbClr val="1A1A1A"/>
                </a:solidFill>
                <a:latin typeface="Roboto"/>
              </a:rPr>
              <a:t>Align priorities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3936" y="5543232"/>
            <a:ext cx="2887324" cy="489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1170" b="0" lang="id-ID">
                <a:solidFill>
                  <a:srgbClr val="2E3440"/>
                </a:solidFill>
                <a:latin typeface="Roboto"/>
              </a:rPr>
              <a:t>Integrated with Indonesia’s command system.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656832" cy="2390457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6656832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2575560"/>
            <a:ext cx="6656832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2346960"/>
            <a:ext cx="6656832" cy="2390457"/>
          </a:xfrm>
          <a:prstGeom prst="roundRect">
            <a:avLst>
              <a:gd name="adj" fmla="val 228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56640" y="2346960"/>
            <a:ext cx="5894832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Milestones of the partnership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208347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WHEN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9917" y="2905760"/>
            <a:ext cx="208347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MILESTONE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44195" y="2905760"/>
            <a:ext cx="208347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DETAIL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116580"/>
            <a:ext cx="6402832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3116580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2015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9917" y="3116580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Forest fire support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44195" y="3116580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"Thor" and "Birddog" aircraft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3308072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3308072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9917" y="3308072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Australian specialists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44195" y="3308072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Aerial firefighting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3499564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3499564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Ongoing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9917" y="3499564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InaSAFE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44195" y="3499564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With Australia and World Bank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3691057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3691057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Sep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9917" y="3691057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Diplomatic note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44195" y="3691057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Four aerial assets offered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3882549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3882549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Sep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09917" y="3882549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Foreign Affairs letter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44195" y="3882549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Offer conveyed to BNPB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4074041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675640" y="4074041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Oct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09917" y="4074041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Ministerial Council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44195" y="4074041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Law and Security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5640" y="4265533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675640" y="4265533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Oct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09917" y="4265533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Fire specialist offer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44195" y="4265533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Added to aircraft offer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75640" y="4457025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4" name="TextBox 83"/>
          <p:cNvSpPr txBox="1"/>
          <p:nvPr/>
        </p:nvSpPr>
        <p:spPr>
          <a:xfrm>
            <a:off x="675640" y="4457025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Oct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09917" y="4457025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Meeting at BNPB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44195" y="4457025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Ambassador and NSW RFS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42632" y="2346960"/>
            <a:ext cx="4300728" cy="2390457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342632" y="2346960"/>
            <a:ext cx="4300728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42632" y="2575560"/>
            <a:ext cx="4300728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342632" y="2346960"/>
            <a:ext cx="4300728" cy="2390457"/>
          </a:xfrm>
          <a:prstGeom prst="roundRect">
            <a:avLst>
              <a:gd name="adj" fmla="val 228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469632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2" name="Picture 91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6782" y="2486660"/>
            <a:ext cx="177800" cy="17780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7850632" y="2346960"/>
            <a:ext cx="3538728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Australian delegation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9632" y="2905760"/>
            <a:ext cx="197256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NAME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92996" y="2905760"/>
            <a:ext cx="197256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ROLE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469632" y="3116580"/>
            <a:ext cx="404672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7469632" y="3116580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H.E. Rod Brazier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92996" y="3116580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Ambassador to Indonesia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469632" y="3371903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7469632" y="3371903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Tim Stapleton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92996" y="3371903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Minister Counsellor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469632" y="3627226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7469632" y="3627226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Paula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92996" y="3627226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Counsellor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7469632" y="3882549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TextBox 105"/>
          <p:cNvSpPr txBox="1"/>
          <p:nvPr/>
        </p:nvSpPr>
        <p:spPr>
          <a:xfrm>
            <a:off x="7469632" y="3882549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Leigh Pilkington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92996" y="3882549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Team Leader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7469632" y="4137872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7469632" y="4137872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Bronwyn Dawn Waters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92996" y="4137872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Incident Management Specialist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469632" y="4393195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7469632" y="4393195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Rodney Allan Rusden Walker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92996" y="4393195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Incident Management Specialist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Source: BNPB, October 2026; BNPB Strategic Plan 2025–2029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BNPB has responded to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2,299 events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in 2026; forest and land fires account for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1,024 events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44230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DISASTERS IN 2026</a:t>
            </a:r>
          </a:p>
        </p:txBody>
      </p:sp>
      <p:pic>
        <p:nvPicPr>
          <p:cNvPr id="10" name="Picture 9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548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casualties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engungsi-051C2C-65a2f7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252,438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people displaced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rumah-051C2C-320df6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165,564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houses damaged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RESPONSE HIGHLIGHTS</a:t>
            </a:r>
          </a:p>
        </p:txBody>
      </p:sp>
      <p:sp>
        <p:nvSpPr>
          <p:cNvPr id="28" name="Oval 27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rumah-FFFFFF-320df6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Earthquake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1" lang="id-ID">
                <a:solidFill>
                  <a:srgbClr val="2E3440"/>
                </a:solidFill>
                <a:latin typeface="Roboto"/>
              </a:rPr>
              <a:t>193 transitional housing units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being built in East Nusa Tenggara.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air-baku-FFFFFF-271d6c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Clean water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Water deliveries reach </a:t>
            </a:r>
            <a:r>
              <a:rPr sz="869" b="1" lang="id-ID">
                <a:solidFill>
                  <a:srgbClr val="2E3440"/>
                </a:solidFill>
                <a:latin typeface="Roboto"/>
              </a:rPr>
              <a:t>44,045 households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in Central Java.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rhutla-FFFFFF-195575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Fire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1" lang="id-ID">
                <a:solidFill>
                  <a:srgbClr val="2E3440"/>
                </a:solidFill>
                <a:latin typeface="Roboto"/>
              </a:rPr>
              <a:t>19 fire events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handled by crews on site.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346960"/>
            <a:ext cx="11094720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11094720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6640" y="234696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Natural disasters in 2026 by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230" y="2905760"/>
            <a:ext cx="42854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87518" y="2905760"/>
            <a:ext cx="134469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EVENTS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33808" y="2905760"/>
            <a:ext cx="15933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CASUALTIES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8724" y="2905760"/>
            <a:ext cx="152413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DISPLACED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4462" y="2905760"/>
            <a:ext cx="136029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HOUSES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5640" y="311658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675640" y="314491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6" name="Picture 55" descr="karhutla-FFFFFF-195575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98" y="3177975"/>
            <a:ext cx="107874" cy="10787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1230" y="3116580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Forest and land fire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87518" y="3116580"/>
            <a:ext cx="1344690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33808" y="3116580"/>
            <a:ext cx="159331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28724" y="3116580"/>
            <a:ext cx="152413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4462" y="3116580"/>
            <a:ext cx="136029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280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347244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675640" y="337558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banjir-FFFFFF-364735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98" y="3408639"/>
            <a:ext cx="107874" cy="10787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51230" y="3347244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Flood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87518" y="3347244"/>
            <a:ext cx="1344690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33808" y="3347244"/>
            <a:ext cx="159331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28724" y="3347244"/>
            <a:ext cx="152413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64,624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4462" y="3347244"/>
            <a:ext cx="136029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11,728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577908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675640" y="360624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2" name="Picture 71" descr="cuaca-ekstrem-FFFFFF-3711fbf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98" y="3639302"/>
            <a:ext cx="107874" cy="10787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51230" y="3577908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Extreme weather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87518" y="3577908"/>
            <a:ext cx="1344690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33808" y="3577908"/>
            <a:ext cx="159331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28724" y="3577908"/>
            <a:ext cx="152413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4462" y="3577908"/>
            <a:ext cx="136029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8,072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75640" y="3808571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Oval 78"/>
          <p:cNvSpPr/>
          <p:nvPr/>
        </p:nvSpPr>
        <p:spPr>
          <a:xfrm>
            <a:off x="675640" y="383690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kekeringan-FFFFFF-bd7fcb5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98" y="3869966"/>
            <a:ext cx="107874" cy="10787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51230" y="3808571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Drought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87518" y="3808571"/>
            <a:ext cx="1344690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33808" y="3808571"/>
            <a:ext cx="159331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28724" y="3808571"/>
            <a:ext cx="152413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4462" y="3808571"/>
            <a:ext cx="136029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75640" y="4039235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675640" y="406757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longsor-FFFFFF-c017b3f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98" y="4100630"/>
            <a:ext cx="107874" cy="10787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51230" y="4039235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Landslide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87518" y="4039235"/>
            <a:ext cx="1344690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33808" y="4039235"/>
            <a:ext cx="159331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160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28724" y="4039235"/>
            <a:ext cx="152413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5,250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54462" y="4039235"/>
            <a:ext cx="136029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1,670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75640" y="4269899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5" name="Oval 94"/>
          <p:cNvSpPr/>
          <p:nvPr/>
        </p:nvSpPr>
        <p:spPr>
          <a:xfrm>
            <a:off x="675640" y="429823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gelombang-abrasi-FFFFFF-1093a93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98" y="4331294"/>
            <a:ext cx="107874" cy="107874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1230" y="4269899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Coastal erosion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87518" y="4269899"/>
            <a:ext cx="1344690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33808" y="4269899"/>
            <a:ext cx="159331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28724" y="4269899"/>
            <a:ext cx="152413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4462" y="4269899"/>
            <a:ext cx="136029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75640" y="4500562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3" name="Oval 102"/>
          <p:cNvSpPr/>
          <p:nvPr/>
        </p:nvSpPr>
        <p:spPr>
          <a:xfrm>
            <a:off x="675640" y="452889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gempa-FFFFFF-5740f75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698" y="4561957"/>
            <a:ext cx="107874" cy="10787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51230" y="4500562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Earthquake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87518" y="4500562"/>
            <a:ext cx="1344690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33808" y="4500562"/>
            <a:ext cx="159331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160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28724" y="4500562"/>
            <a:ext cx="152413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174,509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54462" y="4500562"/>
            <a:ext cx="136029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141,492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75640" y="4731226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1" name="Oval 110"/>
          <p:cNvSpPr/>
          <p:nvPr/>
        </p:nvSpPr>
        <p:spPr>
          <a:xfrm>
            <a:off x="675640" y="47595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2" name="Picture 111" descr="gunungapi-FFFFFF-a5209a6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98" y="4792621"/>
            <a:ext cx="107874" cy="107874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951230" y="4731226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Volcanic eruption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87518" y="4731226"/>
            <a:ext cx="1344690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33808" y="4731226"/>
            <a:ext cx="159331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28724" y="4731226"/>
            <a:ext cx="1524137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650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54462" y="4731226"/>
            <a:ext cx="136029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Source: BNPB DIBI 2026 (provisional); BNPB Daily Disaster Report, October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BNPB recorded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197 firespots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across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6 priority provinces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on 26 October;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6</a:t>
            </a:r>
            <a:br/>
            <a:r>
              <a:rPr sz="2200" b="1" lang="id-ID">
                <a:solidFill>
                  <a:srgbClr val="051C2C"/>
                </a:solidFill>
                <a:latin typeface="Roboto"/>
              </a:rPr>
              <a:t>provinces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have activated emergency status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96961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FIRESPOTS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in South Sumatra, the highest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352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7080" y="1337310"/>
            <a:ext cx="179544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UNDER ACTIVE RESPONSE</a:t>
            </a:r>
          </a:p>
        </p:txBody>
      </p:sp>
      <p:pic>
        <p:nvPicPr>
          <p:cNvPr id="18" name="Picture 17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520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7080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630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uas-051C2C-123220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8890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28,016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90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ha with crews deployed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rhutla-051C2C-195575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1,407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ha covered by aerial firefighting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576925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2346960"/>
            <a:ext cx="576925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575560"/>
            <a:ext cx="576925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2346960"/>
            <a:ext cx="576925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56640" y="2346960"/>
            <a:ext cx="50072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Firespots by province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3309153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Firespots</a:t>
            </a:r>
            <a:r>
              <a:rPr sz="1150" b="0" lang="id-ID">
                <a:solidFill>
                  <a:srgbClr val="1A1A1A"/>
                </a:solidFill>
                <a:latin typeface="Roboto"/>
              </a:rPr>
              <a:t>, 26 October 2026</a:t>
            </a:r>
          </a:p>
        </p:txBody>
      </p:sp>
      <p:sp>
        <p:nvSpPr>
          <p:cNvPr id="37" name="Round Same Side Corner Rectangle 36"/>
          <p:cNvSpPr/>
          <p:nvPr/>
        </p:nvSpPr>
        <p:spPr>
          <a:xfrm>
            <a:off x="850290" y="3274060"/>
            <a:ext cx="569910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640" y="3121660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640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 Sumatra</a:t>
            </a:r>
          </a:p>
        </p:txBody>
      </p:sp>
      <p:sp>
        <p:nvSpPr>
          <p:cNvPr id="40" name="Round Same Side Corner Rectangle 39"/>
          <p:cNvSpPr/>
          <p:nvPr/>
        </p:nvSpPr>
        <p:spPr>
          <a:xfrm>
            <a:off x="1769499" y="4362587"/>
            <a:ext cx="569910" cy="135241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94849" y="4210187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4849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 Kalimantan</a:t>
            </a:r>
          </a:p>
        </p:txBody>
      </p:sp>
      <p:sp>
        <p:nvSpPr>
          <p:cNvPr id="43" name="Round Same Side Corner Rectangle 42"/>
          <p:cNvSpPr/>
          <p:nvPr/>
        </p:nvSpPr>
        <p:spPr>
          <a:xfrm>
            <a:off x="2688708" y="4593487"/>
            <a:ext cx="569910" cy="112151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058" y="4441087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058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Jambi</a:t>
            </a:r>
          </a:p>
        </p:txBody>
      </p:sp>
      <p:sp>
        <p:nvSpPr>
          <p:cNvPr id="46" name="Round Same Side Corner Rectangle 45"/>
          <p:cNvSpPr/>
          <p:nvPr/>
        </p:nvSpPr>
        <p:spPr>
          <a:xfrm>
            <a:off x="3607917" y="4956329"/>
            <a:ext cx="569910" cy="75867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3267" y="4803929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3267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C Kalimantan</a:t>
            </a:r>
          </a:p>
        </p:txBody>
      </p:sp>
      <p:sp>
        <p:nvSpPr>
          <p:cNvPr id="49" name="Round Same Side Corner Rectangle 48"/>
          <p:cNvSpPr/>
          <p:nvPr/>
        </p:nvSpPr>
        <p:spPr>
          <a:xfrm>
            <a:off x="4527126" y="5088272"/>
            <a:ext cx="569910" cy="62672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476" y="4935872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2476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W Kalimantan</a:t>
            </a:r>
          </a:p>
        </p:txBody>
      </p:sp>
      <p:sp>
        <p:nvSpPr>
          <p:cNvPr id="52" name="Round Same Side Corner Rectangle 51"/>
          <p:cNvSpPr/>
          <p:nvPr/>
        </p:nvSpPr>
        <p:spPr>
          <a:xfrm>
            <a:off x="5446335" y="5517086"/>
            <a:ext cx="569910" cy="19791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71685" y="5364686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1685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Riau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5715000"/>
            <a:ext cx="5515254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6455054" y="2346960"/>
            <a:ext cx="518830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55054" y="2346960"/>
            <a:ext cx="518830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55054" y="2575560"/>
            <a:ext cx="518830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55054" y="2346960"/>
            <a:ext cx="518830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82054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9204" y="2486660"/>
            <a:ext cx="177800" cy="1778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963054" y="2346960"/>
            <a:ext cx="442630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Emergency status activated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7644" y="2905760"/>
            <a:ext cx="15021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AREA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0550" y="2905760"/>
            <a:ext cx="15021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455" y="2905760"/>
            <a:ext cx="15021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UNTIL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582054" y="3116580"/>
            <a:ext cx="493430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6582054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7644" y="31165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Central Kalimantan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14638" y="3154680"/>
            <a:ext cx="893927" cy="1905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Response status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3455" y="31165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29 Oct 2026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582054" y="33832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6582054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7644" y="33832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West Kalimantan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820595" y="3421380"/>
            <a:ext cx="682014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Alert status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3455" y="33832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31 Dec 2026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582054" y="36499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6582054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7644" y="36499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South Sumatra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20595" y="3688080"/>
            <a:ext cx="682014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Alert status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63455" y="36499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582054" y="39166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6582054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7644" y="39166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Jambi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820595" y="3954780"/>
            <a:ext cx="682014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Alert status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3455" y="39166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582054" y="41833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6582054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7644" y="41833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East Kalimantan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820595" y="4221480"/>
            <a:ext cx="682014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Alert status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63455" y="41833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582054" y="44500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6582054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7644" y="44500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Riau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820595" y="4488180"/>
            <a:ext cx="682014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Alert status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63455" y="44500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582054" y="47167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6582054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7644" y="47167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Karanganyar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714638" y="4754880"/>
            <a:ext cx="893927" cy="1905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Response status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63455" y="47167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Oct 2026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582054" y="49834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2" name="Oval 101"/>
          <p:cNvSpPr/>
          <p:nvPr/>
        </p:nvSpPr>
        <p:spPr>
          <a:xfrm>
            <a:off x="6582054" y="50298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7644" y="49834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Way Kambas NP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820595" y="5021580"/>
            <a:ext cx="682014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Alert status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63455" y="49834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ongoing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6582054" y="52501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7" name="Oval 106"/>
          <p:cNvSpPr/>
          <p:nvPr/>
        </p:nvSpPr>
        <p:spPr>
          <a:xfrm>
            <a:off x="6582054" y="52965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7644" y="52501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Wonosobo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820595" y="5288280"/>
            <a:ext cx="682014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Alert status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63455" y="52501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31 Dec 2026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582054" y="5643880"/>
            <a:ext cx="4934306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87704" indent="-87704"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Health services and masks are provided to residents in affected cities.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Source: BNPB forest fire data, 26 Oct 2026; BNPB daily reports and operations briefings, October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Fire-affected area since January covers about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2,099,692 ha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in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14 provinces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; crews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are active on ±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28,016 ha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FIRE SITUATION ON THE LATEST DAY</a:t>
            </a:r>
          </a:p>
        </p:txBody>
      </p:sp>
      <p:sp>
        <p:nvSpPr>
          <p:cNvPr id="10" name="Oval 9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Central Kalimantan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±</a:t>
            </a:r>
            <a:r>
              <a:rPr sz="869" b="1" lang="id-ID">
                <a:solidFill>
                  <a:srgbClr val="2E3440"/>
                </a:solidFill>
                <a:latin typeface="Roboto"/>
              </a:rPr>
              <a:t>20,532 ha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covered by ground and aerial crews.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wilayah-FFFFFF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Tanjung Puting National 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±</a:t>
            </a:r>
            <a:r>
              <a:rPr sz="869" b="1" lang="id-ID">
                <a:solidFill>
                  <a:srgbClr val="2E3440"/>
                </a:solidFill>
                <a:latin typeface="Roboto"/>
              </a:rPr>
              <a:t>1,407 ha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handled by aerial firefighting.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kalender-FFFFFF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Daily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1" lang="id-ID">
                <a:solidFill>
                  <a:srgbClr val="2E3440"/>
                </a:solidFill>
                <a:latin typeface="Roboto"/>
              </a:rPr>
              <a:t>19 fire events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recorded, with crews on site.</a:t>
            </a:r>
          </a:p>
        </p:txBody>
      </p:sp>
      <p:pic>
        <p:nvPicPr>
          <p:cNvPr id="24" name="Picture 23" descr="peta-luas-terbakar-20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8721"/>
            <a:ext cx="7407250" cy="27823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25305" y="4437269"/>
            <a:ext cx="62099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Burned area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3295" y="4475369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5695" y="4437269"/>
            <a:ext cx="476519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1A1A1A"/>
                </a:solidFill>
                <a:latin typeface="Roboto"/>
              </a:rPr>
              <a:t>Very 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29214" y="4475369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614" y="4437269"/>
            <a:ext cx="2512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1A1A1A"/>
                </a:solidFill>
                <a:latin typeface="Roboto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59814" y="4475369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12214" y="4437269"/>
            <a:ext cx="492411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1A1A1A"/>
                </a:solidFill>
                <a:latin typeface="Roboto"/>
              </a:rPr>
              <a:t>Moderate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15069"/>
            <a:ext cx="740725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6B7280"/>
                </a:solidFill>
                <a:latin typeface="Roboto"/>
              </a:rPr>
              <a:t>Boundary source: Pantau Bencana boundary files; WGS84; Equirectangular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78142" y="3360344"/>
            <a:ext cx="117050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Central Kalimantan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01807" y="4139402"/>
            <a:ext cx="8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South Papua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60" y="3499462"/>
            <a:ext cx="94806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South Sumatra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3050" y="1282700"/>
            <a:ext cx="3550310" cy="376809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3050" y="1282700"/>
            <a:ext cx="355031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3050" y="1511300"/>
            <a:ext cx="355031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93050" y="1282700"/>
            <a:ext cx="3550310" cy="3768090"/>
          </a:xfrm>
          <a:prstGeom prst="roundRect">
            <a:avLst>
              <a:gd name="adj" fmla="val 153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005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200" y="142240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01050" y="1282700"/>
            <a:ext cx="278831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Burned and active area by province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050" y="1841500"/>
            <a:ext cx="126772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PROVINCE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8574" y="1841500"/>
            <a:ext cx="90631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BURNED, 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6489" y="1841500"/>
            <a:ext cx="86827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ACTIVE, HA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20050" y="2052320"/>
            <a:ext cx="329631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8220050" y="2052320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Central Kalimantan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38574" y="2052320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742,664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46489" y="2052320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20,532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220050" y="222393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8220050" y="222393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West Kalimantan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38574" y="2223933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357,532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46489" y="2223933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1,487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0050" y="2395547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8220050" y="2395547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South Papua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8574" y="2395547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315,344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46489" y="2395547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842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220050" y="2567160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8220050" y="2567160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South Sumatra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38574" y="2567160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230,181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6489" y="2567160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2,628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220050" y="273877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8220050" y="273877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East Kalimantan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38574" y="2738773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141,174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46489" y="2738773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597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20050" y="2910386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8220050" y="2910386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South Kalimantan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38574" y="2910386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119,336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46489" y="2910386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994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220050" y="3082000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8220050" y="3082000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Jambi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38574" y="3082000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38,103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46489" y="3082000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936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220050" y="325361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8220050" y="325361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Bangka Belitung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38574" y="3253613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35,928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46489" y="3253613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321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220050" y="3425226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TextBox 78"/>
          <p:cNvSpPr txBox="1"/>
          <p:nvPr/>
        </p:nvSpPr>
        <p:spPr>
          <a:xfrm>
            <a:off x="8220050" y="3425226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Southeast Sulawesi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38574" y="3425226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35,345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46489" y="3425226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255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220050" y="3596840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8220050" y="3596840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Riau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38574" y="3596840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31,414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46489" y="3596840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220050" y="376845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8220050" y="376845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West Nusa Tenggara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38574" y="3768453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29,051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46489" y="3768453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64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220050" y="3940066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8220050" y="3940066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South Sulawesi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38574" y="3940066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18,217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46489" y="3940066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170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8220050" y="4111679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8220050" y="4111679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Lampung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538574" y="4111679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2,800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46489" y="4111679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220050" y="428329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8220050" y="428329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East Java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38574" y="4283293"/>
            <a:ext cx="906315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2,603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46489" y="4283293"/>
            <a:ext cx="868271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0050" y="4581906"/>
            <a:ext cx="3296310" cy="3799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87704" indent="-87704"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Map classes: very high above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300,000 ha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; high from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30,000 ha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; moderate below.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Source: BNPB Daily Disaster Report, October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Australia offers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4 aerial assets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and fire specialists that complement Indonesia’s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national fleet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17037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OFFER IN 2026</a:t>
            </a:r>
          </a:p>
        </p:txBody>
      </p:sp>
      <p:pic>
        <p:nvPicPr>
          <p:cNvPr id="10" name="Picture 9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Cessna Citation for aerial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arhutla-D9600B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D9600B"/>
                </a:solidFill>
                <a:latin typeface="Roboto"/>
              </a:rPr>
              <a:t>4,200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litre belly tank, Bell 412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9078" y="1337310"/>
            <a:ext cx="120815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COORDINATION</a:t>
            </a:r>
          </a:p>
        </p:txBody>
      </p:sp>
      <p:pic>
        <p:nvPicPr>
          <p:cNvPr id="23" name="Picture 22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lender-051C2C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coordination steps since September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rhutla-051C2C-195575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aircraft in the 2015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WHERE AUSTRALIAN CAPABILITY COMPLEMENTS INDONESIA</a:t>
            </a:r>
          </a:p>
        </p:txBody>
      </p:sp>
      <p:sp>
        <p:nvSpPr>
          <p:cNvPr id="36" name="Oval 35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wilayah-FFFFFF-37dca10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Aerial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Citation flights map active fire fronts and complement satellite data.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Situational awareness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Daily fire maps shared with provincial command posts.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Incident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NSW RFS expertise in joint ground and aerial command.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6878726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6878726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Australian offer, 2015 support and Indonesia’s national aerial fleet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2905760"/>
            <a:ext cx="149848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PARTY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4923" y="2905760"/>
            <a:ext cx="149848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ASSET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74207" y="2905760"/>
            <a:ext cx="149848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ROLE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23490" y="2905760"/>
            <a:ext cx="149848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72774" y="2905760"/>
            <a:ext cx="32599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UNITS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75640" y="3116580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24923" y="3116580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Cessna Citation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74207" y="3116580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Aerial monitoring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23490" y="3116580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 discussion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72774" y="3116580"/>
            <a:ext cx="32599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347244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3347244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24923" y="3347244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King Air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74207" y="3347244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Support aircraft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23490" y="3347244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 discussion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72774" y="3347244"/>
            <a:ext cx="32599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35779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3577908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24923" y="3577908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Bell 412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74207" y="3577908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Water bombing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23490" y="3577908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 discussion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72774" y="3577908"/>
            <a:ext cx="32599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3808571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3808571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24923" y="3808571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Fire specialists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74207" y="3808571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Incident advisers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23490" y="3808571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 discussion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72774" y="3808571"/>
            <a:ext cx="32599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75640" y="40392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675640" y="4039235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24923" y="4039235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L-100 Hercules "Thor"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74207" y="4039235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Water bomber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23490" y="4039235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Deployed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72774" y="4039235"/>
            <a:ext cx="32599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4269899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4269899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24923" y="4269899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Turbo Commander "Birddog"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74207" y="4269899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Lead aircraft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23490" y="4269899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Deployed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72774" y="4269899"/>
            <a:ext cx="32599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75640" y="450056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675640" y="4500562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Indonesia 2026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24923" y="4500562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National helicopters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74207" y="4500562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Water bombing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23490" y="4500562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Operating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72774" y="4500562"/>
            <a:ext cx="32599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30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75640" y="4731226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675640" y="4731226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Indonesia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24923" y="4731226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National aircraft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74207" y="4731226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Patrol and cloud seeding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23490" y="4731226"/>
            <a:ext cx="149848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Operating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72774" y="4731226"/>
            <a:ext cx="325993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564526" y="2346960"/>
            <a:ext cx="4078834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564526" y="2346960"/>
            <a:ext cx="4078834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Coordination timeline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91526" y="2905760"/>
            <a:ext cx="18616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DATE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03943" y="2905760"/>
            <a:ext cx="18616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MILESTONE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0" name="TextBox 119"/>
          <p:cNvSpPr txBox="1"/>
          <p:nvPr/>
        </p:nvSpPr>
        <p:spPr>
          <a:xfrm>
            <a:off x="7691526" y="3116580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7 Sep 2026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03943" y="3116580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Embassy diplomatic note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91526" y="3279902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3" name="TextBox 122"/>
          <p:cNvSpPr txBox="1"/>
          <p:nvPr/>
        </p:nvSpPr>
        <p:spPr>
          <a:xfrm>
            <a:off x="7691526" y="3279902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8 Sep 2026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03943" y="3279902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Foreign Affairs letter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691526" y="3443224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6" name="TextBox 125"/>
          <p:cNvSpPr txBox="1"/>
          <p:nvPr/>
        </p:nvSpPr>
        <p:spPr>
          <a:xfrm>
            <a:off x="7691526" y="3443224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14 Oct 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603943" y="3443224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Meeting with Minister Burke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7691526" y="3606546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9" name="TextBox 128"/>
          <p:cNvSpPr txBox="1"/>
          <p:nvPr/>
        </p:nvSpPr>
        <p:spPr>
          <a:xfrm>
            <a:off x="7691526" y="3606546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22 Oct 2026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603943" y="3606546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Ministerial Council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7691526" y="3769868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2" name="TextBox 131"/>
          <p:cNvSpPr txBox="1"/>
          <p:nvPr/>
        </p:nvSpPr>
        <p:spPr>
          <a:xfrm>
            <a:off x="7691526" y="3769868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23 Oct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03943" y="3769868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Fire specialist offer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7691526" y="393319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5" name="TextBox 134"/>
          <p:cNvSpPr txBox="1"/>
          <p:nvPr/>
        </p:nvSpPr>
        <p:spPr>
          <a:xfrm>
            <a:off x="7691526" y="3933190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26 Oct 2026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603943" y="3933190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Meeting at BNPB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91526" y="4223512"/>
            <a:ext cx="3824834" cy="7383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87704" indent="-87704"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The Bell 412 carries about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4,200 litres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 per drop; the national fleet delivers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1,135,000 litres per day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Fire specialists are offered in addition to the aircraft.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The 2015 deployment provides a proven basis for joint aerial operations.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Source: Australian Embassy diplomatic note; Ministry of Foreign Affairs; BNPB, October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Four RAAF airlift types with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36 aircraft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support humanitarian assistance and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disaster relief (HADR)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005361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HEAVY LIFT</a:t>
            </a:r>
          </a:p>
        </p:txBody>
      </p:sp>
      <p:pic>
        <p:nvPicPr>
          <p:cNvPr id="10" name="Picture 9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pasitas-051C2C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tonne maximum payload, C-17A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C-17A in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9078" y="1337310"/>
            <a:ext cx="106969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LONG RANGE</a:t>
            </a:r>
          </a:p>
        </p:txBody>
      </p:sp>
      <p:pic>
        <p:nvPicPr>
          <p:cNvPr id="23" name="Picture 22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pengungsi-051C2C-65a2f7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passengers, KC-30A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C-130J tactical airlifters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DEPLOYMENT ARRANGEMENTS</a:t>
            </a:r>
          </a:p>
        </p:txBody>
      </p:sp>
      <p:sp>
        <p:nvSpPr>
          <p:cNvPr id="36" name="Oval 35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kalender-FFFFFF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Flight planning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Flight windows planned with BMKG weather information.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Bases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Airfields and water sources agreed before operations.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Fuel and maintenance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Aviation fuel and spare parts arranged jointly.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7322515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2346960"/>
            <a:ext cx="7322515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2575560"/>
            <a:ext cx="7322515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7322515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6640" y="2346960"/>
            <a:ext cx="656051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Specifications of four RAAF airlift aircraft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2905760"/>
            <a:ext cx="277660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MEASURE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3046" y="2905760"/>
            <a:ext cx="94767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C-17A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52319" y="2905760"/>
            <a:ext cx="96133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C-130J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15252" y="2905760"/>
            <a:ext cx="94767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C-27J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64525" y="2905760"/>
            <a:ext cx="97803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KC-30A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116580"/>
            <a:ext cx="7068515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75640" y="3116580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Aircraft in RAAF service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3046" y="3116580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52319" y="3116580"/>
            <a:ext cx="96133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15252" y="3116580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64525" y="3116580"/>
            <a:ext cx="97803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380196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3380196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Maximum payload, kg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03046" y="3380196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52319" y="3380196"/>
            <a:ext cx="96133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19,500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15252" y="3380196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64525" y="3380196"/>
            <a:ext cx="97803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34,000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3643811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3643811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Passengers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03046" y="3643811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134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52319" y="3643811"/>
            <a:ext cx="96133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15252" y="3643811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4525" y="3643811"/>
            <a:ext cx="97803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3907427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3907427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Stretchers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03046" y="3907427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52319" y="3907427"/>
            <a:ext cx="96133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15252" y="3907427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64525" y="3907427"/>
            <a:ext cx="97803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75640" y="4171043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675640" y="4171043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Range, km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03046" y="4171043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4,445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52319" y="4171043"/>
            <a:ext cx="96133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5,100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15252" y="4171043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1,700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64525" y="4171043"/>
            <a:ext cx="97803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14,800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4434659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4434659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Cruise speed, km/h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03046" y="4434659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829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52319" y="4434659"/>
            <a:ext cx="96133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575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15252" y="4434659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670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64525" y="4434659"/>
            <a:ext cx="97803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860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75640" y="4698274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675640" y="4698274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Service ceiling, feet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03046" y="4698274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45,000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52319" y="4698274"/>
            <a:ext cx="96133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40,000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15252" y="4698274"/>
            <a:ext cx="94767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30,000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64525" y="4698274"/>
            <a:ext cx="97803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41,000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08315" y="2346960"/>
            <a:ext cx="3635045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008315" y="2346960"/>
            <a:ext cx="3635045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008315" y="2575560"/>
            <a:ext cx="3635045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008315" y="2346960"/>
            <a:ext cx="3635045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135315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9" name="Picture 108" descr="pengungsi-FFFFFF-65a2f7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2465" y="2486660"/>
            <a:ext cx="177800" cy="1778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8516315" y="2346960"/>
            <a:ext cx="287304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Potential role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35315" y="2905760"/>
            <a:ext cx="163972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AIRCRAFT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25838" y="2905760"/>
            <a:ext cx="163972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MISSION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135315" y="3116580"/>
            <a:ext cx="3381045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14" name="TextBox 113"/>
          <p:cNvSpPr txBox="1"/>
          <p:nvPr/>
        </p:nvSpPr>
        <p:spPr>
          <a:xfrm>
            <a:off x="8135315" y="3116580"/>
            <a:ext cx="1639722" cy="231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C-17A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825838" y="3116580"/>
            <a:ext cx="1639722" cy="231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Heavy equipment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8135315" y="3348387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7" name="TextBox 116"/>
          <p:cNvSpPr txBox="1"/>
          <p:nvPr/>
        </p:nvSpPr>
        <p:spPr>
          <a:xfrm>
            <a:off x="8135315" y="3348387"/>
            <a:ext cx="1639722" cy="231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C-130J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25838" y="3348387"/>
            <a:ext cx="1639722" cy="231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Unpaved strips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8135315" y="3580193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0" name="TextBox 119"/>
          <p:cNvSpPr txBox="1"/>
          <p:nvPr/>
        </p:nvSpPr>
        <p:spPr>
          <a:xfrm>
            <a:off x="8135315" y="3580193"/>
            <a:ext cx="1639722" cy="231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C-27J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25838" y="3580193"/>
            <a:ext cx="1639722" cy="231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Remote airstrips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8135315" y="3812000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3" name="TextBox 122"/>
          <p:cNvSpPr txBox="1"/>
          <p:nvPr/>
        </p:nvSpPr>
        <p:spPr>
          <a:xfrm>
            <a:off x="8135315" y="3812000"/>
            <a:ext cx="1639722" cy="231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KC-30A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825838" y="3812000"/>
            <a:ext cx="1639722" cy="231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Long-range lift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35315" y="4170807"/>
            <a:ext cx="3381045" cy="7910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87704" indent="-87704"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The KC-30A has a range of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14,800 km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Remote airstrips in Kalimantan and Papua suit tactical airlifters.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Bases and aviation fuel arranged jointly in advance.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Indonesian Air Force bases can host airlift for relief logistics.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Source: ADF Capabilities, Air Mobility Group; BNPB, October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Experience sharing with NSW RFS covers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 topics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, adapted to Indonesia’s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geography and disaster management system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8497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NSW RFS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incident management specialists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352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7080" y="1337310"/>
            <a:ext cx="1677007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1A1A1A"/>
                </a:solidFill>
                <a:latin typeface="Roboto"/>
              </a:rPr>
              <a:t>INDONESIAN PARTNERS</a:t>
            </a:r>
          </a:p>
        </p:txBody>
      </p:sp>
      <p:pic>
        <p:nvPicPr>
          <p:cNvPr id="18" name="Picture 17" descr="lembaga-1A1A1A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520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7080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630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8890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90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research and technology agencies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051C2C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exchange topics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WAY FORWARD</a:t>
            </a:r>
          </a:p>
        </p:txBody>
      </p:sp>
      <p:sp>
        <p:nvSpPr>
          <p:cNvPr id="31" name="Oval 30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Good practice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Adapted to Indonesia’s geography and disaster management system.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BMKG and BRIN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Information exchange on research and innovation for fire response.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kalender-FFFFFF-a840cf9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Technical sessions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Follow-up sessions planned with each counterpart unit.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8210093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8210093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2575560"/>
            <a:ext cx="8210093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2346960"/>
            <a:ext cx="8210093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kapasitas-FFFFFF-22e801b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56640" y="2346960"/>
            <a:ext cx="7448093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Topics and Indonesian counterparts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1230" y="2905760"/>
            <a:ext cx="250936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TOPIC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11398" y="2905760"/>
            <a:ext cx="250936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FOCUS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71565" y="2905760"/>
            <a:ext cx="250936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COUNTERPART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116580"/>
            <a:ext cx="7956093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675640" y="314491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1230" y="3116580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Incident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11398" y="3116580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Incident team structure and roles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71565" y="3116580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Deputy for Emergency Response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347244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Oval 60"/>
          <p:cNvSpPr/>
          <p:nvPr/>
        </p:nvSpPr>
        <p:spPr>
          <a:xfrm>
            <a:off x="675640" y="337558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1230" y="3347244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Command coordination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11398" y="3347244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Joint multi-agency command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71565" y="3347244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Deputy for Emergency Response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3577908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675640" y="360624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1230" y="3577908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Fire situational awareness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11398" y="3577908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Daily maps of active fire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71565" y="3577908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Deputy for Systems and Strategy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808571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675640" y="383690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1230" y="3808571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Ground and aerial integration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11398" y="3808571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Helicopters and crews in one plan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71565" y="3808571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Deputy for Emergency Response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4039235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675640" y="406757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1230" y="4039235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Good practice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11398" y="4039235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Adapted to peat and islands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71565" y="4039235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Deputy for Prevention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4269899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Oval 80"/>
          <p:cNvSpPr/>
          <p:nvPr/>
        </p:nvSpPr>
        <p:spPr>
          <a:xfrm>
            <a:off x="675640" y="429823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1230" y="4269899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Technology and research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11398" y="4269899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Weather modification and innovation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71565" y="4269899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BMKG and BRIN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75640" y="4500562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675640" y="452889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1230" y="4500562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Operational safety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11398" y="4500562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Crew and flight safety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71565" y="4500562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Deputy for Logistics and Equipment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40" y="4731226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675640" y="47595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1230" y="4731226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Joint exercises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11398" y="4731226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Command post and crew drills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71565" y="4731226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Deputy for Prevention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895893" y="2346960"/>
            <a:ext cx="2747467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895893" y="2346960"/>
            <a:ext cx="2747467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95893" y="2575560"/>
            <a:ext cx="2747467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895893" y="2346960"/>
            <a:ext cx="2747467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022893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wilayah-FFFFFF-37dca10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0043" y="2486660"/>
            <a:ext cx="177800" cy="1778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403893" y="2346960"/>
            <a:ext cx="211246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Indonesian context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22893" y="2905760"/>
            <a:ext cx="2493467" cy="20561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103555" indent="-103555"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Peat fire response in Central Kalimantan covers ±</a:t>
            </a:r>
            <a:r>
              <a:rPr sz="980" b="1" lang="id-ID">
                <a:solidFill>
                  <a:srgbClr val="1A1A1A"/>
                </a:solidFill>
                <a:latin typeface="Roboto"/>
              </a:rPr>
              <a:t>20,532 ha</a:t>
            </a:r>
            <a:r>
              <a:rPr sz="98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103555" indent="-103555">
              <a:spcBef>
                <a:spcPts val="490"/>
              </a:spcBef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Ground crews of ±</a:t>
            </a:r>
            <a:r>
              <a:rPr sz="980" b="1" lang="id-ID">
                <a:solidFill>
                  <a:srgbClr val="1A1A1A"/>
                </a:solidFill>
                <a:latin typeface="Roboto"/>
              </a:rPr>
              <a:t>71,878 personnel</a:t>
            </a:r>
            <a:r>
              <a:rPr sz="980" b="0" lang="id-ID">
                <a:solidFill>
                  <a:srgbClr val="1A1A1A"/>
                </a:solidFill>
                <a:latin typeface="Roboto"/>
              </a:rPr>
              <a:t> across six provinces.</a:t>
            </a:r>
          </a:p>
          <a:p>
            <a:pPr algn="just" marL="103555" indent="-103555">
              <a:spcBef>
                <a:spcPts val="490"/>
              </a:spcBef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BMKG and BRIN lead research and weather modification for fire response.</a:t>
            </a:r>
          </a:p>
          <a:p>
            <a:pPr algn="just" marL="103555" indent="-103555">
              <a:spcBef>
                <a:spcPts val="490"/>
              </a:spcBef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National aircraft deliver </a:t>
            </a:r>
            <a:r>
              <a:rPr sz="980" b="1" lang="id-ID">
                <a:solidFill>
                  <a:srgbClr val="1A1A1A"/>
                </a:solidFill>
                <a:latin typeface="Roboto"/>
              </a:rPr>
              <a:t>1,135,000 litres per day</a:t>
            </a:r>
            <a:r>
              <a:rPr sz="980" b="0" lang="id-ID">
                <a:solidFill>
                  <a:srgbClr val="1A1A1A"/>
                </a:solidFill>
                <a:latin typeface="Roboto"/>
              </a:rPr>
              <a:t> in water-bombing operations.</a:t>
            </a:r>
          </a:p>
          <a:p>
            <a:pPr algn="just" marL="103555" indent="-103555">
              <a:spcBef>
                <a:spcPts val="490"/>
              </a:spcBef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Weather modification runs </a:t>
            </a:r>
            <a:r>
              <a:rPr sz="980" b="1" lang="id-ID">
                <a:solidFill>
                  <a:srgbClr val="1A1A1A"/>
                </a:solidFill>
                <a:latin typeface="Roboto"/>
              </a:rPr>
              <a:t>18 sorties</a:t>
            </a:r>
            <a:r>
              <a:rPr sz="980" b="0" lang="id-ID">
                <a:solidFill>
                  <a:srgbClr val="1A1A1A"/>
                </a:solidFill>
                <a:latin typeface="Roboto"/>
              </a:rPr>
              <a:t> alongside ground and aerial suppression.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Source: BNPB, October 2026; BNPB daily reports and operations briefings, October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Six next steps to deliver joint action with Australian partners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National Disaster Management Agency (BNPB)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80">
                <a:solidFill>
                  <a:srgbClr val="6B7280"/>
                </a:solidFill>
                <a:latin typeface="Roboto"/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80">
                <a:solidFill>
                  <a:srgbClr val="6B7280"/>
                </a:solidFill>
                <a:latin typeface="Roboto"/>
              </a:rPr>
              <a:t>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80">
                <a:solidFill>
                  <a:srgbClr val="6B7280"/>
                </a:solidFill>
                <a:latin typeface="Roboto"/>
              </a:rPr>
              <a:t>RESPONSIBLE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Rounded Rectangle 11"/>
          <p:cNvSpPr/>
          <p:nvPr/>
        </p:nvSpPr>
        <p:spPr>
          <a:xfrm>
            <a:off x="548640" y="54546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690" y="55283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EXPECTED OUTCOME</a:t>
            </a:r>
          </a:p>
        </p:txBody>
      </p:sp>
      <p:sp>
        <p:nvSpPr>
          <p:cNvPr id="14" name="Oval 13"/>
          <p:cNvSpPr/>
          <p:nvPr/>
        </p:nvSpPr>
        <p:spPr>
          <a:xfrm>
            <a:off x="694690" y="58026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87883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060" y="57467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060" y="59499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Australian support since 2015 underpins the 2026 cooperation.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22538" y="57848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4295563" y="58026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kapasitas-FFFFFF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87883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15933" y="57467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Shared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5933" y="59499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Practical exchange with NSW RFS on incident management.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23412" y="57848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7896437" y="58026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rhutla-FFFFFF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87883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16807" y="57467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Stronger partnership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807" y="59499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Concrete follow-up strengthens joint forest fire response.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164009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kapasitas-FFFFFF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" y="1716045"/>
            <a:ext cx="178308" cy="1783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3140" y="159056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Confirm the specialist offer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140" y="1825519"/>
            <a:ext cx="700988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100 days</a:t>
            </a:r>
          </a:p>
        </p:txBody>
      </p:sp>
      <p:pic>
        <p:nvPicPr>
          <p:cNvPr id="32" name="Picture 31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1856888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744928" y="1825519"/>
            <a:ext cx="5100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Planned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9898" y="1485900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Specialists confirmed in addition to the aircraft offer. Numbers and expertise defined together with scope of duties and deployment period.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8733" y="1614699"/>
            <a:ext cx="169406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Deputy for Emergency Response</a:t>
            </a:r>
          </a:p>
        </p:txBody>
      </p:sp>
      <p:pic>
        <p:nvPicPr>
          <p:cNvPr id="36" name="Picture 35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1646068"/>
            <a:ext cx="102362" cy="10236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758733" y="1830599"/>
            <a:ext cx="223119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Bureau of Law, Organisation and Cooperation</a:t>
            </a:r>
          </a:p>
        </p:txBody>
      </p:sp>
      <p:pic>
        <p:nvPicPr>
          <p:cNvPr id="38" name="Picture 37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1861968"/>
            <a:ext cx="102362" cy="102362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>
            <a:off x="548640" y="212449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548640" y="227869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infrastruktur-FFFFFF-ba1c96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354644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3140" y="222916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Confirm asset specifications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3140" y="2464118"/>
            <a:ext cx="700988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100 days</a:t>
            </a:r>
          </a:p>
        </p:txBody>
      </p:sp>
      <p:pic>
        <p:nvPicPr>
          <p:cNvPr id="44" name="Picture 43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2495486"/>
            <a:ext cx="102362" cy="10236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744928" y="2464118"/>
            <a:ext cx="5100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Planned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9898" y="2124498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Specifications and readiness of each aircraft and helicopter confirmed with the Australian side. Technical and logistics requirements confirmed per asset.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8733" y="2253298"/>
            <a:ext cx="182181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Deputy for Logistics and Equipment</a:t>
            </a:r>
          </a:p>
        </p:txBody>
      </p:sp>
      <p:pic>
        <p:nvPicPr>
          <p:cNvPr id="48" name="Picture 47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2284666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758733" y="2469198"/>
            <a:ext cx="169406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Deputy for Emergency Response</a:t>
            </a:r>
          </a:p>
        </p:txBody>
      </p:sp>
      <p:pic>
        <p:nvPicPr>
          <p:cNvPr id="50" name="Picture 49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2500566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548640" y="276309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548640" y="291729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2993242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93140" y="286776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Agree the operating arrangement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3140" y="3102716"/>
            <a:ext cx="700988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100 days</a:t>
            </a:r>
          </a:p>
        </p:txBody>
      </p:sp>
      <p:pic>
        <p:nvPicPr>
          <p:cNvPr id="56" name="Picture 55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3134085"/>
            <a:ext cx="102362" cy="10236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744928" y="3102716"/>
            <a:ext cx="5100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Planned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9898" y="2763097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Mobilisation and basing agreed with Indonesian authorities, who lead command. Fuel and maintenance arranged under agreed safety procedures.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58733" y="2891896"/>
            <a:ext cx="15089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Ministry of State Secretariat</a:t>
            </a:r>
          </a:p>
        </p:txBody>
      </p:sp>
      <p:pic>
        <p:nvPicPr>
          <p:cNvPr id="60" name="Picture 59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2923265"/>
            <a:ext cx="102362" cy="10236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758733" y="3107796"/>
            <a:ext cx="169406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Deputy for Emergency Response</a:t>
            </a:r>
          </a:p>
        </p:txBody>
      </p:sp>
      <p:pic>
        <p:nvPicPr>
          <p:cNvPr id="62" name="Picture 61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3139165"/>
            <a:ext cx="102362" cy="102362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548640" y="340169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548640" y="3555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86" y="3631840"/>
            <a:ext cx="178308" cy="1783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93140" y="3506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Assess operational needs jointly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3140" y="3741314"/>
            <a:ext cx="700988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100 days</a:t>
            </a:r>
          </a:p>
        </p:txBody>
      </p:sp>
      <p:pic>
        <p:nvPicPr>
          <p:cNvPr id="68" name="Picture 67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3772683"/>
            <a:ext cx="102362" cy="102362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744928" y="3741314"/>
            <a:ext cx="5100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Planned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9898" y="3401695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Needs assessed with technical and operations units to choose the most suitable form of support and enable joint operations from day one.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58733" y="3638444"/>
            <a:ext cx="1707052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Deputy for Systems and Strategy</a:t>
            </a:r>
          </a:p>
        </p:txBody>
      </p:sp>
      <p:pic>
        <p:nvPicPr>
          <p:cNvPr id="72" name="Picture 71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3669813"/>
            <a:ext cx="102362" cy="102362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0516584" y="3638444"/>
            <a:ext cx="58296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74" name="Picture 73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9134" y="3669813"/>
            <a:ext cx="102362" cy="10236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8758733" y="3854344"/>
            <a:ext cx="53069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BRIN</a:t>
            </a:r>
          </a:p>
        </p:txBody>
      </p:sp>
      <p:pic>
        <p:nvPicPr>
          <p:cNvPr id="76" name="Picture 75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3885713"/>
            <a:ext cx="102362" cy="102362"/>
          </a:xfrm>
          <a:prstGeom prst="rect">
            <a:avLst/>
          </a:prstGeom>
        </p:spPr>
      </p:pic>
      <p:cxnSp>
        <p:nvCxnSpPr>
          <p:cNvPr id="77" name="Connector 76"/>
          <p:cNvCxnSpPr/>
          <p:nvPr/>
        </p:nvCxnSpPr>
        <p:spPr>
          <a:xfrm>
            <a:off x="548640" y="404029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548640" y="41944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9" name="Picture 78" descr="kapasitas-FFFFFF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" y="4270438"/>
            <a:ext cx="178308" cy="17830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93140" y="414496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Share incident management experience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3140" y="4379912"/>
            <a:ext cx="807725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4411282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1851665" y="4379912"/>
            <a:ext cx="5100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Planned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9898" y="4040293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Technical sessions with NSW RFS on incident command and on integrating ground and aerial firefighting, adapted to Indonesian geography.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58733" y="4277042"/>
            <a:ext cx="169406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Deputy for Emergency Response</a:t>
            </a:r>
          </a:p>
        </p:txBody>
      </p:sp>
      <p:pic>
        <p:nvPicPr>
          <p:cNvPr id="86" name="Picture 85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4308412"/>
            <a:ext cx="102362" cy="102362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8758733" y="4492942"/>
            <a:ext cx="124027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Deputy for Prevention</a:t>
            </a:r>
          </a:p>
        </p:txBody>
      </p:sp>
      <p:pic>
        <p:nvPicPr>
          <p:cNvPr id="88" name="Picture 87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4524312"/>
            <a:ext cx="102362" cy="102362"/>
          </a:xfrm>
          <a:prstGeom prst="rect">
            <a:avLst/>
          </a:prstGeom>
        </p:spPr>
      </p:pic>
      <p:cxnSp>
        <p:nvCxnSpPr>
          <p:cNvPr id="89" name="Connector 88"/>
          <p:cNvCxnSpPr/>
          <p:nvPr/>
        </p:nvCxnSpPr>
        <p:spPr>
          <a:xfrm>
            <a:off x="548640" y="467889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548640" y="483309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1" name="Picture 90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86" y="4909037"/>
            <a:ext cx="178308" cy="17830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93140" y="478356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Link research and technology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3140" y="5018511"/>
            <a:ext cx="807725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94" name="Picture 93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5049880"/>
            <a:ext cx="102362" cy="102362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1851665" y="5018511"/>
            <a:ext cx="5100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Planned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09898" y="4678892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Information exchange between Indonesian research agencies and Australian partners on weather modification and fire research.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758733" y="4915641"/>
            <a:ext cx="58296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BMKG</a:t>
            </a:r>
          </a:p>
        </p:txBody>
      </p:sp>
      <p:pic>
        <p:nvPicPr>
          <p:cNvPr id="98" name="Picture 97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4947010"/>
            <a:ext cx="102362" cy="102362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9392496" y="4915641"/>
            <a:ext cx="53069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BRIN</a:t>
            </a:r>
          </a:p>
        </p:txBody>
      </p:sp>
      <p:pic>
        <p:nvPicPr>
          <p:cNvPr id="100" name="Picture 99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5046" y="4947010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eting-australia-en-penutup-foto-he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lang="id-ID">
                <a:solidFill>
                  <a:srgbClr val="FFFFFF"/>
                </a:solidFill>
                <a:latin typeface="Roboto"/>
              </a:rPr>
              <a:t>Photo: DenY Krisbiyantoro,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70" b="1" lang="id-ID">
                <a:solidFill>
                  <a:srgbClr val="FFFFFF"/>
                </a:solidFill>
                <a:latin typeface="Roboto"/>
              </a:rPr>
              <a:t>National Disaster Management Agency (BNPB)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90" b="0" lang="id-ID">
                <a:solidFill>
                  <a:srgbClr val="C9D1E3"/>
                </a:solidFill>
                <a:latin typeface="Roboto"/>
              </a:rPr>
              <a:t>Meeting with the Ambassador of Australia and NSW RFS, Monday 26 October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Forest and Land Fire Operations as of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October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71,878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ground personnel,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aircraft, and cloud seeding in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provinces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rain reported in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National Disaster Management Agency (BNPB)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5806723"/>
            <a:ext cx="548640" cy="16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71,878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ground personnel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WB helicopters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patrol/OMC aircraft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Military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13,396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11,231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Police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10,446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8,950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Volunteers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8,201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govt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Forestry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PERSONNEL BY PROVINCE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Kalimantan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16,387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14,837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 Kalimantan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14,458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Sumatra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12,285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Kalimantan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7,927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WEATHER MODIFICATION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RAIN AFTER SEEDING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Oct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rain in 4 of 4 provinces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SEEDING TARGETS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Kalimantan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seeding flown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994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99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RAIN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Kapuas Hulu, 24 Oct (no seeding)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Kalimantan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Palangka Raya, Katingan, Pulpis, Kotim, Kobar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3614166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3614166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HEAVY RAIN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Seruyan, 24 Oct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Sumatra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Banyuasin, OKI, Muba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057650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057650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Muba, Palembang, Banyuasin, OKI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Kalimantan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Tala, Kotabaru, Batola, Tapin, HSS, HSU, Balangan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4501134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450113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Tapin and Kotabaru; 2 sorties, 2,000 kg NaCl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SEEDING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Oct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sorties, 21,600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Kalimantan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7,500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HEAVY RAIN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3,000 kg, dry ice 4,500 kg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sorties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Sumatra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12,100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8,800 kg, dry ice 3,300 kg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sorties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AIRCRAFT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Oct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 units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WB helicopters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Kalimantan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07861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Sumatra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792463" y="3207861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517074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Kalimantan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792463" y="3517074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826287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Kalimantan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601567" y="3826287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135500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837983" y="4135500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444713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647087" y="4444713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5063139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East Java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65295" y="5063139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372352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65295" y="5372352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93" name="Text 149"/>
          <p:cNvSpPr txBox="1"/>
          <p:nvPr/>
        </p:nvSpPr>
        <p:spPr>
          <a:xfrm>
            <a:off x="6329020" y="4753926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Java</a:t>
            </a:r>
            <a:endParaRPr lang="en-US" sz="900" dirty="0"/>
          </a:p>
        </p:txBody>
      </p:sp>
      <p:sp>
        <p:nvSpPr>
          <p:cNvPr id="194" name="Shape 150"/>
          <p:cNvSpPr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5" name="Text 151"/>
          <p:cNvSpPr txBox="1"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6" name="Shape 152"/>
          <p:cNvSpPr/>
          <p:nvPr/>
        </p:nvSpPr>
        <p:spPr>
          <a:xfrm>
            <a:off x="7982956" y="4798099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7" name="Text 153"/>
          <p:cNvSpPr txBox="1"/>
          <p:nvPr/>
        </p:nvSpPr>
        <p:spPr>
          <a:xfrm>
            <a:off x="7982956" y="4798099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98" name="Text 154"/>
          <p:cNvSpPr txBox="1"/>
          <p:nvPr/>
        </p:nvSpPr>
        <p:spPr>
          <a:xfrm>
            <a:off x="8647087" y="4753926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units</a:t>
            </a:r>
            <a:endParaRPr lang="en-US" sz="1200" dirty="0"/>
          </a:p>
        </p:txBody>
      </p:sp>
      <p:sp>
        <p:nvSpPr>
          <p:cNvPr id="199" name="Text 149"/>
          <p:cNvSpPr txBox="1"/>
          <p:nvPr/>
        </p:nvSpPr>
        <p:spPr>
          <a:xfrm>
            <a:off x="6329020" y="5681565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East Kalimantan/IKN</a:t>
            </a:r>
            <a:endParaRPr lang="en-US" sz="900" dirty="0"/>
          </a:p>
        </p:txBody>
      </p:sp>
      <p:sp>
        <p:nvSpPr>
          <p:cNvPr id="201" name="Text 151"/>
          <p:cNvSpPr txBox="1"/>
          <p:nvPr/>
        </p:nvSpPr>
        <p:spPr>
          <a:xfrm>
            <a:off x="7792060" y="5725738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2" name="Shape 152"/>
          <p:cNvSpPr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03" name="Text 153"/>
          <p:cNvSpPr txBox="1"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4" name="Text 154"/>
          <p:cNvSpPr txBox="1"/>
          <p:nvPr/>
        </p:nvSpPr>
        <p:spPr>
          <a:xfrm>
            <a:off x="8074399" y="5681565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05" name="Text 149"/>
          <p:cNvSpPr txBox="1"/>
          <p:nvPr/>
        </p:nvSpPr>
        <p:spPr>
          <a:xfrm>
            <a:off x="6329020" y="599077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Papua</a:t>
            </a:r>
            <a:endParaRPr lang="en-US" sz="900" dirty="0"/>
          </a:p>
        </p:txBody>
      </p:sp>
      <p:sp>
        <p:nvSpPr>
          <p:cNvPr id="206" name="Shape 150"/>
          <p:cNvSpPr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7" name="Text 151"/>
          <p:cNvSpPr txBox="1"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Text 154"/>
          <p:cNvSpPr txBox="1"/>
          <p:nvPr/>
        </p:nvSpPr>
        <p:spPr>
          <a:xfrm>
            <a:off x="8074399" y="599077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1" name="Shape 168"/>
          <p:cNvSpPr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2" name="Text 169"/>
          <p:cNvSpPr txBox="1"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of the Head of BNPB with the Ambassador of Australia and the NSW Rural Fire Service</dc:title>
  <dc:subject>Indonesia’s 2026 Fire Season and Collaboration with Australia</dc:subject>
  <dc:creator>National Disaster Management Agency (BNPB)</dc:creator>
  <cp:lastModifiedBy>National Disaster Management Agency (BNPB)</cp:lastModifiedBy>
  <cp:revision>1</cp:revision>
  <dcterms:created xsi:type="dcterms:W3CDTF">2026-10-22T07:37:45Z</dcterms:created>
  <dcterms:modified xsi:type="dcterms:W3CDTF">2026-10-22T07:37:45Z</dcterms:modified>
  <cp:keywords>BNPB; Australia; NSW Rural Fire Service; karhutla; bantuan internasional; HADR</cp:keywords>
  <dc:language>id-ID</dc:language>
  <cp:category>Kajian</cp:category>
  <dc:description>Indonesia has mobilised a full national response to the 2026 fire season; Australian aerial monitoring and incident management expertise can strengthen it.</dc:description>
</cp:coreProperties>
</file>