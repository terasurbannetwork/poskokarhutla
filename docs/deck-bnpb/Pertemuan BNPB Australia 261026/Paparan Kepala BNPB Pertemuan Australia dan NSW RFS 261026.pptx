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22.png"/><Relationship Id="rId10" Type="http://schemas.openxmlformats.org/officeDocument/2006/relationships/image" Target="../media/image17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25.png"/><Relationship Id="rId9" Type="http://schemas.openxmlformats.org/officeDocument/2006/relationships/image" Target="../media/image7.png"/><Relationship Id="rId10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22.png"/><Relationship Id="rId9" Type="http://schemas.openxmlformats.org/officeDocument/2006/relationships/image" Target="../media/image4.png"/><Relationship Id="rId10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aran-australia-sampul-foto-he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DenY Krisbiyantoro,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Pertemuan Kepala BNPB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dengan Duta Besar Australia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dan NSW Rural Fire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Kondisi Bencana dan Karhutla 2026, Upaya Penanganan, dan Tindak Lanjut Tawaran Dukungan Australia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127500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42799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OLEH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03738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F6B26B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27575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Senin, 26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Karhutla 2026 menuntut dukungan pemantauan udara dan keahlian teknis yang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melengkapi aset nasional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ingkasan-FFFFFF-28e566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Titik panas 2026 sudah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2,2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kali 2019 dan ±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28.016 ha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masih menyala; tawaran Australia paling berguna bila mengisi celah pemantauan udara dan keahlian manajemen insiden.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675640" y="246485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2540804"/>
            <a:ext cx="178308" cy="1783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0140" y="2464858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3437" y="2546615"/>
            <a:ext cx="8825133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Bencana 2026.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2.299 kejadian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548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tahun ini,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252.438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mengungsi; gempa bumi NTT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156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5640" y="2935817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675640" y="307657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karhutla-FFFFFF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3152521"/>
            <a:ext cx="178308" cy="1783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0140" y="307657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3437" y="3158331"/>
            <a:ext cx="8825133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Karhutla.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1.286.973 titik panas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tahun ini,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2,2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kali 2019; ±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28.016 ha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belum padam, Kalimantan Tengah tanggap darurat.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3547533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675640" y="368670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3762650"/>
            <a:ext cx="178308" cy="1783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0140" y="3686704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3437" y="3686704"/>
            <a:ext cx="8825133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Upaya nasional.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30 helikopter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water bombing, ±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60.177 personel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darat,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 sorti per hari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modifikasi cuaca;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1.135.000 liter per hari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air dijatuhkan.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415925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Oval 31"/>
          <p:cNvSpPr/>
          <p:nvPr/>
        </p:nvSpPr>
        <p:spPr>
          <a:xfrm>
            <a:off x="675640" y="430000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wilayah-FFFFFF-37dca1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4375954"/>
            <a:ext cx="178308" cy="1783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20140" y="4300008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D.1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3437" y="4381765"/>
            <a:ext cx="8825133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Tawaran Australia.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Citation,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King Air,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Bell 412, dan tenaga ahli kebakaran; koordinasi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49 hari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sejak nota diplomatik.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4770967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675640" y="491172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4987671"/>
            <a:ext cx="178308" cy="1783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20140" y="491172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D.2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3437" y="4993481"/>
            <a:ext cx="8825133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Pesawat HADR.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C-17A, C-130J, C-27J, dan KC-30A RAAF berjumlah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36 pesawat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; KC-30A menjangkau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14.800 km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5382683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675640" y="55234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5599388"/>
            <a:ext cx="178308" cy="1783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20140" y="552344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E.1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3437" y="5605198"/>
            <a:ext cx="8825133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Tindak lanjut.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Enam langkah, dimulai dari lingkup tenaga ahli dan spesifikasi tiap aset; riset bersama BMKG dan BRIN.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2026; laporan harian dan paparan Kepala BNPB; NASA FIRMS olahan Pantau Bencana; ADF; butir wicara Kepala BNPB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A1. Sepanjang 2026 tercatat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2.299 kejadian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bencana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548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meninggal;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karhutla menyumbang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1.024 kejadian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6471209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10340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BENCANA 2026</a:t>
            </a:r>
          </a:p>
        </p:txBody>
      </p:sp>
      <p:pic>
        <p:nvPicPr>
          <p:cNvPr id="10" name="Picture 9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engungsi-051C2C-65a2f7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252.438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mengungsi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2766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8198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rumah-051C2C-320df6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186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84576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165.564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4576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87163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96383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583" y="17589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98973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973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menonjol harian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6549" y="1282700"/>
            <a:ext cx="4356811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96277" y="1337310"/>
            <a:ext cx="122822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GEMPA BUMI NTT</a:t>
            </a:r>
          </a:p>
        </p:txBody>
      </p:sp>
      <p:pic>
        <p:nvPicPr>
          <p:cNvPr id="28" name="Picture 27" descr="gempa-FFFFFF-5740f7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717" y="1372057"/>
            <a:ext cx="113386" cy="11338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396277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05497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jiwa-C8102E-9b7037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697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8087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8087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meninggal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10674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1989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pengungsi-051C2C-65a2f7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094" y="175895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22484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27.563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22484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masih mengungsi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PEMBANDING DAN KEJADIAN LAIN</a:t>
            </a:r>
          </a:p>
        </p:txBody>
      </p:sp>
      <p:sp>
        <p:nvSpPr>
          <p:cNvPr id="41" name="Oval 4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kalender-FFFFFF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Sepanjang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5.440 kejadian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dan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2.030 jiwa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meninggal.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ekeringan-FFFFFF-bd7fcb5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Kekeringan Jawa Tengah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44.045 KK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terdampak di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5 kabupaten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kebakaran-tpa-FFFFFF-e8abd5c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Kebakaran TPA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TPA Supit Urang, Jawa Timur, ±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15,5 ha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terbakar, tahap pendinginan.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korban bencana alam 2026 per jenis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1230" y="2905760"/>
            <a:ext cx="206747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69505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4" name="Picture 6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945" y="2954477"/>
            <a:ext cx="113386" cy="11338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021898" y="291973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66" name="Picture 65" descr="jiwa-FFFFFF-9b7037f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3338" y="2954477"/>
            <a:ext cx="113386" cy="113386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5068273" y="2919730"/>
            <a:ext cx="94968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MENGUNGSI</a:t>
            </a:r>
          </a:p>
        </p:txBody>
      </p:sp>
      <p:pic>
        <p:nvPicPr>
          <p:cNvPr id="68" name="Picture 67" descr="pengungsi-FFFFFF-65a2f7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59713" y="2954477"/>
            <a:ext cx="113386" cy="113386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6119560" y="2919730"/>
            <a:ext cx="107920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RUMAH RUSAK</a:t>
            </a:r>
          </a:p>
        </p:txBody>
      </p:sp>
      <p:pic>
        <p:nvPicPr>
          <p:cNvPr id="70" name="Picture 69" descr="rumah-FFFFFF-320df64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1000" y="2954477"/>
            <a:ext cx="113386" cy="113386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675640" y="314944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1230" y="3116580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Karhutla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9505" y="3116580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1898" y="3116580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68273" y="3116580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745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19560" y="3116580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280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75640" y="335629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675640" y="338915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1230" y="3356292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9505" y="3356292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581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21898" y="3356292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68273" y="3356292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64.624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19560" y="3356292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11.728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75640" y="359600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675640" y="362886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1230" y="3596005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9505" y="3596005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21898" y="3596005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68273" y="3596005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19560" y="3596005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8.072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38357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Oval 92"/>
          <p:cNvSpPr/>
          <p:nvPr/>
        </p:nvSpPr>
        <p:spPr>
          <a:xfrm>
            <a:off x="675640" y="386857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1230" y="3835717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9505" y="3835717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21898" y="3835717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68273" y="3835717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19560" y="3835717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5640" y="407543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Oval 99"/>
          <p:cNvSpPr/>
          <p:nvPr/>
        </p:nvSpPr>
        <p:spPr>
          <a:xfrm>
            <a:off x="675640" y="410829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1230" y="4075430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Longsor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69505" y="4075430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21898" y="4075430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68273" y="4075430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5.250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19560" y="4075430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1.670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75640" y="431514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7" name="Oval 106"/>
          <p:cNvSpPr/>
          <p:nvPr/>
        </p:nvSpPr>
        <p:spPr>
          <a:xfrm>
            <a:off x="675640" y="434800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1230" y="4315142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Abrasi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069505" y="4315142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21898" y="4315142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68273" y="4315142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19560" y="4315142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75640" y="455485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4" name="Oval 113"/>
          <p:cNvSpPr/>
          <p:nvPr/>
        </p:nvSpPr>
        <p:spPr>
          <a:xfrm>
            <a:off x="675640" y="458771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1230" y="4554855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Gempabumi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069505" y="4554855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21898" y="4554855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68273" y="4554855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174.509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19560" y="4554855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141.492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75640" y="479456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1" name="Oval 120"/>
          <p:cNvSpPr/>
          <p:nvPr/>
        </p:nvSpPr>
        <p:spPr>
          <a:xfrm>
            <a:off x="675640" y="482742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1230" y="4794568"/>
            <a:ext cx="20674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69505" y="4794568"/>
            <a:ext cx="850793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1898" y="4794568"/>
            <a:ext cx="944775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68273" y="4794568"/>
            <a:ext cx="94968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650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19560" y="4794568"/>
            <a:ext cx="1079207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2" name="Picture 131" descr="kalender-FFFFFF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menonjol laporan harian terakhir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91526" y="2905760"/>
            <a:ext cx="138542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27747" y="2905760"/>
            <a:ext cx="138542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KETERANGAN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56396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137" name="Picture 136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407" y="2954477"/>
            <a:ext cx="113386" cy="113386"/>
          </a:xfrm>
          <a:prstGeom prst="rect">
            <a:avLst/>
          </a:prstGeom>
        </p:spPr>
      </p:pic>
      <p:cxnSp>
        <p:nvCxnSpPr>
          <p:cNvPr id="138" name="Connector 137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9" name="TextBox 138"/>
          <p:cNvSpPr txBox="1"/>
          <p:nvPr/>
        </p:nvSpPr>
        <p:spPr>
          <a:xfrm>
            <a:off x="7691526" y="31165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Karhutla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27747" y="31165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Sebagian besar masih ditangani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56396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7691526" y="33832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43" name="TextBox 142"/>
          <p:cNvSpPr txBox="1"/>
          <p:nvPr/>
        </p:nvSpPr>
        <p:spPr>
          <a:xfrm>
            <a:off x="7691526" y="33832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27747" y="33832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Pekalongan, distribusi air bersih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56396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7691526" y="36499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47" name="TextBox 146"/>
          <p:cNvSpPr txBox="1"/>
          <p:nvPr/>
        </p:nvSpPr>
        <p:spPr>
          <a:xfrm>
            <a:off x="7691526" y="36499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bumi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27747" y="36499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NTT, masa transisi pengungsi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56396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7691526" y="39166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51" name="TextBox 150"/>
          <p:cNvSpPr txBox="1"/>
          <p:nvPr/>
        </p:nvSpPr>
        <p:spPr>
          <a:xfrm>
            <a:off x="7691526" y="39166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Kebakaran TPA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27747" y="3916680"/>
            <a:ext cx="13854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TPA Supit Urang, pendinginan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56396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691526" y="4310380"/>
            <a:ext cx="3824834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Laporan terakhir memuat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22 kejadian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menonjol di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18 provinsi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Gempa bumi NTT: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27.563 jiwa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masih mengungsi; huntara dibangun.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Kekeringan Pekalongan: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11.202 KK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menerima air bersih.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Karhutla: ±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28.016 ha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belum padam di tujuh provinsi perlu perhatian.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2025 dan 2026 (sementara); Laporan Kejadian Bencana Harian BNPB, Oktober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 Hingga Oktober tercatat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1.286.973 titik panas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,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2,2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kali 2019;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 provinsi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berstatus darurat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995059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TITIK PANAS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naik-D9600B-a8a54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4,9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kali rerata 2019–2025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lender-D9600B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12.890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titik panas hari terakhir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119186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MASIH MENYALA</a:t>
            </a:r>
          </a:p>
        </p:txBody>
      </p:sp>
      <p:pic>
        <p:nvPicPr>
          <p:cNvPr id="23" name="Picture 22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luas-C8102E-123220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28.016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 belum padam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rhutla-D9600B-195575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1.407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 di TN Tanjung Puting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Titik panas kumulatif pada tanggal yang sama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Titik panas kumulatif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Januari sampai Oktober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7946" y="2905760"/>
            <a:ext cx="63242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E3440"/>
                </a:solidFill>
                <a:latin typeface="Roboto"/>
              </a:rPr>
              <a:t>naik 391,4%</a:t>
            </a:r>
          </a:p>
        </p:txBody>
      </p:sp>
      <p:sp>
        <p:nvSpPr>
          <p:cNvPr id="43" name="Isosceles Triangle 42"/>
          <p:cNvSpPr/>
          <p:nvPr/>
        </p:nvSpPr>
        <p:spPr>
          <a:xfrm>
            <a:off x="6553646" y="297688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990315" y="5218255"/>
            <a:ext cx="1026833" cy="496745"/>
          </a:xfrm>
          <a:prstGeom prst="round2SameRect">
            <a:avLst>
              <a:gd name="adj1" fmla="val 45476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5640" y="5065855"/>
            <a:ext cx="1656182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261.906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640" y="5740400"/>
            <a:ext cx="16561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Rerata 2019–2025</a:t>
            </a:r>
          </a:p>
        </p:txBody>
      </p:sp>
      <p:sp>
        <p:nvSpPr>
          <p:cNvPr id="47" name="Round Same Side Corner Rectangle 46"/>
          <p:cNvSpPr/>
          <p:nvPr/>
        </p:nvSpPr>
        <p:spPr>
          <a:xfrm>
            <a:off x="2646496" y="4830530"/>
            <a:ext cx="1026833" cy="884470"/>
          </a:xfrm>
          <a:prstGeom prst="round2SameRect">
            <a:avLst>
              <a:gd name="adj1" fmla="val 25541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822" y="4678130"/>
            <a:ext cx="1656182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466.332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822" y="5740400"/>
            <a:ext cx="16561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4302678" y="4577938"/>
            <a:ext cx="1026833" cy="113706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88003" y="4425538"/>
            <a:ext cx="1656182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599.510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8003" y="5740400"/>
            <a:ext cx="16561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53" name="Round Same Side Corner Rectangle 52"/>
          <p:cNvSpPr/>
          <p:nvPr/>
        </p:nvSpPr>
        <p:spPr>
          <a:xfrm>
            <a:off x="5958859" y="3274060"/>
            <a:ext cx="1026833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44185" y="3121660"/>
            <a:ext cx="1656182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1.286.973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4185" y="5740400"/>
            <a:ext cx="1656182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2026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571500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57" name="Rounded Rectangle 56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Status darurat karhutla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67116" y="2905760"/>
            <a:ext cx="11322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50198" y="2905760"/>
            <a:ext cx="11322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3279" y="2905760"/>
            <a:ext cx="11322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BERLAKU S.D.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769152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7116" y="31165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50198" y="31165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Tanggap Darurat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3279" y="31165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29 Okt 2026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691526" y="33832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769152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67116" y="33832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Barat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50198" y="33832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3279" y="33832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31 Des 2026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691526" y="36499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769152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67116" y="36499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50198" y="36499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3279" y="36499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691526" y="39166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Oval 82"/>
          <p:cNvSpPr/>
          <p:nvPr/>
        </p:nvSpPr>
        <p:spPr>
          <a:xfrm>
            <a:off x="769152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67116" y="39166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50198" y="39166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33279" y="39166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691526" y="41833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Oval 87"/>
          <p:cNvSpPr/>
          <p:nvPr/>
        </p:nvSpPr>
        <p:spPr>
          <a:xfrm>
            <a:off x="769152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67116" y="41833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Timur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50198" y="41833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3279" y="41833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691526" y="44500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Oval 92"/>
          <p:cNvSpPr/>
          <p:nvPr/>
        </p:nvSpPr>
        <p:spPr>
          <a:xfrm>
            <a:off x="769152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67116" y="44500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50198" y="44500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3279" y="44500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691526" y="47167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691526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67116" y="47167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Karanganyar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50198" y="47167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Tanggap Darurat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33279" y="47167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30 Okt 2026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691526" y="49834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Oval 102"/>
          <p:cNvSpPr/>
          <p:nvPr/>
        </p:nvSpPr>
        <p:spPr>
          <a:xfrm>
            <a:off x="7691526" y="50298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67116" y="49834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TN Way Kambas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50198" y="49834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33279" y="49834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tercantum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691526" y="52501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8" name="Oval 107"/>
          <p:cNvSpPr/>
          <p:nvPr/>
        </p:nvSpPr>
        <p:spPr>
          <a:xfrm>
            <a:off x="7691526" y="52965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67116" y="52501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Wonosobo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50198" y="52501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33279" y="5250180"/>
            <a:ext cx="11322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31 Des 2026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91526" y="5643880"/>
            <a:ext cx="3824834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PM2.5 Berbahaya tercatat di Pangkalan Bun dan Palangka Raya; Kota Jambi dan Palembang berstatus sama.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Hitungan satelit NASA FIRMS olahan Pantau Bencana, Oktober 2026 (MODIS dan VIIRS); Laporan Kejadian Bencana Harian BNPB dan paparan Kepala BNPB, Oktober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 Berdasarkan laporan harian BNPB, ±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2.099.692 ha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terbakar 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14 provinsi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sejak Januari; Kalimantan Tengah ±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742.664 ha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45467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KALIMANTAN TENGAH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uas-C8102E-12322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20.532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 belum padam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35725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LAPORAN TERAKHIR</a:t>
            </a:r>
          </a:p>
        </p:txBody>
      </p:sp>
      <p:pic>
        <p:nvPicPr>
          <p:cNvPr id="18" name="Picture 17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karhutla-051C2C-195575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karhutla menonjol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peringatan-D9600B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masih dalam penanganan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56640" y="234696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Luas terbakar sejak Januari 2026, titik panas BNPB dan sisa api hari terakhir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230" y="2905760"/>
            <a:ext cx="682374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25777" y="2919730"/>
            <a:ext cx="1085972" cy="182880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TERBAKAR, HA</a:t>
            </a:r>
          </a:p>
        </p:txBody>
      </p:sp>
      <p:pic>
        <p:nvPicPr>
          <p:cNvPr id="38" name="Picture 37" descr="luas-FFFFFF-123220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7217" y="2954477"/>
            <a:ext cx="113386" cy="11338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9013349" y="2919730"/>
            <a:ext cx="129966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TITIK PANAS BNPB</a:t>
            </a:r>
          </a:p>
        </p:txBody>
      </p:sp>
      <p:pic>
        <p:nvPicPr>
          <p:cNvPr id="40" name="Picture 3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789" y="2954477"/>
            <a:ext cx="113386" cy="11338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0414613" y="2919730"/>
            <a:ext cx="100014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SISA API, HA</a:t>
            </a:r>
          </a:p>
        </p:txBody>
      </p:sp>
      <p:pic>
        <p:nvPicPr>
          <p:cNvPr id="42" name="Picture 41" descr="peringatan-FFFFFF-6a80b7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053" y="2954477"/>
            <a:ext cx="113386" cy="113386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675640" y="311658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75640" y="3135630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230" y="3116580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5777" y="3116580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742.664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3349" y="3116580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16.907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14613" y="3116580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20.532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3322139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675640" y="3341189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230" y="3322139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Barat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25777" y="3322139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357.532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3349" y="3322139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2.089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14613" y="3322139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1.487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527697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675640" y="3546747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230" y="3527697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 Selatan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5777" y="3527697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315.344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13349" y="3527697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1.160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14613" y="3527697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842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733256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675640" y="3752306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1230" y="3733256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5777" y="3733256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230.181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13349" y="3733256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1.871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14613" y="3733256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2.628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938814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675640" y="3957864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1230" y="3938814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Timur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25777" y="3938814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141.174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13349" y="3938814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14613" y="3938814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597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4144373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675640" y="4163423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1230" y="4144373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Selatan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5777" y="4144373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119.336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13349" y="4144373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1.200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14613" y="4144373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994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4349931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675640" y="4368981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1230" y="4349931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25777" y="4349931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38.103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13349" y="4349931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587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14613" y="4349931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936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75640" y="455549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675640" y="4574540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1230" y="4555490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Kepulauan Bangka Belitung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5777" y="4555490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35.928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13349" y="4555490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14613" y="4555490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321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75640" y="4761049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675640" y="4780099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1230" y="4761049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 Tenggara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5777" y="4761049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35.345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13349" y="4761049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14613" y="4761049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255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4966607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675640" y="4985657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1230" y="4966607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25777" y="4966607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31.414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13349" y="4966607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14613" y="4966607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75640" y="5172166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Oval 103"/>
          <p:cNvSpPr/>
          <p:nvPr/>
        </p:nvSpPr>
        <p:spPr>
          <a:xfrm>
            <a:off x="675640" y="5191216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1230" y="5172166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Nusa Tenggara Barat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25777" y="5172166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29.051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13349" y="5172166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14613" y="5172166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675640" y="5377724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0" name="Oval 109"/>
          <p:cNvSpPr/>
          <p:nvPr/>
        </p:nvSpPr>
        <p:spPr>
          <a:xfrm>
            <a:off x="675640" y="5396774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1230" y="5377724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 Selatan (Luwu Timur)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25777" y="5377724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18.217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13349" y="5377724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14613" y="5377724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170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75640" y="5583283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6" name="Oval 115"/>
          <p:cNvSpPr/>
          <p:nvPr/>
        </p:nvSpPr>
        <p:spPr>
          <a:xfrm>
            <a:off x="675640" y="5602333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51230" y="5583283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Lampung (Lampung Timur)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25777" y="5583283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2.800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13349" y="5583283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14613" y="5583283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75640" y="5788841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2" name="Oval 121"/>
          <p:cNvSpPr/>
          <p:nvPr/>
        </p:nvSpPr>
        <p:spPr>
          <a:xfrm>
            <a:off x="675640" y="5807891"/>
            <a:ext cx="167459" cy="16745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1230" y="5788841"/>
            <a:ext cx="68237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 (Gunung Arjuno)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825777" y="5788841"/>
            <a:ext cx="1085972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2.603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13349" y="5788841"/>
            <a:ext cx="1299665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14613" y="5788841"/>
            <a:ext cx="1000147" cy="2055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Laporan Kejadian Bencana Harian BNPB, Oktober 2026 (luas indikatif, belum diverifikasi Kementerian Kehutanan)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30 helikopter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water bombing dan ±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60.177 personel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darat bekerja di enam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provinsi; asap menahan sebagian penerbangan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69056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UDARA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air-baku-051C2C-271d6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1.135.000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liter water bombing per hari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rhutla-051C2C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helikopter water bombing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131898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1A1A1A"/>
                </a:solidFill>
                <a:latin typeface="Roboto"/>
              </a:rPr>
              <a:t>MODIFIKASI CUACA</a:t>
            </a:r>
          </a:p>
        </p:txBody>
      </p:sp>
      <p:pic>
        <p:nvPicPr>
          <p:cNvPr id="23" name="Picture 22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sorti per hari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051C2C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6.800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kg bahan semai per hari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HASIL MODIFIKASI CUACA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Hujan tercatat setelah OMC di tiga provinsi Kalimantan.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Hujan tercatat di empat lokasi, termasuk Palembang dan Ogan Ilir.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peringatan-FFFFFF-6a80b7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Kendala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Api gambut dan sumber air terbatas memperlambat pemadaman darat.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5547360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554736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554736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5547360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jiwa-FFFFFF-9b7037f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478536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Personel darat per provinsi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317601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Personel darat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pertengahan Oktober 2026</a:t>
            </a:r>
          </a:p>
        </p:txBody>
      </p:sp>
      <p:sp>
        <p:nvSpPr>
          <p:cNvPr id="58" name="Round Same Side Corner Rectangle 57"/>
          <p:cNvSpPr/>
          <p:nvPr/>
        </p:nvSpPr>
        <p:spPr>
          <a:xfrm>
            <a:off x="843263" y="3274060"/>
            <a:ext cx="546981" cy="14808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5640" y="3121660"/>
            <a:ext cx="882227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14.837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5640" y="4780280"/>
            <a:ext cx="8822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Riau</a:t>
            </a:r>
          </a:p>
        </p:txBody>
      </p:sp>
      <p:sp>
        <p:nvSpPr>
          <p:cNvPr id="61" name="Round Same Side Corner Rectangle 60"/>
          <p:cNvSpPr/>
          <p:nvPr/>
        </p:nvSpPr>
        <p:spPr>
          <a:xfrm>
            <a:off x="1725490" y="3311886"/>
            <a:ext cx="546981" cy="144299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57867" y="3159486"/>
            <a:ext cx="882227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14.458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7867" y="4780280"/>
            <a:ext cx="8822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Kalbar</a:t>
            </a:r>
          </a:p>
        </p:txBody>
      </p:sp>
      <p:sp>
        <p:nvSpPr>
          <p:cNvPr id="64" name="Round Same Side Corner Rectangle 63"/>
          <p:cNvSpPr/>
          <p:nvPr/>
        </p:nvSpPr>
        <p:spPr>
          <a:xfrm>
            <a:off x="2607716" y="3528765"/>
            <a:ext cx="546981" cy="122611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40093" y="3376365"/>
            <a:ext cx="882227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12.285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40093" y="4780280"/>
            <a:ext cx="8822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Sumsel</a:t>
            </a:r>
          </a:p>
        </p:txBody>
      </p:sp>
      <p:sp>
        <p:nvSpPr>
          <p:cNvPr id="67" name="Round Same Side Corner Rectangle 66"/>
          <p:cNvSpPr/>
          <p:nvPr/>
        </p:nvSpPr>
        <p:spPr>
          <a:xfrm>
            <a:off x="3489943" y="3963719"/>
            <a:ext cx="546981" cy="79116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22320" y="3811319"/>
            <a:ext cx="882227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7.927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22320" y="4780280"/>
            <a:ext cx="8822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Kalsel</a:t>
            </a:r>
          </a:p>
        </p:txBody>
      </p:sp>
      <p:sp>
        <p:nvSpPr>
          <p:cNvPr id="70" name="Round Same Side Corner Rectangle 69"/>
          <p:cNvSpPr/>
          <p:nvPr/>
        </p:nvSpPr>
        <p:spPr>
          <a:xfrm>
            <a:off x="4372170" y="4157642"/>
            <a:ext cx="546981" cy="59723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4547" y="4005242"/>
            <a:ext cx="882227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5.984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4547" y="4780280"/>
            <a:ext cx="8822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Jambi</a:t>
            </a:r>
          </a:p>
        </p:txBody>
      </p:sp>
      <p:sp>
        <p:nvSpPr>
          <p:cNvPr id="73" name="Round Same Side Corner Rectangle 72"/>
          <p:cNvSpPr/>
          <p:nvPr/>
        </p:nvSpPr>
        <p:spPr>
          <a:xfrm>
            <a:off x="5254396" y="4287190"/>
            <a:ext cx="546981" cy="467690"/>
          </a:xfrm>
          <a:prstGeom prst="round2SameRect">
            <a:avLst>
              <a:gd name="adj1" fmla="val 25729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86773" y="4134790"/>
            <a:ext cx="882227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4.686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86773" y="4780280"/>
            <a:ext cx="882227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Kalteng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54880"/>
            <a:ext cx="5293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77" name="Rounded Rectangle 76"/>
          <p:cNvSpPr/>
          <p:nvPr/>
        </p:nvSpPr>
        <p:spPr>
          <a:xfrm>
            <a:off x="6233160" y="2346960"/>
            <a:ext cx="5410200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233160" y="2346960"/>
            <a:ext cx="54102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33160" y="2575560"/>
            <a:ext cx="54102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233160" y="2346960"/>
            <a:ext cx="5410200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6016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2" name="Picture 81" descr="kapasitas-FFFFFF-22e801b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7310" y="2486660"/>
            <a:ext cx="177800" cy="1778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741160" y="2346960"/>
            <a:ext cx="46482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Aset udara per provinsi dan hambatan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0160" y="2905760"/>
            <a:ext cx="288760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298564" y="291973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HELI</a:t>
            </a:r>
          </a:p>
        </p:txBody>
      </p:sp>
      <p:pic>
        <p:nvPicPr>
          <p:cNvPr id="86" name="Picture 85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004" y="2954477"/>
            <a:ext cx="113386" cy="113386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10131684" y="2919730"/>
            <a:ext cx="128307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PATROLI DAN OMC</a:t>
            </a:r>
          </a:p>
        </p:txBody>
      </p:sp>
      <p:pic>
        <p:nvPicPr>
          <p:cNvPr id="88" name="Picture 87" descr="wilayah-FFFFFF-37dca10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3124" y="2954477"/>
            <a:ext cx="113386" cy="113386"/>
          </a:xfrm>
          <a:prstGeom prst="rect">
            <a:avLst/>
          </a:prstGeom>
        </p:spPr>
      </p:pic>
      <p:cxnSp>
        <p:nvCxnSpPr>
          <p:cNvPr id="89" name="Connector 88"/>
          <p:cNvCxnSpPr/>
          <p:nvPr/>
        </p:nvCxnSpPr>
        <p:spPr>
          <a:xfrm>
            <a:off x="6360160" y="3116580"/>
            <a:ext cx="515620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6360160" y="3116580"/>
            <a:ext cx="2887604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98564" y="3116580"/>
            <a:ext cx="73152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31684" y="3116580"/>
            <a:ext cx="1283076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360160" y="3323759"/>
            <a:ext cx="51562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6360160" y="3323759"/>
            <a:ext cx="2887604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Barat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98564" y="3323759"/>
            <a:ext cx="73152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31684" y="3323759"/>
            <a:ext cx="1283076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360160" y="3530939"/>
            <a:ext cx="51562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6360160" y="3530939"/>
            <a:ext cx="2887604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98564" y="3530939"/>
            <a:ext cx="73152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31684" y="3530939"/>
            <a:ext cx="1283076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360160" y="3738118"/>
            <a:ext cx="51562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6360160" y="3738118"/>
            <a:ext cx="2887604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Selatan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98564" y="3738118"/>
            <a:ext cx="73152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31684" y="3738118"/>
            <a:ext cx="1283076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360160" y="3945297"/>
            <a:ext cx="51562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6360160" y="3945297"/>
            <a:ext cx="2887604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298564" y="3945297"/>
            <a:ext cx="73152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31684" y="3945297"/>
            <a:ext cx="1283076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6360160" y="4152477"/>
            <a:ext cx="51562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0" name="TextBox 109"/>
          <p:cNvSpPr txBox="1"/>
          <p:nvPr/>
        </p:nvSpPr>
        <p:spPr>
          <a:xfrm>
            <a:off x="6360160" y="4152477"/>
            <a:ext cx="2887604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298564" y="4152477"/>
            <a:ext cx="73152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31684" y="4152477"/>
            <a:ext cx="1283076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60160" y="4486656"/>
            <a:ext cx="5156200" cy="547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Helikopter di Kalimantan Selatan dan Kalimantan Barat pernah tidak terbang karena jarak pandang.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Pemadaman satu hari mencapai ±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454 ha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dari target ±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1.024 ha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Alat tambahan: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21 drone pemadam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75 pompa Alkon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di Kalimantan Tengah;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20 ekskavator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di Sumatera Selatan.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Paparan Kepala BNPB, Oktober 2026; Infografis Data Karhutla 2026, Badan Komunikasi Pemerintah 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D1. Australia menawarkan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 aset udara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tenaga ahli kebakaran; koordinasi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berjalan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 tahap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sejak September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12378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TAWARAN 2026</a:t>
            </a:r>
          </a:p>
        </p:txBody>
      </p:sp>
      <p:pic>
        <p:nvPicPr>
          <p:cNvPr id="10" name="Picture 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Citation pemantau udara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rhutla-D9600B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4.200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liter belly tank Bell 412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97102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KOORDINASI</a:t>
            </a:r>
          </a:p>
        </p:txBody>
      </p:sp>
      <p:pic>
        <p:nvPicPr>
          <p:cNvPr id="23" name="Picture 22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lender-051C2C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sejak nota diplomatik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rhutla-051C2C-195575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pesawat Australia di karhutla 2015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KEBUTUHAN OPERASI INDONESIA YANG BELUM TERPENUHI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wilayah-FFFFFF-37dca1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Pemantauan udara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Citation memetakan api aktif dan sisa api dari udara, melengkapi titik panas satelit.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Informasi situasi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Peta api dan sisa api dikirim ke posko provinsi setiap hari.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Keahlian teknis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Manajemen insiden NSW RFS untuk komando gabungan darat dan udara.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Tawaran Australia 2026, dukungan 2015, dan aset udara nasional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13971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PIHAK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23542" y="2905760"/>
            <a:ext cx="13971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ASET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71443" y="2905760"/>
            <a:ext cx="13971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FUNGSI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9345" y="2905760"/>
            <a:ext cx="13971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67246" y="291973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pic>
        <p:nvPicPr>
          <p:cNvPr id="62" name="Picture 61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8686" y="2954477"/>
            <a:ext cx="113386" cy="113386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11658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23542" y="311658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Cessna Citation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71443" y="311658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Pemantauan udara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19345" y="311658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Sensor dan peta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7246" y="3116580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335629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335629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23542" y="335629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King Air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71443" y="335629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Pesawat pendukung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19345" y="335629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Fungsi misi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7246" y="3356292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359600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359600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23542" y="359600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Bell 412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71443" y="359600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Water bombing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19345" y="359600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Pangkalan dan air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7246" y="3596005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38357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75640" y="3835717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23542" y="3835717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Tenaga ahli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71443" y="3835717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Penasihat insiden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19345" y="3835717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Jumlah, lingkup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67246" y="3835717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07543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675640" y="407543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Australia 2015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23542" y="407543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L-100 Hercules "Thor"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71443" y="407543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Pesawat pemadam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19345" y="4075430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Pernah beroperasi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67246" y="4075430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75640" y="431514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675640" y="431514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Australia 2015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23542" y="431514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Turbo Commander "Birddog"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71443" y="431514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Pesawat pemandu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19345" y="4315142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Pernah beroperasi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67246" y="4315142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5640" y="455485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675640" y="455485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Indonesia 2026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23542" y="455485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Helikopter nasional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71443" y="455485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Water bombing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9345" y="4554855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beroperasi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67246" y="4554855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30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5640" y="479456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675640" y="4794568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Indonesia 2026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23542" y="4794568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Pesawat nasional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71443" y="4794568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Patroli dan OMC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19345" y="4794568"/>
            <a:ext cx="1397102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beroperasi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67246" y="4794568"/>
            <a:ext cx="731520" cy="2397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6" name="Picture 115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Kronologi koordinasi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91526" y="2905760"/>
            <a:ext cx="18616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TANGGAL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03943" y="2905760"/>
            <a:ext cx="18616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PERISTIWA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1" name="TextBox 120"/>
          <p:cNvSpPr txBox="1"/>
          <p:nvPr/>
        </p:nvSpPr>
        <p:spPr>
          <a:xfrm>
            <a:off x="7691526" y="3116580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 Sep 2026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03943" y="3116580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Nota Diplomatik Kedubes Australia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691526" y="3287183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4" name="TextBox 123"/>
          <p:cNvSpPr txBox="1"/>
          <p:nvPr/>
        </p:nvSpPr>
        <p:spPr>
          <a:xfrm>
            <a:off x="7691526" y="3287183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 Sep 2026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03943" y="3287183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Surat Kementerian Luar Negeri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691526" y="345778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7" name="TextBox 126"/>
          <p:cNvSpPr txBox="1"/>
          <p:nvPr/>
        </p:nvSpPr>
        <p:spPr>
          <a:xfrm>
            <a:off x="7691526" y="3457787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14 Okt 2026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03943" y="3457787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Menko Polkam dan Mendagri Australia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691526" y="362839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0" name="TextBox 129"/>
          <p:cNvSpPr txBox="1"/>
          <p:nvPr/>
        </p:nvSpPr>
        <p:spPr>
          <a:xfrm>
            <a:off x="7691526" y="3628390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22 Okt 2026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03943" y="3628390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Ministerial Council Law and Security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7691526" y="3798993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3" name="TextBox 132"/>
          <p:cNvSpPr txBox="1"/>
          <p:nvPr/>
        </p:nvSpPr>
        <p:spPr>
          <a:xfrm>
            <a:off x="7691526" y="3798993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23 Okt 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603943" y="3798993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Tawaran tenaga ahli kebakaran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7691526" y="396959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6" name="TextBox 135"/>
          <p:cNvSpPr txBox="1"/>
          <p:nvPr/>
        </p:nvSpPr>
        <p:spPr>
          <a:xfrm>
            <a:off x="7691526" y="3969597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26 Okt 2026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603943" y="3969597"/>
            <a:ext cx="1861617" cy="17060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Pertemuan dengan Dubes Australia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691526" y="4267200"/>
            <a:ext cx="3824834" cy="767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Delegasi Australia: Dubes Rod Brazier dan Minister Counsellor Tim Stapleton bersama tiga spesialis NSW RFS.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Bell 412 membawa sekitar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4.200 liter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per sorti; helikopter nasional menyalurkan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1.135.000 liter per hari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Tenaga ahli ditawarkan sebagai tambahan atas tawaran pesawat sebelumnya.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Nota Diplomatik Kedubes Australia; surat Kementerian Luar Negeri; butir wicara dan paparan Kepala BNPB, Oktober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D2. Empat jenis pesawat angkut RAAF untuk misi HADR berjumlah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36 pesawat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;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KC-30A menjangkau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14.800 km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26067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ANGKUTAN BERAT</a:t>
            </a:r>
          </a:p>
        </p:txBody>
      </p:sp>
      <p:pic>
        <p:nvPicPr>
          <p:cNvPr id="10" name="Picture 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051C2C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ton muatan maksimum C-17A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unit C-17A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98293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JARAK JAUH</a:t>
            </a:r>
          </a:p>
        </p:txBody>
      </p:sp>
      <p:pic>
        <p:nvPicPr>
          <p:cNvPr id="23" name="Picture 22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pengungsi-051C2C-65a2f7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penumpang KC-30A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unit C-130J taktis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SYARAT PENGERAHAN ASET UDARA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eringatan-FFFFFF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Asap dan jarak pandang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Jendela terbang mengikuti jarak pandang di lokasi kebakaran.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Pangkalan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Landasan dan sumber air ditetapkan bersama sebelum terbang.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Bahan bakar dan pemeliharaan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Avtur dan suku cadang disiapkan sebelum aset tiba.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7322515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732251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732251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7322515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656051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Spesifikasi empat pesawat angkut RAAF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368523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BESARAN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11675" y="291973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C-17A</a:t>
            </a:r>
          </a:p>
        </p:txBody>
      </p:sp>
      <p:pic>
        <p:nvPicPr>
          <p:cNvPr id="59" name="Picture 58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115" y="2954477"/>
            <a:ext cx="113386" cy="113386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5244795" y="291973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C-130J</a:t>
            </a:r>
          </a:p>
        </p:txBody>
      </p:sp>
      <p:pic>
        <p:nvPicPr>
          <p:cNvPr id="61" name="Picture 60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235" y="2954477"/>
            <a:ext cx="113386" cy="113386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6077915" y="291973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C-27J</a:t>
            </a:r>
          </a:p>
        </p:txBody>
      </p:sp>
      <p:pic>
        <p:nvPicPr>
          <p:cNvPr id="63" name="Picture 62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355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911035" y="2919730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KC-30A</a:t>
            </a:r>
          </a:p>
        </p:txBody>
      </p:sp>
      <p:pic>
        <p:nvPicPr>
          <p:cNvPr id="65" name="Picture 6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75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675640" y="3116580"/>
            <a:ext cx="706851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675640" y="31165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Unit dalam armada RAAF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11675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44795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77915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11035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3383280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33832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Muatan maksimum, kg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11675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70.000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44795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19.500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77915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5.000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11035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34.000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75640" y="3649980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TextBox 78"/>
          <p:cNvSpPr txBox="1"/>
          <p:nvPr/>
        </p:nvSpPr>
        <p:spPr>
          <a:xfrm>
            <a:off x="675640" y="36499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Penumpang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11675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44795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77915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11035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3916680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39166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Tandu pasien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11675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44795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77915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11035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4183380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675640" y="41833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Jangkauan, km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11675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4.445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44795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5.100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77915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1.700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11035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14.800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75640" y="4450080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675640" y="44500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Kecepatan jelajah, km/jam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11675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829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44795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575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77915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670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11035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75640" y="4716780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675640" y="4716780"/>
            <a:ext cx="368523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Ketinggian terbang maksimum, kaki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11675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45.000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44795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40.000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77915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30.000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11035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41.000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008315" y="2346960"/>
            <a:ext cx="3635045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8008315" y="2346960"/>
            <a:ext cx="363504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008315" y="2575560"/>
            <a:ext cx="363504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008315" y="2346960"/>
            <a:ext cx="3635045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135315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Picture 112" descr="pengungsi-FFFFFF-65a2f7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2465" y="2486660"/>
            <a:ext cx="177800" cy="1778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8516315" y="2346960"/>
            <a:ext cx="287304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Peran di Indonesia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35315" y="2905760"/>
            <a:ext cx="16397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PESAWAT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25838" y="2905760"/>
            <a:ext cx="16397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YANG DIISI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135315" y="3116580"/>
            <a:ext cx="338104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8" name="TextBox 117"/>
          <p:cNvSpPr txBox="1"/>
          <p:nvPr/>
        </p:nvSpPr>
        <p:spPr>
          <a:xfrm>
            <a:off x="8135315" y="31165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C-17A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25838" y="31165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Heli dan alat berat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8135315" y="3383280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1" name="TextBox 120"/>
          <p:cNvSpPr txBox="1"/>
          <p:nvPr/>
        </p:nvSpPr>
        <p:spPr>
          <a:xfrm>
            <a:off x="8135315" y="33832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C-130J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825838" y="33832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Logistik landasan tanah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8135315" y="3649980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4" name="TextBox 123"/>
          <p:cNvSpPr txBox="1"/>
          <p:nvPr/>
        </p:nvSpPr>
        <p:spPr>
          <a:xfrm>
            <a:off x="8135315" y="36499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C-27J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25838" y="36499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Bandara perintis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135315" y="3916680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7" name="TextBox 126"/>
          <p:cNvSpPr txBox="1"/>
          <p:nvPr/>
        </p:nvSpPr>
        <p:spPr>
          <a:xfrm>
            <a:off x="8135315" y="39166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KC-30A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825838" y="3916680"/>
            <a:ext cx="163972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Personel jarak jauh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135315" y="4310380"/>
            <a:ext cx="3381045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Gempa bumi NTT: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27.563 jiwa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masih mengungsi dan menunggu huntara.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Kalimantan Tengah: ±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20.532 ha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api belum padam, jauh dari bandara besar.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Pangkalan dan avtur ditetapkan bersama sebelum pesawat tiba.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ADF Capabilities, Air Mobility Group; butir wicara Kepala BNPB, Oktober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Enam tindak lanjut pertemuan, dimulai dari lingkup tenaga ahli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spesifikasi aset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7261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02088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67661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T-1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Pastikan lingkup tenaga ahli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911562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42931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911562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Tenaga ahli sebagai tambahan atas tawaran pesawat: jumlah, kompetensi, ruang lingkup tugas, dan durasi penugasan.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0742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2111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58733" y="1916642"/>
            <a:ext cx="20630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Kepala Biro Hukum, Organisasi, dan Kerja Sama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1948011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29658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53682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infrastruktur-FFFFFF-ba1c96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612771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48729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T-2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Konfirmasi spesifikasi tiap aset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72224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753614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661327" y="272224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29658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Spesifikasi dan kesiapan pengerahan tiap pesawat dan helikopter, termasuk kebutuhan logistiknya.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511425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542794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758733" y="2727325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758694"/>
            <a:ext cx="102362" cy="10236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310726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548640" y="334750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3423454"/>
            <a:ext cx="178308" cy="1783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3140" y="329797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T-3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Sepakati skema operasional bantuan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140" y="3532928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0" name="Picture 3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564297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661327" y="353292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9898" y="310726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Mobilisasi dan pangkalan aset ditetapkan bersama. Komando dan kendali tetap di otoritas Indonesia; pembiayaan operasional disepakati.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58733" y="3430058"/>
            <a:ext cx="95064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Sekretaris Utama</a:t>
            </a:r>
          </a:p>
        </p:txBody>
      </p:sp>
      <p:pic>
        <p:nvPicPr>
          <p:cNvPr id="44" name="Picture 4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461427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760175" y="3430058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46" name="Picture 4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725" y="3461427"/>
            <a:ext cx="102362" cy="102362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548640" y="41581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4234138"/>
            <a:ext cx="178308" cy="1783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3140" y="410866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T-4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Nilai kebutuhan aktual bersama unit teknis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140" y="4343612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2" name="Picture 5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374981"/>
            <a:ext cx="102362" cy="1023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661327" y="4343612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9898" y="391795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Kebutuhan pemantauan udara dan keahlian teknis yang belum terpenuhi aset nasional dinilai bersama unit teknis.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8733" y="4240742"/>
            <a:ext cx="15696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Sistem dan Strategi</a:t>
            </a:r>
          </a:p>
        </p:txBody>
      </p:sp>
      <p:pic>
        <p:nvPicPr>
          <p:cNvPr id="56" name="Picture 5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272111"/>
            <a:ext cx="102362" cy="10236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379181" y="4240742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58" name="Picture 5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731" y="4272111"/>
            <a:ext cx="102362" cy="10236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977002" y="4240742"/>
            <a:ext cx="50181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BRIN</a:t>
            </a:r>
          </a:p>
        </p:txBody>
      </p:sp>
      <p:pic>
        <p:nvPicPr>
          <p:cNvPr id="60" name="Picture 5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9552" y="4272111"/>
            <a:ext cx="102362" cy="102362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548640" y="472863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548640" y="496887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044821"/>
            <a:ext cx="178308" cy="1783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93140" y="491934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T-5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Pertukaran pengalaman NSW RFS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3140" y="515429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6" name="Picture 6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185664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1785350" y="515429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9898" y="472863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Manajemen insiden dan integrasi pemadaman darat dan udara.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8733" y="5051425"/>
            <a:ext cx="130195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Pencegahan</a:t>
            </a:r>
          </a:p>
        </p:txBody>
      </p:sp>
      <p:pic>
        <p:nvPicPr>
          <p:cNvPr id="70" name="Picture 6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082794"/>
            <a:ext cx="102362" cy="102362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8758733" y="5267325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2" name="Picture 7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298694"/>
            <a:ext cx="102362" cy="102362"/>
          </a:xfrm>
          <a:prstGeom prst="rect">
            <a:avLst/>
          </a:prstGeom>
        </p:spPr>
      </p:pic>
      <p:cxnSp>
        <p:nvCxnSpPr>
          <p:cNvPr id="73" name="Connector 72"/>
          <p:cNvCxnSpPr/>
          <p:nvPr/>
        </p:nvCxnSpPr>
        <p:spPr>
          <a:xfrm>
            <a:off x="548640" y="553931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548640" y="577955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5855504"/>
            <a:ext cx="178308" cy="178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93140" y="573002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T-6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Riset dan teknologi bersama BMKG dan BRIN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3140" y="596497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8" name="Picture 7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996347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785350" y="596497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9898" y="553931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Pertukaran informasi tentang modifikasi cuaca dan inovasi penanganan karhutla.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8733" y="5862108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BMKG</a:t>
            </a:r>
          </a:p>
        </p:txBody>
      </p:sp>
      <p:pic>
        <p:nvPicPr>
          <p:cNvPr id="82" name="Picture 8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893477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9356554" y="5862108"/>
            <a:ext cx="50181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BRIN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104" y="5893477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aran-australia-penutup-foto-pemad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DenY Krisbiyantoro,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Pertemuan Kepala BNPB dengan Duta Besar Australia dan NSW Rural Fire Service, Senin, 26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Kepala BNPB dengan Duta Besar Australia dan NSW Rural Fire Service</dc:title>
  <dc:subject>Kondisi Bencana dan Karhutla 2026, Upaya Penanganan, dan Tindak Lanjut Tawaran Dukungan Australia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Australia; NSW Rural Fire Service; karhutla; bantuan internasional; HADR</cp:keywords>
  <dc:language>id-ID</dc:language>
  <cp:category>Kajian</cp:category>
  <dc:description>Karhutla 2026 jauh di atas tahun pembanding dan aset nasional sudah dikerahkan; tawaran Australia diarahkan ke pemantauan udara, informasi situasi, dan keahlian teknis dengan skema operasional yang disepakati.</dc:description>
</cp:coreProperties>
</file>