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3.png"/><Relationship Id="rId12" Type="http://schemas.openxmlformats.org/officeDocument/2006/relationships/image" Target="../media/image12.png"/><Relationship Id="rId13" Type="http://schemas.openxmlformats.org/officeDocument/2006/relationships/image" Target="../media/image11.png"/><Relationship Id="rId14" Type="http://schemas.openxmlformats.org/officeDocument/2006/relationships/image" Target="../media/image17.png"/><Relationship Id="rId1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23.png"/><Relationship Id="rId8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3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4.png"/><Relationship Id="rId14" Type="http://schemas.openxmlformats.org/officeDocument/2006/relationships/image" Target="../media/image12.png"/><Relationship Id="rId15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6.png"/><Relationship Id="rId7" Type="http://schemas.openxmlformats.org/officeDocument/2006/relationships/image" Target="../media/image10.png"/><Relationship Id="rId8" Type="http://schemas.openxmlformats.org/officeDocument/2006/relationships/image" Target="../media/image25.jpg"/><Relationship Id="rId9" Type="http://schemas.openxmlformats.org/officeDocument/2006/relationships/image" Target="../media/image26.jpg"/><Relationship Id="rId10" Type="http://schemas.openxmlformats.org/officeDocument/2006/relationships/image" Target="../media/image27.jpg"/><Relationship Id="rId11" Type="http://schemas.openxmlformats.org/officeDocument/2006/relationships/image" Target="../media/image2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Relationship Id="rId13" Type="http://schemas.openxmlformats.org/officeDocument/2006/relationships/image" Target="../media/image38.jpg"/><Relationship Id="rId14" Type="http://schemas.openxmlformats.org/officeDocument/2006/relationships/image" Target="../media/image39.jpg"/><Relationship Id="rId15" Type="http://schemas.openxmlformats.org/officeDocument/2006/relationships/image" Target="../media/image4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Relationship Id="rId13" Type="http://schemas.openxmlformats.org/officeDocument/2006/relationships/image" Target="../media/image17.png"/><Relationship Id="rId14" Type="http://schemas.openxmlformats.org/officeDocument/2006/relationships/image" Target="../media/image12.png"/><Relationship Id="rId15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50.jpg"/><Relationship Id="rId5" Type="http://schemas.openxmlformats.org/officeDocument/2006/relationships/image" Target="../media/image51.jpg"/><Relationship Id="rId6" Type="http://schemas.openxmlformats.org/officeDocument/2006/relationships/image" Target="../media/image52.jpg"/><Relationship Id="rId7" Type="http://schemas.openxmlformats.org/officeDocument/2006/relationships/image" Target="../media/image53.jpg"/><Relationship Id="rId8" Type="http://schemas.openxmlformats.org/officeDocument/2006/relationships/image" Target="../media/image54.jpg"/><Relationship Id="rId9" Type="http://schemas.openxmlformats.org/officeDocument/2006/relationships/image" Target="../media/image55.jpg"/><Relationship Id="rId10" Type="http://schemas.openxmlformats.org/officeDocument/2006/relationships/image" Target="../media/image56.jpg"/><Relationship Id="rId11" Type="http://schemas.openxmlformats.org/officeDocument/2006/relationships/image" Target="../media/image57.jpg"/><Relationship Id="rId12" Type="http://schemas.openxmlformats.org/officeDocument/2006/relationships/image" Target="../media/image58.jpg"/><Relationship Id="rId13" Type="http://schemas.openxmlformats.org/officeDocument/2006/relationships/image" Target="../media/image59.jpg"/><Relationship Id="rId14" Type="http://schemas.openxmlformats.org/officeDocument/2006/relationships/image" Target="../media/image60.jpg"/><Relationship Id="rId15" Type="http://schemas.openxmlformats.org/officeDocument/2006/relationships/image" Target="../media/image6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62.jp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65.jpg"/><Relationship Id="rId8" Type="http://schemas.openxmlformats.org/officeDocument/2006/relationships/image" Target="../media/image66.jpg"/><Relationship Id="rId9" Type="http://schemas.openxmlformats.org/officeDocument/2006/relationships/image" Target="../media/image67.jpg"/><Relationship Id="rId10" Type="http://schemas.openxmlformats.org/officeDocument/2006/relationships/image" Target="../media/image68.jpg"/><Relationship Id="rId11" Type="http://schemas.openxmlformats.org/officeDocument/2006/relationships/image" Target="../media/image69.jpg"/><Relationship Id="rId12" Type="http://schemas.openxmlformats.org/officeDocument/2006/relationships/image" Target="../media/image70.jpg"/><Relationship Id="rId1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7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7.jpg"/><Relationship Id="rId5" Type="http://schemas.openxmlformats.org/officeDocument/2006/relationships/image" Target="../media/image78.jpg"/><Relationship Id="rId6" Type="http://schemas.openxmlformats.org/officeDocument/2006/relationships/image" Target="../media/image79.jpg"/><Relationship Id="rId7" Type="http://schemas.openxmlformats.org/officeDocument/2006/relationships/image" Target="../media/image80.jpg"/><Relationship Id="rId8" Type="http://schemas.openxmlformats.org/officeDocument/2006/relationships/image" Target="../media/image81.jpg"/><Relationship Id="rId9" Type="http://schemas.openxmlformats.org/officeDocument/2006/relationships/image" Target="../media/image82.jpg"/><Relationship Id="rId10" Type="http://schemas.openxmlformats.org/officeDocument/2006/relationships/image" Target="../media/image83.jpg"/><Relationship Id="rId11" Type="http://schemas.openxmlformats.org/officeDocument/2006/relationships/image" Target="../media/image84.jpg"/><Relationship Id="rId12" Type="http://schemas.openxmlformats.org/officeDocument/2006/relationships/image" Target="../media/image85.jpg"/><Relationship Id="rId13" Type="http://schemas.openxmlformats.org/officeDocument/2006/relationships/image" Target="../media/image86.jpg"/><Relationship Id="rId14" Type="http://schemas.openxmlformats.org/officeDocument/2006/relationships/image" Target="../media/image87.jpg"/><Relationship Id="rId15" Type="http://schemas.openxmlformats.org/officeDocument/2006/relationships/image" Target="../media/image8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9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samp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2819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00200"/>
            <a:ext cx="5669280" cy="15240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Progres Sektor Perumahan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Rehabilitasi dan Rekonstruksi</a:t>
            </a:r>
          </a:p>
          <a:p>
            <a:pPr algn="l">
              <a:lnSpc>
                <a:spcPct val="95000"/>
              </a:lnSpc>
            </a:pPr>
            <a:r>
              <a:rPr sz="2600" b="1" lang="id-ID">
                <a:solidFill>
                  <a:srgbClr val="1A1A1A"/>
                </a:solidFill>
                <a:latin typeface="Roboto"/>
              </a:rPr>
              <a:t>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25800"/>
            <a:ext cx="5669280" cy="511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10" b="0" lang="id-ID">
                <a:solidFill>
                  <a:srgbClr val="2E3440"/>
                </a:solidFill>
                <a:latin typeface="Roboto"/>
              </a:rPr>
              <a:t>Bantuan Stimulan Rumah Rusak dan Hunian Tetap Pascabencana Siklon Senyar di Tiga Provinsi Sumatera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89375"/>
            <a:ext cx="5669280" cy="292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839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232275"/>
            <a:ext cx="512064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4384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D9600B"/>
                </a:solidFill>
                <a:latin typeface="Roboto"/>
              </a:rPr>
              <a:t>Dipresentasikan oleh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38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1" lang="id-ID">
                <a:solidFill>
                  <a:srgbClr val="1A1A1A"/>
                </a:solidFill>
                <a:latin typeface="Roboto"/>
              </a:rPr>
              <a:t>Kedeputian Bidang Rehabilitasi dan Rekonstruksi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675"/>
            <a:ext cx="56692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40" b="0" lang="id-ID">
                <a:solidFill>
                  <a:srgbClr val="2E3440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04960" y="508000"/>
            <a:ext cx="2438400" cy="1053828"/>
          </a:xfrm>
          <a:prstGeom prst="roundRect">
            <a:avLst>
              <a:gd name="adj" fmla="val 964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erakhl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6560" y="609600"/>
            <a:ext cx="2235200" cy="8506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349875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Bantuan stimulan rumah rusak dan hunian tetap pascabencana Sumatera berjalan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di tiga provinsi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337310"/>
            <a:ext cx="257269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STIMULAN RUSAK SEDANG DAN RINGAN</a:t>
            </a:r>
          </a:p>
        </p:txBody>
      </p:sp>
      <p:pic>
        <p:nvPicPr>
          <p:cNvPr id="11" name="Picture 10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39078" y="1337310"/>
            <a:ext cx="1189585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HUNIAN TETAP</a:t>
            </a:r>
          </a:p>
        </p:txBody>
      </p:sp>
      <p:pic>
        <p:nvPicPr>
          <p:cNvPr id="24" name="Picture 23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rumah-051C2C-320df6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kalender-051C2C-a840cf9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2575560"/>
            <a:ext cx="360680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4864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5664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</a:t>
            </a:r>
          </a:p>
        </p:txBody>
      </p:sp>
      <p:sp>
        <p:nvSpPr>
          <p:cNvPr id="44" name="Oval 43"/>
          <p:cNvSpPr/>
          <p:nvPr/>
        </p:nvSpPr>
        <p:spPr>
          <a:xfrm>
            <a:off x="67564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4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5076" y="3219514"/>
            <a:ext cx="211328" cy="21132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2014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Stimulan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35.407 unit rumah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di 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47" name="Oval 46"/>
          <p:cNvSpPr/>
          <p:nvPr/>
        </p:nvSpPr>
        <p:spPr>
          <a:xfrm>
            <a:off x="67564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076" y="4058348"/>
            <a:ext cx="211328" cy="2113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2014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Reviu huntap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30.430 usulan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38.651 usulan huntap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50" name="Oval 49"/>
          <p:cNvSpPr/>
          <p:nvPr/>
        </p:nvSpPr>
        <p:spPr>
          <a:xfrm>
            <a:off x="67564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kalender-FFFFFF-a840cf9e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5076" y="4897183"/>
            <a:ext cx="211328" cy="2113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2014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Usulan lanjutan</a:t>
            </a:r>
          </a:p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26 kabupaten/kota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sedang berproses.</a:t>
            </a:r>
          </a:p>
        </p:txBody>
      </p:sp>
      <p:sp>
        <p:nvSpPr>
          <p:cNvPr id="53" name="Oval 52"/>
          <p:cNvSpPr/>
          <p:nvPr/>
        </p:nvSpPr>
        <p:spPr>
          <a:xfrm>
            <a:off x="67564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53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076" y="5736018"/>
            <a:ext cx="211328" cy="21132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120140" y="5307584"/>
            <a:ext cx="2806700" cy="106819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Rencana transfer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642" b="1" lang="id-ID">
                <a:solidFill>
                  <a:srgbClr val="1A1A1A"/>
                </a:solidFill>
                <a:latin typeface="Roboto"/>
              </a:rPr>
              <a:t>1.751,1</a:t>
            </a:r>
            <a:r>
              <a:rPr sz="1642" b="0" lang="id-ID">
                <a:solidFill>
                  <a:srgbClr val="1A1A1A"/>
                </a:solidFill>
                <a:latin typeface="Roboto"/>
              </a:rPr>
              <a:t> M ke daerah, tahap II–IV akhir Oktober 2026.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9260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9260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600" y="2575560"/>
            <a:ext cx="3606800" cy="228600"/>
          </a:xfrm>
          <a:prstGeom prst="rect">
            <a:avLst/>
          </a:prstGeom>
          <a:solidFill>
            <a:srgbClr val="FBE7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9260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41960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1" name="Picture 60" descr="peringatan-FFFFFF-6a80b716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2178" y="2482088"/>
            <a:ext cx="186944" cy="1869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80060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</a:t>
            </a:r>
          </a:p>
        </p:txBody>
      </p:sp>
      <p:sp>
        <p:nvSpPr>
          <p:cNvPr id="63" name="Oval 62"/>
          <p:cNvSpPr/>
          <p:nvPr/>
        </p:nvSpPr>
        <p:spPr>
          <a:xfrm>
            <a:off x="441960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9036" y="3219514"/>
            <a:ext cx="211328" cy="21132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10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Material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Semen dan besi langka, harga naik.</a:t>
            </a:r>
          </a:p>
        </p:txBody>
      </p:sp>
      <p:sp>
        <p:nvSpPr>
          <p:cNvPr id="66" name="Oval 65"/>
          <p:cNvSpPr/>
          <p:nvPr/>
        </p:nvSpPr>
        <p:spPr>
          <a:xfrm>
            <a:off x="441960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luas-FFFFFF-12322028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9036" y="4058348"/>
            <a:ext cx="211328" cy="21132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86410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Lahan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Status tanah adat dan ulayat belum pasti.</a:t>
            </a:r>
          </a:p>
        </p:txBody>
      </p:sp>
      <p:sp>
        <p:nvSpPr>
          <p:cNvPr id="69" name="Oval 68"/>
          <p:cNvSpPr/>
          <p:nvPr/>
        </p:nvSpPr>
        <p:spPr>
          <a:xfrm>
            <a:off x="441960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79036" y="4897183"/>
            <a:ext cx="211328" cy="21132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6410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Anggaran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ABT DSP rumah rusak berat terlambat cair.</a:t>
            </a:r>
          </a:p>
        </p:txBody>
      </p:sp>
      <p:sp>
        <p:nvSpPr>
          <p:cNvPr id="72" name="Oval 71"/>
          <p:cNvSpPr/>
          <p:nvPr/>
        </p:nvSpPr>
        <p:spPr>
          <a:xfrm>
            <a:off x="441960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data-FFFFFF-608a1e16-t2.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9036" y="5736018"/>
            <a:ext cx="211328" cy="211328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864100" y="543793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Data penerima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Verifikasi dan validasi oleh pemda terlambat.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36560" y="2346960"/>
            <a:ext cx="3606800" cy="4003040"/>
          </a:xfrm>
          <a:prstGeom prst="roundRect">
            <a:avLst>
              <a:gd name="adj" fmla="val 151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036560" y="2346960"/>
            <a:ext cx="3606800" cy="457200"/>
          </a:xfrm>
          <a:prstGeom prst="roundRect">
            <a:avLst>
              <a:gd name="adj" fmla="val 11944"/>
            </a:avLst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36560" y="2575560"/>
            <a:ext cx="3606800" cy="228600"/>
          </a:xfrm>
          <a:prstGeom prst="rect">
            <a:avLst/>
          </a:prstGeom>
          <a:solidFill>
            <a:srgbClr val="DCEB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036560" y="2346960"/>
            <a:ext cx="3606800" cy="4003040"/>
          </a:xfrm>
          <a:prstGeom prst="roundRect">
            <a:avLst>
              <a:gd name="adj" fmla="val 151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16356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lembaga-FFFFFF-f44193c4-t2.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16138" y="2482088"/>
            <a:ext cx="186944" cy="186944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544560" y="2346960"/>
            <a:ext cx="29718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Tindak Lanjut</a:t>
            </a:r>
          </a:p>
        </p:txBody>
      </p:sp>
      <p:sp>
        <p:nvSpPr>
          <p:cNvPr id="82" name="Oval 81"/>
          <p:cNvSpPr/>
          <p:nvPr/>
        </p:nvSpPr>
        <p:spPr>
          <a:xfrm>
            <a:off x="8163560" y="31600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3" name="Picture 82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2996" y="3219514"/>
            <a:ext cx="211328" cy="21132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608060" y="292142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Pasokan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Harga khusus semen dari PT Semen Indonesia.</a:t>
            </a:r>
          </a:p>
        </p:txBody>
      </p:sp>
      <p:sp>
        <p:nvSpPr>
          <p:cNvPr id="85" name="Oval 84"/>
          <p:cNvSpPr/>
          <p:nvPr/>
        </p:nvSpPr>
        <p:spPr>
          <a:xfrm>
            <a:off x="8163560" y="39989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6" name="Picture 85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2996" y="4058348"/>
            <a:ext cx="211328" cy="211328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608060" y="376026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Pencairan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Dipercepat untuk rumah rusak berat.</a:t>
            </a:r>
          </a:p>
        </p:txBody>
      </p:sp>
      <p:sp>
        <p:nvSpPr>
          <p:cNvPr id="88" name="Oval 87"/>
          <p:cNvSpPr/>
          <p:nvPr/>
        </p:nvSpPr>
        <p:spPr>
          <a:xfrm>
            <a:off x="8163560" y="483774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8" descr="lembaga-FFFFFF-f44193c4-t2.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22996" y="4897183"/>
            <a:ext cx="211328" cy="21132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608060" y="4599099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Mekanisme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Hibah RR khusus sektor perumahan.</a:t>
            </a:r>
          </a:p>
        </p:txBody>
      </p:sp>
      <p:sp>
        <p:nvSpPr>
          <p:cNvPr id="91" name="Oval 90"/>
          <p:cNvSpPr/>
          <p:nvPr/>
        </p:nvSpPr>
        <p:spPr>
          <a:xfrm>
            <a:off x="8163560" y="567658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2" name="Picture 91" descr="data-FFFFFF-608a1e16-t2.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22996" y="5736018"/>
            <a:ext cx="211328" cy="2113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608060" y="5437934"/>
            <a:ext cx="2806700" cy="80749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42" b="1" lang="id-ID">
                <a:solidFill>
                  <a:srgbClr val="1A1A1A"/>
                </a:solidFill>
                <a:latin typeface="Roboto"/>
              </a:rPr>
              <a:t>Data</a:t>
            </a:r>
          </a:p>
          <a:p>
            <a:pPr algn="just"/>
            <a:r>
              <a:rPr sz="1642" b="0" lang="id-ID">
                <a:solidFill>
                  <a:srgbClr val="1A1A1A"/>
                </a:solidFill>
                <a:latin typeface="Roboto"/>
              </a:rPr>
              <a:t>Pemda menuntaskan verifikasi penerima bantuan.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bahan RTM Kedeputian Bidang RR BNPB, 27 Oktober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413000"/>
            <a:ext cx="2712720" cy="7620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3600" b="1" lang="id-ID">
                <a:solidFill>
                  <a:srgbClr val="051C2C"/>
                </a:solidFill>
                <a:latin typeface="Roboto"/>
              </a:rPr>
              <a:t>Daftar 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274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05200"/>
            <a:ext cx="271272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lang="id-ID">
                <a:solidFill>
                  <a:srgbClr val="2E3440"/>
                </a:solidFill>
                <a:latin typeface="Roboto"/>
              </a:rPr>
              <a:t>Progres Sektor Perumahan Rehabilitasi dan Rekonstruksi Pascabencana di Wilayah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Dasar Hukum Pelaksanaan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1303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1303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4–5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Dasar hukum pelaksanaan bantuan perumahan pascabencana Sumatera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01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Dasar hukum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si-FFFFFF-e639fe9a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Peraturan yang Menjadi Dasar Pelaksanaan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157460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JENIS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6635" y="1541780"/>
            <a:ext cx="177778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NOMOR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5215" y="1541780"/>
            <a:ext cx="401271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TENTANG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8726" y="1541780"/>
            <a:ext cx="16761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LEMBAGA PENERBIT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5719" y="1541780"/>
            <a:ext cx="126984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CAKUPAN</a:t>
            </a:r>
          </a:p>
        </p:txBody>
      </p:sp>
      <p:sp>
        <p:nvSpPr>
          <p:cNvPr id="28" name="Pita kolom utama"/>
          <p:cNvSpPr/>
          <p:nvPr/>
        </p:nvSpPr>
        <p:spPr>
          <a:xfrm>
            <a:off x="675640" y="1752600"/>
            <a:ext cx="1900995" cy="45085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75640" y="1752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0" name="Oval 29"/>
          <p:cNvSpPr/>
          <p:nvPr/>
        </p:nvSpPr>
        <p:spPr>
          <a:xfrm>
            <a:off x="675640" y="204131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230" y="1752600"/>
            <a:ext cx="157460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6635" y="1752600"/>
            <a:ext cx="1777780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5215" y="1752600"/>
            <a:ext cx="401271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Rencana Rehabilitasi dan Rekonstruksi Pascabencana (R3P)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8726" y="1752600"/>
            <a:ext cx="167619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719" y="1752600"/>
            <a:ext cx="12698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5640" y="250401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7" name="Oval 36"/>
          <p:cNvSpPr/>
          <p:nvPr/>
        </p:nvSpPr>
        <p:spPr>
          <a:xfrm>
            <a:off x="675640" y="279273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1230" y="2504017"/>
            <a:ext cx="157460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Peraturan BNPB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76635" y="2504017"/>
            <a:ext cx="1777780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4 Tahun 2020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05215" y="2504017"/>
            <a:ext cx="401271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Dana Siap Pakai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8726" y="2504017"/>
            <a:ext cx="167619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719" y="2504017"/>
            <a:ext cx="12698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5640" y="32554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4" name="Oval 43"/>
          <p:cNvSpPr/>
          <p:nvPr/>
        </p:nvSpPr>
        <p:spPr>
          <a:xfrm>
            <a:off x="675640" y="354414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1230" y="3255433"/>
            <a:ext cx="157460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Pelaksanaan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6635" y="3255433"/>
            <a:ext cx="1777780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5 Tahun 2024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5215" y="3255433"/>
            <a:ext cx="401271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DSP stimulan perbaikan dan pembangunan kembali rumah rusak akibat bencana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8726" y="3255433"/>
            <a:ext cx="167619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5719" y="3255433"/>
            <a:ext cx="12698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75640" y="400685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675640" y="42955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1230" y="4006850"/>
            <a:ext cx="1574605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Kepala BNPB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6635" y="4006850"/>
            <a:ext cx="1777780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393 Tahun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5215" y="4006850"/>
            <a:ext cx="401271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Bantuan perbaikan dan pembangunan rumah rusak terdampak bencana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68726" y="4006850"/>
            <a:ext cx="167619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Kepala BNPB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5719" y="4006850"/>
            <a:ext cx="12698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Umum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475826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Oval 57"/>
          <p:cNvSpPr/>
          <p:nvPr/>
        </p:nvSpPr>
        <p:spPr>
          <a:xfrm>
            <a:off x="675640" y="50469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1230" y="4758267"/>
            <a:ext cx="157460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Keputusan Mendagri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6635" y="4758267"/>
            <a:ext cx="1777780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300.2.8-168 Tahun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05215" y="4758267"/>
            <a:ext cx="401271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Pedoman teknis bantuan rumah terdampak bencana di tiga provinsi Sumatera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68726" y="4758267"/>
            <a:ext cx="167619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Kementerian Dalam Negeri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5719" y="4758267"/>
            <a:ext cx="12698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5640" y="55096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675640" y="579839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1230" y="5509683"/>
            <a:ext cx="1574605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Petunjuk Teknis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76635" y="5509683"/>
            <a:ext cx="1777780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Nomor 1 Tahun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5215" y="5509683"/>
            <a:ext cx="4012712" cy="75141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Pembangunan rumah rusak berat melalui </a:t>
            </a:r>
            <a:r>
              <a:rPr sz="1204" b="0" i="1" lang="id-ID">
                <a:solidFill>
                  <a:srgbClr val="2E3440"/>
                </a:solidFill>
                <a:latin typeface="Roboto"/>
              </a:rPr>
              <a:t>in situ</a:t>
            </a:r>
            <a:r>
              <a:rPr sz="1204" b="0" lang="id-ID">
                <a:solidFill>
                  <a:srgbClr val="2E3440"/>
                </a:solidFill>
                <a:latin typeface="Roboto"/>
              </a:rPr>
              <a:t> dan relokasi mandiri di tiga provinsi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8726" y="5509683"/>
            <a:ext cx="1676192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BNPB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95719" y="5509683"/>
            <a:ext cx="1269841" cy="75141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4" b="0" lang="id-ID">
                <a:solidFill>
                  <a:srgbClr val="2E3440"/>
                </a:solidFill>
                <a:latin typeface="Roboto"/>
              </a:rPr>
              <a:t>Khusus Sumatera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bahan RTM Kedeputian Bidang RR BNPB, 27 Oktober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Stimulan Rumah Rusak Sedang dan Rusak Ringan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4114800" y="20701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0701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6–12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untuk rumah yang rusak sedang dan ringan mencapai</a:t>
            </a:r>
            <a:br/>
            <a:r>
              <a:rPr sz="2200" b="1" lang="id-ID">
                <a:solidFill>
                  <a:srgbClr val="D9600B"/>
                </a:solidFill>
                <a:latin typeface="Roboto"/>
              </a:rPr>
              <a:t>78,9%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dari dana di rekening masyarakat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6471209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109792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PENYALURAN</a:t>
            </a:r>
          </a:p>
        </p:txBody>
      </p:sp>
      <p:pic>
        <p:nvPicPr>
          <p:cNvPr id="18" name="Picture 1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748,9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ditransfer ke daerah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72766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198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-051C2C-608a1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186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284576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702,4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84576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di rekening masyarakat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87163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96383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rumah-051C2C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2583" y="1758950"/>
            <a:ext cx="177800" cy="177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398973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78,9%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8973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realisasi belanja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6549" y="1282700"/>
            <a:ext cx="4356811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96277" y="1337310"/>
            <a:ext cx="862587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WILAYAH</a:t>
            </a:r>
          </a:p>
        </p:txBody>
      </p:sp>
      <p:pic>
        <p:nvPicPr>
          <p:cNvPr id="36" name="Picture 35" descr="wilayah-FFFFFF-37dca1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7717" y="1372057"/>
            <a:ext cx="113386" cy="11338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7396277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05497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wilayah-051C2C-37dca1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1697" y="175895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908087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8087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penerima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10674" y="1593850"/>
            <a:ext cx="202295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61989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kalender-051C2C-a840cf9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96094" y="1758950"/>
            <a:ext cx="177800" cy="177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022484" y="1630680"/>
            <a:ext cx="140192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22484" y="1896110"/>
            <a:ext cx="140192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tahap lanjut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rumah-FFFFFF-320df645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Rusak Sedang (RS) dan Rusak Ringan (RR) per Provinsi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5640" y="2905760"/>
            <a:ext cx="2332817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59257" y="2905760"/>
            <a:ext cx="99850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 RS DAN RR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59360" y="3116580"/>
            <a:ext cx="83937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00339" y="3116580"/>
            <a:ext cx="6386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0574" y="2905760"/>
            <a:ext cx="692509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59360" y="2905760"/>
            <a:ext cx="157961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10160" y="3103880"/>
            <a:ext cx="147801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1" name="Pita kolom utama"/>
          <p:cNvSpPr/>
          <p:nvPr/>
        </p:nvSpPr>
        <p:spPr>
          <a:xfrm>
            <a:off x="675640" y="3327400"/>
            <a:ext cx="2383617" cy="252537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675640" y="332740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3" name="TextBox 62"/>
          <p:cNvSpPr txBox="1"/>
          <p:nvPr/>
        </p:nvSpPr>
        <p:spPr>
          <a:xfrm>
            <a:off x="675640" y="3327400"/>
            <a:ext cx="2332817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59257" y="3327400"/>
            <a:ext cx="998502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30.661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59360" y="3327400"/>
            <a:ext cx="839379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621,8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00339" y="3327400"/>
            <a:ext cx="638635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494,3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854100" y="3620965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1A1A1A"/>
                </a:solidFill>
                <a:latin typeface="Roboto"/>
              </a:rPr>
              <a:t>79,5%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75640" y="416919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75640" y="4169190"/>
            <a:ext cx="2332817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59257" y="4169190"/>
            <a:ext cx="998502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3.560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59360" y="4169190"/>
            <a:ext cx="839379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61,9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00339" y="4169190"/>
            <a:ext cx="638635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47,1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854100" y="4462755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1A1A1A"/>
                </a:solidFill>
                <a:latin typeface="Roboto"/>
              </a:rPr>
              <a:t>76,1%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75640" y="5010980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675640" y="5010980"/>
            <a:ext cx="2332817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59257" y="5010980"/>
            <a:ext cx="998502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1.186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59360" y="5010980"/>
            <a:ext cx="839379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18,7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00339" y="5010980"/>
            <a:ext cx="638635" cy="841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12,7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54100" y="5304544"/>
            <a:ext cx="665458" cy="254660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113" b="1" lang="id-ID">
                <a:solidFill>
                  <a:srgbClr val="C8102E"/>
                </a:solidFill>
                <a:latin typeface="Roboto"/>
              </a:rPr>
              <a:t>68,1%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75640" y="5903570"/>
            <a:ext cx="5959043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640" y="5903570"/>
            <a:ext cx="225661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59257" y="5903570"/>
            <a:ext cx="998502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35.407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59360" y="5903570"/>
            <a:ext cx="839379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702,4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00339" y="5903570"/>
            <a:ext cx="638635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554,2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peringatan-FFFFFF-6a80b716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78421" y="2482088"/>
            <a:ext cx="186944" cy="1869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Pelaksanaan</a:t>
            </a:r>
          </a:p>
        </p:txBody>
      </p:sp>
      <p:sp>
        <p:nvSpPr>
          <p:cNvPr id="92" name="Oval 91"/>
          <p:cNvSpPr/>
          <p:nvPr/>
        </p:nvSpPr>
        <p:spPr>
          <a:xfrm>
            <a:off x="7025843" y="315055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3" name="Picture 92" descr="kalender-FFFFFF-a840cf9e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5279" y="3209988"/>
            <a:ext cx="211328" cy="211328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470343" y="2974340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Batas usulan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Paling lambat 31 Agustus 2026; pemda melengkapi dokumen sesuai catatan PIC BNPB.</a:t>
            </a:r>
          </a:p>
        </p:txBody>
      </p:sp>
      <p:sp>
        <p:nvSpPr>
          <p:cNvPr id="95" name="Oval 94"/>
          <p:cNvSpPr/>
          <p:nvPr/>
        </p:nvSpPr>
        <p:spPr>
          <a:xfrm>
            <a:off x="7025843" y="407987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regulasi-FFFFFF-e639fe9a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5279" y="4139311"/>
            <a:ext cx="211328" cy="21132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7470343" y="3794125"/>
            <a:ext cx="3944417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Dokumen usulan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SK transisi kedaluwarsa dan NIK/KK berbeda di SK BNBA; kajian kelayakan lahan relokasi mandiri belum ada.</a:t>
            </a:r>
          </a:p>
        </p:txBody>
      </p:sp>
      <p:sp>
        <p:nvSpPr>
          <p:cNvPr id="98" name="Oval 97"/>
          <p:cNvSpPr/>
          <p:nvPr/>
        </p:nvSpPr>
        <p:spPr>
          <a:xfrm>
            <a:off x="7025843" y="500919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9" name="Picture 98" descr="data-FFFFFF-608a1e16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85279" y="5068633"/>
            <a:ext cx="211328" cy="2113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470343" y="4832985"/>
            <a:ext cx="3944417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Pertanggungjawaban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Laporan bulanan, pengembalian kas negara, SK BNBA final, rekening koran.</a:t>
            </a:r>
          </a:p>
        </p:txBody>
      </p:sp>
      <p:sp>
        <p:nvSpPr>
          <p:cNvPr id="101" name="Oval 100"/>
          <p:cNvSpPr/>
          <p:nvPr/>
        </p:nvSpPr>
        <p:spPr>
          <a:xfrm>
            <a:off x="7025843" y="571944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infrastruktur-FFFFFF-ba1c96e7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85279" y="5778881"/>
            <a:ext cx="211328" cy="21132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7470343" y="5652770"/>
            <a:ext cx="3944417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Pelaksanaan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Material langka dan tenaga tukang terbatas.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Rincian penyaluran stimulan rumah rusak sedang dan rusak ringan per tahap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(Rp miliar)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2465070"/>
          </a:xfrm>
          <a:prstGeom prst="roundRect">
            <a:avLst>
              <a:gd name="adj" fmla="val 2215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282700"/>
            <a:ext cx="11094720" cy="2465070"/>
          </a:xfrm>
          <a:prstGeom prst="roundRect">
            <a:avLst>
              <a:gd name="adj" fmla="val 2215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41782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 (RS)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640" y="184150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1928" y="205232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095" y="205232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0072" y="205232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239" y="205232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8216" y="205232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9383" y="205232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1928" y="184150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62728" y="203962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180072" y="184150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REKENING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30872" y="203962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9348216" y="184150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BELANJA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99016" y="203962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6" name="Pita kolom utama"/>
          <p:cNvSpPr/>
          <p:nvPr/>
        </p:nvSpPr>
        <p:spPr>
          <a:xfrm>
            <a:off x="675640" y="2263140"/>
            <a:ext cx="4336288" cy="107823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75640" y="226314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675640" y="226314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1928" y="226314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12.919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3095" y="226314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387,6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80072" y="226314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12.289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239" y="226314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368,6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8216" y="226314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11.190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9383" y="226314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292,7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262255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675640" y="262255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1928" y="262255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1.228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3095" y="262255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36,8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80072" y="262255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1.068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11239" y="262255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32,0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8216" y="262255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79383" y="262255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24,0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5640" y="298196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675640" y="298196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11928" y="298196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3095" y="298196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11,3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80072" y="298196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1239" y="298196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10,3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48216" y="298196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79383" y="298196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7,2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640" y="339217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2640" y="3392170"/>
            <a:ext cx="4209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1928" y="339217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14.522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43095" y="339217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435,7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80072" y="339217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13.700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11239" y="339217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410,9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48216" y="339217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12.346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9383" y="339217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323,9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3884930"/>
            <a:ext cx="11094720" cy="2465070"/>
          </a:xfrm>
          <a:prstGeom prst="roundRect">
            <a:avLst>
              <a:gd name="adj" fmla="val 2215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48640" y="388493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411353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48640" y="3884930"/>
            <a:ext cx="11094720" cy="2465070"/>
          </a:xfrm>
          <a:prstGeom prst="roundRect">
            <a:avLst>
              <a:gd name="adj" fmla="val 2215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5640" y="396748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4020058"/>
            <a:ext cx="186944" cy="186944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56640" y="388493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 (RR)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5640" y="444373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11928" y="465455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43095" y="465455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80072" y="465455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11239" y="465455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48216" y="4654550"/>
            <a:ext cx="102956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79383" y="4654550"/>
            <a:ext cx="93537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11928" y="444373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DAERAH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62728" y="464185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5" name="TextBox 84"/>
          <p:cNvSpPr txBox="1"/>
          <p:nvPr/>
        </p:nvSpPr>
        <p:spPr>
          <a:xfrm>
            <a:off x="7180072" y="444373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KE REKENING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230872" y="464185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7" name="TextBox 86"/>
          <p:cNvSpPr txBox="1"/>
          <p:nvPr/>
        </p:nvSpPr>
        <p:spPr>
          <a:xfrm>
            <a:off x="9348216" y="4443730"/>
            <a:ext cx="20665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BELANJA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9399016" y="4641850"/>
            <a:ext cx="19649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9" name="Pita kolom utama"/>
          <p:cNvSpPr/>
          <p:nvPr/>
        </p:nvSpPr>
        <p:spPr>
          <a:xfrm>
            <a:off x="675640" y="4865370"/>
            <a:ext cx="4336288" cy="107823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675640" y="486537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91" name="TextBox 90"/>
          <p:cNvSpPr txBox="1"/>
          <p:nvPr/>
        </p:nvSpPr>
        <p:spPr>
          <a:xfrm>
            <a:off x="675640" y="486537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11928" y="486537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17.742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43095" y="486537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266,1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80072" y="486537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16.879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11239" y="486537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253,2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48216" y="486537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15.539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79383" y="486537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201,6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75640" y="522478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9" name="TextBox 98"/>
          <p:cNvSpPr txBox="1"/>
          <p:nvPr/>
        </p:nvSpPr>
        <p:spPr>
          <a:xfrm>
            <a:off x="675640" y="522478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11928" y="522478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2.332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43095" y="522478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35,0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80072" y="522478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1.998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11239" y="522478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29,9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48216" y="522478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1.740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479383" y="522478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23,1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675640" y="558419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7" name="TextBox 106"/>
          <p:cNvSpPr txBox="1"/>
          <p:nvPr/>
        </p:nvSpPr>
        <p:spPr>
          <a:xfrm>
            <a:off x="675640" y="5584190"/>
            <a:ext cx="4285488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96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11928" y="558419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43095" y="558419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12,2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80072" y="558419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562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11239" y="558419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8,4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48216" y="5584190"/>
            <a:ext cx="102956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441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479383" y="5584190"/>
            <a:ext cx="935377" cy="3594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96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2640" y="5994400"/>
            <a:ext cx="4209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011928" y="599440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20.885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43095" y="599440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313,3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80072" y="599440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19.439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11239" y="599440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291,6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348216" y="5994400"/>
            <a:ext cx="102956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17.720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79383" y="5994400"/>
            <a:ext cx="93537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230,3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Aceh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79,5%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17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Aceh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6152" y="1541780"/>
            <a:ext cx="57007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7821" y="1752600"/>
            <a:ext cx="80189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1316" y="1752600"/>
            <a:ext cx="90602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8940" y="1752600"/>
            <a:ext cx="6866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7191" y="1541780"/>
            <a:ext cx="759153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7821" y="1541780"/>
            <a:ext cx="259776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78621" y="1739900"/>
            <a:ext cx="249617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Pita kolom utama"/>
          <p:cNvSpPr/>
          <p:nvPr/>
        </p:nvSpPr>
        <p:spPr>
          <a:xfrm>
            <a:off x="675640" y="1963420"/>
            <a:ext cx="3280512" cy="398018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675640" y="1982470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1230" y="1963420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6152" y="1963420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7821" y="1963420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1316" y="1963420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8940" y="1963420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98465" y="1982470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21729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675640" y="2191953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30" y="2172903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56152" y="2172903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7821" y="2172903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1316" y="2172903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8940" y="2172903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31982" y="2191953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22,9%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238238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675640" y="2401436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1230" y="2382386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6152" y="2382386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7821" y="2382386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1316" y="2382386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8940" y="2382386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31982" y="2401436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33,8%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75640" y="259186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675640" y="2610919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1230" y="2591869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56152" y="2591869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5.141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27821" y="2591869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112,2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31316" y="2591869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109,1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38940" y="2591869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87,5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31982" y="2610919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80,2%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5640" y="280135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675640" y="2820403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1230" y="2801353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56152" y="2801353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4.058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27821" y="2801353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1316" y="2801353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8940" y="2801353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65,7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31982" y="2820403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75,8%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75640" y="301083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3" name="Oval 72"/>
          <p:cNvSpPr/>
          <p:nvPr/>
        </p:nvSpPr>
        <p:spPr>
          <a:xfrm>
            <a:off x="675640" y="3029886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1230" y="3010836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Tamiang tahap II SK 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56152" y="3010836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4.400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27821" y="3010836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31316" y="3010836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8940" y="3010836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69,5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31982" y="3029886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74,2%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322031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Oval 80"/>
          <p:cNvSpPr/>
          <p:nvPr/>
        </p:nvSpPr>
        <p:spPr>
          <a:xfrm>
            <a:off x="675640" y="3239369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1230" y="3220319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56152" y="3220319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1.680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27821" y="3220319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31316" y="3220319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38940" y="3220319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431982" y="3239369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75,2%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75640" y="342980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9" name="Oval 88"/>
          <p:cNvSpPr/>
          <p:nvPr/>
        </p:nvSpPr>
        <p:spPr>
          <a:xfrm>
            <a:off x="675640" y="3448852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1230" y="3429802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56152" y="3429802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27821" y="3429802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1316" y="3429802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38940" y="3429802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31982" y="3448852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60,0%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75640" y="363928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7" name="Oval 96"/>
          <p:cNvSpPr/>
          <p:nvPr/>
        </p:nvSpPr>
        <p:spPr>
          <a:xfrm>
            <a:off x="675640" y="3658335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1230" y="3639285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56152" y="3639285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5.318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27821" y="3639285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118,9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31316" y="3639285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114,4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38940" y="3639285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111,8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31982" y="3658335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97,8%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75640" y="384876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5" name="Oval 104"/>
          <p:cNvSpPr/>
          <p:nvPr/>
        </p:nvSpPr>
        <p:spPr>
          <a:xfrm>
            <a:off x="675640" y="3867818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51230" y="3848768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56152" y="3848768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471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27821" y="3848768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31316" y="3848768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38940" y="3848768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7,0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431982" y="3867818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77,5%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75640" y="405825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3" name="Oval 112"/>
          <p:cNvSpPr/>
          <p:nvPr/>
        </p:nvSpPr>
        <p:spPr>
          <a:xfrm>
            <a:off x="675640" y="4077302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1230" y="4058252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56152" y="4058252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27821" y="4058252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531316" y="4058252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38940" y="4058252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31982" y="4077302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85,2%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75640" y="426773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1" name="Oval 120"/>
          <p:cNvSpPr/>
          <p:nvPr/>
        </p:nvSpPr>
        <p:spPr>
          <a:xfrm>
            <a:off x="675640" y="4286785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51230" y="4267735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956152" y="4267735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4.347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627821" y="4267735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31316" y="4267735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38940" y="4267735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79,3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431982" y="4286785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92,2%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75640" y="447721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9" name="Oval 128"/>
          <p:cNvSpPr/>
          <p:nvPr/>
        </p:nvSpPr>
        <p:spPr>
          <a:xfrm>
            <a:off x="675640" y="4496268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51230" y="4477218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956152" y="4477218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627821" y="4477218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531316" y="4477218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38940" y="4477218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398465" y="4496268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675640" y="468670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7" name="Oval 136"/>
          <p:cNvSpPr/>
          <p:nvPr/>
        </p:nvSpPr>
        <p:spPr>
          <a:xfrm>
            <a:off x="675640" y="4705751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51230" y="4686701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56152" y="4686701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1.326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627821" y="4686701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28,1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31316" y="4686701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24,9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538940" y="4686701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9,2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431982" y="4705751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36,8%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675640" y="489618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5" name="Oval 144"/>
          <p:cNvSpPr/>
          <p:nvPr/>
        </p:nvSpPr>
        <p:spPr>
          <a:xfrm>
            <a:off x="675640" y="4915234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51230" y="4896184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956152" y="4896184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1.201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627821" y="4896184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35,7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531316" y="4896184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32,1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538940" y="4896184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16,2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7431982" y="4915234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50,4%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675640" y="510566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3" name="Oval 152"/>
          <p:cNvSpPr/>
          <p:nvPr/>
        </p:nvSpPr>
        <p:spPr>
          <a:xfrm>
            <a:off x="675640" y="5124717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51230" y="5105667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956152" y="5105667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1.112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27821" y="5105667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531316" y="5105667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17,5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538940" y="5105667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11,0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7431982" y="5124717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62,8%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675640" y="531515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1" name="Oval 160"/>
          <p:cNvSpPr/>
          <p:nvPr/>
        </p:nvSpPr>
        <p:spPr>
          <a:xfrm>
            <a:off x="675640" y="5334201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1230" y="5315151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956152" y="5315151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169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27821" y="5315151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531316" y="5315151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8940" y="5315151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7431982" y="5334201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93,1%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675640" y="552463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69" name="Oval 168"/>
          <p:cNvSpPr/>
          <p:nvPr/>
        </p:nvSpPr>
        <p:spPr>
          <a:xfrm>
            <a:off x="675640" y="5543684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51230" y="5524634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56152" y="5524634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27821" y="5524634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531316" y="5524634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538940" y="5524634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431982" y="5543684"/>
            <a:ext cx="549570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90,3%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675640" y="57341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77" name="Oval 176"/>
          <p:cNvSpPr/>
          <p:nvPr/>
        </p:nvSpPr>
        <p:spPr>
          <a:xfrm>
            <a:off x="675640" y="5753167"/>
            <a:ext cx="171383" cy="171383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51230" y="5734117"/>
            <a:ext cx="2954122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956152" y="5734117"/>
            <a:ext cx="570070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282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627821" y="5734117"/>
            <a:ext cx="801895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531316" y="5734117"/>
            <a:ext cx="906024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8940" y="5734117"/>
            <a:ext cx="686651" cy="209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8,0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7398465" y="5753167"/>
            <a:ext cx="616605" cy="171383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51230" y="59944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956152" y="5994400"/>
            <a:ext cx="570070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30.661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27821" y="5994400"/>
            <a:ext cx="80189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653,7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531316" y="5994400"/>
            <a:ext cx="906024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621,8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38940" y="5994400"/>
            <a:ext cx="68665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494,3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5" name="Picture 194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97" name="Oval 196"/>
          <p:cNvSpPr/>
          <p:nvPr/>
        </p:nvSpPr>
        <p:spPr>
          <a:xfrm>
            <a:off x="8579104" y="1884807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8" name="Picture 197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1944243"/>
            <a:ext cx="211328" cy="211328"/>
          </a:xfrm>
          <a:prstGeom prst="rect">
            <a:avLst/>
          </a:prstGeom>
        </p:spPr>
      </p:pic>
      <p:sp>
        <p:nvSpPr>
          <p:cNvPr id="199" name="TextBox 198"/>
          <p:cNvSpPr txBox="1"/>
          <p:nvPr/>
        </p:nvSpPr>
        <p:spPr>
          <a:xfrm>
            <a:off x="9023604" y="1599057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Aceh Singkil, Aceh Tamiang, Aceh Utara, Pidie Jaya.</a:t>
            </a:r>
          </a:p>
        </p:txBody>
      </p:sp>
      <p:sp>
        <p:nvSpPr>
          <p:cNvPr id="200" name="Oval 199"/>
          <p:cNvSpPr/>
          <p:nvPr/>
        </p:nvSpPr>
        <p:spPr>
          <a:xfrm>
            <a:off x="8579104" y="290106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1" name="Picture 200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2960497"/>
            <a:ext cx="211328" cy="211328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9023604" y="2615311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Sepuluh kab/kota, antara lain Aceh Selatan, Aceh Timur, Bireuen, Pidie.</a:t>
            </a:r>
          </a:p>
        </p:txBody>
      </p:sp>
      <p:sp>
        <p:nvSpPr>
          <p:cNvPr id="203" name="Oval 202"/>
          <p:cNvSpPr/>
          <p:nvPr/>
        </p:nvSpPr>
        <p:spPr>
          <a:xfrm>
            <a:off x="8579104" y="38077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4" name="Picture 203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3867214"/>
            <a:ext cx="211328" cy="21132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9023604" y="3631565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Pidie Jaya, sebagai satu-satunya kab/kota.</a:t>
            </a:r>
          </a:p>
        </p:txBody>
      </p:sp>
      <p:sp>
        <p:nvSpPr>
          <p:cNvPr id="206" name="Oval 205"/>
          <p:cNvSpPr/>
          <p:nvPr/>
        </p:nvSpPr>
        <p:spPr>
          <a:xfrm>
            <a:off x="8579104" y="460495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7" name="Picture 206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4664392"/>
            <a:ext cx="211328" cy="211328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9023604" y="442874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Aceh Tamiang (SK 5), Aceh Tengah, Bireuen.</a:t>
            </a:r>
          </a:p>
        </p:txBody>
      </p:sp>
      <p:sp>
        <p:nvSpPr>
          <p:cNvPr id="209" name="Oval 208"/>
          <p:cNvSpPr/>
          <p:nvPr/>
        </p:nvSpPr>
        <p:spPr>
          <a:xfrm>
            <a:off x="8579104" y="5511673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0" name="Picture 209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5571109"/>
            <a:ext cx="211328" cy="211328"/>
          </a:xfrm>
          <a:prstGeom prst="rect">
            <a:avLst/>
          </a:prstGeom>
        </p:spPr>
      </p:pic>
      <p:sp>
        <p:nvSpPr>
          <p:cNvPr id="211" name="TextBox 210"/>
          <p:cNvSpPr txBox="1"/>
          <p:nvPr/>
        </p:nvSpPr>
        <p:spPr>
          <a:xfrm>
            <a:off x="9023604" y="5225923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SK tahap II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Aceh Tamiang SK 2–4, Aceh Timur SK 2 dan 3, Aceh Utara SK 2–5.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Utara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76,1%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14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Utara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6152" y="1541780"/>
            <a:ext cx="51644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4194" y="1752600"/>
            <a:ext cx="8153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1095" y="1752600"/>
            <a:ext cx="9194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2126" y="1752600"/>
            <a:ext cx="70005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3784" y="1541780"/>
            <a:ext cx="77256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4194" y="1541780"/>
            <a:ext cx="26379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24994" y="1739900"/>
            <a:ext cx="253639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Pita kolom utama"/>
          <p:cNvSpPr/>
          <p:nvPr/>
        </p:nvSpPr>
        <p:spPr>
          <a:xfrm>
            <a:off x="675640" y="1963420"/>
            <a:ext cx="3280512" cy="398018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675640" y="201857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1230" y="1963420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Batu Bara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6152" y="1963420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4194" y="1963420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1095" y="1963420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2126" y="1963420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91761" y="2000413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224771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675640" y="230287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30" y="2247719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56152" y="2247719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4194" y="2247719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1095" y="2247719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2126" y="2247719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25279" y="228471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99,1%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253201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675640" y="258717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1230" y="2532017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6152" y="2532017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4194" y="2532017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91095" y="2532017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2126" y="2532017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91761" y="256901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75640" y="281631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675640" y="28714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1230" y="2816316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56152" y="2816316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4194" y="2816316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095" y="2816316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12126" y="2816316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91761" y="285330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5640" y="310061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675640" y="315576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1230" y="3100614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56152" y="3100614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4194" y="3100614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91095" y="3100614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12126" y="3100614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25279" y="313760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21,9%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75640" y="338491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3" name="Oval 72"/>
          <p:cNvSpPr/>
          <p:nvPr/>
        </p:nvSpPr>
        <p:spPr>
          <a:xfrm>
            <a:off x="675640" y="344006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1230" y="3384913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56152" y="3384913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4194" y="3384913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20,0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91095" y="3384913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12126" y="3384913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14,7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25279" y="342190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74,1%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366921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Oval 80"/>
          <p:cNvSpPr/>
          <p:nvPr/>
        </p:nvSpPr>
        <p:spPr>
          <a:xfrm>
            <a:off x="675640" y="37243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1230" y="3669211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56152" y="3669211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4194" y="3669211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3,3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91095" y="3669211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12126" y="3669211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425279" y="370620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20,1%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75640" y="3953510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9" name="Oval 88"/>
          <p:cNvSpPr/>
          <p:nvPr/>
        </p:nvSpPr>
        <p:spPr>
          <a:xfrm>
            <a:off x="675640" y="400866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1230" y="3953510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56152" y="3953510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4194" y="3953510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91095" y="3953510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12126" y="3953510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25279" y="399050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94,5%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75640" y="423780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7" name="Oval 96"/>
          <p:cNvSpPr/>
          <p:nvPr/>
        </p:nvSpPr>
        <p:spPr>
          <a:xfrm>
            <a:off x="675640" y="42929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1230" y="4237809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56152" y="4237809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4194" y="4237809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91095" y="4237809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12126" y="4237809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25279" y="4274802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19,6%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75640" y="452210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5" name="Oval 104"/>
          <p:cNvSpPr/>
          <p:nvPr/>
        </p:nvSpPr>
        <p:spPr>
          <a:xfrm>
            <a:off x="675640" y="457726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51230" y="4522107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56152" y="4522107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574194" y="4522107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91095" y="4522107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12126" y="4522107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91761" y="4559100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75640" y="480640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3" name="Oval 112"/>
          <p:cNvSpPr/>
          <p:nvPr/>
        </p:nvSpPr>
        <p:spPr>
          <a:xfrm>
            <a:off x="675640" y="486156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1230" y="4806406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56152" y="4806406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4194" y="4806406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91095" y="4806406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12126" y="4806406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0,3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391761" y="484339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75640" y="509070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1" name="Oval 120"/>
          <p:cNvSpPr/>
          <p:nvPr/>
        </p:nvSpPr>
        <p:spPr>
          <a:xfrm>
            <a:off x="675640" y="514585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51230" y="5090704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956152" y="5090704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4194" y="5090704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91095" y="5090704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12126" y="5090704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5,3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391761" y="5127698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75640" y="537500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9" name="Oval 128"/>
          <p:cNvSpPr/>
          <p:nvPr/>
        </p:nvSpPr>
        <p:spPr>
          <a:xfrm>
            <a:off x="675640" y="543015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51230" y="5375003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956152" y="5375003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1.591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4194" y="5375003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31,3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91095" y="5375003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25,8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12126" y="5375003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19,7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425279" y="541199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76,4%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675640" y="565930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7" name="Oval 136"/>
          <p:cNvSpPr/>
          <p:nvPr/>
        </p:nvSpPr>
        <p:spPr>
          <a:xfrm>
            <a:off x="675640" y="57144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51230" y="5659301"/>
            <a:ext cx="295412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56152" y="5659301"/>
            <a:ext cx="51644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74194" y="5659301"/>
            <a:ext cx="815302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91095" y="5659301"/>
            <a:ext cx="919431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512126" y="5659301"/>
            <a:ext cx="700057" cy="2842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425279" y="569629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86,3%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30" y="59944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956152" y="5994400"/>
            <a:ext cx="51644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3.560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4194" y="5994400"/>
            <a:ext cx="8153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71,8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91095" y="5994400"/>
            <a:ext cx="91943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61,9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512126" y="5994400"/>
            <a:ext cx="70005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47,1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5" name="Picture 154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57" name="Oval 156"/>
          <p:cNvSpPr/>
          <p:nvPr/>
        </p:nvSpPr>
        <p:spPr>
          <a:xfrm>
            <a:off x="8579104" y="19417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40" y="2001202"/>
            <a:ext cx="211328" cy="21132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9023604" y="1590294"/>
            <a:ext cx="2391156" cy="10331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</a:t>
            </a:r>
          </a:p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587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587" b="1" lang="id-ID">
                <a:solidFill>
                  <a:srgbClr val="1A1A1A"/>
                </a:solidFill>
                <a:latin typeface="Roboto"/>
              </a:rPr>
              <a:t>76,1%</a:t>
            </a:r>
            <a:r>
              <a:rPr sz="1587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160" name="Oval 159"/>
          <p:cNvSpPr/>
          <p:nvPr/>
        </p:nvSpPr>
        <p:spPr>
          <a:xfrm>
            <a:off x="8579104" y="294597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1" name="Picture 160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3005407"/>
            <a:ext cx="211328" cy="211328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9023604" y="2720467"/>
            <a:ext cx="2391156" cy="78120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63" name="Oval 162"/>
          <p:cNvSpPr/>
          <p:nvPr/>
        </p:nvSpPr>
        <p:spPr>
          <a:xfrm>
            <a:off x="8579104" y="395017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4" name="Picture 163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4009612"/>
            <a:ext cx="211328" cy="21132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023604" y="3598704"/>
            <a:ext cx="2391156" cy="10331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Tiga kab/kota: Humbang Hasundutan, Tapanuli Selatan, Tapanuli Utara.</a:t>
            </a:r>
          </a:p>
        </p:txBody>
      </p:sp>
      <p:sp>
        <p:nvSpPr>
          <p:cNvPr id="166" name="Oval 165"/>
          <p:cNvSpPr/>
          <p:nvPr/>
        </p:nvSpPr>
        <p:spPr>
          <a:xfrm>
            <a:off x="8579104" y="4954381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7" name="Picture 166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5013817"/>
            <a:ext cx="211328" cy="211328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9023604" y="4728877"/>
            <a:ext cx="2391156" cy="78120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Belum ada kab/kota.</a:t>
            </a:r>
          </a:p>
        </p:txBody>
      </p:sp>
      <p:sp>
        <p:nvSpPr>
          <p:cNvPr id="169" name="Oval 168"/>
          <p:cNvSpPr/>
          <p:nvPr/>
        </p:nvSpPr>
        <p:spPr>
          <a:xfrm>
            <a:off x="8579104" y="570665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0" name="Picture 169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5766086"/>
            <a:ext cx="211328" cy="211328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9023604" y="5607114"/>
            <a:ext cx="2391156" cy="5292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587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587" b="0" lang="id-ID">
                <a:solidFill>
                  <a:srgbClr val="1A1A1A"/>
                </a:solidFill>
                <a:latin typeface="Roboto"/>
              </a:rPr>
              <a:t>Tapanuli Tengah.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Realisasi belanja stimulan di Sumatera Barat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68,1%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, tersebar di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kabupaten/kota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776630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776630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7766304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700430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Stimulan RS dan RR per Kabupaten/Kota di Sumatera Barat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29541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6152" y="1541780"/>
            <a:ext cx="51644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4194" y="1752600"/>
            <a:ext cx="8153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DAERAH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1095" y="1752600"/>
            <a:ext cx="91943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 REKENING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2126" y="1752600"/>
            <a:ext cx="70005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3784" y="1541780"/>
            <a:ext cx="772560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REALISASI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4194" y="1541780"/>
            <a:ext cx="263799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RP MILIAR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24994" y="1739900"/>
            <a:ext cx="253639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1" name="Pita kolom utama"/>
          <p:cNvSpPr/>
          <p:nvPr/>
        </p:nvSpPr>
        <p:spPr>
          <a:xfrm>
            <a:off x="675640" y="1963420"/>
            <a:ext cx="3280512" cy="398018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75640" y="1963420"/>
            <a:ext cx="7512304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675640" y="205734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1230" y="1963420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6152" y="1963420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4194" y="1963420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1095" y="1963420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2126" y="1963420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25279" y="2039181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232525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675640" y="24191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30" y="2325255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56152" y="2325255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4194" y="2325255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1095" y="2325255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2126" y="2325255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0,9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25279" y="2401016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95,5%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5640" y="2687089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9" name="Oval 48"/>
          <p:cNvSpPr/>
          <p:nvPr/>
        </p:nvSpPr>
        <p:spPr>
          <a:xfrm>
            <a:off x="675640" y="278101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1230" y="2687089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6152" y="2687089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4194" y="2687089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91095" y="2687089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2126" y="2687089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25279" y="2762850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75640" y="3048924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675640" y="314284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1230" y="3048924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56152" y="3048924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4194" y="3048924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91095" y="3048924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12126" y="3048924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25279" y="3124685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97,7%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75640" y="3410758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5" name="Oval 64"/>
          <p:cNvSpPr/>
          <p:nvPr/>
        </p:nvSpPr>
        <p:spPr>
          <a:xfrm>
            <a:off x="675640" y="35046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1230" y="3410758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56152" y="3410758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4194" y="3410758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4,5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91095" y="3410758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12126" y="3410758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391761" y="348651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75640" y="3772593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3" name="Oval 72"/>
          <p:cNvSpPr/>
          <p:nvPr/>
        </p:nvSpPr>
        <p:spPr>
          <a:xfrm>
            <a:off x="675640" y="386651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1230" y="3772593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56152" y="3772593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4194" y="3772593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91095" y="3772593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12126" y="3772593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1,5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425279" y="3848354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98,0%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75640" y="4134427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Oval 80"/>
          <p:cNvSpPr/>
          <p:nvPr/>
        </p:nvSpPr>
        <p:spPr>
          <a:xfrm>
            <a:off x="675640" y="422835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1230" y="4134427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56152" y="4134427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78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4194" y="4134427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91095" y="4134427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12126" y="4134427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1,6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391761" y="4210189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75640" y="4496262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9" name="Oval 88"/>
          <p:cNvSpPr/>
          <p:nvPr/>
        </p:nvSpPr>
        <p:spPr>
          <a:xfrm>
            <a:off x="675640" y="45901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1230" y="4496262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56152" y="4496262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4194" y="4496262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91095" y="4496262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12126" y="4496262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2,6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25279" y="4572023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92,1%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75640" y="4858096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7" name="Oval 96"/>
          <p:cNvSpPr/>
          <p:nvPr/>
        </p:nvSpPr>
        <p:spPr>
          <a:xfrm>
            <a:off x="675640" y="49520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1230" y="4858096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56152" y="4858096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4194" y="4858096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91095" y="4858096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5,7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12126" y="4858096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1,2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25279" y="4933858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20,4%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75640" y="5219931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5" name="Oval 104"/>
          <p:cNvSpPr/>
          <p:nvPr/>
        </p:nvSpPr>
        <p:spPr>
          <a:xfrm>
            <a:off x="675640" y="531385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51230" y="5219931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56152" y="5219931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574194" y="5219931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91095" y="5219931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12126" y="5219931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0,1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91761" y="5295692"/>
            <a:ext cx="616605" cy="21031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100,0%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75640" y="5581765"/>
            <a:ext cx="751230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3" name="Oval 112"/>
          <p:cNvSpPr/>
          <p:nvPr/>
        </p:nvSpPr>
        <p:spPr>
          <a:xfrm>
            <a:off x="675640" y="567568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1230" y="5581765"/>
            <a:ext cx="295412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56152" y="5581765"/>
            <a:ext cx="51644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4194" y="5581765"/>
            <a:ext cx="815302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91095" y="5581765"/>
            <a:ext cx="919431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2,4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12126" y="5581765"/>
            <a:ext cx="700057" cy="36183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1A1A1A"/>
                </a:solidFill>
                <a:latin typeface="Roboto"/>
              </a:rPr>
              <a:t>1,7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25279" y="5657527"/>
            <a:ext cx="549570" cy="21031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919" b="1" lang="id-ID">
                <a:solidFill>
                  <a:srgbClr val="C8102E"/>
                </a:solidFill>
                <a:latin typeface="Roboto"/>
              </a:rPr>
              <a:t>68,6%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5640" y="5994400"/>
            <a:ext cx="7512304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51230" y="5994400"/>
            <a:ext cx="300492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19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956152" y="5994400"/>
            <a:ext cx="51644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1.186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74194" y="5994400"/>
            <a:ext cx="8153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23,4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91095" y="5994400"/>
            <a:ext cx="919431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18,7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2126" y="5994400"/>
            <a:ext cx="700057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19" b="1" lang="id-ID">
                <a:solidFill>
                  <a:srgbClr val="FFFFFF"/>
                </a:solidFill>
                <a:latin typeface="Roboto"/>
              </a:rPr>
              <a:t>12,7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8452104" y="982980"/>
            <a:ext cx="319125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452104" y="1211580"/>
            <a:ext cx="319125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8452104" y="982980"/>
            <a:ext cx="3191256" cy="5367020"/>
          </a:xfrm>
          <a:prstGeom prst="roundRect">
            <a:avLst>
              <a:gd name="adj" fmla="val 1711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579104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1" name="Picture 130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1682" y="1118108"/>
            <a:ext cx="186944" cy="186944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8960104" y="982980"/>
            <a:ext cx="255625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Tahap Berikutnya</a:t>
            </a:r>
          </a:p>
        </p:txBody>
      </p:sp>
      <p:sp>
        <p:nvSpPr>
          <p:cNvPr id="133" name="Oval 132"/>
          <p:cNvSpPr/>
          <p:nvPr/>
        </p:nvSpPr>
        <p:spPr>
          <a:xfrm>
            <a:off x="8579104" y="184099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40" y="1900428"/>
            <a:ext cx="211328" cy="21132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023604" y="1664780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</a:t>
            </a:r>
          </a:p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 penerima, realisasi belanja </a:t>
            </a:r>
            <a:r>
              <a:rPr sz="1380" b="1" lang="id-ID">
                <a:solidFill>
                  <a:srgbClr val="1A1A1A"/>
                </a:solidFill>
                <a:latin typeface="Roboto"/>
              </a:rPr>
              <a:t>68,1%</a:t>
            </a:r>
            <a:r>
              <a:rPr sz="1380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136" name="Oval 135"/>
          <p:cNvSpPr/>
          <p:nvPr/>
        </p:nvSpPr>
        <p:spPr>
          <a:xfrm>
            <a:off x="8579104" y="276961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2829052"/>
            <a:ext cx="211328" cy="211328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9023604" y="2593404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Tiga kab/kota: Agam, Pasaman Barat, Padang.</a:t>
            </a:r>
          </a:p>
        </p:txBody>
      </p:sp>
      <p:sp>
        <p:nvSpPr>
          <p:cNvPr id="139" name="Oval 138"/>
          <p:cNvSpPr/>
          <p:nvPr/>
        </p:nvSpPr>
        <p:spPr>
          <a:xfrm>
            <a:off x="8579104" y="380777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0" name="Picture 139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3867214"/>
            <a:ext cx="211328" cy="211328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9023604" y="3522028"/>
            <a:ext cx="2391156" cy="901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Empat kab/kota: Padang Panjang, Solok, Lima Puluh Kota, Tanah Datar.</a:t>
            </a:r>
          </a:p>
        </p:txBody>
      </p:sp>
      <p:sp>
        <p:nvSpPr>
          <p:cNvPr id="142" name="Oval 141"/>
          <p:cNvSpPr/>
          <p:nvPr/>
        </p:nvSpPr>
        <p:spPr>
          <a:xfrm>
            <a:off x="8579104" y="473640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3" name="Picture 142" descr="regulasi-FFFFFF-e639fe9a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8540" y="4795838"/>
            <a:ext cx="211328" cy="211328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9023604" y="4669726"/>
            <a:ext cx="2391156" cy="4635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sudah reviu APIP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Dua kab/kota: Agam, Padang.</a:t>
            </a:r>
          </a:p>
        </p:txBody>
      </p:sp>
      <p:sp>
        <p:nvSpPr>
          <p:cNvPr id="145" name="Oval 144"/>
          <p:cNvSpPr/>
          <p:nvPr/>
        </p:nvSpPr>
        <p:spPr>
          <a:xfrm>
            <a:off x="8579104" y="555548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6" name="Picture 145" descr="kalender-FFFFFF-a840cf9e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8540" y="5614924"/>
            <a:ext cx="211328" cy="211328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023604" y="5379276"/>
            <a:ext cx="2391156" cy="6826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380" b="1" lang="id-ID">
                <a:solidFill>
                  <a:srgbClr val="1A1A1A"/>
                </a:solidFill>
                <a:latin typeface="Roboto"/>
              </a:rPr>
              <a:t>Tahap III, berproses</a:t>
            </a:r>
          </a:p>
          <a:p>
            <a:pPr algn="just"/>
            <a:r>
              <a:rPr sz="1380" b="0" lang="id-ID">
                <a:solidFill>
                  <a:srgbClr val="1A1A1A"/>
                </a:solidFill>
                <a:latin typeface="Roboto"/>
              </a:rPr>
              <a:t>Dua kab/kota: Solok, Tanah Datar.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realisasi dari laporan pemda, sebagian belum dilengkapi pertanggungjawaban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D9600B"/>
                </a:solidFill>
                <a:latin typeface="Roboto"/>
              </a:rPr>
              <a:t>26 kabupaten/kota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sedang memproses usulan tahap berikutnya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02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43784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037590"/>
            <a:ext cx="853090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</a:t>
            </a:r>
          </a:p>
        </p:txBody>
      </p:sp>
      <p:pic>
        <p:nvPicPr>
          <p:cNvPr id="18" name="Picture 17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07233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45923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136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1058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45923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1317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17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9350" y="98298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39078" y="1037590"/>
            <a:ext cx="893926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TAHAP III</a:t>
            </a:r>
          </a:p>
        </p:txBody>
      </p:sp>
      <p:pic>
        <p:nvPicPr>
          <p:cNvPr id="31" name="Picture 30" descr="kalender-FFFFFF-a840cf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518" y="1072337"/>
            <a:ext cx="113386" cy="11338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6339078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8298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egulasi-051C2C-e639fe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498" y="1459230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50888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sudah reviu APIP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82075" y="129413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91295" y="138303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7495" y="1459230"/>
            <a:ext cx="177800" cy="1778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493885" y="133096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3885" y="159639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kab/kota berproses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047240"/>
            <a:ext cx="7322515" cy="4302760"/>
          </a:xfrm>
          <a:prstGeom prst="roundRect">
            <a:avLst>
              <a:gd name="adj" fmla="val 1269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2047240"/>
            <a:ext cx="732251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2275840"/>
            <a:ext cx="732251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2047240"/>
            <a:ext cx="7322515" cy="4302760"/>
          </a:xfrm>
          <a:prstGeom prst="roundRect">
            <a:avLst>
              <a:gd name="adj" fmla="val 1269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kalender-FFFFFF-a840cf9e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18" y="218236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2047240"/>
            <a:ext cx="656051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Status Usulan per Provinsi, Kab/Kota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5640" y="2606040"/>
            <a:ext cx="277660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03046" y="2606040"/>
            <a:ext cx="673676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PENERIMA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8322" y="2606040"/>
            <a:ext cx="100087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 LANJUT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80799" y="2816860"/>
            <a:ext cx="43837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REVIU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20770" y="2816860"/>
            <a:ext cx="54010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62477" y="2816860"/>
            <a:ext cx="43837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REVIU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02448" y="2816860"/>
            <a:ext cx="54010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80799" y="2606040"/>
            <a:ext cx="108007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TAHAP II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31599" y="2804160"/>
            <a:ext cx="978478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562477" y="2606040"/>
            <a:ext cx="108007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TAHAP III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613277" y="2804160"/>
            <a:ext cx="978478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Pita kolom utama"/>
          <p:cNvSpPr/>
          <p:nvPr/>
        </p:nvSpPr>
        <p:spPr>
          <a:xfrm>
            <a:off x="675640" y="3027680"/>
            <a:ext cx="2827406" cy="282509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675640" y="3027680"/>
            <a:ext cx="7068515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675640" y="3027680"/>
            <a:ext cx="277660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03046" y="3027680"/>
            <a:ext cx="67367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8322" y="3027680"/>
            <a:ext cx="100087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0799" y="3027680"/>
            <a:ext cx="43837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20770" y="3027680"/>
            <a:ext cx="540107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62477" y="3027680"/>
            <a:ext cx="43837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02448" y="3027680"/>
            <a:ext cx="540107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75640" y="3969377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675640" y="3969377"/>
            <a:ext cx="277660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03046" y="3969377"/>
            <a:ext cx="67367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8322" y="3969377"/>
            <a:ext cx="100087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0799" y="3969377"/>
            <a:ext cx="43837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0770" y="3969377"/>
            <a:ext cx="540107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62477" y="3969377"/>
            <a:ext cx="43837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02448" y="3969377"/>
            <a:ext cx="540107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75640" y="4911073"/>
            <a:ext cx="706851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675640" y="4911073"/>
            <a:ext cx="277660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3046" y="4911073"/>
            <a:ext cx="673676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78322" y="4911073"/>
            <a:ext cx="1000878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80799" y="4911073"/>
            <a:ext cx="43837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20770" y="4911073"/>
            <a:ext cx="540107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62477" y="4911073"/>
            <a:ext cx="438371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2448" y="4911073"/>
            <a:ext cx="540107" cy="9416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75640" y="5903570"/>
            <a:ext cx="7068515" cy="357530"/>
          </a:xfrm>
          <a:prstGeom prst="roundRect">
            <a:avLst>
              <a:gd name="adj" fmla="val 10656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2640" y="5903570"/>
            <a:ext cx="2700406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6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03046" y="5903570"/>
            <a:ext cx="673676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78322" y="5903570"/>
            <a:ext cx="1000878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0799" y="5903570"/>
            <a:ext cx="43837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20770" y="5903570"/>
            <a:ext cx="54010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62477" y="5903570"/>
            <a:ext cx="438371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2448" y="5903570"/>
            <a:ext cx="540107" cy="3575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63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008315" y="2047240"/>
            <a:ext cx="3635045" cy="4302760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8008315" y="2047240"/>
            <a:ext cx="3635045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008315" y="2275840"/>
            <a:ext cx="3635045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008315" y="2047240"/>
            <a:ext cx="3635045" cy="4302760"/>
          </a:xfrm>
          <a:prstGeom prst="roundRect">
            <a:avLst>
              <a:gd name="adj" fmla="val 1502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135315" y="212979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7893" y="2182368"/>
            <a:ext cx="186944" cy="186944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516315" y="2047240"/>
            <a:ext cx="300004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Usulan Lanjut per Provinsi</a:t>
            </a:r>
          </a:p>
        </p:txBody>
      </p:sp>
      <p:sp>
        <p:nvSpPr>
          <p:cNvPr id="100" name="Oval 99"/>
          <p:cNvSpPr/>
          <p:nvPr/>
        </p:nvSpPr>
        <p:spPr>
          <a:xfrm>
            <a:off x="8135315" y="288829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1" name="Picture 100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2947734"/>
            <a:ext cx="211328" cy="21132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579815" y="2646362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Aceh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14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17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3" name="Oval 102"/>
          <p:cNvSpPr/>
          <p:nvPr/>
        </p:nvSpPr>
        <p:spPr>
          <a:xfrm>
            <a:off x="8135315" y="378301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3842448"/>
            <a:ext cx="211328" cy="21132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579815" y="3541078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Sumatera Utara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14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6" name="Oval 105"/>
          <p:cNvSpPr/>
          <p:nvPr/>
        </p:nvSpPr>
        <p:spPr>
          <a:xfrm>
            <a:off x="8135315" y="46777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7" name="Picture 106" descr="wilayah-FFFFFF-37dca10c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4751" y="4737164"/>
            <a:ext cx="211328" cy="21132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579815" y="4435792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Sumatera Barat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8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11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09" name="Oval 108"/>
          <p:cNvSpPr/>
          <p:nvPr/>
        </p:nvSpPr>
        <p:spPr>
          <a:xfrm>
            <a:off x="8135315" y="55724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data-FFFFFF-608a1e16-t2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4751" y="5631878"/>
            <a:ext cx="211328" cy="21132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8579815" y="5330508"/>
            <a:ext cx="2834945" cy="8140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Tiga provinsi</a:t>
            </a:r>
          </a:p>
          <a:p>
            <a:pPr algn="just"/>
            <a:r>
              <a:rPr sz="1655" b="1" lang="id-ID">
                <a:solidFill>
                  <a:srgbClr val="1A1A1A"/>
                </a:solidFill>
                <a:latin typeface="Roboto"/>
              </a:rPr>
              <a:t>26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dari </a:t>
            </a:r>
            <a:r>
              <a:rPr sz="1655" b="1" lang="id-ID">
                <a:solidFill>
                  <a:srgbClr val="1A1A1A"/>
                </a:solidFill>
                <a:latin typeface="Roboto"/>
              </a:rPr>
              <a:t>42 kabupaten/kota</a:t>
            </a:r>
            <a:r>
              <a:rPr sz="1655" b="0" lang="id-ID">
                <a:solidFill>
                  <a:srgbClr val="1A1A1A"/>
                </a:solidFill>
                <a:latin typeface="Roboto"/>
              </a:rPr>
              <a:t> penerima.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Hunian Tetap dan Stimulan Rumah Rusak Berat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4114800" y="30099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30099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13–18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Hunian tetap </a:t>
            </a:r>
            <a:r>
              <a:rPr sz="2200" b="1" i="1" lang="id-ID">
                <a:solidFill>
                  <a:srgbClr val="1A1A1A"/>
                </a:solidFill>
                <a:latin typeface="Roboto"/>
              </a:rPr>
              <a:t>in situ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dan relokasi mandiri: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850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selesai dan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868 unit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sedang dibangun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799082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USULAN</a:t>
            </a:r>
          </a:p>
        </p:txBody>
      </p:sp>
      <p:pic>
        <p:nvPicPr>
          <p:cNvPr id="18" name="Picture 17" descr="data-FFFFFF-608a1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ta-051C2C-608a1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38.651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huntap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0136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1058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regulasi-051C2C-e639fe9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785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13175" y="1630680"/>
            <a:ext cx="1930527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30.430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17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usulan sudah direviu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9350" y="1282700"/>
            <a:ext cx="541401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39078" y="1337310"/>
            <a:ext cx="1217133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PEMBANGUNAN</a:t>
            </a:r>
          </a:p>
        </p:txBody>
      </p:sp>
      <p:pic>
        <p:nvPicPr>
          <p:cNvPr id="31" name="Picture 30" descr="rumah-FFFFFF-320df6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0518" y="1372057"/>
            <a:ext cx="113386" cy="11338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6339078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4829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kalender-051C2C-a840cf9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498" y="1758950"/>
            <a:ext cx="177800" cy="17780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8312833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0888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0888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proses bangun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30.430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82075" y="1593850"/>
            <a:ext cx="2551557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091295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rumah-051C2C-320df64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7495" y="1758950"/>
            <a:ext cx="177800" cy="17780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10955830" y="1682801"/>
            <a:ext cx="468582" cy="17007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75" b="1" lang="id-ID">
                <a:solidFill>
                  <a:srgbClr val="2E3440"/>
                </a:solidFill>
                <a:latin typeface="Roboto"/>
              </a:rPr>
              <a:t>2,2%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3885" y="1630680"/>
            <a:ext cx="1385745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850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3885" y="1896110"/>
            <a:ext cx="1930527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selesai dari </a:t>
            </a:r>
            <a:r>
              <a:rPr sz="860" b="1" lang="id-ID">
                <a:solidFill>
                  <a:srgbClr val="2E3440"/>
                </a:solidFill>
                <a:latin typeface="Roboto"/>
              </a:rPr>
              <a:t>38.651</a:t>
            </a:r>
            <a:r>
              <a:rPr sz="860" b="0" lang="id-ID">
                <a:solidFill>
                  <a:srgbClr val="2E3440"/>
                </a:solidFill>
                <a:latin typeface="Roboto"/>
              </a:rPr>
              <a:t> usulan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346960"/>
            <a:ext cx="6102096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2346960"/>
            <a:ext cx="6102096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2575560"/>
            <a:ext cx="6102096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8640" y="2346960"/>
            <a:ext cx="6102096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rumah-FFFFFF-320df645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56640" y="2346960"/>
            <a:ext cx="534009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Provinsi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5640" y="2905760"/>
            <a:ext cx="163119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57632" y="2905760"/>
            <a:ext cx="53522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94454" y="3116580"/>
            <a:ext cx="53522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1276" y="3116580"/>
            <a:ext cx="43802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0898" y="3116580"/>
            <a:ext cx="41963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92134" y="3116580"/>
            <a:ext cx="438818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32552" y="2905760"/>
            <a:ext cx="1189584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 DARI USULAN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4454" y="2905760"/>
            <a:ext cx="107484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045254" y="3103880"/>
            <a:ext cx="97324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4170898" y="2905760"/>
            <a:ext cx="960054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221698" y="3103880"/>
            <a:ext cx="858454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Pita kolom utama"/>
          <p:cNvSpPr/>
          <p:nvPr/>
        </p:nvSpPr>
        <p:spPr>
          <a:xfrm>
            <a:off x="675640" y="3327400"/>
            <a:ext cx="1681992" cy="2577948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75640" y="3327400"/>
            <a:ext cx="5848096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675640" y="3327400"/>
            <a:ext cx="163119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57632" y="3327400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33.978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94454" y="3327400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26.504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1276" y="3327400"/>
            <a:ext cx="4380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7.474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70898" y="3327400"/>
            <a:ext cx="41963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781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92134" y="3327400"/>
            <a:ext cx="438818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824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77506" y="3604582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2,4%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75640" y="4186716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75640" y="4186716"/>
            <a:ext cx="163119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57632" y="4186716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2.296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94454" y="4186716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1.848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31276" y="4186716"/>
            <a:ext cx="4380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448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70898" y="4186716"/>
            <a:ext cx="41963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92134" y="4186716"/>
            <a:ext cx="438818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477506" y="4463898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0,5%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675640" y="5046032"/>
            <a:ext cx="5848096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0" name="TextBox 79"/>
          <p:cNvSpPr txBox="1"/>
          <p:nvPr/>
        </p:nvSpPr>
        <p:spPr>
          <a:xfrm>
            <a:off x="675640" y="5046032"/>
            <a:ext cx="163119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57632" y="5046032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2.377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94454" y="5046032"/>
            <a:ext cx="5352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2.078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31276" y="5046032"/>
            <a:ext cx="438022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0898" y="5046032"/>
            <a:ext cx="419636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92134" y="5046032"/>
            <a:ext cx="438818" cy="8593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7506" y="5323213"/>
            <a:ext cx="699676" cy="304952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333" b="1" lang="id-ID">
                <a:solidFill>
                  <a:srgbClr val="C8102E"/>
                </a:solidFill>
                <a:latin typeface="Roboto"/>
              </a:rPr>
              <a:t>0,6%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75640" y="5956148"/>
            <a:ext cx="5848096" cy="304952"/>
          </a:xfrm>
          <a:prstGeom prst="roundRect">
            <a:avLst>
              <a:gd name="adj" fmla="val 12493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2640" y="5956148"/>
            <a:ext cx="155499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57632" y="5956148"/>
            <a:ext cx="5352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38.651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94454" y="5956148"/>
            <a:ext cx="5352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30.430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31276" y="5956148"/>
            <a:ext cx="438022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8.221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70898" y="5956148"/>
            <a:ext cx="419636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868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92134" y="5956148"/>
            <a:ext cx="438818" cy="3049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33" b="1" lang="id-ID">
                <a:solidFill>
                  <a:srgbClr val="FFFFFF"/>
                </a:solidFill>
                <a:latin typeface="Roboto"/>
              </a:rPr>
              <a:t>850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787896" y="2346960"/>
            <a:ext cx="4855464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787896" y="2346960"/>
            <a:ext cx="4855464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787896" y="2575560"/>
            <a:ext cx="4855464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87896" y="2346960"/>
            <a:ext cx="4855464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914896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9" name="Picture 98" descr="peringatan-FFFFFF-6a80b716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67474" y="2482088"/>
            <a:ext cx="186944" cy="18694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295896" y="2346960"/>
            <a:ext cx="422046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Catatan Huntap</a:t>
            </a:r>
          </a:p>
        </p:txBody>
      </p:sp>
      <p:sp>
        <p:nvSpPr>
          <p:cNvPr id="101" name="Oval 100"/>
          <p:cNvSpPr/>
          <p:nvPr/>
        </p:nvSpPr>
        <p:spPr>
          <a:xfrm>
            <a:off x="6914896" y="3076194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pembiayaan-FFFFFF-5387a370-t2.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74332" y="3135630"/>
            <a:ext cx="211328" cy="21132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7359396" y="2817828"/>
            <a:ext cx="4055364" cy="8469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Besaran bantuan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Rp</a:t>
            </a:r>
            <a:r>
              <a:rPr sz="1725" b="1" lang="id-ID">
                <a:solidFill>
                  <a:srgbClr val="1A1A1A"/>
                </a:solidFill>
                <a:latin typeface="Roboto"/>
              </a:rPr>
              <a:t>70 juta</a:t>
            </a:r>
            <a:r>
              <a:rPr sz="1725" b="0" lang="id-ID">
                <a:solidFill>
                  <a:srgbClr val="1A1A1A"/>
                </a:solidFill>
                <a:latin typeface="Roboto"/>
              </a:rPr>
              <a:t> per unit rumah rusak berat, sesuai Keputusan Kepala BNPB.</a:t>
            </a:r>
          </a:p>
        </p:txBody>
      </p:sp>
      <p:sp>
        <p:nvSpPr>
          <p:cNvPr id="104" name="Oval 103"/>
          <p:cNvSpPr/>
          <p:nvPr/>
        </p:nvSpPr>
        <p:spPr>
          <a:xfrm>
            <a:off x="6914896" y="374726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5" name="Picture 104" descr="data-FFFFFF-608a1e16-t2.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4332" y="3806698"/>
            <a:ext cx="211328" cy="211328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7359396" y="3625818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Target dapat berubah</a:t>
            </a:r>
          </a:p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8.221 usulan</a:t>
            </a:r>
            <a:r>
              <a:rPr sz="1725" b="0" lang="id-ID">
                <a:solidFill>
                  <a:srgbClr val="1A1A1A"/>
                </a:solidFill>
                <a:latin typeface="Roboto"/>
              </a:rPr>
              <a:t> belum selesai direviu APIP.</a:t>
            </a:r>
          </a:p>
        </p:txBody>
      </p:sp>
      <p:sp>
        <p:nvSpPr>
          <p:cNvPr id="107" name="Oval 106"/>
          <p:cNvSpPr/>
          <p:nvPr/>
        </p:nvSpPr>
        <p:spPr>
          <a:xfrm>
            <a:off x="6914896" y="4418330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7" descr="infrastruktur-FFFFFF-ba1c96e7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74332" y="4477766"/>
            <a:ext cx="211328" cy="211328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359396" y="4296886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Perlambatan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Semen dan besi mahal dan langka.</a:t>
            </a:r>
          </a:p>
        </p:txBody>
      </p:sp>
      <p:sp>
        <p:nvSpPr>
          <p:cNvPr id="110" name="Oval 109"/>
          <p:cNvSpPr/>
          <p:nvPr/>
        </p:nvSpPr>
        <p:spPr>
          <a:xfrm>
            <a:off x="6914896" y="508939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1" name="Picture 110" descr="kalender-FFFFFF-a840cf9e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4332" y="5148834"/>
            <a:ext cx="211328" cy="21132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7359396" y="4831032"/>
            <a:ext cx="4055364" cy="84693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Anggaran tambahan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ABT disetujui Kemenkeu 22 Oktober 2026.</a:t>
            </a:r>
          </a:p>
        </p:txBody>
      </p:sp>
      <p:sp>
        <p:nvSpPr>
          <p:cNvPr id="113" name="Oval 112"/>
          <p:cNvSpPr/>
          <p:nvPr/>
        </p:nvSpPr>
        <p:spPr>
          <a:xfrm>
            <a:off x="6914896" y="5760466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lembaga-FFFFFF-f44193c4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74332" y="5819902"/>
            <a:ext cx="211328" cy="211328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7359396" y="5639022"/>
            <a:ext cx="4055364" cy="573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1725" b="1" lang="id-ID">
                <a:solidFill>
                  <a:srgbClr val="1A1A1A"/>
                </a:solidFill>
                <a:latin typeface="Roboto"/>
              </a:rPr>
              <a:t>Sinergi kelembagaan</a:t>
            </a:r>
          </a:p>
          <a:p>
            <a:pPr algn="just"/>
            <a:r>
              <a:rPr sz="1725" b="0" lang="id-ID">
                <a:solidFill>
                  <a:srgbClr val="1A1A1A"/>
                </a:solidFill>
                <a:latin typeface="Roboto"/>
              </a:rPr>
              <a:t>Tim teknis pusat dan daerah terpadu.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Aceh menyumbang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 824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 selesai, terbanyak di Aceh Tamiang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dan Bireuen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5067300"/>
          </a:xfrm>
          <a:prstGeom prst="roundRect">
            <a:avLst>
              <a:gd name="adj" fmla="val 107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128270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51130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1282700"/>
            <a:ext cx="11094720" cy="5067300"/>
          </a:xfrm>
          <a:prstGeom prst="roundRect">
            <a:avLst>
              <a:gd name="adj" fmla="val 107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36525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41782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128270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Aceh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84150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7518" y="2052320"/>
            <a:ext cx="145445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3571" y="2052320"/>
            <a:ext cx="14496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773" y="2052320"/>
            <a:ext cx="14496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5975" y="2052320"/>
            <a:ext cx="146878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518" y="1841500"/>
            <a:ext cx="300565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8318" y="2039620"/>
            <a:ext cx="2904055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8394773" y="1841500"/>
            <a:ext cx="301998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45573" y="2039620"/>
            <a:ext cx="2918387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2263140"/>
            <a:ext cx="4611878" cy="368046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226314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675640" y="228439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1230" y="2263140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7518" y="2263140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9.403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3571" y="2263140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773" y="2263140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45975" y="2263140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394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247963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675640" y="25008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30" y="2479638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Utara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7518" y="2479638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7.816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43571" y="2479638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773" y="2479638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45975" y="2479638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5640" y="269613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675640" y="271738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1230" y="2696135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87518" y="2696135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2.747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43571" y="2696135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3.702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773" y="2696135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45975" y="2696135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63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91263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293388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1230" y="2912633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Tengah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7518" y="2912633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1.930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43571" y="2912633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94773" y="2912633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45975" y="2912633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5640" y="312913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675640" y="31503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1230" y="3129131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7518" y="3129131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2.268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43571" y="3129131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94773" y="3129131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45975" y="3129131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75640" y="334562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675640" y="336688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1230" y="3345628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87518" y="3345628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43571" y="3345628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94773" y="3345628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45975" y="3345628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338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75640" y="356212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6" name="Oval 75"/>
          <p:cNvSpPr/>
          <p:nvPr/>
        </p:nvSpPr>
        <p:spPr>
          <a:xfrm>
            <a:off x="675640" y="358338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1230" y="3562126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Bener Meriah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87518" y="3562126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43571" y="3562126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463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94773" y="3562126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45975" y="3562126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5640" y="377862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Oval 82"/>
          <p:cNvSpPr/>
          <p:nvPr/>
        </p:nvSpPr>
        <p:spPr>
          <a:xfrm>
            <a:off x="675640" y="379987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1230" y="3778624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Gayo Lues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7518" y="3778624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43571" y="3778624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94773" y="3778624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45975" y="3778624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75640" y="399512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675640" y="401637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1230" y="3995121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Nagan Raya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287518" y="3995121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43571" y="3995121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94773" y="3995121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945975" y="3995121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75640" y="421161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7" name="Oval 96"/>
          <p:cNvSpPr/>
          <p:nvPr/>
        </p:nvSpPr>
        <p:spPr>
          <a:xfrm>
            <a:off x="675640" y="423287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1230" y="4211619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Tenggara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87518" y="4211619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43571" y="4211619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94773" y="4211619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45975" y="4211619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75640" y="442811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4" name="Oval 103"/>
          <p:cNvSpPr/>
          <p:nvPr/>
        </p:nvSpPr>
        <p:spPr>
          <a:xfrm>
            <a:off x="675640" y="44493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51230" y="4428116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Lhokseumawe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87518" y="4428116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43571" y="4428116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94773" y="4428116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945975" y="4428116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46446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75640" y="466586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1230" y="4644614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Singkil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287518" y="4644614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43571" y="4644614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94773" y="4644614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45975" y="4644614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675640" y="486111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8" name="Oval 117"/>
          <p:cNvSpPr/>
          <p:nvPr/>
        </p:nvSpPr>
        <p:spPr>
          <a:xfrm>
            <a:off x="675640" y="48823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51230" y="4861112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Barat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87518" y="4861112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43571" y="4861112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394773" y="4861112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945975" y="4861112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675640" y="507760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5" name="Oval 124"/>
          <p:cNvSpPr/>
          <p:nvPr/>
        </p:nvSpPr>
        <p:spPr>
          <a:xfrm>
            <a:off x="675640" y="509886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51230" y="5077609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Pidie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287518" y="5077609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43571" y="5077609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394773" y="5077609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945975" y="5077609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75640" y="529410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2" name="Oval 131"/>
          <p:cNvSpPr/>
          <p:nvPr/>
        </p:nvSpPr>
        <p:spPr>
          <a:xfrm>
            <a:off x="675640" y="531536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51230" y="5294107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Aceh Selatan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87518" y="5294107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43571" y="5294107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94773" y="5294107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945975" y="5294107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75640" y="551060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9" name="Oval 138"/>
          <p:cNvSpPr/>
          <p:nvPr/>
        </p:nvSpPr>
        <p:spPr>
          <a:xfrm>
            <a:off x="675640" y="553185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51230" y="5510605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Subulussalam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87518" y="5510605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43571" y="5510605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94773" y="5510605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945975" y="5510605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75640" y="572710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6" name="Oval 145"/>
          <p:cNvSpPr/>
          <p:nvPr/>
        </p:nvSpPr>
        <p:spPr>
          <a:xfrm>
            <a:off x="675640" y="57483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51230" y="5727102"/>
            <a:ext cx="4285488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Langsa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287518" y="5727102"/>
            <a:ext cx="1454453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43571" y="5727102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94773" y="5727102"/>
            <a:ext cx="1449602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945975" y="5727102"/>
            <a:ext cx="1468785" cy="216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51230" y="59944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287518" y="5994400"/>
            <a:ext cx="1454453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26.504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43571" y="5994400"/>
            <a:ext cx="14496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7.474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394773" y="5994400"/>
            <a:ext cx="144960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781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945975" y="5994400"/>
            <a:ext cx="1468785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824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Utara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11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Langkat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Utara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7518" y="1752600"/>
            <a:ext cx="14100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9210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5199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1188" y="1752600"/>
            <a:ext cx="148357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518" y="1541780"/>
            <a:ext cx="297608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8318" y="1739900"/>
            <a:ext cx="287448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8365199" y="1541780"/>
            <a:ext cx="30495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15999" y="1739900"/>
            <a:ext cx="294796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4611878" cy="398018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19634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675640" y="198698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1230" y="1963420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Batubara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7518" y="1963420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9210" y="1963420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5199" y="1963420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1188" y="1963420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218454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675640" y="220810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30" y="2184541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Deli Serdang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7518" y="2184541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9210" y="2184541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5199" y="2184541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31188" y="2184541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5640" y="240566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675640" y="242922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1230" y="2405662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Humbang Hasundutan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87518" y="2405662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99210" y="2405662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5199" y="2405662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31188" y="2405662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6267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265034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1230" y="2626783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Binjai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7518" y="2626783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99210" y="2626783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65199" y="2626783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31188" y="2626783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5640" y="284790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675640" y="287147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1230" y="2847904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Medan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7518" y="2847904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99210" y="2847904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5199" y="2847904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1188" y="2847904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75640" y="306902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675640" y="309259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1230" y="3069026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Padangsidimpuan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87518" y="3069026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99210" y="3069026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5199" y="3069026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1188" y="3069026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75640" y="32901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6" name="Oval 75"/>
          <p:cNvSpPr/>
          <p:nvPr/>
        </p:nvSpPr>
        <p:spPr>
          <a:xfrm>
            <a:off x="675640" y="331371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1230" y="3290147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Sibolga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87518" y="3290147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99210" y="3290147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65199" y="3290147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31188" y="3290147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5640" y="351126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Oval 82"/>
          <p:cNvSpPr/>
          <p:nvPr/>
        </p:nvSpPr>
        <p:spPr>
          <a:xfrm>
            <a:off x="675640" y="353483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1230" y="3511268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Tebing Tinggi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7518" y="3511268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99210" y="3511268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65199" y="3511268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31188" y="3511268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75640" y="373238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675640" y="375595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1230" y="3732389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287518" y="3732389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99210" y="3732389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65199" y="3732389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931188" y="3732389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75640" y="395351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7" name="Oval 96"/>
          <p:cNvSpPr/>
          <p:nvPr/>
        </p:nvSpPr>
        <p:spPr>
          <a:xfrm>
            <a:off x="675640" y="397707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1230" y="3953510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Mandailing Natal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87518" y="3953510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99210" y="3953510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65199" y="3953510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31188" y="3953510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75640" y="417463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4" name="Oval 103"/>
          <p:cNvSpPr/>
          <p:nvPr/>
        </p:nvSpPr>
        <p:spPr>
          <a:xfrm>
            <a:off x="675640" y="4198197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51230" y="4174631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87518" y="4174631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99210" y="4174631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65199" y="4174631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931188" y="4174631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439575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75640" y="441931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1230" y="4395752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Selatan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287518" y="4395752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799210" y="4395752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65199" y="4395752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31188" y="4395752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675640" y="46168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8" name="Oval 117"/>
          <p:cNvSpPr/>
          <p:nvPr/>
        </p:nvSpPr>
        <p:spPr>
          <a:xfrm>
            <a:off x="675640" y="464043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51230" y="4616873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Nias Barat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87518" y="4616873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799210" y="4616873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365199" y="4616873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931188" y="4616873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675640" y="483799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25" name="Oval 124"/>
          <p:cNvSpPr/>
          <p:nvPr/>
        </p:nvSpPr>
        <p:spPr>
          <a:xfrm>
            <a:off x="675640" y="4861560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51230" y="4837994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Pakpak Bharat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287518" y="4837994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99210" y="4837994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365199" y="4837994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931188" y="4837994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75640" y="505911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2" name="Oval 131"/>
          <p:cNvSpPr/>
          <p:nvPr/>
        </p:nvSpPr>
        <p:spPr>
          <a:xfrm>
            <a:off x="675640" y="508268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51230" y="5059116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Serdang Bedagai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87518" y="5059116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799210" y="5059116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65199" y="5059116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931188" y="5059116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75640" y="528023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39" name="Oval 138"/>
          <p:cNvSpPr/>
          <p:nvPr/>
        </p:nvSpPr>
        <p:spPr>
          <a:xfrm>
            <a:off x="675640" y="530380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51230" y="5280237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Selatan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87518" y="5280237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99210" y="5280237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5199" y="5280237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931188" y="5280237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675640" y="550135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46" name="Oval 145"/>
          <p:cNvSpPr/>
          <p:nvPr/>
        </p:nvSpPr>
        <p:spPr>
          <a:xfrm>
            <a:off x="675640" y="552492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51230" y="5501358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Utara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287518" y="5501358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799210" y="5501358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65199" y="5501358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931188" y="5501358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3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675640" y="572247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53" name="Oval 152"/>
          <p:cNvSpPr/>
          <p:nvPr/>
        </p:nvSpPr>
        <p:spPr>
          <a:xfrm>
            <a:off x="675640" y="574604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51230" y="5722479"/>
            <a:ext cx="4285488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Tapanuli Tengah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287518" y="5722479"/>
            <a:ext cx="141009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958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799210" y="5722479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65199" y="5722479"/>
            <a:ext cx="1464389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931188" y="5722479"/>
            <a:ext cx="1483572" cy="2211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51230" y="59944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287518" y="5994400"/>
            <a:ext cx="14100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1.848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799210" y="59944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448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365199" y="59944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931188" y="5994400"/>
            <a:ext cx="148357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Sumatera Barat menyelesaikan 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15 unit</a:t>
            </a:r>
            <a:r>
              <a:rPr sz="2200" b="1" lang="id-ID">
                <a:solidFill>
                  <a:srgbClr val="1A1A1A"/>
                </a:solidFill>
                <a:latin typeface="Roboto"/>
              </a:rPr>
              <a:t> huntap, terbanyak di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per Kabupaten/Kota di Sumatera Barat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4285488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KABUPATEN/KOTA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7518" y="1752600"/>
            <a:ext cx="141009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SUDAH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9210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5199" y="1752600"/>
            <a:ext cx="14643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1188" y="1752600"/>
            <a:ext cx="148357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7518" y="1541780"/>
            <a:ext cx="297608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REVIU USULAN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8318" y="1739900"/>
            <a:ext cx="287448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8365199" y="1541780"/>
            <a:ext cx="304956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PEMBANGUNAN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15999" y="1739900"/>
            <a:ext cx="2947961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2" name="Pita kolom utama"/>
          <p:cNvSpPr/>
          <p:nvPr/>
        </p:nvSpPr>
        <p:spPr>
          <a:xfrm>
            <a:off x="675640" y="1963420"/>
            <a:ext cx="4611878" cy="398018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75640" y="196342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675640" y="204226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1230" y="1963420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7518" y="1963420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9210" y="1963420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5199" y="1963420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1188" y="1963420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75640" y="229510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675640" y="237394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230" y="2295102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Pasaman Barat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7518" y="2295102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9210" y="2295102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5199" y="2295102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31188" y="2295102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5640" y="262678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675640" y="270562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1230" y="2626783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87518" y="2626783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99210" y="2626783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5199" y="2626783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31188" y="2626783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75640" y="295846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675640" y="303731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1230" y="2958465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Panjang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7518" y="2958465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99210" y="2958465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65199" y="2958465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31188" y="2958465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5640" y="329014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675640" y="3368993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1230" y="3290147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7518" y="3290147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99210" y="3290147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5199" y="3290147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1188" y="3290147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75640" y="362182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675640" y="370067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1230" y="3621828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Solok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87518" y="3621828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99210" y="3621828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190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5199" y="3621828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1188" y="3621828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75640" y="3953510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6" name="Oval 75"/>
          <p:cNvSpPr/>
          <p:nvPr/>
        </p:nvSpPr>
        <p:spPr>
          <a:xfrm>
            <a:off x="675640" y="403235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1230" y="3953510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87518" y="3953510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99210" y="3953510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65199" y="3953510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31188" y="3953510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5640" y="4285192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3" name="Oval 82"/>
          <p:cNvSpPr/>
          <p:nvPr/>
        </p:nvSpPr>
        <p:spPr>
          <a:xfrm>
            <a:off x="675640" y="436403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1230" y="4285192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Tanah Datar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7518" y="4285192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99210" y="4285192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65199" y="4285192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31188" y="4285192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75640" y="461687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675640" y="469571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1230" y="4616873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287518" y="4616873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672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99210" y="4616873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65199" y="4616873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931188" y="4616873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75640" y="4948555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97" name="Oval 96"/>
          <p:cNvSpPr/>
          <p:nvPr/>
        </p:nvSpPr>
        <p:spPr>
          <a:xfrm>
            <a:off x="675640" y="502740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1230" y="4948555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Kota Pariaman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87518" y="4948555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99210" y="4948555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65199" y="4948555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31188" y="4948555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75640" y="528023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04" name="Oval 103"/>
          <p:cNvSpPr/>
          <p:nvPr/>
        </p:nvSpPr>
        <p:spPr>
          <a:xfrm>
            <a:off x="675640" y="535908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51230" y="5280237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Pesisir Selatan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87518" y="5280237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799210" y="5280237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65199" y="5280237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931188" y="5280237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75640" y="5611918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111" name="Oval 110"/>
          <p:cNvSpPr/>
          <p:nvPr/>
        </p:nvSpPr>
        <p:spPr>
          <a:xfrm>
            <a:off x="675640" y="569076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750" b="1" lang="id-ID">
                <a:solidFill>
                  <a:srgbClr val="FFFFFF"/>
                </a:solidFill>
                <a:latin typeface="Roboto"/>
              </a:rP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1230" y="5611918"/>
            <a:ext cx="4285488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1A1A1A"/>
                </a:solidFill>
                <a:latin typeface="Roboto"/>
              </a:rPr>
              <a:t>Kepulauan Mentawai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287518" y="5611918"/>
            <a:ext cx="141009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799210" y="5611918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65199" y="5611918"/>
            <a:ext cx="1464389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31188" y="5611918"/>
            <a:ext cx="1483572" cy="33168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75640" y="5994400"/>
            <a:ext cx="10840720" cy="266700"/>
          </a:xfrm>
          <a:prstGeom prst="roundRect">
            <a:avLst>
              <a:gd name="adj" fmla="val 14285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51230" y="5994400"/>
            <a:ext cx="4336288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57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87518" y="5994400"/>
            <a:ext cx="141009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2.078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799210" y="59944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299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365199" y="5994400"/>
            <a:ext cx="1464389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84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931188" y="5994400"/>
            <a:ext cx="1483572" cy="266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7" b="1" lang="id-ID">
                <a:solidFill>
                  <a:srgbClr val="FFFFFF"/>
                </a:solidFill>
                <a:latin typeface="Roboto"/>
              </a:rPr>
              <a:t>15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Kedeputian Bidang RR BNPB, 24 Oktober 2026; data progres dari penyedia, belum dilengkapi dokumen pendukung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642600" cy="8255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Rencana transfer stimulan tahap II sampai IV pada akhir Oktober 2026 sebesar</a:t>
            </a:r>
            <a:br/>
            <a:r>
              <a:rPr sz="2200" b="1" lang="id-ID">
                <a:solidFill>
                  <a:srgbClr val="1A1A1A"/>
                </a:solidFill>
                <a:latin typeface="Roboto"/>
              </a:rPr>
              <a:t>Rp</a:t>
            </a:r>
            <a:r>
              <a:rPr sz="2200" b="1" lang="id-ID">
                <a:solidFill>
                  <a:srgbClr val="D9600B"/>
                </a:solidFill>
                <a:latin typeface="Roboto"/>
              </a:rPr>
              <a:t>1.751,1 miliar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0650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03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Huntap dan RB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2728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1282700"/>
            <a:ext cx="11094720" cy="927100"/>
          </a:xfrm>
          <a:prstGeom prst="roundRect">
            <a:avLst>
              <a:gd name="adj" fmla="val 7945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337310"/>
            <a:ext cx="1506098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259690" tIns="0" rIns="0" bIns="0">
            <a:noAutofit/>
          </a:bodyPr>
          <a:lstStyle/>
          <a:p>
            <a:pPr algn="l"/>
            <a:r>
              <a:rPr sz="760" b="1" lang="id-ID" spc="100">
                <a:solidFill>
                  <a:srgbClr val="FFFFFF"/>
                </a:solidFill>
                <a:latin typeface="Roboto"/>
              </a:rPr>
              <a:t>RENCANA TRANSFER</a:t>
            </a:r>
          </a:p>
        </p:txBody>
      </p:sp>
      <p:pic>
        <p:nvPicPr>
          <p:cNvPr id="18" name="Picture 17" descr="pembiayaan-FFFFFF-5387a3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372057"/>
            <a:ext cx="113386" cy="11338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7588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mbiayaan-051C2C-5387a3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788" y="1758950"/>
            <a:ext cx="177800" cy="177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70178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1.751,1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178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rencana ke daerah, tahap II sampai IV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936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3156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56" y="1758950"/>
            <a:ext cx="177800" cy="177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25746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707,8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5746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II untuk Aceh dan Sumut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9504" y="1593850"/>
            <a:ext cx="3564128" cy="508000"/>
          </a:xfrm>
          <a:prstGeom prst="roundRect">
            <a:avLst>
              <a:gd name="adj" fmla="val 14499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78724" y="1682750"/>
            <a:ext cx="330200" cy="330200"/>
          </a:xfrm>
          <a:prstGeom prst="ellipse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kalender-051C2C-a840cf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4924" y="1758950"/>
            <a:ext cx="177800" cy="177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81314" y="1630680"/>
            <a:ext cx="2943098" cy="2743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950" b="1" lang="id-ID">
                <a:solidFill>
                  <a:srgbClr val="051C2C"/>
                </a:solidFill>
                <a:latin typeface="Roboto"/>
              </a:rPr>
              <a:t>Rp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608,1</a:t>
            </a:r>
            <a:r>
              <a:rPr sz="1950" b="1" lang="id-ID">
                <a:solidFill>
                  <a:srgbClr val="051C2C"/>
                </a:solidFill>
                <a:latin typeface="Roboto"/>
              </a:rPr>
              <a:t>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1314" y="1896110"/>
            <a:ext cx="2943098" cy="1549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0" lang="id-ID">
                <a:solidFill>
                  <a:srgbClr val="2E3440"/>
                </a:solidFill>
                <a:latin typeface="Roboto"/>
              </a:rPr>
              <a:t>tahap IV untuk Aceh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2346960"/>
            <a:ext cx="6213043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2575560"/>
            <a:ext cx="6213043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2346960"/>
            <a:ext cx="6213043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640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pembiayaan-FFFFFF-5387a370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218" y="2482088"/>
            <a:ext cx="186944" cy="1869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56640" y="2346960"/>
            <a:ext cx="545104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Transfer ke Daerah dan Rencana Tahap II sampai IV, Rp Miliar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5640" y="2905760"/>
            <a:ext cx="23328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PROVINSI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59257" y="2905760"/>
            <a:ext cx="1554651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TRANSFER BNPB KE DAERAH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5508" y="2905760"/>
            <a:ext cx="51398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1088" y="2905760"/>
            <a:ext cx="55190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4594" y="2905760"/>
            <a:ext cx="54848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TAHAP IV</a:t>
            </a:r>
          </a:p>
        </p:txBody>
      </p:sp>
      <p:sp>
        <p:nvSpPr>
          <p:cNvPr id="46" name="Pita kolom utama"/>
          <p:cNvSpPr/>
          <p:nvPr/>
        </p:nvSpPr>
        <p:spPr>
          <a:xfrm>
            <a:off x="675640" y="3116580"/>
            <a:ext cx="2383617" cy="2799283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675640" y="3116580"/>
            <a:ext cx="5959043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675640" y="3116580"/>
            <a:ext cx="2332817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Aceh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59257" y="3116580"/>
            <a:ext cx="1554651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653,7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15508" y="3116580"/>
            <a:ext cx="51398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517,2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1088" y="3116580"/>
            <a:ext cx="551906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319,5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84594" y="3116580"/>
            <a:ext cx="5484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608,1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5640" y="4049674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675640" y="4049674"/>
            <a:ext cx="2332817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Utara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59257" y="4049674"/>
            <a:ext cx="1554651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71,8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15508" y="4049674"/>
            <a:ext cx="51398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190,6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31088" y="4049674"/>
            <a:ext cx="551906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10,1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4594" y="4049674"/>
            <a:ext cx="5484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75640" y="4982769"/>
            <a:ext cx="5959043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75640" y="4982769"/>
            <a:ext cx="2332817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59257" y="4982769"/>
            <a:ext cx="1554651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23,4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15508" y="4982769"/>
            <a:ext cx="513980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31088" y="4982769"/>
            <a:ext cx="551906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105,5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4594" y="4982769"/>
            <a:ext cx="548489" cy="93309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1A1A1A"/>
                </a:solidFill>
                <a:latin typeface="Roboto"/>
              </a:rPr>
              <a:t>0,0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5640" y="5966663"/>
            <a:ext cx="5959043" cy="294437"/>
          </a:xfrm>
          <a:prstGeom prst="roundRect">
            <a:avLst>
              <a:gd name="adj" fmla="val 12939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640" y="5966663"/>
            <a:ext cx="2256617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88" b="1" lang="id-ID">
                <a:solidFill>
                  <a:srgbClr val="FFFFFF"/>
                </a:solidFill>
                <a:latin typeface="Roboto"/>
              </a:rPr>
              <a:t>Jumlah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59257" y="5966663"/>
            <a:ext cx="1554651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748,9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15508" y="5966663"/>
            <a:ext cx="513980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707,8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31088" y="5966663"/>
            <a:ext cx="551906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435,2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84594" y="5966663"/>
            <a:ext cx="548489" cy="29443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88" b="1" lang="id-ID">
                <a:solidFill>
                  <a:srgbClr val="FFFFFF"/>
                </a:solidFill>
                <a:latin typeface="Roboto"/>
              </a:rPr>
              <a:t>608,1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898843" y="2346960"/>
            <a:ext cx="4744517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98843" y="2575560"/>
            <a:ext cx="4744517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898843" y="2346960"/>
            <a:ext cx="4744517" cy="4003040"/>
          </a:xfrm>
          <a:prstGeom prst="roundRect">
            <a:avLst>
              <a:gd name="adj" fmla="val 1364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025843" y="242951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rumah-FFFFFF-320df645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8421" y="2482088"/>
            <a:ext cx="186944" cy="186944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406843" y="2346960"/>
            <a:ext cx="410951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yang Sudah Berdiri</a:t>
            </a:r>
          </a:p>
        </p:txBody>
      </p:sp>
      <p:pic>
        <p:nvPicPr>
          <p:cNvPr id="78" name="Picture 77" descr="rr-sumatera-kisi-hun-28-3-172x11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843" y="2905760"/>
            <a:ext cx="2194458" cy="145389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025843" y="438505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80" name="Picture 79" descr="rr-sumatera-kisi-hun-29-4-172x1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1902" y="2905760"/>
            <a:ext cx="2194458" cy="14538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321902" y="438505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82" name="Picture 81" descr="rr-sumatera-kisi-hun-30-1-172x1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5843" y="4634230"/>
            <a:ext cx="2194458" cy="145389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7025843" y="61135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84" name="Picture 83" descr="rr-sumatera-kisi-hun-30-7-172x11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1902" y="4634230"/>
            <a:ext cx="2194458" cy="1453896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321902" y="6113526"/>
            <a:ext cx="2194458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bahan RTM Kedeputian Bidang RR BNPB, 27 Oktober 2026; foto dokumentasi Kedeputian Bidang RR BNPB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Kendala dan Tindak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4114800" y="39497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39497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19–20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Kendala pelaksanaan dan saran tindak lanjut sektor perumahan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04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Kendala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1672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05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Dokumentasi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eringatan-FFFFFF-6a80b716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332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Kendala dan Saran Tindak Lanjut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230" y="1541780"/>
            <a:ext cx="1813635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ASPEK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5665" y="1541780"/>
            <a:ext cx="398880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5273" y="1541780"/>
            <a:ext cx="461028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SARAN TINDAK LANJUT</a:t>
            </a:r>
          </a:p>
        </p:txBody>
      </p:sp>
      <p:sp>
        <p:nvSpPr>
          <p:cNvPr id="26" name="Pita kolom utama"/>
          <p:cNvSpPr/>
          <p:nvPr/>
        </p:nvSpPr>
        <p:spPr>
          <a:xfrm>
            <a:off x="675640" y="1752600"/>
            <a:ext cx="2140025" cy="45085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75640" y="1752600"/>
            <a:ext cx="10840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28" name="Oval 27"/>
          <p:cNvSpPr/>
          <p:nvPr/>
        </p:nvSpPr>
        <p:spPr>
          <a:xfrm>
            <a:off x="675640" y="1987641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infrastruktur-FFFFFF-ba1c96e7-t2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58" y="2018959"/>
            <a:ext cx="111354" cy="11135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51230" y="1752600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Material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5665" y="1752600"/>
            <a:ext cx="3988809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Semen dan besi langka, harganya melonjak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5273" y="1752600"/>
            <a:ext cx="4610287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Jamin pasokan dan harga; Kepala BNPB telah menyurati PT Semen Indonesia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75640" y="2396671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675640" y="2631712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wilayah-FFFFFF-37dca10c-t2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958" y="2663030"/>
            <a:ext cx="111354" cy="11135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1230" y="2396671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Akses lokasi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5665" y="2396671"/>
            <a:ext cx="3988809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Lokasi huntap tersebar; distribusi terganggu banjir dan longsor susulan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5273" y="2396671"/>
            <a:ext cx="4610287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Prioritaskan akses dan jalur distribusi material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75640" y="3040743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0" name="Oval 39"/>
          <p:cNvSpPr/>
          <p:nvPr/>
        </p:nvSpPr>
        <p:spPr>
          <a:xfrm>
            <a:off x="675640" y="3275784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luas-FFFFFF-12322028-t2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58" y="3307102"/>
            <a:ext cx="111354" cy="11135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51230" y="3040743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Status lahan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5665" y="3040743"/>
            <a:ext cx="3988809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Kepastian lahan, terutama tanah adat dan ulayat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5273" y="3040743"/>
            <a:ext cx="4610287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penyelesaian status dan kesepakatan lahan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5640" y="3684814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675640" y="3919855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pembiayaan-FFFFFF-5387a370-t2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958" y="3951173"/>
            <a:ext cx="111354" cy="11135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1230" y="3684814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Anggaran RB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5665" y="3684814"/>
            <a:ext cx="3988809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ABT DSP stimulan rumah rusak berat terlambat cair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5273" y="3684814"/>
            <a:ext cx="4610287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Percepat pencairan agar penyedia mulai bekerja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5640" y="4328886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675640" y="4563926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-FFFFFF-608a1e16-t2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958" y="4595245"/>
            <a:ext cx="111354" cy="11135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51230" y="4328886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Data penerima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15665" y="4328886"/>
            <a:ext cx="3988809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Verifikasi dan validasi data oleh pemda terlambat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5273" y="4328886"/>
            <a:ext cx="4610287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Pemda menuntaskan verifikasi dan data yang diperselisihkan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75640" y="4972957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58" name="Oval 57"/>
          <p:cNvSpPr/>
          <p:nvPr/>
        </p:nvSpPr>
        <p:spPr>
          <a:xfrm>
            <a:off x="675640" y="5207998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lembaga-FFFFFF-f44193c4-t2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6958" y="5239316"/>
            <a:ext cx="111354" cy="11135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51230" y="4972957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Mekanisme hibah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15665" y="4972957"/>
            <a:ext cx="3988809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Hibah RR perumahan belum dibedakan dari sektor lain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5273" y="4972957"/>
            <a:ext cx="4610287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Susun mekanisme khusus hibah RR sektor perumahan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75640" y="5617029"/>
            <a:ext cx="1084072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64" name="Oval 63"/>
          <p:cNvSpPr/>
          <p:nvPr/>
        </p:nvSpPr>
        <p:spPr>
          <a:xfrm>
            <a:off x="675640" y="5852069"/>
            <a:ext cx="173990" cy="17399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5" name="Picture 64" descr="regulasi-FFFFFF-e639fe9a-t2.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958" y="5883387"/>
            <a:ext cx="111354" cy="111354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51230" y="5617029"/>
            <a:ext cx="1813635" cy="64407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26" b="1" lang="id-ID">
                <a:solidFill>
                  <a:srgbClr val="1A1A1A"/>
                </a:solidFill>
                <a:latin typeface="Roboto"/>
              </a:rPr>
              <a:t>Peran DSP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5665" y="5617029"/>
            <a:ext cx="3988809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PPK dan BPP DSP rumah rusak berat berada di BNPB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5273" y="5617029"/>
            <a:ext cx="4610287" cy="6440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33" b="0" lang="id-ID">
                <a:solidFill>
                  <a:srgbClr val="2E3440"/>
                </a:solidFill>
                <a:latin typeface="Roboto"/>
              </a:rPr>
              <a:t>Kembalikan fungsi PPK dan BPP DSP kepada pemda pengusul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bahan RTM Kedeputian Bidang RR BNPB, 27 Oktober 2026; Kedeputian Bidang RR BNPB, 24 Oktober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347980" cy="439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81200"/>
            <a:ext cx="2712720" cy="1092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75000"/>
            <a:ext cx="711200" cy="381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52800"/>
            <a:ext cx="2712720" cy="1397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1" lang="id-ID">
                <a:solidFill>
                  <a:srgbClr val="051C2C"/>
                </a:solidFill>
                <a:latin typeface="Roboto"/>
              </a:rPr>
              <a:t>Dokumentasi Lapangan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10795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78160" y="14097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78160" y="14097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05400" y="10795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Dasar Hukum Pelaksanaan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0" y="20193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318000" y="20193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78160" y="23495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78160" y="23495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6–12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5400" y="20193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Stimulan Rumah Rusak Sedang dan Rusak Ringan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18000" y="29591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318000" y="29591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78160" y="32893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8160" y="32893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13–18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5400" y="29591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Hunian Tetap dan Stimulan Rumah Rusak Berat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18000" y="38989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318000" y="38989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BFC5CC"/>
                </a:solidFill>
                <a:latin typeface="Roboto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8160" y="42291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78160" y="42291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2E3440"/>
                </a:solidFill>
                <a:latin typeface="Roboto"/>
              </a:rPr>
              <a:t>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5400" y="38989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0" lang="id-ID">
                <a:solidFill>
                  <a:srgbClr val="6B7280"/>
                </a:solidFill>
                <a:latin typeface="Roboto"/>
              </a:rPr>
              <a:t>Kendala dan Tindak Lanjut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18000" y="4838700"/>
            <a:ext cx="732536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4114800" y="4889500"/>
            <a:ext cx="7528560" cy="838200"/>
          </a:xfrm>
          <a:prstGeom prst="rect">
            <a:avLst/>
          </a:prstGeom>
          <a:solidFill>
            <a:srgbClr val="FD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889500"/>
            <a:ext cx="50800" cy="8382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8000" y="4838700"/>
            <a:ext cx="889000" cy="939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000" b="1" lang="id-ID">
                <a:solidFill>
                  <a:srgbClr val="D9600B"/>
                </a:solidFill>
                <a:latin typeface="Roboto"/>
              </a:rPr>
              <a:t>05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78160" y="5168900"/>
            <a:ext cx="762000" cy="2794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8160" y="5168900"/>
            <a:ext cx="762000" cy="279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 b="1" lang="id-ID">
                <a:solidFill>
                  <a:srgbClr val="FFFFFF"/>
                </a:solidFill>
                <a:latin typeface="Roboto"/>
              </a:rPr>
              <a:t>21–27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5400" y="4838700"/>
            <a:ext cx="5420360" cy="939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lang="id-ID">
                <a:solidFill>
                  <a:srgbClr val="1A1A1A"/>
                </a:solidFill>
                <a:latin typeface="Roboto"/>
              </a:rPr>
              <a:t>Dokumentasi Lapangan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Pidie Jaya</a:t>
            </a:r>
          </a:p>
        </p:txBody>
      </p:sp>
      <p:pic>
        <p:nvPicPr>
          <p:cNvPr id="23" name="Picture 22" descr="rr-sumatera-kisi-hun-21-1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1-2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1-3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Pidie Jaya</a:t>
            </a:r>
          </a:p>
        </p:txBody>
      </p:sp>
      <p:pic>
        <p:nvPicPr>
          <p:cNvPr id="36" name="Picture 35" descr="rr-sumatera-kisi-hun-21-5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1-6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1-7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Aceh Timur</a:t>
            </a:r>
          </a:p>
        </p:txBody>
      </p:sp>
      <p:pic>
        <p:nvPicPr>
          <p:cNvPr id="49" name="Picture 48" descr="rr-sumatera-kisi-hun-22-2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2-3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2-4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Bireuen</a:t>
            </a:r>
          </a:p>
        </p:txBody>
      </p:sp>
      <p:pic>
        <p:nvPicPr>
          <p:cNvPr id="62" name="Picture 61" descr="rr-sumatera-kisi-hun-22-5-131x1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293870"/>
            <a:ext cx="1673860" cy="1794256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629158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4" name="Picture 63" descr="rr-sumatera-kisi-hun-22-6-131x14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293870"/>
            <a:ext cx="1673860" cy="179425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806704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6" name="Picture 65" descr="rr-sumatera-kisi-hun-22-7-131x14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293870"/>
            <a:ext cx="1673860" cy="179425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984250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Kota Binjai, Sumatera Utara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23" name="Picture 22" descr="rr-sumatera-kisi-hun-23-2-131x141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3-4-131x141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3-3-131x141-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Kota Binjai</a:t>
            </a:r>
          </a:p>
        </p:txBody>
      </p:sp>
      <p:pic>
        <p:nvPicPr>
          <p:cNvPr id="36" name="Picture 35" descr="rr-sumatera-kisi-hun-23-5-131x141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3-7-131x141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3-6-131x141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Kota Binjai</a:t>
            </a:r>
          </a:p>
        </p:txBody>
      </p:sp>
      <p:pic>
        <p:nvPicPr>
          <p:cNvPr id="49" name="Picture 48" descr="rr-sumatera-kisi-hun-24-3-131x141-k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4-2-131x141-k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4-1-131x141-k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data-FFFFFF-608a1e16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Kota Binjai</a:t>
            </a:r>
          </a:p>
        </p:txBody>
      </p:sp>
      <p:sp>
        <p:nvSpPr>
          <p:cNvPr id="62" name="Oval 61"/>
          <p:cNvSpPr/>
          <p:nvPr/>
        </p:nvSpPr>
        <p:spPr>
          <a:xfrm>
            <a:off x="6291580" y="4456642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3" name="Picture 62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016" y="4516078"/>
            <a:ext cx="211328" cy="21132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736080" y="4291383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Stimulan</a:t>
            </a:r>
          </a:p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15 unit rumah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, realisasi belanja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100%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65" name="Oval 64"/>
          <p:cNvSpPr/>
          <p:nvPr/>
        </p:nvSpPr>
        <p:spPr>
          <a:xfrm>
            <a:off x="6291580" y="5112385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kalender-FFFFFF-a840cf9e-t2.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1016" y="5171821"/>
            <a:ext cx="211328" cy="2113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36080" y="4947126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Huntap</a:t>
            </a:r>
          </a:p>
          <a:p>
            <a:pPr algn="just"/>
            <a:r>
              <a:rPr sz="2001" b="0" lang="id-ID">
                <a:solidFill>
                  <a:srgbClr val="1A1A1A"/>
                </a:solidFill>
                <a:latin typeface="Roboto"/>
              </a:rPr>
              <a:t>Usulan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22 unit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, proses bangun 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0 unit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.</a:t>
            </a:r>
          </a:p>
        </p:txBody>
      </p:sp>
      <p:sp>
        <p:nvSpPr>
          <p:cNvPr id="68" name="Oval 67"/>
          <p:cNvSpPr/>
          <p:nvPr/>
        </p:nvSpPr>
        <p:spPr>
          <a:xfrm>
            <a:off x="6291580" y="5768128"/>
            <a:ext cx="330200" cy="3302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9" name="Picture 68" descr="pembiayaan-FFFFFF-5387a370-t2.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1016" y="5827564"/>
            <a:ext cx="211328" cy="21132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736080" y="5602870"/>
            <a:ext cx="4678680" cy="66071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just"/>
            <a:r>
              <a:rPr sz="2001" b="1" lang="id-ID">
                <a:solidFill>
                  <a:srgbClr val="1A1A1A"/>
                </a:solidFill>
                <a:latin typeface="Roboto"/>
              </a:rPr>
              <a:t>Dana</a:t>
            </a:r>
          </a:p>
          <a:p>
            <a:pPr algn="just"/>
            <a:r>
              <a:rPr sz="2001" b="0" lang="id-ID">
                <a:solidFill>
                  <a:srgbClr val="1A1A1A"/>
                </a:solidFill>
                <a:latin typeface="Roboto"/>
              </a:rPr>
              <a:t>Transfer Rp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450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 juta, belanja Rp</a:t>
            </a:r>
            <a:r>
              <a:rPr sz="2001" b="1" lang="id-ID">
                <a:solidFill>
                  <a:srgbClr val="1A1A1A"/>
                </a:solidFill>
                <a:latin typeface="Roboto"/>
              </a:rPr>
              <a:t>420</a:t>
            </a:r>
            <a:r>
              <a:rPr sz="2001" b="0" lang="id-ID">
                <a:solidFill>
                  <a:srgbClr val="1A1A1A"/>
                </a:solidFill>
                <a:latin typeface="Roboto"/>
              </a:rPr>
              <a:t> juta.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Lima Puluh Kota dan Pasaman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23" name="Picture 22" descr="rr-sumatera-kisi-hun-24-5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4-6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4-7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Lima Puluh Kota</a:t>
            </a:r>
          </a:p>
        </p:txBody>
      </p:sp>
      <p:pic>
        <p:nvPicPr>
          <p:cNvPr id="36" name="Picture 35" descr="rr-sumatera-kisi-hun-25-2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5-3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5-4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Lima Puluh Kota</a:t>
            </a:r>
          </a:p>
        </p:txBody>
      </p:sp>
      <p:pic>
        <p:nvPicPr>
          <p:cNvPr id="49" name="Picture 48" descr="rr-sumatera-kisi-hun-25-5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5-6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5-7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 Barat</a:t>
            </a:r>
          </a:p>
        </p:txBody>
      </p:sp>
      <p:pic>
        <p:nvPicPr>
          <p:cNvPr id="62" name="Picture 61" descr="rr-sumatera-kisi-hun-26-2-131x1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4293870"/>
            <a:ext cx="1673860" cy="1794256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629158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64" name="Picture 63" descr="rr-sumatera-kisi-hun-26-3-131x141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4293870"/>
            <a:ext cx="1673860" cy="179425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806704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66" name="Picture 65" descr="rr-sumatera-kisi-hun-26-4-131x141-k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4293870"/>
            <a:ext cx="1673860" cy="179425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984250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perbaikan rumah rusak di Pasaman dan Agam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Pasaman</a:t>
            </a:r>
          </a:p>
        </p:txBody>
      </p:sp>
      <p:pic>
        <p:nvPicPr>
          <p:cNvPr id="23" name="Picture 22" descr="rr-sumatera-kisi-hun-26-5-131x14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179425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7564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25" name="Picture 24" descr="rr-sumatera-kisi-hun-26-6-131x1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1794256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45110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27" name="Picture 26" descr="rr-sumatera-kisi-hun-26-7-131x1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17942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22656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64580" y="98298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Ringan, Agam</a:t>
            </a:r>
          </a:p>
        </p:txBody>
      </p:sp>
      <p:pic>
        <p:nvPicPr>
          <p:cNvPr id="36" name="Picture 35" descr="rr-sumatera-kisi-hun-27-2-131x14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580" y="1541780"/>
            <a:ext cx="1673860" cy="179425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6291580" y="336143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38" name="Picture 37" descr="rr-sumatera-kisi-hun-27-3-131x14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040" y="1541780"/>
            <a:ext cx="1673860" cy="1794256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8067040" y="336143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40" name="Picture 39" descr="rr-sumatera-kisi-hun-27-4-131x1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1541780"/>
            <a:ext cx="1673860" cy="1794256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9842500" y="336143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396367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864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7564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3870198"/>
            <a:ext cx="186944" cy="186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56640" y="373507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Rusak Sedang, Agam</a:t>
            </a:r>
          </a:p>
        </p:txBody>
      </p:sp>
      <p:pic>
        <p:nvPicPr>
          <p:cNvPr id="49" name="Picture 48" descr="rr-sumatera-kisi-hun-27-5-131x1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640" y="4293870"/>
            <a:ext cx="1673860" cy="1794256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675640" y="6113526"/>
            <a:ext cx="810545" cy="147574"/>
          </a:xfrm>
          <a:prstGeom prst="roundRect">
            <a:avLst>
              <a:gd name="adj" fmla="val 50000"/>
            </a:avLst>
          </a:prstGeom>
          <a:solidFill>
            <a:srgbClr val="F8DDE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Kondisi awal</a:t>
            </a:r>
          </a:p>
        </p:txBody>
      </p:sp>
      <p:pic>
        <p:nvPicPr>
          <p:cNvPr id="51" name="Picture 50" descr="rr-sumatera-kisi-hun-27-6-131x14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1100" y="4293870"/>
            <a:ext cx="1673860" cy="1794256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2451100" y="6113526"/>
            <a:ext cx="749862" cy="14757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Pengerjaan</a:t>
            </a:r>
          </a:p>
        </p:txBody>
      </p:sp>
      <p:pic>
        <p:nvPicPr>
          <p:cNvPr id="53" name="Picture 52" descr="rr-sumatera-kisi-hun-27-7-131x14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6560" y="4293870"/>
            <a:ext cx="1673860" cy="1794256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4226560" y="6113526"/>
            <a:ext cx="556182" cy="147574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830" b="1" lang="id-ID">
                <a:solidFill>
                  <a:srgbClr val="1A1A1A"/>
                </a:solidFill>
                <a:latin typeface="Roboto"/>
              </a:rPr>
              <a:t>Selesai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64580" y="373507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64580" y="3963670"/>
            <a:ext cx="5478780" cy="228600"/>
          </a:xfrm>
          <a:prstGeom prst="rect">
            <a:avLst/>
          </a:prstGeom>
          <a:solidFill>
            <a:srgbClr val="DD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64580" y="3735070"/>
            <a:ext cx="5478780" cy="2614930"/>
          </a:xfrm>
          <a:prstGeom prst="roundRect">
            <a:avLst>
              <a:gd name="adj" fmla="val 2088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91580" y="381762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data-FFFFFF-608a1e16-t2.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44158" y="3870198"/>
            <a:ext cx="186944" cy="18694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72580" y="3735070"/>
            <a:ext cx="4716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Capaian Pasaman dan Agam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1580" y="4293870"/>
            <a:ext cx="2039112" cy="421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KAB/KOTA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81492" y="4504690"/>
            <a:ext cx="420802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UNIT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03894" y="4504690"/>
            <a:ext cx="627417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BELANJA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32911" y="4504690"/>
            <a:ext cx="602566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USULAN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7076" y="4504690"/>
            <a:ext cx="478450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PROSES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7127" y="4504690"/>
            <a:ext cx="497633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6B7280"/>
                </a:solidFill>
                <a:latin typeface="Roboto"/>
              </a:rPr>
              <a:t>SELESAI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492" y="4293870"/>
            <a:ext cx="114981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STIMULAN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432292" y="4491990"/>
            <a:ext cx="104821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9632911" y="4293870"/>
            <a:ext cx="1781849" cy="2108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750" b="1" lang="id-ID" spc="80">
                <a:solidFill>
                  <a:srgbClr val="2E3440"/>
                </a:solidFill>
                <a:latin typeface="Roboto"/>
              </a:rPr>
              <a:t>HUNTAP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683711" y="4491990"/>
            <a:ext cx="1680249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72" name="Pita kolom utama"/>
          <p:cNvSpPr/>
          <p:nvPr/>
        </p:nvSpPr>
        <p:spPr>
          <a:xfrm>
            <a:off x="6291580" y="4715510"/>
            <a:ext cx="2089912" cy="154559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91580" y="4715510"/>
            <a:ext cx="522478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6291580" y="4715510"/>
            <a:ext cx="203911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Pasaman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81492" y="4715510"/>
            <a:ext cx="42080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25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917131" y="4986922"/>
            <a:ext cx="600943" cy="229972"/>
          </a:xfrm>
          <a:prstGeom prst="roundRect">
            <a:avLst>
              <a:gd name="adj" fmla="val 50000"/>
            </a:avLst>
          </a:prstGeom>
          <a:solidFill>
            <a:srgbClr val="DDF0E4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05" b="1" lang="id-ID">
                <a:solidFill>
                  <a:srgbClr val="1A1A1A"/>
                </a:solidFill>
                <a:latin typeface="Roboto"/>
              </a:rPr>
              <a:t>96,6%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2911" y="4715510"/>
            <a:ext cx="602566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7076" y="4715510"/>
            <a:ext cx="478450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17127" y="4715510"/>
            <a:ext cx="497633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0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291580" y="5488305"/>
            <a:ext cx="5224780" cy="0"/>
          </a:xfrm>
          <a:prstGeom prst="line">
            <a:avLst/>
          </a:prstGeom>
          <a:ln w="6350">
            <a:solidFill>
              <a:srgbClr val="E6EAF0"/>
            </a:solidFill>
          </a:ln>
        </p:spPr>
      </p:cxnSp>
      <p:sp>
        <p:nvSpPr>
          <p:cNvPr id="81" name="TextBox 80"/>
          <p:cNvSpPr txBox="1"/>
          <p:nvPr/>
        </p:nvSpPr>
        <p:spPr>
          <a:xfrm>
            <a:off x="6291580" y="5488305"/>
            <a:ext cx="203911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55" b="1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81492" y="5488305"/>
            <a:ext cx="420802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112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17131" y="5759717"/>
            <a:ext cx="600943" cy="22997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005" b="1" lang="id-ID">
                <a:solidFill>
                  <a:srgbClr val="1A1A1A"/>
                </a:solidFill>
                <a:latin typeface="Roboto"/>
              </a:rPr>
              <a:t>81,4%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32911" y="5488305"/>
            <a:ext cx="602566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1.124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37076" y="5488305"/>
            <a:ext cx="478450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82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17127" y="5488305"/>
            <a:ext cx="497633" cy="77279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655" b="1" lang="id-ID">
                <a:solidFill>
                  <a:srgbClr val="1A1A1A"/>
                </a:solidFill>
                <a:latin typeface="Roboto"/>
              </a:rPr>
              <a:t>10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Aceh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1109472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1109472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1109472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1045972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Huntap di Aceh</a:t>
            </a:r>
          </a:p>
        </p:txBody>
      </p:sp>
      <p:pic>
        <p:nvPicPr>
          <p:cNvPr id="23" name="Picture 22" descr="rr-sumatera-kisi-hun-28-1-279x1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3545840" cy="213588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564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25" name="Picture 24" descr="rr-sumatera-kisi-hun-28-2-279x1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080" y="1541780"/>
            <a:ext cx="3545840" cy="21358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08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pic>
        <p:nvPicPr>
          <p:cNvPr id="27" name="Picture 26" descr="rr-sumatera-kisi-hun-28-3-279x1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0520" y="1541780"/>
            <a:ext cx="3545840" cy="21358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70520" y="370306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Tamiang</a:t>
            </a:r>
          </a:p>
        </p:txBody>
      </p:sp>
      <p:pic>
        <p:nvPicPr>
          <p:cNvPr id="29" name="Picture 28" descr="rr-sumatera-kisi-hun-28-5-279x16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952240"/>
            <a:ext cx="3545840" cy="21358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564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Bireuen</a:t>
            </a:r>
          </a:p>
        </p:txBody>
      </p:sp>
      <p:pic>
        <p:nvPicPr>
          <p:cNvPr id="31" name="Picture 30" descr="rr-sumatera-kisi-hun-28-6-279x168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3080" y="3952240"/>
            <a:ext cx="3545840" cy="213588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2308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Pidie Jaya</a:t>
            </a:r>
          </a:p>
        </p:txBody>
      </p:sp>
      <p:pic>
        <p:nvPicPr>
          <p:cNvPr id="33" name="Picture 32" descr="rr-sumatera-kisi-hun-28-7-279x168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70520" y="3952240"/>
            <a:ext cx="3545840" cy="21358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970520" y="6113526"/>
            <a:ext cx="354584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Aceh Timur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9890"/>
            <a:ext cx="10642600" cy="391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2200" b="1" lang="id-ID">
                <a:solidFill>
                  <a:srgbClr val="1A1A1A"/>
                </a:solidFill>
                <a:latin typeface="Roboto"/>
              </a:rPr>
              <a:t>Dokumentasi pembangunan huntap di Sumatera Utara dan Sumatera Barat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0678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446520"/>
            <a:ext cx="11094720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380" y="365760"/>
            <a:ext cx="347980" cy="439420"/>
          </a:xfrm>
          <a:prstGeom prst="rect">
            <a:avLst/>
          </a:prstGeom>
        </p:spPr>
      </p:pic>
      <p:sp>
        <p:nvSpPr>
          <p:cNvPr id="6" name="Pita kaki"/>
          <p:cNvSpPr/>
          <p:nvPr/>
        </p:nvSpPr>
        <p:spPr>
          <a:xfrm>
            <a:off x="0" y="6446520"/>
            <a:ext cx="12192000" cy="411480"/>
          </a:xfrm>
          <a:gradFill rotWithShape="1">
            <a:gsLst>
              <a:gs pos="0">
                <a:srgbClr val="DCEBF8">
                  <a:alpha val="0"/>
                </a:srgbClr>
              </a:gs>
              <a:gs pos="100000">
                <a:srgbClr val="DCEBF8"/>
              </a:gs>
            </a:gsLst>
            <a:lin ang="0" scaled="0"/>
          </a:gradFill>
          <a:prstGeom prst="rect">
            <a:avLst/>
          </a:prstGeom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8986" y="6510020"/>
            <a:ext cx="2808734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0" lang="id-ID">
                <a:solidFill>
                  <a:srgbClr val="1A1A1A"/>
                </a:solidFill>
                <a:latin typeface="Roboto"/>
              </a:rPr>
              <a:t>© 2026 Badan Nasional Penanggulangan Bencana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720" y="6510020"/>
            <a:ext cx="548640" cy="2006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80" b="1" lang="id-ID">
                <a:solidFill>
                  <a:srgbClr val="1A1A1A"/>
                </a:solidFill>
                <a:latin typeface="Roboto"/>
              </a:rPr>
              <a:t>27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15900"/>
            <a:ext cx="11094720" cy="0"/>
          </a:xfrm>
          <a:prstGeom prst="line">
            <a:avLst/>
          </a:prstGeom>
          <a:ln w="9525">
            <a:solidFill>
              <a:srgbClr val="BFC5C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48640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01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Dasar hukum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7584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02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Stimulan RS dan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6528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03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Huntap dan 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6B7280"/>
                </a:solidFill>
                <a:latin typeface="Roboto"/>
              </a:rPr>
              <a:t>04  </a:t>
            </a:r>
            <a:r>
              <a:rPr sz="800" b="0" lang="id-ID">
                <a:solidFill>
                  <a:srgbClr val="6B7280"/>
                </a:solidFill>
                <a:latin typeface="Roboto"/>
              </a:rPr>
              <a:t>Kendala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4416" y="25400"/>
            <a:ext cx="2218944" cy="177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00" b="1" lang="id-ID">
                <a:solidFill>
                  <a:srgbClr val="D9600B"/>
                </a:solidFill>
                <a:latin typeface="Roboto"/>
              </a:rPr>
              <a:t>05  </a:t>
            </a:r>
            <a:r>
              <a:rPr sz="800" b="1" lang="id-ID">
                <a:solidFill>
                  <a:srgbClr val="051C2C"/>
                </a:solidFill>
                <a:latin typeface="Roboto"/>
              </a:rPr>
              <a:t>Dokumentasi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0616" y="200025"/>
            <a:ext cx="2066544" cy="3175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982980"/>
            <a:ext cx="547878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982980"/>
            <a:ext cx="547878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564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218" y="1118108"/>
            <a:ext cx="186944" cy="1869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664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Langkat, Sumatera Utara</a:t>
            </a:r>
          </a:p>
        </p:txBody>
      </p:sp>
      <p:pic>
        <p:nvPicPr>
          <p:cNvPr id="23" name="Picture 22" descr="rr-sumatera-kisi-hun-29-1-131x168-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" y="1541780"/>
            <a:ext cx="1673860" cy="213588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564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5" name="Picture 24" descr="rr-sumatera-kisi-hun-29-3-131x168-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100" y="1541780"/>
            <a:ext cx="1673860" cy="21358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45110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7" name="Picture 26" descr="rr-sumatera-kisi-hun-29-4-131x16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560" y="1541780"/>
            <a:ext cx="1673860" cy="213588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22656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29" name="Picture 28" descr="rr-sumatera-kisi-hun-29-5-131x168-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640" y="3952240"/>
            <a:ext cx="1673860" cy="213588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564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1" name="Picture 30" descr="rr-sumatera-kisi-hun-29-6-131x168-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1100" y="3952240"/>
            <a:ext cx="1673860" cy="213588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5110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pic>
        <p:nvPicPr>
          <p:cNvPr id="33" name="Picture 32" descr="rr-sumatera-kisi-hun-29-7-131x168-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6560" y="3952240"/>
            <a:ext cx="1673860" cy="21358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22656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Langkat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64580" y="982980"/>
            <a:ext cx="5478780" cy="536702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>
            <a:noFill/>
          </a:ln>
          <a:effectLst>
            <a:outerShdw blurRad="63500" dist="19050" dir="5400000" algn="t" rotWithShape="0">
              <a:srgbClr val="1A1A1A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64580" y="982980"/>
            <a:ext cx="5478780" cy="457200"/>
          </a:xfrm>
          <a:prstGeom prst="roundRect">
            <a:avLst>
              <a:gd name="adj" fmla="val 11944"/>
            </a:avLst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4580" y="1211580"/>
            <a:ext cx="5478780" cy="228600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64580" y="982980"/>
            <a:ext cx="5478780" cy="5367020"/>
          </a:xfrm>
          <a:prstGeom prst="roundRect">
            <a:avLst>
              <a:gd name="adj" fmla="val 1017"/>
            </a:avLst>
          </a:prstGeom>
          <a:noFill/>
          <a:ln w="9525">
            <a:solidFill>
              <a:srgbClr val="BFC5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91580" y="1065530"/>
            <a:ext cx="292100" cy="292100"/>
          </a:xfrm>
          <a:prstGeom prst="ellipse">
            <a:avLst/>
          </a:prstGeom>
          <a:solidFill>
            <a:srgbClr val="051C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rumah-FFFFFF-320df645-t2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158" y="1118108"/>
            <a:ext cx="186944" cy="186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672580" y="982980"/>
            <a:ext cx="484378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60" b="1" lang="id-ID">
                <a:solidFill>
                  <a:srgbClr val="1A1A1A"/>
                </a:solidFill>
                <a:latin typeface="Roboto"/>
              </a:rPr>
              <a:t>Sumatera Barat</a:t>
            </a:r>
          </a:p>
        </p:txBody>
      </p:sp>
      <p:pic>
        <p:nvPicPr>
          <p:cNvPr id="42" name="Picture 41" descr="rr-sumatera-kisi-hun-30-1-131x16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1580" y="1541780"/>
            <a:ext cx="1673860" cy="213588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9158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Lima Puluh Kota</a:t>
            </a:r>
          </a:p>
        </p:txBody>
      </p:sp>
      <p:pic>
        <p:nvPicPr>
          <p:cNvPr id="44" name="Picture 43" descr="rr-sumatera-kisi-hun-30-2-131x16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7040" y="1541780"/>
            <a:ext cx="1673860" cy="213588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6704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Padang Pariaman</a:t>
            </a:r>
          </a:p>
        </p:txBody>
      </p:sp>
      <p:pic>
        <p:nvPicPr>
          <p:cNvPr id="46" name="Picture 45" descr="rr-sumatera-kisi-hun-30-3-131x16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2500" y="1541780"/>
            <a:ext cx="1673860" cy="213588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842500" y="370306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</a:t>
            </a:r>
          </a:p>
        </p:txBody>
      </p:sp>
      <p:pic>
        <p:nvPicPr>
          <p:cNvPr id="48" name="Picture 47" descr="rr-sumatera-kisi-hun-30-4-131x16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91580" y="3952240"/>
            <a:ext cx="1673860" cy="213588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29158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0" name="Picture 49" descr="rr-sumatera-kisi-hun-30-5-131x16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7040" y="3952240"/>
            <a:ext cx="1673860" cy="213588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06704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Agam</a:t>
            </a:r>
          </a:p>
        </p:txBody>
      </p:sp>
      <p:pic>
        <p:nvPicPr>
          <p:cNvPr id="52" name="Picture 51" descr="rr-sumatera-kisi-hun-30-7-131x16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42500" y="3952240"/>
            <a:ext cx="1673860" cy="213588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842500" y="6113526"/>
            <a:ext cx="1673860" cy="1475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30" b="0" lang="id-ID">
                <a:solidFill>
                  <a:srgbClr val="1A1A1A"/>
                </a:solidFill>
                <a:latin typeface="Roboto"/>
              </a:rPr>
              <a:t>Kota Padang Panjang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6544310"/>
            <a:ext cx="38100" cy="132080"/>
          </a:xfrm>
          <a:prstGeom prst="rect">
            <a:avLst/>
          </a:prstGeom>
          <a:solidFill>
            <a:srgbClr val="4A9B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510020"/>
            <a:ext cx="7239506" cy="2006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60" b="1" lang="id-ID">
                <a:solidFill>
                  <a:srgbClr val="6B7280"/>
                </a:solidFill>
                <a:latin typeface="Roboto"/>
              </a:rPr>
              <a:t>Sumber: </a:t>
            </a:r>
            <a:r>
              <a:rPr sz="860" b="0" lang="id-ID">
                <a:solidFill>
                  <a:srgbClr val="6B7280"/>
                </a:solidFill>
                <a:latin typeface="Roboto"/>
              </a:rPr>
              <a:t>Foto dokumentasi Kedeputian Bidang RR BNPB,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r-sumatera-sampul-rr-penu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900" y="0"/>
            <a:ext cx="58801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23760" y="6565900"/>
            <a:ext cx="469392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lang="id-ID">
                <a:solidFill>
                  <a:srgbClr val="FFFFFF"/>
                </a:solidFill>
                <a:latin typeface="Roboto"/>
              </a:rPr>
              <a:t>Foto: Dokumentasi Kedeputian Bidang RR BNPB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umber-bnp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126" y="673913"/>
            <a:ext cx="526869" cy="663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468880"/>
            <a:ext cx="5669280" cy="100584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l"/>
            <a:r>
              <a:rPr sz="5400" b="1" lang="id-ID">
                <a:solidFill>
                  <a:srgbClr val="1A1A1A"/>
                </a:solidFill>
                <a:latin typeface="Roboto"/>
              </a:rPr>
              <a:t>Terima kasih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44900"/>
            <a:ext cx="4754880" cy="25400"/>
          </a:xfrm>
          <a:prstGeom prst="rect">
            <a:avLst/>
          </a:prstGeom>
          <a:solidFill>
            <a:srgbClr val="D960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5669280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70" b="1" lang="id-ID">
                <a:solidFill>
                  <a:srgbClr val="00499D"/>
                </a:solidFill>
                <a:latin typeface="Roboto"/>
              </a:rPr>
              <a:t>Badan Nasional Penanggulangan Bencana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4180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90" b="0" lang="id-ID">
                <a:solidFill>
                  <a:srgbClr val="2E3440"/>
                </a:solidFill>
                <a:latin typeface="Roboto"/>
              </a:rPr>
              <a:t>Progres Sektor Perumahan RR Pascabencana di Wilayah Sumatera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36998"/>
            <a:ext cx="2926080" cy="38354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/>
            <a:r>
              <a:rPr sz="1260" b="1" lang="id-ID">
                <a:solidFill>
                  <a:srgbClr val="FFFFFF"/>
                </a:solidFill>
                <a:latin typeface="Roboto"/>
              </a:rPr>
              <a:t>Selasa, 27 Oktober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1A1A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 Sektor Perumahan Rehabilitasi dan Rekonstruksi Pascabencana di Wilayah Sumatera</dc:title>
  <dc:subject>Bantuan Stimulan Rumah Rusak dan Hunian Tetap Pascabencana Siklon Senyar</dc:subject>
  <dc:creator>Badan Nasional Penanggulangan Bencana</dc:creator>
  <cp:lastModifiedBy>Badan Nasional Penanggulangan Bencana</cp:lastModifiedBy>
  <cp:revision>1</cp:revision>
  <dcterms:created xsi:type="dcterms:W3CDTF">2026-10-22T07:37:45Z</dcterms:created>
  <dcterms:modified xsi:type="dcterms:W3CDTF">2026-10-22T07:37:45Z</dcterms:modified>
  <cp:keywords>BNPB; rehabilitasi dan rekonstruksi; huntap; stimulan rumah; Sumatera</cp:keywords>
  <dc:language>id-ID</dc:language>
  <cp:category>Kajian</cp:category>
  <dc:description>Stimulan rumah rusak dan huntap pascabencana Sumatera berjalan; percepatan bergantung pada material, lahan, anggaran, dan data.</dc:description>
</cp:coreProperties>
</file>