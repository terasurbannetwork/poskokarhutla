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image" Target="../media/image12.png"/><Relationship Id="rId13" Type="http://schemas.openxmlformats.org/officeDocument/2006/relationships/image" Target="../media/image11.png"/><Relationship Id="rId14" Type="http://schemas.openxmlformats.org/officeDocument/2006/relationships/image" Target="../media/image17.png"/><Relationship Id="rId1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8.png"/><Relationship Id="rId9" Type="http://schemas.openxmlformats.org/officeDocument/2006/relationships/image" Target="../media/image10.png"/><Relationship Id="rId10" Type="http://schemas.openxmlformats.org/officeDocument/2006/relationships/image" Target="../media/image13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4.png"/><Relationship Id="rId14" Type="http://schemas.openxmlformats.org/officeDocument/2006/relationships/image" Target="../media/image12.png"/><Relationship Id="rId15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25.jpg"/><Relationship Id="rId9" Type="http://schemas.openxmlformats.org/officeDocument/2006/relationships/image" Target="../media/image26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8.jpg"/><Relationship Id="rId14" Type="http://schemas.openxmlformats.org/officeDocument/2006/relationships/image" Target="../media/image39.jpg"/><Relationship Id="rId15" Type="http://schemas.openxmlformats.org/officeDocument/2006/relationships/image" Target="../media/image4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Relationship Id="rId13" Type="http://schemas.openxmlformats.org/officeDocument/2006/relationships/image" Target="../media/image17.png"/><Relationship Id="rId14" Type="http://schemas.openxmlformats.org/officeDocument/2006/relationships/image" Target="../media/image12.png"/><Relationship Id="rId15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Relationship Id="rId9" Type="http://schemas.openxmlformats.org/officeDocument/2006/relationships/image" Target="../media/image55.jpg"/><Relationship Id="rId10" Type="http://schemas.openxmlformats.org/officeDocument/2006/relationships/image" Target="../media/image56.jpg"/><Relationship Id="rId11" Type="http://schemas.openxmlformats.org/officeDocument/2006/relationships/image" Target="../media/image57.jpg"/><Relationship Id="rId12" Type="http://schemas.openxmlformats.org/officeDocument/2006/relationships/image" Target="../media/image58.jpg"/><Relationship Id="rId13" Type="http://schemas.openxmlformats.org/officeDocument/2006/relationships/image" Target="../media/image59.jpg"/><Relationship Id="rId14" Type="http://schemas.openxmlformats.org/officeDocument/2006/relationships/image" Target="../media/image60.jpg"/><Relationship Id="rId15" Type="http://schemas.openxmlformats.org/officeDocument/2006/relationships/image" Target="../media/image6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65.jpg"/><Relationship Id="rId8" Type="http://schemas.openxmlformats.org/officeDocument/2006/relationships/image" Target="../media/image66.jpg"/><Relationship Id="rId9" Type="http://schemas.openxmlformats.org/officeDocument/2006/relationships/image" Target="../media/image67.jpg"/><Relationship Id="rId10" Type="http://schemas.openxmlformats.org/officeDocument/2006/relationships/image" Target="../media/image68.jpg"/><Relationship Id="rId11" Type="http://schemas.openxmlformats.org/officeDocument/2006/relationships/image" Target="../media/image69.jpg"/><Relationship Id="rId12" Type="http://schemas.openxmlformats.org/officeDocument/2006/relationships/image" Target="../media/image70.jpg"/><Relationship Id="rId1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1.jpg"/><Relationship Id="rId5" Type="http://schemas.openxmlformats.org/officeDocument/2006/relationships/image" Target="../media/image72.jpg"/><Relationship Id="rId6" Type="http://schemas.openxmlformats.org/officeDocument/2006/relationships/image" Target="../media/image73.jpg"/><Relationship Id="rId7" Type="http://schemas.openxmlformats.org/officeDocument/2006/relationships/image" Target="../media/image74.jpg"/><Relationship Id="rId8" Type="http://schemas.openxmlformats.org/officeDocument/2006/relationships/image" Target="../media/image75.jpg"/><Relationship Id="rId9" Type="http://schemas.openxmlformats.org/officeDocument/2006/relationships/image" Target="../media/image7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7.jpg"/><Relationship Id="rId5" Type="http://schemas.openxmlformats.org/officeDocument/2006/relationships/image" Target="../media/image78.jpg"/><Relationship Id="rId6" Type="http://schemas.openxmlformats.org/officeDocument/2006/relationships/image" Target="../media/image79.jpg"/><Relationship Id="rId7" Type="http://schemas.openxmlformats.org/officeDocument/2006/relationships/image" Target="../media/image80.jpg"/><Relationship Id="rId8" Type="http://schemas.openxmlformats.org/officeDocument/2006/relationships/image" Target="../media/image81.jpg"/><Relationship Id="rId9" Type="http://schemas.openxmlformats.org/officeDocument/2006/relationships/image" Target="../media/image82.jpg"/><Relationship Id="rId10" Type="http://schemas.openxmlformats.org/officeDocument/2006/relationships/image" Target="../media/image83.jpg"/><Relationship Id="rId11" Type="http://schemas.openxmlformats.org/officeDocument/2006/relationships/image" Target="../media/image84.jpg"/><Relationship Id="rId12" Type="http://schemas.openxmlformats.org/officeDocument/2006/relationships/image" Target="../media/image85.jpg"/><Relationship Id="rId13" Type="http://schemas.openxmlformats.org/officeDocument/2006/relationships/image" Target="../media/image86.jpg"/><Relationship Id="rId14" Type="http://schemas.openxmlformats.org/officeDocument/2006/relationships/image" Target="../media/image87.jpg"/><Relationship Id="rId15" Type="http://schemas.openxmlformats.org/officeDocument/2006/relationships/image" Target="../media/image8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r-sumatera-sampul-rr-samp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Foto: Dokumentasi Kedeputian Bidang RR BNPB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lang="id-ID">
                <a:solidFill>
                  <a:srgbClr val="1A1A1A"/>
                </a:solidFill>
                <a:latin typeface="Roboto"/>
              </a:rPr>
              <a:t>Progres Sektor Perumahan</a:t>
            </a:r>
          </a:p>
          <a:p>
            <a:pPr algn="l">
              <a:lnSpc>
                <a:spcPct val="95000"/>
              </a:lnSpc>
            </a:pPr>
            <a:r>
              <a:rPr sz="2600" b="1" lang="id-ID">
                <a:solidFill>
                  <a:srgbClr val="1A1A1A"/>
                </a:solidFill>
                <a:latin typeface="Roboto"/>
              </a:rPr>
              <a:t>Rehabilitasi dan Rekonstruksi</a:t>
            </a:r>
          </a:p>
          <a:p>
            <a:pPr algn="l">
              <a:lnSpc>
                <a:spcPct val="95000"/>
              </a:lnSpc>
            </a:pPr>
            <a:r>
              <a:rPr sz="2600" b="1" lang="id-ID">
                <a:solidFill>
                  <a:srgbClr val="1A1A1A"/>
                </a:solidFill>
                <a:latin typeface="Roboto"/>
              </a:rPr>
              <a:t>Pascabencana di Wilayah Sumatera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5111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10" b="0" lang="id-ID">
                <a:solidFill>
                  <a:srgbClr val="2E3440"/>
                </a:solidFill>
                <a:latin typeface="Roboto"/>
              </a:rPr>
              <a:t>Bantuan Stimulan Rumah Rusak dan Hunian Tetap Pascabencana Siklon Senyar di Tiga Provinsi Sumatera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9375"/>
            <a:ext cx="566928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39" b="1" lang="id-ID">
                <a:solidFill>
                  <a:srgbClr val="00499D"/>
                </a:solidFill>
                <a:latin typeface="Roboto"/>
              </a:rPr>
              <a:t>Badan Nasional Penanggulangan Bencana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232275"/>
            <a:ext cx="512064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4384675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D9600B"/>
                </a:solidFill>
                <a:latin typeface="Roboto"/>
              </a:rPr>
              <a:t>Dipresentasikan oleh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38675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1A1A1A"/>
                </a:solidFill>
                <a:latin typeface="Roboto"/>
              </a:rPr>
              <a:t>Kedeputian Bidang Rehabilitasi dan Rekonstruksi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04960" y="508000"/>
            <a:ext cx="2438400" cy="1053828"/>
          </a:xfrm>
          <a:prstGeom prst="roundRect">
            <a:avLst>
              <a:gd name="adj" fmla="val 964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berakhl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560" y="609600"/>
            <a:ext cx="2235200" cy="8506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5095875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60" b="1" lang="id-ID">
                <a:solidFill>
                  <a:srgbClr val="FFFFFF"/>
                </a:solidFill>
                <a:latin typeface="Roboto"/>
              </a:rPr>
              <a:t>Selasa, 27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Bantuan stimulan rumah rusak dan hunian tetap pascabencana berjalan di tiga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provinsi: Aceh, Sumatera Utara, Sumatera Barat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257269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STIMULAN RUSAK SEDANG DAN RINGAN</a:t>
            </a:r>
          </a:p>
        </p:txBody>
      </p:sp>
      <p:pic>
        <p:nvPicPr>
          <p:cNvPr id="11" name="Picture 10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mbiayaan-051C2C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748,9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ke daerah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78,9%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realisasi belanja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9078" y="1337310"/>
            <a:ext cx="118958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HUNIAN TETAP</a:t>
            </a:r>
          </a:p>
        </p:txBody>
      </p:sp>
      <p:pic>
        <p:nvPicPr>
          <p:cNvPr id="24" name="Picture 23" descr="rumah-FFFFFF-320df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rumah-051C2C-320df6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312833" y="1682801"/>
            <a:ext cx="468582" cy="17007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75" b="1" lang="id-ID">
                <a:solidFill>
                  <a:srgbClr val="2E3440"/>
                </a:solidFill>
                <a:latin typeface="Roboto"/>
              </a:rPr>
              <a:t>2,2%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0888" y="1630680"/>
            <a:ext cx="1385745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selesai dari </a:t>
            </a:r>
            <a:r>
              <a:rPr sz="860" b="1" lang="id-ID">
                <a:solidFill>
                  <a:srgbClr val="2E3440"/>
                </a:solidFill>
                <a:latin typeface="Roboto"/>
              </a:rPr>
              <a:t>38.651</a:t>
            </a:r>
            <a:r>
              <a:rPr sz="860" b="0" lang="id-ID">
                <a:solidFill>
                  <a:srgbClr val="2E3440"/>
                </a:solidFill>
                <a:latin typeface="Roboto"/>
              </a:rPr>
              <a:t> usulan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051C2C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955830" y="1682801"/>
            <a:ext cx="468582" cy="17007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75" b="1" lang="id-ID">
                <a:solidFill>
                  <a:srgbClr val="2E3440"/>
                </a:solidFill>
                <a:latin typeface="Roboto"/>
              </a:rPr>
              <a:t>2,9%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630680"/>
            <a:ext cx="1385745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proses bangun dari </a:t>
            </a:r>
            <a:r>
              <a:rPr sz="860" b="1" lang="id-ID">
                <a:solidFill>
                  <a:srgbClr val="2E3440"/>
                </a:solidFill>
                <a:latin typeface="Roboto"/>
              </a:rPr>
              <a:t>30.430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3606800" cy="400304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3606800" cy="228600"/>
          </a:xfrm>
          <a:prstGeom prst="rect">
            <a:avLst/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3606800" cy="400304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rumah-FFFFFF-320df645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18" y="2482088"/>
            <a:ext cx="186944" cy="1869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6640" y="234696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Capaian</a:t>
            </a:r>
          </a:p>
        </p:txBody>
      </p:sp>
      <p:sp>
        <p:nvSpPr>
          <p:cNvPr id="44" name="Oval 43"/>
          <p:cNvSpPr/>
          <p:nvPr/>
        </p:nvSpPr>
        <p:spPr>
          <a:xfrm>
            <a:off x="675640" y="31600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rumah-FFFFFF-320df645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76" y="3219514"/>
            <a:ext cx="211328" cy="2113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20140" y="292142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Stimulan</a:t>
            </a:r>
          </a:p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35.407 unit rumah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 di </a:t>
            </a:r>
            <a:r>
              <a:rPr sz="1642" b="1" lang="id-ID">
                <a:solidFill>
                  <a:srgbClr val="1A1A1A"/>
                </a:solidFill>
                <a:latin typeface="Roboto"/>
              </a:rPr>
              <a:t>42 kabupaten/kota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47" name="Oval 46"/>
          <p:cNvSpPr/>
          <p:nvPr/>
        </p:nvSpPr>
        <p:spPr>
          <a:xfrm>
            <a:off x="675640" y="39989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regulasi-FFFFFF-e639fe9a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076" y="4058348"/>
            <a:ext cx="211328" cy="2113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20140" y="3760264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Reviu huntap</a:t>
            </a:r>
          </a:p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30.430 usulan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642" b="1" lang="id-ID">
                <a:solidFill>
                  <a:srgbClr val="1A1A1A"/>
                </a:solidFill>
                <a:latin typeface="Roboto"/>
              </a:rPr>
              <a:t>38.651 usulan huntap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50" name="Oval 49"/>
          <p:cNvSpPr/>
          <p:nvPr/>
        </p:nvSpPr>
        <p:spPr>
          <a:xfrm>
            <a:off x="675640" y="483774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kalender-FFFFFF-a840cf9e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076" y="4897183"/>
            <a:ext cx="211328" cy="2113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20140" y="459909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Usulan lanjutan</a:t>
            </a:r>
          </a:p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26 kabupaten/kota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 sedang berproses.</a:t>
            </a:r>
          </a:p>
        </p:txBody>
      </p:sp>
      <p:sp>
        <p:nvSpPr>
          <p:cNvPr id="53" name="Oval 52"/>
          <p:cNvSpPr/>
          <p:nvPr/>
        </p:nvSpPr>
        <p:spPr>
          <a:xfrm>
            <a:off x="675640" y="567658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regulasi-FFFFFF-e639fe9a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076" y="5736018"/>
            <a:ext cx="211328" cy="2113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20140" y="5307584"/>
            <a:ext cx="2806700" cy="106819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Rencana transfer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Rp</a:t>
            </a:r>
            <a:r>
              <a:rPr sz="1642" b="1" lang="id-ID">
                <a:solidFill>
                  <a:srgbClr val="1A1A1A"/>
                </a:solidFill>
                <a:latin typeface="Roboto"/>
              </a:rPr>
              <a:t>1.751,1</a:t>
            </a:r>
            <a:r>
              <a:rPr sz="1642" b="0" lang="id-ID">
                <a:solidFill>
                  <a:srgbClr val="1A1A1A"/>
                </a:solidFill>
                <a:latin typeface="Roboto"/>
              </a:rPr>
              <a:t> M ke daerah, tahap II–IV akhir Oktober 2026.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2600" y="2346960"/>
            <a:ext cx="3606800" cy="400304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292600" y="234696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2600" y="2575560"/>
            <a:ext cx="3606800" cy="228600"/>
          </a:xfrm>
          <a:prstGeom prst="rect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292600" y="2346960"/>
            <a:ext cx="3606800" cy="400304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41960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peringatan-FFFFFF-6a80b716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2178" y="2482088"/>
            <a:ext cx="186944" cy="18694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800600" y="234696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Kendala</a:t>
            </a:r>
          </a:p>
        </p:txBody>
      </p:sp>
      <p:sp>
        <p:nvSpPr>
          <p:cNvPr id="63" name="Oval 62"/>
          <p:cNvSpPr/>
          <p:nvPr/>
        </p:nvSpPr>
        <p:spPr>
          <a:xfrm>
            <a:off x="4419600" y="31600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infrastruktur-FFFFFF-ba1c96e7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9036" y="3219514"/>
            <a:ext cx="211328" cy="21132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64100" y="292142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Material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Semen dan besi langka, harga naik.</a:t>
            </a:r>
          </a:p>
        </p:txBody>
      </p:sp>
      <p:sp>
        <p:nvSpPr>
          <p:cNvPr id="66" name="Oval 65"/>
          <p:cNvSpPr/>
          <p:nvPr/>
        </p:nvSpPr>
        <p:spPr>
          <a:xfrm>
            <a:off x="4419600" y="39989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luas-FFFFFF-12322028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9036" y="4058348"/>
            <a:ext cx="211328" cy="21132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64100" y="3760264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Lahan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Status tanah adat dan ulayat belum pasti.</a:t>
            </a:r>
          </a:p>
        </p:txBody>
      </p:sp>
      <p:sp>
        <p:nvSpPr>
          <p:cNvPr id="69" name="Oval 68"/>
          <p:cNvSpPr/>
          <p:nvPr/>
        </p:nvSpPr>
        <p:spPr>
          <a:xfrm>
            <a:off x="4419600" y="483774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pembiayaan-FFFFFF-5387a370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79036" y="4897183"/>
            <a:ext cx="211328" cy="21132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64100" y="459909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Anggaran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ABT DSP rumah rusak berat terlambat cair.</a:t>
            </a:r>
          </a:p>
        </p:txBody>
      </p:sp>
      <p:sp>
        <p:nvSpPr>
          <p:cNvPr id="72" name="Oval 71"/>
          <p:cNvSpPr/>
          <p:nvPr/>
        </p:nvSpPr>
        <p:spPr>
          <a:xfrm>
            <a:off x="4419600" y="567658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data-FFFFFF-608a1e16-t2.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9036" y="5736018"/>
            <a:ext cx="211328" cy="21132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864100" y="5437934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Data penerima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Verifikasi dan validasi oleh pemda terlambat.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36560" y="2346960"/>
            <a:ext cx="3606800" cy="400304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036560" y="234696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36560" y="2575560"/>
            <a:ext cx="360680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036560" y="2346960"/>
            <a:ext cx="3606800" cy="400304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6356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lembaga-FFFFFF-f44193c4-t2.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6138" y="2482088"/>
            <a:ext cx="186944" cy="18694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544560" y="234696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Tindak Lanjut</a:t>
            </a:r>
          </a:p>
        </p:txBody>
      </p:sp>
      <p:sp>
        <p:nvSpPr>
          <p:cNvPr id="82" name="Oval 81"/>
          <p:cNvSpPr/>
          <p:nvPr/>
        </p:nvSpPr>
        <p:spPr>
          <a:xfrm>
            <a:off x="8163560" y="31600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3" name="Picture 82" descr="infrastruktur-FFFFFF-ba1c96e7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2996" y="3219514"/>
            <a:ext cx="211328" cy="21132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608060" y="292142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Pasokan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Harga khusus semen dari PT Semen Indonesia.</a:t>
            </a:r>
          </a:p>
        </p:txBody>
      </p:sp>
      <p:sp>
        <p:nvSpPr>
          <p:cNvPr id="85" name="Oval 84"/>
          <p:cNvSpPr/>
          <p:nvPr/>
        </p:nvSpPr>
        <p:spPr>
          <a:xfrm>
            <a:off x="8163560" y="39989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cture 85" descr="pembiayaan-FFFFFF-5387a370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2996" y="4058348"/>
            <a:ext cx="211328" cy="21132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608060" y="3760264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Pencairan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Dipercepat untuk rumah rusak berat.</a:t>
            </a:r>
          </a:p>
        </p:txBody>
      </p:sp>
      <p:sp>
        <p:nvSpPr>
          <p:cNvPr id="88" name="Oval 87"/>
          <p:cNvSpPr/>
          <p:nvPr/>
        </p:nvSpPr>
        <p:spPr>
          <a:xfrm>
            <a:off x="8163560" y="483774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9" name="Picture 88" descr="lembaga-FFFFFF-f44193c4-t2.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2996" y="4897183"/>
            <a:ext cx="211328" cy="21132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8608060" y="4599099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Mekanisme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Hibah RR khusus sektor perumahan.</a:t>
            </a:r>
          </a:p>
        </p:txBody>
      </p:sp>
      <p:sp>
        <p:nvSpPr>
          <p:cNvPr id="91" name="Oval 90"/>
          <p:cNvSpPr/>
          <p:nvPr/>
        </p:nvSpPr>
        <p:spPr>
          <a:xfrm>
            <a:off x="8163560" y="567658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2" name="Picture 91" descr="data-FFFFFF-608a1e16-t2.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2996" y="5736018"/>
            <a:ext cx="211328" cy="21132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608060" y="5437934"/>
            <a:ext cx="2806700" cy="8074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42" b="1" lang="id-ID">
                <a:solidFill>
                  <a:srgbClr val="1A1A1A"/>
                </a:solidFill>
                <a:latin typeface="Roboto"/>
              </a:rPr>
              <a:t>Data</a:t>
            </a:r>
          </a:p>
          <a:p>
            <a:pPr algn="just"/>
            <a:r>
              <a:rPr sz="1642" b="0" lang="id-ID">
                <a:solidFill>
                  <a:srgbClr val="1A1A1A"/>
                </a:solidFill>
                <a:latin typeface="Roboto"/>
              </a:rPr>
              <a:t>Pemda menuntaskan verifikasi penerima bantuan.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bahan RTM Kedeputian Bidang RR BNPB, 27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413000"/>
            <a:ext cx="2712720" cy="762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3600" b="1" lang="id-ID">
                <a:solidFill>
                  <a:srgbClr val="051C2C"/>
                </a:solidFill>
                <a:latin typeface="Roboto"/>
              </a:rPr>
              <a:t>Daftar 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274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05200"/>
            <a:ext cx="271272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lang="id-ID">
                <a:solidFill>
                  <a:srgbClr val="2E3440"/>
                </a:solidFill>
                <a:latin typeface="Roboto"/>
              </a:rPr>
              <a:t>Progres Sektor Perumahan Rehabilitasi dan Rekonstruksi Pascabencana di Wilayah Sumatera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13–18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19–20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21–27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Dokumentasi Lapangan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Dasar Hukum Pelaksanaan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1303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1303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4–5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13–18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19–20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21–27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Dokumentasi Lapangan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Dasar hukum pelaksanaan bantuan perumahan pascabencana Sumatera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01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Dasar hukum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egulasi-FFFFFF-e639fe9a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Peraturan yang Menjadi Dasar Pelaksanaan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10840720" cy="210820"/>
          </a:xfrm>
          <a:prstGeom prst="roundRect">
            <a:avLst>
              <a:gd name="adj" fmla="val 18072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92345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JENIS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7081" y="1541780"/>
            <a:ext cx="162731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NOMOR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194" y="1541780"/>
            <a:ext cx="38977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TENTANG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3696" y="1541780"/>
            <a:ext cx="162731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LEMBAGA PENERBIT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1809" y="1541780"/>
            <a:ext cx="113375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CAKUPAN</a:t>
            </a:r>
          </a:p>
        </p:txBody>
      </p:sp>
      <p:sp>
        <p:nvSpPr>
          <p:cNvPr id="29" name="Pita kolom utama"/>
          <p:cNvSpPr/>
          <p:nvPr/>
        </p:nvSpPr>
        <p:spPr>
          <a:xfrm>
            <a:off x="675640" y="1752600"/>
            <a:ext cx="2275241" cy="45085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75640" y="62611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777240" y="241702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830" y="1752600"/>
            <a:ext cx="1923451" cy="150283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Peraturan BNPB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7081" y="1752600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5 Tahun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194" y="1752600"/>
            <a:ext cx="3897702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Rencana Rehabilitasi dan Rekonstruksi Pascabencana (R3P)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3696" y="1752600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BNPB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1809" y="1752600"/>
            <a:ext cx="11337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Umum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50881" y="2504017"/>
            <a:ext cx="8565479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027081" y="2504017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4 Tahun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5194" y="2504017"/>
            <a:ext cx="3897702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Dana Siap Pakai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3696" y="2504017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BNPB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1809" y="2504017"/>
            <a:ext cx="11337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Umum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325543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777240" y="354414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830" y="3255433"/>
            <a:ext cx="19234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Petunjuk Pelaksanaan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27081" y="3255433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5 Tahun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5194" y="3255433"/>
            <a:ext cx="3897702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Bantuan DSP stimulan perbaikan dan pembangunan kembali rumah rusak akibat bencana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3696" y="3255433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BNPB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1809" y="3255433"/>
            <a:ext cx="11337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Umum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400685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77240" y="42955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830" y="4006850"/>
            <a:ext cx="19234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Keputusan Kepala BNPB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27081" y="4006850"/>
            <a:ext cx="1627313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393 Tahun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5194" y="4006850"/>
            <a:ext cx="3897702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Bantuan perbaikan dan pembangunan rumah rusak terdampak bencana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3696" y="4006850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Kepala BNPB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1809" y="4006850"/>
            <a:ext cx="11337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Umum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475826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777240" y="504698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2830" y="4758267"/>
            <a:ext cx="19234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Keputusan Mendagri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27081" y="4758267"/>
            <a:ext cx="1627313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300.2.8-168 Tahun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5194" y="4758267"/>
            <a:ext cx="3897702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Pedoman teknis bantuan rumah terdampak bencana di tiga provinsi Sumatera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3696" y="4758267"/>
            <a:ext cx="1627313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Kementerian Dalam Negeri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1809" y="4758267"/>
            <a:ext cx="1133751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Khusus Sumatera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550968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777240" y="579839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2830" y="5509683"/>
            <a:ext cx="1923451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Petunjuk Teknis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7081" y="5509683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Nomor 1 Tahun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5194" y="5509683"/>
            <a:ext cx="3897702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Pembangunan rumah rusak berat melalui </a:t>
            </a:r>
            <a:r>
              <a:rPr sz="1204" b="0" i="1" lang="id-ID">
                <a:solidFill>
                  <a:srgbClr val="2E3440"/>
                </a:solidFill>
                <a:latin typeface="Roboto"/>
              </a:rPr>
              <a:t>in situ</a:t>
            </a:r>
            <a:r>
              <a:rPr sz="1204" b="0" lang="id-ID">
                <a:solidFill>
                  <a:srgbClr val="2E3440"/>
                </a:solidFill>
                <a:latin typeface="Roboto"/>
              </a:rPr>
              <a:t> dan relokasi mandiri di tiga provinsi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53696" y="5509683"/>
            <a:ext cx="1627313" cy="751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BNPB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1809" y="5509683"/>
            <a:ext cx="1133751" cy="751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4" b="0" lang="id-ID">
                <a:solidFill>
                  <a:srgbClr val="2E3440"/>
                </a:solidFill>
                <a:latin typeface="Roboto"/>
              </a:rPr>
              <a:t>Khusus Sumatera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bahan RTM Kedeputian Bidang RR BNPB, 27 Oktober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Stimulan Rumah Rusak Sedang dan Rusak Ringan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114800" y="20701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0701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6–12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13–18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19–20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21–27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Dokumentasi Lapangan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Realisasi belanja stimulan untuk rumah yang rusak sedang dan ringan mencapai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78,9%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 dana di rekening masyarakat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282700"/>
            <a:ext cx="6471209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1337310"/>
            <a:ext cx="109792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PENYALURAN</a:t>
            </a:r>
          </a:p>
        </p:txBody>
      </p:sp>
      <p:pic>
        <p:nvPicPr>
          <p:cNvPr id="18" name="Picture 17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embiayaan-051C2C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0178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748,9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178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ditransfer ke daerah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2766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8198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18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84576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702,4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4576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di rekening masyarakat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87163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96383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rumah-051C2C-320df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583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98973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78,9%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8973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realisasi belanja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6549" y="1282700"/>
            <a:ext cx="4356811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96277" y="1337310"/>
            <a:ext cx="86258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WILAYAH</a:t>
            </a:r>
          </a:p>
        </p:txBody>
      </p:sp>
      <p:pic>
        <p:nvPicPr>
          <p:cNvPr id="36" name="Picture 35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7717" y="1372057"/>
            <a:ext cx="113386" cy="11338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7396277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05497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wilayah-051C2C-37dca1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697" y="175895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08087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8087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penerima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10674" y="1593850"/>
            <a:ext cx="202295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1989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kalender-051C2C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094" y="1758950"/>
            <a:ext cx="177800" cy="177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022484" y="1630680"/>
            <a:ext cx="140192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2484" y="1896110"/>
            <a:ext cx="140192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tahap lanjut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213043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6213043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2575560"/>
            <a:ext cx="6213043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6213043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rumah-FFFFFF-320df645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218" y="2482088"/>
            <a:ext cx="186944" cy="1869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56640" y="2346960"/>
            <a:ext cx="545104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Stimulan Rusak Sedang (RS) dan Rusak Ringan (RR) per Provinsi</a:t>
            </a:r>
          </a:p>
        </p:txBody>
      </p:sp>
      <p:sp>
        <p:nvSpPr>
          <p:cNvPr id="54" name="Pita kepala tabel"/>
          <p:cNvSpPr/>
          <p:nvPr/>
        </p:nvSpPr>
        <p:spPr>
          <a:xfrm>
            <a:off x="675640" y="2905760"/>
            <a:ext cx="5959043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2905760"/>
            <a:ext cx="1499464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27504" y="2905760"/>
            <a:ext cx="1181441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 RS DAN RR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0545" y="3116580"/>
            <a:ext cx="102231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4462" y="3116580"/>
            <a:ext cx="82157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57636" y="2905760"/>
            <a:ext cx="875447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REALISASI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0545" y="2905760"/>
            <a:ext cx="19454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 MILIAR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661345" y="3103880"/>
            <a:ext cx="1843891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62" name="Pita kolom utama"/>
          <p:cNvSpPr/>
          <p:nvPr/>
        </p:nvSpPr>
        <p:spPr>
          <a:xfrm>
            <a:off x="675640" y="3327400"/>
            <a:ext cx="1575664" cy="252537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75640" y="5852770"/>
            <a:ext cx="5959043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77240" y="3327400"/>
            <a:ext cx="149946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27504" y="3327400"/>
            <a:ext cx="1181441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30.661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0545" y="3327400"/>
            <a:ext cx="1022318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621,8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34462" y="3327400"/>
            <a:ext cx="82157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494,3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58093" y="3580960"/>
            <a:ext cx="874533" cy="33467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63" b="1" lang="id-ID">
                <a:solidFill>
                  <a:srgbClr val="1A1A1A"/>
                </a:solidFill>
                <a:latin typeface="Roboto"/>
              </a:rPr>
              <a:t>79,5%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169190"/>
            <a:ext cx="5959043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777240" y="4169190"/>
            <a:ext cx="149946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27504" y="4169190"/>
            <a:ext cx="1181441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3.560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0545" y="4169190"/>
            <a:ext cx="1022318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61,9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34462" y="4169190"/>
            <a:ext cx="82157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47,1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58093" y="4422750"/>
            <a:ext cx="874533" cy="33467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63" b="1" lang="id-ID">
                <a:solidFill>
                  <a:srgbClr val="1A1A1A"/>
                </a:solidFill>
                <a:latin typeface="Roboto"/>
              </a:rPr>
              <a:t>76,1%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5010980"/>
            <a:ext cx="5959043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777240" y="5010980"/>
            <a:ext cx="149946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27504" y="5010980"/>
            <a:ext cx="1181441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1.186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10545" y="5010980"/>
            <a:ext cx="1022318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18,7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34462" y="5010980"/>
            <a:ext cx="821574" cy="8417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12,7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58093" y="5264539"/>
            <a:ext cx="874533" cy="33467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63" b="1" lang="id-ID">
                <a:solidFill>
                  <a:srgbClr val="C8102E"/>
                </a:solidFill>
                <a:latin typeface="Roboto"/>
              </a:rPr>
              <a:t>68,1%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75640" y="5903570"/>
            <a:ext cx="5959043" cy="357530"/>
          </a:xfrm>
          <a:prstGeom prst="roundRect">
            <a:avLst>
              <a:gd name="adj" fmla="val 1065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2640" y="5903570"/>
            <a:ext cx="1524864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27504" y="5903570"/>
            <a:ext cx="1181441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35.407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10545" y="5903570"/>
            <a:ext cx="1022318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702,4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34462" y="5903570"/>
            <a:ext cx="821574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554,2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98843" y="2346960"/>
            <a:ext cx="4744517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898843" y="2346960"/>
            <a:ext cx="474451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898843" y="2575560"/>
            <a:ext cx="474451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898843" y="2346960"/>
            <a:ext cx="4744517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25843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1" name="Picture 90" descr="peringatan-FFFFFF-6a80b716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8421" y="2482088"/>
            <a:ext cx="186944" cy="186944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406843" y="2346960"/>
            <a:ext cx="410951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Catatan Pelaksanaan</a:t>
            </a:r>
          </a:p>
        </p:txBody>
      </p:sp>
      <p:sp>
        <p:nvSpPr>
          <p:cNvPr id="93" name="Oval 92"/>
          <p:cNvSpPr/>
          <p:nvPr/>
        </p:nvSpPr>
        <p:spPr>
          <a:xfrm>
            <a:off x="7025843" y="3150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kalender-FFFFFF-a840cf9e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5279" y="3209988"/>
            <a:ext cx="211328" cy="21132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470343" y="2974340"/>
            <a:ext cx="3944417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Batas usulan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Paling lambat 31 Agustus 2026; pemda melengkapi dokumen sesuai catatan PIC BNPB.</a:t>
            </a:r>
          </a:p>
        </p:txBody>
      </p:sp>
      <p:sp>
        <p:nvSpPr>
          <p:cNvPr id="96" name="Oval 95"/>
          <p:cNvSpPr/>
          <p:nvPr/>
        </p:nvSpPr>
        <p:spPr>
          <a:xfrm>
            <a:off x="7025843" y="40798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regulasi-FFFFFF-e639fe9a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5279" y="4139311"/>
            <a:ext cx="211328" cy="21132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470343" y="3794125"/>
            <a:ext cx="3944417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Dokumen usulan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SK transisi kedaluwarsa dan NIK/KK berbeda di SK BNBA; kajian kelayakan lahan relokasi mandiri belum ada.</a:t>
            </a:r>
          </a:p>
        </p:txBody>
      </p:sp>
      <p:sp>
        <p:nvSpPr>
          <p:cNvPr id="99" name="Oval 98"/>
          <p:cNvSpPr/>
          <p:nvPr/>
        </p:nvSpPr>
        <p:spPr>
          <a:xfrm>
            <a:off x="7025843" y="500919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data-FFFFFF-608a1e16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5279" y="5068633"/>
            <a:ext cx="211328" cy="21132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470343" y="4832985"/>
            <a:ext cx="3944417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Pertanggungjawaban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Laporan bulanan, pengembalian kas negara, SK BNBA final, rekening koran.</a:t>
            </a:r>
          </a:p>
        </p:txBody>
      </p:sp>
      <p:sp>
        <p:nvSpPr>
          <p:cNvPr id="102" name="Oval 101"/>
          <p:cNvSpPr/>
          <p:nvPr/>
        </p:nvSpPr>
        <p:spPr>
          <a:xfrm>
            <a:off x="7025843" y="571944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infrastruktur-FFFFFF-ba1c96e7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5279" y="5778881"/>
            <a:ext cx="211328" cy="21132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470343" y="5652770"/>
            <a:ext cx="3944417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Pelaksanaan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Material langka dan tenaga tukang terbatas.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realisasi dari laporan pemda, sebagian belum dilengkapi pertanggungjawaban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Rincian penyaluran stimulan rumah rusak sedang dan rusak ringan per tahap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(Rp miliar)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282700"/>
            <a:ext cx="11094720" cy="2465070"/>
          </a:xfrm>
          <a:prstGeom prst="roundRect">
            <a:avLst>
              <a:gd name="adj" fmla="val 2215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1282700"/>
            <a:ext cx="11094720" cy="2465070"/>
          </a:xfrm>
          <a:prstGeom prst="roundRect">
            <a:avLst>
              <a:gd name="adj" fmla="val 2215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41782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128270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 (RS)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841500"/>
            <a:ext cx="1084072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1841500"/>
            <a:ext cx="1170555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8595" y="205232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1984" y="205232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1183" y="205232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4573" y="205232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772" y="205232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161" y="205232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8595" y="184150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DAERAH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49395" y="2039620"/>
            <a:ext cx="296938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171183" y="184150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21983" y="2039620"/>
            <a:ext cx="2969389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343772" y="184150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94572" y="2039620"/>
            <a:ext cx="296938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7" name="Pita kolom utama"/>
          <p:cNvSpPr/>
          <p:nvPr/>
        </p:nvSpPr>
        <p:spPr>
          <a:xfrm>
            <a:off x="675640" y="2263140"/>
            <a:ext cx="1246755" cy="107823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75640" y="334137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77240" y="226314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8595" y="226314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12.919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1984" y="226314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387,6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1183" y="226314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12.289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4573" y="226314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368,6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3772" y="226314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11.190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7161" y="226314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292,7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262255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777240" y="262255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98595" y="262255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1.228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1984" y="262255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36,8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71183" y="262255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1.068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4573" y="262255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32,0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772" y="262255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891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77161" y="262255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24,0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298196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77240" y="298196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98595" y="298196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31984" y="298196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11,3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1183" y="298196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573" y="298196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10,3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3772" y="298196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265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77161" y="298196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7,2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5640" y="3392170"/>
            <a:ext cx="10840720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640" y="3392170"/>
            <a:ext cx="11959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8595" y="339217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14.522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31984" y="339217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435,7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71183" y="339217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13.700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04573" y="339217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410,9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3772" y="339217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12.346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77161" y="339217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323,9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3884930"/>
            <a:ext cx="11094720" cy="2465070"/>
          </a:xfrm>
          <a:prstGeom prst="roundRect">
            <a:avLst>
              <a:gd name="adj" fmla="val 2215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48640" y="388493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" y="411353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48640" y="3884930"/>
            <a:ext cx="11094720" cy="2465070"/>
          </a:xfrm>
          <a:prstGeom prst="roundRect">
            <a:avLst>
              <a:gd name="adj" fmla="val 2215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75640" y="396748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4020058"/>
            <a:ext cx="186944" cy="18694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56640" y="388493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 (RR)</a:t>
            </a:r>
          </a:p>
        </p:txBody>
      </p:sp>
      <p:sp>
        <p:nvSpPr>
          <p:cNvPr id="77" name="Pita kepala tabel"/>
          <p:cNvSpPr/>
          <p:nvPr/>
        </p:nvSpPr>
        <p:spPr>
          <a:xfrm>
            <a:off x="675640" y="4443730"/>
            <a:ext cx="1084072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" y="4443730"/>
            <a:ext cx="1170555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98595" y="465455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1984" y="465455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71183" y="465455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04573" y="465455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43772" y="4654550"/>
            <a:ext cx="153179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77161" y="4654550"/>
            <a:ext cx="14375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98595" y="444373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DAERAH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049395" y="4641850"/>
            <a:ext cx="296938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5171183" y="444373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221983" y="4641850"/>
            <a:ext cx="2969389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8343772" y="4443730"/>
            <a:ext cx="30709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394572" y="4641850"/>
            <a:ext cx="296938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91" name="Pita kolom utama"/>
          <p:cNvSpPr/>
          <p:nvPr/>
        </p:nvSpPr>
        <p:spPr>
          <a:xfrm>
            <a:off x="675640" y="4865370"/>
            <a:ext cx="1246755" cy="107823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675640" y="59436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777240" y="486537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98595" y="486537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17.742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31984" y="486537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266,1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71183" y="486537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16.879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573" y="486537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253,2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43772" y="486537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15.539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977161" y="486537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201,6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75640" y="522478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777240" y="522478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998595" y="522478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2.332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31984" y="522478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35,0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71183" y="522478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1.998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04573" y="522478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29,9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43772" y="522478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1.740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77161" y="522478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23,1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75640" y="558419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777240" y="5584190"/>
            <a:ext cx="1170555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96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98595" y="558419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811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31984" y="558419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12,2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71183" y="558419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562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04573" y="558419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8,4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343772" y="5584190"/>
            <a:ext cx="1531790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441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977161" y="5584190"/>
            <a:ext cx="1437599" cy="3594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96" b="1" lang="id-ID">
                <a:solidFill>
                  <a:srgbClr val="1A1A1A"/>
                </a:solidFill>
                <a:latin typeface="Roboto"/>
              </a:rPr>
              <a:t>5,5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5640" y="5994400"/>
            <a:ext cx="10840720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2640" y="5994400"/>
            <a:ext cx="119595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98595" y="599440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20.885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1984" y="599440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313,3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71183" y="599440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19.439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4573" y="599440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291,6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43772" y="5994400"/>
            <a:ext cx="153179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17.720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7161" y="5994400"/>
            <a:ext cx="14375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230,3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realisasi dari laporan pemda, sebagian belum dilengkapi pertanggungjawaban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Realisasi belanja stimulan di Aceh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79,5%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 tersebar di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17 kabupaten/kota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700430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Stimulan RS dan RR per Kabupaten/Kota di Aceh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7512304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554056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7686" y="1541780"/>
            <a:ext cx="829763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49" y="1752600"/>
            <a:ext cx="10615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DAERAH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237" y="1752600"/>
            <a:ext cx="11657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9554" y="1752600"/>
            <a:ext cx="94634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7497" y="1541780"/>
            <a:ext cx="1018847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REALISASI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9049" y="1541780"/>
            <a:ext cx="337684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 MILIAR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39849" y="1739900"/>
            <a:ext cx="327524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2" name="Pita kolom utama"/>
          <p:cNvSpPr/>
          <p:nvPr/>
        </p:nvSpPr>
        <p:spPr>
          <a:xfrm>
            <a:off x="675640" y="1963420"/>
            <a:ext cx="1905846" cy="39801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5640" y="594360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777240" y="1982470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830" y="1963420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Barat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7686" y="1963420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9049" y="1963420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2237" y="1963420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9554" y="1963420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8618" y="1982470"/>
            <a:ext cx="616605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172903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191953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172903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Selatan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7686" y="2172903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9049" y="2172903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4,7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2237" y="2172903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4,0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9554" y="2172903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02136" y="2191953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22,9%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2382386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77240" y="2401436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830" y="2382386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Singkil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7686" y="2382386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9049" y="2382386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8,5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2237" y="2382386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19554" y="2382386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02136" y="2401436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33,8%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2591869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777240" y="2610919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830" y="2591869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Tamiang tahap 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57686" y="2591869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5.141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89049" y="2591869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112,2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2237" y="2591869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109,1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9554" y="2591869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87,5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02136" y="2610919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80,2%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2801353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77240" y="2820403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2830" y="2801353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Tamiang tahap II SK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57686" y="2801353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4.058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9049" y="2801353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86,7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2237" y="2801353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86,7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9554" y="2801353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65,7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02136" y="2820403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75,8%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010836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777240" y="3029886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2830" y="3010836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Tamiang tahap II SK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57686" y="3010836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4.400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89049" y="3010836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93,8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2237" y="3010836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93,8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19554" y="3010836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69,5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02136" y="3029886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74,2%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3220319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77240" y="3239369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2830" y="3220319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Tengah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57686" y="3220319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1.680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89049" y="3220319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32,2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2237" y="3220319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25,6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19554" y="3220319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19,2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02136" y="3239369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75,2%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3429802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77240" y="3448852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2830" y="3429802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Tenggara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57686" y="3429802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89049" y="3429802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52237" y="3429802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19554" y="3429802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302136" y="3448852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60,0%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3639285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3658335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3639285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Timur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57686" y="3639285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5.318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89049" y="3639285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118,9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2237" y="3639285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114,4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19554" y="3639285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111,8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02136" y="3658335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97,8%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3848768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777240" y="3867818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2830" y="3848768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Aceh Utara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57686" y="3848768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471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89049" y="3848768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9,1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52237" y="3848768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9,1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19554" y="3848768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7,0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302136" y="3867818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77,5%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75640" y="4058252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4" name="Oval 113"/>
          <p:cNvSpPr/>
          <p:nvPr/>
        </p:nvSpPr>
        <p:spPr>
          <a:xfrm>
            <a:off x="777240" y="4077302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2830" y="4058252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Bener Meriah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57686" y="4058252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89049" y="4058252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4,1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52237" y="4058252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3,9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19554" y="4058252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3,3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302136" y="4077302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85,2%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75640" y="4267735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22" name="Oval 121"/>
          <p:cNvSpPr/>
          <p:nvPr/>
        </p:nvSpPr>
        <p:spPr>
          <a:xfrm>
            <a:off x="777240" y="4286785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2830" y="4267735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Bireuen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657686" y="4267735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4.347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9049" y="4267735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86,1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52237" y="4267735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86,1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019554" y="4267735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79,3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302136" y="4286785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92,2%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675640" y="4477218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0" name="Oval 129"/>
          <p:cNvSpPr/>
          <p:nvPr/>
        </p:nvSpPr>
        <p:spPr>
          <a:xfrm>
            <a:off x="777240" y="4496268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2830" y="4477218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Gayo Lues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57686" y="4477218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89049" y="4477218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52237" y="4477218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019554" y="4477218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268618" y="4496268"/>
            <a:ext cx="616605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75640" y="4686701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8" name="Oval 137"/>
          <p:cNvSpPr/>
          <p:nvPr/>
        </p:nvSpPr>
        <p:spPr>
          <a:xfrm>
            <a:off x="777240" y="4705751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2830" y="4686701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Langsa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57686" y="4686701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1.326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89049" y="4686701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28,1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52237" y="4686701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24,9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019554" y="4686701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9,2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02136" y="4705751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36,8%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675640" y="4896184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46" name="Oval 145"/>
          <p:cNvSpPr/>
          <p:nvPr/>
        </p:nvSpPr>
        <p:spPr>
          <a:xfrm>
            <a:off x="777240" y="4915234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2830" y="4896184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Lhokseumawe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57686" y="4896184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1.201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89049" y="4896184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35,7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52237" y="4896184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32,1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019554" y="4896184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16,2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302136" y="4915234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50,4%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675640" y="5105667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54" name="Oval 153"/>
          <p:cNvSpPr/>
          <p:nvPr/>
        </p:nvSpPr>
        <p:spPr>
          <a:xfrm>
            <a:off x="777240" y="5124717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2830" y="5105667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Subulussalam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657686" y="5105667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1.112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89049" y="5105667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17,8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52237" y="5105667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17,5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019554" y="5105667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11,0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302136" y="5124717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62,8%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675640" y="5315151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62" name="Oval 161"/>
          <p:cNvSpPr/>
          <p:nvPr/>
        </p:nvSpPr>
        <p:spPr>
          <a:xfrm>
            <a:off x="777240" y="5334201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2830" y="5315151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Nagan Raya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57686" y="5315151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589049" y="5315151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3,7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52237" y="5315151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2,7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019554" y="5315151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2,5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302136" y="5334201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93,1%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675640" y="5524634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70" name="Oval 169"/>
          <p:cNvSpPr/>
          <p:nvPr/>
        </p:nvSpPr>
        <p:spPr>
          <a:xfrm>
            <a:off x="777240" y="5543684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52830" y="5524634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Pidie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657686" y="5524634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589049" y="5524634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752237" y="5524634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019554" y="5524634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302136" y="5543684"/>
            <a:ext cx="549570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90,3%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675640" y="5734117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78" name="Oval 177"/>
          <p:cNvSpPr/>
          <p:nvPr/>
        </p:nvSpPr>
        <p:spPr>
          <a:xfrm>
            <a:off x="777240" y="5753167"/>
            <a:ext cx="171383" cy="171383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19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52830" y="5734117"/>
            <a:ext cx="1554056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Pidie Jaya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57686" y="5734117"/>
            <a:ext cx="829763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282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89049" y="5734117"/>
            <a:ext cx="1061588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8,5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752237" y="5734117"/>
            <a:ext cx="1165717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8,0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019554" y="5734117"/>
            <a:ext cx="946344" cy="20948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8,0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268618" y="5753167"/>
            <a:ext cx="616605" cy="171383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75640" y="5994400"/>
            <a:ext cx="751230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52830" y="5994400"/>
            <a:ext cx="160485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657686" y="5994400"/>
            <a:ext cx="82976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30.661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589049" y="5994400"/>
            <a:ext cx="106158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653,7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752237" y="5994400"/>
            <a:ext cx="11657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621,8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019554" y="5994400"/>
            <a:ext cx="94634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494,3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8452104" y="98298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452104" y="121158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579104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6" name="Picture 195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682" y="1118108"/>
            <a:ext cx="186944" cy="186944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8960104" y="98298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Usulan Tahap Berikutnya</a:t>
            </a:r>
          </a:p>
        </p:txBody>
      </p:sp>
      <p:sp>
        <p:nvSpPr>
          <p:cNvPr id="198" name="Oval 197"/>
          <p:cNvSpPr/>
          <p:nvPr/>
        </p:nvSpPr>
        <p:spPr>
          <a:xfrm>
            <a:off x="8579104" y="188480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9" name="Picture 198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1944243"/>
            <a:ext cx="211328" cy="211328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023604" y="1599057"/>
            <a:ext cx="2391156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II, sudah reviu APIP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Empat kab/kota: Aceh Singkil, Aceh Tamiang, Aceh Utara, Pidie Jaya.</a:t>
            </a:r>
          </a:p>
        </p:txBody>
      </p:sp>
      <p:sp>
        <p:nvSpPr>
          <p:cNvPr id="201" name="Oval 200"/>
          <p:cNvSpPr/>
          <p:nvPr/>
        </p:nvSpPr>
        <p:spPr>
          <a:xfrm>
            <a:off x="8579104" y="290106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2" name="Picture 201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2960497"/>
            <a:ext cx="211328" cy="211328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9023604" y="2615311"/>
            <a:ext cx="2391156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II, berproses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Sepuluh kab/kota, antara lain Aceh Selatan, Aceh Timur, Bireuen, Pidie.</a:t>
            </a:r>
          </a:p>
        </p:txBody>
      </p:sp>
      <p:sp>
        <p:nvSpPr>
          <p:cNvPr id="204" name="Oval 203"/>
          <p:cNvSpPr/>
          <p:nvPr/>
        </p:nvSpPr>
        <p:spPr>
          <a:xfrm>
            <a:off x="8579104" y="38077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5" name="Picture 204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3867214"/>
            <a:ext cx="211328" cy="211328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9023604" y="3631565"/>
            <a:ext cx="2391156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III, sudah reviu APIP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Pidie Jaya, sebagai satu-satunya kab/kota.</a:t>
            </a:r>
          </a:p>
        </p:txBody>
      </p:sp>
      <p:sp>
        <p:nvSpPr>
          <p:cNvPr id="207" name="Oval 206"/>
          <p:cNvSpPr/>
          <p:nvPr/>
        </p:nvSpPr>
        <p:spPr>
          <a:xfrm>
            <a:off x="8579104" y="46049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8" name="Picture 207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4664392"/>
            <a:ext cx="211328" cy="211328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9023604" y="4428744"/>
            <a:ext cx="2391156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III, berproses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Aceh Tamiang (SK 5), Aceh Tengah, Bireuen.</a:t>
            </a:r>
          </a:p>
        </p:txBody>
      </p:sp>
      <p:sp>
        <p:nvSpPr>
          <p:cNvPr id="210" name="Oval 209"/>
          <p:cNvSpPr/>
          <p:nvPr/>
        </p:nvSpPr>
        <p:spPr>
          <a:xfrm>
            <a:off x="8579104" y="5511673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1" name="Picture 210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5571109"/>
            <a:ext cx="211328" cy="211328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9023604" y="5225923"/>
            <a:ext cx="2391156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SK tahap II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Aceh Tamiang SK 2–4, Aceh Timur SK 2 dan 3, Aceh Utara SK 2–5.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realisasi dari laporan pemda, sebagian belum dilengkapi pertanggungjawaban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Realisasi belanja stimulan di Sumatera Utara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76,1%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 tersebar di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14 kabupaten/kota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700430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Stimulan RS dan RR per Kabupaten/Kota di Sumatera Utara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7512304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275192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8822" y="1541780"/>
            <a:ext cx="831908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2330" y="1752600"/>
            <a:ext cx="11307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DAERAH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698" y="1752600"/>
            <a:ext cx="123489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1194" y="1752600"/>
            <a:ext cx="101552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8318" y="1541780"/>
            <a:ext cx="1088026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REALISASI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2330" y="1541780"/>
            <a:ext cx="35843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 MILIAR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63130" y="1739900"/>
            <a:ext cx="348278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2" name="Pita kolom utama"/>
          <p:cNvSpPr/>
          <p:nvPr/>
        </p:nvSpPr>
        <p:spPr>
          <a:xfrm>
            <a:off x="675640" y="1963420"/>
            <a:ext cx="1626982" cy="39801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5640" y="594360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777240" y="201857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830" y="1963420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Batu Bara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8822" y="1963420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2330" y="1963420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698" y="1963420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1194" y="1963420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34028" y="2000413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247719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30287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247719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Deli Serdang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8822" y="2247719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2330" y="2247719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44698" y="2247719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81194" y="2247719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67546" y="2284712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99,1%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2532017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77240" y="258717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830" y="2532017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Humbang Hasundutan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8822" y="2532017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2330" y="2532017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698" y="2532017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81194" y="2532017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34028" y="2569010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2816316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777240" y="28714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830" y="2816316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Binjai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8822" y="2816316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2330" y="2816316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698" y="2816316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81194" y="2816316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34028" y="2853309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100614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77240" y="315576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2830" y="3100614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Medan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8822" y="3100614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12330" y="3100614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44698" y="3100614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81194" y="3100614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67546" y="3137608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21,9%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384913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777240" y="344006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2830" y="3384913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78822" y="3384913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12330" y="3384913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20,0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698" y="3384913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19,9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81194" y="3384913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14,7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67546" y="3421906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74,1%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3669211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77240" y="372436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2830" y="3669211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Mandailing Natal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8822" y="3669211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12330" y="3669211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3,3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44698" y="3669211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81194" y="3669211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67546" y="3706205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20,1%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3953510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77240" y="400866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2830" y="3953510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Nias Selatan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78822" y="3953510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2330" y="3953510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44698" y="3953510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81194" y="3953510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267546" y="3990503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94,5%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237809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42929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4237809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Nias Barat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78822" y="4237809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12330" y="4237809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44698" y="4237809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81194" y="4237809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0,2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67546" y="4274802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19,6%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4522107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777240" y="457726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2830" y="4522107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Pakpak Bharat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78822" y="4522107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2330" y="4522107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44698" y="4522107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81194" y="4522107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234028" y="4559100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75640" y="4806406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4" name="Oval 113"/>
          <p:cNvSpPr/>
          <p:nvPr/>
        </p:nvSpPr>
        <p:spPr>
          <a:xfrm>
            <a:off x="777240" y="486156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2830" y="4806406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Serdang Bedagai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78822" y="4806406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2330" y="4806406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44698" y="4806406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81194" y="4806406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0,3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234028" y="4843399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75640" y="5090704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22" name="Oval 121"/>
          <p:cNvSpPr/>
          <p:nvPr/>
        </p:nvSpPr>
        <p:spPr>
          <a:xfrm>
            <a:off x="777240" y="514585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2830" y="5090704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Tapanuli Selatan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378822" y="5090704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249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2330" y="5090704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44698" y="5090704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81194" y="5090704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5,3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234028" y="5127698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675640" y="5375003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0" name="Oval 129"/>
          <p:cNvSpPr/>
          <p:nvPr/>
        </p:nvSpPr>
        <p:spPr>
          <a:xfrm>
            <a:off x="777240" y="543015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2830" y="5375003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Tapanuli Tengah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378822" y="5375003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1.591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2330" y="5375003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31,3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44698" y="5375003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25,8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881194" y="5375003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19,7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267546" y="5411996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76,4%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75640" y="5659301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8" name="Oval 137"/>
          <p:cNvSpPr/>
          <p:nvPr/>
        </p:nvSpPr>
        <p:spPr>
          <a:xfrm>
            <a:off x="777240" y="571445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52830" y="5659301"/>
            <a:ext cx="1275192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Tapanuli Utara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378822" y="5659301"/>
            <a:ext cx="83190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2330" y="5659301"/>
            <a:ext cx="1130768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44698" y="5659301"/>
            <a:ext cx="1234897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81194" y="5659301"/>
            <a:ext cx="1015523" cy="284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1,6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267546" y="5696295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86,3%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75640" y="5994400"/>
            <a:ext cx="751230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52830" y="5994400"/>
            <a:ext cx="132599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78822" y="5994400"/>
            <a:ext cx="83190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3.560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2330" y="5994400"/>
            <a:ext cx="11307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71,8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44698" y="5994400"/>
            <a:ext cx="123489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61,9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881194" y="5994400"/>
            <a:ext cx="101552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47,1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8452104" y="98298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452104" y="121158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8579104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6" name="Picture 155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682" y="1118108"/>
            <a:ext cx="186944" cy="186944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8960104" y="98298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Usulan Tahap Berikutnya</a:t>
            </a:r>
          </a:p>
        </p:txBody>
      </p:sp>
      <p:sp>
        <p:nvSpPr>
          <p:cNvPr id="158" name="Oval 157"/>
          <p:cNvSpPr/>
          <p:nvPr/>
        </p:nvSpPr>
        <p:spPr>
          <a:xfrm>
            <a:off x="8579104" y="194176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9" name="Picture 158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540" y="2001202"/>
            <a:ext cx="211328" cy="21132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9023604" y="1590294"/>
            <a:ext cx="2391156" cy="1033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Tahap I</a:t>
            </a:r>
          </a:p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14 kabupaten/kota</a:t>
            </a:r>
            <a:r>
              <a:rPr sz="1587" b="0" lang="id-ID">
                <a:solidFill>
                  <a:srgbClr val="1A1A1A"/>
                </a:solidFill>
                <a:latin typeface="Roboto"/>
              </a:rPr>
              <a:t> penerima, realisasi belanja </a:t>
            </a:r>
            <a:r>
              <a:rPr sz="1587" b="1" lang="id-ID">
                <a:solidFill>
                  <a:srgbClr val="1A1A1A"/>
                </a:solidFill>
                <a:latin typeface="Roboto"/>
              </a:rPr>
              <a:t>76,1%</a:t>
            </a:r>
            <a:r>
              <a:rPr sz="1587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161" name="Oval 160"/>
          <p:cNvSpPr/>
          <p:nvPr/>
        </p:nvSpPr>
        <p:spPr>
          <a:xfrm>
            <a:off x="8579104" y="294597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2" name="Picture 161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3005407"/>
            <a:ext cx="211328" cy="21132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9023604" y="2720467"/>
            <a:ext cx="2391156" cy="7812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Tahap II, sudah reviu APIP</a:t>
            </a:r>
          </a:p>
          <a:p>
            <a:pPr algn="just"/>
            <a:r>
              <a:rPr sz="1587" b="0" lang="id-ID">
                <a:solidFill>
                  <a:srgbClr val="1A1A1A"/>
                </a:solidFill>
                <a:latin typeface="Roboto"/>
              </a:rPr>
              <a:t>Tapanuli Tengah.</a:t>
            </a:r>
          </a:p>
        </p:txBody>
      </p:sp>
      <p:sp>
        <p:nvSpPr>
          <p:cNvPr id="164" name="Oval 163"/>
          <p:cNvSpPr/>
          <p:nvPr/>
        </p:nvSpPr>
        <p:spPr>
          <a:xfrm>
            <a:off x="8579104" y="395017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5" name="Picture 164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4009612"/>
            <a:ext cx="211328" cy="211328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023604" y="3598704"/>
            <a:ext cx="2391156" cy="1033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Tahap II, berproses</a:t>
            </a:r>
          </a:p>
          <a:p>
            <a:pPr algn="just"/>
            <a:r>
              <a:rPr sz="1587" b="0" lang="id-ID">
                <a:solidFill>
                  <a:srgbClr val="1A1A1A"/>
                </a:solidFill>
                <a:latin typeface="Roboto"/>
              </a:rPr>
              <a:t>Tiga kab/kota: Humbang Hasundutan, Tapanuli Selatan, Tapanuli Utara.</a:t>
            </a:r>
          </a:p>
        </p:txBody>
      </p:sp>
      <p:sp>
        <p:nvSpPr>
          <p:cNvPr id="167" name="Oval 166"/>
          <p:cNvSpPr/>
          <p:nvPr/>
        </p:nvSpPr>
        <p:spPr>
          <a:xfrm>
            <a:off x="8579104" y="49543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8" name="Picture 167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5013817"/>
            <a:ext cx="211328" cy="21132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9023604" y="4728877"/>
            <a:ext cx="2391156" cy="78120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Tahap III, sudah reviu APIP</a:t>
            </a:r>
          </a:p>
          <a:p>
            <a:pPr algn="just"/>
            <a:r>
              <a:rPr sz="1587" b="0" lang="id-ID">
                <a:solidFill>
                  <a:srgbClr val="1A1A1A"/>
                </a:solidFill>
                <a:latin typeface="Roboto"/>
              </a:rPr>
              <a:t>Belum ada kab/kota.</a:t>
            </a:r>
          </a:p>
        </p:txBody>
      </p:sp>
      <p:sp>
        <p:nvSpPr>
          <p:cNvPr id="170" name="Oval 169"/>
          <p:cNvSpPr/>
          <p:nvPr/>
        </p:nvSpPr>
        <p:spPr>
          <a:xfrm>
            <a:off x="8579104" y="570665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1" name="Picture 170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5766086"/>
            <a:ext cx="211328" cy="211328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9023604" y="5607114"/>
            <a:ext cx="2391156" cy="5292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587" b="1" lang="id-ID">
                <a:solidFill>
                  <a:srgbClr val="1A1A1A"/>
                </a:solidFill>
                <a:latin typeface="Roboto"/>
              </a:rPr>
              <a:t>Tahap III, berproses</a:t>
            </a:r>
          </a:p>
          <a:p>
            <a:pPr algn="just"/>
            <a:r>
              <a:rPr sz="1587" b="0" lang="id-ID">
                <a:solidFill>
                  <a:srgbClr val="1A1A1A"/>
                </a:solidFill>
                <a:latin typeface="Roboto"/>
              </a:rPr>
              <a:t>Tapanuli Tengah.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realisasi dari laporan pemda, sebagian belum dilengkapi pertanggungjawaban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Realisasi belanja stimulan di Sumatera Barat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68,1%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, tersebar di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11 kabupaten/kota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7766304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700430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Stimulan RS dan RR per Kabupaten/Kota di Sumatera Barat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7512304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229323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2953" y="1541780"/>
            <a:ext cx="841082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5635" y="1752600"/>
            <a:ext cx="11399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DAERAH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76" y="1752600"/>
            <a:ext cx="124407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 REKENING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2847" y="1752600"/>
            <a:ext cx="102469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9144" y="1541780"/>
            <a:ext cx="1097200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REALISASI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5635" y="1541780"/>
            <a:ext cx="361190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RP MILIAR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26435" y="1739900"/>
            <a:ext cx="3510309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2" name="Pita kolom utama"/>
          <p:cNvSpPr/>
          <p:nvPr/>
        </p:nvSpPr>
        <p:spPr>
          <a:xfrm>
            <a:off x="675640" y="1963420"/>
            <a:ext cx="1581113" cy="39801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75640" y="594360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777240" y="205734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830" y="1963420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Pasaman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2953" y="1963420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5635" y="1963420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76" y="1963420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2847" y="1963420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2959" y="2039181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96,6%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325255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41917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325255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Pasaman Barat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2953" y="2325255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5635" y="2325255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76" y="2325255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62847" y="2325255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62959" y="2401016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95,5%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2687089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77240" y="278101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830" y="2687089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Agam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2953" y="2687089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5635" y="2687089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176" y="2687089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62847" y="2687089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2959" y="2762850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81,4%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048924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777240" y="314284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2830" y="3048924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Padang Panjang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2953" y="3048924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5635" y="3048924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17176" y="3048924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62847" y="3048924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62959" y="3124685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97,7%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410758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77240" y="350468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2830" y="3410758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Padang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2953" y="3410758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5635" y="3410758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4,5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17176" y="3410758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2847" y="3410758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29442" y="3486519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5640" y="3772593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777240" y="386651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2830" y="3772593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Solok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2953" y="3772593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75635" y="3772593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7176" y="3772593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62847" y="3772593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62959" y="3848354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98,0%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4134427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77240" y="422835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2830" y="4134427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Lima Puluh Kota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2953" y="4134427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75635" y="4134427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7176" y="4134427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62847" y="4134427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229442" y="4210189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4496262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77240" y="459018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2830" y="4496262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Tanah Datar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32953" y="4496262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5635" y="4496262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17176" y="4496262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62847" y="4496262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2,6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262959" y="4572023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92,1%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858096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495201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4858096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Padang Pariaman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32953" y="4858096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75635" y="4858096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17176" y="4858096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5,7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62847" y="4858096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1,2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262959" y="4933858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20,4%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5219931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777240" y="53138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2830" y="5219931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Kota Pariaman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332953" y="5219931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75635" y="5219931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17176" y="5219931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62847" y="5219931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0,1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229442" y="5295692"/>
            <a:ext cx="616605" cy="21031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75640" y="5581765"/>
            <a:ext cx="7512304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4" name="Oval 113"/>
          <p:cNvSpPr/>
          <p:nvPr/>
        </p:nvSpPr>
        <p:spPr>
          <a:xfrm>
            <a:off x="777240" y="567568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2830" y="5581765"/>
            <a:ext cx="1229323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Pesisir Selatan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32953" y="5581765"/>
            <a:ext cx="84108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75635" y="5581765"/>
            <a:ext cx="1139942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17176" y="5581765"/>
            <a:ext cx="1244070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2,4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62847" y="5581765"/>
            <a:ext cx="1024697" cy="36183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1,7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262959" y="5657527"/>
            <a:ext cx="549570" cy="21031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C8102E"/>
                </a:solidFill>
                <a:latin typeface="Roboto"/>
              </a:rPr>
              <a:t>68,6%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75640" y="5994400"/>
            <a:ext cx="751230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52830" y="5994400"/>
            <a:ext cx="128012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32953" y="5994400"/>
            <a:ext cx="8410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1.186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75635" y="5994400"/>
            <a:ext cx="11399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23,4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17176" y="5994400"/>
            <a:ext cx="124407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18,7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62847" y="5994400"/>
            <a:ext cx="102469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FFFFFF"/>
                </a:solidFill>
                <a:latin typeface="Roboto"/>
              </a:rPr>
              <a:t>12,7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452104" y="98298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452104" y="121158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452104" y="982980"/>
            <a:ext cx="3191256" cy="536702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579104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2" name="Picture 131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682" y="1118108"/>
            <a:ext cx="186944" cy="186944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8960104" y="98298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Usulan Tahap Berikutnya</a:t>
            </a:r>
          </a:p>
        </p:txBody>
      </p:sp>
      <p:sp>
        <p:nvSpPr>
          <p:cNvPr id="134" name="Oval 133"/>
          <p:cNvSpPr/>
          <p:nvPr/>
        </p:nvSpPr>
        <p:spPr>
          <a:xfrm>
            <a:off x="8579104" y="18409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5" name="Picture 134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540" y="1900428"/>
            <a:ext cx="211328" cy="21132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9023604" y="1664780"/>
            <a:ext cx="2391156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</a:t>
            </a:r>
          </a:p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11 kabupaten/kota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penerima, realisasi belanja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68,1%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137" name="Oval 136"/>
          <p:cNvSpPr/>
          <p:nvPr/>
        </p:nvSpPr>
        <p:spPr>
          <a:xfrm>
            <a:off x="8579104" y="276961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8" name="Picture 137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2829052"/>
            <a:ext cx="211328" cy="211328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9023604" y="2593404"/>
            <a:ext cx="2391156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II, sudah reviu APIP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Tiga kab/kota: Agam, Pasaman Barat, Padang.</a:t>
            </a:r>
          </a:p>
        </p:txBody>
      </p:sp>
      <p:sp>
        <p:nvSpPr>
          <p:cNvPr id="140" name="Oval 139"/>
          <p:cNvSpPr/>
          <p:nvPr/>
        </p:nvSpPr>
        <p:spPr>
          <a:xfrm>
            <a:off x="8579104" y="380777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1" name="Picture 140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3867214"/>
            <a:ext cx="211328" cy="211328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023604" y="3522028"/>
            <a:ext cx="2391156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II, berproses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Empat kab/kota: Padang Panjang, Solok, Lima Puluh Kota, Tanah Datar.</a:t>
            </a:r>
          </a:p>
        </p:txBody>
      </p:sp>
      <p:sp>
        <p:nvSpPr>
          <p:cNvPr id="143" name="Oval 142"/>
          <p:cNvSpPr/>
          <p:nvPr/>
        </p:nvSpPr>
        <p:spPr>
          <a:xfrm>
            <a:off x="8579104" y="473640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4" name="Picture 143" descr="regulasi-FFFFFF-e639fe9a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540" y="4795838"/>
            <a:ext cx="211328" cy="211328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9023604" y="4669726"/>
            <a:ext cx="2391156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III, sudah reviu APIP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Dua kab/kota: Agam, Padang.</a:t>
            </a:r>
          </a:p>
        </p:txBody>
      </p:sp>
      <p:sp>
        <p:nvSpPr>
          <p:cNvPr id="146" name="Oval 145"/>
          <p:cNvSpPr/>
          <p:nvPr/>
        </p:nvSpPr>
        <p:spPr>
          <a:xfrm>
            <a:off x="8579104" y="555548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kalender-FFFFFF-a840cf9e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540" y="5614924"/>
            <a:ext cx="211328" cy="211328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9023604" y="5379276"/>
            <a:ext cx="2391156" cy="6826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380" b="1" lang="id-ID">
                <a:solidFill>
                  <a:srgbClr val="1A1A1A"/>
                </a:solidFill>
                <a:latin typeface="Roboto"/>
              </a:rPr>
              <a:t>Tahap III, berproses</a:t>
            </a:r>
          </a:p>
          <a:p>
            <a:pPr algn="just"/>
            <a:r>
              <a:rPr sz="1380" b="0" lang="id-ID">
                <a:solidFill>
                  <a:srgbClr val="1A1A1A"/>
                </a:solidFill>
                <a:latin typeface="Roboto"/>
              </a:rPr>
              <a:t>Dua kab/kota: Solok, Tanah Datar.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realisasi dari laporan pemda, sebagian belum dilengkapi pertanggungjawaban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D9600B"/>
                </a:solidFill>
                <a:latin typeface="Roboto"/>
              </a:rPr>
              <a:t>26 kabupaten/kota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sedang memproses usulan tahap berikutnya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02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3784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1037590"/>
            <a:ext cx="85309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TAHAP II</a:t>
            </a:r>
          </a:p>
        </p:txBody>
      </p:sp>
      <p:pic>
        <p:nvPicPr>
          <p:cNvPr id="18" name="Picture 17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07233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129413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7588" y="138303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egulasi-051C2C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45923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0178" y="133096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178" y="159639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sudah reviu APIP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1365" y="129413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10585" y="138303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45923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13175" y="133096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175" y="159639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berproses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9350" y="98298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39078" y="1037590"/>
            <a:ext cx="89392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TAHAP III</a:t>
            </a:r>
          </a:p>
        </p:txBody>
      </p:sp>
      <p:pic>
        <p:nvPicPr>
          <p:cNvPr id="31" name="Picture 30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18" y="107233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339078" y="129413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8298" y="138303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regulasi-051C2C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498" y="145923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50888" y="133096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0888" y="159639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sudah reviu APIP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2075" y="129413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91295" y="138303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45923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93885" y="133096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3885" y="159639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kab/kota berproses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047240"/>
            <a:ext cx="7322515" cy="4302760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2047240"/>
            <a:ext cx="732251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2275840"/>
            <a:ext cx="732251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047240"/>
            <a:ext cx="7322515" cy="4302760"/>
          </a:xfrm>
          <a:prstGeom prst="roundRect">
            <a:avLst>
              <a:gd name="adj" fmla="val 126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212979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lender-FFFFFF-a840cf9e-t2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18" y="2182368"/>
            <a:ext cx="186944" cy="1869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2047240"/>
            <a:ext cx="656051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Status Usulan per Provinsi, Kab/Kota</a:t>
            </a:r>
          </a:p>
        </p:txBody>
      </p:sp>
      <p:sp>
        <p:nvSpPr>
          <p:cNvPr id="49" name="Pita kepala tabel"/>
          <p:cNvSpPr/>
          <p:nvPr/>
        </p:nvSpPr>
        <p:spPr>
          <a:xfrm>
            <a:off x="675640" y="2606040"/>
            <a:ext cx="7068515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606040"/>
            <a:ext cx="1499464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7504" y="2606040"/>
            <a:ext cx="869599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PENERIMA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8703" y="2606040"/>
            <a:ext cx="1196801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USULAN LANJUT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7105" y="2816860"/>
            <a:ext cx="63429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2999" y="2816860"/>
            <a:ext cx="73603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0630" y="2816860"/>
            <a:ext cx="63429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6525" y="2816860"/>
            <a:ext cx="73603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7105" y="2606040"/>
            <a:ext cx="147192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TAHAP II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647905" y="2804160"/>
            <a:ext cx="1370325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170630" y="2606040"/>
            <a:ext cx="147192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TAHAP III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221430" y="2804160"/>
            <a:ext cx="1370325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61" name="Pita kolom utama"/>
          <p:cNvSpPr/>
          <p:nvPr/>
        </p:nvSpPr>
        <p:spPr>
          <a:xfrm>
            <a:off x="675640" y="3027680"/>
            <a:ext cx="1575664" cy="282509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675640" y="5852770"/>
            <a:ext cx="706851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777240" y="3027680"/>
            <a:ext cx="1499464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27504" y="3027680"/>
            <a:ext cx="869599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8703" y="3027680"/>
            <a:ext cx="119680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97105" y="3027680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2999" y="3027680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0630" y="3027680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6525" y="3027680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969377"/>
            <a:ext cx="7068515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777240" y="3969377"/>
            <a:ext cx="1499464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27504" y="3969377"/>
            <a:ext cx="869599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8703" y="3969377"/>
            <a:ext cx="119680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97105" y="3969377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32999" y="3969377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0630" y="3969377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6525" y="3969377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75640" y="4911073"/>
            <a:ext cx="7068515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9" name="TextBox 78"/>
          <p:cNvSpPr txBox="1"/>
          <p:nvPr/>
        </p:nvSpPr>
        <p:spPr>
          <a:xfrm>
            <a:off x="777240" y="4911073"/>
            <a:ext cx="1499464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27504" y="4911073"/>
            <a:ext cx="869599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8703" y="4911073"/>
            <a:ext cx="119680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97105" y="4911073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32999" y="4911073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0630" y="4911073"/>
            <a:ext cx="634295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6525" y="4911073"/>
            <a:ext cx="736031" cy="9416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5640" y="5903570"/>
            <a:ext cx="7068515" cy="357530"/>
          </a:xfrm>
          <a:prstGeom prst="roundRect">
            <a:avLst>
              <a:gd name="adj" fmla="val 1065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2640" y="5903570"/>
            <a:ext cx="1524864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63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27504" y="5903570"/>
            <a:ext cx="869599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42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8703" y="5903570"/>
            <a:ext cx="1196801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7105" y="5903570"/>
            <a:ext cx="634295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32999" y="5903570"/>
            <a:ext cx="736031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0630" y="5903570"/>
            <a:ext cx="634295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06525" y="5903570"/>
            <a:ext cx="736031" cy="35753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63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008315" y="2047240"/>
            <a:ext cx="3635045" cy="4302760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008315" y="2047240"/>
            <a:ext cx="363504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08315" y="2275840"/>
            <a:ext cx="363504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008315" y="2047240"/>
            <a:ext cx="3635045" cy="4302760"/>
          </a:xfrm>
          <a:prstGeom prst="roundRect">
            <a:avLst>
              <a:gd name="adj" fmla="val 1502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135315" y="212979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9" name="Picture 98" descr="wilayah-FFFFFF-37dca10c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893" y="2182368"/>
            <a:ext cx="186944" cy="18694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516315" y="2047240"/>
            <a:ext cx="300004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Usulan Lanjut per Provinsi</a:t>
            </a:r>
          </a:p>
        </p:txBody>
      </p:sp>
      <p:sp>
        <p:nvSpPr>
          <p:cNvPr id="101" name="Oval 100"/>
          <p:cNvSpPr/>
          <p:nvPr/>
        </p:nvSpPr>
        <p:spPr>
          <a:xfrm>
            <a:off x="8135315" y="288829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2" name="Picture 101" descr="wilayah-FFFFFF-37dca10c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4751" y="2947734"/>
            <a:ext cx="211328" cy="21132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579815" y="2646362"/>
            <a:ext cx="2834945" cy="814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Aceh</a:t>
            </a:r>
          </a:p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14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655" b="1" lang="id-ID">
                <a:solidFill>
                  <a:srgbClr val="1A1A1A"/>
                </a:solidFill>
                <a:latin typeface="Roboto"/>
              </a:rPr>
              <a:t>17 kabupaten/kota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penerima.</a:t>
            </a:r>
          </a:p>
        </p:txBody>
      </p:sp>
      <p:sp>
        <p:nvSpPr>
          <p:cNvPr id="104" name="Oval 103"/>
          <p:cNvSpPr/>
          <p:nvPr/>
        </p:nvSpPr>
        <p:spPr>
          <a:xfrm>
            <a:off x="8135315" y="37830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wilayah-FFFFFF-37dca10c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4751" y="3842448"/>
            <a:ext cx="211328" cy="21132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579815" y="3541078"/>
            <a:ext cx="2834945" cy="814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Sumatera Utara</a:t>
            </a:r>
          </a:p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4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655" b="1" lang="id-ID">
                <a:solidFill>
                  <a:srgbClr val="1A1A1A"/>
                </a:solidFill>
                <a:latin typeface="Roboto"/>
              </a:rPr>
              <a:t>14 kabupaten/kota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penerima.</a:t>
            </a:r>
          </a:p>
        </p:txBody>
      </p:sp>
      <p:sp>
        <p:nvSpPr>
          <p:cNvPr id="107" name="Oval 106"/>
          <p:cNvSpPr/>
          <p:nvPr/>
        </p:nvSpPr>
        <p:spPr>
          <a:xfrm>
            <a:off x="8135315" y="467772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8" name="Picture 107" descr="wilayah-FFFFFF-37dca10c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4751" y="4737164"/>
            <a:ext cx="211328" cy="21132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579815" y="4435792"/>
            <a:ext cx="2834945" cy="814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Sumatera Barat</a:t>
            </a:r>
          </a:p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8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655" b="1" lang="id-ID">
                <a:solidFill>
                  <a:srgbClr val="1A1A1A"/>
                </a:solidFill>
                <a:latin typeface="Roboto"/>
              </a:rPr>
              <a:t>11 kabupaten/kota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penerima.</a:t>
            </a:r>
          </a:p>
        </p:txBody>
      </p:sp>
      <p:sp>
        <p:nvSpPr>
          <p:cNvPr id="110" name="Oval 109"/>
          <p:cNvSpPr/>
          <p:nvPr/>
        </p:nvSpPr>
        <p:spPr>
          <a:xfrm>
            <a:off x="8135315" y="55724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1" name="Picture 110" descr="data-FFFFFF-608a1e16-t2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4751" y="5631878"/>
            <a:ext cx="211328" cy="21132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579815" y="5330508"/>
            <a:ext cx="2834945" cy="81407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Tiga provinsi</a:t>
            </a:r>
          </a:p>
          <a:p>
            <a:pPr algn="just"/>
            <a:r>
              <a:rPr sz="1655" b="1" lang="id-ID">
                <a:solidFill>
                  <a:srgbClr val="1A1A1A"/>
                </a:solidFill>
                <a:latin typeface="Roboto"/>
              </a:rPr>
              <a:t>26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655" b="1" lang="id-ID">
                <a:solidFill>
                  <a:srgbClr val="1A1A1A"/>
                </a:solidFill>
                <a:latin typeface="Roboto"/>
              </a:rPr>
              <a:t>42 kabupaten/kota</a:t>
            </a:r>
            <a:r>
              <a:rPr sz="1655" b="0" lang="id-ID">
                <a:solidFill>
                  <a:srgbClr val="1A1A1A"/>
                </a:solidFill>
                <a:latin typeface="Roboto"/>
              </a:rPr>
              <a:t> penerima.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Hunian Tetap dan Stimulan Rumah Rusak Berat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4114800" y="30099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30099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13–18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19–20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21–27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Dokumentasi Lapangan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Hunian tetap </a:t>
            </a:r>
            <a:r>
              <a:rPr sz="2200" b="1" i="1" lang="id-ID">
                <a:solidFill>
                  <a:srgbClr val="1A1A1A"/>
                </a:solidFill>
                <a:latin typeface="Roboto"/>
              </a:rPr>
              <a:t>in situ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relokasi mandiri: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850 unit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selesai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868 unit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sedang dibangun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Huntap dan 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2728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1337310"/>
            <a:ext cx="7990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USULAN</a:t>
            </a:r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38.651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usulan huntap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regulasi-051C2C-e639fe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30.430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usulan sudah direviu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39078" y="1337310"/>
            <a:ext cx="121713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PEMBANGUNAN</a:t>
            </a:r>
          </a:p>
        </p:txBody>
      </p:sp>
      <p:pic>
        <p:nvPicPr>
          <p:cNvPr id="31" name="Picture 30" descr="rumah-FFFFFF-320df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312833" y="1682801"/>
            <a:ext cx="468582" cy="17007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75" b="1" lang="id-ID">
                <a:solidFill>
                  <a:srgbClr val="2E3440"/>
                </a:solidFill>
                <a:latin typeface="Roboto"/>
              </a:rPr>
              <a:t>2,9%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0888" y="1630680"/>
            <a:ext cx="1385745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proses bangun dari </a:t>
            </a:r>
            <a:r>
              <a:rPr sz="860" b="1" lang="id-ID">
                <a:solidFill>
                  <a:srgbClr val="2E3440"/>
                </a:solidFill>
                <a:latin typeface="Roboto"/>
              </a:rPr>
              <a:t>30.430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umah-051C2C-320df6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0955830" y="1682801"/>
            <a:ext cx="468582" cy="17007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75" b="1" lang="id-ID">
                <a:solidFill>
                  <a:srgbClr val="2E3440"/>
                </a:solidFill>
                <a:latin typeface="Roboto"/>
              </a:rPr>
              <a:t>2,2%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3885" y="1630680"/>
            <a:ext cx="1385745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selesai dari </a:t>
            </a:r>
            <a:r>
              <a:rPr sz="860" b="1" lang="id-ID">
                <a:solidFill>
                  <a:srgbClr val="2E3440"/>
                </a:solidFill>
                <a:latin typeface="Roboto"/>
              </a:rPr>
              <a:t>38.651</a:t>
            </a:r>
            <a:r>
              <a:rPr sz="860" b="0" lang="id-ID">
                <a:solidFill>
                  <a:srgbClr val="2E3440"/>
                </a:solidFill>
                <a:latin typeface="Roboto"/>
              </a:rPr>
              <a:t> usulan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102096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10209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10209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102096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rumah-FFFFFF-320df645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18" y="2482088"/>
            <a:ext cx="186944" cy="1869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56640" y="2346960"/>
            <a:ext cx="534009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per Provinsi</a:t>
            </a:r>
          </a:p>
        </p:txBody>
      </p:sp>
      <p:sp>
        <p:nvSpPr>
          <p:cNvPr id="51" name="Pita kepala tabel"/>
          <p:cNvSpPr/>
          <p:nvPr/>
        </p:nvSpPr>
        <p:spPr>
          <a:xfrm>
            <a:off x="675640" y="2905760"/>
            <a:ext cx="5848096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2905760"/>
            <a:ext cx="1293896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936" y="2905760"/>
            <a:ext cx="574505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USULAN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98040" y="3116580"/>
            <a:ext cx="574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SUDAH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145" y="3116580"/>
            <a:ext cx="47730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3050" y="3116580"/>
            <a:ext cx="45891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3568" y="3116580"/>
            <a:ext cx="47810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3269" y="2905760"/>
            <a:ext cx="1228867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 DARI USULAN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40" y="2905760"/>
            <a:ext cx="115340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 USULAN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848840" y="3103880"/>
            <a:ext cx="105181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4053050" y="2905760"/>
            <a:ext cx="103862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PEMBANGUNAN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03850" y="3103880"/>
            <a:ext cx="937019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63" name="Pita kolom utama"/>
          <p:cNvSpPr/>
          <p:nvPr/>
        </p:nvSpPr>
        <p:spPr>
          <a:xfrm>
            <a:off x="675640" y="3327400"/>
            <a:ext cx="1370096" cy="2577948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675640" y="5905348"/>
            <a:ext cx="584809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777240" y="3327400"/>
            <a:ext cx="1293896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21936" y="3327400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33.978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98040" y="3327400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26.504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145" y="3327400"/>
            <a:ext cx="477304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7.474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3050" y="3327400"/>
            <a:ext cx="458919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781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13568" y="3327400"/>
            <a:ext cx="478101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824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57864" y="3604582"/>
            <a:ext cx="699676" cy="30495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2,4%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186716"/>
            <a:ext cx="5848096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777240" y="4186716"/>
            <a:ext cx="1293896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1936" y="4186716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2.296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8040" y="4186716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1.848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74145" y="4186716"/>
            <a:ext cx="477304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448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53050" y="4186716"/>
            <a:ext cx="458919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13568" y="4186716"/>
            <a:ext cx="478101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457864" y="4463898"/>
            <a:ext cx="699676" cy="30495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333" b="1" lang="id-ID">
                <a:solidFill>
                  <a:srgbClr val="C8102E"/>
                </a:solidFill>
                <a:latin typeface="Roboto"/>
              </a:rPr>
              <a:t>0,5%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46032"/>
            <a:ext cx="5848096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777240" y="5046032"/>
            <a:ext cx="1293896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21936" y="5046032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2.377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98040" y="5046032"/>
            <a:ext cx="574505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2.078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145" y="5046032"/>
            <a:ext cx="477304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299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53050" y="5046032"/>
            <a:ext cx="458919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84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3568" y="5046032"/>
            <a:ext cx="478101" cy="8593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457864" y="5323213"/>
            <a:ext cx="699676" cy="30495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333" b="1" lang="id-ID">
                <a:solidFill>
                  <a:srgbClr val="C8102E"/>
                </a:solidFill>
                <a:latin typeface="Roboto"/>
              </a:rPr>
              <a:t>0,6%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75640" y="5956148"/>
            <a:ext cx="5848096" cy="304952"/>
          </a:xfrm>
          <a:prstGeom prst="roundRect">
            <a:avLst>
              <a:gd name="adj" fmla="val 12493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2640" y="5956148"/>
            <a:ext cx="1319296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21936" y="5956148"/>
            <a:ext cx="574505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FFFFFF"/>
                </a:solidFill>
                <a:latin typeface="Roboto"/>
              </a:rPr>
              <a:t>38.651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98040" y="5956148"/>
            <a:ext cx="574505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FFFFFF"/>
                </a:solidFill>
                <a:latin typeface="Roboto"/>
              </a:rPr>
              <a:t>30.430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145" y="5956148"/>
            <a:ext cx="477304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FFFFFF"/>
                </a:solidFill>
                <a:latin typeface="Roboto"/>
              </a:rPr>
              <a:t>8.221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53050" y="5956148"/>
            <a:ext cx="458919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FFFFFF"/>
                </a:solidFill>
                <a:latin typeface="Roboto"/>
              </a:rPr>
              <a:t>868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3568" y="5956148"/>
            <a:ext cx="478101" cy="30495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33" b="1" lang="id-ID">
                <a:solidFill>
                  <a:srgbClr val="FFFFFF"/>
                </a:solidFill>
                <a:latin typeface="Roboto"/>
              </a:rPr>
              <a:t>850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87896" y="2346960"/>
            <a:ext cx="4855464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87896" y="2346960"/>
            <a:ext cx="485546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787896" y="2575560"/>
            <a:ext cx="485546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787896" y="2346960"/>
            <a:ext cx="4855464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91489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peringatan-FFFFFF-6a80b716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474" y="2482088"/>
            <a:ext cx="186944" cy="186944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295896" y="2346960"/>
            <a:ext cx="422046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Catatan Huntap</a:t>
            </a:r>
          </a:p>
        </p:txBody>
      </p:sp>
      <p:sp>
        <p:nvSpPr>
          <p:cNvPr id="102" name="Oval 101"/>
          <p:cNvSpPr/>
          <p:nvPr/>
        </p:nvSpPr>
        <p:spPr>
          <a:xfrm>
            <a:off x="6914896" y="30761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pembiayaan-FFFFFF-5387a370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4332" y="3135630"/>
            <a:ext cx="211328" cy="21132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359396" y="2817828"/>
            <a:ext cx="4055364" cy="846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Besaran bantuan</a:t>
            </a:r>
          </a:p>
          <a:p>
            <a:pPr algn="just"/>
            <a:r>
              <a:rPr sz="1725" b="0" lang="id-ID">
                <a:solidFill>
                  <a:srgbClr val="1A1A1A"/>
                </a:solidFill>
                <a:latin typeface="Roboto"/>
              </a:rPr>
              <a:t>Rp</a:t>
            </a:r>
            <a:r>
              <a:rPr sz="1725" b="1" lang="id-ID">
                <a:solidFill>
                  <a:srgbClr val="1A1A1A"/>
                </a:solidFill>
                <a:latin typeface="Roboto"/>
              </a:rPr>
              <a:t>70 juta</a:t>
            </a:r>
            <a:r>
              <a:rPr sz="1725" b="0" lang="id-ID">
                <a:solidFill>
                  <a:srgbClr val="1A1A1A"/>
                </a:solidFill>
                <a:latin typeface="Roboto"/>
              </a:rPr>
              <a:t> per unit rumah rusak berat, sesuai Keputusan Kepala BNPB.</a:t>
            </a:r>
          </a:p>
        </p:txBody>
      </p:sp>
      <p:sp>
        <p:nvSpPr>
          <p:cNvPr id="105" name="Oval 104"/>
          <p:cNvSpPr/>
          <p:nvPr/>
        </p:nvSpPr>
        <p:spPr>
          <a:xfrm>
            <a:off x="6914896" y="374726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data-FFFFFF-608a1e16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74332" y="3806698"/>
            <a:ext cx="211328" cy="21132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359396" y="3625818"/>
            <a:ext cx="4055364" cy="573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Target dapat berubah</a:t>
            </a:r>
          </a:p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8.221 usulan</a:t>
            </a:r>
            <a:r>
              <a:rPr sz="1725" b="0" lang="id-ID">
                <a:solidFill>
                  <a:srgbClr val="1A1A1A"/>
                </a:solidFill>
                <a:latin typeface="Roboto"/>
              </a:rPr>
              <a:t> belum selesai direviu APIP.</a:t>
            </a:r>
          </a:p>
        </p:txBody>
      </p:sp>
      <p:sp>
        <p:nvSpPr>
          <p:cNvPr id="108" name="Oval 107"/>
          <p:cNvSpPr/>
          <p:nvPr/>
        </p:nvSpPr>
        <p:spPr>
          <a:xfrm>
            <a:off x="6914896" y="44183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infrastruktur-FFFFFF-ba1c96e7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4332" y="4477766"/>
            <a:ext cx="211328" cy="211328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7359396" y="4296886"/>
            <a:ext cx="4055364" cy="573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Perlambatan</a:t>
            </a:r>
          </a:p>
          <a:p>
            <a:pPr algn="just"/>
            <a:r>
              <a:rPr sz="1725" b="0" lang="id-ID">
                <a:solidFill>
                  <a:srgbClr val="1A1A1A"/>
                </a:solidFill>
                <a:latin typeface="Roboto"/>
              </a:rPr>
              <a:t>Semen dan besi mahal dan langka.</a:t>
            </a:r>
          </a:p>
        </p:txBody>
      </p:sp>
      <p:sp>
        <p:nvSpPr>
          <p:cNvPr id="111" name="Oval 110"/>
          <p:cNvSpPr/>
          <p:nvPr/>
        </p:nvSpPr>
        <p:spPr>
          <a:xfrm>
            <a:off x="6914896" y="508939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kalender-FFFFFF-a840cf9e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4332" y="5148834"/>
            <a:ext cx="211328" cy="21132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359396" y="4831032"/>
            <a:ext cx="4055364" cy="84693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Anggaran tambahan</a:t>
            </a:r>
          </a:p>
          <a:p>
            <a:pPr algn="just"/>
            <a:r>
              <a:rPr sz="1725" b="0" lang="id-ID">
                <a:solidFill>
                  <a:srgbClr val="1A1A1A"/>
                </a:solidFill>
                <a:latin typeface="Roboto"/>
              </a:rPr>
              <a:t>ABT disetujui Kemenkeu 22 Oktober 2026.</a:t>
            </a:r>
          </a:p>
        </p:txBody>
      </p:sp>
      <p:sp>
        <p:nvSpPr>
          <p:cNvPr id="114" name="Oval 113"/>
          <p:cNvSpPr/>
          <p:nvPr/>
        </p:nvSpPr>
        <p:spPr>
          <a:xfrm>
            <a:off x="6914896" y="576046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lembaga-FFFFFF-f44193c4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4332" y="5819902"/>
            <a:ext cx="211328" cy="21132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7359396" y="5639022"/>
            <a:ext cx="4055364" cy="5730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1725" b="1" lang="id-ID">
                <a:solidFill>
                  <a:srgbClr val="1A1A1A"/>
                </a:solidFill>
                <a:latin typeface="Roboto"/>
              </a:rPr>
              <a:t>Sinergi kelembagaan</a:t>
            </a:r>
          </a:p>
          <a:p>
            <a:pPr algn="just"/>
            <a:r>
              <a:rPr sz="1725" b="0" lang="id-ID">
                <a:solidFill>
                  <a:srgbClr val="1A1A1A"/>
                </a:solidFill>
                <a:latin typeface="Roboto"/>
              </a:rPr>
              <a:t>Tim teknis pusat dan daerah terpadu.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data progres dari penyedia, belum dilengkapi dokumen pendukung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Aceh menyumbang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824 unit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huntap selesai, terbanyak di Aceh Tamiang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Bireuen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Huntap dan 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2728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282700"/>
            <a:ext cx="11094720" cy="5067300"/>
          </a:xfrm>
          <a:prstGeom prst="roundRect">
            <a:avLst>
              <a:gd name="adj" fmla="val 107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1282700"/>
            <a:ext cx="11094720" cy="5067300"/>
          </a:xfrm>
          <a:prstGeom prst="roundRect">
            <a:avLst>
              <a:gd name="adj" fmla="val 107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41782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128270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per Kabupaten/Kota di Aceh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841500"/>
            <a:ext cx="1084072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841500"/>
            <a:ext cx="1286094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9724" y="2052320"/>
            <a:ext cx="217890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SUDAH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0225" y="2052320"/>
            <a:ext cx="217405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5876" y="2052320"/>
            <a:ext cx="217405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1527" y="2052320"/>
            <a:ext cx="21932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9724" y="1841500"/>
            <a:ext cx="445455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 USULAN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0524" y="2039620"/>
            <a:ext cx="435295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945876" y="1841500"/>
            <a:ext cx="446888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PEMBANGUNAN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96676" y="2039620"/>
            <a:ext cx="4367284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3" name="Pita kolom utama"/>
          <p:cNvSpPr/>
          <p:nvPr/>
        </p:nvSpPr>
        <p:spPr>
          <a:xfrm>
            <a:off x="675640" y="2263140"/>
            <a:ext cx="1637884" cy="368046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75640" y="59436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777240" y="228439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830" y="2263140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Tamiang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9724" y="2263140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9.403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0225" y="2263140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5876" y="2263140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1527" y="2263140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394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47963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50089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479638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Utara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89724" y="2479638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7.816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225" y="2479638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5876" y="2479638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1527" y="2479638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2696135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77240" y="271738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830" y="2696135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Timur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89724" y="2696135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2.747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70225" y="2696135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3.702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5876" y="2696135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1527" y="2696135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291263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777240" y="293388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830" y="2912633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Tengah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89724" y="2912633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1.930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0225" y="2912633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754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5876" y="2912633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54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21527" y="2912633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129131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777240" y="315038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830" y="3129131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Pidie Jaya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89724" y="3129131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2.268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70225" y="3129131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5876" y="3129131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1527" y="3129131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334562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77240" y="336688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2830" y="3345628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Bireuen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89724" y="3345628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0225" y="3345628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1.125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5876" y="3345628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248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1527" y="3345628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338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562126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77240" y="358338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2830" y="3562126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Bener Meriah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89724" y="3562126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645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70225" y="3562126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463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5876" y="3562126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21527" y="3562126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3778624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777240" y="379987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2830" y="3778624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Gayo Lues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89724" y="3778624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104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70225" y="3778624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5876" y="3778624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21527" y="3778624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3995121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777240" y="4016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2830" y="3995121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Nagan Raya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89724" y="3995121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658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0225" y="3995121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45876" y="3995121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21527" y="3995121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211619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423287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4211619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Tenggara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89724" y="4211619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342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70225" y="4211619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45876" y="4211619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21527" y="4211619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4428116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5" name="Oval 104"/>
          <p:cNvSpPr/>
          <p:nvPr/>
        </p:nvSpPr>
        <p:spPr>
          <a:xfrm>
            <a:off x="777240" y="44493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2830" y="4428116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Lhokseumawe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89724" y="4428116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70225" y="4428116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5876" y="4428116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21527" y="4428116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75640" y="4644614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77240" y="466586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2830" y="4644614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Singkil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89724" y="4644614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70225" y="4644614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5876" y="4644614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21527" y="4644614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75640" y="486111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777240" y="488236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2830" y="4861112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Barat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389724" y="4861112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70225" y="4861112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45876" y="4861112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21527" y="4861112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75640" y="5077609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26" name="Oval 125"/>
          <p:cNvSpPr/>
          <p:nvPr/>
        </p:nvSpPr>
        <p:spPr>
          <a:xfrm>
            <a:off x="777240" y="50988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2830" y="5077609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Pidie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389724" y="5077609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70225" y="5077609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945876" y="5077609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21527" y="5077609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75640" y="529410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3" name="Oval 132"/>
          <p:cNvSpPr/>
          <p:nvPr/>
        </p:nvSpPr>
        <p:spPr>
          <a:xfrm>
            <a:off x="777240" y="531536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52830" y="5294107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Aceh Selatan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389724" y="5294107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70225" y="5294107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45876" y="5294107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21527" y="5294107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675640" y="5510605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40" name="Oval 139"/>
          <p:cNvSpPr/>
          <p:nvPr/>
        </p:nvSpPr>
        <p:spPr>
          <a:xfrm>
            <a:off x="777240" y="553185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52830" y="5510605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Subulussalam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389724" y="5510605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70225" y="5510605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45876" y="5510605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221527" y="5510605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75640" y="572710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47" name="Oval 146"/>
          <p:cNvSpPr/>
          <p:nvPr/>
        </p:nvSpPr>
        <p:spPr>
          <a:xfrm>
            <a:off x="777240" y="574835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2830" y="5727102"/>
            <a:ext cx="1286094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Langsa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389724" y="5727102"/>
            <a:ext cx="217890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70225" y="5727102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45876" y="5727102"/>
            <a:ext cx="2174051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221527" y="5727102"/>
            <a:ext cx="2193233" cy="21649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5640" y="5994400"/>
            <a:ext cx="10840720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52830" y="5994400"/>
            <a:ext cx="133689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389724" y="5994400"/>
            <a:ext cx="217890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26.504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70225" y="5994400"/>
            <a:ext cx="217405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7.474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45876" y="5994400"/>
            <a:ext cx="217405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781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221527" y="5994400"/>
            <a:ext cx="219323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824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data progres dari penyedia, belum dilengkapi dokumen pendukung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Sumatera Utara menyelesaikan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11 unit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huntap, terbanyak di Langkat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Huntap dan 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2728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per Kabupaten/Kota di Sumatera Utara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1084072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502667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297" y="1752600"/>
            <a:ext cx="208039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SUDAH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8295" y="1752600"/>
            <a:ext cx="213469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4589" y="1752600"/>
            <a:ext cx="213469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0883" y="1752600"/>
            <a:ext cx="21538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297" y="1541780"/>
            <a:ext cx="431669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 USULAN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7097" y="1739900"/>
            <a:ext cx="42150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024589" y="1541780"/>
            <a:ext cx="439017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PEMBANGUNAN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75389" y="1739900"/>
            <a:ext cx="4288571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3" name="Pita kolom utama"/>
          <p:cNvSpPr/>
          <p:nvPr/>
        </p:nvSpPr>
        <p:spPr>
          <a:xfrm>
            <a:off x="675640" y="1963420"/>
            <a:ext cx="1854457" cy="39801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75640" y="59436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777240" y="198698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830" y="1963420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Batubara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297" y="1963420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88295" y="1963420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4589" y="1963420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0883" y="1963420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184541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20810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184541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Deli Serdang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297" y="2184541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8295" y="2184541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4589" y="2184541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0883" y="2184541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240566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77240" y="242922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830" y="2405662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Humbang Hasundutan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297" y="2405662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88295" y="2405662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4589" y="2405662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0883" y="2405662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262678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777240" y="265034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830" y="2626783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Binjai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6297" y="2626783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88295" y="2626783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24589" y="2626783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60883" y="2626783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2847904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777240" y="28714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830" y="2847904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Medan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06297" y="2847904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88295" y="2847904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4589" y="2847904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0883" y="2847904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3069026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77240" y="309259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2830" y="3069026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Padangsidimpuan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06297" y="3069026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88295" y="3069026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4589" y="3069026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60883" y="3069026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29014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77240" y="331371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2830" y="3290147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Sibolga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297" y="3290147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88295" y="3290147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24589" y="3290147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60883" y="3290147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351126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777240" y="353483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2830" y="3511268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Tebing Tinggi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06297" y="3511268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88295" y="3511268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24589" y="3511268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60883" y="3511268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3732389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777240" y="375595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2830" y="3732389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06297" y="3732389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299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88295" y="3732389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24589" y="3732389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60883" y="3732389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395351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397707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3953510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Mandailing Natal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06297" y="3953510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88295" y="3953510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24589" y="3953510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60883" y="3953510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4174631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5" name="Oval 104"/>
          <p:cNvSpPr/>
          <p:nvPr/>
        </p:nvSpPr>
        <p:spPr>
          <a:xfrm>
            <a:off x="777240" y="419819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2830" y="4174631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Nias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06297" y="4174631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88295" y="4174631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24589" y="4174631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60883" y="4174631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75640" y="439575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77240" y="441931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2830" y="4395752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Nias Selatan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06297" y="4395752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88295" y="4395752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24589" y="4395752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60883" y="4395752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75640" y="461687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777240" y="464043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2830" y="4616873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Nias Barat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6297" y="4616873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88295" y="4616873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024589" y="4616873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260883" y="4616873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75640" y="4837994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26" name="Oval 125"/>
          <p:cNvSpPr/>
          <p:nvPr/>
        </p:nvSpPr>
        <p:spPr>
          <a:xfrm>
            <a:off x="777240" y="486156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2830" y="4837994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Pakpak Bharat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06297" y="4837994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88295" y="4837994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024589" y="4837994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260883" y="4837994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75640" y="5059116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33" name="Oval 132"/>
          <p:cNvSpPr/>
          <p:nvPr/>
        </p:nvSpPr>
        <p:spPr>
          <a:xfrm>
            <a:off x="777240" y="50826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52830" y="5059116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Serdang Bedagai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06297" y="5059116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88295" y="5059116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24589" y="5059116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60883" y="5059116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675640" y="528023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40" name="Oval 139"/>
          <p:cNvSpPr/>
          <p:nvPr/>
        </p:nvSpPr>
        <p:spPr>
          <a:xfrm>
            <a:off x="777240" y="530380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52830" y="5280237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Tapanuli Selatan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606297" y="5280237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303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88295" y="5280237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103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24589" y="5280237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260883" y="5280237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75640" y="550135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47" name="Oval 146"/>
          <p:cNvSpPr/>
          <p:nvPr/>
        </p:nvSpPr>
        <p:spPr>
          <a:xfrm>
            <a:off x="777240" y="552492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2830" y="5501358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Tapanuli Utara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06297" y="5501358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788295" y="5501358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24589" y="5501358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260883" y="5501358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675640" y="5722479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54" name="Oval 153"/>
          <p:cNvSpPr/>
          <p:nvPr/>
        </p:nvSpPr>
        <p:spPr>
          <a:xfrm>
            <a:off x="777240" y="57460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18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52830" y="5722479"/>
            <a:ext cx="150266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Tapanuli Tengah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606297" y="5722479"/>
            <a:ext cx="208039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958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88295" y="5722479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90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24589" y="5722479"/>
            <a:ext cx="2134694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260883" y="5722479"/>
            <a:ext cx="2153877" cy="22112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75640" y="5994400"/>
            <a:ext cx="10840720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52830" y="5994400"/>
            <a:ext cx="155346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06297" y="5994400"/>
            <a:ext cx="208039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1.848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88295" y="5994400"/>
            <a:ext cx="213469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448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24589" y="5994400"/>
            <a:ext cx="2134694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260883" y="5994400"/>
            <a:ext cx="215387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data progres dari penyedia, belum dilengkapi dokumen pendukung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Sumatera Barat menyelesaikan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15 unit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huntap, terbanyak di Agam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Huntap dan 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2728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per Kabupaten/Kota di Sumatera Barat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1084072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363381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KABUPATEN/KOTA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7011" y="1752600"/>
            <a:ext cx="211521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SUDAH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3830" y="1752600"/>
            <a:ext cx="21695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4946" y="1752600"/>
            <a:ext cx="21695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061" y="1752600"/>
            <a:ext cx="218869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7011" y="1541780"/>
            <a:ext cx="438633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REVIU USULAN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17811" y="1739900"/>
            <a:ext cx="4284735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954946" y="1541780"/>
            <a:ext cx="445981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PEMBANGUNAN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05746" y="1739900"/>
            <a:ext cx="4358214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33" name="Pita kolom utama"/>
          <p:cNvSpPr/>
          <p:nvPr/>
        </p:nvSpPr>
        <p:spPr>
          <a:xfrm>
            <a:off x="675640" y="1963420"/>
            <a:ext cx="1715171" cy="39801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75640" y="59436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777240" y="204226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830" y="1963420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Pasaman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7011" y="1963420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3830" y="1963420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4946" y="1963420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061" y="1963420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5640" y="229510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777240" y="237394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2295102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Pasaman Barat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7011" y="2295102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3830" y="2295102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4946" y="2295102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6061" y="2295102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262678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77240" y="270562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830" y="2626783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Agam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7011" y="2626783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1.124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3830" y="2626783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54946" y="2626783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6061" y="2626783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2958465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777240" y="303731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830" y="2958465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Padang Panjang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7011" y="2958465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3830" y="2958465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946" y="2958465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26061" y="2958465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29014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777240" y="336899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830" y="3290147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Padang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7011" y="3290147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83830" y="3290147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54946" y="3290147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6061" y="3290147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362182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77240" y="370067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2830" y="3621828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Solok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67011" y="3621828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83830" y="3621828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54946" y="3621828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6061" y="3621828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953510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77240" y="403235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2830" y="3953510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Lima Puluh Kota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67011" y="3953510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49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83830" y="3953510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54946" y="3953510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26061" y="3953510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4285192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777240" y="436403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2830" y="4285192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Tanah Datar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011" y="4285192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83830" y="4285192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4946" y="4285192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26061" y="4285192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61687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777240" y="469571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2830" y="4616873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Padang Pariaman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67011" y="4616873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672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83830" y="4616873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54946" y="4616873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26061" y="4616873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4948555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777240" y="502740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2830" y="4948555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Kota Pariaman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67011" y="4948555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83830" y="4948555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54946" y="4948555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26061" y="4948555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528023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05" name="Oval 104"/>
          <p:cNvSpPr/>
          <p:nvPr/>
        </p:nvSpPr>
        <p:spPr>
          <a:xfrm>
            <a:off x="777240" y="535908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2830" y="5280237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Pesisir Selatan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67011" y="5280237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83830" y="5280237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54946" y="5280237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26061" y="5280237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75640" y="5611918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77240" y="569076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2830" y="5611918"/>
            <a:ext cx="1363381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1A1A1A"/>
                </a:solidFill>
                <a:latin typeface="Roboto"/>
              </a:rPr>
              <a:t>Kepulauan Mentawai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67011" y="5611918"/>
            <a:ext cx="211521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83830" y="5611918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54946" y="5611918"/>
            <a:ext cx="2169516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26061" y="5611918"/>
            <a:ext cx="2188699" cy="33168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75640" y="5994400"/>
            <a:ext cx="10840720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2830" y="5994400"/>
            <a:ext cx="141418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7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67011" y="5994400"/>
            <a:ext cx="211521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2.078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83830" y="5994400"/>
            <a:ext cx="21695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299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54946" y="5994400"/>
            <a:ext cx="21695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84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26061" y="5994400"/>
            <a:ext cx="21886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7" b="1" lang="id-ID">
                <a:solidFill>
                  <a:srgbClr val="FFFFFF"/>
                </a:solidFill>
                <a:latin typeface="Roboto"/>
              </a:rPr>
              <a:t>15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Kedeputian Bidang RR BNPB, 24 Oktober 2026; data progres dari penyedia, belum dilengkapi dokumen pendukung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Rencana transfer stimulan tahap II sampai IV pada akhir Oktober 2026 sebesar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Rp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1.751,1 miliar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03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Huntap dan RB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2728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1337310"/>
            <a:ext cx="150609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RENCANA TRANSFER</a:t>
            </a:r>
          </a:p>
        </p:txBody>
      </p:sp>
      <p:pic>
        <p:nvPicPr>
          <p:cNvPr id="18" name="Picture 17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embiayaan-051C2C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1.751,1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rencana ke daerah, tahap II sampai IV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707,8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tahap II untuk Aceh dan Sumut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Rp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608,1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tahap IV untuk Aceh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2346960"/>
            <a:ext cx="6213043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346960"/>
            <a:ext cx="6213043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575560"/>
            <a:ext cx="6213043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213043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pembiayaan-FFFFFF-5387a370-t2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18" y="2482088"/>
            <a:ext cx="186944" cy="1869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6640" y="2346960"/>
            <a:ext cx="545104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Transfer ke Daerah dan Rencana Tahap II sampai IV, Rp Miliar</a:t>
            </a:r>
          </a:p>
        </p:txBody>
      </p:sp>
      <p:sp>
        <p:nvSpPr>
          <p:cNvPr id="41" name="Pita kepala tabel"/>
          <p:cNvSpPr/>
          <p:nvPr/>
        </p:nvSpPr>
        <p:spPr>
          <a:xfrm>
            <a:off x="675640" y="2905760"/>
            <a:ext cx="5959043" cy="210820"/>
          </a:xfrm>
          <a:prstGeom prst="roundRect">
            <a:avLst>
              <a:gd name="adj" fmla="val 18072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2905760"/>
            <a:ext cx="12527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PROVINSI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0822" y="2905760"/>
            <a:ext cx="179926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TRANSFER BNPB KE DAERAH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81682" y="2905760"/>
            <a:ext cx="75858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TAHAP II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1871" y="2905760"/>
            <a:ext cx="79651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TAHAP III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39985" y="2905760"/>
            <a:ext cx="7930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TAHAP IV</a:t>
            </a:r>
          </a:p>
        </p:txBody>
      </p:sp>
      <p:sp>
        <p:nvSpPr>
          <p:cNvPr id="47" name="Pita kolom utama"/>
          <p:cNvSpPr/>
          <p:nvPr/>
        </p:nvSpPr>
        <p:spPr>
          <a:xfrm>
            <a:off x="675640" y="3116580"/>
            <a:ext cx="1328982" cy="2799283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75640" y="5915863"/>
            <a:ext cx="5959043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777240" y="3116580"/>
            <a:ext cx="1252782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0822" y="3116580"/>
            <a:ext cx="1799260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653,7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81682" y="3116580"/>
            <a:ext cx="758589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517,2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41871" y="3116580"/>
            <a:ext cx="796514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319,5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9985" y="3116580"/>
            <a:ext cx="793098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608,1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4049674"/>
            <a:ext cx="5959043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77240" y="4049674"/>
            <a:ext cx="1252782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80822" y="4049674"/>
            <a:ext cx="1799260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71,8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1682" y="4049674"/>
            <a:ext cx="758589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190,6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1871" y="4049674"/>
            <a:ext cx="796514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10,1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39985" y="4049674"/>
            <a:ext cx="793098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0,0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4982769"/>
            <a:ext cx="5959043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777240" y="4982769"/>
            <a:ext cx="1252782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80822" y="4982769"/>
            <a:ext cx="1799260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23,4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81682" y="4982769"/>
            <a:ext cx="758589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0,0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1871" y="4982769"/>
            <a:ext cx="796514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105,5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39985" y="4982769"/>
            <a:ext cx="793098" cy="9330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1A1A1A"/>
                </a:solidFill>
                <a:latin typeface="Roboto"/>
              </a:rPr>
              <a:t>0,0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75640" y="5966663"/>
            <a:ext cx="5959043" cy="294437"/>
          </a:xfrm>
          <a:prstGeom prst="roundRect">
            <a:avLst>
              <a:gd name="adj" fmla="val 12939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2640" y="5966663"/>
            <a:ext cx="1278182" cy="2944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88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80822" y="5966663"/>
            <a:ext cx="1799260" cy="2944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FFFFFF"/>
                </a:solidFill>
                <a:latin typeface="Roboto"/>
              </a:rPr>
              <a:t>748,9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81682" y="5966663"/>
            <a:ext cx="758589" cy="2944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FFFFFF"/>
                </a:solidFill>
                <a:latin typeface="Roboto"/>
              </a:rPr>
              <a:t>707,8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41871" y="5966663"/>
            <a:ext cx="796514" cy="2944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FFFFFF"/>
                </a:solidFill>
                <a:latin typeface="Roboto"/>
              </a:rPr>
              <a:t>435,2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39985" y="5966663"/>
            <a:ext cx="793098" cy="2944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88" b="1" lang="id-ID">
                <a:solidFill>
                  <a:srgbClr val="FFFFFF"/>
                </a:solidFill>
                <a:latin typeface="Roboto"/>
              </a:rPr>
              <a:t>608,1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98843" y="2346960"/>
            <a:ext cx="4744517" cy="40030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898843" y="2346960"/>
            <a:ext cx="474451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98843" y="2575560"/>
            <a:ext cx="474451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898843" y="2346960"/>
            <a:ext cx="4744517" cy="4003040"/>
          </a:xfrm>
          <a:prstGeom prst="roundRect">
            <a:avLst>
              <a:gd name="adj" fmla="val 136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25843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rumah-FFFFFF-320df645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8421" y="2482088"/>
            <a:ext cx="186944" cy="18694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06843" y="2346960"/>
            <a:ext cx="410951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yang Sudah Berdiri</a:t>
            </a:r>
          </a:p>
        </p:txBody>
      </p:sp>
      <p:pic>
        <p:nvPicPr>
          <p:cNvPr id="79" name="Picture 78" descr="rr-sumatera-kisi-hun-28-3-172x11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5843" y="2905760"/>
            <a:ext cx="2194458" cy="145389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025843" y="4385056"/>
            <a:ext cx="2194458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Aceh Tamiang</a:t>
            </a:r>
          </a:p>
        </p:txBody>
      </p:sp>
      <p:pic>
        <p:nvPicPr>
          <p:cNvPr id="81" name="Picture 80" descr="rr-sumatera-kisi-hun-29-4-172x11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1902" y="2905760"/>
            <a:ext cx="2194458" cy="145389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321902" y="4385056"/>
            <a:ext cx="2194458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83" name="Picture 82" descr="rr-sumatera-kisi-hun-30-1-172x11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5843" y="4634230"/>
            <a:ext cx="2194458" cy="1453896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025843" y="6113526"/>
            <a:ext cx="2194458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Lima Puluh Kota</a:t>
            </a:r>
          </a:p>
        </p:txBody>
      </p:sp>
      <p:pic>
        <p:nvPicPr>
          <p:cNvPr id="85" name="Picture 84" descr="rr-sumatera-kisi-hun-30-7-172x11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1902" y="4634230"/>
            <a:ext cx="2194458" cy="145389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321902" y="6113526"/>
            <a:ext cx="2194458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Kota Padang Panjang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bahan RTM Kedeputian Bidang RR BNPB, 27 Oktober 2026; foto dokumentasi Kedeputian Bidang RR BNPB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Kendala dan Tindak Lanjut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13–18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4114800" y="39497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9497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19–20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21–27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Dokumentasi Lapangan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Kendala pelaksanaan dan saran tindak lanjut sektor perumahan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04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Kendala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1672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05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Dokumentasi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peringatan-FFFFFF-6a80b716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Kendala dan Saran Tindak Lanjut</a:t>
            </a:r>
          </a:p>
        </p:txBody>
      </p:sp>
      <p:sp>
        <p:nvSpPr>
          <p:cNvPr id="23" name="Pita kepala tabel"/>
          <p:cNvSpPr/>
          <p:nvPr/>
        </p:nvSpPr>
        <p:spPr>
          <a:xfrm>
            <a:off x="675640" y="1541780"/>
            <a:ext cx="10840720" cy="210820"/>
          </a:xfrm>
          <a:prstGeom prst="roundRect">
            <a:avLst>
              <a:gd name="adj" fmla="val 18072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830" y="1541780"/>
            <a:ext cx="17957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ASPEK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9335" y="1541780"/>
            <a:ext cx="394996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KENDALA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097" y="1541780"/>
            <a:ext cx="456546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SARAN TINDAK LANJUT</a:t>
            </a:r>
          </a:p>
        </p:txBody>
      </p:sp>
      <p:sp>
        <p:nvSpPr>
          <p:cNvPr id="27" name="Pita kolom utama"/>
          <p:cNvSpPr/>
          <p:nvPr/>
        </p:nvSpPr>
        <p:spPr>
          <a:xfrm>
            <a:off x="675640" y="1752600"/>
            <a:ext cx="2147495" cy="450850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75640" y="626110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777240" y="198764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infrastruktur-FFFFFF-ba1c96e7-t2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58" y="2018959"/>
            <a:ext cx="111354" cy="1113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2830" y="1752600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Material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9335" y="1752600"/>
            <a:ext cx="3949961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Semen dan besi langka, harganya melonjak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0097" y="1752600"/>
            <a:ext cx="4565463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Jamin pasokan dan harga; Kepala BNPB telah menyurati PT Semen Indonesia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2396671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777240" y="263171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wilayah-FFFFFF-37dca10c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58" y="2663030"/>
            <a:ext cx="111354" cy="11135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2830" y="2396671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Akses lokasi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9335" y="2396671"/>
            <a:ext cx="3949961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Lokasi huntap tersebar; distribusi terganggu banjir dan longsor susulan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0097" y="2396671"/>
            <a:ext cx="4565463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Prioritaskan akses dan jalur distribusi material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5640" y="3040743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77240" y="327578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luas-FFFFFF-12322028-t2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58" y="3307102"/>
            <a:ext cx="111354" cy="11135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2830" y="3040743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Status lahan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9335" y="3040743"/>
            <a:ext cx="3949961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Kepastian lahan, terutama tanah adat dan ulayat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0097" y="3040743"/>
            <a:ext cx="4565463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Percepat penyelesaian status dan kesepakatan lahan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3684814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777240" y="391985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pembiayaan-FFFFFF-5387a370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58" y="3951173"/>
            <a:ext cx="111354" cy="11135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2830" y="3684814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Anggaran RB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99335" y="3684814"/>
            <a:ext cx="3949961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ABT DSP stimulan rumah rusak berat terlambat cair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0097" y="3684814"/>
            <a:ext cx="4565463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Percepat pencairan agar penyedia mulai bekerja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4328886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777240" y="456392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data-FFFFFF-608a1e16-t2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558" y="4595245"/>
            <a:ext cx="111354" cy="11135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52830" y="4328886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Data penerima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99335" y="4328886"/>
            <a:ext cx="3949961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Verifikasi dan validasi data oleh pemda terlambat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0097" y="4328886"/>
            <a:ext cx="4565463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Pemda menuntaskan verifikasi dan data yang diperselisihkan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4972957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777240" y="520799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FFFFFF-f44193c4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558" y="5239316"/>
            <a:ext cx="111354" cy="11135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52830" y="4972957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Mekanisme hibah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99335" y="4972957"/>
            <a:ext cx="3949961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Hibah RR perumahan belum dibedakan dari sektor lain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0097" y="4972957"/>
            <a:ext cx="4565463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Susun mekanisme khusus hibah RR sektor perumahan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5617029"/>
            <a:ext cx="1084072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77240" y="585206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regulasi-FFFFFF-e639fe9a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558" y="5883387"/>
            <a:ext cx="111354" cy="11135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52830" y="5617029"/>
            <a:ext cx="1795705" cy="644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6" b="1" lang="id-ID">
                <a:solidFill>
                  <a:srgbClr val="1A1A1A"/>
                </a:solidFill>
                <a:latin typeface="Roboto"/>
              </a:rPr>
              <a:t>Peran DSP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99335" y="5617029"/>
            <a:ext cx="3949961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PPK dan BPP DSP rumah rusak berat berada di BNPB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00097" y="5617029"/>
            <a:ext cx="4565463" cy="6440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33" b="0" lang="id-ID">
                <a:solidFill>
                  <a:srgbClr val="2E3440"/>
                </a:solidFill>
                <a:latin typeface="Roboto"/>
              </a:rPr>
              <a:t>Kembalikan fungsi PPK dan BPP DSP kepada pemda pengusul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bahan RTM Kedeputian Bidang RR BNPB, 27 Oktober 2026; Kedeputian Bidang RR BNPB, 24 Oktober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347980" cy="4394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D9600B"/>
                </a:solidFill>
                <a:latin typeface="Roboto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051C2C"/>
                </a:solidFill>
                <a:latin typeface="Roboto"/>
              </a:rPr>
              <a:t>Dokumentasi Lapangan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Dasar Hukum Pelaksanaan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Stimulan Rumah Rusak Sedang dan Rusak Ringan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13–18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Hunian Tetap dan Stimulan Rumah Rusak Berat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19–20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Kendala dan Tindak Lanjut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4114800" y="48895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48895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21–27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Dokumentasi Lapangan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perbaikan rumah rusak di Aceh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Ringan, Pidie Jaya</a:t>
            </a:r>
          </a:p>
        </p:txBody>
      </p:sp>
      <p:pic>
        <p:nvPicPr>
          <p:cNvPr id="23" name="Picture 22" descr="rr-sumatera-kisi-hun-21-1-131x1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1673860" cy="17942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564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25" name="Picture 24" descr="rr-sumatera-kisi-hun-21-2-131x14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1541780"/>
            <a:ext cx="1673860" cy="17942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45110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27" name="Picture 26" descr="rr-sumatera-kisi-hun-21-3-131x1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1541780"/>
            <a:ext cx="1673860" cy="17942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22656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458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8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58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1118108"/>
            <a:ext cx="186944" cy="18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258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Pidie Jaya</a:t>
            </a:r>
          </a:p>
        </p:txBody>
      </p:sp>
      <p:pic>
        <p:nvPicPr>
          <p:cNvPr id="36" name="Picture 35" descr="rr-sumatera-kisi-hun-21-5-131x14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80" y="1541780"/>
            <a:ext cx="1673860" cy="179425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29158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38" name="Picture 37" descr="rr-sumatera-kisi-hun-21-6-131x14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040" y="1541780"/>
            <a:ext cx="1673860" cy="179425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6704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40" name="Picture 39" descr="rr-sumatera-kisi-hun-21-7-131x14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00" y="1541780"/>
            <a:ext cx="1673860" cy="179425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984250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3870198"/>
            <a:ext cx="186944" cy="1869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Aceh Timur</a:t>
            </a:r>
          </a:p>
        </p:txBody>
      </p:sp>
      <p:pic>
        <p:nvPicPr>
          <p:cNvPr id="49" name="Picture 48" descr="rr-sumatera-kisi-hun-22-2-131x14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40" y="4293870"/>
            <a:ext cx="1673860" cy="179425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7564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51" name="Picture 50" descr="rr-sumatera-kisi-hun-22-3-131x14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1100" y="4293870"/>
            <a:ext cx="1673860" cy="179425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45110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53" name="Picture 52" descr="rr-sumatera-kisi-hun-22-4-131x14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6560" y="4293870"/>
            <a:ext cx="1673860" cy="179425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22656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6458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6458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9158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3870198"/>
            <a:ext cx="186944" cy="1869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7258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Ringan, Bireuen</a:t>
            </a:r>
          </a:p>
        </p:txBody>
      </p:sp>
      <p:pic>
        <p:nvPicPr>
          <p:cNvPr id="62" name="Picture 61" descr="rr-sumatera-kisi-hun-22-5-131x14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580" y="4293870"/>
            <a:ext cx="1673860" cy="1794256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629158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64" name="Picture 63" descr="rr-sumatera-kisi-hun-22-6-131x14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7040" y="4293870"/>
            <a:ext cx="1673860" cy="179425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06704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66" name="Picture 65" descr="rr-sumatera-kisi-hun-22-7-131x14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2500" y="4293870"/>
            <a:ext cx="1673860" cy="179425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84250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perbaikan rumah rusak di Kota Binjai, Sumatera Utara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Kota Binjai</a:t>
            </a:r>
          </a:p>
        </p:txBody>
      </p:sp>
      <p:pic>
        <p:nvPicPr>
          <p:cNvPr id="23" name="Picture 22" descr="rr-sumatera-kisi-hun-23-2-131x141-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1673860" cy="17942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564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25" name="Picture 24" descr="rr-sumatera-kisi-hun-23-4-131x141-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1541780"/>
            <a:ext cx="1673860" cy="17942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45110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27" name="Picture 26" descr="rr-sumatera-kisi-hun-23-3-131x141-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1541780"/>
            <a:ext cx="1673860" cy="17942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22656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458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8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58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1118108"/>
            <a:ext cx="186944" cy="18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258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Ringan, Kota Binjai</a:t>
            </a:r>
          </a:p>
        </p:txBody>
      </p:sp>
      <p:pic>
        <p:nvPicPr>
          <p:cNvPr id="36" name="Picture 35" descr="rr-sumatera-kisi-hun-23-5-131x141-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80" y="1541780"/>
            <a:ext cx="1673860" cy="179425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29158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38" name="Picture 37" descr="rr-sumatera-kisi-hun-23-7-131x141-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040" y="1541780"/>
            <a:ext cx="1673860" cy="179425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6704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40" name="Picture 39" descr="rr-sumatera-kisi-hun-23-6-131x141-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00" y="1541780"/>
            <a:ext cx="1673860" cy="179425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984250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3870198"/>
            <a:ext cx="186944" cy="1869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Kota Binjai</a:t>
            </a:r>
          </a:p>
        </p:txBody>
      </p:sp>
      <p:pic>
        <p:nvPicPr>
          <p:cNvPr id="49" name="Picture 48" descr="rr-sumatera-kisi-hun-24-3-131x141-k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40" y="4293870"/>
            <a:ext cx="1673860" cy="179425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7564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51" name="Picture 50" descr="rr-sumatera-kisi-hun-24-2-131x141-k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1100" y="4293870"/>
            <a:ext cx="1673860" cy="179425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45110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53" name="Picture 52" descr="rr-sumatera-kisi-hun-24-1-131x141-k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6560" y="4293870"/>
            <a:ext cx="1673860" cy="179425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22656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6458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64580" y="3963670"/>
            <a:ext cx="5478780" cy="228600"/>
          </a:xfrm>
          <a:prstGeom prst="rect">
            <a:avLst/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9158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data-FFFFFF-608a1e16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4158" y="3870198"/>
            <a:ext cx="186944" cy="1869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7258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Capaian Kota Binjai</a:t>
            </a:r>
          </a:p>
        </p:txBody>
      </p:sp>
      <p:sp>
        <p:nvSpPr>
          <p:cNvPr id="62" name="Oval 61"/>
          <p:cNvSpPr/>
          <p:nvPr/>
        </p:nvSpPr>
        <p:spPr>
          <a:xfrm>
            <a:off x="6291580" y="44566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16" y="4516078"/>
            <a:ext cx="211328" cy="21132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736080" y="4291383"/>
            <a:ext cx="4678680" cy="66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2001" b="1" lang="id-ID">
                <a:solidFill>
                  <a:srgbClr val="1A1A1A"/>
                </a:solidFill>
                <a:latin typeface="Roboto"/>
              </a:rPr>
              <a:t>Stimulan</a:t>
            </a:r>
          </a:p>
          <a:p>
            <a:pPr algn="just"/>
            <a:r>
              <a:rPr sz="2001" b="1" lang="id-ID">
                <a:solidFill>
                  <a:srgbClr val="1A1A1A"/>
                </a:solidFill>
                <a:latin typeface="Roboto"/>
              </a:rPr>
              <a:t>15 unit rumah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, realisasi belanja </a:t>
            </a:r>
            <a:r>
              <a:rPr sz="2001" b="1" lang="id-ID">
                <a:solidFill>
                  <a:srgbClr val="1A1A1A"/>
                </a:solidFill>
                <a:latin typeface="Roboto"/>
              </a:rPr>
              <a:t>100%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65" name="Oval 64"/>
          <p:cNvSpPr/>
          <p:nvPr/>
        </p:nvSpPr>
        <p:spPr>
          <a:xfrm>
            <a:off x="6291580" y="511238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kalender-FFFFFF-a840cf9e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1016" y="5171821"/>
            <a:ext cx="211328" cy="2113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736080" y="4947126"/>
            <a:ext cx="4678680" cy="66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2001" b="1" lang="id-ID">
                <a:solidFill>
                  <a:srgbClr val="1A1A1A"/>
                </a:solidFill>
                <a:latin typeface="Roboto"/>
              </a:rPr>
              <a:t>Huntap</a:t>
            </a:r>
          </a:p>
          <a:p>
            <a:pPr algn="just"/>
            <a:r>
              <a:rPr sz="2001" b="0" lang="id-ID">
                <a:solidFill>
                  <a:srgbClr val="1A1A1A"/>
                </a:solidFill>
                <a:latin typeface="Roboto"/>
              </a:rPr>
              <a:t>Usulan </a:t>
            </a:r>
            <a:r>
              <a:rPr sz="2001" b="1" lang="id-ID">
                <a:solidFill>
                  <a:srgbClr val="1A1A1A"/>
                </a:solidFill>
                <a:latin typeface="Roboto"/>
              </a:rPr>
              <a:t>22 unit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, proses bangun </a:t>
            </a:r>
            <a:r>
              <a:rPr sz="2001" b="1" lang="id-ID">
                <a:solidFill>
                  <a:srgbClr val="1A1A1A"/>
                </a:solidFill>
                <a:latin typeface="Roboto"/>
              </a:rPr>
              <a:t>0 unit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68" name="Oval 67"/>
          <p:cNvSpPr/>
          <p:nvPr/>
        </p:nvSpPr>
        <p:spPr>
          <a:xfrm>
            <a:off x="6291580" y="576812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pembiayaan-FFFFFF-5387a370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1016" y="5827564"/>
            <a:ext cx="211328" cy="21132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736080" y="5602870"/>
            <a:ext cx="4678680" cy="66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2001" b="1" lang="id-ID">
                <a:solidFill>
                  <a:srgbClr val="1A1A1A"/>
                </a:solidFill>
                <a:latin typeface="Roboto"/>
              </a:rPr>
              <a:t>Dana</a:t>
            </a:r>
          </a:p>
          <a:p>
            <a:pPr algn="just"/>
            <a:r>
              <a:rPr sz="2001" b="0" lang="id-ID">
                <a:solidFill>
                  <a:srgbClr val="1A1A1A"/>
                </a:solidFill>
                <a:latin typeface="Roboto"/>
              </a:rPr>
              <a:t>Transfer Rp</a:t>
            </a:r>
            <a:r>
              <a:rPr sz="2001" b="1" lang="id-ID">
                <a:solidFill>
                  <a:srgbClr val="1A1A1A"/>
                </a:solidFill>
                <a:latin typeface="Roboto"/>
              </a:rPr>
              <a:t>450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 juta, belanja Rp</a:t>
            </a:r>
            <a:r>
              <a:rPr sz="2001" b="1" lang="id-ID">
                <a:solidFill>
                  <a:srgbClr val="1A1A1A"/>
                </a:solidFill>
                <a:latin typeface="Roboto"/>
              </a:rPr>
              <a:t>420</a:t>
            </a:r>
            <a:r>
              <a:rPr sz="2001" b="0" lang="id-ID">
                <a:solidFill>
                  <a:srgbClr val="1A1A1A"/>
                </a:solidFill>
                <a:latin typeface="Roboto"/>
              </a:rPr>
              <a:t> juta.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perbaikan rumah rusak di Lima Puluh Kota dan Pasaman Barat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Lima Puluh Kota</a:t>
            </a:r>
          </a:p>
        </p:txBody>
      </p:sp>
      <p:pic>
        <p:nvPicPr>
          <p:cNvPr id="23" name="Picture 22" descr="rr-sumatera-kisi-hun-24-5-131x1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1673860" cy="17942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564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25" name="Picture 24" descr="rr-sumatera-kisi-hun-24-6-131x14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1541780"/>
            <a:ext cx="1673860" cy="17942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45110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27" name="Picture 26" descr="rr-sumatera-kisi-hun-24-7-131x1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1541780"/>
            <a:ext cx="1673860" cy="17942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22656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458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8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58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1118108"/>
            <a:ext cx="186944" cy="18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258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Lima Puluh Kota</a:t>
            </a:r>
          </a:p>
        </p:txBody>
      </p:sp>
      <p:pic>
        <p:nvPicPr>
          <p:cNvPr id="36" name="Picture 35" descr="rr-sumatera-kisi-hun-25-2-131x14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80" y="1541780"/>
            <a:ext cx="1673860" cy="179425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29158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38" name="Picture 37" descr="rr-sumatera-kisi-hun-25-3-131x14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040" y="1541780"/>
            <a:ext cx="1673860" cy="179425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6704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40" name="Picture 39" descr="rr-sumatera-kisi-hun-25-4-131x14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00" y="1541780"/>
            <a:ext cx="1673860" cy="179425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984250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3870198"/>
            <a:ext cx="186944" cy="1869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Ringan, Lima Puluh Kota</a:t>
            </a:r>
          </a:p>
        </p:txBody>
      </p:sp>
      <p:pic>
        <p:nvPicPr>
          <p:cNvPr id="49" name="Picture 48" descr="rr-sumatera-kisi-hun-25-5-131x14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40" y="4293870"/>
            <a:ext cx="1673860" cy="179425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7564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51" name="Picture 50" descr="rr-sumatera-kisi-hun-25-6-131x14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1100" y="4293870"/>
            <a:ext cx="1673860" cy="179425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45110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53" name="Picture 52" descr="rr-sumatera-kisi-hun-25-7-131x14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6560" y="4293870"/>
            <a:ext cx="1673860" cy="179425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22656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6458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6458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9158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3870198"/>
            <a:ext cx="186944" cy="1869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7258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Pasaman Barat</a:t>
            </a:r>
          </a:p>
        </p:txBody>
      </p:sp>
      <p:pic>
        <p:nvPicPr>
          <p:cNvPr id="62" name="Picture 61" descr="rr-sumatera-kisi-hun-26-2-131x14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580" y="4293870"/>
            <a:ext cx="1673860" cy="1794256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629158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64" name="Picture 63" descr="rr-sumatera-kisi-hun-26-3-131x14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7040" y="4293870"/>
            <a:ext cx="1673860" cy="1794256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806704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66" name="Picture 65" descr="rr-sumatera-kisi-hun-26-4-131x141-k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2500" y="4293870"/>
            <a:ext cx="1673860" cy="1794256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84250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perbaikan rumah rusak di Pasaman dan Agam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Pasaman</a:t>
            </a:r>
          </a:p>
        </p:txBody>
      </p:sp>
      <p:pic>
        <p:nvPicPr>
          <p:cNvPr id="23" name="Picture 22" descr="rr-sumatera-kisi-hun-26-5-131x1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1673860" cy="17942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564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25" name="Picture 24" descr="rr-sumatera-kisi-hun-26-6-131x14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1541780"/>
            <a:ext cx="1673860" cy="17942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45110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27" name="Picture 26" descr="rr-sumatera-kisi-hun-26-7-131x14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1541780"/>
            <a:ext cx="1673860" cy="17942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22656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458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8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4580" y="98298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58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1118108"/>
            <a:ext cx="186944" cy="186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7258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Ringan, Agam</a:t>
            </a:r>
          </a:p>
        </p:txBody>
      </p:sp>
      <p:pic>
        <p:nvPicPr>
          <p:cNvPr id="36" name="Picture 35" descr="rr-sumatera-kisi-hun-27-2-131x14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80" y="1541780"/>
            <a:ext cx="1673860" cy="179425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291580" y="336143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38" name="Picture 37" descr="rr-sumatera-kisi-hun-27-3-131x14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040" y="1541780"/>
            <a:ext cx="1673860" cy="179425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67040" y="336143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40" name="Picture 39" descr="rr-sumatera-kisi-hun-27-4-131x14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2500" y="1541780"/>
            <a:ext cx="1673860" cy="179425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9842500" y="336143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96367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3870198"/>
            <a:ext cx="186944" cy="1869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373507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Rusak Sedang, Agam</a:t>
            </a:r>
          </a:p>
        </p:txBody>
      </p:sp>
      <p:pic>
        <p:nvPicPr>
          <p:cNvPr id="49" name="Picture 48" descr="rr-sumatera-kisi-hun-27-5-131x14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640" y="4293870"/>
            <a:ext cx="1673860" cy="179425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75640" y="6113526"/>
            <a:ext cx="810545" cy="147574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Kondisi awal</a:t>
            </a:r>
          </a:p>
        </p:txBody>
      </p:sp>
      <p:pic>
        <p:nvPicPr>
          <p:cNvPr id="51" name="Picture 50" descr="rr-sumatera-kisi-hun-27-6-131x14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1100" y="4293870"/>
            <a:ext cx="1673860" cy="179425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451100" y="6113526"/>
            <a:ext cx="749862" cy="14757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Pengerjaan</a:t>
            </a:r>
          </a:p>
        </p:txBody>
      </p:sp>
      <p:pic>
        <p:nvPicPr>
          <p:cNvPr id="53" name="Picture 52" descr="rr-sumatera-kisi-hun-27-7-131x14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6560" y="4293870"/>
            <a:ext cx="1673860" cy="1794256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226560" y="6113526"/>
            <a:ext cx="556182" cy="147574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30" b="1" lang="id-ID">
                <a:solidFill>
                  <a:srgbClr val="1A1A1A"/>
                </a:solidFill>
                <a:latin typeface="Roboto"/>
              </a:rPr>
              <a:t>Selesai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64580" y="373507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64580" y="3963670"/>
            <a:ext cx="5478780" cy="228600"/>
          </a:xfrm>
          <a:prstGeom prst="rect">
            <a:avLst/>
          </a:prstGeom>
          <a:solidFill>
            <a:srgbClr val="DDF0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64580" y="3735070"/>
            <a:ext cx="5478780" cy="2614930"/>
          </a:xfrm>
          <a:prstGeom prst="roundRect">
            <a:avLst>
              <a:gd name="adj" fmla="val 208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91580" y="381762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data-FFFFFF-608a1e16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4158" y="3870198"/>
            <a:ext cx="186944" cy="18694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72580" y="3735070"/>
            <a:ext cx="4716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Capaian Pasaman dan Agam</a:t>
            </a:r>
          </a:p>
        </p:txBody>
      </p:sp>
      <p:sp>
        <p:nvSpPr>
          <p:cNvPr id="62" name="Pita kepala tabel"/>
          <p:cNvSpPr/>
          <p:nvPr/>
        </p:nvSpPr>
        <p:spPr>
          <a:xfrm>
            <a:off x="6291580" y="4293870"/>
            <a:ext cx="5224780" cy="421640"/>
          </a:xfrm>
          <a:prstGeom prst="roundRect">
            <a:avLst>
              <a:gd name="adj" fmla="val 9036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93180" y="4293870"/>
            <a:ext cx="983514" cy="4216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KAB/KOTA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7494" y="4504690"/>
            <a:ext cx="61160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UNIT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40695" y="4504690"/>
            <a:ext cx="8182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BELANJA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60512" y="4504690"/>
            <a:ext cx="79336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USULAN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55477" y="4504690"/>
            <a:ext cx="6692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PROSES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26327" y="4504690"/>
            <a:ext cx="68843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SELESAI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7494" y="4293870"/>
            <a:ext cx="153141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STIMULAN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478294" y="4491990"/>
            <a:ext cx="142981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9060512" y="4293870"/>
            <a:ext cx="235424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FFFFFF"/>
                </a:solidFill>
                <a:latin typeface="Roboto"/>
              </a:rPr>
              <a:t>HUNTAP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111312" y="4491990"/>
            <a:ext cx="2252648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73" name="Pita kolom utama"/>
          <p:cNvSpPr/>
          <p:nvPr/>
        </p:nvSpPr>
        <p:spPr>
          <a:xfrm>
            <a:off x="6291580" y="4715510"/>
            <a:ext cx="1059714" cy="154559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6291580" y="6261100"/>
            <a:ext cx="522478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393180" y="4715510"/>
            <a:ext cx="983514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55" b="1" lang="id-ID">
                <a:solidFill>
                  <a:srgbClr val="1A1A1A"/>
                </a:solidFill>
                <a:latin typeface="Roboto"/>
              </a:rPr>
              <a:t>Pasaman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7494" y="4715510"/>
            <a:ext cx="611601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25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44794" y="4946917"/>
            <a:ext cx="810019" cy="309982"/>
          </a:xfrm>
          <a:prstGeom prst="roundRect">
            <a:avLst>
              <a:gd name="adj" fmla="val 50000"/>
            </a:avLst>
          </a:prstGeom>
          <a:solidFill>
            <a:srgbClr val="DDF0E4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355" b="1" lang="id-ID">
                <a:solidFill>
                  <a:srgbClr val="1A1A1A"/>
                </a:solidFill>
                <a:latin typeface="Roboto"/>
              </a:rPr>
              <a:t>96,6%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60512" y="4715510"/>
            <a:ext cx="793365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55477" y="4715510"/>
            <a:ext cx="669250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26327" y="4715510"/>
            <a:ext cx="688433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291580" y="5488305"/>
            <a:ext cx="5224780" cy="0"/>
          </a:xfrm>
          <a:prstGeom prst="line">
            <a:avLst/>
          </a:prstGeom>
          <a:ln w="7620">
            <a:solidFill>
              <a:srgbClr val="BFC5CC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393180" y="5488305"/>
            <a:ext cx="983514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55" b="1" lang="id-ID">
                <a:solidFill>
                  <a:srgbClr val="1A1A1A"/>
                </a:solidFill>
                <a:latin typeface="Roboto"/>
              </a:rPr>
              <a:t>Agam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27494" y="5488305"/>
            <a:ext cx="611601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112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44794" y="5719712"/>
            <a:ext cx="810019" cy="30998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355" b="1" lang="id-ID">
                <a:solidFill>
                  <a:srgbClr val="1A1A1A"/>
                </a:solidFill>
                <a:latin typeface="Roboto"/>
              </a:rPr>
              <a:t>81,4%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60512" y="5488305"/>
            <a:ext cx="793365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1.124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55477" y="5488305"/>
            <a:ext cx="669250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26327" y="5488305"/>
            <a:ext cx="688433" cy="77279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55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pembangunan huntap di Aceh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1109472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Huntap di Aceh</a:t>
            </a:r>
          </a:p>
        </p:txBody>
      </p:sp>
      <p:pic>
        <p:nvPicPr>
          <p:cNvPr id="23" name="Picture 22" descr="rr-sumatera-kisi-hun-28-1-279x1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3545840" cy="21358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5640" y="370306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Bireuen</a:t>
            </a:r>
          </a:p>
        </p:txBody>
      </p:sp>
      <p:pic>
        <p:nvPicPr>
          <p:cNvPr id="25" name="Picture 24" descr="rr-sumatera-kisi-hun-28-2-279x1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080" y="1541780"/>
            <a:ext cx="3545840" cy="21358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23080" y="370306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Aceh Timur</a:t>
            </a:r>
          </a:p>
        </p:txBody>
      </p:sp>
      <p:pic>
        <p:nvPicPr>
          <p:cNvPr id="27" name="Picture 26" descr="rr-sumatera-kisi-hun-28-3-279x16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0520" y="1541780"/>
            <a:ext cx="3545840" cy="21358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70520" y="370306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Aceh Tamiang</a:t>
            </a:r>
          </a:p>
        </p:txBody>
      </p:sp>
      <p:pic>
        <p:nvPicPr>
          <p:cNvPr id="29" name="Picture 28" descr="rr-sumatera-kisi-hun-28-5-279x16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40" y="3952240"/>
            <a:ext cx="3545840" cy="21358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5640" y="611352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Bireuen</a:t>
            </a:r>
          </a:p>
        </p:txBody>
      </p:sp>
      <p:pic>
        <p:nvPicPr>
          <p:cNvPr id="31" name="Picture 30" descr="rr-sumatera-kisi-hun-28-6-279x168-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3080" y="3952240"/>
            <a:ext cx="3545840" cy="21358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323080" y="611352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Pidie Jaya</a:t>
            </a:r>
          </a:p>
        </p:txBody>
      </p:sp>
      <p:pic>
        <p:nvPicPr>
          <p:cNvPr id="33" name="Picture 32" descr="rr-sumatera-kisi-hun-28-7-279x168-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0520" y="3952240"/>
            <a:ext cx="3545840" cy="21358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70520" y="6113526"/>
            <a:ext cx="354584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Aceh Timur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9890"/>
            <a:ext cx="10642600" cy="391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Dokumentasi pembangunan huntap di Sumatera Utara dan Sumatera Barat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0678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Pita kaki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8986" y="6510020"/>
            <a:ext cx="2808734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0" lang="id-ID">
                <a:solidFill>
                  <a:srgbClr val="1A1A1A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15900"/>
            <a:ext cx="1109472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01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Dasar hukum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7584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02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Stimulan RS dan 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528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03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Huntap dan 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6B7280"/>
                </a:solidFill>
                <a:latin typeface="Roboto"/>
              </a:rPr>
              <a:t>04  </a:t>
            </a:r>
            <a:r>
              <a:rPr sz="800" b="0" lang="id-ID">
                <a:solidFill>
                  <a:srgbClr val="6B7280"/>
                </a:solidFill>
                <a:latin typeface="Roboto"/>
              </a:rPr>
              <a:t>Kendala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4416" y="25400"/>
            <a:ext cx="221894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lang="id-ID">
                <a:solidFill>
                  <a:srgbClr val="D9600B"/>
                </a:solidFill>
                <a:latin typeface="Roboto"/>
              </a:rPr>
              <a:t>05  </a:t>
            </a:r>
            <a:r>
              <a:rPr sz="800" b="1" lang="id-ID">
                <a:solidFill>
                  <a:srgbClr val="051C2C"/>
                </a:solidFill>
                <a:latin typeface="Roboto"/>
              </a:rPr>
              <a:t>Dokumentasi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200025"/>
            <a:ext cx="2066544" cy="3175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982980"/>
            <a:ext cx="547878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982980"/>
            <a:ext cx="547878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564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8" y="1118108"/>
            <a:ext cx="186944" cy="1869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664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Langkat, Sumatera Utara</a:t>
            </a:r>
          </a:p>
        </p:txBody>
      </p:sp>
      <p:pic>
        <p:nvPicPr>
          <p:cNvPr id="23" name="Picture 22" descr="rr-sumatera-kisi-hun-29-1-131x168-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" y="1541780"/>
            <a:ext cx="1673860" cy="21358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564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25" name="Picture 24" descr="rr-sumatera-kisi-hun-29-3-131x168-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1541780"/>
            <a:ext cx="1673860" cy="21358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45110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27" name="Picture 26" descr="rr-sumatera-kisi-hun-29-4-131x16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1541780"/>
            <a:ext cx="1673860" cy="21358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2656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29" name="Picture 28" descr="rr-sumatera-kisi-hun-29-5-131x168-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40" y="3952240"/>
            <a:ext cx="1673860" cy="21358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564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31" name="Picture 30" descr="rr-sumatera-kisi-hun-29-6-131x168-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1100" y="3952240"/>
            <a:ext cx="1673860" cy="21358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5110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pic>
        <p:nvPicPr>
          <p:cNvPr id="33" name="Picture 32" descr="rr-sumatera-kisi-hun-29-7-131x168-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6560" y="3952240"/>
            <a:ext cx="1673860" cy="21358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2656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Langkat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4580" y="982980"/>
            <a:ext cx="5478780" cy="536702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64580" y="982980"/>
            <a:ext cx="547878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4580" y="1211580"/>
            <a:ext cx="547878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64580" y="982980"/>
            <a:ext cx="5478780" cy="5367020"/>
          </a:xfrm>
          <a:prstGeom prst="roundRect">
            <a:avLst>
              <a:gd name="adj" fmla="val 101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91580" y="106553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umah-FFFFFF-320df645-t2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58" y="1118108"/>
            <a:ext cx="186944" cy="1869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72580" y="982980"/>
            <a:ext cx="484378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pic>
        <p:nvPicPr>
          <p:cNvPr id="42" name="Picture 41" descr="rr-sumatera-kisi-hun-30-1-131x16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580" y="1541780"/>
            <a:ext cx="1673860" cy="213588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9158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Lima Puluh Kota</a:t>
            </a:r>
          </a:p>
        </p:txBody>
      </p:sp>
      <p:pic>
        <p:nvPicPr>
          <p:cNvPr id="44" name="Picture 43" descr="rr-sumatera-kisi-hun-30-2-131x16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7040" y="1541780"/>
            <a:ext cx="1673860" cy="213588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6704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Padang Pariaman</a:t>
            </a:r>
          </a:p>
        </p:txBody>
      </p:sp>
      <p:pic>
        <p:nvPicPr>
          <p:cNvPr id="46" name="Picture 45" descr="rr-sumatera-kisi-hun-30-3-131x16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2500" y="1541780"/>
            <a:ext cx="1673860" cy="213588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842500" y="370306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Kota Padang</a:t>
            </a:r>
          </a:p>
        </p:txBody>
      </p:sp>
      <p:pic>
        <p:nvPicPr>
          <p:cNvPr id="48" name="Picture 47" descr="rr-sumatera-kisi-hun-30-4-131x168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580" y="3952240"/>
            <a:ext cx="1673860" cy="213588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29158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Agam</a:t>
            </a:r>
          </a:p>
        </p:txBody>
      </p:sp>
      <p:pic>
        <p:nvPicPr>
          <p:cNvPr id="50" name="Picture 49" descr="rr-sumatera-kisi-hun-30-5-131x16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67040" y="3952240"/>
            <a:ext cx="1673860" cy="213588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06704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Agam</a:t>
            </a:r>
          </a:p>
        </p:txBody>
      </p:sp>
      <p:pic>
        <p:nvPicPr>
          <p:cNvPr id="52" name="Picture 51" descr="rr-sumatera-kisi-hun-30-7-131x16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2500" y="3952240"/>
            <a:ext cx="1673860" cy="213588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842500" y="6113526"/>
            <a:ext cx="1673860" cy="14757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30" b="0" lang="id-ID">
                <a:solidFill>
                  <a:srgbClr val="1A1A1A"/>
                </a:solidFill>
                <a:latin typeface="Roboto"/>
              </a:rPr>
              <a:t>Kota Padang Panjang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544310"/>
            <a:ext cx="38100" cy="13208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510020"/>
            <a:ext cx="7239506" cy="200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Sumber: </a:t>
            </a:r>
            <a:r>
              <a:rPr sz="860" b="0" i="1" lang="id-ID">
                <a:solidFill>
                  <a:srgbClr val="1A1A1A"/>
                </a:solidFill>
                <a:latin typeface="Roboto"/>
              </a:rPr>
              <a:t>Foto dokumentasi Kedeputian Bidang RR BNPB,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r-sumatera-sampul-rr-penu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Foto: Dokumentasi Kedeputian Bidang RR BNPB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566928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1A1A1A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66928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70" b="1" lang="id-ID">
                <a:solidFill>
                  <a:srgbClr val="00499D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90" b="0" lang="id-ID">
                <a:solidFill>
                  <a:srgbClr val="2E3440"/>
                </a:solidFill>
                <a:latin typeface="Roboto"/>
              </a:rPr>
              <a:t>Progres Sektor Perumahan RR Pascabencana di Wilayah Sumatera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6998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60" b="1" lang="id-ID">
                <a:solidFill>
                  <a:srgbClr val="FFFFFF"/>
                </a:solidFill>
                <a:latin typeface="Roboto"/>
              </a:rPr>
              <a:t>Selasa, 27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 Sektor Perumahan Rehabilitasi dan Rekonstruksi Pascabencana di Wilayah Sumatera</dc:title>
  <dc:subject>Bantuan Stimulan Rumah Rusak dan Hunian Tetap Pascabencana Siklon Senyar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rehabilitasi dan rekonstruksi; huntap; stimulan rumah; Sumatera</cp:keywords>
  <dc:language>id-ID</dc:language>
  <cp:category>Kajian</cp:category>
  <dc:description>Stimulan rumah rusak dan huntap pascabencana Sumatera berjalan; percepatan bergantung pada material, lahan, anggaran, dan data.</dc:description>
</cp:coreProperties>
</file>