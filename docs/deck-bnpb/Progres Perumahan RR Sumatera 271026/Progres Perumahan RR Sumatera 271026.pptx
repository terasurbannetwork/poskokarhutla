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TIH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ELAP">
    <p:bg>
      <p:bgPr>
        <a:solidFill>
          <a:srgbClr val="05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Roboto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Roboto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Roboto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Roboto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Roboto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Roboto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Roboto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Roboto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Roboto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png"/><Relationship Id="rId16" Type="http://schemas.openxmlformats.org/officeDocument/2006/relationships/image" Target="../media/image17.png"/><Relationship Id="rId17" Type="http://schemas.openxmlformats.org/officeDocument/2006/relationships/image" Target="../media/image1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3.png"/><Relationship Id="rId12" Type="http://schemas.openxmlformats.org/officeDocument/2006/relationships/image" Target="../media/image12.png"/><Relationship Id="rId13" Type="http://schemas.openxmlformats.org/officeDocument/2006/relationships/image" Target="../media/image11.png"/><Relationship Id="rId14" Type="http://schemas.openxmlformats.org/officeDocument/2006/relationships/image" Target="../media/image17.png"/><Relationship Id="rId15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9.png"/><Relationship Id="rId6" Type="http://schemas.openxmlformats.org/officeDocument/2006/relationships/image" Target="../media/image12.png"/><Relationship Id="rId7" Type="http://schemas.openxmlformats.org/officeDocument/2006/relationships/image" Target="../media/image23.png"/><Relationship Id="rId8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24.png"/><Relationship Id="rId4" Type="http://schemas.openxmlformats.org/officeDocument/2006/relationships/image" Target="../media/image6.png"/><Relationship Id="rId5" Type="http://schemas.openxmlformats.org/officeDocument/2006/relationships/image" Target="../media/image22.png"/><Relationship Id="rId6" Type="http://schemas.openxmlformats.org/officeDocument/2006/relationships/image" Target="../media/image7.png"/><Relationship Id="rId7" Type="http://schemas.openxmlformats.org/officeDocument/2006/relationships/image" Target="../media/image9.png"/><Relationship Id="rId8" Type="http://schemas.openxmlformats.org/officeDocument/2006/relationships/image" Target="../media/image8.png"/><Relationship Id="rId9" Type="http://schemas.openxmlformats.org/officeDocument/2006/relationships/image" Target="../media/image10.png"/><Relationship Id="rId10" Type="http://schemas.openxmlformats.org/officeDocument/2006/relationships/image" Target="../media/image13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Relationship Id="rId13" Type="http://schemas.openxmlformats.org/officeDocument/2006/relationships/image" Target="../media/image14.png"/><Relationship Id="rId14" Type="http://schemas.openxmlformats.org/officeDocument/2006/relationships/image" Target="../media/image12.png"/><Relationship Id="rId15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9.png"/><Relationship Id="rId6" Type="http://schemas.openxmlformats.org/officeDocument/2006/relationships/image" Target="../media/image16.png"/><Relationship Id="rId7" Type="http://schemas.openxmlformats.org/officeDocument/2006/relationships/image" Target="../media/image10.png"/><Relationship Id="rId8" Type="http://schemas.openxmlformats.org/officeDocument/2006/relationships/image" Target="../media/image25.jpg"/><Relationship Id="rId9" Type="http://schemas.openxmlformats.org/officeDocument/2006/relationships/image" Target="../media/image26.jpg"/><Relationship Id="rId10" Type="http://schemas.openxmlformats.org/officeDocument/2006/relationships/image" Target="../media/image27.jpg"/><Relationship Id="rId11" Type="http://schemas.openxmlformats.org/officeDocument/2006/relationships/image" Target="../media/image2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29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Relationship Id="rId7" Type="http://schemas.openxmlformats.org/officeDocument/2006/relationships/image" Target="../media/image32.jpg"/><Relationship Id="rId8" Type="http://schemas.openxmlformats.org/officeDocument/2006/relationships/image" Target="../media/image33.jpg"/><Relationship Id="rId9" Type="http://schemas.openxmlformats.org/officeDocument/2006/relationships/image" Target="../media/image34.jpg"/><Relationship Id="rId10" Type="http://schemas.openxmlformats.org/officeDocument/2006/relationships/image" Target="../media/image35.jpg"/><Relationship Id="rId11" Type="http://schemas.openxmlformats.org/officeDocument/2006/relationships/image" Target="../media/image36.jpg"/><Relationship Id="rId12" Type="http://schemas.openxmlformats.org/officeDocument/2006/relationships/image" Target="../media/image37.jpg"/><Relationship Id="rId13" Type="http://schemas.openxmlformats.org/officeDocument/2006/relationships/image" Target="../media/image38.jpg"/><Relationship Id="rId14" Type="http://schemas.openxmlformats.org/officeDocument/2006/relationships/image" Target="../media/image39.jpg"/><Relationship Id="rId15" Type="http://schemas.openxmlformats.org/officeDocument/2006/relationships/image" Target="../media/image40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41.jpg"/><Relationship Id="rId5" Type="http://schemas.openxmlformats.org/officeDocument/2006/relationships/image" Target="../media/image42.jpg"/><Relationship Id="rId6" Type="http://schemas.openxmlformats.org/officeDocument/2006/relationships/image" Target="../media/image43.jpg"/><Relationship Id="rId7" Type="http://schemas.openxmlformats.org/officeDocument/2006/relationships/image" Target="../media/image44.jpg"/><Relationship Id="rId8" Type="http://schemas.openxmlformats.org/officeDocument/2006/relationships/image" Target="../media/image45.jpg"/><Relationship Id="rId9" Type="http://schemas.openxmlformats.org/officeDocument/2006/relationships/image" Target="../media/image46.jpg"/><Relationship Id="rId10" Type="http://schemas.openxmlformats.org/officeDocument/2006/relationships/image" Target="../media/image47.jpg"/><Relationship Id="rId11" Type="http://schemas.openxmlformats.org/officeDocument/2006/relationships/image" Target="../media/image48.jpg"/><Relationship Id="rId12" Type="http://schemas.openxmlformats.org/officeDocument/2006/relationships/image" Target="../media/image49.jpg"/><Relationship Id="rId13" Type="http://schemas.openxmlformats.org/officeDocument/2006/relationships/image" Target="../media/image17.png"/><Relationship Id="rId14" Type="http://schemas.openxmlformats.org/officeDocument/2006/relationships/image" Target="../media/image12.png"/><Relationship Id="rId15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50.jpg"/><Relationship Id="rId5" Type="http://schemas.openxmlformats.org/officeDocument/2006/relationships/image" Target="../media/image51.jpg"/><Relationship Id="rId6" Type="http://schemas.openxmlformats.org/officeDocument/2006/relationships/image" Target="../media/image52.jpg"/><Relationship Id="rId7" Type="http://schemas.openxmlformats.org/officeDocument/2006/relationships/image" Target="../media/image53.jpg"/><Relationship Id="rId8" Type="http://schemas.openxmlformats.org/officeDocument/2006/relationships/image" Target="../media/image54.jpg"/><Relationship Id="rId9" Type="http://schemas.openxmlformats.org/officeDocument/2006/relationships/image" Target="../media/image55.jpg"/><Relationship Id="rId10" Type="http://schemas.openxmlformats.org/officeDocument/2006/relationships/image" Target="../media/image56.jpg"/><Relationship Id="rId11" Type="http://schemas.openxmlformats.org/officeDocument/2006/relationships/image" Target="../media/image57.jpg"/><Relationship Id="rId12" Type="http://schemas.openxmlformats.org/officeDocument/2006/relationships/image" Target="../media/image58.jpg"/><Relationship Id="rId13" Type="http://schemas.openxmlformats.org/officeDocument/2006/relationships/image" Target="../media/image59.jpg"/><Relationship Id="rId14" Type="http://schemas.openxmlformats.org/officeDocument/2006/relationships/image" Target="../media/image60.jpg"/><Relationship Id="rId15" Type="http://schemas.openxmlformats.org/officeDocument/2006/relationships/image" Target="../media/image6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62.jpg"/><Relationship Id="rId5" Type="http://schemas.openxmlformats.org/officeDocument/2006/relationships/image" Target="../media/image63.jpg"/><Relationship Id="rId6" Type="http://schemas.openxmlformats.org/officeDocument/2006/relationships/image" Target="../media/image64.jpg"/><Relationship Id="rId7" Type="http://schemas.openxmlformats.org/officeDocument/2006/relationships/image" Target="../media/image65.jpg"/><Relationship Id="rId8" Type="http://schemas.openxmlformats.org/officeDocument/2006/relationships/image" Target="../media/image66.jpg"/><Relationship Id="rId9" Type="http://schemas.openxmlformats.org/officeDocument/2006/relationships/image" Target="../media/image67.jpg"/><Relationship Id="rId10" Type="http://schemas.openxmlformats.org/officeDocument/2006/relationships/image" Target="../media/image68.jpg"/><Relationship Id="rId11" Type="http://schemas.openxmlformats.org/officeDocument/2006/relationships/image" Target="../media/image69.jpg"/><Relationship Id="rId12" Type="http://schemas.openxmlformats.org/officeDocument/2006/relationships/image" Target="../media/image70.jpg"/><Relationship Id="rId13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71.jpg"/><Relationship Id="rId5" Type="http://schemas.openxmlformats.org/officeDocument/2006/relationships/image" Target="../media/image72.jpg"/><Relationship Id="rId6" Type="http://schemas.openxmlformats.org/officeDocument/2006/relationships/image" Target="../media/image73.jpg"/><Relationship Id="rId7" Type="http://schemas.openxmlformats.org/officeDocument/2006/relationships/image" Target="../media/image74.jpg"/><Relationship Id="rId8" Type="http://schemas.openxmlformats.org/officeDocument/2006/relationships/image" Target="../media/image75.jpg"/><Relationship Id="rId9" Type="http://schemas.openxmlformats.org/officeDocument/2006/relationships/image" Target="../media/image7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77.jpg"/><Relationship Id="rId5" Type="http://schemas.openxmlformats.org/officeDocument/2006/relationships/image" Target="../media/image78.jpg"/><Relationship Id="rId6" Type="http://schemas.openxmlformats.org/officeDocument/2006/relationships/image" Target="../media/image79.jpg"/><Relationship Id="rId7" Type="http://schemas.openxmlformats.org/officeDocument/2006/relationships/image" Target="../media/image80.jpg"/><Relationship Id="rId8" Type="http://schemas.openxmlformats.org/officeDocument/2006/relationships/image" Target="../media/image81.jpg"/><Relationship Id="rId9" Type="http://schemas.openxmlformats.org/officeDocument/2006/relationships/image" Target="../media/image82.jpg"/><Relationship Id="rId10" Type="http://schemas.openxmlformats.org/officeDocument/2006/relationships/image" Target="../media/image83.jpg"/><Relationship Id="rId11" Type="http://schemas.openxmlformats.org/officeDocument/2006/relationships/image" Target="../media/image84.jpg"/><Relationship Id="rId12" Type="http://schemas.openxmlformats.org/officeDocument/2006/relationships/image" Target="../media/image85.jpg"/><Relationship Id="rId13" Type="http://schemas.openxmlformats.org/officeDocument/2006/relationships/image" Target="../media/image86.jpg"/><Relationship Id="rId14" Type="http://schemas.openxmlformats.org/officeDocument/2006/relationships/image" Target="../media/image87.jpg"/><Relationship Id="rId15" Type="http://schemas.openxmlformats.org/officeDocument/2006/relationships/image" Target="../media/image88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9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r-sumatera-sampul-rr-samp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1900" y="0"/>
            <a:ext cx="58801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223760" y="6565900"/>
            <a:ext cx="4693920" cy="1828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800" b="0" lang="id-ID">
                <a:solidFill>
                  <a:srgbClr val="FFFFFF"/>
                </a:solidFill>
                <a:latin typeface="Roboto"/>
              </a:rPr>
              <a:t>Foto: Dokumentasi Kedeputian Bidang RR BNPB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457200"/>
            <a:ext cx="1005840" cy="10058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126" y="628193"/>
            <a:ext cx="526869" cy="663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600200"/>
            <a:ext cx="5669280" cy="15240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95000"/>
              </a:lnSpc>
            </a:pPr>
            <a:r>
              <a:rPr sz="2600" b="1" lang="id-ID">
                <a:solidFill>
                  <a:srgbClr val="1A1A1A"/>
                </a:solidFill>
                <a:latin typeface="Roboto"/>
              </a:rPr>
              <a:t>Progres Sektor Perumahan</a:t>
            </a:r>
          </a:p>
          <a:p>
            <a:pPr algn="l">
              <a:lnSpc>
                <a:spcPct val="95000"/>
              </a:lnSpc>
            </a:pPr>
            <a:r>
              <a:rPr sz="2600" b="1" lang="id-ID">
                <a:solidFill>
                  <a:srgbClr val="1A1A1A"/>
                </a:solidFill>
                <a:latin typeface="Roboto"/>
              </a:rPr>
              <a:t>Rehabilitasi dan Rekonstruksi</a:t>
            </a:r>
          </a:p>
          <a:p>
            <a:pPr algn="l">
              <a:lnSpc>
                <a:spcPct val="95000"/>
              </a:lnSpc>
            </a:pPr>
            <a:r>
              <a:rPr sz="2600" b="1" lang="id-ID">
                <a:solidFill>
                  <a:srgbClr val="1A1A1A"/>
                </a:solidFill>
                <a:latin typeface="Roboto"/>
              </a:rPr>
              <a:t>Pascabencana di Wilayah Sumatera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25800"/>
            <a:ext cx="5669280" cy="5111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10" b="0" lang="id-ID">
                <a:solidFill>
                  <a:srgbClr val="2E3440"/>
                </a:solidFill>
                <a:latin typeface="Roboto"/>
              </a:rPr>
              <a:t>Bantuan Stimulan Rumah Rusak dan Hunian Tetap Pascabencana Siklon Senyar di Tiga Provinsi Sumatera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89375"/>
            <a:ext cx="5669280" cy="292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39" b="1" lang="id-ID">
                <a:solidFill>
                  <a:srgbClr val="00499D"/>
                </a:solidFill>
                <a:latin typeface="Roboto"/>
              </a:rPr>
              <a:t>Badan Nasional Penanggulangan Bencana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4232275"/>
            <a:ext cx="512064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4384675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40" b="1" lang="id-ID">
                <a:solidFill>
                  <a:srgbClr val="D9600B"/>
                </a:solidFill>
                <a:latin typeface="Roboto"/>
              </a:rPr>
              <a:t>Dipresentasikan oleh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638675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40" b="1" lang="id-ID">
                <a:solidFill>
                  <a:srgbClr val="1A1A1A"/>
                </a:solidFill>
                <a:latin typeface="Roboto"/>
              </a:rPr>
              <a:t>Kedeputian Bidang Rehabilitasi dan Rekonstruksi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04960" y="508000"/>
            <a:ext cx="2438400" cy="1053828"/>
          </a:xfrm>
          <a:prstGeom prst="roundRect">
            <a:avLst>
              <a:gd name="adj" fmla="val 964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berakhla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6560" y="609600"/>
            <a:ext cx="2235200" cy="85062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48640" y="5095875"/>
            <a:ext cx="2926080" cy="38354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260" b="1" lang="id-ID">
                <a:solidFill>
                  <a:srgbClr val="FFFFFF"/>
                </a:solidFill>
                <a:latin typeface="Roboto"/>
              </a:rPr>
              <a:t>Selasa, 27 Oktober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642600" cy="8255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Bantuan stimulan rumah rusak dan hunian tetap pascabencana Sumatera berjalan</a:t>
            </a:r>
            <a:br/>
            <a:r>
              <a:rPr sz="2200" b="1" lang="id-ID">
                <a:solidFill>
                  <a:srgbClr val="1A1A1A"/>
                </a:solidFill>
                <a:latin typeface="Roboto"/>
              </a:rPr>
              <a:t>di tiga provinsi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0650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82700"/>
            <a:ext cx="5414010" cy="927100"/>
          </a:xfrm>
          <a:prstGeom prst="roundRect">
            <a:avLst>
              <a:gd name="adj" fmla="val 7945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1337310"/>
            <a:ext cx="2572699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259690" tIns="0" rIns="0" bIns="0">
            <a:noAutofit/>
          </a:bodyPr>
          <a:lstStyle/>
          <a:p>
            <a:pPr algn="l"/>
            <a:r>
              <a:rPr sz="760" b="1" lang="id-ID" spc="100">
                <a:solidFill>
                  <a:srgbClr val="FFFFFF"/>
                </a:solidFill>
                <a:latin typeface="Roboto"/>
              </a:rPr>
              <a:t>STIMULAN RUSAK SEDANG DAN RINGAN</a:t>
            </a:r>
          </a:p>
        </p:txBody>
      </p:sp>
      <p:pic>
        <p:nvPicPr>
          <p:cNvPr id="11" name="Picture 10" descr="pembiayaan-FFFFFF-5387a3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372057"/>
            <a:ext cx="113386" cy="11338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58368" y="159385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67588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pembiayaan-051C2C-5387a3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788" y="1758950"/>
            <a:ext cx="177800" cy="177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70178" y="1630680"/>
            <a:ext cx="1930527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Rp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748,9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178" y="189611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ke daerah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01365" y="159385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10585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data-051C2C-608a1e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6785" y="1758950"/>
            <a:ext cx="177800" cy="177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813175" y="1630680"/>
            <a:ext cx="1930527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78,9%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13175" y="189611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realisasi belanja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9350" y="1282700"/>
            <a:ext cx="5414010" cy="927100"/>
          </a:xfrm>
          <a:prstGeom prst="roundRect">
            <a:avLst>
              <a:gd name="adj" fmla="val 7945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39078" y="1337310"/>
            <a:ext cx="1189585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259690" tIns="0" rIns="0" bIns="0">
            <a:noAutofit/>
          </a:bodyPr>
          <a:lstStyle/>
          <a:p>
            <a:pPr algn="l"/>
            <a:r>
              <a:rPr sz="760" b="1" lang="id-ID" spc="100">
                <a:solidFill>
                  <a:srgbClr val="FFFFFF"/>
                </a:solidFill>
                <a:latin typeface="Roboto"/>
              </a:rPr>
              <a:t>HUNIAN TETAP</a:t>
            </a:r>
          </a:p>
        </p:txBody>
      </p:sp>
      <p:pic>
        <p:nvPicPr>
          <p:cNvPr id="24" name="Picture 23" descr="rumah-FFFFFF-320df64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0518" y="1372057"/>
            <a:ext cx="113386" cy="113386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6339078" y="159385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48298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rumah-051C2C-320df64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4498" y="1758950"/>
            <a:ext cx="177800" cy="1778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312833" y="1682801"/>
            <a:ext cx="468582" cy="170078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075" b="1" lang="id-ID">
                <a:solidFill>
                  <a:srgbClr val="2E3440"/>
                </a:solidFill>
                <a:latin typeface="Roboto"/>
              </a:rPr>
              <a:t>2,2%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0888" y="1630680"/>
            <a:ext cx="1385745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850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0888" y="189611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selesai dari </a:t>
            </a:r>
            <a:r>
              <a:rPr sz="860" b="1" lang="id-ID">
                <a:solidFill>
                  <a:srgbClr val="2E3440"/>
                </a:solidFill>
                <a:latin typeface="Roboto"/>
              </a:rPr>
              <a:t>38.651</a:t>
            </a:r>
            <a:r>
              <a:rPr sz="860" b="0" lang="id-ID">
                <a:solidFill>
                  <a:srgbClr val="2E3440"/>
                </a:solidFill>
                <a:latin typeface="Roboto"/>
              </a:rPr>
              <a:t> usulan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82075" y="159385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091295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kalender-051C2C-a840cf9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67495" y="1758950"/>
            <a:ext cx="177800" cy="177800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10955830" y="1682801"/>
            <a:ext cx="468582" cy="170078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075" b="1" lang="id-ID">
                <a:solidFill>
                  <a:srgbClr val="2E3440"/>
                </a:solidFill>
                <a:latin typeface="Roboto"/>
              </a:rPr>
              <a:t>2,9%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93885" y="1630680"/>
            <a:ext cx="1385745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868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93885" y="189611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proses bangun dari </a:t>
            </a:r>
            <a:r>
              <a:rPr sz="860" b="1" lang="id-ID">
                <a:solidFill>
                  <a:srgbClr val="2E3440"/>
                </a:solidFill>
                <a:latin typeface="Roboto"/>
              </a:rPr>
              <a:t>30.430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2346960"/>
            <a:ext cx="3606800" cy="4003040"/>
          </a:xfrm>
          <a:prstGeom prst="roundRect">
            <a:avLst>
              <a:gd name="adj" fmla="val 1514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48640" y="2346960"/>
            <a:ext cx="3606800" cy="457200"/>
          </a:xfrm>
          <a:prstGeom prst="roundRect">
            <a:avLst>
              <a:gd name="adj" fmla="val 11944"/>
            </a:avLst>
          </a:prstGeom>
          <a:solidFill>
            <a:srgbClr val="DDF0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8640" y="2575560"/>
            <a:ext cx="3606800" cy="228600"/>
          </a:xfrm>
          <a:prstGeom prst="rect">
            <a:avLst/>
          </a:prstGeom>
          <a:solidFill>
            <a:srgbClr val="DDF0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48640" y="2346960"/>
            <a:ext cx="3606800" cy="4003040"/>
          </a:xfrm>
          <a:prstGeom prst="roundRect">
            <a:avLst>
              <a:gd name="adj" fmla="val 1514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75640" y="242951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2" name="Picture 41" descr="rumah-FFFFFF-320df645-t2.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8218" y="2482088"/>
            <a:ext cx="186944" cy="186944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56640" y="2346960"/>
            <a:ext cx="297180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Capaian</a:t>
            </a:r>
          </a:p>
        </p:txBody>
      </p:sp>
      <p:sp>
        <p:nvSpPr>
          <p:cNvPr id="44" name="Oval 43"/>
          <p:cNvSpPr/>
          <p:nvPr/>
        </p:nvSpPr>
        <p:spPr>
          <a:xfrm>
            <a:off x="675640" y="3160078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5" name="Picture 44" descr="rumah-FFFFFF-320df645-t2.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5076" y="3219514"/>
            <a:ext cx="211328" cy="211328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120140" y="2921429"/>
            <a:ext cx="2806700" cy="80749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Stimulan</a:t>
            </a:r>
          </a:p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35.407 unit rumah</a:t>
            </a:r>
            <a:r>
              <a:rPr sz="1642" b="0" lang="id-ID">
                <a:solidFill>
                  <a:srgbClr val="1A1A1A"/>
                </a:solidFill>
                <a:latin typeface="Roboto"/>
              </a:rPr>
              <a:t> di </a:t>
            </a:r>
            <a:r>
              <a:rPr sz="1642" b="1" lang="id-ID">
                <a:solidFill>
                  <a:srgbClr val="1A1A1A"/>
                </a:solidFill>
                <a:latin typeface="Roboto"/>
              </a:rPr>
              <a:t>42 kabupaten/kota</a:t>
            </a:r>
            <a:r>
              <a:rPr sz="1642" b="0" lang="id-ID">
                <a:solidFill>
                  <a:srgbClr val="1A1A1A"/>
                </a:solidFill>
                <a:latin typeface="Roboto"/>
              </a:rPr>
              <a:t>.</a:t>
            </a:r>
          </a:p>
        </p:txBody>
      </p:sp>
      <p:sp>
        <p:nvSpPr>
          <p:cNvPr id="47" name="Oval 46"/>
          <p:cNvSpPr/>
          <p:nvPr/>
        </p:nvSpPr>
        <p:spPr>
          <a:xfrm>
            <a:off x="675640" y="399891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8" name="Picture 47" descr="regulasi-FFFFFF-e639fe9a-t2.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5076" y="4058348"/>
            <a:ext cx="211328" cy="2113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120140" y="3760264"/>
            <a:ext cx="2806700" cy="80749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Reviu huntap</a:t>
            </a:r>
          </a:p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30.430 usulan</a:t>
            </a:r>
            <a:r>
              <a:rPr sz="1642" b="0" lang="id-ID">
                <a:solidFill>
                  <a:srgbClr val="1A1A1A"/>
                </a:solidFill>
                <a:latin typeface="Roboto"/>
              </a:rPr>
              <a:t> dari </a:t>
            </a:r>
            <a:r>
              <a:rPr sz="1642" b="1" lang="id-ID">
                <a:solidFill>
                  <a:srgbClr val="1A1A1A"/>
                </a:solidFill>
                <a:latin typeface="Roboto"/>
              </a:rPr>
              <a:t>38.651 usulan huntap</a:t>
            </a:r>
            <a:r>
              <a:rPr sz="1642" b="0" lang="id-ID">
                <a:solidFill>
                  <a:srgbClr val="1A1A1A"/>
                </a:solidFill>
                <a:latin typeface="Roboto"/>
              </a:rPr>
              <a:t>.</a:t>
            </a:r>
          </a:p>
        </p:txBody>
      </p:sp>
      <p:sp>
        <p:nvSpPr>
          <p:cNvPr id="50" name="Oval 49"/>
          <p:cNvSpPr/>
          <p:nvPr/>
        </p:nvSpPr>
        <p:spPr>
          <a:xfrm>
            <a:off x="675640" y="4837747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1" name="Picture 50" descr="kalender-FFFFFF-a840cf9e-t2.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5076" y="4897183"/>
            <a:ext cx="211328" cy="21132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120140" y="4599099"/>
            <a:ext cx="2806700" cy="80749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Usulan lanjutan</a:t>
            </a:r>
          </a:p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26 kabupaten/kota</a:t>
            </a:r>
            <a:r>
              <a:rPr sz="1642" b="0" lang="id-ID">
                <a:solidFill>
                  <a:srgbClr val="1A1A1A"/>
                </a:solidFill>
                <a:latin typeface="Roboto"/>
              </a:rPr>
              <a:t> sedang berproses.</a:t>
            </a:r>
          </a:p>
        </p:txBody>
      </p:sp>
      <p:sp>
        <p:nvSpPr>
          <p:cNvPr id="53" name="Oval 52"/>
          <p:cNvSpPr/>
          <p:nvPr/>
        </p:nvSpPr>
        <p:spPr>
          <a:xfrm>
            <a:off x="675640" y="567658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4" name="Picture 53" descr="regulasi-FFFFFF-e639fe9a-t2.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5076" y="5736018"/>
            <a:ext cx="211328" cy="211328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120140" y="5307584"/>
            <a:ext cx="2806700" cy="106819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Rencana transfer</a:t>
            </a:r>
          </a:p>
          <a:p>
            <a:pPr algn="just"/>
            <a:r>
              <a:rPr sz="1642" b="0" lang="id-ID">
                <a:solidFill>
                  <a:srgbClr val="1A1A1A"/>
                </a:solidFill>
                <a:latin typeface="Roboto"/>
              </a:rPr>
              <a:t>Rp</a:t>
            </a:r>
            <a:r>
              <a:rPr sz="1642" b="1" lang="id-ID">
                <a:solidFill>
                  <a:srgbClr val="1A1A1A"/>
                </a:solidFill>
                <a:latin typeface="Roboto"/>
              </a:rPr>
              <a:t>1.751,1</a:t>
            </a:r>
            <a:r>
              <a:rPr sz="1642" b="0" lang="id-ID">
                <a:solidFill>
                  <a:srgbClr val="1A1A1A"/>
                </a:solidFill>
                <a:latin typeface="Roboto"/>
              </a:rPr>
              <a:t> M ke daerah, tahap II–IV akhir Oktober 2026.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292600" y="2346960"/>
            <a:ext cx="3606800" cy="4003040"/>
          </a:xfrm>
          <a:prstGeom prst="roundRect">
            <a:avLst>
              <a:gd name="adj" fmla="val 1514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292600" y="2346960"/>
            <a:ext cx="3606800" cy="457200"/>
          </a:xfrm>
          <a:prstGeom prst="roundRect">
            <a:avLst>
              <a:gd name="adj" fmla="val 11944"/>
            </a:avLst>
          </a:prstGeom>
          <a:solidFill>
            <a:srgbClr val="FBE7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292600" y="2575560"/>
            <a:ext cx="3606800" cy="228600"/>
          </a:xfrm>
          <a:prstGeom prst="rect">
            <a:avLst/>
          </a:prstGeom>
          <a:solidFill>
            <a:srgbClr val="FBE7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292600" y="2346960"/>
            <a:ext cx="3606800" cy="4003040"/>
          </a:xfrm>
          <a:prstGeom prst="roundRect">
            <a:avLst>
              <a:gd name="adj" fmla="val 1514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419600" y="242951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1" name="Picture 60" descr="peringatan-FFFFFF-6a80b716-t2.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72178" y="2482088"/>
            <a:ext cx="186944" cy="186944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4800600" y="2346960"/>
            <a:ext cx="297180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Kendala</a:t>
            </a:r>
          </a:p>
        </p:txBody>
      </p:sp>
      <p:sp>
        <p:nvSpPr>
          <p:cNvPr id="63" name="Oval 62"/>
          <p:cNvSpPr/>
          <p:nvPr/>
        </p:nvSpPr>
        <p:spPr>
          <a:xfrm>
            <a:off x="4419600" y="3160078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4" name="Picture 63" descr="infrastruktur-FFFFFF-ba1c96e7-t2.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79036" y="3219514"/>
            <a:ext cx="211328" cy="211328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4864100" y="2921429"/>
            <a:ext cx="2806700" cy="80749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Material</a:t>
            </a:r>
          </a:p>
          <a:p>
            <a:pPr algn="just"/>
            <a:r>
              <a:rPr sz="1642" b="0" lang="id-ID">
                <a:solidFill>
                  <a:srgbClr val="1A1A1A"/>
                </a:solidFill>
                <a:latin typeface="Roboto"/>
              </a:rPr>
              <a:t>Semen dan besi langka, harga naik.</a:t>
            </a:r>
          </a:p>
        </p:txBody>
      </p:sp>
      <p:sp>
        <p:nvSpPr>
          <p:cNvPr id="66" name="Oval 65"/>
          <p:cNvSpPr/>
          <p:nvPr/>
        </p:nvSpPr>
        <p:spPr>
          <a:xfrm>
            <a:off x="4419600" y="399891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7" name="Picture 66" descr="luas-FFFFFF-12322028-t2.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79036" y="4058348"/>
            <a:ext cx="211328" cy="211328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4864100" y="3760264"/>
            <a:ext cx="2806700" cy="80749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Lahan</a:t>
            </a:r>
          </a:p>
          <a:p>
            <a:pPr algn="just"/>
            <a:r>
              <a:rPr sz="1642" b="0" lang="id-ID">
                <a:solidFill>
                  <a:srgbClr val="1A1A1A"/>
                </a:solidFill>
                <a:latin typeface="Roboto"/>
              </a:rPr>
              <a:t>Status tanah adat dan ulayat belum pasti.</a:t>
            </a:r>
          </a:p>
        </p:txBody>
      </p:sp>
      <p:sp>
        <p:nvSpPr>
          <p:cNvPr id="69" name="Oval 68"/>
          <p:cNvSpPr/>
          <p:nvPr/>
        </p:nvSpPr>
        <p:spPr>
          <a:xfrm>
            <a:off x="4419600" y="4837747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0" name="Picture 69" descr="pembiayaan-FFFFFF-5387a370-t2.6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479036" y="4897183"/>
            <a:ext cx="211328" cy="211328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4864100" y="4599099"/>
            <a:ext cx="2806700" cy="80749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Anggaran</a:t>
            </a:r>
          </a:p>
          <a:p>
            <a:pPr algn="just"/>
            <a:r>
              <a:rPr sz="1642" b="0" lang="id-ID">
                <a:solidFill>
                  <a:srgbClr val="1A1A1A"/>
                </a:solidFill>
                <a:latin typeface="Roboto"/>
              </a:rPr>
              <a:t>ABT DSP rumah rusak berat terlambat cair.</a:t>
            </a:r>
          </a:p>
        </p:txBody>
      </p:sp>
      <p:sp>
        <p:nvSpPr>
          <p:cNvPr id="72" name="Oval 71"/>
          <p:cNvSpPr/>
          <p:nvPr/>
        </p:nvSpPr>
        <p:spPr>
          <a:xfrm>
            <a:off x="4419600" y="567658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3" name="Picture 72" descr="data-FFFFFF-608a1e16-t2.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479036" y="5736018"/>
            <a:ext cx="211328" cy="211328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4864100" y="5437934"/>
            <a:ext cx="2806700" cy="80749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Data penerima</a:t>
            </a:r>
          </a:p>
          <a:p>
            <a:pPr algn="just"/>
            <a:r>
              <a:rPr sz="1642" b="0" lang="id-ID">
                <a:solidFill>
                  <a:srgbClr val="1A1A1A"/>
                </a:solidFill>
                <a:latin typeface="Roboto"/>
              </a:rPr>
              <a:t>Verifikasi dan validasi oleh pemda terlambat.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036560" y="2346960"/>
            <a:ext cx="3606800" cy="4003040"/>
          </a:xfrm>
          <a:prstGeom prst="roundRect">
            <a:avLst>
              <a:gd name="adj" fmla="val 1514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8036560" y="2346960"/>
            <a:ext cx="3606800" cy="457200"/>
          </a:xfrm>
          <a:prstGeom prst="roundRect">
            <a:avLst>
              <a:gd name="adj" fmla="val 11944"/>
            </a:avLst>
          </a:prstGeom>
          <a:solidFill>
            <a:srgbClr val="DCEB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36560" y="2575560"/>
            <a:ext cx="3606800" cy="228600"/>
          </a:xfrm>
          <a:prstGeom prst="rect">
            <a:avLst/>
          </a:prstGeom>
          <a:solidFill>
            <a:srgbClr val="DCEB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8036560" y="2346960"/>
            <a:ext cx="3606800" cy="4003040"/>
          </a:xfrm>
          <a:prstGeom prst="roundRect">
            <a:avLst>
              <a:gd name="adj" fmla="val 1514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8163560" y="242951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0" name="Picture 79" descr="lembaga-FFFFFF-f44193c4-t2.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216138" y="2482088"/>
            <a:ext cx="186944" cy="186944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8544560" y="2346960"/>
            <a:ext cx="297180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Tindak Lanjut</a:t>
            </a:r>
          </a:p>
        </p:txBody>
      </p:sp>
      <p:sp>
        <p:nvSpPr>
          <p:cNvPr id="82" name="Oval 81"/>
          <p:cNvSpPr/>
          <p:nvPr/>
        </p:nvSpPr>
        <p:spPr>
          <a:xfrm>
            <a:off x="8163560" y="3160078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3" name="Picture 82" descr="infrastruktur-FFFFFF-ba1c96e7-t2.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22996" y="3219514"/>
            <a:ext cx="211328" cy="211328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8608060" y="2921429"/>
            <a:ext cx="2806700" cy="80749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Pasokan</a:t>
            </a:r>
          </a:p>
          <a:p>
            <a:pPr algn="just"/>
            <a:r>
              <a:rPr sz="1642" b="0" lang="id-ID">
                <a:solidFill>
                  <a:srgbClr val="1A1A1A"/>
                </a:solidFill>
                <a:latin typeface="Roboto"/>
              </a:rPr>
              <a:t>Harga khusus semen dari PT Semen Indonesia.</a:t>
            </a:r>
          </a:p>
        </p:txBody>
      </p:sp>
      <p:sp>
        <p:nvSpPr>
          <p:cNvPr id="85" name="Oval 84"/>
          <p:cNvSpPr/>
          <p:nvPr/>
        </p:nvSpPr>
        <p:spPr>
          <a:xfrm>
            <a:off x="8163560" y="399891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6" name="Picture 85" descr="pembiayaan-FFFFFF-5387a370-t2.6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22996" y="4058348"/>
            <a:ext cx="211328" cy="211328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8608060" y="3760264"/>
            <a:ext cx="2806700" cy="80749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Pencairan</a:t>
            </a:r>
          </a:p>
          <a:p>
            <a:pPr algn="just"/>
            <a:r>
              <a:rPr sz="1642" b="0" lang="id-ID">
                <a:solidFill>
                  <a:srgbClr val="1A1A1A"/>
                </a:solidFill>
                <a:latin typeface="Roboto"/>
              </a:rPr>
              <a:t>Dipercepat untuk rumah rusak berat.</a:t>
            </a:r>
          </a:p>
        </p:txBody>
      </p:sp>
      <p:sp>
        <p:nvSpPr>
          <p:cNvPr id="88" name="Oval 87"/>
          <p:cNvSpPr/>
          <p:nvPr/>
        </p:nvSpPr>
        <p:spPr>
          <a:xfrm>
            <a:off x="8163560" y="4837747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9" name="Picture 88" descr="lembaga-FFFFFF-f44193c4-t2.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222996" y="4897183"/>
            <a:ext cx="211328" cy="21132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8608060" y="4599099"/>
            <a:ext cx="2806700" cy="80749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Mekanisme</a:t>
            </a:r>
          </a:p>
          <a:p>
            <a:pPr algn="just"/>
            <a:r>
              <a:rPr sz="1642" b="0" lang="id-ID">
                <a:solidFill>
                  <a:srgbClr val="1A1A1A"/>
                </a:solidFill>
                <a:latin typeface="Roboto"/>
              </a:rPr>
              <a:t>Hibah RR khusus sektor perumahan.</a:t>
            </a:r>
          </a:p>
        </p:txBody>
      </p:sp>
      <p:sp>
        <p:nvSpPr>
          <p:cNvPr id="91" name="Oval 90"/>
          <p:cNvSpPr/>
          <p:nvPr/>
        </p:nvSpPr>
        <p:spPr>
          <a:xfrm>
            <a:off x="8163560" y="567658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2" name="Picture 91" descr="data-FFFFFF-608a1e16-t2.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222996" y="5736018"/>
            <a:ext cx="211328" cy="21132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8608060" y="5437934"/>
            <a:ext cx="2806700" cy="80749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Data</a:t>
            </a:r>
          </a:p>
          <a:p>
            <a:pPr algn="just"/>
            <a:r>
              <a:rPr sz="1642" b="0" lang="id-ID">
                <a:solidFill>
                  <a:srgbClr val="1A1A1A"/>
                </a:solidFill>
                <a:latin typeface="Roboto"/>
              </a:rPr>
              <a:t>Pemda menuntaskan verifikasi penerima bantuan.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Kedeputian Bidang RR BNPB, 24 Oktober 2026; bahan RTM Kedeputian Bidang RR BNPB, 27 Oktober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00" cy="6858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5760"/>
            <a:ext cx="347980" cy="4394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413000"/>
            <a:ext cx="2712720" cy="7620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l"/>
            <a:r>
              <a:rPr sz="3600" b="1" lang="id-ID">
                <a:solidFill>
                  <a:srgbClr val="051C2C"/>
                </a:solidFill>
                <a:latin typeface="Roboto"/>
              </a:rPr>
              <a:t>Daftar Isi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327400"/>
            <a:ext cx="711200" cy="381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505200"/>
            <a:ext cx="271272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00" b="0" lang="id-ID">
                <a:solidFill>
                  <a:srgbClr val="2E3440"/>
                </a:solidFill>
                <a:latin typeface="Roboto"/>
              </a:rPr>
              <a:t>Progres Sektor Perumahan Rehabilitasi dan Rekonstruksi Pascabencana di Wilayah Sumatera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18000" y="10795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678160" y="14097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78160" y="14097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4–5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05400" y="10795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Dasar Hukum Pelaksanaan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18000" y="20193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4318000" y="20193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678160" y="23495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78160" y="23495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6–12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5400" y="20193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Stimulan Rumah Rusak Sedang dan Rusak Ringan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318000" y="29591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4318000" y="29591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78160" y="32893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78160" y="32893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13–18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05400" y="29591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Hunian Tetap dan Stimulan Rumah Rusak Berat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18000" y="38989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4318000" y="38989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78160" y="42291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78160" y="42291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19–20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05400" y="38989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Kendala dan Tindak Lanjut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318000" y="48387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4318000" y="48387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78160" y="51689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78160" y="51689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21–27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05400" y="48387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Dokumentasi Lapangan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00" cy="6858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5760"/>
            <a:ext cx="347980" cy="4394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81200"/>
            <a:ext cx="2712720" cy="1092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000" b="1" lang="id-ID">
                <a:solidFill>
                  <a:srgbClr val="D9600B"/>
                </a:solidFill>
                <a:latin typeface="Roboto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175000"/>
            <a:ext cx="711200" cy="381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352800"/>
            <a:ext cx="2712720" cy="1397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lang="id-ID">
                <a:solidFill>
                  <a:srgbClr val="051C2C"/>
                </a:solidFill>
                <a:latin typeface="Roboto"/>
              </a:rPr>
              <a:t>Dasar Hukum Pelaksanaan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1130300"/>
            <a:ext cx="7528560" cy="838200"/>
          </a:xfrm>
          <a:prstGeom prst="rect">
            <a:avLst/>
          </a:prstGeom>
          <a:solidFill>
            <a:srgbClr val="FDF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0" y="1130300"/>
            <a:ext cx="50800" cy="8382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18000" y="10795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78160" y="14097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78160" y="14097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4–5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05400" y="10795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Dasar Hukum Pelaksanaan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318000" y="20193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4318000" y="20193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78160" y="23495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78160" y="23495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6–12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5400" y="20193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Stimulan Rumah Rusak Sedang dan Rusak Ringan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318000" y="29591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4318000" y="29591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678160" y="32893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78160" y="32893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13–18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05400" y="29591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Hunian Tetap dan Stimulan Rumah Rusak Berat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18000" y="38989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4318000" y="38989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78160" y="42291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78160" y="42291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19–20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5400" y="38989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Kendala dan Tindak Lanjut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318000" y="48387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4318000" y="48387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678160" y="51689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78160" y="51689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21–27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05400" y="48387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Dokumentasi Lapangan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Dasar hukum pelaksanaan bantuan perumahan pascabencana Sumatera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5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01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Dasar hukum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840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11094720" cy="5367020"/>
          </a:xfrm>
          <a:prstGeom prst="roundRect">
            <a:avLst>
              <a:gd name="adj" fmla="val 1017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1109472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1109472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11094720" cy="5367020"/>
          </a:xfrm>
          <a:prstGeom prst="roundRect">
            <a:avLst>
              <a:gd name="adj" fmla="val 1017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egulasi-FFFFFF-e639fe9a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1033272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Peraturan yang Menjadi Dasar Pelaksanaan</a:t>
            </a:r>
          </a:p>
        </p:txBody>
      </p:sp>
      <p:sp>
        <p:nvSpPr>
          <p:cNvPr id="23" name="Pita kepala tabel"/>
          <p:cNvSpPr/>
          <p:nvPr/>
        </p:nvSpPr>
        <p:spPr>
          <a:xfrm>
            <a:off x="675640" y="1541780"/>
            <a:ext cx="10840720" cy="210820"/>
          </a:xfrm>
          <a:prstGeom prst="roundRect">
            <a:avLst>
              <a:gd name="adj" fmla="val 18072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2830" y="1541780"/>
            <a:ext cx="192345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JENIS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27081" y="1541780"/>
            <a:ext cx="1627313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NOMOR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5194" y="1541780"/>
            <a:ext cx="389770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TENTANG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53696" y="1541780"/>
            <a:ext cx="1627313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LEMBAGA PENERBIT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1809" y="1541780"/>
            <a:ext cx="113375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CAKUPAN</a:t>
            </a:r>
          </a:p>
        </p:txBody>
      </p:sp>
      <p:sp>
        <p:nvSpPr>
          <p:cNvPr id="29" name="Pita kolom utama"/>
          <p:cNvSpPr/>
          <p:nvPr/>
        </p:nvSpPr>
        <p:spPr>
          <a:xfrm>
            <a:off x="675640" y="1752600"/>
            <a:ext cx="2275241" cy="450850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75640" y="626110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31" name="Oval 30"/>
          <p:cNvSpPr/>
          <p:nvPr/>
        </p:nvSpPr>
        <p:spPr>
          <a:xfrm>
            <a:off x="777240" y="2041313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2830" y="1752600"/>
            <a:ext cx="1923451" cy="150283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1A1A1A"/>
                </a:solidFill>
                <a:latin typeface="Roboto"/>
              </a:rPr>
              <a:t>Peraturan BNPB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27081" y="1752600"/>
            <a:ext cx="1627313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Nomor 5 Tahun 2017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5194" y="1752600"/>
            <a:ext cx="3897702" cy="75141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Rencana Rehabilitasi dan Rekonstruksi Pascabencana (R3P)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53696" y="1752600"/>
            <a:ext cx="1627313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BNPB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31809" y="1752600"/>
            <a:ext cx="1133751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Umum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2950881" y="2504017"/>
            <a:ext cx="8565479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8" name="Oval 37"/>
          <p:cNvSpPr/>
          <p:nvPr/>
        </p:nvSpPr>
        <p:spPr>
          <a:xfrm>
            <a:off x="777240" y="2792730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27081" y="2504017"/>
            <a:ext cx="1627313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Nomor 4 Tahun 2020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05194" y="2504017"/>
            <a:ext cx="3897702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Dana Siap Pakai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53696" y="2504017"/>
            <a:ext cx="1627313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BNPB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1809" y="2504017"/>
            <a:ext cx="1133751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Umum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75640" y="3255433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4" name="Oval 43"/>
          <p:cNvSpPr/>
          <p:nvPr/>
        </p:nvSpPr>
        <p:spPr>
          <a:xfrm>
            <a:off x="777240" y="3544147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2830" y="3255433"/>
            <a:ext cx="1923451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1A1A1A"/>
                </a:solidFill>
                <a:latin typeface="Roboto"/>
              </a:rPr>
              <a:t>Petunjuk Pelaksanaan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27081" y="3255433"/>
            <a:ext cx="1627313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Nomor 5 Tahun 2024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05194" y="3255433"/>
            <a:ext cx="3897702" cy="75141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Bantuan DSP stimulan perbaikan dan pembangunan kembali rumah rusak akibat bencana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53696" y="3255433"/>
            <a:ext cx="1627313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BNPB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1809" y="3255433"/>
            <a:ext cx="1133751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Umum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75640" y="4006850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1" name="Oval 50"/>
          <p:cNvSpPr/>
          <p:nvPr/>
        </p:nvSpPr>
        <p:spPr>
          <a:xfrm>
            <a:off x="777240" y="4295563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2830" y="4006850"/>
            <a:ext cx="1923451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1A1A1A"/>
                </a:solidFill>
                <a:latin typeface="Roboto"/>
              </a:rPr>
              <a:t>Keputusan Kepala BNPB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27081" y="4006850"/>
            <a:ext cx="1627313" cy="75141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Nomor 393 Tahun 2026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05194" y="4006850"/>
            <a:ext cx="3897702" cy="75141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Bantuan perbaikan dan pembangunan rumah rusak terdampak bencana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53696" y="4006850"/>
            <a:ext cx="1627313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Kepala BNPB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1809" y="4006850"/>
            <a:ext cx="1133751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Umum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75640" y="4758267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8" name="Oval 57"/>
          <p:cNvSpPr/>
          <p:nvPr/>
        </p:nvSpPr>
        <p:spPr>
          <a:xfrm>
            <a:off x="777240" y="5046980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2830" y="4758267"/>
            <a:ext cx="1923451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1A1A1A"/>
                </a:solidFill>
                <a:latin typeface="Roboto"/>
              </a:rPr>
              <a:t>Keputusan Mendagri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027081" y="4758267"/>
            <a:ext cx="1627313" cy="75141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Nomor 300.2.8-168 Tahun 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705194" y="4758267"/>
            <a:ext cx="3897702" cy="75141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Pedoman teknis bantuan rumah terdampak bencana di tiga provinsi Sumatera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53696" y="4758267"/>
            <a:ext cx="1627313" cy="75141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Kementerian Dalam Negeri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31809" y="4758267"/>
            <a:ext cx="1133751" cy="75141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Khusus Sumatera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75640" y="5509683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5" name="Oval 64"/>
          <p:cNvSpPr/>
          <p:nvPr/>
        </p:nvSpPr>
        <p:spPr>
          <a:xfrm>
            <a:off x="777240" y="5798397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2830" y="5509683"/>
            <a:ext cx="1923451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1A1A1A"/>
                </a:solidFill>
                <a:latin typeface="Roboto"/>
              </a:rPr>
              <a:t>Petunjuk Teknis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027081" y="5509683"/>
            <a:ext cx="1627313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Nomor 1 Tahun 2026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705194" y="5509683"/>
            <a:ext cx="3897702" cy="75141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Pembangunan rumah rusak berat melalui </a:t>
            </a:r>
            <a:r>
              <a:rPr sz="1204" b="0" i="1" lang="id-ID">
                <a:solidFill>
                  <a:srgbClr val="2E3440"/>
                </a:solidFill>
                <a:latin typeface="Roboto"/>
              </a:rPr>
              <a:t>in situ</a:t>
            </a:r>
            <a:r>
              <a:rPr sz="1204" b="0" lang="id-ID">
                <a:solidFill>
                  <a:srgbClr val="2E3440"/>
                </a:solidFill>
                <a:latin typeface="Roboto"/>
              </a:rPr>
              <a:t> dan relokasi mandiri di tiga provinsi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653696" y="5509683"/>
            <a:ext cx="1627313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BNPB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331809" y="5509683"/>
            <a:ext cx="1133751" cy="75141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Khusus Sumatera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bahan RTM Kedeputian Bidang RR BNPB, 27 Oktober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00" cy="6858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5760"/>
            <a:ext cx="347980" cy="4394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81200"/>
            <a:ext cx="2712720" cy="1092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000" b="1" lang="id-ID">
                <a:solidFill>
                  <a:srgbClr val="D9600B"/>
                </a:solidFill>
                <a:latin typeface="Roboto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175000"/>
            <a:ext cx="711200" cy="381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352800"/>
            <a:ext cx="2712720" cy="1397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lang="id-ID">
                <a:solidFill>
                  <a:srgbClr val="051C2C"/>
                </a:solidFill>
                <a:latin typeface="Roboto"/>
              </a:rPr>
              <a:t>Stimulan Rumah Rusak Sedang dan Rusak Ringan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18000" y="10795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678160" y="14097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78160" y="14097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4–5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05400" y="10795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Dasar Hukum Pelaksanaan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18000" y="20193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2" name="Rectangle 11"/>
          <p:cNvSpPr/>
          <p:nvPr/>
        </p:nvSpPr>
        <p:spPr>
          <a:xfrm>
            <a:off x="4114800" y="2070100"/>
            <a:ext cx="7528560" cy="838200"/>
          </a:xfrm>
          <a:prstGeom prst="rect">
            <a:avLst/>
          </a:prstGeom>
          <a:solidFill>
            <a:srgbClr val="FDF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2070100"/>
            <a:ext cx="50800" cy="8382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18000" y="20193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78160" y="23495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78160" y="23495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6–12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5400" y="20193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Stimulan Rumah Rusak Sedang dan Rusak Ringan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318000" y="29591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4318000" y="29591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678160" y="32893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78160" y="32893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13–18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05400" y="29591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Hunian Tetap dan Stimulan Rumah Rusak Berat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18000" y="38989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4318000" y="38989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78160" y="42291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78160" y="42291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19–20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5400" y="38989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Kendala dan Tindak Lanjut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318000" y="48387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4318000" y="48387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678160" y="51689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78160" y="51689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21–27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05400" y="48387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Dokumentasi Lapangan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642600" cy="8255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Realisasi belanja stimulan untuk rumah yang rusak sedang dan ringan mencapai</a:t>
            </a:r>
            <a:br/>
            <a:r>
              <a:rPr sz="2200" b="1" lang="id-ID">
                <a:solidFill>
                  <a:srgbClr val="D9600B"/>
                </a:solidFill>
                <a:latin typeface="Roboto"/>
              </a:rPr>
              <a:t>78,9%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 dari dana di rekening masyarakat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0650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02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43784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282700"/>
            <a:ext cx="6471209" cy="927100"/>
          </a:xfrm>
          <a:prstGeom prst="roundRect">
            <a:avLst>
              <a:gd name="adj" fmla="val 7945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1337310"/>
            <a:ext cx="1097922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259690" tIns="0" rIns="0" bIns="0">
            <a:noAutofit/>
          </a:bodyPr>
          <a:lstStyle/>
          <a:p>
            <a:pPr algn="l"/>
            <a:r>
              <a:rPr sz="760" b="1" lang="id-ID" spc="100">
                <a:solidFill>
                  <a:srgbClr val="FFFFFF"/>
                </a:solidFill>
                <a:latin typeface="Roboto"/>
              </a:rPr>
              <a:t>PENYALURAN</a:t>
            </a:r>
          </a:p>
        </p:txBody>
      </p:sp>
      <p:pic>
        <p:nvPicPr>
          <p:cNvPr id="18" name="Picture 17" descr="pembiayaan-FFFFFF-5387a3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372057"/>
            <a:ext cx="113386" cy="113386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58368" y="1593850"/>
            <a:ext cx="2022958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67588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pembiayaan-051C2C-5387a3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788" y="1758950"/>
            <a:ext cx="177800" cy="177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70178" y="1630680"/>
            <a:ext cx="1401928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Rp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748,9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 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178" y="1896110"/>
            <a:ext cx="1401928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ditransfer ke daerah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72766" y="1593850"/>
            <a:ext cx="2022958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881986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Picture 25" descr="data-051C2C-608a1e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8186" y="1758950"/>
            <a:ext cx="177800" cy="1778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284576" y="1630680"/>
            <a:ext cx="1401928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Rp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702,4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 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84576" y="1896110"/>
            <a:ext cx="1401928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di rekening masyarakat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87163" y="1593850"/>
            <a:ext cx="2022958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996383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rumah-051C2C-320df64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2583" y="1758950"/>
            <a:ext cx="177800" cy="1778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398973" y="1630680"/>
            <a:ext cx="1401928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78,9%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98973" y="1896110"/>
            <a:ext cx="1401928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realisasi belanja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86549" y="1282700"/>
            <a:ext cx="4356811" cy="927100"/>
          </a:xfrm>
          <a:prstGeom prst="roundRect">
            <a:avLst>
              <a:gd name="adj" fmla="val 7945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396277" y="1337310"/>
            <a:ext cx="862587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259690" tIns="0" rIns="0" bIns="0">
            <a:noAutofit/>
          </a:bodyPr>
          <a:lstStyle/>
          <a:p>
            <a:pPr algn="l"/>
            <a:r>
              <a:rPr sz="760" b="1" lang="id-ID" spc="100">
                <a:solidFill>
                  <a:srgbClr val="FFFFFF"/>
                </a:solidFill>
                <a:latin typeface="Roboto"/>
              </a:rPr>
              <a:t>WILAYAH</a:t>
            </a:r>
          </a:p>
        </p:txBody>
      </p:sp>
      <p:pic>
        <p:nvPicPr>
          <p:cNvPr id="36" name="Picture 35" descr="wilayah-FFFFFF-37dca10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87717" y="1372057"/>
            <a:ext cx="113386" cy="113386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7396277" y="1593850"/>
            <a:ext cx="2022958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505497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Picture 38" descr="wilayah-051C2C-37dca10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1697" y="1758950"/>
            <a:ext cx="177800" cy="1778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7908087" y="1630680"/>
            <a:ext cx="1401928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42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08087" y="1896110"/>
            <a:ext cx="1401928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kab/kota penerima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510674" y="1593850"/>
            <a:ext cx="2022958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619894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4" name="Picture 43" descr="kalender-051C2C-a840cf9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96094" y="1758950"/>
            <a:ext cx="177800" cy="1778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0022484" y="1630680"/>
            <a:ext cx="1401928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22484" y="1896110"/>
            <a:ext cx="1401928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kab/kota tahap lanjut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" y="2346960"/>
            <a:ext cx="6213043" cy="400304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8640" y="2346960"/>
            <a:ext cx="6213043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48640" y="2575560"/>
            <a:ext cx="6213043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8640" y="2346960"/>
            <a:ext cx="6213043" cy="4003040"/>
          </a:xfrm>
          <a:prstGeom prst="roundRect">
            <a:avLst>
              <a:gd name="adj" fmla="val 1364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75640" y="242951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2" name="Picture 51" descr="rumah-FFFFFF-320df645-t2.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8218" y="2482088"/>
            <a:ext cx="186944" cy="18694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56640" y="2346960"/>
            <a:ext cx="5451043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Stimulan Rusak Sedang (RS) dan Rusak Ringan (RR) per Provinsi</a:t>
            </a:r>
          </a:p>
        </p:txBody>
      </p:sp>
      <p:sp>
        <p:nvSpPr>
          <p:cNvPr id="54" name="Pita kepala tabel"/>
          <p:cNvSpPr/>
          <p:nvPr/>
        </p:nvSpPr>
        <p:spPr>
          <a:xfrm>
            <a:off x="675640" y="2905760"/>
            <a:ext cx="5959043" cy="421640"/>
          </a:xfrm>
          <a:prstGeom prst="roundRect">
            <a:avLst>
              <a:gd name="adj" fmla="val 9036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77240" y="2905760"/>
            <a:ext cx="1499464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PROVINSI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27504" y="2905760"/>
            <a:ext cx="1181441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UNIT RS DAN RR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10545" y="3116580"/>
            <a:ext cx="1022318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KE REKENING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4462" y="3116580"/>
            <a:ext cx="821574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BELANJA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57636" y="2905760"/>
            <a:ext cx="875447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REALISASI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10545" y="2905760"/>
            <a:ext cx="194549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RP MILIAR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3661345" y="3103880"/>
            <a:ext cx="1843891" cy="0"/>
          </a:xfrm>
          <a:prstGeom prst="line">
            <a:avLst/>
          </a:prstGeom>
          <a:ln w="6350">
            <a:solidFill>
              <a:srgbClr val="FFFFFF"/>
            </a:solidFill>
          </a:ln>
        </p:spPr>
      </p:cxnSp>
      <p:sp>
        <p:nvSpPr>
          <p:cNvPr id="62" name="Pita kolom utama"/>
          <p:cNvSpPr/>
          <p:nvPr/>
        </p:nvSpPr>
        <p:spPr>
          <a:xfrm>
            <a:off x="675640" y="3327400"/>
            <a:ext cx="1575664" cy="252537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675640" y="5852770"/>
            <a:ext cx="5959043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64" name="TextBox 63"/>
          <p:cNvSpPr txBox="1"/>
          <p:nvPr/>
        </p:nvSpPr>
        <p:spPr>
          <a:xfrm>
            <a:off x="777240" y="3327400"/>
            <a:ext cx="1499464" cy="8417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563" b="1" lang="id-ID">
                <a:solidFill>
                  <a:srgbClr val="1A1A1A"/>
                </a:solidFill>
                <a:latin typeface="Roboto"/>
              </a:rPr>
              <a:t>Aceh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327504" y="3327400"/>
            <a:ext cx="1181441" cy="8417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30.661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10545" y="3327400"/>
            <a:ext cx="1022318" cy="8417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621,8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34462" y="3327400"/>
            <a:ext cx="821574" cy="8417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494,3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658093" y="3580960"/>
            <a:ext cx="874533" cy="33467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63" b="1" lang="id-ID">
                <a:solidFill>
                  <a:srgbClr val="1A1A1A"/>
                </a:solidFill>
                <a:latin typeface="Roboto"/>
              </a:rPr>
              <a:t>79,5%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75640" y="4169190"/>
            <a:ext cx="5959043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0" name="TextBox 69"/>
          <p:cNvSpPr txBox="1"/>
          <p:nvPr/>
        </p:nvSpPr>
        <p:spPr>
          <a:xfrm>
            <a:off x="777240" y="4169190"/>
            <a:ext cx="1499464" cy="8417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563" b="1" lang="id-ID">
                <a:solidFill>
                  <a:srgbClr val="1A1A1A"/>
                </a:solidFill>
                <a:latin typeface="Roboto"/>
              </a:rPr>
              <a:t>Sumatera Utara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27504" y="4169190"/>
            <a:ext cx="1181441" cy="8417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3.560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10545" y="4169190"/>
            <a:ext cx="1022318" cy="8417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61,9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34462" y="4169190"/>
            <a:ext cx="821574" cy="8417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47,1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658093" y="4422750"/>
            <a:ext cx="874533" cy="33467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63" b="1" lang="id-ID">
                <a:solidFill>
                  <a:srgbClr val="1A1A1A"/>
                </a:solidFill>
                <a:latin typeface="Roboto"/>
              </a:rPr>
              <a:t>76,1%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675640" y="5010980"/>
            <a:ext cx="5959043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6" name="TextBox 75"/>
          <p:cNvSpPr txBox="1"/>
          <p:nvPr/>
        </p:nvSpPr>
        <p:spPr>
          <a:xfrm>
            <a:off x="777240" y="5010980"/>
            <a:ext cx="1499464" cy="8417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563" b="1" lang="id-ID">
                <a:solidFill>
                  <a:srgbClr val="1A1A1A"/>
                </a:solidFill>
                <a:latin typeface="Roboto"/>
              </a:rPr>
              <a:t>Sumatera Barat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327504" y="5010980"/>
            <a:ext cx="1181441" cy="8417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1.186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10545" y="5010980"/>
            <a:ext cx="1022318" cy="8417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18,7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34462" y="5010980"/>
            <a:ext cx="821574" cy="8417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12,7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658093" y="5264539"/>
            <a:ext cx="874533" cy="334670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63" b="1" lang="id-ID">
                <a:solidFill>
                  <a:srgbClr val="C8102E"/>
                </a:solidFill>
                <a:latin typeface="Roboto"/>
              </a:rPr>
              <a:t>68,1%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75640" y="5903570"/>
            <a:ext cx="5959043" cy="357530"/>
          </a:xfrm>
          <a:prstGeom prst="roundRect">
            <a:avLst>
              <a:gd name="adj" fmla="val 10656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02640" y="5903570"/>
            <a:ext cx="1524864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563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327504" y="5903570"/>
            <a:ext cx="1181441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FFFFFF"/>
                </a:solidFill>
                <a:latin typeface="Roboto"/>
              </a:rPr>
              <a:t>35.407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10545" y="5903570"/>
            <a:ext cx="1022318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FFFFFF"/>
                </a:solidFill>
                <a:latin typeface="Roboto"/>
              </a:rPr>
              <a:t>702,4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734462" y="5903570"/>
            <a:ext cx="821574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FFFFFF"/>
                </a:solidFill>
                <a:latin typeface="Roboto"/>
              </a:rPr>
              <a:t>554,2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898843" y="2346960"/>
            <a:ext cx="4744517" cy="400304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6898843" y="2346960"/>
            <a:ext cx="4744517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898843" y="2575560"/>
            <a:ext cx="4744517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6898843" y="2346960"/>
            <a:ext cx="4744517" cy="4003040"/>
          </a:xfrm>
          <a:prstGeom prst="roundRect">
            <a:avLst>
              <a:gd name="adj" fmla="val 1364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025843" y="242951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1" name="Picture 90" descr="peringatan-FFFFFF-6a80b716-t2.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78421" y="2482088"/>
            <a:ext cx="186944" cy="186944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406843" y="2346960"/>
            <a:ext cx="4109517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Catatan Pelaksanaan</a:t>
            </a:r>
          </a:p>
        </p:txBody>
      </p:sp>
      <p:sp>
        <p:nvSpPr>
          <p:cNvPr id="93" name="Oval 92"/>
          <p:cNvSpPr/>
          <p:nvPr/>
        </p:nvSpPr>
        <p:spPr>
          <a:xfrm>
            <a:off x="7025843" y="315055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4" name="Picture 93" descr="kalender-FFFFFF-a840cf9e-t2.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85279" y="3209988"/>
            <a:ext cx="211328" cy="211328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7470343" y="2974340"/>
            <a:ext cx="3944417" cy="6826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Batas usulan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Paling lambat 31 Agustus 2026; pemda melengkapi dokumen sesuai catatan PIC BNPB.</a:t>
            </a:r>
          </a:p>
        </p:txBody>
      </p:sp>
      <p:sp>
        <p:nvSpPr>
          <p:cNvPr id="96" name="Oval 95"/>
          <p:cNvSpPr/>
          <p:nvPr/>
        </p:nvSpPr>
        <p:spPr>
          <a:xfrm>
            <a:off x="7025843" y="4079875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7" name="Picture 96" descr="regulasi-FFFFFF-e639fe9a-t2.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85279" y="4139311"/>
            <a:ext cx="211328" cy="211328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7470343" y="3794125"/>
            <a:ext cx="3944417" cy="901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Dokumen usulan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SK transisi kedaluwarsa dan NIK/KK berbeda di SK BNBA; kajian kelayakan lahan relokasi mandiri belum ada.</a:t>
            </a:r>
          </a:p>
        </p:txBody>
      </p:sp>
      <p:sp>
        <p:nvSpPr>
          <p:cNvPr id="99" name="Oval 98"/>
          <p:cNvSpPr/>
          <p:nvPr/>
        </p:nvSpPr>
        <p:spPr>
          <a:xfrm>
            <a:off x="7025843" y="5009197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0" name="Picture 99" descr="data-FFFFFF-608a1e16-t2.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085279" y="5068633"/>
            <a:ext cx="211328" cy="211328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7470343" y="4832985"/>
            <a:ext cx="3944417" cy="6826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Pertanggungjawaban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Laporan bulanan, pengembalian kas negara, SK BNBA final, rekening koran.</a:t>
            </a:r>
          </a:p>
        </p:txBody>
      </p:sp>
      <p:sp>
        <p:nvSpPr>
          <p:cNvPr id="102" name="Oval 101"/>
          <p:cNvSpPr/>
          <p:nvPr/>
        </p:nvSpPr>
        <p:spPr>
          <a:xfrm>
            <a:off x="7025843" y="5719445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3" name="Picture 102" descr="infrastruktur-FFFFFF-ba1c96e7-t2.6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85279" y="5778881"/>
            <a:ext cx="211328" cy="211328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7470343" y="5652770"/>
            <a:ext cx="3944417" cy="4635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Pelaksanaan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Material langka dan tenaga tukang terbatas.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Kedeputian Bidang RR BNPB, 24 Oktober 2026; realisasi dari laporan pemda, sebagian belum dilengkapi pertanggungjawaban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642600" cy="8255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Rincian penyaluran stimulan rumah rusak sedang dan rusak ringan per tahap</a:t>
            </a:r>
            <a:br/>
            <a:r>
              <a:rPr sz="2200" b="1" lang="id-ID">
                <a:solidFill>
                  <a:srgbClr val="1A1A1A"/>
                </a:solidFill>
                <a:latin typeface="Roboto"/>
              </a:rPr>
              <a:t>(Rp miliar)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0650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02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43784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282700"/>
            <a:ext cx="11094720" cy="2465070"/>
          </a:xfrm>
          <a:prstGeom prst="roundRect">
            <a:avLst>
              <a:gd name="adj" fmla="val 2215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1282700"/>
            <a:ext cx="1109472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511300"/>
            <a:ext cx="1109472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1282700"/>
            <a:ext cx="11094720" cy="2465070"/>
          </a:xfrm>
          <a:prstGeom prst="roundRect">
            <a:avLst>
              <a:gd name="adj" fmla="val 2215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36525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41782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1282700"/>
            <a:ext cx="1033272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 (RS)</a:t>
            </a:r>
          </a:p>
        </p:txBody>
      </p:sp>
      <p:sp>
        <p:nvSpPr>
          <p:cNvPr id="23" name="Pita kepala tabel"/>
          <p:cNvSpPr/>
          <p:nvPr/>
        </p:nvSpPr>
        <p:spPr>
          <a:xfrm>
            <a:off x="675640" y="1841500"/>
            <a:ext cx="10840720" cy="421640"/>
          </a:xfrm>
          <a:prstGeom prst="roundRect">
            <a:avLst>
              <a:gd name="adj" fmla="val 9036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1841500"/>
            <a:ext cx="1170555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PROVINSI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98595" y="2052320"/>
            <a:ext cx="1531790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UNIT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31984" y="2052320"/>
            <a:ext cx="143759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RP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71183" y="2052320"/>
            <a:ext cx="1531790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UNIT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04573" y="2052320"/>
            <a:ext cx="143759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RP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43772" y="2052320"/>
            <a:ext cx="1531790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UNIT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77161" y="2052320"/>
            <a:ext cx="143759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RP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98595" y="1841500"/>
            <a:ext cx="3070988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KE DAERAH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049395" y="2039620"/>
            <a:ext cx="2969388" cy="0"/>
          </a:xfrm>
          <a:prstGeom prst="line">
            <a:avLst/>
          </a:prstGeom>
          <a:ln w="6350">
            <a:solidFill>
              <a:srgbClr val="FFFFFF"/>
            </a:solidFill>
          </a:ln>
        </p:spPr>
      </p:cxnSp>
      <p:sp>
        <p:nvSpPr>
          <p:cNvPr id="33" name="TextBox 32"/>
          <p:cNvSpPr txBox="1"/>
          <p:nvPr/>
        </p:nvSpPr>
        <p:spPr>
          <a:xfrm>
            <a:off x="5171183" y="1841500"/>
            <a:ext cx="3070988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KE REKENING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221983" y="2039620"/>
            <a:ext cx="2969389" cy="0"/>
          </a:xfrm>
          <a:prstGeom prst="line">
            <a:avLst/>
          </a:prstGeom>
          <a:ln w="6350">
            <a:solidFill>
              <a:srgbClr val="FFFFFF"/>
            </a:solidFill>
          </a:ln>
        </p:spPr>
      </p:cxnSp>
      <p:sp>
        <p:nvSpPr>
          <p:cNvPr id="35" name="TextBox 34"/>
          <p:cNvSpPr txBox="1"/>
          <p:nvPr/>
        </p:nvSpPr>
        <p:spPr>
          <a:xfrm>
            <a:off x="8343772" y="1841500"/>
            <a:ext cx="3070988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BELANJA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394572" y="2039620"/>
            <a:ext cx="2969388" cy="0"/>
          </a:xfrm>
          <a:prstGeom prst="line">
            <a:avLst/>
          </a:prstGeom>
          <a:ln w="6350">
            <a:solidFill>
              <a:srgbClr val="FFFFFF"/>
            </a:solidFill>
          </a:ln>
        </p:spPr>
      </p:cxnSp>
      <p:sp>
        <p:nvSpPr>
          <p:cNvPr id="37" name="Pita kolom utama"/>
          <p:cNvSpPr/>
          <p:nvPr/>
        </p:nvSpPr>
        <p:spPr>
          <a:xfrm>
            <a:off x="675640" y="2263140"/>
            <a:ext cx="1246755" cy="107823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675640" y="334137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39" name="TextBox 38"/>
          <p:cNvSpPr txBox="1"/>
          <p:nvPr/>
        </p:nvSpPr>
        <p:spPr>
          <a:xfrm>
            <a:off x="777240" y="2263140"/>
            <a:ext cx="1170555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96" b="1" lang="id-ID">
                <a:solidFill>
                  <a:srgbClr val="1A1A1A"/>
                </a:solidFill>
                <a:latin typeface="Roboto"/>
              </a:rPr>
              <a:t>Aceh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98595" y="2263140"/>
            <a:ext cx="1531790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12.919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1984" y="2263140"/>
            <a:ext cx="1437599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387,6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71183" y="2263140"/>
            <a:ext cx="1531790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12.289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04573" y="2263140"/>
            <a:ext cx="1437599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368,6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43772" y="2263140"/>
            <a:ext cx="1531790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11.190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77161" y="2263140"/>
            <a:ext cx="1437599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292,7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75640" y="2622550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7" name="TextBox 46"/>
          <p:cNvSpPr txBox="1"/>
          <p:nvPr/>
        </p:nvSpPr>
        <p:spPr>
          <a:xfrm>
            <a:off x="777240" y="2622550"/>
            <a:ext cx="1170555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96" b="1" lang="id-ID">
                <a:solidFill>
                  <a:srgbClr val="1A1A1A"/>
                </a:solidFill>
                <a:latin typeface="Roboto"/>
              </a:rPr>
              <a:t>Sumatera Utara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98595" y="2622550"/>
            <a:ext cx="1531790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1.228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31984" y="2622550"/>
            <a:ext cx="1437599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36,8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71183" y="2622550"/>
            <a:ext cx="1531790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1.068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04573" y="2622550"/>
            <a:ext cx="1437599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32,0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43772" y="2622550"/>
            <a:ext cx="1531790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891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77161" y="2622550"/>
            <a:ext cx="1437599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24,0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75640" y="2981960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5" name="TextBox 54"/>
          <p:cNvSpPr txBox="1"/>
          <p:nvPr/>
        </p:nvSpPr>
        <p:spPr>
          <a:xfrm>
            <a:off x="777240" y="2981960"/>
            <a:ext cx="1170555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96" b="1" lang="id-ID">
                <a:solidFill>
                  <a:srgbClr val="1A1A1A"/>
                </a:solidFill>
                <a:latin typeface="Roboto"/>
              </a:rPr>
              <a:t>Sumatera Barat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998595" y="2981960"/>
            <a:ext cx="1531790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375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31984" y="2981960"/>
            <a:ext cx="1437599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11,3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71183" y="2981960"/>
            <a:ext cx="1531790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343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04573" y="2981960"/>
            <a:ext cx="1437599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10,3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43772" y="2981960"/>
            <a:ext cx="1531790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265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77161" y="2981960"/>
            <a:ext cx="1437599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7,2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75640" y="3392170"/>
            <a:ext cx="10840720" cy="266700"/>
          </a:xfrm>
          <a:prstGeom prst="roundRect">
            <a:avLst>
              <a:gd name="adj" fmla="val 14285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02640" y="3392170"/>
            <a:ext cx="1195955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98595" y="3392170"/>
            <a:ext cx="1531790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14.522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31984" y="3392170"/>
            <a:ext cx="1437599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435,7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71183" y="3392170"/>
            <a:ext cx="1531790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13.700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04573" y="3392170"/>
            <a:ext cx="1437599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410,9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43772" y="3392170"/>
            <a:ext cx="1531790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12.346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77161" y="3392170"/>
            <a:ext cx="1437599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323,9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48640" y="3884930"/>
            <a:ext cx="11094720" cy="2465070"/>
          </a:xfrm>
          <a:prstGeom prst="roundRect">
            <a:avLst>
              <a:gd name="adj" fmla="val 2215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548640" y="3884930"/>
            <a:ext cx="1109472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48640" y="4113530"/>
            <a:ext cx="1109472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548640" y="3884930"/>
            <a:ext cx="11094720" cy="2465070"/>
          </a:xfrm>
          <a:prstGeom prst="roundRect">
            <a:avLst>
              <a:gd name="adj" fmla="val 2215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675640" y="396748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5" name="Picture 74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4020058"/>
            <a:ext cx="186944" cy="186944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056640" y="3884930"/>
            <a:ext cx="1033272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Ringan (RR)</a:t>
            </a:r>
          </a:p>
        </p:txBody>
      </p:sp>
      <p:sp>
        <p:nvSpPr>
          <p:cNvPr id="77" name="Pita kepala tabel"/>
          <p:cNvSpPr/>
          <p:nvPr/>
        </p:nvSpPr>
        <p:spPr>
          <a:xfrm>
            <a:off x="675640" y="4443730"/>
            <a:ext cx="10840720" cy="421640"/>
          </a:xfrm>
          <a:prstGeom prst="roundRect">
            <a:avLst>
              <a:gd name="adj" fmla="val 9036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77240" y="4443730"/>
            <a:ext cx="1170555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PROVINSI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998595" y="4654550"/>
            <a:ext cx="1531790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UNIT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1984" y="4654550"/>
            <a:ext cx="143759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RP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171183" y="4654550"/>
            <a:ext cx="1531790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UNIT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804573" y="4654550"/>
            <a:ext cx="143759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RP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343772" y="4654550"/>
            <a:ext cx="1531790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UNIT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77161" y="4654550"/>
            <a:ext cx="143759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RP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998595" y="4443730"/>
            <a:ext cx="3070988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KE DAERAH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2049395" y="4641850"/>
            <a:ext cx="2969388" cy="0"/>
          </a:xfrm>
          <a:prstGeom prst="line">
            <a:avLst/>
          </a:prstGeom>
          <a:ln w="6350">
            <a:solidFill>
              <a:srgbClr val="FFFFFF"/>
            </a:solidFill>
          </a:ln>
        </p:spPr>
      </p:cxnSp>
      <p:sp>
        <p:nvSpPr>
          <p:cNvPr id="87" name="TextBox 86"/>
          <p:cNvSpPr txBox="1"/>
          <p:nvPr/>
        </p:nvSpPr>
        <p:spPr>
          <a:xfrm>
            <a:off x="5171183" y="4443730"/>
            <a:ext cx="3070988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KE REKENING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5221983" y="4641850"/>
            <a:ext cx="2969389" cy="0"/>
          </a:xfrm>
          <a:prstGeom prst="line">
            <a:avLst/>
          </a:prstGeom>
          <a:ln w="6350">
            <a:solidFill>
              <a:srgbClr val="FFFFFF"/>
            </a:solidFill>
          </a:ln>
        </p:spPr>
      </p:cxnSp>
      <p:sp>
        <p:nvSpPr>
          <p:cNvPr id="89" name="TextBox 88"/>
          <p:cNvSpPr txBox="1"/>
          <p:nvPr/>
        </p:nvSpPr>
        <p:spPr>
          <a:xfrm>
            <a:off x="8343772" y="4443730"/>
            <a:ext cx="3070988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BELANJA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8394572" y="4641850"/>
            <a:ext cx="2969388" cy="0"/>
          </a:xfrm>
          <a:prstGeom prst="line">
            <a:avLst/>
          </a:prstGeom>
          <a:ln w="6350">
            <a:solidFill>
              <a:srgbClr val="FFFFFF"/>
            </a:solidFill>
          </a:ln>
        </p:spPr>
      </p:cxnSp>
      <p:sp>
        <p:nvSpPr>
          <p:cNvPr id="91" name="Pita kolom utama"/>
          <p:cNvSpPr/>
          <p:nvPr/>
        </p:nvSpPr>
        <p:spPr>
          <a:xfrm>
            <a:off x="675640" y="4865370"/>
            <a:ext cx="1246755" cy="107823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675640" y="594360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93" name="TextBox 92"/>
          <p:cNvSpPr txBox="1"/>
          <p:nvPr/>
        </p:nvSpPr>
        <p:spPr>
          <a:xfrm>
            <a:off x="777240" y="4865370"/>
            <a:ext cx="1170555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96" b="1" lang="id-ID">
                <a:solidFill>
                  <a:srgbClr val="1A1A1A"/>
                </a:solidFill>
                <a:latin typeface="Roboto"/>
              </a:rPr>
              <a:t>Aceh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998595" y="4865370"/>
            <a:ext cx="1531790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17.742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31984" y="4865370"/>
            <a:ext cx="1437599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266,1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171183" y="4865370"/>
            <a:ext cx="1531790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16.879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04573" y="4865370"/>
            <a:ext cx="1437599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253,2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43772" y="4865370"/>
            <a:ext cx="1531790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15.539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977161" y="4865370"/>
            <a:ext cx="1437599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201,6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675640" y="5224780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01" name="TextBox 100"/>
          <p:cNvSpPr txBox="1"/>
          <p:nvPr/>
        </p:nvSpPr>
        <p:spPr>
          <a:xfrm>
            <a:off x="777240" y="5224780"/>
            <a:ext cx="1170555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96" b="1" lang="id-ID">
                <a:solidFill>
                  <a:srgbClr val="1A1A1A"/>
                </a:solidFill>
                <a:latin typeface="Roboto"/>
              </a:rPr>
              <a:t>Sumatera Utara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998595" y="5224780"/>
            <a:ext cx="1531790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2.332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631984" y="5224780"/>
            <a:ext cx="1437599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35,0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171183" y="5224780"/>
            <a:ext cx="1531790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1.998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804573" y="5224780"/>
            <a:ext cx="1437599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29,9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343772" y="5224780"/>
            <a:ext cx="1531790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1.740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977161" y="5224780"/>
            <a:ext cx="1437599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23,1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675640" y="5584190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09" name="TextBox 108"/>
          <p:cNvSpPr txBox="1"/>
          <p:nvPr/>
        </p:nvSpPr>
        <p:spPr>
          <a:xfrm>
            <a:off x="777240" y="5584190"/>
            <a:ext cx="1170555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96" b="1" lang="id-ID">
                <a:solidFill>
                  <a:srgbClr val="1A1A1A"/>
                </a:solidFill>
                <a:latin typeface="Roboto"/>
              </a:rPr>
              <a:t>Sumatera Barat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998595" y="5584190"/>
            <a:ext cx="1531790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811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631984" y="5584190"/>
            <a:ext cx="1437599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12,2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171183" y="5584190"/>
            <a:ext cx="1531790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562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804573" y="5584190"/>
            <a:ext cx="1437599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8,4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343772" y="5584190"/>
            <a:ext cx="1531790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441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977161" y="5584190"/>
            <a:ext cx="1437599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5,5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75640" y="5994400"/>
            <a:ext cx="10840720" cy="266700"/>
          </a:xfrm>
          <a:prstGeom prst="roundRect">
            <a:avLst>
              <a:gd name="adj" fmla="val 14285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02640" y="5994400"/>
            <a:ext cx="1195955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998595" y="5994400"/>
            <a:ext cx="1531790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20.885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1984" y="5994400"/>
            <a:ext cx="1437599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313,3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171183" y="5994400"/>
            <a:ext cx="1531790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19.439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804573" y="5994400"/>
            <a:ext cx="1437599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291,6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343772" y="5994400"/>
            <a:ext cx="1531790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17.720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977161" y="5994400"/>
            <a:ext cx="1437599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230,3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Kedeputian Bidang RR BNPB, 24 Oktober 2026; realisasi dari laporan pemda, sebagian belum dilengkapi pertanggungjawaban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Realisasi belanja stimulan di Aceh 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79,5%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, tersebar di 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17 kabupaten/kota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02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43784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7766304" cy="5367020"/>
          </a:xfrm>
          <a:prstGeom prst="roundRect">
            <a:avLst>
              <a:gd name="adj" fmla="val 1017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7766304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7766304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7766304" cy="5367020"/>
          </a:xfrm>
          <a:prstGeom prst="roundRect">
            <a:avLst>
              <a:gd name="adj" fmla="val 1017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7004304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Stimulan RS dan RR per Kabupaten/Kota di Aceh</a:t>
            </a:r>
          </a:p>
        </p:txBody>
      </p:sp>
      <p:sp>
        <p:nvSpPr>
          <p:cNvPr id="23" name="Pita kepala tabel"/>
          <p:cNvSpPr/>
          <p:nvPr/>
        </p:nvSpPr>
        <p:spPr>
          <a:xfrm>
            <a:off x="675640" y="1541780"/>
            <a:ext cx="7512304" cy="421640"/>
          </a:xfrm>
          <a:prstGeom prst="roundRect">
            <a:avLst>
              <a:gd name="adj" fmla="val 9036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2830" y="1541780"/>
            <a:ext cx="1554056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KABUPATEN/KOTA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7686" y="1541780"/>
            <a:ext cx="829763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UNIT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89049" y="1752600"/>
            <a:ext cx="1061588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KE DAERAH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2237" y="1752600"/>
            <a:ext cx="116571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KE REKENING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19554" y="1752600"/>
            <a:ext cx="946344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BELANJA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7497" y="1541780"/>
            <a:ext cx="1018847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REALISASI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89049" y="1541780"/>
            <a:ext cx="337684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RP MILIAR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639849" y="1739900"/>
            <a:ext cx="3275248" cy="0"/>
          </a:xfrm>
          <a:prstGeom prst="line">
            <a:avLst/>
          </a:prstGeom>
          <a:ln w="6350">
            <a:solidFill>
              <a:srgbClr val="FFFFFF"/>
            </a:solidFill>
          </a:ln>
        </p:spPr>
      </p:cxnSp>
      <p:sp>
        <p:nvSpPr>
          <p:cNvPr id="32" name="Pita kolom utama"/>
          <p:cNvSpPr/>
          <p:nvPr/>
        </p:nvSpPr>
        <p:spPr>
          <a:xfrm>
            <a:off x="675640" y="1963420"/>
            <a:ext cx="1905846" cy="39801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675640" y="5943600"/>
            <a:ext cx="7512304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34" name="Oval 33"/>
          <p:cNvSpPr/>
          <p:nvPr/>
        </p:nvSpPr>
        <p:spPr>
          <a:xfrm>
            <a:off x="777240" y="1982470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2830" y="1963420"/>
            <a:ext cx="1554056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Barat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57686" y="1963420"/>
            <a:ext cx="829763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89049" y="1963420"/>
            <a:ext cx="1061588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2237" y="1963420"/>
            <a:ext cx="1165717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19554" y="1963420"/>
            <a:ext cx="94634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268618" y="1982470"/>
            <a:ext cx="616605" cy="171383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75640" y="2172903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2" name="Oval 41"/>
          <p:cNvSpPr/>
          <p:nvPr/>
        </p:nvSpPr>
        <p:spPr>
          <a:xfrm>
            <a:off x="777240" y="2191953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2830" y="2172903"/>
            <a:ext cx="1554056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Selatan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57686" y="2172903"/>
            <a:ext cx="829763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274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89049" y="2172903"/>
            <a:ext cx="1061588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4,7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52237" y="2172903"/>
            <a:ext cx="1165717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4,0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19554" y="2172903"/>
            <a:ext cx="94634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0,9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302136" y="2191953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22,9%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75640" y="2382386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0" name="Oval 49"/>
          <p:cNvSpPr/>
          <p:nvPr/>
        </p:nvSpPr>
        <p:spPr>
          <a:xfrm>
            <a:off x="777240" y="2401436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2830" y="2382386"/>
            <a:ext cx="1554056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Singkil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57686" y="2382386"/>
            <a:ext cx="829763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89049" y="2382386"/>
            <a:ext cx="1061588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8,5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52237" y="2382386"/>
            <a:ext cx="1165717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19554" y="2382386"/>
            <a:ext cx="94634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0,3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02136" y="2401436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33,8%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75640" y="2591869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8" name="Oval 57"/>
          <p:cNvSpPr/>
          <p:nvPr/>
        </p:nvSpPr>
        <p:spPr>
          <a:xfrm>
            <a:off x="777240" y="2610919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2830" y="2591869"/>
            <a:ext cx="1554056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Tamiang tahap 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657686" y="2591869"/>
            <a:ext cx="829763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5.141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89049" y="2591869"/>
            <a:ext cx="1061588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112,2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752237" y="2591869"/>
            <a:ext cx="1165717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109,1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19554" y="2591869"/>
            <a:ext cx="94634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87,5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302136" y="2610919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80,2%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75640" y="2801353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6" name="Oval 65"/>
          <p:cNvSpPr/>
          <p:nvPr/>
        </p:nvSpPr>
        <p:spPr>
          <a:xfrm>
            <a:off x="777240" y="2820403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2830" y="2801353"/>
            <a:ext cx="1554056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Tamiang tahap II SK 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657686" y="2801353"/>
            <a:ext cx="829763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4.058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589049" y="2801353"/>
            <a:ext cx="1061588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86,7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52237" y="2801353"/>
            <a:ext cx="1165717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86,7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19554" y="2801353"/>
            <a:ext cx="94634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65,7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302136" y="2820403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75,8%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75640" y="3010836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4" name="Oval 73"/>
          <p:cNvSpPr/>
          <p:nvPr/>
        </p:nvSpPr>
        <p:spPr>
          <a:xfrm>
            <a:off x="777240" y="3029886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52830" y="3010836"/>
            <a:ext cx="1554056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Tamiang tahap II SK 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657686" y="3010836"/>
            <a:ext cx="829763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4.400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589049" y="3010836"/>
            <a:ext cx="1061588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93,8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752237" y="3010836"/>
            <a:ext cx="1165717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93,8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19554" y="3010836"/>
            <a:ext cx="94634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69,5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302136" y="3029886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74,2%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675640" y="3220319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2" name="Oval 81"/>
          <p:cNvSpPr/>
          <p:nvPr/>
        </p:nvSpPr>
        <p:spPr>
          <a:xfrm>
            <a:off x="777240" y="3239369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52830" y="3220319"/>
            <a:ext cx="1554056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Tengah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657686" y="3220319"/>
            <a:ext cx="829763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1.680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589049" y="3220319"/>
            <a:ext cx="1061588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32,2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752237" y="3220319"/>
            <a:ext cx="1165717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25,6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19554" y="3220319"/>
            <a:ext cx="94634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19,2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302136" y="3239369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75,2%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75640" y="3429802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0" name="Oval 89"/>
          <p:cNvSpPr/>
          <p:nvPr/>
        </p:nvSpPr>
        <p:spPr>
          <a:xfrm>
            <a:off x="777240" y="3448852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52830" y="3429802"/>
            <a:ext cx="1554056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Tenggara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657686" y="3429802"/>
            <a:ext cx="829763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65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589049" y="3429802"/>
            <a:ext cx="1061588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752237" y="3429802"/>
            <a:ext cx="1165717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019554" y="3429802"/>
            <a:ext cx="94634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0,9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302136" y="3448852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60,0%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675640" y="3639285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8" name="Oval 97"/>
          <p:cNvSpPr/>
          <p:nvPr/>
        </p:nvSpPr>
        <p:spPr>
          <a:xfrm>
            <a:off x="777240" y="3658335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52830" y="3639285"/>
            <a:ext cx="1554056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Timur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657686" y="3639285"/>
            <a:ext cx="829763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5.318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589049" y="3639285"/>
            <a:ext cx="1061588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118,9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752237" y="3639285"/>
            <a:ext cx="1165717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114,4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019554" y="3639285"/>
            <a:ext cx="94634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111,8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7302136" y="3658335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97,8%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675640" y="3848768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06" name="Oval 105"/>
          <p:cNvSpPr/>
          <p:nvPr/>
        </p:nvSpPr>
        <p:spPr>
          <a:xfrm>
            <a:off x="777240" y="3867818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52830" y="3848768"/>
            <a:ext cx="1554056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Utara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657686" y="3848768"/>
            <a:ext cx="829763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471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589049" y="3848768"/>
            <a:ext cx="1061588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9,1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752237" y="3848768"/>
            <a:ext cx="1165717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9,1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019554" y="3848768"/>
            <a:ext cx="94634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7,0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7302136" y="3867818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77,5%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675640" y="4058252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14" name="Oval 113"/>
          <p:cNvSpPr/>
          <p:nvPr/>
        </p:nvSpPr>
        <p:spPr>
          <a:xfrm>
            <a:off x="777240" y="4077302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52830" y="4058252"/>
            <a:ext cx="1554056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Bener Meriah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657686" y="4058252"/>
            <a:ext cx="829763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194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589049" y="4058252"/>
            <a:ext cx="1061588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4,1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752237" y="4058252"/>
            <a:ext cx="1165717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3,9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019554" y="4058252"/>
            <a:ext cx="94634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3,3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7302136" y="4077302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85,2%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675640" y="4267735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22" name="Oval 121"/>
          <p:cNvSpPr/>
          <p:nvPr/>
        </p:nvSpPr>
        <p:spPr>
          <a:xfrm>
            <a:off x="777240" y="4286785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12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52830" y="4267735"/>
            <a:ext cx="1554056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Bireuen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657686" y="4267735"/>
            <a:ext cx="829763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4.347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9049" y="4267735"/>
            <a:ext cx="1061588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86,1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752237" y="4267735"/>
            <a:ext cx="1165717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86,1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019554" y="4267735"/>
            <a:ext cx="94634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79,3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7302136" y="4286785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92,2%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675640" y="4477218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30" name="Oval 129"/>
          <p:cNvSpPr/>
          <p:nvPr/>
        </p:nvSpPr>
        <p:spPr>
          <a:xfrm>
            <a:off x="777240" y="4496268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52830" y="4477218"/>
            <a:ext cx="1554056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Gayo Lues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657686" y="4477218"/>
            <a:ext cx="829763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589049" y="4477218"/>
            <a:ext cx="1061588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752237" y="4477218"/>
            <a:ext cx="1165717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019554" y="4477218"/>
            <a:ext cx="94634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0,1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7268618" y="4496268"/>
            <a:ext cx="616605" cy="171383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137" name="Connector 136"/>
          <p:cNvCxnSpPr/>
          <p:nvPr/>
        </p:nvCxnSpPr>
        <p:spPr>
          <a:xfrm>
            <a:off x="675640" y="4686701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38" name="Oval 137"/>
          <p:cNvSpPr/>
          <p:nvPr/>
        </p:nvSpPr>
        <p:spPr>
          <a:xfrm>
            <a:off x="777240" y="4705751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52830" y="4686701"/>
            <a:ext cx="1554056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Kota Langsa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657686" y="4686701"/>
            <a:ext cx="829763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1.326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589049" y="4686701"/>
            <a:ext cx="1061588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28,1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752237" y="4686701"/>
            <a:ext cx="1165717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24,9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019554" y="4686701"/>
            <a:ext cx="94634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9,2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7302136" y="4705751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36,8%</a:t>
            </a:r>
          </a:p>
        </p:txBody>
      </p:sp>
      <p:cxnSp>
        <p:nvCxnSpPr>
          <p:cNvPr id="145" name="Connector 144"/>
          <p:cNvCxnSpPr/>
          <p:nvPr/>
        </p:nvCxnSpPr>
        <p:spPr>
          <a:xfrm>
            <a:off x="675640" y="4896184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46" name="Oval 145"/>
          <p:cNvSpPr/>
          <p:nvPr/>
        </p:nvSpPr>
        <p:spPr>
          <a:xfrm>
            <a:off x="777240" y="4915234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52830" y="4896184"/>
            <a:ext cx="1554056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Kota Lhokseumawe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657686" y="4896184"/>
            <a:ext cx="829763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1.201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589049" y="4896184"/>
            <a:ext cx="1061588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35,7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752237" y="4896184"/>
            <a:ext cx="1165717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32,1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019554" y="4896184"/>
            <a:ext cx="94634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16,2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7302136" y="4915234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50,4%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675640" y="5105667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54" name="Oval 153"/>
          <p:cNvSpPr/>
          <p:nvPr/>
        </p:nvSpPr>
        <p:spPr>
          <a:xfrm>
            <a:off x="777240" y="5124717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52830" y="5105667"/>
            <a:ext cx="1554056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Kota Subulussalam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657686" y="5105667"/>
            <a:ext cx="829763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1.112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589049" y="5105667"/>
            <a:ext cx="1061588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17,8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752237" y="5105667"/>
            <a:ext cx="1165717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17,5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6019554" y="5105667"/>
            <a:ext cx="94634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11,0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7302136" y="5124717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62,8%</a:t>
            </a:r>
          </a:p>
        </p:txBody>
      </p:sp>
      <p:cxnSp>
        <p:nvCxnSpPr>
          <p:cNvPr id="161" name="Connector 160"/>
          <p:cNvCxnSpPr/>
          <p:nvPr/>
        </p:nvCxnSpPr>
        <p:spPr>
          <a:xfrm>
            <a:off x="675640" y="5315151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62" name="Oval 161"/>
          <p:cNvSpPr/>
          <p:nvPr/>
        </p:nvSpPr>
        <p:spPr>
          <a:xfrm>
            <a:off x="777240" y="5334201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52830" y="5315151"/>
            <a:ext cx="1554056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Nagan Raya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657686" y="5315151"/>
            <a:ext cx="829763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169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589049" y="5315151"/>
            <a:ext cx="1061588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3,7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752237" y="5315151"/>
            <a:ext cx="1165717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2,7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019554" y="5315151"/>
            <a:ext cx="94634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2,5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7302136" y="5334201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93,1%</a:t>
            </a:r>
          </a:p>
        </p:txBody>
      </p:sp>
      <p:cxnSp>
        <p:nvCxnSpPr>
          <p:cNvPr id="169" name="Connector 168"/>
          <p:cNvCxnSpPr/>
          <p:nvPr/>
        </p:nvCxnSpPr>
        <p:spPr>
          <a:xfrm>
            <a:off x="675640" y="5524634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70" name="Oval 169"/>
          <p:cNvSpPr/>
          <p:nvPr/>
        </p:nvSpPr>
        <p:spPr>
          <a:xfrm>
            <a:off x="777240" y="5543684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18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052830" y="5524634"/>
            <a:ext cx="1554056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Pidie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657686" y="5524634"/>
            <a:ext cx="829763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18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589049" y="5524634"/>
            <a:ext cx="1061588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0,5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752237" y="5524634"/>
            <a:ext cx="1165717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6019554" y="5524634"/>
            <a:ext cx="94634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0,4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7302136" y="5543684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90,3%</a:t>
            </a:r>
          </a:p>
        </p:txBody>
      </p:sp>
      <p:cxnSp>
        <p:nvCxnSpPr>
          <p:cNvPr id="177" name="Connector 176"/>
          <p:cNvCxnSpPr/>
          <p:nvPr/>
        </p:nvCxnSpPr>
        <p:spPr>
          <a:xfrm>
            <a:off x="675640" y="5734117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78" name="Oval 177"/>
          <p:cNvSpPr/>
          <p:nvPr/>
        </p:nvSpPr>
        <p:spPr>
          <a:xfrm>
            <a:off x="777240" y="5753167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19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052830" y="5734117"/>
            <a:ext cx="1554056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Pidie Jaya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657686" y="5734117"/>
            <a:ext cx="829763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282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589049" y="5734117"/>
            <a:ext cx="1061588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8,5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752237" y="5734117"/>
            <a:ext cx="1165717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8,0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6019554" y="5734117"/>
            <a:ext cx="94634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8,0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7268618" y="5753167"/>
            <a:ext cx="616605" cy="171383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675640" y="5994400"/>
            <a:ext cx="7512304" cy="266700"/>
          </a:xfrm>
          <a:prstGeom prst="roundRect">
            <a:avLst>
              <a:gd name="adj" fmla="val 14285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1052830" y="5994400"/>
            <a:ext cx="1604856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2657686" y="5994400"/>
            <a:ext cx="829763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30.661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3589049" y="5994400"/>
            <a:ext cx="1061588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653,7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752237" y="5994400"/>
            <a:ext cx="1165717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621,8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019554" y="5994400"/>
            <a:ext cx="946344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494,3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8452104" y="982980"/>
            <a:ext cx="3191256" cy="5367020"/>
          </a:xfrm>
          <a:prstGeom prst="roundRect">
            <a:avLst>
              <a:gd name="adj" fmla="val 1711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2" name="Rounded Rectangle 191"/>
          <p:cNvSpPr/>
          <p:nvPr/>
        </p:nvSpPr>
        <p:spPr>
          <a:xfrm>
            <a:off x="8452104" y="982980"/>
            <a:ext cx="3191256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8452104" y="1211580"/>
            <a:ext cx="3191256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Rounded Rectangle 193"/>
          <p:cNvSpPr/>
          <p:nvPr/>
        </p:nvSpPr>
        <p:spPr>
          <a:xfrm>
            <a:off x="8452104" y="982980"/>
            <a:ext cx="3191256" cy="5367020"/>
          </a:xfrm>
          <a:prstGeom prst="roundRect">
            <a:avLst>
              <a:gd name="adj" fmla="val 1711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8579104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6" name="Picture 195" descr="kalender-FFFFFF-a840cf9e-t2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1682" y="1118108"/>
            <a:ext cx="186944" cy="186944"/>
          </a:xfrm>
          <a:prstGeom prst="rect">
            <a:avLst/>
          </a:prstGeom>
        </p:spPr>
      </p:pic>
      <p:sp>
        <p:nvSpPr>
          <p:cNvPr id="197" name="TextBox 196"/>
          <p:cNvSpPr txBox="1"/>
          <p:nvPr/>
        </p:nvSpPr>
        <p:spPr>
          <a:xfrm>
            <a:off x="8960104" y="982980"/>
            <a:ext cx="2556256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Usulan Tahap Berikutnya</a:t>
            </a:r>
          </a:p>
        </p:txBody>
      </p:sp>
      <p:sp>
        <p:nvSpPr>
          <p:cNvPr id="198" name="Oval 197"/>
          <p:cNvSpPr/>
          <p:nvPr/>
        </p:nvSpPr>
        <p:spPr>
          <a:xfrm>
            <a:off x="8579104" y="1884807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9" name="Picture 198" descr="regulasi-FFFFFF-e639fe9a-t2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8540" y="1944243"/>
            <a:ext cx="211328" cy="211328"/>
          </a:xfrm>
          <a:prstGeom prst="rect">
            <a:avLst/>
          </a:prstGeom>
        </p:spPr>
      </p:pic>
      <p:sp>
        <p:nvSpPr>
          <p:cNvPr id="200" name="TextBox 199"/>
          <p:cNvSpPr txBox="1"/>
          <p:nvPr/>
        </p:nvSpPr>
        <p:spPr>
          <a:xfrm>
            <a:off x="9023604" y="1599057"/>
            <a:ext cx="2391156" cy="901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Tahap II, sudah reviu APIP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Empat kab/kota: Aceh Singkil, Aceh Tamiang, Aceh Utara, Pidie Jaya.</a:t>
            </a:r>
          </a:p>
        </p:txBody>
      </p:sp>
      <p:sp>
        <p:nvSpPr>
          <p:cNvPr id="201" name="Oval 200"/>
          <p:cNvSpPr/>
          <p:nvPr/>
        </p:nvSpPr>
        <p:spPr>
          <a:xfrm>
            <a:off x="8579104" y="2901061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2" name="Picture 201" descr="kalender-FFFFFF-a840cf9e-t2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8540" y="2960497"/>
            <a:ext cx="211328" cy="211328"/>
          </a:xfrm>
          <a:prstGeom prst="rect">
            <a:avLst/>
          </a:prstGeom>
        </p:spPr>
      </p:pic>
      <p:sp>
        <p:nvSpPr>
          <p:cNvPr id="203" name="TextBox 202"/>
          <p:cNvSpPr txBox="1"/>
          <p:nvPr/>
        </p:nvSpPr>
        <p:spPr>
          <a:xfrm>
            <a:off x="9023604" y="2615311"/>
            <a:ext cx="2391156" cy="901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Tahap II, berproses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Sepuluh kab/kota, antara lain Aceh Selatan, Aceh Timur, Bireuen, Pidie.</a:t>
            </a:r>
          </a:p>
        </p:txBody>
      </p:sp>
      <p:sp>
        <p:nvSpPr>
          <p:cNvPr id="204" name="Oval 203"/>
          <p:cNvSpPr/>
          <p:nvPr/>
        </p:nvSpPr>
        <p:spPr>
          <a:xfrm>
            <a:off x="8579104" y="3807778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5" name="Picture 204" descr="regulasi-FFFFFF-e639fe9a-t2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8540" y="3867214"/>
            <a:ext cx="211328" cy="211328"/>
          </a:xfrm>
          <a:prstGeom prst="rect">
            <a:avLst/>
          </a:prstGeom>
        </p:spPr>
      </p:pic>
      <p:sp>
        <p:nvSpPr>
          <p:cNvPr id="206" name="TextBox 205"/>
          <p:cNvSpPr txBox="1"/>
          <p:nvPr/>
        </p:nvSpPr>
        <p:spPr>
          <a:xfrm>
            <a:off x="9023604" y="3631565"/>
            <a:ext cx="2391156" cy="6826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Tahap III, sudah reviu APIP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Pidie Jaya, sebagai satu-satunya kab/kota.</a:t>
            </a:r>
          </a:p>
        </p:txBody>
      </p:sp>
      <p:sp>
        <p:nvSpPr>
          <p:cNvPr id="207" name="Oval 206"/>
          <p:cNvSpPr/>
          <p:nvPr/>
        </p:nvSpPr>
        <p:spPr>
          <a:xfrm>
            <a:off x="8579104" y="4604956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8" name="Picture 207" descr="kalender-FFFFFF-a840cf9e-t2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8540" y="4664392"/>
            <a:ext cx="211328" cy="211328"/>
          </a:xfrm>
          <a:prstGeom prst="rect">
            <a:avLst/>
          </a:prstGeom>
        </p:spPr>
      </p:pic>
      <p:sp>
        <p:nvSpPr>
          <p:cNvPr id="209" name="TextBox 208"/>
          <p:cNvSpPr txBox="1"/>
          <p:nvPr/>
        </p:nvSpPr>
        <p:spPr>
          <a:xfrm>
            <a:off x="9023604" y="4428744"/>
            <a:ext cx="2391156" cy="6826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Tahap III, berproses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Aceh Tamiang (SK 5), Aceh Tengah, Bireuen.</a:t>
            </a:r>
          </a:p>
        </p:txBody>
      </p:sp>
      <p:sp>
        <p:nvSpPr>
          <p:cNvPr id="210" name="Oval 209"/>
          <p:cNvSpPr/>
          <p:nvPr/>
        </p:nvSpPr>
        <p:spPr>
          <a:xfrm>
            <a:off x="8579104" y="5511673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1" name="Picture 210" descr="regulasi-FFFFFF-e639fe9a-t2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8540" y="5571109"/>
            <a:ext cx="211328" cy="211328"/>
          </a:xfrm>
          <a:prstGeom prst="rect">
            <a:avLst/>
          </a:prstGeom>
        </p:spPr>
      </p:pic>
      <p:sp>
        <p:nvSpPr>
          <p:cNvPr id="212" name="TextBox 211"/>
          <p:cNvSpPr txBox="1"/>
          <p:nvPr/>
        </p:nvSpPr>
        <p:spPr>
          <a:xfrm>
            <a:off x="9023604" y="5225923"/>
            <a:ext cx="2391156" cy="901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SK tahap II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Aceh Tamiang SK 2–4, Aceh Timur SK 2 dan 3, Aceh Utara SK 2–5.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Kedeputian Bidang RR BNPB, 24 Oktober 2026; realisasi dari laporan pemda, sebagian belum dilengkapi pertanggungjawaban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Realisasi belanja stimulan di Sumatera Utara 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76,1%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, tersebar di 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14 kabupaten/kota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02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43784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7766304" cy="5367020"/>
          </a:xfrm>
          <a:prstGeom prst="roundRect">
            <a:avLst>
              <a:gd name="adj" fmla="val 1017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7766304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7766304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7766304" cy="5367020"/>
          </a:xfrm>
          <a:prstGeom prst="roundRect">
            <a:avLst>
              <a:gd name="adj" fmla="val 1017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7004304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Stimulan RS dan RR per Kabupaten/Kota di Sumatera Utara</a:t>
            </a:r>
          </a:p>
        </p:txBody>
      </p:sp>
      <p:sp>
        <p:nvSpPr>
          <p:cNvPr id="23" name="Pita kepala tabel"/>
          <p:cNvSpPr/>
          <p:nvPr/>
        </p:nvSpPr>
        <p:spPr>
          <a:xfrm>
            <a:off x="675640" y="1541780"/>
            <a:ext cx="7512304" cy="421640"/>
          </a:xfrm>
          <a:prstGeom prst="roundRect">
            <a:avLst>
              <a:gd name="adj" fmla="val 9036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2830" y="1541780"/>
            <a:ext cx="1275192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KABUPATEN/KOTA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8822" y="1541780"/>
            <a:ext cx="831908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UNIT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12330" y="1752600"/>
            <a:ext cx="1130768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KE DAERAH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44698" y="1752600"/>
            <a:ext cx="123489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KE REKENING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81194" y="1752600"/>
            <a:ext cx="1015523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BELANJA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8318" y="1541780"/>
            <a:ext cx="1088026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REALISASI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12330" y="1541780"/>
            <a:ext cx="3584388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RP MILIAR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363130" y="1739900"/>
            <a:ext cx="3482788" cy="0"/>
          </a:xfrm>
          <a:prstGeom prst="line">
            <a:avLst/>
          </a:prstGeom>
          <a:ln w="6350">
            <a:solidFill>
              <a:srgbClr val="FFFFFF"/>
            </a:solidFill>
          </a:ln>
        </p:spPr>
      </p:cxnSp>
      <p:sp>
        <p:nvSpPr>
          <p:cNvPr id="32" name="Pita kolom utama"/>
          <p:cNvSpPr/>
          <p:nvPr/>
        </p:nvSpPr>
        <p:spPr>
          <a:xfrm>
            <a:off x="675640" y="1963420"/>
            <a:ext cx="1626982" cy="39801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675640" y="5943600"/>
            <a:ext cx="7512304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34" name="Oval 33"/>
          <p:cNvSpPr/>
          <p:nvPr/>
        </p:nvSpPr>
        <p:spPr>
          <a:xfrm>
            <a:off x="777240" y="2018574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2830" y="1963420"/>
            <a:ext cx="127519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Batu Bara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8822" y="1963420"/>
            <a:ext cx="831908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12330" y="1963420"/>
            <a:ext cx="1130768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44698" y="1963420"/>
            <a:ext cx="123489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81194" y="1963420"/>
            <a:ext cx="1015523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1,9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234028" y="2000413"/>
            <a:ext cx="616605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75640" y="2247719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2" name="Oval 41"/>
          <p:cNvSpPr/>
          <p:nvPr/>
        </p:nvSpPr>
        <p:spPr>
          <a:xfrm>
            <a:off x="777240" y="2302873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2830" y="2247719"/>
            <a:ext cx="127519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Deli Serdang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78822" y="2247719"/>
            <a:ext cx="831908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12330" y="2247719"/>
            <a:ext cx="1130768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44698" y="2247719"/>
            <a:ext cx="123489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81194" y="2247719"/>
            <a:ext cx="1015523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0,8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67546" y="2284712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99,1%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75640" y="2532017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0" name="Oval 49"/>
          <p:cNvSpPr/>
          <p:nvPr/>
        </p:nvSpPr>
        <p:spPr>
          <a:xfrm>
            <a:off x="777240" y="2587171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2830" y="2532017"/>
            <a:ext cx="127519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Humbang Hasundutan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78822" y="2532017"/>
            <a:ext cx="831908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12330" y="2532017"/>
            <a:ext cx="1130768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44698" y="2532017"/>
            <a:ext cx="123489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81194" y="2532017"/>
            <a:ext cx="1015523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0,4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234028" y="2569010"/>
            <a:ext cx="616605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75640" y="2816316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8" name="Oval 57"/>
          <p:cNvSpPr/>
          <p:nvPr/>
        </p:nvSpPr>
        <p:spPr>
          <a:xfrm>
            <a:off x="777240" y="2871470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2830" y="2816316"/>
            <a:ext cx="127519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Kota Binjai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78822" y="2816316"/>
            <a:ext cx="831908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312330" y="2816316"/>
            <a:ext cx="1130768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44698" y="2816316"/>
            <a:ext cx="123489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81194" y="2816316"/>
            <a:ext cx="1015523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0,4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234028" y="2853309"/>
            <a:ext cx="616605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75640" y="3100614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6" name="Oval 65"/>
          <p:cNvSpPr/>
          <p:nvPr/>
        </p:nvSpPr>
        <p:spPr>
          <a:xfrm>
            <a:off x="777240" y="3155769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2830" y="3100614"/>
            <a:ext cx="127519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Kota Medan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8822" y="3100614"/>
            <a:ext cx="831908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312330" y="3100614"/>
            <a:ext cx="1130768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44698" y="3100614"/>
            <a:ext cx="123489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81194" y="3100614"/>
            <a:ext cx="1015523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0,1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267546" y="3137608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21,9%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75640" y="3384913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4" name="Oval 73"/>
          <p:cNvSpPr/>
          <p:nvPr/>
        </p:nvSpPr>
        <p:spPr>
          <a:xfrm>
            <a:off x="777240" y="3440067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52830" y="3384913"/>
            <a:ext cx="127519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Langkat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378822" y="3384913"/>
            <a:ext cx="831908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936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312330" y="3384913"/>
            <a:ext cx="1130768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20,0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44698" y="3384913"/>
            <a:ext cx="123489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19,9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881194" y="3384913"/>
            <a:ext cx="1015523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14,7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267546" y="3421906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74,1%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675640" y="3669211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2" name="Oval 81"/>
          <p:cNvSpPr/>
          <p:nvPr/>
        </p:nvSpPr>
        <p:spPr>
          <a:xfrm>
            <a:off x="777240" y="3724366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52830" y="3669211"/>
            <a:ext cx="127519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Mandailing Natal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378822" y="3669211"/>
            <a:ext cx="831908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176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312330" y="3669211"/>
            <a:ext cx="1130768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3,3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44698" y="3669211"/>
            <a:ext cx="123489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881194" y="3669211"/>
            <a:ext cx="1015523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0,5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267546" y="3706205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20,1%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75640" y="3953510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0" name="Oval 89"/>
          <p:cNvSpPr/>
          <p:nvPr/>
        </p:nvSpPr>
        <p:spPr>
          <a:xfrm>
            <a:off x="777240" y="4008664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52830" y="3953510"/>
            <a:ext cx="127519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Nias Selatan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378822" y="3953510"/>
            <a:ext cx="831908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12330" y="3953510"/>
            <a:ext cx="1130768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544698" y="3953510"/>
            <a:ext cx="123489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881194" y="3953510"/>
            <a:ext cx="1015523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1,0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267546" y="3990503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94,5%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675640" y="4237809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8" name="Oval 97"/>
          <p:cNvSpPr/>
          <p:nvPr/>
        </p:nvSpPr>
        <p:spPr>
          <a:xfrm>
            <a:off x="777240" y="4292963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52830" y="4237809"/>
            <a:ext cx="127519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Nias Barat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378822" y="4237809"/>
            <a:ext cx="831908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312330" y="4237809"/>
            <a:ext cx="1130768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544698" y="4237809"/>
            <a:ext cx="123489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881194" y="4237809"/>
            <a:ext cx="1015523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0,2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7267546" y="4274802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19,6%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675640" y="4522107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06" name="Oval 105"/>
          <p:cNvSpPr/>
          <p:nvPr/>
        </p:nvSpPr>
        <p:spPr>
          <a:xfrm>
            <a:off x="777240" y="4577261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52830" y="4522107"/>
            <a:ext cx="127519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Pakpak Bharat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378822" y="4522107"/>
            <a:ext cx="831908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312330" y="4522107"/>
            <a:ext cx="1130768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544698" y="4522107"/>
            <a:ext cx="123489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881194" y="4522107"/>
            <a:ext cx="1015523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0,1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7234028" y="4559100"/>
            <a:ext cx="616605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675640" y="4806406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14" name="Oval 113"/>
          <p:cNvSpPr/>
          <p:nvPr/>
        </p:nvSpPr>
        <p:spPr>
          <a:xfrm>
            <a:off x="777240" y="4861560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52830" y="4806406"/>
            <a:ext cx="127519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Serdang Bedagai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378822" y="4806406"/>
            <a:ext cx="831908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312330" y="4806406"/>
            <a:ext cx="1130768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544698" y="4806406"/>
            <a:ext cx="123489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881194" y="4806406"/>
            <a:ext cx="1015523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0,3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7234028" y="4843399"/>
            <a:ext cx="616605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675640" y="5090704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22" name="Oval 121"/>
          <p:cNvSpPr/>
          <p:nvPr/>
        </p:nvSpPr>
        <p:spPr>
          <a:xfrm>
            <a:off x="777240" y="5145859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12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52830" y="5090704"/>
            <a:ext cx="127519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Tapanuli Selatan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378822" y="5090704"/>
            <a:ext cx="831908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249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312330" y="5090704"/>
            <a:ext cx="1130768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5,5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544698" y="5090704"/>
            <a:ext cx="123489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5,3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881194" y="5090704"/>
            <a:ext cx="1015523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5,3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7234028" y="5127698"/>
            <a:ext cx="616605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675640" y="5375003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30" name="Oval 129"/>
          <p:cNvSpPr/>
          <p:nvPr/>
        </p:nvSpPr>
        <p:spPr>
          <a:xfrm>
            <a:off x="777240" y="5430157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52830" y="5375003"/>
            <a:ext cx="127519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Tapanuli Tengah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378822" y="5375003"/>
            <a:ext cx="831908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1.591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312330" y="5375003"/>
            <a:ext cx="1130768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31,3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544698" y="5375003"/>
            <a:ext cx="123489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25,8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881194" y="5375003"/>
            <a:ext cx="1015523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19,7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7267546" y="5411996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76,4%</a:t>
            </a:r>
          </a:p>
        </p:txBody>
      </p:sp>
      <p:cxnSp>
        <p:nvCxnSpPr>
          <p:cNvPr id="137" name="Connector 136"/>
          <p:cNvCxnSpPr/>
          <p:nvPr/>
        </p:nvCxnSpPr>
        <p:spPr>
          <a:xfrm>
            <a:off x="675640" y="5659301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38" name="Oval 137"/>
          <p:cNvSpPr/>
          <p:nvPr/>
        </p:nvSpPr>
        <p:spPr>
          <a:xfrm>
            <a:off x="777240" y="5714456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52830" y="5659301"/>
            <a:ext cx="127519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Tapanuli Utara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378822" y="5659301"/>
            <a:ext cx="831908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312330" y="5659301"/>
            <a:ext cx="1130768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544698" y="5659301"/>
            <a:ext cx="123489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881194" y="5659301"/>
            <a:ext cx="1015523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1,6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7267546" y="5696295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86,3%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75640" y="5994400"/>
            <a:ext cx="7512304" cy="266700"/>
          </a:xfrm>
          <a:prstGeom prst="roundRect">
            <a:avLst>
              <a:gd name="adj" fmla="val 14285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52830" y="5994400"/>
            <a:ext cx="132599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378822" y="5994400"/>
            <a:ext cx="831908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3.560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312330" y="5994400"/>
            <a:ext cx="1130768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71,8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544698" y="5994400"/>
            <a:ext cx="1234897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61,9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881194" y="5994400"/>
            <a:ext cx="1015523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47,1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8452104" y="982980"/>
            <a:ext cx="3191256" cy="5367020"/>
          </a:xfrm>
          <a:prstGeom prst="roundRect">
            <a:avLst>
              <a:gd name="adj" fmla="val 1711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8452104" y="982980"/>
            <a:ext cx="3191256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8452104" y="1211580"/>
            <a:ext cx="3191256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8452104" y="982980"/>
            <a:ext cx="3191256" cy="5367020"/>
          </a:xfrm>
          <a:prstGeom prst="roundRect">
            <a:avLst>
              <a:gd name="adj" fmla="val 1711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8579104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6" name="Picture 155" descr="kalender-FFFFFF-a840cf9e-t2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1682" y="1118108"/>
            <a:ext cx="186944" cy="186944"/>
          </a:xfrm>
          <a:prstGeom prst="rect">
            <a:avLst/>
          </a:prstGeom>
        </p:spPr>
      </p:pic>
      <p:sp>
        <p:nvSpPr>
          <p:cNvPr id="157" name="TextBox 156"/>
          <p:cNvSpPr txBox="1"/>
          <p:nvPr/>
        </p:nvSpPr>
        <p:spPr>
          <a:xfrm>
            <a:off x="8960104" y="982980"/>
            <a:ext cx="2556256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Usulan Tahap Berikutnya</a:t>
            </a:r>
          </a:p>
        </p:txBody>
      </p:sp>
      <p:sp>
        <p:nvSpPr>
          <p:cNvPr id="158" name="Oval 157"/>
          <p:cNvSpPr/>
          <p:nvPr/>
        </p:nvSpPr>
        <p:spPr>
          <a:xfrm>
            <a:off x="8579104" y="1941766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9" name="Picture 158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8540" y="2001202"/>
            <a:ext cx="211328" cy="211328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9023604" y="1590294"/>
            <a:ext cx="2391156" cy="103314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587" b="1" lang="id-ID">
                <a:solidFill>
                  <a:srgbClr val="1A1A1A"/>
                </a:solidFill>
                <a:latin typeface="Roboto"/>
              </a:rPr>
              <a:t>Tahap I</a:t>
            </a:r>
          </a:p>
          <a:p>
            <a:pPr algn="just"/>
            <a:r>
              <a:rPr sz="1587" b="1" lang="id-ID">
                <a:solidFill>
                  <a:srgbClr val="1A1A1A"/>
                </a:solidFill>
                <a:latin typeface="Roboto"/>
              </a:rPr>
              <a:t>14 kabupaten/kota</a:t>
            </a:r>
            <a:r>
              <a:rPr sz="1587" b="0" lang="id-ID">
                <a:solidFill>
                  <a:srgbClr val="1A1A1A"/>
                </a:solidFill>
                <a:latin typeface="Roboto"/>
              </a:rPr>
              <a:t> penerima, realisasi belanja </a:t>
            </a:r>
            <a:r>
              <a:rPr sz="1587" b="1" lang="id-ID">
                <a:solidFill>
                  <a:srgbClr val="1A1A1A"/>
                </a:solidFill>
                <a:latin typeface="Roboto"/>
              </a:rPr>
              <a:t>76,1%</a:t>
            </a:r>
            <a:r>
              <a:rPr sz="1587" b="0" lang="id-ID">
                <a:solidFill>
                  <a:srgbClr val="1A1A1A"/>
                </a:solidFill>
                <a:latin typeface="Roboto"/>
              </a:rPr>
              <a:t>.</a:t>
            </a:r>
          </a:p>
        </p:txBody>
      </p:sp>
      <p:sp>
        <p:nvSpPr>
          <p:cNvPr id="161" name="Oval 160"/>
          <p:cNvSpPr/>
          <p:nvPr/>
        </p:nvSpPr>
        <p:spPr>
          <a:xfrm>
            <a:off x="8579104" y="2945971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2" name="Picture 161" descr="regulasi-FFFFFF-e639fe9a-t2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8540" y="3005407"/>
            <a:ext cx="211328" cy="211328"/>
          </a:xfrm>
          <a:prstGeom prst="rect">
            <a:avLst/>
          </a:prstGeom>
        </p:spPr>
      </p:pic>
      <p:sp>
        <p:nvSpPr>
          <p:cNvPr id="163" name="TextBox 162"/>
          <p:cNvSpPr txBox="1"/>
          <p:nvPr/>
        </p:nvSpPr>
        <p:spPr>
          <a:xfrm>
            <a:off x="9023604" y="2720467"/>
            <a:ext cx="2391156" cy="78120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587" b="1" lang="id-ID">
                <a:solidFill>
                  <a:srgbClr val="1A1A1A"/>
                </a:solidFill>
                <a:latin typeface="Roboto"/>
              </a:rPr>
              <a:t>Tahap II, sudah reviu APIP</a:t>
            </a:r>
          </a:p>
          <a:p>
            <a:pPr algn="just"/>
            <a:r>
              <a:rPr sz="1587" b="0" lang="id-ID">
                <a:solidFill>
                  <a:srgbClr val="1A1A1A"/>
                </a:solidFill>
                <a:latin typeface="Roboto"/>
              </a:rPr>
              <a:t>Tapanuli Tengah.</a:t>
            </a:r>
          </a:p>
        </p:txBody>
      </p:sp>
      <p:sp>
        <p:nvSpPr>
          <p:cNvPr id="164" name="Oval 163"/>
          <p:cNvSpPr/>
          <p:nvPr/>
        </p:nvSpPr>
        <p:spPr>
          <a:xfrm>
            <a:off x="8579104" y="3950176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5" name="Picture 164" descr="kalender-FFFFFF-a840cf9e-t2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8540" y="4009612"/>
            <a:ext cx="211328" cy="211328"/>
          </a:xfrm>
          <a:prstGeom prst="rect">
            <a:avLst/>
          </a:prstGeom>
        </p:spPr>
      </p:pic>
      <p:sp>
        <p:nvSpPr>
          <p:cNvPr id="166" name="TextBox 165"/>
          <p:cNvSpPr txBox="1"/>
          <p:nvPr/>
        </p:nvSpPr>
        <p:spPr>
          <a:xfrm>
            <a:off x="9023604" y="3598704"/>
            <a:ext cx="2391156" cy="103314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587" b="1" lang="id-ID">
                <a:solidFill>
                  <a:srgbClr val="1A1A1A"/>
                </a:solidFill>
                <a:latin typeface="Roboto"/>
              </a:rPr>
              <a:t>Tahap II, berproses</a:t>
            </a:r>
          </a:p>
          <a:p>
            <a:pPr algn="just"/>
            <a:r>
              <a:rPr sz="1587" b="0" lang="id-ID">
                <a:solidFill>
                  <a:srgbClr val="1A1A1A"/>
                </a:solidFill>
                <a:latin typeface="Roboto"/>
              </a:rPr>
              <a:t>Tiga kab/kota: Humbang Hasundutan, Tapanuli Selatan, Tapanuli Utara.</a:t>
            </a:r>
          </a:p>
        </p:txBody>
      </p:sp>
      <p:sp>
        <p:nvSpPr>
          <p:cNvPr id="167" name="Oval 166"/>
          <p:cNvSpPr/>
          <p:nvPr/>
        </p:nvSpPr>
        <p:spPr>
          <a:xfrm>
            <a:off x="8579104" y="4954381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8" name="Picture 167" descr="regulasi-FFFFFF-e639fe9a-t2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8540" y="5013817"/>
            <a:ext cx="211328" cy="211328"/>
          </a:xfrm>
          <a:prstGeom prst="rect">
            <a:avLst/>
          </a:prstGeom>
        </p:spPr>
      </p:pic>
      <p:sp>
        <p:nvSpPr>
          <p:cNvPr id="169" name="TextBox 168"/>
          <p:cNvSpPr txBox="1"/>
          <p:nvPr/>
        </p:nvSpPr>
        <p:spPr>
          <a:xfrm>
            <a:off x="9023604" y="4728877"/>
            <a:ext cx="2391156" cy="78120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587" b="1" lang="id-ID">
                <a:solidFill>
                  <a:srgbClr val="1A1A1A"/>
                </a:solidFill>
                <a:latin typeface="Roboto"/>
              </a:rPr>
              <a:t>Tahap III, sudah reviu APIP</a:t>
            </a:r>
          </a:p>
          <a:p>
            <a:pPr algn="just"/>
            <a:r>
              <a:rPr sz="1587" b="0" lang="id-ID">
                <a:solidFill>
                  <a:srgbClr val="1A1A1A"/>
                </a:solidFill>
                <a:latin typeface="Roboto"/>
              </a:rPr>
              <a:t>Belum ada kab/kota.</a:t>
            </a:r>
          </a:p>
        </p:txBody>
      </p:sp>
      <p:sp>
        <p:nvSpPr>
          <p:cNvPr id="170" name="Oval 169"/>
          <p:cNvSpPr/>
          <p:nvPr/>
        </p:nvSpPr>
        <p:spPr>
          <a:xfrm>
            <a:off x="8579104" y="5706650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1" name="Picture 170" descr="kalender-FFFFFF-a840cf9e-t2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8540" y="5766086"/>
            <a:ext cx="211328" cy="211328"/>
          </a:xfrm>
          <a:prstGeom prst="rect">
            <a:avLst/>
          </a:prstGeom>
        </p:spPr>
      </p:pic>
      <p:sp>
        <p:nvSpPr>
          <p:cNvPr id="172" name="TextBox 171"/>
          <p:cNvSpPr txBox="1"/>
          <p:nvPr/>
        </p:nvSpPr>
        <p:spPr>
          <a:xfrm>
            <a:off x="9023604" y="5607114"/>
            <a:ext cx="2391156" cy="5292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587" b="1" lang="id-ID">
                <a:solidFill>
                  <a:srgbClr val="1A1A1A"/>
                </a:solidFill>
                <a:latin typeface="Roboto"/>
              </a:rPr>
              <a:t>Tahap III, berproses</a:t>
            </a:r>
          </a:p>
          <a:p>
            <a:pPr algn="just"/>
            <a:r>
              <a:rPr sz="1587" b="0" lang="id-ID">
                <a:solidFill>
                  <a:srgbClr val="1A1A1A"/>
                </a:solidFill>
                <a:latin typeface="Roboto"/>
              </a:rPr>
              <a:t>Tapanuli Tengah.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Kedeputian Bidang RR BNPB, 24 Oktober 2026; realisasi dari laporan pemda, sebagian belum dilengkapi pertanggungjawaban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Realisasi belanja stimulan di Sumatera Barat 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68,1%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, tersebar di 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11 kabupaten/kota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02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43784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7766304" cy="5367020"/>
          </a:xfrm>
          <a:prstGeom prst="roundRect">
            <a:avLst>
              <a:gd name="adj" fmla="val 1017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7766304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7766304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7766304" cy="5367020"/>
          </a:xfrm>
          <a:prstGeom prst="roundRect">
            <a:avLst>
              <a:gd name="adj" fmla="val 1017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7004304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Stimulan RS dan RR per Kabupaten/Kota di Sumatera Barat</a:t>
            </a:r>
          </a:p>
        </p:txBody>
      </p:sp>
      <p:sp>
        <p:nvSpPr>
          <p:cNvPr id="23" name="Pita kepala tabel"/>
          <p:cNvSpPr/>
          <p:nvPr/>
        </p:nvSpPr>
        <p:spPr>
          <a:xfrm>
            <a:off x="675640" y="1541780"/>
            <a:ext cx="7512304" cy="421640"/>
          </a:xfrm>
          <a:prstGeom prst="roundRect">
            <a:avLst>
              <a:gd name="adj" fmla="val 9036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2830" y="1541780"/>
            <a:ext cx="1229323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KABUPATEN/KOTA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2953" y="1541780"/>
            <a:ext cx="841082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UNIT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75635" y="1752600"/>
            <a:ext cx="113994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KE DAERAH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7176" y="1752600"/>
            <a:ext cx="1244070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KE REKENING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62847" y="1752600"/>
            <a:ext cx="102469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BELANJA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9144" y="1541780"/>
            <a:ext cx="1097200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REALISASI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75635" y="1541780"/>
            <a:ext cx="361190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RP MILIAR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326435" y="1739900"/>
            <a:ext cx="3510309" cy="0"/>
          </a:xfrm>
          <a:prstGeom prst="line">
            <a:avLst/>
          </a:prstGeom>
          <a:ln w="6350">
            <a:solidFill>
              <a:srgbClr val="FFFFFF"/>
            </a:solidFill>
          </a:ln>
        </p:spPr>
      </p:cxnSp>
      <p:sp>
        <p:nvSpPr>
          <p:cNvPr id="32" name="Pita kolom utama"/>
          <p:cNvSpPr/>
          <p:nvPr/>
        </p:nvSpPr>
        <p:spPr>
          <a:xfrm>
            <a:off x="675640" y="1963420"/>
            <a:ext cx="1581113" cy="39801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675640" y="5943600"/>
            <a:ext cx="7512304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34" name="Oval 33"/>
          <p:cNvSpPr/>
          <p:nvPr/>
        </p:nvSpPr>
        <p:spPr>
          <a:xfrm>
            <a:off x="777240" y="2057342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2830" y="1963420"/>
            <a:ext cx="1229323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Pasaman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2953" y="1963420"/>
            <a:ext cx="84108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75635" y="1963420"/>
            <a:ext cx="113994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17176" y="1963420"/>
            <a:ext cx="1244070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62847" y="1963420"/>
            <a:ext cx="1024697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262959" y="2039181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96,6%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75640" y="2325255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2" name="Oval 41"/>
          <p:cNvSpPr/>
          <p:nvPr/>
        </p:nvSpPr>
        <p:spPr>
          <a:xfrm>
            <a:off x="777240" y="2419177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2830" y="2325255"/>
            <a:ext cx="1229323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Pasaman Barat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2953" y="2325255"/>
            <a:ext cx="84108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75635" y="2325255"/>
            <a:ext cx="113994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17176" y="2325255"/>
            <a:ext cx="1244070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62847" y="2325255"/>
            <a:ext cx="1024697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0,9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62959" y="2401016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95,5%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75640" y="2687089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0" name="Oval 49"/>
          <p:cNvSpPr/>
          <p:nvPr/>
        </p:nvSpPr>
        <p:spPr>
          <a:xfrm>
            <a:off x="777240" y="2781011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2830" y="2687089"/>
            <a:ext cx="1229323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Agam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32953" y="2687089"/>
            <a:ext cx="84108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75635" y="2687089"/>
            <a:ext cx="113994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17176" y="2687089"/>
            <a:ext cx="1244070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62847" y="2687089"/>
            <a:ext cx="1024697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1,4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262959" y="2762850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81,4%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75640" y="3048924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8" name="Oval 57"/>
          <p:cNvSpPr/>
          <p:nvPr/>
        </p:nvSpPr>
        <p:spPr>
          <a:xfrm>
            <a:off x="777240" y="3142846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2830" y="3048924"/>
            <a:ext cx="1229323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Kota Padang Panjang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32953" y="3048924"/>
            <a:ext cx="84108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75635" y="3048924"/>
            <a:ext cx="113994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17176" y="3048924"/>
            <a:ext cx="1244070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62847" y="3048924"/>
            <a:ext cx="1024697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0,2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262959" y="3124685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97,7%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75640" y="3410758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6" name="Oval 65"/>
          <p:cNvSpPr/>
          <p:nvPr/>
        </p:nvSpPr>
        <p:spPr>
          <a:xfrm>
            <a:off x="777240" y="3504680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2830" y="3410758"/>
            <a:ext cx="1229323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Kota Padang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32953" y="3410758"/>
            <a:ext cx="84108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275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75635" y="3410758"/>
            <a:ext cx="113994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4,5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17176" y="3410758"/>
            <a:ext cx="1244070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2847" y="3410758"/>
            <a:ext cx="1024697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1,2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229442" y="3486519"/>
            <a:ext cx="616605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75640" y="3772593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4" name="Oval 73"/>
          <p:cNvSpPr/>
          <p:nvPr/>
        </p:nvSpPr>
        <p:spPr>
          <a:xfrm>
            <a:off x="777240" y="3866515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52830" y="3772593"/>
            <a:ext cx="1229323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Solok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332953" y="3772593"/>
            <a:ext cx="84108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275635" y="3772593"/>
            <a:ext cx="113994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17176" y="3772593"/>
            <a:ext cx="1244070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862847" y="3772593"/>
            <a:ext cx="1024697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1,5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262959" y="3848354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98,0%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675640" y="4134427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2" name="Oval 81"/>
          <p:cNvSpPr/>
          <p:nvPr/>
        </p:nvSpPr>
        <p:spPr>
          <a:xfrm>
            <a:off x="777240" y="4228350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52830" y="4134427"/>
            <a:ext cx="1229323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Lima Puluh Kota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332953" y="4134427"/>
            <a:ext cx="84108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75635" y="4134427"/>
            <a:ext cx="113994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17176" y="4134427"/>
            <a:ext cx="1244070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862847" y="4134427"/>
            <a:ext cx="1024697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1,6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229442" y="4210189"/>
            <a:ext cx="616605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75640" y="4496262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0" name="Oval 89"/>
          <p:cNvSpPr/>
          <p:nvPr/>
        </p:nvSpPr>
        <p:spPr>
          <a:xfrm>
            <a:off x="777240" y="4590184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52830" y="4496262"/>
            <a:ext cx="1229323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Tanah Datar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332953" y="4496262"/>
            <a:ext cx="84108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275635" y="4496262"/>
            <a:ext cx="113994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517176" y="4496262"/>
            <a:ext cx="1244070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862847" y="4496262"/>
            <a:ext cx="1024697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2,6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262959" y="4572023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92,1%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675640" y="4858096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8" name="Oval 97"/>
          <p:cNvSpPr/>
          <p:nvPr/>
        </p:nvSpPr>
        <p:spPr>
          <a:xfrm>
            <a:off x="777240" y="4952019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52830" y="4858096"/>
            <a:ext cx="1229323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Padang Pariaman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332953" y="4858096"/>
            <a:ext cx="84108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275635" y="4858096"/>
            <a:ext cx="113994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5,8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517176" y="4858096"/>
            <a:ext cx="1244070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5,7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862847" y="4858096"/>
            <a:ext cx="1024697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1,2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7262959" y="4933858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20,4%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675640" y="5219931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06" name="Oval 105"/>
          <p:cNvSpPr/>
          <p:nvPr/>
        </p:nvSpPr>
        <p:spPr>
          <a:xfrm>
            <a:off x="777240" y="5313853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52830" y="5219931"/>
            <a:ext cx="1229323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Kota Pariaman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332953" y="5219931"/>
            <a:ext cx="84108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275635" y="5219931"/>
            <a:ext cx="113994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517176" y="5219931"/>
            <a:ext cx="1244070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862847" y="5219931"/>
            <a:ext cx="1024697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0,1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7229442" y="5295692"/>
            <a:ext cx="616605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675640" y="5581765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14" name="Oval 113"/>
          <p:cNvSpPr/>
          <p:nvPr/>
        </p:nvSpPr>
        <p:spPr>
          <a:xfrm>
            <a:off x="777240" y="5675688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52830" y="5581765"/>
            <a:ext cx="1229323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Pesisir Selatan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332953" y="5581765"/>
            <a:ext cx="84108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275635" y="5581765"/>
            <a:ext cx="113994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2,4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517176" y="5581765"/>
            <a:ext cx="1244070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862847" y="5581765"/>
            <a:ext cx="1024697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1,7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7262959" y="5657527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68,6%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675640" y="5994400"/>
            <a:ext cx="7512304" cy="266700"/>
          </a:xfrm>
          <a:prstGeom prst="roundRect">
            <a:avLst>
              <a:gd name="adj" fmla="val 14285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052830" y="5994400"/>
            <a:ext cx="1280123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332953" y="5994400"/>
            <a:ext cx="84108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1.186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275635" y="5994400"/>
            <a:ext cx="113994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23,4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517176" y="5994400"/>
            <a:ext cx="1244070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18,7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862847" y="5994400"/>
            <a:ext cx="1024697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12,7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8452104" y="982980"/>
            <a:ext cx="3191256" cy="5367020"/>
          </a:xfrm>
          <a:prstGeom prst="roundRect">
            <a:avLst>
              <a:gd name="adj" fmla="val 1711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8452104" y="982980"/>
            <a:ext cx="3191256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8452104" y="1211580"/>
            <a:ext cx="3191256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8452104" y="982980"/>
            <a:ext cx="3191256" cy="5367020"/>
          </a:xfrm>
          <a:prstGeom prst="roundRect">
            <a:avLst>
              <a:gd name="adj" fmla="val 1711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8579104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2" name="Picture 131" descr="kalender-FFFFFF-a840cf9e-t2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1682" y="1118108"/>
            <a:ext cx="186944" cy="186944"/>
          </a:xfrm>
          <a:prstGeom prst="rect">
            <a:avLst/>
          </a:prstGeom>
        </p:spPr>
      </p:pic>
      <p:sp>
        <p:nvSpPr>
          <p:cNvPr id="133" name="TextBox 132"/>
          <p:cNvSpPr txBox="1"/>
          <p:nvPr/>
        </p:nvSpPr>
        <p:spPr>
          <a:xfrm>
            <a:off x="8960104" y="982980"/>
            <a:ext cx="2556256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Usulan Tahap Berikutnya</a:t>
            </a:r>
          </a:p>
        </p:txBody>
      </p:sp>
      <p:sp>
        <p:nvSpPr>
          <p:cNvPr id="134" name="Oval 133"/>
          <p:cNvSpPr/>
          <p:nvPr/>
        </p:nvSpPr>
        <p:spPr>
          <a:xfrm>
            <a:off x="8579104" y="184099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5" name="Picture 134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8540" y="1900428"/>
            <a:ext cx="211328" cy="211328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9023604" y="1664780"/>
            <a:ext cx="2391156" cy="6826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Tahap I</a:t>
            </a:r>
          </a:p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11 kabupaten/kota</a:t>
            </a:r>
            <a:r>
              <a:rPr sz="1380" b="0" lang="id-ID">
                <a:solidFill>
                  <a:srgbClr val="1A1A1A"/>
                </a:solidFill>
                <a:latin typeface="Roboto"/>
              </a:rPr>
              <a:t> penerima, realisasi belanja </a:t>
            </a:r>
            <a:r>
              <a:rPr sz="1380" b="1" lang="id-ID">
                <a:solidFill>
                  <a:srgbClr val="1A1A1A"/>
                </a:solidFill>
                <a:latin typeface="Roboto"/>
              </a:rPr>
              <a:t>68,1%</a:t>
            </a:r>
            <a:r>
              <a:rPr sz="1380" b="0" lang="id-ID">
                <a:solidFill>
                  <a:srgbClr val="1A1A1A"/>
                </a:solidFill>
                <a:latin typeface="Roboto"/>
              </a:rPr>
              <a:t>.</a:t>
            </a:r>
          </a:p>
        </p:txBody>
      </p:sp>
      <p:sp>
        <p:nvSpPr>
          <p:cNvPr id="137" name="Oval 136"/>
          <p:cNvSpPr/>
          <p:nvPr/>
        </p:nvSpPr>
        <p:spPr>
          <a:xfrm>
            <a:off x="8579104" y="2769616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8" name="Picture 137" descr="regulasi-FFFFFF-e639fe9a-t2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8540" y="2829052"/>
            <a:ext cx="211328" cy="211328"/>
          </a:xfrm>
          <a:prstGeom prst="rect">
            <a:avLst/>
          </a:prstGeom>
        </p:spPr>
      </p:pic>
      <p:sp>
        <p:nvSpPr>
          <p:cNvPr id="139" name="TextBox 138"/>
          <p:cNvSpPr txBox="1"/>
          <p:nvPr/>
        </p:nvSpPr>
        <p:spPr>
          <a:xfrm>
            <a:off x="9023604" y="2593404"/>
            <a:ext cx="2391156" cy="6826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Tahap II, sudah reviu APIP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Tiga kab/kota: Agam, Pasaman Barat, Padang.</a:t>
            </a:r>
          </a:p>
        </p:txBody>
      </p:sp>
      <p:sp>
        <p:nvSpPr>
          <p:cNvPr id="140" name="Oval 139"/>
          <p:cNvSpPr/>
          <p:nvPr/>
        </p:nvSpPr>
        <p:spPr>
          <a:xfrm>
            <a:off x="8579104" y="3807778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1" name="Picture 140" descr="kalender-FFFFFF-a840cf9e-t2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8540" y="3867214"/>
            <a:ext cx="211328" cy="211328"/>
          </a:xfrm>
          <a:prstGeom prst="rect">
            <a:avLst/>
          </a:prstGeom>
        </p:spPr>
      </p:pic>
      <p:sp>
        <p:nvSpPr>
          <p:cNvPr id="142" name="TextBox 141"/>
          <p:cNvSpPr txBox="1"/>
          <p:nvPr/>
        </p:nvSpPr>
        <p:spPr>
          <a:xfrm>
            <a:off x="9023604" y="3522028"/>
            <a:ext cx="2391156" cy="901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Tahap II, berproses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Empat kab/kota: Padang Panjang, Solok, Lima Puluh Kota, Tanah Datar.</a:t>
            </a:r>
          </a:p>
        </p:txBody>
      </p:sp>
      <p:sp>
        <p:nvSpPr>
          <p:cNvPr id="143" name="Oval 142"/>
          <p:cNvSpPr/>
          <p:nvPr/>
        </p:nvSpPr>
        <p:spPr>
          <a:xfrm>
            <a:off x="8579104" y="473640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4" name="Picture 143" descr="regulasi-FFFFFF-e639fe9a-t2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8540" y="4795838"/>
            <a:ext cx="211328" cy="211328"/>
          </a:xfrm>
          <a:prstGeom prst="rect">
            <a:avLst/>
          </a:prstGeom>
        </p:spPr>
      </p:pic>
      <p:sp>
        <p:nvSpPr>
          <p:cNvPr id="145" name="TextBox 144"/>
          <p:cNvSpPr txBox="1"/>
          <p:nvPr/>
        </p:nvSpPr>
        <p:spPr>
          <a:xfrm>
            <a:off x="9023604" y="4669726"/>
            <a:ext cx="2391156" cy="4635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Tahap III, sudah reviu APIP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Dua kab/kota: Agam, Padang.</a:t>
            </a:r>
          </a:p>
        </p:txBody>
      </p:sp>
      <p:sp>
        <p:nvSpPr>
          <p:cNvPr id="146" name="Oval 145"/>
          <p:cNvSpPr/>
          <p:nvPr/>
        </p:nvSpPr>
        <p:spPr>
          <a:xfrm>
            <a:off x="8579104" y="5555488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7" name="Picture 146" descr="kalender-FFFFFF-a840cf9e-t2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8540" y="5614924"/>
            <a:ext cx="211328" cy="211328"/>
          </a:xfrm>
          <a:prstGeom prst="rect">
            <a:avLst/>
          </a:prstGeom>
        </p:spPr>
      </p:pic>
      <p:sp>
        <p:nvSpPr>
          <p:cNvPr id="148" name="TextBox 147"/>
          <p:cNvSpPr txBox="1"/>
          <p:nvPr/>
        </p:nvSpPr>
        <p:spPr>
          <a:xfrm>
            <a:off x="9023604" y="5379276"/>
            <a:ext cx="2391156" cy="6826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Tahap III, berproses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Dua kab/kota: Solok, Tanah Datar.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Kedeputian Bidang RR BNPB, 24 Oktober 2026; realisasi dari laporan pemda, sebagian belum dilengkapi pertanggungjawaban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D9600B"/>
                </a:solidFill>
                <a:latin typeface="Roboto"/>
              </a:rPr>
              <a:t>26 kabupaten/kota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 sedang memproses usulan tahap berikutnya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02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43784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5414010" cy="927100"/>
          </a:xfrm>
          <a:prstGeom prst="roundRect">
            <a:avLst>
              <a:gd name="adj" fmla="val 7945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1037590"/>
            <a:ext cx="853090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259690" tIns="0" rIns="0" bIns="0">
            <a:noAutofit/>
          </a:bodyPr>
          <a:lstStyle/>
          <a:p>
            <a:pPr algn="l"/>
            <a:r>
              <a:rPr sz="760" b="1" lang="id-ID" spc="100">
                <a:solidFill>
                  <a:srgbClr val="FFFFFF"/>
                </a:solidFill>
                <a:latin typeface="Roboto"/>
              </a:rPr>
              <a:t>TAHAP II</a:t>
            </a:r>
          </a:p>
        </p:txBody>
      </p:sp>
      <p:pic>
        <p:nvPicPr>
          <p:cNvPr id="18" name="Picture 17" descr="kalender-FFFFFF-a840cf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072337"/>
            <a:ext cx="113386" cy="113386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58368" y="129413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67588" y="138303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egulasi-051C2C-e639fe9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788" y="1459230"/>
            <a:ext cx="177800" cy="177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70178" y="1330960"/>
            <a:ext cx="1930527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178" y="159639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kab/kota sudah reviu APIP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01365" y="129413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410585" y="138303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Picture 25" descr="kalender-051C2C-a840cf9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6785" y="1459230"/>
            <a:ext cx="177800" cy="1778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813175" y="1330960"/>
            <a:ext cx="1930527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17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13175" y="159639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kab/kota berproses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29350" y="982980"/>
            <a:ext cx="5414010" cy="927100"/>
          </a:xfrm>
          <a:prstGeom prst="roundRect">
            <a:avLst>
              <a:gd name="adj" fmla="val 7945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339078" y="1037590"/>
            <a:ext cx="893926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259690" tIns="0" rIns="0" bIns="0">
            <a:noAutofit/>
          </a:bodyPr>
          <a:lstStyle/>
          <a:p>
            <a:pPr algn="l"/>
            <a:r>
              <a:rPr sz="760" b="1" lang="id-ID" spc="100">
                <a:solidFill>
                  <a:srgbClr val="FFFFFF"/>
                </a:solidFill>
                <a:latin typeface="Roboto"/>
              </a:rPr>
              <a:t>TAHAP III</a:t>
            </a:r>
          </a:p>
        </p:txBody>
      </p:sp>
      <p:pic>
        <p:nvPicPr>
          <p:cNvPr id="31" name="Picture 30" descr="kalender-FFFFFF-a840cf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0518" y="1072337"/>
            <a:ext cx="113386" cy="113386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6339078" y="129413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48298" y="138303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regulasi-051C2C-e639fe9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4498" y="1459230"/>
            <a:ext cx="177800" cy="1778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850888" y="1330960"/>
            <a:ext cx="1930527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0888" y="159639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kab/kota sudah reviu APIP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82075" y="129413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091295" y="138303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Picture 38" descr="kalender-051C2C-a840cf9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7495" y="1459230"/>
            <a:ext cx="177800" cy="1778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493885" y="1330960"/>
            <a:ext cx="1930527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93885" y="159639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kab/kota berproses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2047240"/>
            <a:ext cx="7322515" cy="4302760"/>
          </a:xfrm>
          <a:prstGeom prst="roundRect">
            <a:avLst>
              <a:gd name="adj" fmla="val 1269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48640" y="2047240"/>
            <a:ext cx="7322515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" y="2275840"/>
            <a:ext cx="7322515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48640" y="2047240"/>
            <a:ext cx="7322515" cy="4302760"/>
          </a:xfrm>
          <a:prstGeom prst="roundRect">
            <a:avLst>
              <a:gd name="adj" fmla="val 1269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75640" y="212979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kalender-FFFFFF-a840cf9e-t2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218" y="2182368"/>
            <a:ext cx="186944" cy="18694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56640" y="2047240"/>
            <a:ext cx="6560515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Status Usulan per Provinsi, Kab/Kota</a:t>
            </a:r>
          </a:p>
        </p:txBody>
      </p:sp>
      <p:sp>
        <p:nvSpPr>
          <p:cNvPr id="49" name="Pita kepala tabel"/>
          <p:cNvSpPr/>
          <p:nvPr/>
        </p:nvSpPr>
        <p:spPr>
          <a:xfrm>
            <a:off x="675640" y="2606040"/>
            <a:ext cx="7068515" cy="421640"/>
          </a:xfrm>
          <a:prstGeom prst="roundRect">
            <a:avLst>
              <a:gd name="adj" fmla="val 9036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7240" y="2606040"/>
            <a:ext cx="1499464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PROVINSI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27504" y="2606040"/>
            <a:ext cx="869599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PENERIMA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98703" y="2606040"/>
            <a:ext cx="1196801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USULAN LANJUT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97105" y="2816860"/>
            <a:ext cx="634295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REVIU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32999" y="2816860"/>
            <a:ext cx="73603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PROSES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70630" y="2816860"/>
            <a:ext cx="634295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REVIU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06525" y="2816860"/>
            <a:ext cx="73603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PROSES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97105" y="2606040"/>
            <a:ext cx="1471925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TAHAP II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647905" y="2804160"/>
            <a:ext cx="1370325" cy="0"/>
          </a:xfrm>
          <a:prstGeom prst="line">
            <a:avLst/>
          </a:prstGeom>
          <a:ln w="6350">
            <a:solidFill>
              <a:srgbClr val="FFFFFF"/>
            </a:solidFill>
          </a:ln>
        </p:spPr>
      </p:cxnSp>
      <p:sp>
        <p:nvSpPr>
          <p:cNvPr id="59" name="TextBox 58"/>
          <p:cNvSpPr txBox="1"/>
          <p:nvPr/>
        </p:nvSpPr>
        <p:spPr>
          <a:xfrm>
            <a:off x="6170630" y="2606040"/>
            <a:ext cx="1471925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TAHAP III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221430" y="2804160"/>
            <a:ext cx="1370325" cy="0"/>
          </a:xfrm>
          <a:prstGeom prst="line">
            <a:avLst/>
          </a:prstGeom>
          <a:ln w="6350">
            <a:solidFill>
              <a:srgbClr val="FFFFFF"/>
            </a:solidFill>
          </a:ln>
        </p:spPr>
      </p:cxnSp>
      <p:sp>
        <p:nvSpPr>
          <p:cNvPr id="61" name="Pita kolom utama"/>
          <p:cNvSpPr/>
          <p:nvPr/>
        </p:nvSpPr>
        <p:spPr>
          <a:xfrm>
            <a:off x="675640" y="3027680"/>
            <a:ext cx="1575664" cy="282509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675640" y="5852770"/>
            <a:ext cx="7068515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63" name="TextBox 62"/>
          <p:cNvSpPr txBox="1"/>
          <p:nvPr/>
        </p:nvSpPr>
        <p:spPr>
          <a:xfrm>
            <a:off x="777240" y="3027680"/>
            <a:ext cx="1499464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563" b="1" lang="id-ID">
                <a:solidFill>
                  <a:srgbClr val="1A1A1A"/>
                </a:solidFill>
                <a:latin typeface="Roboto"/>
              </a:rPr>
              <a:t>Aceh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27504" y="3027680"/>
            <a:ext cx="869599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98703" y="3027680"/>
            <a:ext cx="1196801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97105" y="3027680"/>
            <a:ext cx="634295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32999" y="3027680"/>
            <a:ext cx="736031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70630" y="3027680"/>
            <a:ext cx="634295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06525" y="3027680"/>
            <a:ext cx="736031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3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75640" y="3969377"/>
            <a:ext cx="7068515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1" name="TextBox 70"/>
          <p:cNvSpPr txBox="1"/>
          <p:nvPr/>
        </p:nvSpPr>
        <p:spPr>
          <a:xfrm>
            <a:off x="777240" y="3969377"/>
            <a:ext cx="1499464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563" b="1" lang="id-ID">
                <a:solidFill>
                  <a:srgbClr val="1A1A1A"/>
                </a:solidFill>
                <a:latin typeface="Roboto"/>
              </a:rPr>
              <a:t>Sumatera Utara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327504" y="3969377"/>
            <a:ext cx="869599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298703" y="3969377"/>
            <a:ext cx="1196801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97105" y="3969377"/>
            <a:ext cx="634295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32999" y="3969377"/>
            <a:ext cx="736031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70630" y="3969377"/>
            <a:ext cx="634295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06525" y="3969377"/>
            <a:ext cx="736031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75640" y="4911073"/>
            <a:ext cx="7068515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9" name="TextBox 78"/>
          <p:cNvSpPr txBox="1"/>
          <p:nvPr/>
        </p:nvSpPr>
        <p:spPr>
          <a:xfrm>
            <a:off x="777240" y="4911073"/>
            <a:ext cx="1499464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563" b="1" lang="id-ID">
                <a:solidFill>
                  <a:srgbClr val="1A1A1A"/>
                </a:solidFill>
                <a:latin typeface="Roboto"/>
              </a:rPr>
              <a:t>Sumatera Barat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327504" y="4911073"/>
            <a:ext cx="869599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298703" y="4911073"/>
            <a:ext cx="1196801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97105" y="4911073"/>
            <a:ext cx="634295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32999" y="4911073"/>
            <a:ext cx="736031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170630" y="4911073"/>
            <a:ext cx="634295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06525" y="4911073"/>
            <a:ext cx="736031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2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75640" y="5903570"/>
            <a:ext cx="7068515" cy="357530"/>
          </a:xfrm>
          <a:prstGeom prst="roundRect">
            <a:avLst>
              <a:gd name="adj" fmla="val 10656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02640" y="5903570"/>
            <a:ext cx="1524864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563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327504" y="5903570"/>
            <a:ext cx="869599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FFFFFF"/>
                </a:solidFill>
                <a:latin typeface="Roboto"/>
              </a:rPr>
              <a:t>42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298703" y="5903570"/>
            <a:ext cx="1196801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FFFFFF"/>
                </a:solidFill>
                <a:latin typeface="Roboto"/>
              </a:rPr>
              <a:t>26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97105" y="5903570"/>
            <a:ext cx="634295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332999" y="5903570"/>
            <a:ext cx="736031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FFFFFF"/>
                </a:solidFill>
                <a:latin typeface="Roboto"/>
              </a:rPr>
              <a:t>17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170630" y="5903570"/>
            <a:ext cx="634295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906525" y="5903570"/>
            <a:ext cx="736031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008315" y="2047240"/>
            <a:ext cx="3635045" cy="4302760"/>
          </a:xfrm>
          <a:prstGeom prst="roundRect">
            <a:avLst>
              <a:gd name="adj" fmla="val 1502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8008315" y="2047240"/>
            <a:ext cx="3635045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008315" y="2275840"/>
            <a:ext cx="3635045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8008315" y="2047240"/>
            <a:ext cx="3635045" cy="4302760"/>
          </a:xfrm>
          <a:prstGeom prst="roundRect">
            <a:avLst>
              <a:gd name="adj" fmla="val 1502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8135315" y="212979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9" name="Picture 98" descr="wilayah-FFFFFF-37dca10c-t2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7893" y="2182368"/>
            <a:ext cx="186944" cy="186944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8516315" y="2047240"/>
            <a:ext cx="3000045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Usulan Lanjut per Provinsi</a:t>
            </a:r>
          </a:p>
        </p:txBody>
      </p:sp>
      <p:sp>
        <p:nvSpPr>
          <p:cNvPr id="101" name="Oval 100"/>
          <p:cNvSpPr/>
          <p:nvPr/>
        </p:nvSpPr>
        <p:spPr>
          <a:xfrm>
            <a:off x="8135315" y="2888298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2" name="Picture 101" descr="wilayah-FFFFFF-37dca10c-t2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4751" y="2947734"/>
            <a:ext cx="211328" cy="211328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8579815" y="2646362"/>
            <a:ext cx="2834945" cy="81407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55" b="1" lang="id-ID">
                <a:solidFill>
                  <a:srgbClr val="1A1A1A"/>
                </a:solidFill>
                <a:latin typeface="Roboto"/>
              </a:rPr>
              <a:t>Aceh</a:t>
            </a:r>
          </a:p>
          <a:p>
            <a:pPr algn="just"/>
            <a:r>
              <a:rPr sz="1655" b="1" lang="id-ID">
                <a:solidFill>
                  <a:srgbClr val="1A1A1A"/>
                </a:solidFill>
                <a:latin typeface="Roboto"/>
              </a:rPr>
              <a:t>14</a:t>
            </a:r>
            <a:r>
              <a:rPr sz="1655" b="0" lang="id-ID">
                <a:solidFill>
                  <a:srgbClr val="1A1A1A"/>
                </a:solidFill>
                <a:latin typeface="Roboto"/>
              </a:rPr>
              <a:t> dari </a:t>
            </a:r>
            <a:r>
              <a:rPr sz="1655" b="1" lang="id-ID">
                <a:solidFill>
                  <a:srgbClr val="1A1A1A"/>
                </a:solidFill>
                <a:latin typeface="Roboto"/>
              </a:rPr>
              <a:t>17 kabupaten/kota</a:t>
            </a:r>
            <a:r>
              <a:rPr sz="1655" b="0" lang="id-ID">
                <a:solidFill>
                  <a:srgbClr val="1A1A1A"/>
                </a:solidFill>
                <a:latin typeface="Roboto"/>
              </a:rPr>
              <a:t> penerima.</a:t>
            </a:r>
          </a:p>
        </p:txBody>
      </p:sp>
      <p:sp>
        <p:nvSpPr>
          <p:cNvPr id="104" name="Oval 103"/>
          <p:cNvSpPr/>
          <p:nvPr/>
        </p:nvSpPr>
        <p:spPr>
          <a:xfrm>
            <a:off x="8135315" y="378301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5" name="Picture 104" descr="wilayah-FFFFFF-37dca10c-t2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4751" y="3842448"/>
            <a:ext cx="211328" cy="211328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8579815" y="3541078"/>
            <a:ext cx="2834945" cy="81407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55" b="1" lang="id-ID">
                <a:solidFill>
                  <a:srgbClr val="1A1A1A"/>
                </a:solidFill>
                <a:latin typeface="Roboto"/>
              </a:rPr>
              <a:t>Sumatera Utara</a:t>
            </a:r>
          </a:p>
          <a:p>
            <a:pPr algn="just"/>
            <a:r>
              <a:rPr sz="1655" b="1" lang="id-ID">
                <a:solidFill>
                  <a:srgbClr val="1A1A1A"/>
                </a:solidFill>
                <a:latin typeface="Roboto"/>
              </a:rPr>
              <a:t>4</a:t>
            </a:r>
            <a:r>
              <a:rPr sz="1655" b="0" lang="id-ID">
                <a:solidFill>
                  <a:srgbClr val="1A1A1A"/>
                </a:solidFill>
                <a:latin typeface="Roboto"/>
              </a:rPr>
              <a:t> dari </a:t>
            </a:r>
            <a:r>
              <a:rPr sz="1655" b="1" lang="id-ID">
                <a:solidFill>
                  <a:srgbClr val="1A1A1A"/>
                </a:solidFill>
                <a:latin typeface="Roboto"/>
              </a:rPr>
              <a:t>14 kabupaten/kota</a:t>
            </a:r>
            <a:r>
              <a:rPr sz="1655" b="0" lang="id-ID">
                <a:solidFill>
                  <a:srgbClr val="1A1A1A"/>
                </a:solidFill>
                <a:latin typeface="Roboto"/>
              </a:rPr>
              <a:t> penerima.</a:t>
            </a:r>
          </a:p>
        </p:txBody>
      </p:sp>
      <p:sp>
        <p:nvSpPr>
          <p:cNvPr id="107" name="Oval 106"/>
          <p:cNvSpPr/>
          <p:nvPr/>
        </p:nvSpPr>
        <p:spPr>
          <a:xfrm>
            <a:off x="8135315" y="4677728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8" name="Picture 107" descr="wilayah-FFFFFF-37dca10c-t2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4751" y="4737164"/>
            <a:ext cx="211328" cy="211328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8579815" y="4435792"/>
            <a:ext cx="2834945" cy="81407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55" b="1" lang="id-ID">
                <a:solidFill>
                  <a:srgbClr val="1A1A1A"/>
                </a:solidFill>
                <a:latin typeface="Roboto"/>
              </a:rPr>
              <a:t>Sumatera Barat</a:t>
            </a:r>
          </a:p>
          <a:p>
            <a:pPr algn="just"/>
            <a:r>
              <a:rPr sz="1655" b="1" lang="id-ID">
                <a:solidFill>
                  <a:srgbClr val="1A1A1A"/>
                </a:solidFill>
                <a:latin typeface="Roboto"/>
              </a:rPr>
              <a:t>8</a:t>
            </a:r>
            <a:r>
              <a:rPr sz="1655" b="0" lang="id-ID">
                <a:solidFill>
                  <a:srgbClr val="1A1A1A"/>
                </a:solidFill>
                <a:latin typeface="Roboto"/>
              </a:rPr>
              <a:t> dari </a:t>
            </a:r>
            <a:r>
              <a:rPr sz="1655" b="1" lang="id-ID">
                <a:solidFill>
                  <a:srgbClr val="1A1A1A"/>
                </a:solidFill>
                <a:latin typeface="Roboto"/>
              </a:rPr>
              <a:t>11 kabupaten/kota</a:t>
            </a:r>
            <a:r>
              <a:rPr sz="1655" b="0" lang="id-ID">
                <a:solidFill>
                  <a:srgbClr val="1A1A1A"/>
                </a:solidFill>
                <a:latin typeface="Roboto"/>
              </a:rPr>
              <a:t> penerima.</a:t>
            </a:r>
          </a:p>
        </p:txBody>
      </p:sp>
      <p:sp>
        <p:nvSpPr>
          <p:cNvPr id="110" name="Oval 109"/>
          <p:cNvSpPr/>
          <p:nvPr/>
        </p:nvSpPr>
        <p:spPr>
          <a:xfrm>
            <a:off x="8135315" y="557244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1" name="Picture 110" descr="data-FFFFFF-608a1e16-t2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94751" y="5631878"/>
            <a:ext cx="211328" cy="211328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8579815" y="5330508"/>
            <a:ext cx="2834945" cy="81407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55" b="1" lang="id-ID">
                <a:solidFill>
                  <a:srgbClr val="1A1A1A"/>
                </a:solidFill>
                <a:latin typeface="Roboto"/>
              </a:rPr>
              <a:t>Tiga provinsi</a:t>
            </a:r>
          </a:p>
          <a:p>
            <a:pPr algn="just"/>
            <a:r>
              <a:rPr sz="1655" b="1" lang="id-ID">
                <a:solidFill>
                  <a:srgbClr val="1A1A1A"/>
                </a:solidFill>
                <a:latin typeface="Roboto"/>
              </a:rPr>
              <a:t>26</a:t>
            </a:r>
            <a:r>
              <a:rPr sz="1655" b="0" lang="id-ID">
                <a:solidFill>
                  <a:srgbClr val="1A1A1A"/>
                </a:solidFill>
                <a:latin typeface="Roboto"/>
              </a:rPr>
              <a:t> dari </a:t>
            </a:r>
            <a:r>
              <a:rPr sz="1655" b="1" lang="id-ID">
                <a:solidFill>
                  <a:srgbClr val="1A1A1A"/>
                </a:solidFill>
                <a:latin typeface="Roboto"/>
              </a:rPr>
              <a:t>42 kabupaten/kota</a:t>
            </a:r>
            <a:r>
              <a:rPr sz="1655" b="0" lang="id-ID">
                <a:solidFill>
                  <a:srgbClr val="1A1A1A"/>
                </a:solidFill>
                <a:latin typeface="Roboto"/>
              </a:rPr>
              <a:t> penerima.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Kedeputian Bidang RR BNPB, 24 Oktober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00" cy="6858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5760"/>
            <a:ext cx="347980" cy="4394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81200"/>
            <a:ext cx="2712720" cy="1092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000" b="1" lang="id-ID">
                <a:solidFill>
                  <a:srgbClr val="D9600B"/>
                </a:solidFill>
                <a:latin typeface="Roboto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175000"/>
            <a:ext cx="711200" cy="381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352800"/>
            <a:ext cx="2712720" cy="1397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lang="id-ID">
                <a:solidFill>
                  <a:srgbClr val="051C2C"/>
                </a:solidFill>
                <a:latin typeface="Roboto"/>
              </a:rPr>
              <a:t>Hunian Tetap dan Stimulan Rumah Rusak Berat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18000" y="10795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678160" y="14097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78160" y="14097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4–5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05400" y="10795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Dasar Hukum Pelaksanaan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18000" y="20193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4318000" y="20193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678160" y="23495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78160" y="23495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6–12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5400" y="20193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Stimulan Rumah Rusak Sedang dan Rusak Ringan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318000" y="29591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4114800" y="3009900"/>
            <a:ext cx="7528560" cy="838200"/>
          </a:xfrm>
          <a:prstGeom prst="rect">
            <a:avLst/>
          </a:prstGeom>
          <a:solidFill>
            <a:srgbClr val="FDF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0" y="3009900"/>
            <a:ext cx="50800" cy="8382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18000" y="29591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678160" y="32893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78160" y="32893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13–18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05400" y="29591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Hunian Tetap dan Stimulan Rumah Rusak Berat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18000" y="38989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4318000" y="38989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78160" y="42291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78160" y="42291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19–20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5400" y="38989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Kendala dan Tindak Lanjut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318000" y="48387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4318000" y="48387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678160" y="51689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78160" y="51689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21–27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05400" y="48387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Dokumentasi Lapangan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642600" cy="8255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Hunian tetap </a:t>
            </a:r>
            <a:r>
              <a:rPr sz="2200" b="1" i="1" lang="id-ID">
                <a:solidFill>
                  <a:srgbClr val="1A1A1A"/>
                </a:solidFill>
                <a:latin typeface="Roboto"/>
              </a:rPr>
              <a:t>in situ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 dan relokasi mandiri: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 850 unit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 selesai dan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 868 unit</a:t>
            </a:r>
            <a:br/>
            <a:r>
              <a:rPr sz="2200" b="1" lang="id-ID">
                <a:solidFill>
                  <a:srgbClr val="1A1A1A"/>
                </a:solidFill>
                <a:latin typeface="Roboto"/>
              </a:rPr>
              <a:t>sedang dibangun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0650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03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Huntap dan RB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62728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282700"/>
            <a:ext cx="5414010" cy="927100"/>
          </a:xfrm>
          <a:prstGeom prst="roundRect">
            <a:avLst>
              <a:gd name="adj" fmla="val 7945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1337310"/>
            <a:ext cx="799082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259690" tIns="0" rIns="0" bIns="0">
            <a:noAutofit/>
          </a:bodyPr>
          <a:lstStyle/>
          <a:p>
            <a:pPr algn="l"/>
            <a:r>
              <a:rPr sz="760" b="1" lang="id-ID" spc="100">
                <a:solidFill>
                  <a:srgbClr val="FFFFFF"/>
                </a:solidFill>
                <a:latin typeface="Roboto"/>
              </a:rPr>
              <a:t>USULAN</a:t>
            </a:r>
          </a:p>
        </p:txBody>
      </p:sp>
      <p:pic>
        <p:nvPicPr>
          <p:cNvPr id="18" name="Picture 17" descr="data-FFFFFF-608a1e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372057"/>
            <a:ext cx="113386" cy="113386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58368" y="159385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67588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data-051C2C-608a1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788" y="1758950"/>
            <a:ext cx="177800" cy="177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70178" y="1630680"/>
            <a:ext cx="1930527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38.651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178" y="189611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usulan huntap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01365" y="159385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410585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Picture 25" descr="regulasi-051C2C-e639fe9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6785" y="1758950"/>
            <a:ext cx="177800" cy="1778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813175" y="1630680"/>
            <a:ext cx="1930527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30.430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13175" y="189611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usulan sudah direviu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29350" y="1282700"/>
            <a:ext cx="5414010" cy="927100"/>
          </a:xfrm>
          <a:prstGeom prst="roundRect">
            <a:avLst>
              <a:gd name="adj" fmla="val 7945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339078" y="1337310"/>
            <a:ext cx="1217133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259690" tIns="0" rIns="0" bIns="0">
            <a:noAutofit/>
          </a:bodyPr>
          <a:lstStyle/>
          <a:p>
            <a:pPr algn="l"/>
            <a:r>
              <a:rPr sz="760" b="1" lang="id-ID" spc="100">
                <a:solidFill>
                  <a:srgbClr val="FFFFFF"/>
                </a:solidFill>
                <a:latin typeface="Roboto"/>
              </a:rPr>
              <a:t>PEMBANGUNAN</a:t>
            </a:r>
          </a:p>
        </p:txBody>
      </p:sp>
      <p:pic>
        <p:nvPicPr>
          <p:cNvPr id="31" name="Picture 30" descr="rumah-FFFFFF-320df64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0518" y="1372057"/>
            <a:ext cx="113386" cy="113386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6339078" y="159385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48298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kalender-051C2C-a840cf9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4498" y="1758950"/>
            <a:ext cx="177800" cy="177800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8312833" y="1682801"/>
            <a:ext cx="468582" cy="170078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075" b="1" lang="id-ID">
                <a:solidFill>
                  <a:srgbClr val="2E3440"/>
                </a:solidFill>
                <a:latin typeface="Roboto"/>
              </a:rPr>
              <a:t>2,9%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0888" y="1630680"/>
            <a:ext cx="1385745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868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0888" y="189611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proses bangun dari </a:t>
            </a:r>
            <a:r>
              <a:rPr sz="860" b="1" lang="id-ID">
                <a:solidFill>
                  <a:srgbClr val="2E3440"/>
                </a:solidFill>
                <a:latin typeface="Roboto"/>
              </a:rPr>
              <a:t>30.430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82075" y="159385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091295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rumah-051C2C-320df64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67495" y="1758950"/>
            <a:ext cx="177800" cy="177800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10955830" y="1682801"/>
            <a:ext cx="468582" cy="170078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075" b="1" lang="id-ID">
                <a:solidFill>
                  <a:srgbClr val="2E3440"/>
                </a:solidFill>
                <a:latin typeface="Roboto"/>
              </a:rPr>
              <a:t>2,2%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93885" y="1630680"/>
            <a:ext cx="1385745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850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93885" y="189611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selesai dari </a:t>
            </a:r>
            <a:r>
              <a:rPr sz="860" b="1" lang="id-ID">
                <a:solidFill>
                  <a:srgbClr val="2E3440"/>
                </a:solidFill>
                <a:latin typeface="Roboto"/>
              </a:rPr>
              <a:t>38.651</a:t>
            </a:r>
            <a:r>
              <a:rPr sz="860" b="0" lang="id-ID">
                <a:solidFill>
                  <a:srgbClr val="2E3440"/>
                </a:solidFill>
                <a:latin typeface="Roboto"/>
              </a:rPr>
              <a:t> usulan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2346960"/>
            <a:ext cx="6102096" cy="400304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48640" y="2346960"/>
            <a:ext cx="6102096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48640" y="2575560"/>
            <a:ext cx="6102096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8640" y="2346960"/>
            <a:ext cx="6102096" cy="4003040"/>
          </a:xfrm>
          <a:prstGeom prst="roundRect">
            <a:avLst>
              <a:gd name="adj" fmla="val 1364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75640" y="242951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9" name="Picture 48" descr="rumah-FFFFFF-320df645-t2.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8218" y="2482088"/>
            <a:ext cx="186944" cy="186944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56640" y="2346960"/>
            <a:ext cx="5340096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Huntap per Provinsi</a:t>
            </a:r>
          </a:p>
        </p:txBody>
      </p:sp>
      <p:sp>
        <p:nvSpPr>
          <p:cNvPr id="51" name="Pita kepala tabel"/>
          <p:cNvSpPr/>
          <p:nvPr/>
        </p:nvSpPr>
        <p:spPr>
          <a:xfrm>
            <a:off x="675640" y="2905760"/>
            <a:ext cx="5848096" cy="421640"/>
          </a:xfrm>
          <a:prstGeom prst="roundRect">
            <a:avLst>
              <a:gd name="adj" fmla="val 9036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2905760"/>
            <a:ext cx="1293896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PROVINSI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21936" y="2905760"/>
            <a:ext cx="574505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USULAN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798040" y="3116580"/>
            <a:ext cx="574505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SUDAH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74145" y="3116580"/>
            <a:ext cx="477304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PROSES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53050" y="3116580"/>
            <a:ext cx="45891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PROSES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13568" y="3116580"/>
            <a:ext cx="47810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SELESAI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93269" y="2905760"/>
            <a:ext cx="1228867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SELESAI DARI USULAN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98040" y="2905760"/>
            <a:ext cx="115340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REVIU USULAN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848840" y="3103880"/>
            <a:ext cx="1051810" cy="0"/>
          </a:xfrm>
          <a:prstGeom prst="line">
            <a:avLst/>
          </a:prstGeom>
          <a:ln w="6350">
            <a:solidFill>
              <a:srgbClr val="FFFFFF"/>
            </a:solidFill>
          </a:ln>
        </p:spPr>
      </p:cxnSp>
      <p:sp>
        <p:nvSpPr>
          <p:cNvPr id="61" name="TextBox 60"/>
          <p:cNvSpPr txBox="1"/>
          <p:nvPr/>
        </p:nvSpPr>
        <p:spPr>
          <a:xfrm>
            <a:off x="4053050" y="2905760"/>
            <a:ext cx="1038620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PEMBANGUNAN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103850" y="3103880"/>
            <a:ext cx="937019" cy="0"/>
          </a:xfrm>
          <a:prstGeom prst="line">
            <a:avLst/>
          </a:prstGeom>
          <a:ln w="6350">
            <a:solidFill>
              <a:srgbClr val="FFFFFF"/>
            </a:solidFill>
          </a:ln>
        </p:spPr>
      </p:cxnSp>
      <p:sp>
        <p:nvSpPr>
          <p:cNvPr id="63" name="Pita kolom utama"/>
          <p:cNvSpPr/>
          <p:nvPr/>
        </p:nvSpPr>
        <p:spPr>
          <a:xfrm>
            <a:off x="675640" y="3327400"/>
            <a:ext cx="1370096" cy="2577948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675640" y="5905348"/>
            <a:ext cx="5848096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65" name="TextBox 64"/>
          <p:cNvSpPr txBox="1"/>
          <p:nvPr/>
        </p:nvSpPr>
        <p:spPr>
          <a:xfrm>
            <a:off x="777240" y="3327400"/>
            <a:ext cx="1293896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1" lang="id-ID">
                <a:solidFill>
                  <a:srgbClr val="1A1A1A"/>
                </a:solidFill>
                <a:latin typeface="Roboto"/>
              </a:rPr>
              <a:t>Aceh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21936" y="3327400"/>
            <a:ext cx="574505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33.978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798040" y="3327400"/>
            <a:ext cx="574505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26.504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474145" y="3327400"/>
            <a:ext cx="477304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7.474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53050" y="3327400"/>
            <a:ext cx="458919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781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613568" y="3327400"/>
            <a:ext cx="478101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824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457864" y="3604582"/>
            <a:ext cx="699676" cy="30495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2,4%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75640" y="4186716"/>
            <a:ext cx="5848096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3" name="TextBox 72"/>
          <p:cNvSpPr txBox="1"/>
          <p:nvPr/>
        </p:nvSpPr>
        <p:spPr>
          <a:xfrm>
            <a:off x="777240" y="4186716"/>
            <a:ext cx="1293896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1" lang="id-ID">
                <a:solidFill>
                  <a:srgbClr val="1A1A1A"/>
                </a:solidFill>
                <a:latin typeface="Roboto"/>
              </a:rPr>
              <a:t>Sumatera Utara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21936" y="4186716"/>
            <a:ext cx="574505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2.296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798040" y="4186716"/>
            <a:ext cx="574505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1.848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474145" y="4186716"/>
            <a:ext cx="477304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448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053050" y="4186716"/>
            <a:ext cx="458919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613568" y="4186716"/>
            <a:ext cx="478101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11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457864" y="4463898"/>
            <a:ext cx="699676" cy="304952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333" b="1" lang="id-ID">
                <a:solidFill>
                  <a:srgbClr val="C8102E"/>
                </a:solidFill>
                <a:latin typeface="Roboto"/>
              </a:rPr>
              <a:t>0,5%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675640" y="5046032"/>
            <a:ext cx="5848096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1" name="TextBox 80"/>
          <p:cNvSpPr txBox="1"/>
          <p:nvPr/>
        </p:nvSpPr>
        <p:spPr>
          <a:xfrm>
            <a:off x="777240" y="5046032"/>
            <a:ext cx="1293896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1" lang="id-ID">
                <a:solidFill>
                  <a:srgbClr val="1A1A1A"/>
                </a:solidFill>
                <a:latin typeface="Roboto"/>
              </a:rPr>
              <a:t>Sumatera Barat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121936" y="5046032"/>
            <a:ext cx="574505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2.377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798040" y="5046032"/>
            <a:ext cx="574505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2.078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74145" y="5046032"/>
            <a:ext cx="477304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299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053050" y="5046032"/>
            <a:ext cx="458919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84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613568" y="5046032"/>
            <a:ext cx="478101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15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457864" y="5323213"/>
            <a:ext cx="699676" cy="304952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333" b="1" lang="id-ID">
                <a:solidFill>
                  <a:srgbClr val="C8102E"/>
                </a:solidFill>
                <a:latin typeface="Roboto"/>
              </a:rPr>
              <a:t>0,6%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75640" y="5956148"/>
            <a:ext cx="5848096" cy="304952"/>
          </a:xfrm>
          <a:prstGeom prst="roundRect">
            <a:avLst>
              <a:gd name="adj" fmla="val 12493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02640" y="5956148"/>
            <a:ext cx="1319296" cy="30495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121936" y="5956148"/>
            <a:ext cx="574505" cy="30495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FFFFFF"/>
                </a:solidFill>
                <a:latin typeface="Roboto"/>
              </a:rPr>
              <a:t>38.651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98040" y="5956148"/>
            <a:ext cx="574505" cy="30495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FFFFFF"/>
                </a:solidFill>
                <a:latin typeface="Roboto"/>
              </a:rPr>
              <a:t>30.430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474145" y="5956148"/>
            <a:ext cx="477304" cy="30495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FFFFFF"/>
                </a:solidFill>
                <a:latin typeface="Roboto"/>
              </a:rPr>
              <a:t>8.221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053050" y="5956148"/>
            <a:ext cx="458919" cy="30495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FFFFFF"/>
                </a:solidFill>
                <a:latin typeface="Roboto"/>
              </a:rPr>
              <a:t>868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613568" y="5956148"/>
            <a:ext cx="478101" cy="30495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FFFFFF"/>
                </a:solidFill>
                <a:latin typeface="Roboto"/>
              </a:rPr>
              <a:t>850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787896" y="2346960"/>
            <a:ext cx="4855464" cy="400304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6787896" y="2346960"/>
            <a:ext cx="4855464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787896" y="2575560"/>
            <a:ext cx="4855464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6787896" y="2346960"/>
            <a:ext cx="4855464" cy="4003040"/>
          </a:xfrm>
          <a:prstGeom prst="roundRect">
            <a:avLst>
              <a:gd name="adj" fmla="val 1364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6914896" y="242951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0" name="Picture 99" descr="peringatan-FFFFFF-6a80b716-t2.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67474" y="2482088"/>
            <a:ext cx="186944" cy="186944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7295896" y="2346960"/>
            <a:ext cx="4220464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Catatan Huntap</a:t>
            </a:r>
          </a:p>
        </p:txBody>
      </p:sp>
      <p:sp>
        <p:nvSpPr>
          <p:cNvPr id="102" name="Oval 101"/>
          <p:cNvSpPr/>
          <p:nvPr/>
        </p:nvSpPr>
        <p:spPr>
          <a:xfrm>
            <a:off x="6914896" y="3076194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3" name="Picture 102" descr="pembiayaan-FFFFFF-5387a370-t2.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74332" y="3135630"/>
            <a:ext cx="211328" cy="211328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7359396" y="2817828"/>
            <a:ext cx="4055364" cy="84693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725" b="1" lang="id-ID">
                <a:solidFill>
                  <a:srgbClr val="1A1A1A"/>
                </a:solidFill>
                <a:latin typeface="Roboto"/>
              </a:rPr>
              <a:t>Besaran bantuan</a:t>
            </a:r>
          </a:p>
          <a:p>
            <a:pPr algn="just"/>
            <a:r>
              <a:rPr sz="1725" b="0" lang="id-ID">
                <a:solidFill>
                  <a:srgbClr val="1A1A1A"/>
                </a:solidFill>
                <a:latin typeface="Roboto"/>
              </a:rPr>
              <a:t>Rp</a:t>
            </a:r>
            <a:r>
              <a:rPr sz="1725" b="1" lang="id-ID">
                <a:solidFill>
                  <a:srgbClr val="1A1A1A"/>
                </a:solidFill>
                <a:latin typeface="Roboto"/>
              </a:rPr>
              <a:t>70 juta</a:t>
            </a:r>
            <a:r>
              <a:rPr sz="1725" b="0" lang="id-ID">
                <a:solidFill>
                  <a:srgbClr val="1A1A1A"/>
                </a:solidFill>
                <a:latin typeface="Roboto"/>
              </a:rPr>
              <a:t> per unit rumah rusak berat, sesuai Keputusan Kepala BNPB.</a:t>
            </a:r>
          </a:p>
        </p:txBody>
      </p:sp>
      <p:sp>
        <p:nvSpPr>
          <p:cNvPr id="105" name="Oval 104"/>
          <p:cNvSpPr/>
          <p:nvPr/>
        </p:nvSpPr>
        <p:spPr>
          <a:xfrm>
            <a:off x="6914896" y="374726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6" name="Picture 105" descr="data-FFFFFF-608a1e16-t2.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74332" y="3806698"/>
            <a:ext cx="211328" cy="211328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7359396" y="3625818"/>
            <a:ext cx="4055364" cy="5730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725" b="1" lang="id-ID">
                <a:solidFill>
                  <a:srgbClr val="1A1A1A"/>
                </a:solidFill>
                <a:latin typeface="Roboto"/>
              </a:rPr>
              <a:t>Target dapat berubah</a:t>
            </a:r>
          </a:p>
          <a:p>
            <a:pPr algn="just"/>
            <a:r>
              <a:rPr sz="1725" b="1" lang="id-ID">
                <a:solidFill>
                  <a:srgbClr val="1A1A1A"/>
                </a:solidFill>
                <a:latin typeface="Roboto"/>
              </a:rPr>
              <a:t>8.221 usulan</a:t>
            </a:r>
            <a:r>
              <a:rPr sz="1725" b="0" lang="id-ID">
                <a:solidFill>
                  <a:srgbClr val="1A1A1A"/>
                </a:solidFill>
                <a:latin typeface="Roboto"/>
              </a:rPr>
              <a:t> belum selesai direviu APIP.</a:t>
            </a:r>
          </a:p>
        </p:txBody>
      </p:sp>
      <p:sp>
        <p:nvSpPr>
          <p:cNvPr id="108" name="Oval 107"/>
          <p:cNvSpPr/>
          <p:nvPr/>
        </p:nvSpPr>
        <p:spPr>
          <a:xfrm>
            <a:off x="6914896" y="4418330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9" name="Picture 108" descr="infrastruktur-FFFFFF-ba1c96e7-t2.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74332" y="4477766"/>
            <a:ext cx="211328" cy="211328"/>
          </a:xfrm>
          <a:prstGeom prst="rect">
            <a:avLst/>
          </a:prstGeom>
        </p:spPr>
      </p:pic>
      <p:sp>
        <p:nvSpPr>
          <p:cNvPr id="110" name="TextBox 109"/>
          <p:cNvSpPr txBox="1"/>
          <p:nvPr/>
        </p:nvSpPr>
        <p:spPr>
          <a:xfrm>
            <a:off x="7359396" y="4296886"/>
            <a:ext cx="4055364" cy="5730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725" b="1" lang="id-ID">
                <a:solidFill>
                  <a:srgbClr val="1A1A1A"/>
                </a:solidFill>
                <a:latin typeface="Roboto"/>
              </a:rPr>
              <a:t>Perlambatan</a:t>
            </a:r>
          </a:p>
          <a:p>
            <a:pPr algn="just"/>
            <a:r>
              <a:rPr sz="1725" b="0" lang="id-ID">
                <a:solidFill>
                  <a:srgbClr val="1A1A1A"/>
                </a:solidFill>
                <a:latin typeface="Roboto"/>
              </a:rPr>
              <a:t>Semen dan besi mahal dan langka.</a:t>
            </a:r>
          </a:p>
        </p:txBody>
      </p:sp>
      <p:sp>
        <p:nvSpPr>
          <p:cNvPr id="111" name="Oval 110"/>
          <p:cNvSpPr/>
          <p:nvPr/>
        </p:nvSpPr>
        <p:spPr>
          <a:xfrm>
            <a:off x="6914896" y="5089398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2" name="Picture 111" descr="kalender-FFFFFF-a840cf9e-t2.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74332" y="5148834"/>
            <a:ext cx="211328" cy="21132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359396" y="4831032"/>
            <a:ext cx="4055364" cy="84693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725" b="1" lang="id-ID">
                <a:solidFill>
                  <a:srgbClr val="1A1A1A"/>
                </a:solidFill>
                <a:latin typeface="Roboto"/>
              </a:rPr>
              <a:t>Anggaran tambahan</a:t>
            </a:r>
          </a:p>
          <a:p>
            <a:pPr algn="just"/>
            <a:r>
              <a:rPr sz="1725" b="0" lang="id-ID">
                <a:solidFill>
                  <a:srgbClr val="1A1A1A"/>
                </a:solidFill>
                <a:latin typeface="Roboto"/>
              </a:rPr>
              <a:t>ABT disetujui Kemenkeu 22 Oktober 2026.</a:t>
            </a:r>
          </a:p>
        </p:txBody>
      </p:sp>
      <p:sp>
        <p:nvSpPr>
          <p:cNvPr id="114" name="Oval 113"/>
          <p:cNvSpPr/>
          <p:nvPr/>
        </p:nvSpPr>
        <p:spPr>
          <a:xfrm>
            <a:off x="6914896" y="5760466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5" name="Picture 114" descr="lembaga-FFFFFF-f44193c4-t2.6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74332" y="5819902"/>
            <a:ext cx="211328" cy="211328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7359396" y="5639022"/>
            <a:ext cx="4055364" cy="5730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725" b="1" lang="id-ID">
                <a:solidFill>
                  <a:srgbClr val="1A1A1A"/>
                </a:solidFill>
                <a:latin typeface="Roboto"/>
              </a:rPr>
              <a:t>Sinergi kelembagaan</a:t>
            </a:r>
          </a:p>
          <a:p>
            <a:pPr algn="just"/>
            <a:r>
              <a:rPr sz="1725" b="0" lang="id-ID">
                <a:solidFill>
                  <a:srgbClr val="1A1A1A"/>
                </a:solidFill>
                <a:latin typeface="Roboto"/>
              </a:rPr>
              <a:t>Tim teknis pusat dan daerah terpadu.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Kedeputian Bidang RR BNPB, 24 Oktober 2026; data progres dari penyedia, belum dilengkapi dokumen pendukung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642600" cy="8255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Aceh menyumbang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 824 unit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 huntap selesai, terbanyak di Aceh Tamiang</a:t>
            </a:r>
            <a:br/>
            <a:r>
              <a:rPr sz="2200" b="1" lang="id-ID">
                <a:solidFill>
                  <a:srgbClr val="1A1A1A"/>
                </a:solidFill>
                <a:latin typeface="Roboto"/>
              </a:rPr>
              <a:t>dan Bireuen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0650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15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03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Huntap dan RB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62728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282700"/>
            <a:ext cx="11094720" cy="5067300"/>
          </a:xfrm>
          <a:prstGeom prst="roundRect">
            <a:avLst>
              <a:gd name="adj" fmla="val 1077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1282700"/>
            <a:ext cx="1109472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511300"/>
            <a:ext cx="1109472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1282700"/>
            <a:ext cx="11094720" cy="5067300"/>
          </a:xfrm>
          <a:prstGeom prst="roundRect">
            <a:avLst>
              <a:gd name="adj" fmla="val 1077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36525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41782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1282700"/>
            <a:ext cx="1033272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Huntap per Kabupaten/Kota di Aceh</a:t>
            </a:r>
          </a:p>
        </p:txBody>
      </p:sp>
      <p:sp>
        <p:nvSpPr>
          <p:cNvPr id="23" name="Pita kepala tabel"/>
          <p:cNvSpPr/>
          <p:nvPr/>
        </p:nvSpPr>
        <p:spPr>
          <a:xfrm>
            <a:off x="675640" y="1841500"/>
            <a:ext cx="10840720" cy="421640"/>
          </a:xfrm>
          <a:prstGeom prst="roundRect">
            <a:avLst>
              <a:gd name="adj" fmla="val 9036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2830" y="1841500"/>
            <a:ext cx="1286094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KABUPATEN/KOTA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89724" y="2052320"/>
            <a:ext cx="217890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SUDAH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70225" y="2052320"/>
            <a:ext cx="217405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PROSES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5876" y="2052320"/>
            <a:ext cx="217405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PROSES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1527" y="2052320"/>
            <a:ext cx="2193233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SELESAI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9724" y="1841500"/>
            <a:ext cx="445455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REVIU USULAN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440524" y="2039620"/>
            <a:ext cx="4352952" cy="0"/>
          </a:xfrm>
          <a:prstGeom prst="line">
            <a:avLst/>
          </a:prstGeom>
          <a:ln w="6350">
            <a:solidFill>
              <a:srgbClr val="FFFFFF"/>
            </a:solidFill>
          </a:ln>
        </p:spPr>
      </p:cxnSp>
      <p:sp>
        <p:nvSpPr>
          <p:cNvPr id="31" name="TextBox 30"/>
          <p:cNvSpPr txBox="1"/>
          <p:nvPr/>
        </p:nvSpPr>
        <p:spPr>
          <a:xfrm>
            <a:off x="6945876" y="1841500"/>
            <a:ext cx="4468884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PEMBANGUNAN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996676" y="2039620"/>
            <a:ext cx="4367284" cy="0"/>
          </a:xfrm>
          <a:prstGeom prst="line">
            <a:avLst/>
          </a:prstGeom>
          <a:ln w="6350">
            <a:solidFill>
              <a:srgbClr val="FFFFFF"/>
            </a:solidFill>
          </a:ln>
        </p:spPr>
      </p:cxnSp>
      <p:sp>
        <p:nvSpPr>
          <p:cNvPr id="33" name="Pita kolom utama"/>
          <p:cNvSpPr/>
          <p:nvPr/>
        </p:nvSpPr>
        <p:spPr>
          <a:xfrm>
            <a:off x="675640" y="2263140"/>
            <a:ext cx="1637884" cy="368046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675640" y="594360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35" name="Oval 34"/>
          <p:cNvSpPr/>
          <p:nvPr/>
        </p:nvSpPr>
        <p:spPr>
          <a:xfrm>
            <a:off x="777240" y="2284394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830" y="2263140"/>
            <a:ext cx="1286094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Aceh Tamiang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89724" y="2263140"/>
            <a:ext cx="217890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9.403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70225" y="2263140"/>
            <a:ext cx="217405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642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5876" y="2263140"/>
            <a:ext cx="217405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67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21527" y="2263140"/>
            <a:ext cx="219323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394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75640" y="2479638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2" name="Oval 41"/>
          <p:cNvSpPr/>
          <p:nvPr/>
        </p:nvSpPr>
        <p:spPr>
          <a:xfrm>
            <a:off x="777240" y="2500891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2830" y="2479638"/>
            <a:ext cx="1286094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Aceh Utara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89724" y="2479638"/>
            <a:ext cx="217890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7.816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70225" y="2479638"/>
            <a:ext cx="217405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45876" y="2479638"/>
            <a:ext cx="217405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71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21527" y="2479638"/>
            <a:ext cx="219323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23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75640" y="2696135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9" name="Oval 48"/>
          <p:cNvSpPr/>
          <p:nvPr/>
        </p:nvSpPr>
        <p:spPr>
          <a:xfrm>
            <a:off x="777240" y="2717389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2830" y="2696135"/>
            <a:ext cx="1286094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Aceh Timur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89724" y="2696135"/>
            <a:ext cx="217890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2.747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70225" y="2696135"/>
            <a:ext cx="217405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3.702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45876" y="2696135"/>
            <a:ext cx="217405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174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21527" y="2696135"/>
            <a:ext cx="219323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63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75640" y="2912633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6" name="Oval 55"/>
          <p:cNvSpPr/>
          <p:nvPr/>
        </p:nvSpPr>
        <p:spPr>
          <a:xfrm>
            <a:off x="777240" y="2933887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2830" y="2912633"/>
            <a:ext cx="1286094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Aceh Tengah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389724" y="2912633"/>
            <a:ext cx="217890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1.930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70225" y="2912633"/>
            <a:ext cx="217405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754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45876" y="2912633"/>
            <a:ext cx="217405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54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21527" y="2912633"/>
            <a:ext cx="219323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75640" y="3129131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3" name="Oval 62"/>
          <p:cNvSpPr/>
          <p:nvPr/>
        </p:nvSpPr>
        <p:spPr>
          <a:xfrm>
            <a:off x="777240" y="3150384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2830" y="3129131"/>
            <a:ext cx="1286094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Pidie Jaya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389724" y="3129131"/>
            <a:ext cx="217890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2.268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70225" y="3129131"/>
            <a:ext cx="217405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945876" y="3129131"/>
            <a:ext cx="217405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21527" y="3129131"/>
            <a:ext cx="219323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6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75640" y="3345628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0" name="Oval 69"/>
          <p:cNvSpPr/>
          <p:nvPr/>
        </p:nvSpPr>
        <p:spPr>
          <a:xfrm>
            <a:off x="777240" y="3366882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2830" y="3345628"/>
            <a:ext cx="1286094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Bireuen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389724" y="3345628"/>
            <a:ext cx="217890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340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70225" y="3345628"/>
            <a:ext cx="217405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1.125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45876" y="3345628"/>
            <a:ext cx="217405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248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21527" y="3345628"/>
            <a:ext cx="219323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338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75640" y="3562126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7" name="Oval 76"/>
          <p:cNvSpPr/>
          <p:nvPr/>
        </p:nvSpPr>
        <p:spPr>
          <a:xfrm>
            <a:off x="777240" y="3583380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2830" y="3562126"/>
            <a:ext cx="1286094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Bener Meriah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89724" y="3562126"/>
            <a:ext cx="217890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645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670225" y="3562126"/>
            <a:ext cx="217405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463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945876" y="3562126"/>
            <a:ext cx="217405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42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221527" y="3562126"/>
            <a:ext cx="219323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675640" y="3778624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4" name="Oval 83"/>
          <p:cNvSpPr/>
          <p:nvPr/>
        </p:nvSpPr>
        <p:spPr>
          <a:xfrm>
            <a:off x="777240" y="3799877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52830" y="3778624"/>
            <a:ext cx="1286094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Gayo Lues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389724" y="3778624"/>
            <a:ext cx="217890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104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670225" y="3778624"/>
            <a:ext cx="217405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750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45876" y="3778624"/>
            <a:ext cx="217405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221527" y="3778624"/>
            <a:ext cx="219323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675640" y="3995121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1" name="Oval 90"/>
          <p:cNvSpPr/>
          <p:nvPr/>
        </p:nvSpPr>
        <p:spPr>
          <a:xfrm>
            <a:off x="777240" y="4016375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52830" y="3995121"/>
            <a:ext cx="1286094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Nagan Raya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89724" y="3995121"/>
            <a:ext cx="217890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658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670225" y="3995121"/>
            <a:ext cx="217405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945876" y="3995121"/>
            <a:ext cx="217405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221527" y="3995121"/>
            <a:ext cx="219323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675640" y="4211619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8" name="Oval 97"/>
          <p:cNvSpPr/>
          <p:nvPr/>
        </p:nvSpPr>
        <p:spPr>
          <a:xfrm>
            <a:off x="777240" y="4232873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52830" y="4211619"/>
            <a:ext cx="1286094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Aceh Tenggara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389724" y="4211619"/>
            <a:ext cx="217890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342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670225" y="4211619"/>
            <a:ext cx="217405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945876" y="4211619"/>
            <a:ext cx="217405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90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221527" y="4211619"/>
            <a:ext cx="219323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675640" y="4428116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05" name="Oval 104"/>
          <p:cNvSpPr/>
          <p:nvPr/>
        </p:nvSpPr>
        <p:spPr>
          <a:xfrm>
            <a:off x="777240" y="4449370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52830" y="4428116"/>
            <a:ext cx="1286094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Lhokseumawe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389724" y="4428116"/>
            <a:ext cx="217890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74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670225" y="4428116"/>
            <a:ext cx="217405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5876" y="4428116"/>
            <a:ext cx="217405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221527" y="4428116"/>
            <a:ext cx="219323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675640" y="4644614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12" name="Oval 111"/>
          <p:cNvSpPr/>
          <p:nvPr/>
        </p:nvSpPr>
        <p:spPr>
          <a:xfrm>
            <a:off x="777240" y="4665868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52830" y="4644614"/>
            <a:ext cx="1286094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Aceh Singkil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389724" y="4644614"/>
            <a:ext cx="217890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65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670225" y="4644614"/>
            <a:ext cx="217405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5876" y="4644614"/>
            <a:ext cx="217405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221527" y="4644614"/>
            <a:ext cx="219323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675640" y="4861112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19" name="Oval 118"/>
          <p:cNvSpPr/>
          <p:nvPr/>
        </p:nvSpPr>
        <p:spPr>
          <a:xfrm>
            <a:off x="777240" y="4882366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52830" y="4861112"/>
            <a:ext cx="1286094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Aceh Barat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389724" y="4861112"/>
            <a:ext cx="217890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49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670225" y="4861112"/>
            <a:ext cx="217405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945876" y="4861112"/>
            <a:ext cx="217405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221527" y="4861112"/>
            <a:ext cx="219323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675640" y="5077609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26" name="Oval 125"/>
          <p:cNvSpPr/>
          <p:nvPr/>
        </p:nvSpPr>
        <p:spPr>
          <a:xfrm>
            <a:off x="777240" y="5098863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52830" y="5077609"/>
            <a:ext cx="1286094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Pidie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389724" y="5077609"/>
            <a:ext cx="217890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42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670225" y="5077609"/>
            <a:ext cx="217405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945876" y="5077609"/>
            <a:ext cx="217405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221527" y="5077609"/>
            <a:ext cx="219323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675640" y="5294107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33" name="Oval 132"/>
          <p:cNvSpPr/>
          <p:nvPr/>
        </p:nvSpPr>
        <p:spPr>
          <a:xfrm>
            <a:off x="777240" y="5315361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052830" y="5294107"/>
            <a:ext cx="1286094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Aceh Selatan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389724" y="5294107"/>
            <a:ext cx="217890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670225" y="5294107"/>
            <a:ext cx="217405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945876" y="5294107"/>
            <a:ext cx="217405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221527" y="5294107"/>
            <a:ext cx="219323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75640" y="5510605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40" name="Oval 139"/>
          <p:cNvSpPr/>
          <p:nvPr/>
        </p:nvSpPr>
        <p:spPr>
          <a:xfrm>
            <a:off x="777240" y="5531859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52830" y="5510605"/>
            <a:ext cx="1286094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Subulussalam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389724" y="5510605"/>
            <a:ext cx="217890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670225" y="5510605"/>
            <a:ext cx="217405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945876" y="5510605"/>
            <a:ext cx="217405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221527" y="5510605"/>
            <a:ext cx="219323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675640" y="5727102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47" name="Oval 146"/>
          <p:cNvSpPr/>
          <p:nvPr/>
        </p:nvSpPr>
        <p:spPr>
          <a:xfrm>
            <a:off x="777240" y="5748356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52830" y="5727102"/>
            <a:ext cx="1286094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Langsa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389724" y="5727102"/>
            <a:ext cx="217890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670225" y="5727102"/>
            <a:ext cx="217405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945876" y="5727102"/>
            <a:ext cx="2174051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30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221527" y="5727102"/>
            <a:ext cx="219323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75640" y="5994400"/>
            <a:ext cx="10840720" cy="266700"/>
          </a:xfrm>
          <a:prstGeom prst="roundRect">
            <a:avLst>
              <a:gd name="adj" fmla="val 14285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052830" y="5994400"/>
            <a:ext cx="1336894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389724" y="5994400"/>
            <a:ext cx="2178901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26.504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670225" y="5994400"/>
            <a:ext cx="2174051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7.474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945876" y="5994400"/>
            <a:ext cx="2174051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781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221527" y="5994400"/>
            <a:ext cx="2193233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824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Kedeputian Bidang RR BNPB, 24 Oktober 2026; data progres dari penyedia, belum dilengkapi dokumen pendukung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Sumatera Utara menyelesaikan 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11 unit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 huntap, terbanyak di Langkat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03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Huntap dan RB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62728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11094720" cy="5367020"/>
          </a:xfrm>
          <a:prstGeom prst="roundRect">
            <a:avLst>
              <a:gd name="adj" fmla="val 1017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1109472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1109472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11094720" cy="5367020"/>
          </a:xfrm>
          <a:prstGeom prst="roundRect">
            <a:avLst>
              <a:gd name="adj" fmla="val 1017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1033272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Huntap per Kabupaten/Kota di Sumatera Utara</a:t>
            </a:r>
          </a:p>
        </p:txBody>
      </p:sp>
      <p:sp>
        <p:nvSpPr>
          <p:cNvPr id="23" name="Pita kepala tabel"/>
          <p:cNvSpPr/>
          <p:nvPr/>
        </p:nvSpPr>
        <p:spPr>
          <a:xfrm>
            <a:off x="675640" y="1541780"/>
            <a:ext cx="10840720" cy="421640"/>
          </a:xfrm>
          <a:prstGeom prst="roundRect">
            <a:avLst>
              <a:gd name="adj" fmla="val 9036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2830" y="1541780"/>
            <a:ext cx="1502667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KABUPATEN/KOTA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297" y="1752600"/>
            <a:ext cx="208039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SUDAH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88295" y="1752600"/>
            <a:ext cx="2134694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PROSES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24589" y="1752600"/>
            <a:ext cx="2134694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PROSES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60883" y="1752600"/>
            <a:ext cx="215387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SELESAI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297" y="1541780"/>
            <a:ext cx="431669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REVIU USULAN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657097" y="1739900"/>
            <a:ext cx="4215092" cy="0"/>
          </a:xfrm>
          <a:prstGeom prst="line">
            <a:avLst/>
          </a:prstGeom>
          <a:ln w="6350">
            <a:solidFill>
              <a:srgbClr val="FFFFFF"/>
            </a:solidFill>
          </a:ln>
        </p:spPr>
      </p:cxnSp>
      <p:sp>
        <p:nvSpPr>
          <p:cNvPr id="31" name="TextBox 30"/>
          <p:cNvSpPr txBox="1"/>
          <p:nvPr/>
        </p:nvSpPr>
        <p:spPr>
          <a:xfrm>
            <a:off x="7024589" y="1541780"/>
            <a:ext cx="439017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PEMBANGUNAN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075389" y="1739900"/>
            <a:ext cx="4288571" cy="0"/>
          </a:xfrm>
          <a:prstGeom prst="line">
            <a:avLst/>
          </a:prstGeom>
          <a:ln w="6350">
            <a:solidFill>
              <a:srgbClr val="FFFFFF"/>
            </a:solidFill>
          </a:ln>
        </p:spPr>
      </p:cxnSp>
      <p:sp>
        <p:nvSpPr>
          <p:cNvPr id="33" name="Pita kolom utama"/>
          <p:cNvSpPr/>
          <p:nvPr/>
        </p:nvSpPr>
        <p:spPr>
          <a:xfrm>
            <a:off x="675640" y="1963420"/>
            <a:ext cx="1854457" cy="39801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675640" y="594360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35" name="Oval 34"/>
          <p:cNvSpPr/>
          <p:nvPr/>
        </p:nvSpPr>
        <p:spPr>
          <a:xfrm>
            <a:off x="777240" y="1986986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830" y="1963420"/>
            <a:ext cx="150266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Batubara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06297" y="1963420"/>
            <a:ext cx="208039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88295" y="1963420"/>
            <a:ext cx="2134694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24589" y="1963420"/>
            <a:ext cx="2134694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60883" y="1963420"/>
            <a:ext cx="215387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75640" y="2184541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2" name="Oval 41"/>
          <p:cNvSpPr/>
          <p:nvPr/>
        </p:nvSpPr>
        <p:spPr>
          <a:xfrm>
            <a:off x="777240" y="2208107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2830" y="2184541"/>
            <a:ext cx="150266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Deli Serdang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06297" y="2184541"/>
            <a:ext cx="208039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88295" y="2184541"/>
            <a:ext cx="2134694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24589" y="2184541"/>
            <a:ext cx="2134694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60883" y="2184541"/>
            <a:ext cx="215387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75640" y="2405662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9" name="Oval 48"/>
          <p:cNvSpPr/>
          <p:nvPr/>
        </p:nvSpPr>
        <p:spPr>
          <a:xfrm>
            <a:off x="777240" y="2429228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2830" y="2405662"/>
            <a:ext cx="150266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Humbang Hasundutan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06297" y="2405662"/>
            <a:ext cx="208039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81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88295" y="2405662"/>
            <a:ext cx="2134694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24589" y="2405662"/>
            <a:ext cx="2134694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60883" y="2405662"/>
            <a:ext cx="215387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75640" y="2626783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6" name="Oval 55"/>
          <p:cNvSpPr/>
          <p:nvPr/>
        </p:nvSpPr>
        <p:spPr>
          <a:xfrm>
            <a:off x="777240" y="2650349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2830" y="2626783"/>
            <a:ext cx="150266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Binjai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297" y="2626783"/>
            <a:ext cx="208039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88295" y="2626783"/>
            <a:ext cx="2134694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24589" y="2626783"/>
            <a:ext cx="2134694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60883" y="2626783"/>
            <a:ext cx="215387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75640" y="2847904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3" name="Oval 62"/>
          <p:cNvSpPr/>
          <p:nvPr/>
        </p:nvSpPr>
        <p:spPr>
          <a:xfrm>
            <a:off x="777240" y="2871470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2830" y="2847904"/>
            <a:ext cx="150266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Medan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06297" y="2847904"/>
            <a:ext cx="208039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788295" y="2847904"/>
            <a:ext cx="2134694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024589" y="2847904"/>
            <a:ext cx="2134694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60883" y="2847904"/>
            <a:ext cx="215387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75640" y="3069026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0" name="Oval 69"/>
          <p:cNvSpPr/>
          <p:nvPr/>
        </p:nvSpPr>
        <p:spPr>
          <a:xfrm>
            <a:off x="777240" y="3092591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2830" y="3069026"/>
            <a:ext cx="150266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Padangsidimpuan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606297" y="3069026"/>
            <a:ext cx="208039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88295" y="3069026"/>
            <a:ext cx="2134694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024589" y="3069026"/>
            <a:ext cx="2134694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60883" y="3069026"/>
            <a:ext cx="215387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75640" y="3290147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7" name="Oval 76"/>
          <p:cNvSpPr/>
          <p:nvPr/>
        </p:nvSpPr>
        <p:spPr>
          <a:xfrm>
            <a:off x="777240" y="3313712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2830" y="3290147"/>
            <a:ext cx="150266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Sibolga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06297" y="3290147"/>
            <a:ext cx="208039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788295" y="3290147"/>
            <a:ext cx="2134694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24589" y="3290147"/>
            <a:ext cx="2134694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260883" y="3290147"/>
            <a:ext cx="215387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675640" y="3511268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4" name="Oval 83"/>
          <p:cNvSpPr/>
          <p:nvPr/>
        </p:nvSpPr>
        <p:spPr>
          <a:xfrm>
            <a:off x="777240" y="3534833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52830" y="3511268"/>
            <a:ext cx="150266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Tebing Tinggi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606297" y="3511268"/>
            <a:ext cx="208039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788295" y="3511268"/>
            <a:ext cx="2134694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024589" y="3511268"/>
            <a:ext cx="2134694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260883" y="3511268"/>
            <a:ext cx="215387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675640" y="3732389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1" name="Oval 90"/>
          <p:cNvSpPr/>
          <p:nvPr/>
        </p:nvSpPr>
        <p:spPr>
          <a:xfrm>
            <a:off x="777240" y="3755954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52830" y="3732389"/>
            <a:ext cx="150266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Langkat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606297" y="3732389"/>
            <a:ext cx="208039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299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788295" y="3732389"/>
            <a:ext cx="2134694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24589" y="3732389"/>
            <a:ext cx="2134694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260883" y="3732389"/>
            <a:ext cx="215387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8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675640" y="3953510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8" name="Oval 97"/>
          <p:cNvSpPr/>
          <p:nvPr/>
        </p:nvSpPr>
        <p:spPr>
          <a:xfrm>
            <a:off x="777240" y="3977076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52830" y="3953510"/>
            <a:ext cx="150266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Mandailing Natal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606297" y="3953510"/>
            <a:ext cx="208039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788295" y="3953510"/>
            <a:ext cx="2134694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024589" y="3953510"/>
            <a:ext cx="2134694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260883" y="3953510"/>
            <a:ext cx="215387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675640" y="4174631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05" name="Oval 104"/>
          <p:cNvSpPr/>
          <p:nvPr/>
        </p:nvSpPr>
        <p:spPr>
          <a:xfrm>
            <a:off x="777240" y="4198197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52830" y="4174631"/>
            <a:ext cx="150266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Nias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606297" y="4174631"/>
            <a:ext cx="208039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788295" y="4174631"/>
            <a:ext cx="2134694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024589" y="4174631"/>
            <a:ext cx="2134694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260883" y="4174631"/>
            <a:ext cx="215387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675640" y="4395752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12" name="Oval 111"/>
          <p:cNvSpPr/>
          <p:nvPr/>
        </p:nvSpPr>
        <p:spPr>
          <a:xfrm>
            <a:off x="777240" y="4419318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52830" y="4395752"/>
            <a:ext cx="150266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Nias Selatan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606297" y="4395752"/>
            <a:ext cx="208039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788295" y="4395752"/>
            <a:ext cx="2134694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024589" y="4395752"/>
            <a:ext cx="2134694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260883" y="4395752"/>
            <a:ext cx="215387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675640" y="4616873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19" name="Oval 118"/>
          <p:cNvSpPr/>
          <p:nvPr/>
        </p:nvSpPr>
        <p:spPr>
          <a:xfrm>
            <a:off x="777240" y="4640439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52830" y="4616873"/>
            <a:ext cx="150266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Nias Barat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606297" y="4616873"/>
            <a:ext cx="208039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788295" y="4616873"/>
            <a:ext cx="2134694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024589" y="4616873"/>
            <a:ext cx="2134694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260883" y="4616873"/>
            <a:ext cx="215387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675640" y="4837994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26" name="Oval 125"/>
          <p:cNvSpPr/>
          <p:nvPr/>
        </p:nvSpPr>
        <p:spPr>
          <a:xfrm>
            <a:off x="777240" y="4861560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52830" y="4837994"/>
            <a:ext cx="150266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Pakpak Bharat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606297" y="4837994"/>
            <a:ext cx="208039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788295" y="4837994"/>
            <a:ext cx="2134694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024589" y="4837994"/>
            <a:ext cx="2134694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260883" y="4837994"/>
            <a:ext cx="215387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675640" y="5059116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33" name="Oval 132"/>
          <p:cNvSpPr/>
          <p:nvPr/>
        </p:nvSpPr>
        <p:spPr>
          <a:xfrm>
            <a:off x="777240" y="5082681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052830" y="5059116"/>
            <a:ext cx="150266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Serdang Bedagai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606297" y="5059116"/>
            <a:ext cx="208039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788295" y="5059116"/>
            <a:ext cx="2134694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024589" y="5059116"/>
            <a:ext cx="2134694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260883" y="5059116"/>
            <a:ext cx="215387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75640" y="5280237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40" name="Oval 139"/>
          <p:cNvSpPr/>
          <p:nvPr/>
        </p:nvSpPr>
        <p:spPr>
          <a:xfrm>
            <a:off x="777240" y="5303802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52830" y="5280237"/>
            <a:ext cx="150266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Tapanuli Selatan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606297" y="5280237"/>
            <a:ext cx="208039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303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788295" y="5280237"/>
            <a:ext cx="2134694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103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024589" y="5280237"/>
            <a:ext cx="2134694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260883" y="5280237"/>
            <a:ext cx="215387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675640" y="5501358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47" name="Oval 146"/>
          <p:cNvSpPr/>
          <p:nvPr/>
        </p:nvSpPr>
        <p:spPr>
          <a:xfrm>
            <a:off x="777240" y="5524923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52830" y="5501358"/>
            <a:ext cx="150266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Tapanuli Utara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606297" y="5501358"/>
            <a:ext cx="208039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92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788295" y="5501358"/>
            <a:ext cx="2134694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024589" y="5501358"/>
            <a:ext cx="2134694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260883" y="5501358"/>
            <a:ext cx="215387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3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675640" y="5722479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54" name="Oval 153"/>
          <p:cNvSpPr/>
          <p:nvPr/>
        </p:nvSpPr>
        <p:spPr>
          <a:xfrm>
            <a:off x="777240" y="5746044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52830" y="5722479"/>
            <a:ext cx="150266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Tapanuli Tengah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606297" y="5722479"/>
            <a:ext cx="208039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958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788295" y="5722479"/>
            <a:ext cx="2134694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90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024589" y="5722479"/>
            <a:ext cx="2134694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260883" y="5722479"/>
            <a:ext cx="2153877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75640" y="5994400"/>
            <a:ext cx="10840720" cy="266700"/>
          </a:xfrm>
          <a:prstGeom prst="roundRect">
            <a:avLst>
              <a:gd name="adj" fmla="val 14285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1052830" y="5994400"/>
            <a:ext cx="1553467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606297" y="5994400"/>
            <a:ext cx="2080397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1.848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788295" y="5994400"/>
            <a:ext cx="2134694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448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7024589" y="5994400"/>
            <a:ext cx="2134694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260883" y="5994400"/>
            <a:ext cx="2153877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11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Kedeputian Bidang RR BNPB, 24 Oktober 2026; data progres dari penyedia, belum dilengkapi dokumen pendukung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Sumatera Barat menyelesaikan 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15 unit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 huntap, terbanyak di Agam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03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Huntap dan RB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62728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11094720" cy="5367020"/>
          </a:xfrm>
          <a:prstGeom prst="roundRect">
            <a:avLst>
              <a:gd name="adj" fmla="val 1017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1109472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1109472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11094720" cy="5367020"/>
          </a:xfrm>
          <a:prstGeom prst="roundRect">
            <a:avLst>
              <a:gd name="adj" fmla="val 1017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1033272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Huntap per Kabupaten/Kota di Sumatera Barat</a:t>
            </a:r>
          </a:p>
        </p:txBody>
      </p:sp>
      <p:sp>
        <p:nvSpPr>
          <p:cNvPr id="23" name="Pita kepala tabel"/>
          <p:cNvSpPr/>
          <p:nvPr/>
        </p:nvSpPr>
        <p:spPr>
          <a:xfrm>
            <a:off x="675640" y="1541780"/>
            <a:ext cx="10840720" cy="421640"/>
          </a:xfrm>
          <a:prstGeom prst="roundRect">
            <a:avLst>
              <a:gd name="adj" fmla="val 9036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2830" y="1541780"/>
            <a:ext cx="1363381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KABUPATEN/KOTA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7011" y="1752600"/>
            <a:ext cx="211521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SUDAH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3830" y="1752600"/>
            <a:ext cx="2169516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PROSES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54946" y="1752600"/>
            <a:ext cx="2169516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PROSES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061" y="1752600"/>
            <a:ext cx="218869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SELESAI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7011" y="1541780"/>
            <a:ext cx="4386335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REVIU USULAN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517811" y="1739900"/>
            <a:ext cx="4284735" cy="0"/>
          </a:xfrm>
          <a:prstGeom prst="line">
            <a:avLst/>
          </a:prstGeom>
          <a:ln w="6350">
            <a:solidFill>
              <a:srgbClr val="FFFFFF"/>
            </a:solidFill>
          </a:ln>
        </p:spPr>
      </p:cxnSp>
      <p:sp>
        <p:nvSpPr>
          <p:cNvPr id="31" name="TextBox 30"/>
          <p:cNvSpPr txBox="1"/>
          <p:nvPr/>
        </p:nvSpPr>
        <p:spPr>
          <a:xfrm>
            <a:off x="6954946" y="1541780"/>
            <a:ext cx="4459814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PEMBANGUNAN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005746" y="1739900"/>
            <a:ext cx="4358214" cy="0"/>
          </a:xfrm>
          <a:prstGeom prst="line">
            <a:avLst/>
          </a:prstGeom>
          <a:ln w="6350">
            <a:solidFill>
              <a:srgbClr val="FFFFFF"/>
            </a:solidFill>
          </a:ln>
        </p:spPr>
      </p:cxnSp>
      <p:sp>
        <p:nvSpPr>
          <p:cNvPr id="33" name="Pita kolom utama"/>
          <p:cNvSpPr/>
          <p:nvPr/>
        </p:nvSpPr>
        <p:spPr>
          <a:xfrm>
            <a:off x="675640" y="1963420"/>
            <a:ext cx="1715171" cy="39801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675640" y="594360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35" name="Oval 34"/>
          <p:cNvSpPr/>
          <p:nvPr/>
        </p:nvSpPr>
        <p:spPr>
          <a:xfrm>
            <a:off x="777240" y="2042266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830" y="1963420"/>
            <a:ext cx="1363381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Pasaman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7011" y="1963420"/>
            <a:ext cx="211521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83830" y="1963420"/>
            <a:ext cx="2169516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54946" y="1963420"/>
            <a:ext cx="2169516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26061" y="1963420"/>
            <a:ext cx="218869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75640" y="2295102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2" name="Oval 41"/>
          <p:cNvSpPr/>
          <p:nvPr/>
        </p:nvSpPr>
        <p:spPr>
          <a:xfrm>
            <a:off x="777240" y="2373948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2830" y="2295102"/>
            <a:ext cx="1363381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Pasaman Barat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67011" y="2295102"/>
            <a:ext cx="211521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83830" y="2295102"/>
            <a:ext cx="2169516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54946" y="2295102"/>
            <a:ext cx="2169516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26061" y="2295102"/>
            <a:ext cx="218869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75640" y="2626783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9" name="Oval 48"/>
          <p:cNvSpPr/>
          <p:nvPr/>
        </p:nvSpPr>
        <p:spPr>
          <a:xfrm>
            <a:off x="777240" y="2705629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2830" y="2626783"/>
            <a:ext cx="1363381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Agam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67011" y="2626783"/>
            <a:ext cx="211521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1.124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83830" y="2626783"/>
            <a:ext cx="2169516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54946" y="2626783"/>
            <a:ext cx="2169516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82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26061" y="2626783"/>
            <a:ext cx="218869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10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75640" y="2958465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6" name="Oval 55"/>
          <p:cNvSpPr/>
          <p:nvPr/>
        </p:nvSpPr>
        <p:spPr>
          <a:xfrm>
            <a:off x="777240" y="3037311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2830" y="2958465"/>
            <a:ext cx="1363381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Padang Panjang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467011" y="2958465"/>
            <a:ext cx="211521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83830" y="2958465"/>
            <a:ext cx="2169516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54946" y="2958465"/>
            <a:ext cx="2169516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26061" y="2958465"/>
            <a:ext cx="218869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75640" y="3290147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3" name="Oval 62"/>
          <p:cNvSpPr/>
          <p:nvPr/>
        </p:nvSpPr>
        <p:spPr>
          <a:xfrm>
            <a:off x="777240" y="3368993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2830" y="3290147"/>
            <a:ext cx="1363381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Padang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7011" y="3290147"/>
            <a:ext cx="211521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83830" y="3290147"/>
            <a:ext cx="2169516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954946" y="3290147"/>
            <a:ext cx="2169516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26061" y="3290147"/>
            <a:ext cx="218869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75640" y="3621828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0" name="Oval 69"/>
          <p:cNvSpPr/>
          <p:nvPr/>
        </p:nvSpPr>
        <p:spPr>
          <a:xfrm>
            <a:off x="777240" y="3700674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2830" y="3621828"/>
            <a:ext cx="1363381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Solok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467011" y="3621828"/>
            <a:ext cx="211521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83830" y="3621828"/>
            <a:ext cx="2169516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190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54946" y="3621828"/>
            <a:ext cx="2169516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26061" y="3621828"/>
            <a:ext cx="218869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75640" y="3953510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7" name="Oval 76"/>
          <p:cNvSpPr/>
          <p:nvPr/>
        </p:nvSpPr>
        <p:spPr>
          <a:xfrm>
            <a:off x="777240" y="4032356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2830" y="3953510"/>
            <a:ext cx="1363381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Lima Puluh Kota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467011" y="3953510"/>
            <a:ext cx="211521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49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683830" y="3953510"/>
            <a:ext cx="2169516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954946" y="3953510"/>
            <a:ext cx="2169516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226061" y="3953510"/>
            <a:ext cx="218869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675640" y="4285192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4" name="Oval 83"/>
          <p:cNvSpPr/>
          <p:nvPr/>
        </p:nvSpPr>
        <p:spPr>
          <a:xfrm>
            <a:off x="777240" y="4364038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52830" y="4285192"/>
            <a:ext cx="1363381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Tanah Datar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467011" y="4285192"/>
            <a:ext cx="211521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145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683830" y="4285192"/>
            <a:ext cx="2169516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88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4946" y="4285192"/>
            <a:ext cx="2169516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226061" y="4285192"/>
            <a:ext cx="218869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675640" y="4616873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1" name="Oval 90"/>
          <p:cNvSpPr/>
          <p:nvPr/>
        </p:nvSpPr>
        <p:spPr>
          <a:xfrm>
            <a:off x="777240" y="4695719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52830" y="4616873"/>
            <a:ext cx="1363381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Padang Pariaman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467011" y="4616873"/>
            <a:ext cx="211521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672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683830" y="4616873"/>
            <a:ext cx="2169516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954946" y="4616873"/>
            <a:ext cx="2169516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226061" y="4616873"/>
            <a:ext cx="218869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675640" y="4948555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8" name="Oval 97"/>
          <p:cNvSpPr/>
          <p:nvPr/>
        </p:nvSpPr>
        <p:spPr>
          <a:xfrm>
            <a:off x="777240" y="5027401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52830" y="4948555"/>
            <a:ext cx="1363381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Pariaman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467011" y="4948555"/>
            <a:ext cx="211521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683830" y="4948555"/>
            <a:ext cx="2169516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954946" y="4948555"/>
            <a:ext cx="2169516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226061" y="4948555"/>
            <a:ext cx="218869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675640" y="5280237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05" name="Oval 104"/>
          <p:cNvSpPr/>
          <p:nvPr/>
        </p:nvSpPr>
        <p:spPr>
          <a:xfrm>
            <a:off x="777240" y="5359082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52830" y="5280237"/>
            <a:ext cx="1363381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Pesisir Selatan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467011" y="5280237"/>
            <a:ext cx="211521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683830" y="5280237"/>
            <a:ext cx="2169516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54946" y="5280237"/>
            <a:ext cx="2169516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226061" y="5280237"/>
            <a:ext cx="218869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675640" y="5611918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12" name="Oval 111"/>
          <p:cNvSpPr/>
          <p:nvPr/>
        </p:nvSpPr>
        <p:spPr>
          <a:xfrm>
            <a:off x="777240" y="5690764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52830" y="5611918"/>
            <a:ext cx="1363381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Kepulauan Mentawai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467011" y="5611918"/>
            <a:ext cx="211521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683830" y="5611918"/>
            <a:ext cx="2169516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54946" y="5611918"/>
            <a:ext cx="2169516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226061" y="5611918"/>
            <a:ext cx="218869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75640" y="5994400"/>
            <a:ext cx="10840720" cy="266700"/>
          </a:xfrm>
          <a:prstGeom prst="roundRect">
            <a:avLst>
              <a:gd name="adj" fmla="val 14285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52830" y="5994400"/>
            <a:ext cx="1414181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467011" y="5994400"/>
            <a:ext cx="2115219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2.078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683830" y="5994400"/>
            <a:ext cx="2169516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299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954946" y="5994400"/>
            <a:ext cx="2169516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84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226061" y="5994400"/>
            <a:ext cx="2188699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15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Kedeputian Bidang RR BNPB, 24 Oktober 2026; data progres dari penyedia, belum dilengkapi dokumen pendukung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642600" cy="8255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Rencana transfer stimulan tahap II sampai IV pada akhir Oktober 2026 sebesar</a:t>
            </a:r>
            <a:br/>
            <a:r>
              <a:rPr sz="2200" b="1" lang="id-ID">
                <a:solidFill>
                  <a:srgbClr val="1A1A1A"/>
                </a:solidFill>
                <a:latin typeface="Roboto"/>
              </a:rPr>
              <a:t>Rp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1.751,1 miliar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0650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03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Huntap dan RB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62728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282700"/>
            <a:ext cx="11094720" cy="927100"/>
          </a:xfrm>
          <a:prstGeom prst="roundRect">
            <a:avLst>
              <a:gd name="adj" fmla="val 7945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1337310"/>
            <a:ext cx="1506098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259690" tIns="0" rIns="0" bIns="0">
            <a:noAutofit/>
          </a:bodyPr>
          <a:lstStyle/>
          <a:p>
            <a:pPr algn="l"/>
            <a:r>
              <a:rPr sz="760" b="1" lang="id-ID" spc="100">
                <a:solidFill>
                  <a:srgbClr val="FFFFFF"/>
                </a:solidFill>
                <a:latin typeface="Roboto"/>
              </a:rPr>
              <a:t>RENCANA TRANSFER</a:t>
            </a:r>
          </a:p>
        </p:txBody>
      </p:sp>
      <p:pic>
        <p:nvPicPr>
          <p:cNvPr id="18" name="Picture 17" descr="pembiayaan-FFFFFF-5387a3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372057"/>
            <a:ext cx="113386" cy="113386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58368" y="1593850"/>
            <a:ext cx="3564128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67588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pembiayaan-051C2C-5387a3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788" y="1758950"/>
            <a:ext cx="177800" cy="177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70178" y="1630680"/>
            <a:ext cx="2943098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Rp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1.751,1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 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178" y="1896110"/>
            <a:ext cx="2943098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rencana ke daerah, tahap II sampai IV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13936" y="1593850"/>
            <a:ext cx="3564128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23156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Picture 25" descr="kalender-051C2C-a840cf9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9356" y="1758950"/>
            <a:ext cx="177800" cy="1778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825746" y="1630680"/>
            <a:ext cx="2943098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Rp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707,8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 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25746" y="1896110"/>
            <a:ext cx="2943098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tahap II untuk Aceh dan Sumut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69504" y="1593850"/>
            <a:ext cx="3564128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78724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kalender-051C2C-a840cf9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4924" y="1758950"/>
            <a:ext cx="177800" cy="1778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481314" y="1630680"/>
            <a:ext cx="2943098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Rp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608,1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 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81314" y="1896110"/>
            <a:ext cx="2943098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tahap IV untuk Aceh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2346960"/>
            <a:ext cx="6213043" cy="400304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48640" y="2346960"/>
            <a:ext cx="6213043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2575560"/>
            <a:ext cx="6213043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48640" y="2346960"/>
            <a:ext cx="6213043" cy="4003040"/>
          </a:xfrm>
          <a:prstGeom prst="roundRect">
            <a:avLst>
              <a:gd name="adj" fmla="val 1364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75640" y="242951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Picture 38" descr="pembiayaan-FFFFFF-5387a370-t2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218" y="2482088"/>
            <a:ext cx="186944" cy="18694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56640" y="2346960"/>
            <a:ext cx="5451043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Transfer ke Daerah dan Rencana Tahap II sampai IV, Rp Miliar</a:t>
            </a:r>
          </a:p>
        </p:txBody>
      </p:sp>
      <p:sp>
        <p:nvSpPr>
          <p:cNvPr id="41" name="Pita kepala tabel"/>
          <p:cNvSpPr/>
          <p:nvPr/>
        </p:nvSpPr>
        <p:spPr>
          <a:xfrm>
            <a:off x="675640" y="2905760"/>
            <a:ext cx="5959043" cy="210820"/>
          </a:xfrm>
          <a:prstGeom prst="roundRect">
            <a:avLst>
              <a:gd name="adj" fmla="val 18072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2905760"/>
            <a:ext cx="125278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PROVINSI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80822" y="2905760"/>
            <a:ext cx="1799260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TRANSFER BNPB KE DAERAH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81682" y="2905760"/>
            <a:ext cx="75858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TAHAP II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41871" y="2905760"/>
            <a:ext cx="796514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TAHAP III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39985" y="2905760"/>
            <a:ext cx="793098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TAHAP IV</a:t>
            </a:r>
          </a:p>
        </p:txBody>
      </p:sp>
      <p:sp>
        <p:nvSpPr>
          <p:cNvPr id="47" name="Pita kolom utama"/>
          <p:cNvSpPr/>
          <p:nvPr/>
        </p:nvSpPr>
        <p:spPr>
          <a:xfrm>
            <a:off x="675640" y="3116580"/>
            <a:ext cx="1328982" cy="2799283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675640" y="5915863"/>
            <a:ext cx="5959043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49" name="TextBox 48"/>
          <p:cNvSpPr txBox="1"/>
          <p:nvPr/>
        </p:nvSpPr>
        <p:spPr>
          <a:xfrm>
            <a:off x="777240" y="3116580"/>
            <a:ext cx="1252782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1A1A1A"/>
                </a:solidFill>
                <a:latin typeface="Roboto"/>
              </a:rPr>
              <a:t>Aceh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080822" y="3116580"/>
            <a:ext cx="1799260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653,7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81682" y="3116580"/>
            <a:ext cx="758589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517,2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41871" y="3116580"/>
            <a:ext cx="796514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319,5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39985" y="3116580"/>
            <a:ext cx="793098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608,1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75640" y="4049674"/>
            <a:ext cx="5959043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5" name="TextBox 54"/>
          <p:cNvSpPr txBox="1"/>
          <p:nvPr/>
        </p:nvSpPr>
        <p:spPr>
          <a:xfrm>
            <a:off x="777240" y="4049674"/>
            <a:ext cx="1252782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1A1A1A"/>
                </a:solidFill>
                <a:latin typeface="Roboto"/>
              </a:rPr>
              <a:t>Sumatera Utara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80822" y="4049674"/>
            <a:ext cx="1799260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71,8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81682" y="4049674"/>
            <a:ext cx="758589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190,6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41871" y="4049674"/>
            <a:ext cx="796514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10,1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739985" y="4049674"/>
            <a:ext cx="793098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0,0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75640" y="4982769"/>
            <a:ext cx="5959043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1" name="TextBox 60"/>
          <p:cNvSpPr txBox="1"/>
          <p:nvPr/>
        </p:nvSpPr>
        <p:spPr>
          <a:xfrm>
            <a:off x="777240" y="4982769"/>
            <a:ext cx="1252782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1A1A1A"/>
                </a:solidFill>
                <a:latin typeface="Roboto"/>
              </a:rPr>
              <a:t>Sumatera Barat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080822" y="4982769"/>
            <a:ext cx="1799260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23,4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981682" y="4982769"/>
            <a:ext cx="758589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0,0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41871" y="4982769"/>
            <a:ext cx="796514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105,5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739985" y="4982769"/>
            <a:ext cx="793098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0,0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75640" y="5966663"/>
            <a:ext cx="5959043" cy="294437"/>
          </a:xfrm>
          <a:prstGeom prst="roundRect">
            <a:avLst>
              <a:gd name="adj" fmla="val 12939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2640" y="5966663"/>
            <a:ext cx="1278182" cy="29443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80822" y="5966663"/>
            <a:ext cx="1799260" cy="29443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FFFFFF"/>
                </a:solidFill>
                <a:latin typeface="Roboto"/>
              </a:rPr>
              <a:t>748,9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981682" y="5966663"/>
            <a:ext cx="758589" cy="29443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FFFFFF"/>
                </a:solidFill>
                <a:latin typeface="Roboto"/>
              </a:rPr>
              <a:t>707,8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41871" y="5966663"/>
            <a:ext cx="796514" cy="29443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FFFFFF"/>
                </a:solidFill>
                <a:latin typeface="Roboto"/>
              </a:rPr>
              <a:t>435,2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739985" y="5966663"/>
            <a:ext cx="793098" cy="29443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FFFFFF"/>
                </a:solidFill>
                <a:latin typeface="Roboto"/>
              </a:rPr>
              <a:t>608,1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898843" y="2346960"/>
            <a:ext cx="4744517" cy="400304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6898843" y="2346960"/>
            <a:ext cx="4744517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898843" y="2575560"/>
            <a:ext cx="4744517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6898843" y="2346960"/>
            <a:ext cx="4744517" cy="4003040"/>
          </a:xfrm>
          <a:prstGeom prst="roundRect">
            <a:avLst>
              <a:gd name="adj" fmla="val 1364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025843" y="242951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7" name="Picture 76" descr="rumah-FFFFFF-320df645-t2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78421" y="2482088"/>
            <a:ext cx="186944" cy="186944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7406843" y="2346960"/>
            <a:ext cx="4109517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Huntap yang Sudah Berdiri</a:t>
            </a:r>
          </a:p>
        </p:txBody>
      </p:sp>
      <p:pic>
        <p:nvPicPr>
          <p:cNvPr id="79" name="Picture 78" descr="rr-sumatera-kisi-hun-28-3-172x11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25843" y="2905760"/>
            <a:ext cx="2194458" cy="1453896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7025843" y="4385056"/>
            <a:ext cx="2194458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Aceh Tamiang</a:t>
            </a:r>
          </a:p>
        </p:txBody>
      </p:sp>
      <p:pic>
        <p:nvPicPr>
          <p:cNvPr id="81" name="Picture 80" descr="rr-sumatera-kisi-hun-29-4-172x114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21902" y="2905760"/>
            <a:ext cx="2194458" cy="1453896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9321902" y="4385056"/>
            <a:ext cx="2194458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Langkat</a:t>
            </a:r>
          </a:p>
        </p:txBody>
      </p:sp>
      <p:pic>
        <p:nvPicPr>
          <p:cNvPr id="83" name="Picture 82" descr="rr-sumatera-kisi-hun-30-1-172x114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25843" y="4634230"/>
            <a:ext cx="2194458" cy="1453896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7025843" y="6113526"/>
            <a:ext cx="2194458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Lima Puluh Kota</a:t>
            </a:r>
          </a:p>
        </p:txBody>
      </p:sp>
      <p:pic>
        <p:nvPicPr>
          <p:cNvPr id="85" name="Picture 84" descr="rr-sumatera-kisi-hun-30-7-172x114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1902" y="4634230"/>
            <a:ext cx="2194458" cy="1453896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9321902" y="6113526"/>
            <a:ext cx="2194458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Kota Padang Panjang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bahan RTM Kedeputian Bidang RR BNPB, 27 Oktober 2026; foto dokumentasi Kedeputian Bidang RR BNPB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00" cy="6858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5760"/>
            <a:ext cx="347980" cy="4394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81200"/>
            <a:ext cx="2712720" cy="1092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000" b="1" lang="id-ID">
                <a:solidFill>
                  <a:srgbClr val="D9600B"/>
                </a:solidFill>
                <a:latin typeface="Roboto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175000"/>
            <a:ext cx="711200" cy="381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352800"/>
            <a:ext cx="2712720" cy="1397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lang="id-ID">
                <a:solidFill>
                  <a:srgbClr val="051C2C"/>
                </a:solidFill>
                <a:latin typeface="Roboto"/>
              </a:rPr>
              <a:t>Kendala dan Tindak Lanjut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18000" y="10795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678160" y="14097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78160" y="14097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4–5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05400" y="10795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Dasar Hukum Pelaksanaan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18000" y="20193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4318000" y="20193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678160" y="23495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78160" y="23495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6–12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5400" y="20193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Stimulan Rumah Rusak Sedang dan Rusak Ringan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318000" y="29591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4318000" y="29591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78160" y="32893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78160" y="32893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13–18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05400" y="29591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Hunian Tetap dan Stimulan Rumah Rusak Berat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18000" y="38989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2" name="Rectangle 21"/>
          <p:cNvSpPr/>
          <p:nvPr/>
        </p:nvSpPr>
        <p:spPr>
          <a:xfrm>
            <a:off x="4114800" y="3949700"/>
            <a:ext cx="7528560" cy="838200"/>
          </a:xfrm>
          <a:prstGeom prst="rect">
            <a:avLst/>
          </a:prstGeom>
          <a:solidFill>
            <a:srgbClr val="FDF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0" y="3949700"/>
            <a:ext cx="50800" cy="8382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18000" y="38989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78160" y="42291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78160" y="42291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19–20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5400" y="38989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Kendala dan Tindak Lanjut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318000" y="48387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4318000" y="48387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678160" y="51689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78160" y="51689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21–27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05400" y="48387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Dokumentasi Lapangan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Kendala pelaksanaan dan saran tindak lanjut sektor perumahan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04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Kendala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1672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11094720" cy="5367020"/>
          </a:xfrm>
          <a:prstGeom prst="roundRect">
            <a:avLst>
              <a:gd name="adj" fmla="val 1017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1109472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1109472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11094720" cy="5367020"/>
          </a:xfrm>
          <a:prstGeom prst="roundRect">
            <a:avLst>
              <a:gd name="adj" fmla="val 1017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peringatan-FFFFFF-6a80b716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1033272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Kendala dan Saran Tindak Lanjut</a:t>
            </a:r>
          </a:p>
        </p:txBody>
      </p:sp>
      <p:sp>
        <p:nvSpPr>
          <p:cNvPr id="23" name="Pita kepala tabel"/>
          <p:cNvSpPr/>
          <p:nvPr/>
        </p:nvSpPr>
        <p:spPr>
          <a:xfrm>
            <a:off x="675640" y="1541780"/>
            <a:ext cx="10840720" cy="210820"/>
          </a:xfrm>
          <a:prstGeom prst="roundRect">
            <a:avLst>
              <a:gd name="adj" fmla="val 18072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2830" y="1541780"/>
            <a:ext cx="1795705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ASPEK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99335" y="1541780"/>
            <a:ext cx="394996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KENDALA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0097" y="1541780"/>
            <a:ext cx="4565463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SARAN TINDAK LANJUT</a:t>
            </a:r>
          </a:p>
        </p:txBody>
      </p:sp>
      <p:sp>
        <p:nvSpPr>
          <p:cNvPr id="27" name="Pita kolom utama"/>
          <p:cNvSpPr/>
          <p:nvPr/>
        </p:nvSpPr>
        <p:spPr>
          <a:xfrm>
            <a:off x="675640" y="1752600"/>
            <a:ext cx="2147495" cy="450850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675640" y="626110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777240" y="1987641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infrastruktur-FFFFFF-ba1c96e7-t2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558" y="2018959"/>
            <a:ext cx="111354" cy="11135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52830" y="1752600"/>
            <a:ext cx="1795705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26" b="1" lang="id-ID">
                <a:solidFill>
                  <a:srgbClr val="1A1A1A"/>
                </a:solidFill>
                <a:latin typeface="Roboto"/>
              </a:rPr>
              <a:t>Material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99335" y="1752600"/>
            <a:ext cx="3949961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Semen dan besi langka, harganya melonjak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0097" y="1752600"/>
            <a:ext cx="4565463" cy="6440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Jamin pasokan dan harga; Kepala BNPB telah menyurati PT Semen Indonesia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75640" y="2396671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5" name="Oval 34"/>
          <p:cNvSpPr/>
          <p:nvPr/>
        </p:nvSpPr>
        <p:spPr>
          <a:xfrm>
            <a:off x="777240" y="2631712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6" name="Picture 35" descr="wilayah-FFFFFF-37dca10c-t2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558" y="2663030"/>
            <a:ext cx="111354" cy="11135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52830" y="2396671"/>
            <a:ext cx="1795705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26" b="1" lang="id-ID">
                <a:solidFill>
                  <a:srgbClr val="1A1A1A"/>
                </a:solidFill>
                <a:latin typeface="Roboto"/>
              </a:rPr>
              <a:t>Akses lokasi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99335" y="2396671"/>
            <a:ext cx="3949961" cy="6440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Lokasi huntap tersebar; distribusi terganggu banjir dan longsor susulan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0097" y="2396671"/>
            <a:ext cx="4565463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Prioritaskan akses dan jalur distribusi material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75640" y="3040743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1" name="Oval 40"/>
          <p:cNvSpPr/>
          <p:nvPr/>
        </p:nvSpPr>
        <p:spPr>
          <a:xfrm>
            <a:off x="777240" y="3275784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2" name="Picture 41" descr="luas-FFFFFF-12322028-t2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8558" y="3307102"/>
            <a:ext cx="111354" cy="111354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52830" y="3040743"/>
            <a:ext cx="1795705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26" b="1" lang="id-ID">
                <a:solidFill>
                  <a:srgbClr val="1A1A1A"/>
                </a:solidFill>
                <a:latin typeface="Roboto"/>
              </a:rPr>
              <a:t>Status lahan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99335" y="3040743"/>
            <a:ext cx="3949961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Kepastian lahan, terutama tanah adat dan ulayat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00097" y="3040743"/>
            <a:ext cx="4565463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Percepat penyelesaian status dan kesepakatan lahan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75640" y="3684814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7" name="Oval 46"/>
          <p:cNvSpPr/>
          <p:nvPr/>
        </p:nvSpPr>
        <p:spPr>
          <a:xfrm>
            <a:off x="777240" y="3919855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8" name="Picture 47" descr="pembiayaan-FFFFFF-5387a370-t2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558" y="3951173"/>
            <a:ext cx="111354" cy="11135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52830" y="3684814"/>
            <a:ext cx="1795705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26" b="1" lang="id-ID">
                <a:solidFill>
                  <a:srgbClr val="1A1A1A"/>
                </a:solidFill>
                <a:latin typeface="Roboto"/>
              </a:rPr>
              <a:t>Anggaran RB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99335" y="3684814"/>
            <a:ext cx="3949961" cy="6440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ABT DSP stimulan rumah rusak berat terlambat cair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00097" y="3684814"/>
            <a:ext cx="4565463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Percepat pencairan agar penyedia mulai bekerja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75640" y="4328886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3" name="Oval 52"/>
          <p:cNvSpPr/>
          <p:nvPr/>
        </p:nvSpPr>
        <p:spPr>
          <a:xfrm>
            <a:off x="777240" y="4563926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4" name="Picture 53" descr="data-FFFFFF-608a1e16-t2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8558" y="4595245"/>
            <a:ext cx="111354" cy="111354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52830" y="4328886"/>
            <a:ext cx="1795705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26" b="1" lang="id-ID">
                <a:solidFill>
                  <a:srgbClr val="1A1A1A"/>
                </a:solidFill>
                <a:latin typeface="Roboto"/>
              </a:rPr>
              <a:t>Data penerima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99335" y="4328886"/>
            <a:ext cx="3949961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Verifikasi dan validasi data oleh pemda terlambat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00097" y="4328886"/>
            <a:ext cx="4565463" cy="6440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Pemda menuntaskan verifikasi dan data yang diperselisihkan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75640" y="4972957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9" name="Oval 58"/>
          <p:cNvSpPr/>
          <p:nvPr/>
        </p:nvSpPr>
        <p:spPr>
          <a:xfrm>
            <a:off x="777240" y="5207998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0" name="Picture 59" descr="lembaga-FFFFFF-f44193c4-t2.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8558" y="5239316"/>
            <a:ext cx="111354" cy="11135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52830" y="4972957"/>
            <a:ext cx="1795705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26" b="1" lang="id-ID">
                <a:solidFill>
                  <a:srgbClr val="1A1A1A"/>
                </a:solidFill>
                <a:latin typeface="Roboto"/>
              </a:rPr>
              <a:t>Mekanisme hibah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99335" y="4972957"/>
            <a:ext cx="3949961" cy="6440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Hibah RR perumahan belum dibedakan dari sektor lain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00097" y="4972957"/>
            <a:ext cx="4565463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Susun mekanisme khusus hibah RR sektor perumahan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75640" y="5617029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5" name="Oval 64"/>
          <p:cNvSpPr/>
          <p:nvPr/>
        </p:nvSpPr>
        <p:spPr>
          <a:xfrm>
            <a:off x="777240" y="5852069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6" name="Picture 65" descr="regulasi-FFFFFF-e639fe9a-t2.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8558" y="5883387"/>
            <a:ext cx="111354" cy="111354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052830" y="5617029"/>
            <a:ext cx="1795705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26" b="1" lang="id-ID">
                <a:solidFill>
                  <a:srgbClr val="1A1A1A"/>
                </a:solidFill>
                <a:latin typeface="Roboto"/>
              </a:rPr>
              <a:t>Peran DSP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899335" y="5617029"/>
            <a:ext cx="3949961" cy="6440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PPK dan BPP DSP rumah rusak berat berada di BNPB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00097" y="5617029"/>
            <a:ext cx="4565463" cy="6440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Kembalikan fungsi PPK dan BPP DSP kepada pemda pengusul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bahan RTM Kedeputian Bidang RR BNPB, 27 Oktober 2026; Kedeputian Bidang RR BNPB, 24 Oktober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00" cy="6858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5760"/>
            <a:ext cx="347980" cy="4394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81200"/>
            <a:ext cx="2712720" cy="1092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000" b="1" lang="id-ID">
                <a:solidFill>
                  <a:srgbClr val="D9600B"/>
                </a:solidFill>
                <a:latin typeface="Roboto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175000"/>
            <a:ext cx="711200" cy="381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352800"/>
            <a:ext cx="2712720" cy="1397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lang="id-ID">
                <a:solidFill>
                  <a:srgbClr val="051C2C"/>
                </a:solidFill>
                <a:latin typeface="Roboto"/>
              </a:rPr>
              <a:t>Dokumentasi Lapangan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18000" y="10795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678160" y="14097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78160" y="14097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4–5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05400" y="10795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Dasar Hukum Pelaksanaan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18000" y="20193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4318000" y="20193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678160" y="23495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78160" y="23495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6–12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5400" y="20193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Stimulan Rumah Rusak Sedang dan Rusak Ringan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318000" y="29591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4318000" y="29591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78160" y="32893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78160" y="32893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13–18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05400" y="29591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Hunian Tetap dan Stimulan Rumah Rusak Berat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18000" y="38989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4318000" y="38989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78160" y="42291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78160" y="42291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19–20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05400" y="38989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Kendala dan Tindak Lanjut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318000" y="48387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7" name="Rectangle 26"/>
          <p:cNvSpPr/>
          <p:nvPr/>
        </p:nvSpPr>
        <p:spPr>
          <a:xfrm>
            <a:off x="4114800" y="4889500"/>
            <a:ext cx="7528560" cy="838200"/>
          </a:xfrm>
          <a:prstGeom prst="rect">
            <a:avLst/>
          </a:prstGeom>
          <a:solidFill>
            <a:srgbClr val="FDF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0" y="4889500"/>
            <a:ext cx="50800" cy="8382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18000" y="48387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678160" y="51689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78160" y="51689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21–27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05400" y="48387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Dokumentasi Lapangan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Dokumentasi perbaikan rumah rusak di Aceh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22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05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Dokumentasi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0616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Ringan, Pidie Jaya</a:t>
            </a:r>
          </a:p>
        </p:txBody>
      </p:sp>
      <p:pic>
        <p:nvPicPr>
          <p:cNvPr id="23" name="Picture 22" descr="rr-sumatera-kisi-hun-21-1-131x14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0" y="1541780"/>
            <a:ext cx="1673860" cy="1794256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75640" y="336143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25" name="Picture 24" descr="rr-sumatera-kisi-hun-21-2-131x14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1100" y="1541780"/>
            <a:ext cx="1673860" cy="1794256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2451100" y="336143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27" name="Picture 26" descr="rr-sumatera-kisi-hun-21-3-131x14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6560" y="1541780"/>
            <a:ext cx="1673860" cy="1794256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4226560" y="336143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64580" y="98298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6458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6458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64580" y="98298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29158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4158" y="1118108"/>
            <a:ext cx="186944" cy="18694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67258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Sedang, Pidie Jaya</a:t>
            </a:r>
          </a:p>
        </p:txBody>
      </p:sp>
      <p:pic>
        <p:nvPicPr>
          <p:cNvPr id="36" name="Picture 35" descr="rr-sumatera-kisi-hun-21-5-131x14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1580" y="1541780"/>
            <a:ext cx="1673860" cy="1794256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6291580" y="336143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38" name="Picture 37" descr="rr-sumatera-kisi-hun-21-6-131x141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7040" y="1541780"/>
            <a:ext cx="1673860" cy="1794256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8067040" y="336143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40" name="Picture 39" descr="rr-sumatera-kisi-hun-21-7-131x14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42500" y="1541780"/>
            <a:ext cx="1673860" cy="1794256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9842500" y="336143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373507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48640" y="373507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" y="396367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48640" y="373507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75640" y="381762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3870198"/>
            <a:ext cx="186944" cy="18694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56640" y="373507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Sedang, Aceh Timur</a:t>
            </a:r>
          </a:p>
        </p:txBody>
      </p:sp>
      <p:pic>
        <p:nvPicPr>
          <p:cNvPr id="49" name="Picture 48" descr="rr-sumatera-kisi-hun-22-2-131x14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5640" y="4293870"/>
            <a:ext cx="1673860" cy="1794256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675640" y="611352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51" name="Picture 50" descr="rr-sumatera-kisi-hun-22-3-131x141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51100" y="4293870"/>
            <a:ext cx="1673860" cy="1794256"/>
          </a:xfrm>
          <a:prstGeom prst="rect">
            <a:avLst/>
          </a:prstGeom>
        </p:spPr>
      </p:pic>
      <p:sp>
        <p:nvSpPr>
          <p:cNvPr id="52" name="Rounded Rectangle 51"/>
          <p:cNvSpPr/>
          <p:nvPr/>
        </p:nvSpPr>
        <p:spPr>
          <a:xfrm>
            <a:off x="2451100" y="611352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53" name="Picture 52" descr="rr-sumatera-kisi-hun-22-4-131x141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6560" y="4293870"/>
            <a:ext cx="1673860" cy="1794256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4226560" y="611352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164580" y="373507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164580" y="373507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64580" y="396367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164580" y="373507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291580" y="381762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0" name="Picture 59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4158" y="3870198"/>
            <a:ext cx="186944" cy="18694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6672580" y="373507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Ringan, Bireuen</a:t>
            </a:r>
          </a:p>
        </p:txBody>
      </p:sp>
      <p:pic>
        <p:nvPicPr>
          <p:cNvPr id="62" name="Picture 61" descr="rr-sumatera-kisi-hun-22-5-131x141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91580" y="4293870"/>
            <a:ext cx="1673860" cy="1794256"/>
          </a:xfrm>
          <a:prstGeom prst="rect">
            <a:avLst/>
          </a:prstGeom>
        </p:spPr>
      </p:pic>
      <p:sp>
        <p:nvSpPr>
          <p:cNvPr id="63" name="Rounded Rectangle 62"/>
          <p:cNvSpPr/>
          <p:nvPr/>
        </p:nvSpPr>
        <p:spPr>
          <a:xfrm>
            <a:off x="6291580" y="611352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64" name="Picture 63" descr="rr-sumatera-kisi-hun-22-6-131x141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67040" y="4293870"/>
            <a:ext cx="1673860" cy="1794256"/>
          </a:xfrm>
          <a:prstGeom prst="rect">
            <a:avLst/>
          </a:prstGeom>
        </p:spPr>
      </p:pic>
      <p:sp>
        <p:nvSpPr>
          <p:cNvPr id="65" name="Rounded Rectangle 64"/>
          <p:cNvSpPr/>
          <p:nvPr/>
        </p:nvSpPr>
        <p:spPr>
          <a:xfrm>
            <a:off x="8067040" y="611352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66" name="Picture 65" descr="rr-sumatera-kisi-hun-22-7-131x141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842500" y="4293870"/>
            <a:ext cx="1673860" cy="1794256"/>
          </a:xfrm>
          <a:prstGeom prst="rect">
            <a:avLst/>
          </a:prstGeom>
        </p:spPr>
      </p:pic>
      <p:sp>
        <p:nvSpPr>
          <p:cNvPr id="67" name="Rounded Rectangle 66"/>
          <p:cNvSpPr/>
          <p:nvPr/>
        </p:nvSpPr>
        <p:spPr>
          <a:xfrm>
            <a:off x="9842500" y="611352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Foto dokumentasi Kedeputian Bidang RR BNPB,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Dokumentasi perbaikan rumah rusak di Kota Binjai, Sumatera Utara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23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05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Dokumentasi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0616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Sedang, Kota Binjai</a:t>
            </a:r>
          </a:p>
        </p:txBody>
      </p:sp>
      <p:pic>
        <p:nvPicPr>
          <p:cNvPr id="23" name="Picture 22" descr="rr-sumatera-kisi-hun-23-2-131x141-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0" y="1541780"/>
            <a:ext cx="1673860" cy="1794256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75640" y="336143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25" name="Picture 24" descr="rr-sumatera-kisi-hun-23-4-131x141-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1100" y="1541780"/>
            <a:ext cx="1673860" cy="1794256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2451100" y="336143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27" name="Picture 26" descr="rr-sumatera-kisi-hun-23-3-131x141-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6560" y="1541780"/>
            <a:ext cx="1673860" cy="1794256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4226560" y="336143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64580" y="98298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6458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6458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64580" y="98298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29158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4158" y="1118108"/>
            <a:ext cx="186944" cy="18694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67258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Ringan, Kota Binjai</a:t>
            </a:r>
          </a:p>
        </p:txBody>
      </p:sp>
      <p:pic>
        <p:nvPicPr>
          <p:cNvPr id="36" name="Picture 35" descr="rr-sumatera-kisi-hun-23-5-131x141-k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1580" y="1541780"/>
            <a:ext cx="1673860" cy="1794256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6291580" y="336143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38" name="Picture 37" descr="rr-sumatera-kisi-hun-23-7-131x141-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7040" y="1541780"/>
            <a:ext cx="1673860" cy="1794256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8067040" y="336143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40" name="Picture 39" descr="rr-sumatera-kisi-hun-23-6-131x141-k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42500" y="1541780"/>
            <a:ext cx="1673860" cy="1794256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9842500" y="336143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373507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48640" y="373507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" y="396367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48640" y="373507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75640" y="381762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3870198"/>
            <a:ext cx="186944" cy="18694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56640" y="373507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Sedang, Kota Binjai</a:t>
            </a:r>
          </a:p>
        </p:txBody>
      </p:sp>
      <p:pic>
        <p:nvPicPr>
          <p:cNvPr id="49" name="Picture 48" descr="rr-sumatera-kisi-hun-24-3-131x141-k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5640" y="4293870"/>
            <a:ext cx="1673860" cy="1794256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675640" y="611352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51" name="Picture 50" descr="rr-sumatera-kisi-hun-24-2-131x141-k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51100" y="4293870"/>
            <a:ext cx="1673860" cy="1794256"/>
          </a:xfrm>
          <a:prstGeom prst="rect">
            <a:avLst/>
          </a:prstGeom>
        </p:spPr>
      </p:pic>
      <p:sp>
        <p:nvSpPr>
          <p:cNvPr id="52" name="Rounded Rectangle 51"/>
          <p:cNvSpPr/>
          <p:nvPr/>
        </p:nvSpPr>
        <p:spPr>
          <a:xfrm>
            <a:off x="2451100" y="611352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53" name="Picture 52" descr="rr-sumatera-kisi-hun-24-1-131x141-k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6560" y="4293870"/>
            <a:ext cx="1673860" cy="1794256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4226560" y="611352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164580" y="373507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164580" y="373507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DDF0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64580" y="3963670"/>
            <a:ext cx="5478780" cy="228600"/>
          </a:xfrm>
          <a:prstGeom prst="rect">
            <a:avLst/>
          </a:prstGeom>
          <a:solidFill>
            <a:srgbClr val="DDF0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164580" y="373507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291580" y="381762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0" name="Picture 59" descr="data-FFFFFF-608a1e16-t2.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44158" y="3870198"/>
            <a:ext cx="186944" cy="18694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6672580" y="373507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Capaian Kota Binjai</a:t>
            </a:r>
          </a:p>
        </p:txBody>
      </p:sp>
      <p:sp>
        <p:nvSpPr>
          <p:cNvPr id="62" name="Oval 61"/>
          <p:cNvSpPr/>
          <p:nvPr/>
        </p:nvSpPr>
        <p:spPr>
          <a:xfrm>
            <a:off x="6291580" y="445664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3" name="Picture 62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1016" y="4516078"/>
            <a:ext cx="211328" cy="211328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736080" y="4291383"/>
            <a:ext cx="4678680" cy="66071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2001" b="1" lang="id-ID">
                <a:solidFill>
                  <a:srgbClr val="1A1A1A"/>
                </a:solidFill>
                <a:latin typeface="Roboto"/>
              </a:rPr>
              <a:t>Stimulan</a:t>
            </a:r>
          </a:p>
          <a:p>
            <a:pPr algn="just"/>
            <a:r>
              <a:rPr sz="2001" b="1" lang="id-ID">
                <a:solidFill>
                  <a:srgbClr val="1A1A1A"/>
                </a:solidFill>
                <a:latin typeface="Roboto"/>
              </a:rPr>
              <a:t>15 unit rumah</a:t>
            </a:r>
            <a:r>
              <a:rPr sz="2001" b="0" lang="id-ID">
                <a:solidFill>
                  <a:srgbClr val="1A1A1A"/>
                </a:solidFill>
                <a:latin typeface="Roboto"/>
              </a:rPr>
              <a:t>, realisasi belanja </a:t>
            </a:r>
            <a:r>
              <a:rPr sz="2001" b="1" lang="id-ID">
                <a:solidFill>
                  <a:srgbClr val="1A1A1A"/>
                </a:solidFill>
                <a:latin typeface="Roboto"/>
              </a:rPr>
              <a:t>100%</a:t>
            </a:r>
            <a:r>
              <a:rPr sz="2001" b="0" lang="id-ID">
                <a:solidFill>
                  <a:srgbClr val="1A1A1A"/>
                </a:solidFill>
                <a:latin typeface="Roboto"/>
              </a:rPr>
              <a:t>.</a:t>
            </a:r>
          </a:p>
        </p:txBody>
      </p:sp>
      <p:sp>
        <p:nvSpPr>
          <p:cNvPr id="65" name="Oval 64"/>
          <p:cNvSpPr/>
          <p:nvPr/>
        </p:nvSpPr>
        <p:spPr>
          <a:xfrm>
            <a:off x="6291580" y="5112385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6" name="Picture 65" descr="kalender-FFFFFF-a840cf9e-t2.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51016" y="5171821"/>
            <a:ext cx="211328" cy="21132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6736080" y="4947126"/>
            <a:ext cx="4678680" cy="66071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2001" b="1" lang="id-ID">
                <a:solidFill>
                  <a:srgbClr val="1A1A1A"/>
                </a:solidFill>
                <a:latin typeface="Roboto"/>
              </a:rPr>
              <a:t>Huntap</a:t>
            </a:r>
          </a:p>
          <a:p>
            <a:pPr algn="just"/>
            <a:r>
              <a:rPr sz="2001" b="0" lang="id-ID">
                <a:solidFill>
                  <a:srgbClr val="1A1A1A"/>
                </a:solidFill>
                <a:latin typeface="Roboto"/>
              </a:rPr>
              <a:t>Usulan </a:t>
            </a:r>
            <a:r>
              <a:rPr sz="2001" b="1" lang="id-ID">
                <a:solidFill>
                  <a:srgbClr val="1A1A1A"/>
                </a:solidFill>
                <a:latin typeface="Roboto"/>
              </a:rPr>
              <a:t>22 unit</a:t>
            </a:r>
            <a:r>
              <a:rPr sz="2001" b="0" lang="id-ID">
                <a:solidFill>
                  <a:srgbClr val="1A1A1A"/>
                </a:solidFill>
                <a:latin typeface="Roboto"/>
              </a:rPr>
              <a:t>, proses bangun </a:t>
            </a:r>
            <a:r>
              <a:rPr sz="2001" b="1" lang="id-ID">
                <a:solidFill>
                  <a:srgbClr val="1A1A1A"/>
                </a:solidFill>
                <a:latin typeface="Roboto"/>
              </a:rPr>
              <a:t>0 unit</a:t>
            </a:r>
            <a:r>
              <a:rPr sz="2001" b="0" lang="id-ID">
                <a:solidFill>
                  <a:srgbClr val="1A1A1A"/>
                </a:solidFill>
                <a:latin typeface="Roboto"/>
              </a:rPr>
              <a:t>.</a:t>
            </a:r>
          </a:p>
        </p:txBody>
      </p:sp>
      <p:sp>
        <p:nvSpPr>
          <p:cNvPr id="68" name="Oval 67"/>
          <p:cNvSpPr/>
          <p:nvPr/>
        </p:nvSpPr>
        <p:spPr>
          <a:xfrm>
            <a:off x="6291580" y="5768128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9" name="Picture 68" descr="pembiayaan-FFFFFF-5387a370-t2.6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51016" y="5827564"/>
            <a:ext cx="211328" cy="211328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736080" y="5602870"/>
            <a:ext cx="4678680" cy="66071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2001" b="1" lang="id-ID">
                <a:solidFill>
                  <a:srgbClr val="1A1A1A"/>
                </a:solidFill>
                <a:latin typeface="Roboto"/>
              </a:rPr>
              <a:t>Dana</a:t>
            </a:r>
          </a:p>
          <a:p>
            <a:pPr algn="just"/>
            <a:r>
              <a:rPr sz="2001" b="0" lang="id-ID">
                <a:solidFill>
                  <a:srgbClr val="1A1A1A"/>
                </a:solidFill>
                <a:latin typeface="Roboto"/>
              </a:rPr>
              <a:t>Transfer Rp</a:t>
            </a:r>
            <a:r>
              <a:rPr sz="2001" b="1" lang="id-ID">
                <a:solidFill>
                  <a:srgbClr val="1A1A1A"/>
                </a:solidFill>
                <a:latin typeface="Roboto"/>
              </a:rPr>
              <a:t>450</a:t>
            </a:r>
            <a:r>
              <a:rPr sz="2001" b="0" lang="id-ID">
                <a:solidFill>
                  <a:srgbClr val="1A1A1A"/>
                </a:solidFill>
                <a:latin typeface="Roboto"/>
              </a:rPr>
              <a:t> juta, belanja Rp</a:t>
            </a:r>
            <a:r>
              <a:rPr sz="2001" b="1" lang="id-ID">
                <a:solidFill>
                  <a:srgbClr val="1A1A1A"/>
                </a:solidFill>
                <a:latin typeface="Roboto"/>
              </a:rPr>
              <a:t>420</a:t>
            </a:r>
            <a:r>
              <a:rPr sz="2001" b="0" lang="id-ID">
                <a:solidFill>
                  <a:srgbClr val="1A1A1A"/>
                </a:solidFill>
                <a:latin typeface="Roboto"/>
              </a:rPr>
              <a:t> juta.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Foto dokumentasi Kedeputian Bidang RR BNPB,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Dokumentasi perbaikan rumah rusak di Lima Puluh Kota dan Pasaman Barat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24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05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Dokumentasi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0616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Sedang, Lima Puluh Kota</a:t>
            </a:r>
          </a:p>
        </p:txBody>
      </p:sp>
      <p:pic>
        <p:nvPicPr>
          <p:cNvPr id="23" name="Picture 22" descr="rr-sumatera-kisi-hun-24-5-131x14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0" y="1541780"/>
            <a:ext cx="1673860" cy="1794256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75640" y="336143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25" name="Picture 24" descr="rr-sumatera-kisi-hun-24-6-131x14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1100" y="1541780"/>
            <a:ext cx="1673860" cy="1794256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2451100" y="336143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27" name="Picture 26" descr="rr-sumatera-kisi-hun-24-7-131x14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6560" y="1541780"/>
            <a:ext cx="1673860" cy="1794256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4226560" y="336143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64580" y="98298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6458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6458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64580" y="98298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29158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4158" y="1118108"/>
            <a:ext cx="186944" cy="18694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67258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Sedang, Lima Puluh Kota</a:t>
            </a:r>
          </a:p>
        </p:txBody>
      </p:sp>
      <p:pic>
        <p:nvPicPr>
          <p:cNvPr id="36" name="Picture 35" descr="rr-sumatera-kisi-hun-25-2-131x14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1580" y="1541780"/>
            <a:ext cx="1673860" cy="1794256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6291580" y="336143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38" name="Picture 37" descr="rr-sumatera-kisi-hun-25-3-131x141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7040" y="1541780"/>
            <a:ext cx="1673860" cy="1794256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8067040" y="336143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40" name="Picture 39" descr="rr-sumatera-kisi-hun-25-4-131x14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42500" y="1541780"/>
            <a:ext cx="1673860" cy="1794256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9842500" y="336143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373507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48640" y="373507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" y="396367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48640" y="373507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75640" y="381762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3870198"/>
            <a:ext cx="186944" cy="18694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56640" y="373507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Ringan, Lima Puluh Kota</a:t>
            </a:r>
          </a:p>
        </p:txBody>
      </p:sp>
      <p:pic>
        <p:nvPicPr>
          <p:cNvPr id="49" name="Picture 48" descr="rr-sumatera-kisi-hun-25-5-131x14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5640" y="4293870"/>
            <a:ext cx="1673860" cy="1794256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675640" y="611352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51" name="Picture 50" descr="rr-sumatera-kisi-hun-25-6-131x141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51100" y="4293870"/>
            <a:ext cx="1673860" cy="1794256"/>
          </a:xfrm>
          <a:prstGeom prst="rect">
            <a:avLst/>
          </a:prstGeom>
        </p:spPr>
      </p:pic>
      <p:sp>
        <p:nvSpPr>
          <p:cNvPr id="52" name="Rounded Rectangle 51"/>
          <p:cNvSpPr/>
          <p:nvPr/>
        </p:nvSpPr>
        <p:spPr>
          <a:xfrm>
            <a:off x="2451100" y="611352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53" name="Picture 52" descr="rr-sumatera-kisi-hun-25-7-131x141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6560" y="4293870"/>
            <a:ext cx="1673860" cy="1794256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4226560" y="611352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164580" y="373507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164580" y="373507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64580" y="396367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164580" y="373507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291580" y="381762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0" name="Picture 59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4158" y="3870198"/>
            <a:ext cx="186944" cy="18694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6672580" y="373507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Sedang, Pasaman Barat</a:t>
            </a:r>
          </a:p>
        </p:txBody>
      </p:sp>
      <p:pic>
        <p:nvPicPr>
          <p:cNvPr id="62" name="Picture 61" descr="rr-sumatera-kisi-hun-26-2-131x141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91580" y="4293870"/>
            <a:ext cx="1673860" cy="1794256"/>
          </a:xfrm>
          <a:prstGeom prst="rect">
            <a:avLst/>
          </a:prstGeom>
        </p:spPr>
      </p:pic>
      <p:sp>
        <p:nvSpPr>
          <p:cNvPr id="63" name="Rounded Rectangle 62"/>
          <p:cNvSpPr/>
          <p:nvPr/>
        </p:nvSpPr>
        <p:spPr>
          <a:xfrm>
            <a:off x="6291580" y="611352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64" name="Picture 63" descr="rr-sumatera-kisi-hun-26-3-131x141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67040" y="4293870"/>
            <a:ext cx="1673860" cy="1794256"/>
          </a:xfrm>
          <a:prstGeom prst="rect">
            <a:avLst/>
          </a:prstGeom>
        </p:spPr>
      </p:pic>
      <p:sp>
        <p:nvSpPr>
          <p:cNvPr id="65" name="Rounded Rectangle 64"/>
          <p:cNvSpPr/>
          <p:nvPr/>
        </p:nvSpPr>
        <p:spPr>
          <a:xfrm>
            <a:off x="8067040" y="611352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66" name="Picture 65" descr="rr-sumatera-kisi-hun-26-4-131x141-k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842500" y="4293870"/>
            <a:ext cx="1673860" cy="1794256"/>
          </a:xfrm>
          <a:prstGeom prst="rect">
            <a:avLst/>
          </a:prstGeom>
        </p:spPr>
      </p:pic>
      <p:sp>
        <p:nvSpPr>
          <p:cNvPr id="67" name="Rounded Rectangle 66"/>
          <p:cNvSpPr/>
          <p:nvPr/>
        </p:nvSpPr>
        <p:spPr>
          <a:xfrm>
            <a:off x="9842500" y="611352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Foto dokumentasi Kedeputian Bidang RR BNPB,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Dokumentasi perbaikan rumah rusak di Pasaman dan Agam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25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05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Dokumentasi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0616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Sedang, Pasaman</a:t>
            </a:r>
          </a:p>
        </p:txBody>
      </p:sp>
      <p:pic>
        <p:nvPicPr>
          <p:cNvPr id="23" name="Picture 22" descr="rr-sumatera-kisi-hun-26-5-131x14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0" y="1541780"/>
            <a:ext cx="1673860" cy="1794256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75640" y="336143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25" name="Picture 24" descr="rr-sumatera-kisi-hun-26-6-131x14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1100" y="1541780"/>
            <a:ext cx="1673860" cy="1794256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2451100" y="336143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27" name="Picture 26" descr="rr-sumatera-kisi-hun-26-7-131x14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6560" y="1541780"/>
            <a:ext cx="1673860" cy="1794256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4226560" y="336143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64580" y="98298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6458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6458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64580" y="98298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29158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4158" y="1118108"/>
            <a:ext cx="186944" cy="18694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67258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Ringan, Agam</a:t>
            </a:r>
          </a:p>
        </p:txBody>
      </p:sp>
      <p:pic>
        <p:nvPicPr>
          <p:cNvPr id="36" name="Picture 35" descr="rr-sumatera-kisi-hun-27-2-131x14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1580" y="1541780"/>
            <a:ext cx="1673860" cy="1794256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6291580" y="336143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38" name="Picture 37" descr="rr-sumatera-kisi-hun-27-3-131x141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7040" y="1541780"/>
            <a:ext cx="1673860" cy="1794256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8067040" y="336143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40" name="Picture 39" descr="rr-sumatera-kisi-hun-27-4-131x14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42500" y="1541780"/>
            <a:ext cx="1673860" cy="1794256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9842500" y="336143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373507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48640" y="373507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" y="396367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48640" y="373507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75640" y="381762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3870198"/>
            <a:ext cx="186944" cy="18694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56640" y="373507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Sedang, Agam</a:t>
            </a:r>
          </a:p>
        </p:txBody>
      </p:sp>
      <p:pic>
        <p:nvPicPr>
          <p:cNvPr id="49" name="Picture 48" descr="rr-sumatera-kisi-hun-27-5-131x14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5640" y="4293870"/>
            <a:ext cx="1673860" cy="1794256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675640" y="611352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51" name="Picture 50" descr="rr-sumatera-kisi-hun-27-6-131x141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51100" y="4293870"/>
            <a:ext cx="1673860" cy="1794256"/>
          </a:xfrm>
          <a:prstGeom prst="rect">
            <a:avLst/>
          </a:prstGeom>
        </p:spPr>
      </p:pic>
      <p:sp>
        <p:nvSpPr>
          <p:cNvPr id="52" name="Rounded Rectangle 51"/>
          <p:cNvSpPr/>
          <p:nvPr/>
        </p:nvSpPr>
        <p:spPr>
          <a:xfrm>
            <a:off x="2451100" y="611352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53" name="Picture 52" descr="rr-sumatera-kisi-hun-27-7-131x141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6560" y="4293870"/>
            <a:ext cx="1673860" cy="1794256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4226560" y="611352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164580" y="373507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164580" y="373507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DDF0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64580" y="3963670"/>
            <a:ext cx="5478780" cy="228600"/>
          </a:xfrm>
          <a:prstGeom prst="rect">
            <a:avLst/>
          </a:prstGeom>
          <a:solidFill>
            <a:srgbClr val="DDF0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164580" y="373507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291580" y="381762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0" name="Picture 59" descr="data-FFFFFF-608a1e16-t2.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44158" y="3870198"/>
            <a:ext cx="186944" cy="18694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6672580" y="3735070"/>
            <a:ext cx="4716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Capaian Pasaman dan Agam</a:t>
            </a:r>
          </a:p>
        </p:txBody>
      </p:sp>
      <p:sp>
        <p:nvSpPr>
          <p:cNvPr id="62" name="Pita kepala tabel"/>
          <p:cNvSpPr/>
          <p:nvPr/>
        </p:nvSpPr>
        <p:spPr>
          <a:xfrm>
            <a:off x="6291580" y="4293870"/>
            <a:ext cx="5224780" cy="421640"/>
          </a:xfrm>
          <a:prstGeom prst="roundRect">
            <a:avLst>
              <a:gd name="adj" fmla="val 9036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93180" y="4293870"/>
            <a:ext cx="983514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KAB/KOTA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27494" y="4504690"/>
            <a:ext cx="61160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UNIT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40695" y="4504690"/>
            <a:ext cx="81821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BELANJA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60512" y="4504690"/>
            <a:ext cx="793365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USULAN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55477" y="4504690"/>
            <a:ext cx="669250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PROSES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726327" y="4504690"/>
            <a:ext cx="688433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SELESAI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27494" y="4293870"/>
            <a:ext cx="1531418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STIMULAN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7478294" y="4491990"/>
            <a:ext cx="1429818" cy="0"/>
          </a:xfrm>
          <a:prstGeom prst="line">
            <a:avLst/>
          </a:prstGeom>
          <a:ln w="6350">
            <a:solidFill>
              <a:srgbClr val="FFFFFF"/>
            </a:solidFill>
          </a:ln>
        </p:spPr>
      </p:cxnSp>
      <p:sp>
        <p:nvSpPr>
          <p:cNvPr id="71" name="TextBox 70"/>
          <p:cNvSpPr txBox="1"/>
          <p:nvPr/>
        </p:nvSpPr>
        <p:spPr>
          <a:xfrm>
            <a:off x="9060512" y="4293870"/>
            <a:ext cx="2354248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FFFFFF"/>
                </a:solidFill>
                <a:latin typeface="Roboto"/>
              </a:rPr>
              <a:t>HUNTAP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9111312" y="4491990"/>
            <a:ext cx="2252648" cy="0"/>
          </a:xfrm>
          <a:prstGeom prst="line">
            <a:avLst/>
          </a:prstGeom>
          <a:ln w="6350">
            <a:solidFill>
              <a:srgbClr val="FFFFFF"/>
            </a:solidFill>
          </a:ln>
        </p:spPr>
      </p:cxnSp>
      <p:sp>
        <p:nvSpPr>
          <p:cNvPr id="73" name="Pita kolom utama"/>
          <p:cNvSpPr/>
          <p:nvPr/>
        </p:nvSpPr>
        <p:spPr>
          <a:xfrm>
            <a:off x="6291580" y="4715510"/>
            <a:ext cx="1059714" cy="154559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6291580" y="6261100"/>
            <a:ext cx="522478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75" name="TextBox 74"/>
          <p:cNvSpPr txBox="1"/>
          <p:nvPr/>
        </p:nvSpPr>
        <p:spPr>
          <a:xfrm>
            <a:off x="6393180" y="4715510"/>
            <a:ext cx="983514" cy="77279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55" b="1" lang="id-ID">
                <a:solidFill>
                  <a:srgbClr val="1A1A1A"/>
                </a:solidFill>
                <a:latin typeface="Roboto"/>
              </a:rPr>
              <a:t>Pasaman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427494" y="4715510"/>
            <a:ext cx="611601" cy="77279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655" b="1" lang="id-ID">
                <a:solidFill>
                  <a:srgbClr val="1A1A1A"/>
                </a:solidFill>
                <a:latin typeface="Roboto"/>
              </a:rPr>
              <a:t>25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144794" y="4946917"/>
            <a:ext cx="810019" cy="30998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355" b="1" lang="id-ID">
                <a:solidFill>
                  <a:srgbClr val="1A1A1A"/>
                </a:solidFill>
                <a:latin typeface="Roboto"/>
              </a:rPr>
              <a:t>96,6%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060512" y="4715510"/>
            <a:ext cx="793365" cy="77279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655" b="1" lang="id-ID">
                <a:solidFill>
                  <a:srgbClr val="1A1A1A"/>
                </a:solidFill>
                <a:latin typeface="Roboto"/>
              </a:rP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55477" y="4715510"/>
            <a:ext cx="669250" cy="77279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655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726327" y="4715510"/>
            <a:ext cx="688433" cy="77279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655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6291580" y="5488305"/>
            <a:ext cx="522478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2" name="TextBox 81"/>
          <p:cNvSpPr txBox="1"/>
          <p:nvPr/>
        </p:nvSpPr>
        <p:spPr>
          <a:xfrm>
            <a:off x="6393180" y="5488305"/>
            <a:ext cx="983514" cy="77279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55" b="1" lang="id-ID">
                <a:solidFill>
                  <a:srgbClr val="1A1A1A"/>
                </a:solidFill>
                <a:latin typeface="Roboto"/>
              </a:rPr>
              <a:t>Agam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427494" y="5488305"/>
            <a:ext cx="611601" cy="77279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655" b="1" lang="id-ID">
                <a:solidFill>
                  <a:srgbClr val="1A1A1A"/>
                </a:solidFill>
                <a:latin typeface="Roboto"/>
              </a:rPr>
              <a:t>112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144794" y="5719712"/>
            <a:ext cx="810019" cy="30998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355" b="1" lang="id-ID">
                <a:solidFill>
                  <a:srgbClr val="1A1A1A"/>
                </a:solidFill>
                <a:latin typeface="Roboto"/>
              </a:rPr>
              <a:t>81,4%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60512" y="5488305"/>
            <a:ext cx="793365" cy="77279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655" b="1" lang="id-ID">
                <a:solidFill>
                  <a:srgbClr val="1A1A1A"/>
                </a:solidFill>
                <a:latin typeface="Roboto"/>
              </a:rPr>
              <a:t>1.124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955477" y="5488305"/>
            <a:ext cx="669250" cy="77279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655" b="1" lang="id-ID">
                <a:solidFill>
                  <a:srgbClr val="1A1A1A"/>
                </a:solidFill>
                <a:latin typeface="Roboto"/>
              </a:rPr>
              <a:t>82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726327" y="5488305"/>
            <a:ext cx="688433" cy="77279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655" b="1" lang="id-ID">
                <a:solidFill>
                  <a:srgbClr val="1A1A1A"/>
                </a:solidFill>
                <a:latin typeface="Roboto"/>
              </a:rPr>
              <a:t>10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Foto dokumentasi Kedeputian Bidang RR BNPB, 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Dokumentasi pembangunan huntap di Aceh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26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05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Dokumentasi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0616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11094720" cy="5367020"/>
          </a:xfrm>
          <a:prstGeom prst="roundRect">
            <a:avLst>
              <a:gd name="adj" fmla="val 1017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1109472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1109472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11094720" cy="5367020"/>
          </a:xfrm>
          <a:prstGeom prst="roundRect">
            <a:avLst>
              <a:gd name="adj" fmla="val 1017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1045972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Huntap di Aceh</a:t>
            </a:r>
          </a:p>
        </p:txBody>
      </p:sp>
      <p:pic>
        <p:nvPicPr>
          <p:cNvPr id="23" name="Picture 22" descr="rr-sumatera-kisi-hun-28-1-279x16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0" y="1541780"/>
            <a:ext cx="3545840" cy="213588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75640" y="3703066"/>
            <a:ext cx="354584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Bireuen</a:t>
            </a:r>
          </a:p>
        </p:txBody>
      </p:sp>
      <p:pic>
        <p:nvPicPr>
          <p:cNvPr id="25" name="Picture 24" descr="rr-sumatera-kisi-hun-28-2-279x16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3080" y="1541780"/>
            <a:ext cx="3545840" cy="213588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323080" y="3703066"/>
            <a:ext cx="354584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Aceh Timur</a:t>
            </a:r>
          </a:p>
        </p:txBody>
      </p:sp>
      <p:pic>
        <p:nvPicPr>
          <p:cNvPr id="27" name="Picture 26" descr="rr-sumatera-kisi-hun-28-3-279x16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0520" y="1541780"/>
            <a:ext cx="3545840" cy="213588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970520" y="3703066"/>
            <a:ext cx="354584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Aceh Tamiang</a:t>
            </a:r>
          </a:p>
        </p:txBody>
      </p:sp>
      <p:pic>
        <p:nvPicPr>
          <p:cNvPr id="29" name="Picture 28" descr="rr-sumatera-kisi-hun-28-5-279x168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5640" y="3952240"/>
            <a:ext cx="3545840" cy="213588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75640" y="6113526"/>
            <a:ext cx="354584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Bireuen</a:t>
            </a:r>
          </a:p>
        </p:txBody>
      </p:sp>
      <p:pic>
        <p:nvPicPr>
          <p:cNvPr id="31" name="Picture 30" descr="rr-sumatera-kisi-hun-28-6-279x168-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23080" y="3952240"/>
            <a:ext cx="3545840" cy="213588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323080" y="6113526"/>
            <a:ext cx="354584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Pidie Jaya</a:t>
            </a:r>
          </a:p>
        </p:txBody>
      </p:sp>
      <p:pic>
        <p:nvPicPr>
          <p:cNvPr id="33" name="Picture 32" descr="rr-sumatera-kisi-hun-28-7-279x168-k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70520" y="3952240"/>
            <a:ext cx="3545840" cy="213588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970520" y="6113526"/>
            <a:ext cx="354584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Aceh Timur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Foto dokumentasi Kedeputian Bidang RR BNPB,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Dokumentasi pembangunan huntap di Sumatera Utara dan Sumatera Barat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27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05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Dokumentasi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0616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5478780" cy="5367020"/>
          </a:xfrm>
          <a:prstGeom prst="roundRect">
            <a:avLst>
              <a:gd name="adj" fmla="val 1017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5478780" cy="5367020"/>
          </a:xfrm>
          <a:prstGeom prst="roundRect">
            <a:avLst>
              <a:gd name="adj" fmla="val 1017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Langkat, Sumatera Utara</a:t>
            </a:r>
          </a:p>
        </p:txBody>
      </p:sp>
      <p:pic>
        <p:nvPicPr>
          <p:cNvPr id="23" name="Picture 22" descr="rr-sumatera-kisi-hun-29-1-131x168-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0" y="1541780"/>
            <a:ext cx="1673860" cy="213588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75640" y="370306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Langkat</a:t>
            </a:r>
          </a:p>
        </p:txBody>
      </p:sp>
      <p:pic>
        <p:nvPicPr>
          <p:cNvPr id="25" name="Picture 24" descr="rr-sumatera-kisi-hun-29-3-131x168-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1100" y="1541780"/>
            <a:ext cx="1673860" cy="213588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451100" y="370306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Langkat</a:t>
            </a:r>
          </a:p>
        </p:txBody>
      </p:sp>
      <p:pic>
        <p:nvPicPr>
          <p:cNvPr id="27" name="Picture 26" descr="rr-sumatera-kisi-hun-29-4-131x16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6560" y="1541780"/>
            <a:ext cx="1673860" cy="213588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226560" y="370306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Langkat</a:t>
            </a:r>
          </a:p>
        </p:txBody>
      </p:sp>
      <p:pic>
        <p:nvPicPr>
          <p:cNvPr id="29" name="Picture 28" descr="rr-sumatera-kisi-hun-29-5-131x168-k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5640" y="3952240"/>
            <a:ext cx="1673860" cy="213588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75640" y="611352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Langkat</a:t>
            </a:r>
          </a:p>
        </p:txBody>
      </p:sp>
      <p:pic>
        <p:nvPicPr>
          <p:cNvPr id="31" name="Picture 30" descr="rr-sumatera-kisi-hun-29-6-131x168-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51100" y="3952240"/>
            <a:ext cx="1673860" cy="213588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451100" y="611352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Langkat</a:t>
            </a:r>
          </a:p>
        </p:txBody>
      </p:sp>
      <p:pic>
        <p:nvPicPr>
          <p:cNvPr id="33" name="Picture 32" descr="rr-sumatera-kisi-hun-29-7-131x168-k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26560" y="3952240"/>
            <a:ext cx="1673860" cy="213588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226560" y="611352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Langkat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64580" y="982980"/>
            <a:ext cx="5478780" cy="5367020"/>
          </a:xfrm>
          <a:prstGeom prst="roundRect">
            <a:avLst>
              <a:gd name="adj" fmla="val 1017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16458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6458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64580" y="982980"/>
            <a:ext cx="5478780" cy="5367020"/>
          </a:xfrm>
          <a:prstGeom prst="roundRect">
            <a:avLst>
              <a:gd name="adj" fmla="val 1017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29158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4158" y="1118108"/>
            <a:ext cx="186944" cy="18694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67258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Sumatera Barat</a:t>
            </a:r>
          </a:p>
        </p:txBody>
      </p:sp>
      <p:pic>
        <p:nvPicPr>
          <p:cNvPr id="42" name="Picture 41" descr="rr-sumatera-kisi-hun-30-1-131x168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91580" y="1541780"/>
            <a:ext cx="1673860" cy="2135886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291580" y="370306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Lima Puluh Kota</a:t>
            </a:r>
          </a:p>
        </p:txBody>
      </p:sp>
      <p:pic>
        <p:nvPicPr>
          <p:cNvPr id="44" name="Picture 43" descr="rr-sumatera-kisi-hun-30-2-131x168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67040" y="1541780"/>
            <a:ext cx="1673860" cy="213588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067040" y="370306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Padang Pariaman</a:t>
            </a:r>
          </a:p>
        </p:txBody>
      </p:sp>
      <p:pic>
        <p:nvPicPr>
          <p:cNvPr id="46" name="Picture 45" descr="rr-sumatera-kisi-hun-30-3-131x168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42500" y="1541780"/>
            <a:ext cx="1673860" cy="213588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842500" y="370306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Kota Padang</a:t>
            </a:r>
          </a:p>
        </p:txBody>
      </p:sp>
      <p:pic>
        <p:nvPicPr>
          <p:cNvPr id="48" name="Picture 47" descr="rr-sumatera-kisi-hun-30-4-131x168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91580" y="3952240"/>
            <a:ext cx="1673860" cy="213588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6291580" y="611352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Agam</a:t>
            </a:r>
          </a:p>
        </p:txBody>
      </p:sp>
      <p:pic>
        <p:nvPicPr>
          <p:cNvPr id="50" name="Picture 49" descr="rr-sumatera-kisi-hun-30-5-131x168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67040" y="3952240"/>
            <a:ext cx="1673860" cy="2135886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8067040" y="611352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Agam</a:t>
            </a:r>
          </a:p>
        </p:txBody>
      </p:sp>
      <p:pic>
        <p:nvPicPr>
          <p:cNvPr id="52" name="Picture 51" descr="rr-sumatera-kisi-hun-30-7-131x168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842500" y="3952240"/>
            <a:ext cx="1673860" cy="2135886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842500" y="611352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Kota Padang Panjang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Foto dokumentasi Kedeputian Bidang RR BNPB, 2026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r-sumatera-sampul-rr-penu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1900" y="0"/>
            <a:ext cx="58801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223760" y="6565900"/>
            <a:ext cx="4693920" cy="1828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800" b="0" lang="id-ID">
                <a:solidFill>
                  <a:srgbClr val="FFFFFF"/>
                </a:solidFill>
                <a:latin typeface="Roboto"/>
              </a:rPr>
              <a:t>Foto: Dokumentasi Kedeputian Bidang RR BNPB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502920"/>
            <a:ext cx="1005840" cy="10058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126" y="673913"/>
            <a:ext cx="526869" cy="663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468880"/>
            <a:ext cx="5669280" cy="100584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l"/>
            <a:r>
              <a:rPr sz="5400" b="1" lang="id-ID">
                <a:solidFill>
                  <a:srgbClr val="1A1A1A"/>
                </a:solidFill>
                <a:latin typeface="Roboto"/>
              </a:rPr>
              <a:t>Terima kasih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644900"/>
            <a:ext cx="4754880" cy="254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5669280" cy="3657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070" b="1" lang="id-ID">
                <a:solidFill>
                  <a:srgbClr val="00499D"/>
                </a:solidFill>
                <a:latin typeface="Roboto"/>
              </a:rPr>
              <a:t>Badan Nasional Penanggulangan Bencana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41800"/>
            <a:ext cx="566928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90" b="0" lang="id-ID">
                <a:solidFill>
                  <a:srgbClr val="2E3440"/>
                </a:solidFill>
                <a:latin typeface="Roboto"/>
              </a:rPr>
              <a:t>Progres Sektor Perumahan RR Pascabencana di Wilayah Sumatera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936998"/>
            <a:ext cx="2926080" cy="38354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260" b="1" lang="id-ID">
                <a:solidFill>
                  <a:srgbClr val="FFFFFF"/>
                </a:solidFill>
                <a:latin typeface="Roboto"/>
              </a:rPr>
              <a:t>Selasa, 27 Oktober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A1A1A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Robot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obo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Badan Nasional Penanggulangan Bencana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 Sektor Perumahan Rehabilitasi dan Rekonstruksi Pascabencana di Wilayah Sumatera</dc:title>
  <dc:subject>Bantuan Stimulan Rumah Rusak dan Hunian Tetap Pascabencana Siklon Senyar</dc:subject>
  <dc:creator>Badan Nasional Penanggulangan Bencana</dc:creator>
  <cp:lastModifiedBy>Badan Nasional Penanggulangan Bencana</cp:lastModifiedBy>
  <cp:revision>1</cp:revision>
  <dcterms:created xsi:type="dcterms:W3CDTF">2026-10-22T07:37:45Z</dcterms:created>
  <dcterms:modified xsi:type="dcterms:W3CDTF">2026-10-22T07:37:45Z</dcterms:modified>
  <cp:keywords>BNPB; rehabilitasi dan rekonstruksi; huntap; stimulan rumah; Sumatera</cp:keywords>
  <dc:language>id-ID</dc:language>
  <cp:category>Kajian</cp:category>
  <dc:description>Stimulan rumah rusak dan huntap pascabencana Sumatera berjalan; percepatan bergantung pada material, lahan, anggaran, dan data.</dc:description>
</cp:coreProperties>
</file>