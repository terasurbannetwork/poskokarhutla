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Roboto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Roboto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Roboto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Roboto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3.png"/><Relationship Id="rId12" Type="http://schemas.openxmlformats.org/officeDocument/2006/relationships/image" Target="../media/image12.png"/><Relationship Id="rId13" Type="http://schemas.openxmlformats.org/officeDocument/2006/relationships/image" Target="../media/image11.png"/><Relationship Id="rId14" Type="http://schemas.openxmlformats.org/officeDocument/2006/relationships/image" Target="../media/image17.png"/><Relationship Id="rId1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23.png"/><Relationship Id="rId8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3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4.png"/><Relationship Id="rId14" Type="http://schemas.openxmlformats.org/officeDocument/2006/relationships/image" Target="../media/image12.png"/><Relationship Id="rId15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16.png"/><Relationship Id="rId7" Type="http://schemas.openxmlformats.org/officeDocument/2006/relationships/image" Target="../media/image10.png"/><Relationship Id="rId8" Type="http://schemas.openxmlformats.org/officeDocument/2006/relationships/image" Target="../media/image25.jpg"/><Relationship Id="rId9" Type="http://schemas.openxmlformats.org/officeDocument/2006/relationships/image" Target="../media/image26.jpg"/><Relationship Id="rId10" Type="http://schemas.openxmlformats.org/officeDocument/2006/relationships/image" Target="../media/image27.jpg"/><Relationship Id="rId11" Type="http://schemas.openxmlformats.org/officeDocument/2006/relationships/image" Target="../media/image2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Relationship Id="rId12" Type="http://schemas.openxmlformats.org/officeDocument/2006/relationships/image" Target="../media/image37.jpg"/><Relationship Id="rId13" Type="http://schemas.openxmlformats.org/officeDocument/2006/relationships/image" Target="../media/image38.jpg"/><Relationship Id="rId14" Type="http://schemas.openxmlformats.org/officeDocument/2006/relationships/image" Target="../media/image39.jpg"/><Relationship Id="rId15" Type="http://schemas.openxmlformats.org/officeDocument/2006/relationships/image" Target="../media/image4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Relationship Id="rId13" Type="http://schemas.openxmlformats.org/officeDocument/2006/relationships/image" Target="../media/image17.png"/><Relationship Id="rId14" Type="http://schemas.openxmlformats.org/officeDocument/2006/relationships/image" Target="../media/image12.png"/><Relationship Id="rId15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50.jpg"/><Relationship Id="rId5" Type="http://schemas.openxmlformats.org/officeDocument/2006/relationships/image" Target="../media/image51.jpg"/><Relationship Id="rId6" Type="http://schemas.openxmlformats.org/officeDocument/2006/relationships/image" Target="../media/image52.jpg"/><Relationship Id="rId7" Type="http://schemas.openxmlformats.org/officeDocument/2006/relationships/image" Target="../media/image53.jpg"/><Relationship Id="rId8" Type="http://schemas.openxmlformats.org/officeDocument/2006/relationships/image" Target="../media/image54.jpg"/><Relationship Id="rId9" Type="http://schemas.openxmlformats.org/officeDocument/2006/relationships/image" Target="../media/image55.jpg"/><Relationship Id="rId10" Type="http://schemas.openxmlformats.org/officeDocument/2006/relationships/image" Target="../media/image56.jpg"/><Relationship Id="rId11" Type="http://schemas.openxmlformats.org/officeDocument/2006/relationships/image" Target="../media/image57.jpg"/><Relationship Id="rId12" Type="http://schemas.openxmlformats.org/officeDocument/2006/relationships/image" Target="../media/image58.jpg"/><Relationship Id="rId13" Type="http://schemas.openxmlformats.org/officeDocument/2006/relationships/image" Target="../media/image59.jpg"/><Relationship Id="rId14" Type="http://schemas.openxmlformats.org/officeDocument/2006/relationships/image" Target="../media/image60.jpg"/><Relationship Id="rId15" Type="http://schemas.openxmlformats.org/officeDocument/2006/relationships/image" Target="../media/image6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62.jpg"/><Relationship Id="rId5" Type="http://schemas.openxmlformats.org/officeDocument/2006/relationships/image" Target="../media/image63.jpg"/><Relationship Id="rId6" Type="http://schemas.openxmlformats.org/officeDocument/2006/relationships/image" Target="../media/image64.jpg"/><Relationship Id="rId7" Type="http://schemas.openxmlformats.org/officeDocument/2006/relationships/image" Target="../media/image65.jpg"/><Relationship Id="rId8" Type="http://schemas.openxmlformats.org/officeDocument/2006/relationships/image" Target="../media/image66.jpg"/><Relationship Id="rId9" Type="http://schemas.openxmlformats.org/officeDocument/2006/relationships/image" Target="../media/image67.jpg"/><Relationship Id="rId10" Type="http://schemas.openxmlformats.org/officeDocument/2006/relationships/image" Target="../media/image68.jpg"/><Relationship Id="rId11" Type="http://schemas.openxmlformats.org/officeDocument/2006/relationships/image" Target="../media/image69.jpg"/><Relationship Id="rId12" Type="http://schemas.openxmlformats.org/officeDocument/2006/relationships/image" Target="../media/image70.jpg"/><Relationship Id="rId13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71.jpg"/><Relationship Id="rId5" Type="http://schemas.openxmlformats.org/officeDocument/2006/relationships/image" Target="../media/image72.jpg"/><Relationship Id="rId6" Type="http://schemas.openxmlformats.org/officeDocument/2006/relationships/image" Target="../media/image73.jpg"/><Relationship Id="rId7" Type="http://schemas.openxmlformats.org/officeDocument/2006/relationships/image" Target="../media/image74.jpg"/><Relationship Id="rId8" Type="http://schemas.openxmlformats.org/officeDocument/2006/relationships/image" Target="../media/image75.jpg"/><Relationship Id="rId9" Type="http://schemas.openxmlformats.org/officeDocument/2006/relationships/image" Target="../media/image7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77.jpg"/><Relationship Id="rId5" Type="http://schemas.openxmlformats.org/officeDocument/2006/relationships/image" Target="../media/image78.jpg"/><Relationship Id="rId6" Type="http://schemas.openxmlformats.org/officeDocument/2006/relationships/image" Target="../media/image79.jpg"/><Relationship Id="rId7" Type="http://schemas.openxmlformats.org/officeDocument/2006/relationships/image" Target="../media/image80.jpg"/><Relationship Id="rId8" Type="http://schemas.openxmlformats.org/officeDocument/2006/relationships/image" Target="../media/image81.jpg"/><Relationship Id="rId9" Type="http://schemas.openxmlformats.org/officeDocument/2006/relationships/image" Target="../media/image82.jpg"/><Relationship Id="rId10" Type="http://schemas.openxmlformats.org/officeDocument/2006/relationships/image" Target="../media/image83.jpg"/><Relationship Id="rId11" Type="http://schemas.openxmlformats.org/officeDocument/2006/relationships/image" Target="../media/image84.jpg"/><Relationship Id="rId12" Type="http://schemas.openxmlformats.org/officeDocument/2006/relationships/image" Target="../media/image85.jpg"/><Relationship Id="rId13" Type="http://schemas.openxmlformats.org/officeDocument/2006/relationships/image" Target="../media/image86.jpg"/><Relationship Id="rId14" Type="http://schemas.openxmlformats.org/officeDocument/2006/relationships/image" Target="../media/image87.jpg"/><Relationship Id="rId15" Type="http://schemas.openxmlformats.org/officeDocument/2006/relationships/image" Target="../media/image8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9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-sumatera-sampul-rr-samp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900" y="0"/>
            <a:ext cx="58801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0" y="6565900"/>
            <a:ext cx="469392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lang="id-ID">
                <a:solidFill>
                  <a:srgbClr val="FFFFFF"/>
                </a:solidFill>
                <a:latin typeface="Roboto"/>
              </a:rPr>
              <a:t>Foto: Dokumentasi Kedeputian Bidang RR BNPB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26" y="628193"/>
            <a:ext cx="526869" cy="663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600200"/>
            <a:ext cx="5669280" cy="1524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Progres Sektor Perumahan</a:t>
            </a:r>
          </a:p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Rehabilitasi dan Rekonstruksi</a:t>
            </a:r>
          </a:p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Pascabencana di Wilayah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25800"/>
            <a:ext cx="5669280" cy="511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10" b="0" lang="id-ID">
                <a:solidFill>
                  <a:srgbClr val="2E3440"/>
                </a:solidFill>
                <a:latin typeface="Roboto"/>
              </a:rPr>
              <a:t>Bantuan Stimulan Rumah Rusak dan Hunian Tetap Pascabencana Siklon Senyar di Tiga Provinsi Sumatera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89375"/>
            <a:ext cx="566928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39" b="1" lang="id-ID">
                <a:solidFill>
                  <a:srgbClr val="00499D"/>
                </a:solidFill>
                <a:latin typeface="Roboto"/>
              </a:rPr>
              <a:t>Badan Nasional Penanggulangan Bencana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4232275"/>
            <a:ext cx="512064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4384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1" lang="id-ID">
                <a:solidFill>
                  <a:srgbClr val="D9600B"/>
                </a:solidFill>
                <a:latin typeface="Roboto"/>
              </a:rPr>
              <a:t>Dipresentasikan oleh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38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1" lang="id-ID">
                <a:solidFill>
                  <a:srgbClr val="1A1A1A"/>
                </a:solidFill>
                <a:latin typeface="Roboto"/>
              </a:rPr>
              <a:t>Kedeputian Bidang Rehabilitasi dan Rekonstruksi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92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0" lang="id-ID">
                <a:solidFill>
                  <a:srgbClr val="2E3440"/>
                </a:solidFill>
                <a:latin typeface="Roboto"/>
              </a:rPr>
              <a:t>Badan Nasional Penanggulangan Bencana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04960" y="508000"/>
            <a:ext cx="2438400" cy="1053828"/>
          </a:xfrm>
          <a:prstGeom prst="roundRect">
            <a:avLst>
              <a:gd name="adj" fmla="val 964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berakhl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6560" y="609600"/>
            <a:ext cx="2235200" cy="8506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349875"/>
            <a:ext cx="2926080" cy="38354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260" b="1" lang="id-ID">
                <a:solidFill>
                  <a:srgbClr val="FFFFFF"/>
                </a:solidFill>
                <a:latin typeface="Roboto"/>
              </a:rPr>
              <a:t>Selasa, 27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Bantuan stimulan rumah rusak dan hunian tetap pascabencana Sumatera berjalan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di tiga provinsi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337310"/>
            <a:ext cx="257269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STIMULAN RUSAK SEDANG DAN RINGAN</a:t>
            </a:r>
          </a:p>
        </p:txBody>
      </p:sp>
      <p:pic>
        <p:nvPicPr>
          <p:cNvPr id="11" name="Picture 10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5836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70178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748,9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17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0136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1058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-051C2C-608a1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758950"/>
            <a:ext cx="177800" cy="177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3175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78,9%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317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realisasi belanja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935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39078" y="1337310"/>
            <a:ext cx="1189585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HUNIAN TETAP</a:t>
            </a:r>
          </a:p>
        </p:txBody>
      </p:sp>
      <p:pic>
        <p:nvPicPr>
          <p:cNvPr id="24" name="Picture 23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518" y="1372057"/>
            <a:ext cx="113386" cy="11338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33907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829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rumah-051C2C-320df6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498" y="1758950"/>
            <a:ext cx="177800" cy="1778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312833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0888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088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selesai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38.651</a:t>
            </a:r>
            <a:r>
              <a:rPr sz="860" b="0" lang="id-ID">
                <a:solidFill>
                  <a:srgbClr val="2E3440"/>
                </a:solidFill>
                <a:latin typeface="Roboto"/>
              </a:rPr>
              <a:t> usulan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8207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09129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kalender-051C2C-a840cf9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7495" y="1758950"/>
            <a:ext cx="177800" cy="1778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10955830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93885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9388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proses bangun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30.430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864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2575560"/>
            <a:ext cx="360680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4864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5664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</a:t>
            </a:r>
          </a:p>
        </p:txBody>
      </p:sp>
      <p:sp>
        <p:nvSpPr>
          <p:cNvPr id="44" name="Oval 43"/>
          <p:cNvSpPr/>
          <p:nvPr/>
        </p:nvSpPr>
        <p:spPr>
          <a:xfrm>
            <a:off x="67564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5" name="Picture 44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5076" y="3219514"/>
            <a:ext cx="211328" cy="21132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12014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Stimulan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35.407 unit rumah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di 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42 kabupaten/kota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47" name="Oval 46"/>
          <p:cNvSpPr/>
          <p:nvPr/>
        </p:nvSpPr>
        <p:spPr>
          <a:xfrm>
            <a:off x="67564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076" y="4058348"/>
            <a:ext cx="211328" cy="2113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2014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Reviu huntap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30.430 usulan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38.651 usulan huntap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50" name="Oval 49"/>
          <p:cNvSpPr/>
          <p:nvPr/>
        </p:nvSpPr>
        <p:spPr>
          <a:xfrm>
            <a:off x="67564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kalender-FFFFFF-a840cf9e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5076" y="4897183"/>
            <a:ext cx="211328" cy="2113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2014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Usulan lanjutan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26 kabupaten/kota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sedang berproses.</a:t>
            </a:r>
          </a:p>
        </p:txBody>
      </p:sp>
      <p:sp>
        <p:nvSpPr>
          <p:cNvPr id="53" name="Oval 52"/>
          <p:cNvSpPr/>
          <p:nvPr/>
        </p:nvSpPr>
        <p:spPr>
          <a:xfrm>
            <a:off x="67564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4" name="Picture 53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076" y="5736018"/>
            <a:ext cx="211328" cy="211328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120140" y="5307584"/>
            <a:ext cx="2806700" cy="106819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Rencana transfer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Rp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1.751,1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M ke daerah, tahap II–IV akhir Oktober 2026.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9260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9260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FBE7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600" y="2575560"/>
            <a:ext cx="3606800" cy="228600"/>
          </a:xfrm>
          <a:prstGeom prst="rect">
            <a:avLst/>
          </a:prstGeom>
          <a:solidFill>
            <a:srgbClr val="FBE7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9260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41960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1" name="Picture 60" descr="peringatan-FFFFFF-6a80b716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2178" y="2482088"/>
            <a:ext cx="186944" cy="18694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80060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Kendala</a:t>
            </a:r>
          </a:p>
        </p:txBody>
      </p:sp>
      <p:sp>
        <p:nvSpPr>
          <p:cNvPr id="63" name="Oval 62"/>
          <p:cNvSpPr/>
          <p:nvPr/>
        </p:nvSpPr>
        <p:spPr>
          <a:xfrm>
            <a:off x="441960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Picture 63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9036" y="3219514"/>
            <a:ext cx="211328" cy="21132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6410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Material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Semen dan besi langka, harga naik.</a:t>
            </a:r>
          </a:p>
        </p:txBody>
      </p:sp>
      <p:sp>
        <p:nvSpPr>
          <p:cNvPr id="66" name="Oval 65"/>
          <p:cNvSpPr/>
          <p:nvPr/>
        </p:nvSpPr>
        <p:spPr>
          <a:xfrm>
            <a:off x="441960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luas-FFFFFF-12322028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79036" y="4058348"/>
            <a:ext cx="211328" cy="21132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86410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Lahan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Status tanah adat dan ulayat belum pasti.</a:t>
            </a:r>
          </a:p>
        </p:txBody>
      </p:sp>
      <p:sp>
        <p:nvSpPr>
          <p:cNvPr id="69" name="Oval 68"/>
          <p:cNvSpPr/>
          <p:nvPr/>
        </p:nvSpPr>
        <p:spPr>
          <a:xfrm>
            <a:off x="441960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79036" y="4897183"/>
            <a:ext cx="211328" cy="21132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6410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Anggaran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ABT DSP rumah rusak berat terlambat cair.</a:t>
            </a:r>
          </a:p>
        </p:txBody>
      </p:sp>
      <p:sp>
        <p:nvSpPr>
          <p:cNvPr id="72" name="Oval 71"/>
          <p:cNvSpPr/>
          <p:nvPr/>
        </p:nvSpPr>
        <p:spPr>
          <a:xfrm>
            <a:off x="441960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3" name="Picture 72" descr="data-FFFFFF-608a1e16-t2.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9036" y="5736018"/>
            <a:ext cx="211328" cy="211328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864100" y="543793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Data penerima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Verifikasi dan validasi oleh pemda terlambat.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3656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03656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DCEB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36560" y="2575560"/>
            <a:ext cx="3606800" cy="228600"/>
          </a:xfrm>
          <a:prstGeom prst="rect">
            <a:avLst/>
          </a:prstGeom>
          <a:solidFill>
            <a:srgbClr val="DCEB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03656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16356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lembaga-FFFFFF-f44193c4-t2.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16138" y="2482088"/>
            <a:ext cx="186944" cy="186944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54456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Tindak Lanjut</a:t>
            </a:r>
          </a:p>
        </p:txBody>
      </p:sp>
      <p:sp>
        <p:nvSpPr>
          <p:cNvPr id="82" name="Oval 81"/>
          <p:cNvSpPr/>
          <p:nvPr/>
        </p:nvSpPr>
        <p:spPr>
          <a:xfrm>
            <a:off x="816356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3" name="Picture 82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22996" y="3219514"/>
            <a:ext cx="211328" cy="21132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60806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Pasokan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Harga khusus semen dari PT Semen Indonesia.</a:t>
            </a:r>
          </a:p>
        </p:txBody>
      </p:sp>
      <p:sp>
        <p:nvSpPr>
          <p:cNvPr id="85" name="Oval 84"/>
          <p:cNvSpPr/>
          <p:nvPr/>
        </p:nvSpPr>
        <p:spPr>
          <a:xfrm>
            <a:off x="816356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6" name="Picture 85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2996" y="4058348"/>
            <a:ext cx="211328" cy="211328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60806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Pencairan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Dipercepat untuk rumah rusak berat.</a:t>
            </a:r>
          </a:p>
        </p:txBody>
      </p:sp>
      <p:sp>
        <p:nvSpPr>
          <p:cNvPr id="88" name="Oval 87"/>
          <p:cNvSpPr/>
          <p:nvPr/>
        </p:nvSpPr>
        <p:spPr>
          <a:xfrm>
            <a:off x="816356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9" name="Picture 88" descr="lembaga-FFFFFF-f44193c4-t2.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22996" y="4897183"/>
            <a:ext cx="211328" cy="21132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60806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Mekanisme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Hibah RR khusus sektor perumahan.</a:t>
            </a:r>
          </a:p>
        </p:txBody>
      </p:sp>
      <p:sp>
        <p:nvSpPr>
          <p:cNvPr id="91" name="Oval 90"/>
          <p:cNvSpPr/>
          <p:nvPr/>
        </p:nvSpPr>
        <p:spPr>
          <a:xfrm>
            <a:off x="816356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2" name="Picture 91" descr="data-FFFFFF-608a1e16-t2.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22996" y="5736018"/>
            <a:ext cx="211328" cy="2113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608060" y="543793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Data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Pemda menuntaskan verifikasi penerima bantuan.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bahan RTM Kedeputian Bidang RR BNPB, 27 Oktober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413000"/>
            <a:ext cx="2712720" cy="7620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l"/>
            <a:r>
              <a:rPr sz="3600" b="1" lang="id-ID">
                <a:solidFill>
                  <a:srgbClr val="051C2C"/>
                </a:solidFill>
                <a:latin typeface="Roboto"/>
              </a:rPr>
              <a:t>Daftar Isi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274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05200"/>
            <a:ext cx="271272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lang="id-ID">
                <a:solidFill>
                  <a:srgbClr val="2E3440"/>
                </a:solidFill>
                <a:latin typeface="Roboto"/>
              </a:rPr>
              <a:t>Progres Sektor Perumahan Rehabilitasi dan Rekonstruksi Pascabencana di Wilayah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21–27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Dokumentasi Lapangan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Dasar Hukum Pelaksanaan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1303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11303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4–5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Dasar hukum pelaksanaan bantuan perumahan pascabencana Sumatera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01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Dasar hukum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40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gulasi-FFFFFF-e639fe9a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Peraturan yang Menjadi Dasar Pelaksanaan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830" y="1541780"/>
            <a:ext cx="155897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JENIS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2604" y="1541780"/>
            <a:ext cx="176019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NOMOR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3599" y="1541780"/>
            <a:ext cx="397363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TENTANG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8034" y="1541780"/>
            <a:ext cx="165958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LEMBAGA PENERBIT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08419" y="1541780"/>
            <a:ext cx="125714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CAKUPAN</a:t>
            </a:r>
          </a:p>
        </p:txBody>
      </p:sp>
      <p:sp>
        <p:nvSpPr>
          <p:cNvPr id="28" name="Pita kolom utama"/>
          <p:cNvSpPr/>
          <p:nvPr/>
        </p:nvSpPr>
        <p:spPr>
          <a:xfrm>
            <a:off x="675640" y="1752600"/>
            <a:ext cx="1885364" cy="450850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75640" y="1752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675640" y="154178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75640" y="62611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777240" y="204131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830" y="1752600"/>
            <a:ext cx="1558974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Peraturan BNPB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2604" y="1752600"/>
            <a:ext cx="1760196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5 Tahun 2017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3599" y="1752600"/>
            <a:ext cx="3973635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Rencana Rehabilitasi dan Rekonstruksi Pascabencana (R3P)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98034" y="1752600"/>
            <a:ext cx="165958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08419" y="1752600"/>
            <a:ext cx="12571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5640" y="250401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777240" y="279273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830" y="2504017"/>
            <a:ext cx="1558974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Peraturan BNPB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2604" y="2504017"/>
            <a:ext cx="1760196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4 Tahun 2020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3599" y="2504017"/>
            <a:ext cx="397363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Dana Siap Pakai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8034" y="2504017"/>
            <a:ext cx="165958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8419" y="2504017"/>
            <a:ext cx="12571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5640" y="32554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777240" y="354414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2830" y="3255433"/>
            <a:ext cx="1558974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Petunjuk Pelaksanaan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62604" y="3255433"/>
            <a:ext cx="1760196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5 Tahun 2024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3599" y="3255433"/>
            <a:ext cx="3973635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Bantuan DSP stimulan perbaikan dan pembangunan kembali rumah rusak akibat bencana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98034" y="3255433"/>
            <a:ext cx="165958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08419" y="3255433"/>
            <a:ext cx="12571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75640" y="400685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3" name="Oval 52"/>
          <p:cNvSpPr/>
          <p:nvPr/>
        </p:nvSpPr>
        <p:spPr>
          <a:xfrm>
            <a:off x="777240" y="42955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2830" y="4006850"/>
            <a:ext cx="1558974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Keputusan Kepala BNPB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62604" y="4006850"/>
            <a:ext cx="1760196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393 Tahun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3599" y="4006850"/>
            <a:ext cx="3973635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Bantuan perbaikan dan pembangunan rumah rusak terdampak bencana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8034" y="4006850"/>
            <a:ext cx="165958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Kepala BNPB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08419" y="4006850"/>
            <a:ext cx="12571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75640" y="475826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Oval 59"/>
          <p:cNvSpPr/>
          <p:nvPr/>
        </p:nvSpPr>
        <p:spPr>
          <a:xfrm>
            <a:off x="777240" y="50469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830" y="4758267"/>
            <a:ext cx="1558974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Keputusan Mendagri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62604" y="4758267"/>
            <a:ext cx="1760196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300.2.8-168 Tahun 2026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73599" y="4758267"/>
            <a:ext cx="3973635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Pedoman teknis bantuan rumah terdampak bencana di tiga provinsi Sumatera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98034" y="4758267"/>
            <a:ext cx="1659585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Kementerian Dalam Negeri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08419" y="4758267"/>
            <a:ext cx="12571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Khusus Sumatera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5640" y="55096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777240" y="579839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2830" y="5509683"/>
            <a:ext cx="1558974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Petunjuk Teknis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662604" y="5509683"/>
            <a:ext cx="1760196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1 Tahun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73599" y="5509683"/>
            <a:ext cx="3973635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Pembangunan rumah rusak berat melalui </a:t>
            </a:r>
            <a:r>
              <a:rPr sz="1204" b="0" i="1" lang="id-ID">
                <a:solidFill>
                  <a:srgbClr val="2E3440"/>
                </a:solidFill>
                <a:latin typeface="Roboto"/>
              </a:rPr>
              <a:t>in situ</a:t>
            </a:r>
            <a:r>
              <a:rPr sz="1204" b="0" lang="id-ID">
                <a:solidFill>
                  <a:srgbClr val="2E3440"/>
                </a:solidFill>
                <a:latin typeface="Roboto"/>
              </a:rPr>
              <a:t> dan relokasi mandiri di tiga provinsi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98034" y="5509683"/>
            <a:ext cx="165958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08419" y="5509683"/>
            <a:ext cx="12571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Khusus Sumatera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bahan RTM Kedeputian Bidang RR BNPB, 27 Oktober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Stimulan Rumah Rusak Sedang dan Rusak Ringan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Rectangle 11"/>
          <p:cNvSpPr/>
          <p:nvPr/>
        </p:nvSpPr>
        <p:spPr>
          <a:xfrm>
            <a:off x="4114800" y="20701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0701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6–12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untuk rumah yang rusak sedang dan ringan mencapai</a:t>
            </a:r>
            <a:br/>
            <a:r>
              <a:rPr sz="2200" b="1" lang="id-ID">
                <a:solidFill>
                  <a:srgbClr val="D9600B"/>
                </a:solidFill>
                <a:latin typeface="Roboto"/>
              </a:rPr>
              <a:t>78,9%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dari dana di rekening masyarakat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6471209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1097922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PENYALURAN</a:t>
            </a:r>
          </a:p>
        </p:txBody>
      </p:sp>
      <p:pic>
        <p:nvPicPr>
          <p:cNvPr id="18" name="Picture 17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748,9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ditransfer ke daerah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72766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81986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-051C2C-608a1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186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84576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702,4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84576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di rekening masyarakat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87163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96383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rumah-051C2C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2583" y="1758950"/>
            <a:ext cx="177800" cy="177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398973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78,9%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8973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realisasi belanja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6549" y="1282700"/>
            <a:ext cx="4356811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96277" y="1337310"/>
            <a:ext cx="862587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WILAYAH</a:t>
            </a:r>
          </a:p>
        </p:txBody>
      </p:sp>
      <p:pic>
        <p:nvPicPr>
          <p:cNvPr id="36" name="Picture 35" descr="wilayah-FFFFFF-37dca1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7717" y="1372057"/>
            <a:ext cx="113386" cy="11338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7396277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05497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wilayah-051C2C-37dca1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1697" y="1758950"/>
            <a:ext cx="177800" cy="1778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908087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8087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penerima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10674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619894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kalender-051C2C-a840cf9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6094" y="1758950"/>
            <a:ext cx="177800" cy="177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022484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22484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tahap lanjut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" y="2346960"/>
            <a:ext cx="6213043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2575560"/>
            <a:ext cx="6213043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rumah-FFFFFF-320df645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56640" y="2346960"/>
            <a:ext cx="545104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Rusak Sedang (RS) dan Rusak Ringan (RR) per Provinsi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2905760"/>
            <a:ext cx="2332817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60857" y="2905760"/>
            <a:ext cx="97310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 RS DAN RR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35560" y="3116580"/>
            <a:ext cx="81397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51139" y="3116580"/>
            <a:ext cx="61323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65974" y="2905760"/>
            <a:ext cx="667109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35560" y="2905760"/>
            <a:ext cx="152881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86360" y="3103880"/>
            <a:ext cx="142721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1" name="Pita kolom utama"/>
          <p:cNvSpPr/>
          <p:nvPr/>
        </p:nvSpPr>
        <p:spPr>
          <a:xfrm>
            <a:off x="675640" y="3327400"/>
            <a:ext cx="1651864" cy="252537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675640" y="332740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63" name="Connector 62"/>
          <p:cNvCxnSpPr/>
          <p:nvPr/>
        </p:nvCxnSpPr>
        <p:spPr>
          <a:xfrm>
            <a:off x="675640" y="290576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64" name="Connector 63"/>
          <p:cNvCxnSpPr/>
          <p:nvPr/>
        </p:nvCxnSpPr>
        <p:spPr>
          <a:xfrm>
            <a:off x="675640" y="585277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777240" y="3327400"/>
            <a:ext cx="2332817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0857" y="3327400"/>
            <a:ext cx="973102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30.661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35560" y="3327400"/>
            <a:ext cx="813979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621,8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51139" y="3327400"/>
            <a:ext cx="613235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494,3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66800" y="3620965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1A1A1A"/>
                </a:solidFill>
                <a:latin typeface="Roboto"/>
              </a:rPr>
              <a:t>79,5%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5640" y="4169190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1" name="TextBox 70"/>
          <p:cNvSpPr txBox="1"/>
          <p:nvPr/>
        </p:nvSpPr>
        <p:spPr>
          <a:xfrm>
            <a:off x="777240" y="4169190"/>
            <a:ext cx="2332817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60857" y="4169190"/>
            <a:ext cx="973102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3.560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35560" y="4169190"/>
            <a:ext cx="813979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61,9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51139" y="4169190"/>
            <a:ext cx="613235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47,1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866800" y="4462755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1A1A1A"/>
                </a:solidFill>
                <a:latin typeface="Roboto"/>
              </a:rPr>
              <a:t>76,1%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5640" y="5010980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7" name="TextBox 76"/>
          <p:cNvSpPr txBox="1"/>
          <p:nvPr/>
        </p:nvSpPr>
        <p:spPr>
          <a:xfrm>
            <a:off x="777240" y="5010980"/>
            <a:ext cx="2332817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0857" y="5010980"/>
            <a:ext cx="973102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1.186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5560" y="5010980"/>
            <a:ext cx="813979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18,7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51139" y="5010980"/>
            <a:ext cx="613235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12,7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866800" y="5304544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C8102E"/>
                </a:solidFill>
                <a:latin typeface="Roboto"/>
              </a:rPr>
              <a:t>68,1%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5640" y="5903570"/>
            <a:ext cx="5959043" cy="357530"/>
          </a:xfrm>
          <a:prstGeom prst="roundRect">
            <a:avLst>
              <a:gd name="adj" fmla="val 1065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640" y="5903570"/>
            <a:ext cx="2358217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60857" y="5903570"/>
            <a:ext cx="973102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35.407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35560" y="5903570"/>
            <a:ext cx="813979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702,4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1139" y="5903570"/>
            <a:ext cx="613235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554,2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898843" y="2346960"/>
            <a:ext cx="4744517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898843" y="2575560"/>
            <a:ext cx="4744517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025843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2" name="Picture 91" descr="peringatan-FFFFFF-6a80b716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78421" y="2482088"/>
            <a:ext cx="186944" cy="18694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7406843" y="2346960"/>
            <a:ext cx="410951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Catatan Pelaksanaan</a:t>
            </a:r>
          </a:p>
        </p:txBody>
      </p:sp>
      <p:sp>
        <p:nvSpPr>
          <p:cNvPr id="94" name="Oval 93"/>
          <p:cNvSpPr/>
          <p:nvPr/>
        </p:nvSpPr>
        <p:spPr>
          <a:xfrm>
            <a:off x="7025843" y="315055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5" name="Picture 94" descr="kalender-FFFFFF-a840cf9e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5279" y="3209988"/>
            <a:ext cx="211328" cy="2113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7470343" y="2974340"/>
            <a:ext cx="3944417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Batas usulan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Paling lambat 31 Agustus 2026; pemda melengkapi dokumen sesuai catatan PIC BNPB.</a:t>
            </a:r>
          </a:p>
        </p:txBody>
      </p:sp>
      <p:sp>
        <p:nvSpPr>
          <p:cNvPr id="97" name="Oval 96"/>
          <p:cNvSpPr/>
          <p:nvPr/>
        </p:nvSpPr>
        <p:spPr>
          <a:xfrm>
            <a:off x="7025843" y="407987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regulasi-FFFFFF-e639fe9a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5279" y="4139311"/>
            <a:ext cx="211328" cy="211328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470343" y="3794125"/>
            <a:ext cx="3944417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Dokumen usulan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SK transisi kedaluwarsa dan NIK/KK berbeda di SK BNBA; kajian kelayakan lahan relokasi mandiri belum ada.</a:t>
            </a:r>
          </a:p>
        </p:txBody>
      </p:sp>
      <p:sp>
        <p:nvSpPr>
          <p:cNvPr id="100" name="Oval 99"/>
          <p:cNvSpPr/>
          <p:nvPr/>
        </p:nvSpPr>
        <p:spPr>
          <a:xfrm>
            <a:off x="7025843" y="500919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1" name="Picture 100" descr="data-FFFFFF-608a1e16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85279" y="5068633"/>
            <a:ext cx="211328" cy="21132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470343" y="4832985"/>
            <a:ext cx="3944417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Pertanggungjawaban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Laporan bulanan, pengembalian kas negara, SK BNBA final, rekening koran.</a:t>
            </a:r>
          </a:p>
        </p:txBody>
      </p:sp>
      <p:sp>
        <p:nvSpPr>
          <p:cNvPr id="103" name="Oval 102"/>
          <p:cNvSpPr/>
          <p:nvPr/>
        </p:nvSpPr>
        <p:spPr>
          <a:xfrm>
            <a:off x="7025843" y="571944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4" name="Picture 103" descr="infrastruktur-FFFFFF-ba1c96e7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85279" y="5778881"/>
            <a:ext cx="211328" cy="21132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7470343" y="5652770"/>
            <a:ext cx="3944417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Pelaksanaan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Material langka dan tenaga tukang terbatas.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Rincian penyaluran stimulan rumah rusak sedang dan rusak ringan per tahap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(Rp miliar)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2465070"/>
          </a:xfrm>
          <a:prstGeom prst="roundRect">
            <a:avLst>
              <a:gd name="adj" fmla="val 2215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128270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51130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1282700"/>
            <a:ext cx="11094720" cy="2465070"/>
          </a:xfrm>
          <a:prstGeom prst="roundRect">
            <a:avLst>
              <a:gd name="adj" fmla="val 2215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36525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41782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128270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 (RS)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84150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3528" y="2052320"/>
            <a:ext cx="101263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7762" y="2052320"/>
            <a:ext cx="91844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7805" y="2052320"/>
            <a:ext cx="101263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2039" y="2052320"/>
            <a:ext cx="91844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2083" y="2052320"/>
            <a:ext cx="101263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96317" y="2052320"/>
            <a:ext cx="91844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3528" y="1841500"/>
            <a:ext cx="20326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164328" y="2039620"/>
            <a:ext cx="193107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7247805" y="1841500"/>
            <a:ext cx="20326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REKENING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98605" y="2039620"/>
            <a:ext cx="1931078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9382083" y="1841500"/>
            <a:ext cx="20326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BELANJA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432883" y="2039620"/>
            <a:ext cx="193107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6" name="Pita kolom utama"/>
          <p:cNvSpPr/>
          <p:nvPr/>
        </p:nvSpPr>
        <p:spPr>
          <a:xfrm>
            <a:off x="675640" y="2263140"/>
            <a:ext cx="1322955" cy="107823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675640" y="226314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675640" y="18415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675640" y="334137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777240" y="226314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3528" y="226314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12.919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7762" y="226314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387,6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7805" y="226314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12.289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2039" y="226314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368,6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82083" y="226314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11.190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96317" y="226314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292,7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75640" y="262255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777240" y="262255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13528" y="262255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1.228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27762" y="262255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36,8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47805" y="262255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1.068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2039" y="262255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32,0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82083" y="262255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891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96317" y="262255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24,0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5640" y="298196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777240" y="298196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13528" y="298196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7762" y="298196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11,3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47805" y="298196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2039" y="298196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10,3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82083" y="298196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265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96317" y="298196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7,2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75640" y="339217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640" y="3392170"/>
            <a:ext cx="43108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13528" y="3392170"/>
            <a:ext cx="101263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14.522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27762" y="3392170"/>
            <a:ext cx="91844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435,7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47805" y="3392170"/>
            <a:ext cx="101263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13.700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62039" y="3392170"/>
            <a:ext cx="91844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410,9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82083" y="3392170"/>
            <a:ext cx="101263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12.346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6317" y="3392170"/>
            <a:ext cx="91844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323,9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3884930"/>
            <a:ext cx="11094720" cy="2465070"/>
          </a:xfrm>
          <a:prstGeom prst="roundRect">
            <a:avLst>
              <a:gd name="adj" fmla="val 2215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48640" y="388493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48640" y="411353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48640" y="3884930"/>
            <a:ext cx="11094720" cy="2465070"/>
          </a:xfrm>
          <a:prstGeom prst="roundRect">
            <a:avLst>
              <a:gd name="adj" fmla="val 2215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75640" y="396748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6" name="Picture 75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4020058"/>
            <a:ext cx="186944" cy="186944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056640" y="388493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 (RR)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444373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13528" y="4654550"/>
            <a:ext cx="101263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27762" y="4654550"/>
            <a:ext cx="91844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47805" y="4654550"/>
            <a:ext cx="101263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62039" y="4654550"/>
            <a:ext cx="91844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82083" y="4654550"/>
            <a:ext cx="101263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96317" y="4654550"/>
            <a:ext cx="91844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3528" y="4443730"/>
            <a:ext cx="20326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164328" y="4641850"/>
            <a:ext cx="193107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7" name="TextBox 86"/>
          <p:cNvSpPr txBox="1"/>
          <p:nvPr/>
        </p:nvSpPr>
        <p:spPr>
          <a:xfrm>
            <a:off x="7247805" y="4443730"/>
            <a:ext cx="20326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REKENING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298605" y="4641850"/>
            <a:ext cx="1931078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9" name="TextBox 88"/>
          <p:cNvSpPr txBox="1"/>
          <p:nvPr/>
        </p:nvSpPr>
        <p:spPr>
          <a:xfrm>
            <a:off x="9382083" y="4443730"/>
            <a:ext cx="20326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BELANJA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432883" y="4641850"/>
            <a:ext cx="193107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1" name="Pita kolom utama"/>
          <p:cNvSpPr/>
          <p:nvPr/>
        </p:nvSpPr>
        <p:spPr>
          <a:xfrm>
            <a:off x="675640" y="4865370"/>
            <a:ext cx="1322955" cy="107823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675640" y="486537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93" name="Connector 92"/>
          <p:cNvCxnSpPr/>
          <p:nvPr/>
        </p:nvCxnSpPr>
        <p:spPr>
          <a:xfrm>
            <a:off x="675640" y="444373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94" name="Connector 93"/>
          <p:cNvCxnSpPr/>
          <p:nvPr/>
        </p:nvCxnSpPr>
        <p:spPr>
          <a:xfrm>
            <a:off x="675640" y="5943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95" name="TextBox 94"/>
          <p:cNvSpPr txBox="1"/>
          <p:nvPr/>
        </p:nvSpPr>
        <p:spPr>
          <a:xfrm>
            <a:off x="777240" y="486537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13528" y="486537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17.742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7762" y="486537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266,1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247805" y="486537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16.879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62039" y="486537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253,2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82083" y="486537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15.539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96317" y="486537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201,6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75640" y="522478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3" name="TextBox 102"/>
          <p:cNvSpPr txBox="1"/>
          <p:nvPr/>
        </p:nvSpPr>
        <p:spPr>
          <a:xfrm>
            <a:off x="777240" y="522478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13528" y="522478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2.332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27762" y="522478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35,0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47805" y="522478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1.998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62039" y="522478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29,9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82083" y="522478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1.740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96317" y="522478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23,1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75640" y="558419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1" name="TextBox 110"/>
          <p:cNvSpPr txBox="1"/>
          <p:nvPr/>
        </p:nvSpPr>
        <p:spPr>
          <a:xfrm>
            <a:off x="777240" y="558419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13528" y="558419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27762" y="558419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12,2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247805" y="558419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562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62039" y="558419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8,4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82083" y="5584190"/>
            <a:ext cx="1012634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441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496317" y="5584190"/>
            <a:ext cx="918443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5,5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02640" y="5994400"/>
            <a:ext cx="43108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13528" y="5994400"/>
            <a:ext cx="101263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20.885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227762" y="5994400"/>
            <a:ext cx="91844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313,3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247805" y="5994400"/>
            <a:ext cx="101263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19.439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62039" y="5994400"/>
            <a:ext cx="91844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291,6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382083" y="5994400"/>
            <a:ext cx="101263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17.720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496317" y="5994400"/>
            <a:ext cx="91844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230,3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Aceh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79,5%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17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Aceh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8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7752" y="1541780"/>
            <a:ext cx="54975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01" y="1752600"/>
            <a:ext cx="78157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2276" y="1752600"/>
            <a:ext cx="88570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9580" y="1752600"/>
            <a:ext cx="66633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511" y="1541780"/>
            <a:ext cx="738833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01" y="1541780"/>
            <a:ext cx="253680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59901" y="1739900"/>
            <a:ext cx="243521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1" name="Pita kolom utama"/>
          <p:cNvSpPr/>
          <p:nvPr/>
        </p:nvSpPr>
        <p:spPr>
          <a:xfrm>
            <a:off x="675640" y="1963420"/>
            <a:ext cx="1982046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75640" y="154178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75640" y="594360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777240" y="1982470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830" y="1963420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Barat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752" y="1963420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01" y="1963420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2276" y="1963420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79580" y="1963420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8625" y="1982470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5640" y="217290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777240" y="2191953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2830" y="2172903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Selatan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57752" y="2172903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9101" y="2172903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2276" y="2172903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9580" y="2172903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42142" y="2191953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22,9%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75640" y="238238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777240" y="2401436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2830" y="2382386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Singkil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57752" y="2382386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9101" y="2382386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92276" y="2382386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79580" y="2382386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42142" y="2401436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33,8%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5640" y="259186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9" name="Oval 58"/>
          <p:cNvSpPr/>
          <p:nvPr/>
        </p:nvSpPr>
        <p:spPr>
          <a:xfrm>
            <a:off x="777240" y="2610919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2830" y="2591869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57752" y="2591869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5.141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01" y="2591869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112,2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92276" y="2591869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109,1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79580" y="2591869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87,5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42142" y="2610919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80,2%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5640" y="280135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777240" y="2820403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2830" y="2801353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II SK 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7752" y="2801353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4.058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09101" y="2801353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92276" y="2801353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79580" y="2801353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65,7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42142" y="2820403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75,8%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75640" y="301083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5" name="Oval 74"/>
          <p:cNvSpPr/>
          <p:nvPr/>
        </p:nvSpPr>
        <p:spPr>
          <a:xfrm>
            <a:off x="777240" y="3029886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2830" y="3010836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II SK 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57752" y="3010836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4.400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09101" y="3010836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92276" y="3010836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79580" y="3010836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69,5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42142" y="3029886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74,2%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75640" y="322031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3" name="Oval 82"/>
          <p:cNvSpPr/>
          <p:nvPr/>
        </p:nvSpPr>
        <p:spPr>
          <a:xfrm>
            <a:off x="777240" y="3239369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2830" y="3220319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Tengah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57752" y="3220319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1.680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09101" y="3220319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32,2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92276" y="3220319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25,6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79580" y="3220319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442142" y="3239369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75,2%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75640" y="342980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777240" y="3448852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2830" y="3429802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Tenggara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57752" y="3429802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09101" y="3429802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92276" y="3429802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79580" y="3429802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442142" y="3448852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60,0%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75640" y="363928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9" name="Oval 98"/>
          <p:cNvSpPr/>
          <p:nvPr/>
        </p:nvSpPr>
        <p:spPr>
          <a:xfrm>
            <a:off x="777240" y="3658335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2830" y="3639285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57752" y="3639285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5.318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9101" y="3639285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118,9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92276" y="3639285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114,4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79580" y="3639285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111,8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442142" y="3658335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97,8%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675640" y="384876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7" name="Oval 106"/>
          <p:cNvSpPr/>
          <p:nvPr/>
        </p:nvSpPr>
        <p:spPr>
          <a:xfrm>
            <a:off x="777240" y="3867818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52830" y="3848768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Utara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57752" y="3848768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471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09101" y="3848768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592276" y="3848768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79580" y="3848768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7,0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442142" y="3867818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77,5%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675640" y="405825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5" name="Oval 114"/>
          <p:cNvSpPr/>
          <p:nvPr/>
        </p:nvSpPr>
        <p:spPr>
          <a:xfrm>
            <a:off x="777240" y="4077302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2830" y="4058252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Bener Meriah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57752" y="4058252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09101" y="4058252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592276" y="4058252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79580" y="4058252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3,3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442142" y="4077302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85,2%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675640" y="426773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3" name="Oval 122"/>
          <p:cNvSpPr/>
          <p:nvPr/>
        </p:nvSpPr>
        <p:spPr>
          <a:xfrm>
            <a:off x="777240" y="4286785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52830" y="4267735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57752" y="4267735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4.347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709101" y="4267735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92276" y="4267735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579580" y="4267735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79,3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442142" y="4286785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92,2%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75640" y="447721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1" name="Oval 130"/>
          <p:cNvSpPr/>
          <p:nvPr/>
        </p:nvSpPr>
        <p:spPr>
          <a:xfrm>
            <a:off x="777240" y="4496268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52830" y="4477218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Gayo Lues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57752" y="4477218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09101" y="4477218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92276" y="4477218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579580" y="4477218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408625" y="4496268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675640" y="468670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9" name="Oval 138"/>
          <p:cNvSpPr/>
          <p:nvPr/>
        </p:nvSpPr>
        <p:spPr>
          <a:xfrm>
            <a:off x="777240" y="4705751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52830" y="4686701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Langsa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057752" y="4686701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1.326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09101" y="4686701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28,1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592276" y="4686701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24,9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579580" y="4686701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442142" y="4705751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36,8%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675640" y="489618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7" name="Oval 146"/>
          <p:cNvSpPr/>
          <p:nvPr/>
        </p:nvSpPr>
        <p:spPr>
          <a:xfrm>
            <a:off x="777240" y="4915234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52830" y="4896184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Lhokseumawe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057752" y="4896184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1.201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09101" y="4896184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35,7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592276" y="4896184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32,1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579580" y="4896184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16,2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142" y="4915234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50,4%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675640" y="510566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5" name="Oval 154"/>
          <p:cNvSpPr/>
          <p:nvPr/>
        </p:nvSpPr>
        <p:spPr>
          <a:xfrm>
            <a:off x="777240" y="5124717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52830" y="5105667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Subulussalam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057752" y="5105667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1.112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09101" y="5105667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17,8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592276" y="5105667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17,5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579580" y="5105667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11,0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442142" y="5124717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62,8%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75640" y="531515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63" name="Oval 162"/>
          <p:cNvSpPr/>
          <p:nvPr/>
        </p:nvSpPr>
        <p:spPr>
          <a:xfrm>
            <a:off x="777240" y="5334201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52830" y="5315151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Nagan Raya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57752" y="5315151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169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709101" y="5315151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3,7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92276" y="5315151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79580" y="5315151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2,5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442142" y="5334201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93,1%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675640" y="552463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71" name="Oval 170"/>
          <p:cNvSpPr/>
          <p:nvPr/>
        </p:nvSpPr>
        <p:spPr>
          <a:xfrm>
            <a:off x="777240" y="5543684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18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52830" y="5524634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Pidie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057752" y="5524634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709101" y="5524634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592276" y="5524634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579580" y="5524634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7442142" y="5543684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90,3%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675640" y="573411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79" name="Oval 178"/>
          <p:cNvSpPr/>
          <p:nvPr/>
        </p:nvSpPr>
        <p:spPr>
          <a:xfrm>
            <a:off x="777240" y="5753167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52830" y="5734117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057752" y="5734117"/>
            <a:ext cx="54975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282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709101" y="5734117"/>
            <a:ext cx="78157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592276" y="5734117"/>
            <a:ext cx="88570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579580" y="5734117"/>
            <a:ext cx="66633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8,0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7408625" y="5753167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52830" y="59944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057752" y="5994400"/>
            <a:ext cx="54975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30.661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709101" y="5994400"/>
            <a:ext cx="781575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653,7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592276" y="5994400"/>
            <a:ext cx="88570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621,8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579580" y="5994400"/>
            <a:ext cx="66633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494,3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7" name="Picture 196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98" name="TextBox 197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99" name="Oval 198"/>
          <p:cNvSpPr/>
          <p:nvPr/>
        </p:nvSpPr>
        <p:spPr>
          <a:xfrm>
            <a:off x="8579104" y="188480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0" name="Picture 199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1944243"/>
            <a:ext cx="211328" cy="211328"/>
          </a:xfrm>
          <a:prstGeom prst="rect">
            <a:avLst/>
          </a:prstGeom>
        </p:spPr>
      </p:pic>
      <p:sp>
        <p:nvSpPr>
          <p:cNvPr id="201" name="TextBox 200"/>
          <p:cNvSpPr txBox="1"/>
          <p:nvPr/>
        </p:nvSpPr>
        <p:spPr>
          <a:xfrm>
            <a:off x="9023604" y="1599057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Empat kab/kota: Aceh Singkil, Aceh Tamiang, Aceh Utara, Pidie Jaya.</a:t>
            </a:r>
          </a:p>
        </p:txBody>
      </p:sp>
      <p:sp>
        <p:nvSpPr>
          <p:cNvPr id="202" name="Oval 201"/>
          <p:cNvSpPr/>
          <p:nvPr/>
        </p:nvSpPr>
        <p:spPr>
          <a:xfrm>
            <a:off x="8579104" y="290106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3" name="Picture 202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2960497"/>
            <a:ext cx="211328" cy="211328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9023604" y="2615311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Sepuluh kab/kota, antara lain Aceh Selatan, Aceh Timur, Bireuen, Pidie.</a:t>
            </a:r>
          </a:p>
        </p:txBody>
      </p:sp>
      <p:sp>
        <p:nvSpPr>
          <p:cNvPr id="205" name="Oval 204"/>
          <p:cNvSpPr/>
          <p:nvPr/>
        </p:nvSpPr>
        <p:spPr>
          <a:xfrm>
            <a:off x="8579104" y="38077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6" name="Picture 205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3867214"/>
            <a:ext cx="211328" cy="211328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9023604" y="3631565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Pidie Jaya, sebagai satu-satunya kab/kota.</a:t>
            </a:r>
          </a:p>
        </p:txBody>
      </p:sp>
      <p:sp>
        <p:nvSpPr>
          <p:cNvPr id="208" name="Oval 207"/>
          <p:cNvSpPr/>
          <p:nvPr/>
        </p:nvSpPr>
        <p:spPr>
          <a:xfrm>
            <a:off x="8579104" y="460495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9" name="Picture 208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4664392"/>
            <a:ext cx="211328" cy="211328"/>
          </a:xfrm>
          <a:prstGeom prst="rect">
            <a:avLst/>
          </a:prstGeom>
        </p:spPr>
      </p:pic>
      <p:sp>
        <p:nvSpPr>
          <p:cNvPr id="210" name="TextBox 209"/>
          <p:cNvSpPr txBox="1"/>
          <p:nvPr/>
        </p:nvSpPr>
        <p:spPr>
          <a:xfrm>
            <a:off x="9023604" y="4428744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Aceh Tamiang (SK 5), Aceh Tengah, Bireuen.</a:t>
            </a:r>
          </a:p>
        </p:txBody>
      </p:sp>
      <p:sp>
        <p:nvSpPr>
          <p:cNvPr id="211" name="Oval 210"/>
          <p:cNvSpPr/>
          <p:nvPr/>
        </p:nvSpPr>
        <p:spPr>
          <a:xfrm>
            <a:off x="8579104" y="5511673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2" name="Picture 211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5571109"/>
            <a:ext cx="211328" cy="211328"/>
          </a:xfrm>
          <a:prstGeom prst="rect">
            <a:avLst/>
          </a:prstGeom>
        </p:spPr>
      </p:pic>
      <p:sp>
        <p:nvSpPr>
          <p:cNvPr id="213" name="TextBox 212"/>
          <p:cNvSpPr txBox="1"/>
          <p:nvPr/>
        </p:nvSpPr>
        <p:spPr>
          <a:xfrm>
            <a:off x="9023604" y="5225923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SK tahap II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Aceh Tamiang SK 2–4, Aceh Timur SK 2 dan 3, Aceh Utara SK 2–5.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Sumatera Utara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76,1%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14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Sumatera Utara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8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7752" y="1541780"/>
            <a:ext cx="496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5474" y="1752600"/>
            <a:ext cx="79498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2055" y="1752600"/>
            <a:ext cx="89911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2766" y="1752600"/>
            <a:ext cx="67973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34104" y="1541780"/>
            <a:ext cx="75224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5474" y="1541780"/>
            <a:ext cx="257703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06274" y="1739900"/>
            <a:ext cx="247543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1" name="Pita kolom utama"/>
          <p:cNvSpPr/>
          <p:nvPr/>
        </p:nvSpPr>
        <p:spPr>
          <a:xfrm>
            <a:off x="675640" y="1963420"/>
            <a:ext cx="1703182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75640" y="154178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75640" y="594360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777240" y="201857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830" y="1963420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Batu Bara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752" y="1963420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55474" y="1963420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2055" y="1963420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2766" y="1963420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1921" y="2000413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5640" y="224771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777240" y="230287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2830" y="2247719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Deli Serdang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57752" y="2247719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55474" y="2247719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52055" y="2247719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52766" y="2247719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35439" y="2284712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99,1%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75640" y="253201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777240" y="258717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2830" y="2532017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Humbang Hasundutan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57752" y="2532017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131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55474" y="2532017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52055" y="2532017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52766" y="2532017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01921" y="2569010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5640" y="281631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9" name="Oval 58"/>
          <p:cNvSpPr/>
          <p:nvPr/>
        </p:nvSpPr>
        <p:spPr>
          <a:xfrm>
            <a:off x="777240" y="28714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2830" y="2816316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Binjai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57752" y="2816316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5474" y="2816316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52055" y="2816316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52766" y="2816316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01921" y="285330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5640" y="310061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777240" y="315576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2830" y="3100614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Medan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7752" y="3100614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55474" y="3100614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52055" y="3100614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2766" y="3100614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35439" y="3137608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21,9%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75640" y="338491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5" name="Oval 74"/>
          <p:cNvSpPr/>
          <p:nvPr/>
        </p:nvSpPr>
        <p:spPr>
          <a:xfrm>
            <a:off x="777240" y="344006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2830" y="3384913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57752" y="3384913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55474" y="3384913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20,0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52055" y="3384913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52766" y="3384913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14,7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35439" y="342190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74,1%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75640" y="366921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3" name="Oval 82"/>
          <p:cNvSpPr/>
          <p:nvPr/>
        </p:nvSpPr>
        <p:spPr>
          <a:xfrm>
            <a:off x="777240" y="37243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2830" y="3669211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Mandailing Natal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57752" y="3669211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55474" y="3669211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52055" y="3669211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52766" y="3669211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435439" y="370620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20,1%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75640" y="3953510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777240" y="400866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2830" y="3953510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Nias Selatan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57752" y="3953510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55474" y="3953510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52055" y="3953510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52766" y="3953510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435439" y="3990503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94,5%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75640" y="423780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9" name="Oval 98"/>
          <p:cNvSpPr/>
          <p:nvPr/>
        </p:nvSpPr>
        <p:spPr>
          <a:xfrm>
            <a:off x="777240" y="42929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2830" y="4237809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Nias Barat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57752" y="4237809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655474" y="4237809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52055" y="4237809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52766" y="4237809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435439" y="4274802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19,6%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675640" y="452210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7" name="Oval 106"/>
          <p:cNvSpPr/>
          <p:nvPr/>
        </p:nvSpPr>
        <p:spPr>
          <a:xfrm>
            <a:off x="777240" y="457726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52830" y="4522107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Pakpak Bharat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57752" y="4522107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55474" y="4522107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552055" y="4522107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52766" y="4522107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401921" y="4559100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675640" y="480640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5" name="Oval 114"/>
          <p:cNvSpPr/>
          <p:nvPr/>
        </p:nvSpPr>
        <p:spPr>
          <a:xfrm>
            <a:off x="777240" y="486156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2830" y="4806406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Serdang Bedagai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57752" y="4806406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55474" y="4806406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552055" y="4806406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52766" y="4806406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401921" y="484339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675640" y="509070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3" name="Oval 122"/>
          <p:cNvSpPr/>
          <p:nvPr/>
        </p:nvSpPr>
        <p:spPr>
          <a:xfrm>
            <a:off x="777240" y="514585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52830" y="5090704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Selatan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57752" y="5090704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249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55474" y="5090704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52055" y="5090704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552766" y="5090704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5,3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401921" y="5127698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75640" y="537500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1" name="Oval 130"/>
          <p:cNvSpPr/>
          <p:nvPr/>
        </p:nvSpPr>
        <p:spPr>
          <a:xfrm>
            <a:off x="777240" y="543015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52830" y="5375003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Tengah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57752" y="5375003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1.591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55474" y="5375003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31,3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52055" y="5375003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25,8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552766" y="5375003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19,7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435439" y="541199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76,4%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675640" y="565930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9" name="Oval 138"/>
          <p:cNvSpPr/>
          <p:nvPr/>
        </p:nvSpPr>
        <p:spPr>
          <a:xfrm>
            <a:off x="777240" y="57144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52830" y="5659301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Utara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057752" y="5659301"/>
            <a:ext cx="496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55474" y="5659301"/>
            <a:ext cx="79498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552055" y="5659301"/>
            <a:ext cx="89911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552766" y="5659301"/>
            <a:ext cx="67973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435439" y="569629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86,3%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830" y="59944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057752" y="5994400"/>
            <a:ext cx="4961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3.560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55474" y="5994400"/>
            <a:ext cx="79498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71,8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552055" y="5994400"/>
            <a:ext cx="89911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61,9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52766" y="5994400"/>
            <a:ext cx="67973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47,1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7" name="Picture 156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59" name="Oval 158"/>
          <p:cNvSpPr/>
          <p:nvPr/>
        </p:nvSpPr>
        <p:spPr>
          <a:xfrm>
            <a:off x="8579104" y="194176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0" name="Picture 15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40" y="2001202"/>
            <a:ext cx="211328" cy="211328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9023604" y="1590294"/>
            <a:ext cx="2391156" cy="10331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</a:t>
            </a:r>
          </a:p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14 kabupaten/kota</a:t>
            </a:r>
            <a:r>
              <a:rPr sz="1587" b="0" lang="id-ID">
                <a:solidFill>
                  <a:srgbClr val="1A1A1A"/>
                </a:solidFill>
                <a:latin typeface="Roboto"/>
              </a:rPr>
              <a:t> penerima, realisasi belanja </a:t>
            </a:r>
            <a:r>
              <a:rPr sz="1587" b="1" lang="id-ID">
                <a:solidFill>
                  <a:srgbClr val="1A1A1A"/>
                </a:solidFill>
                <a:latin typeface="Roboto"/>
              </a:rPr>
              <a:t>76,1%</a:t>
            </a:r>
            <a:r>
              <a:rPr sz="1587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162" name="Oval 161"/>
          <p:cNvSpPr/>
          <p:nvPr/>
        </p:nvSpPr>
        <p:spPr>
          <a:xfrm>
            <a:off x="8579104" y="294597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3" name="Picture 162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3005407"/>
            <a:ext cx="211328" cy="211328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9023604" y="2720467"/>
            <a:ext cx="2391156" cy="78120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Tapanuli Tengah.</a:t>
            </a:r>
          </a:p>
        </p:txBody>
      </p:sp>
      <p:sp>
        <p:nvSpPr>
          <p:cNvPr id="165" name="Oval 164"/>
          <p:cNvSpPr/>
          <p:nvPr/>
        </p:nvSpPr>
        <p:spPr>
          <a:xfrm>
            <a:off x="8579104" y="395017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6" name="Picture 165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4009612"/>
            <a:ext cx="211328" cy="211328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9023604" y="3598704"/>
            <a:ext cx="2391156" cy="10331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Tiga kab/kota: Humbang Hasundutan, Tapanuli Selatan, Tapanuli Utara.</a:t>
            </a:r>
          </a:p>
        </p:txBody>
      </p:sp>
      <p:sp>
        <p:nvSpPr>
          <p:cNvPr id="168" name="Oval 167"/>
          <p:cNvSpPr/>
          <p:nvPr/>
        </p:nvSpPr>
        <p:spPr>
          <a:xfrm>
            <a:off x="8579104" y="495438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9" name="Picture 168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5013817"/>
            <a:ext cx="211328" cy="211328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9023604" y="4728877"/>
            <a:ext cx="2391156" cy="78120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Belum ada kab/kota.</a:t>
            </a:r>
          </a:p>
        </p:txBody>
      </p:sp>
      <p:sp>
        <p:nvSpPr>
          <p:cNvPr id="171" name="Oval 170"/>
          <p:cNvSpPr/>
          <p:nvPr/>
        </p:nvSpPr>
        <p:spPr>
          <a:xfrm>
            <a:off x="8579104" y="570665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2" name="Picture 171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5766086"/>
            <a:ext cx="211328" cy="21132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9023604" y="5607114"/>
            <a:ext cx="2391156" cy="5292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Tapanuli Tengah.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Sumatera Barat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68,1%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11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Sumatera Barat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8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7752" y="1541780"/>
            <a:ext cx="496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5474" y="1752600"/>
            <a:ext cx="79498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2055" y="1752600"/>
            <a:ext cx="89911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2766" y="1752600"/>
            <a:ext cx="67973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34104" y="1541780"/>
            <a:ext cx="75224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5474" y="1541780"/>
            <a:ext cx="257703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06274" y="1739900"/>
            <a:ext cx="247543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1" name="Pita kolom utama"/>
          <p:cNvSpPr/>
          <p:nvPr/>
        </p:nvSpPr>
        <p:spPr>
          <a:xfrm>
            <a:off x="675640" y="1963420"/>
            <a:ext cx="1657313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75640" y="154178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75640" y="594360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777240" y="205734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830" y="1963420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752" y="1963420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55474" y="1963420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2055" y="1963420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2766" y="1963420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35439" y="2039181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96,6%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5640" y="232525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777240" y="241917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2830" y="2325255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Pasaman Barat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57752" y="2325255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55474" y="2325255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52055" y="2325255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52766" y="2325255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35439" y="240101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95,5%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75640" y="268708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777240" y="278101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2830" y="2687089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57752" y="2687089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55474" y="2687089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52055" y="2687089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52766" y="2687089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35439" y="2762850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81,4%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5640" y="304892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9" name="Oval 58"/>
          <p:cNvSpPr/>
          <p:nvPr/>
        </p:nvSpPr>
        <p:spPr>
          <a:xfrm>
            <a:off x="777240" y="314284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2830" y="3048924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57752" y="3048924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5474" y="3048924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52055" y="3048924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52766" y="3048924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35439" y="312468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97,7%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5640" y="341075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777240" y="35046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2830" y="3410758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7752" y="3410758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275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55474" y="3410758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52055" y="3410758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2766" y="3410758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01921" y="348651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75640" y="377259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5" name="Oval 74"/>
          <p:cNvSpPr/>
          <p:nvPr/>
        </p:nvSpPr>
        <p:spPr>
          <a:xfrm>
            <a:off x="777240" y="386651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2830" y="3772593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Solok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57752" y="3772593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55474" y="3772593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52055" y="3772593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52766" y="3772593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35439" y="3848354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98,0%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75640" y="413442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3" name="Oval 82"/>
          <p:cNvSpPr/>
          <p:nvPr/>
        </p:nvSpPr>
        <p:spPr>
          <a:xfrm>
            <a:off x="777240" y="422835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2830" y="4134427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57752" y="4134427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55474" y="4134427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52055" y="4134427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52766" y="4134427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401921" y="421018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75640" y="449626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777240" y="45901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2830" y="4496262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Tanah Datar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57752" y="4496262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55474" y="4496262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52055" y="4496262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52766" y="4496262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2,6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435439" y="4572023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92,1%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75640" y="485809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9" name="Oval 98"/>
          <p:cNvSpPr/>
          <p:nvPr/>
        </p:nvSpPr>
        <p:spPr>
          <a:xfrm>
            <a:off x="777240" y="495201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2830" y="4858096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57752" y="4858096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655474" y="4858096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52055" y="4858096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52766" y="4858096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435439" y="4933858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20,4%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675640" y="521993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7" name="Oval 106"/>
          <p:cNvSpPr/>
          <p:nvPr/>
        </p:nvSpPr>
        <p:spPr>
          <a:xfrm>
            <a:off x="777240" y="531385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52830" y="5219931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Pariaman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57752" y="5219931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55474" y="5219931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552055" y="5219931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52766" y="5219931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401921" y="5295692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675640" y="558176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5" name="Oval 114"/>
          <p:cNvSpPr/>
          <p:nvPr/>
        </p:nvSpPr>
        <p:spPr>
          <a:xfrm>
            <a:off x="777240" y="567568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2830" y="5581765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Pesisir Selatan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57752" y="5581765"/>
            <a:ext cx="496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55474" y="5581765"/>
            <a:ext cx="79498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552055" y="5581765"/>
            <a:ext cx="89911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52766" y="5581765"/>
            <a:ext cx="67973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1,7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435439" y="5657527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68,6%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52830" y="59944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57752" y="5994400"/>
            <a:ext cx="4961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1.186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655474" y="5994400"/>
            <a:ext cx="79498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23,4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52055" y="5994400"/>
            <a:ext cx="89911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18,7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52766" y="5994400"/>
            <a:ext cx="67973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12,7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3" name="Picture 132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35" name="Oval 134"/>
          <p:cNvSpPr/>
          <p:nvPr/>
        </p:nvSpPr>
        <p:spPr>
          <a:xfrm>
            <a:off x="8579104" y="184099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5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40" y="1900428"/>
            <a:ext cx="211328" cy="211328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9023604" y="1664780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</a:t>
            </a:r>
          </a:p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11 kabupaten/kota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 penerima, realisasi belanja </a:t>
            </a:r>
            <a:r>
              <a:rPr sz="1380" b="1" lang="id-ID">
                <a:solidFill>
                  <a:srgbClr val="1A1A1A"/>
                </a:solidFill>
                <a:latin typeface="Roboto"/>
              </a:rPr>
              <a:t>68,1%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138" name="Oval 137"/>
          <p:cNvSpPr/>
          <p:nvPr/>
        </p:nvSpPr>
        <p:spPr>
          <a:xfrm>
            <a:off x="8579104" y="276961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9" name="Picture 138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2829052"/>
            <a:ext cx="211328" cy="211328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9023604" y="2593404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Tiga kab/kota: Agam, Pasaman Barat, Padang.</a:t>
            </a:r>
          </a:p>
        </p:txBody>
      </p:sp>
      <p:sp>
        <p:nvSpPr>
          <p:cNvPr id="141" name="Oval 140"/>
          <p:cNvSpPr/>
          <p:nvPr/>
        </p:nvSpPr>
        <p:spPr>
          <a:xfrm>
            <a:off x="8579104" y="38077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2" name="Picture 141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3867214"/>
            <a:ext cx="211328" cy="21132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9023604" y="3522028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Empat kab/kota: Padang Panjang, Solok, Lima Puluh Kota, Tanah Datar.</a:t>
            </a:r>
          </a:p>
        </p:txBody>
      </p:sp>
      <p:sp>
        <p:nvSpPr>
          <p:cNvPr id="144" name="Oval 143"/>
          <p:cNvSpPr/>
          <p:nvPr/>
        </p:nvSpPr>
        <p:spPr>
          <a:xfrm>
            <a:off x="8579104" y="473640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5" name="Picture 144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4795838"/>
            <a:ext cx="211328" cy="211328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9023604" y="4669726"/>
            <a:ext cx="2391156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Dua kab/kota: Agam, Padang.</a:t>
            </a:r>
          </a:p>
        </p:txBody>
      </p:sp>
      <p:sp>
        <p:nvSpPr>
          <p:cNvPr id="147" name="Oval 146"/>
          <p:cNvSpPr/>
          <p:nvPr/>
        </p:nvSpPr>
        <p:spPr>
          <a:xfrm>
            <a:off x="8579104" y="555548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8" name="Picture 147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5614924"/>
            <a:ext cx="211328" cy="211328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9023604" y="5379276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Dua kab/kota: Solok, Tanah Datar.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D9600B"/>
                </a:solidFill>
                <a:latin typeface="Roboto"/>
              </a:rPr>
              <a:t>26 kabupaten/kota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sedang memproses usulan tahap berikutnya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037590"/>
            <a:ext cx="853090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TAHAP II</a:t>
            </a:r>
          </a:p>
        </p:txBody>
      </p:sp>
      <p:pic>
        <p:nvPicPr>
          <p:cNvPr id="18" name="Picture 17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07233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gulasi-051C2C-e639fe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45923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sudah reviu APIP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1365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10585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45923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13175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175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berproses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9350" y="98298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39078" y="1037590"/>
            <a:ext cx="893926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TAHAP III</a:t>
            </a:r>
          </a:p>
        </p:txBody>
      </p:sp>
      <p:pic>
        <p:nvPicPr>
          <p:cNvPr id="31" name="Picture 30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518" y="1072337"/>
            <a:ext cx="113386" cy="11338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6339078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48298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egulasi-051C2C-e639fe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498" y="1459230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50888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0888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sudah reviu APIP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2075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91295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7495" y="1459230"/>
            <a:ext cx="177800" cy="1778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493885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3885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berproses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047240"/>
            <a:ext cx="7322515" cy="4302760"/>
          </a:xfrm>
          <a:prstGeom prst="roundRect">
            <a:avLst>
              <a:gd name="adj" fmla="val 1269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2047240"/>
            <a:ext cx="7322515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2275840"/>
            <a:ext cx="7322515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2047240"/>
            <a:ext cx="7322515" cy="4302760"/>
          </a:xfrm>
          <a:prstGeom prst="roundRect">
            <a:avLst>
              <a:gd name="adj" fmla="val 1269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212979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kalender-FFFFFF-a840cf9e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218" y="218236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2047240"/>
            <a:ext cx="656051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Status Usulan per Provinsi, Kab/Kota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2606040"/>
            <a:ext cx="2776606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04646" y="2606040"/>
            <a:ext cx="65674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PENERIMA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2989" y="2606040"/>
            <a:ext cx="983944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 LANJUT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8533" y="2816860"/>
            <a:ext cx="42143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REVIU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71570" y="2816860"/>
            <a:ext cx="52317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96344" y="2816860"/>
            <a:ext cx="42143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REVIU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9382" y="2816860"/>
            <a:ext cx="52317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48533" y="2606040"/>
            <a:ext cx="104621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TAHAP II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99333" y="2804160"/>
            <a:ext cx="94461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596344" y="2606040"/>
            <a:ext cx="104621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TAHAP III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647144" y="2804160"/>
            <a:ext cx="94461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Pita kolom utama"/>
          <p:cNvSpPr/>
          <p:nvPr/>
        </p:nvSpPr>
        <p:spPr>
          <a:xfrm>
            <a:off x="675640" y="3027680"/>
            <a:ext cx="1651864" cy="282509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675640" y="3027680"/>
            <a:ext cx="7068515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62" name="Connector 61"/>
          <p:cNvCxnSpPr/>
          <p:nvPr/>
        </p:nvCxnSpPr>
        <p:spPr>
          <a:xfrm>
            <a:off x="675640" y="2606040"/>
            <a:ext cx="7068515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63" name="Connector 62"/>
          <p:cNvCxnSpPr/>
          <p:nvPr/>
        </p:nvCxnSpPr>
        <p:spPr>
          <a:xfrm>
            <a:off x="675640" y="5852770"/>
            <a:ext cx="7068515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777240" y="3027680"/>
            <a:ext cx="277660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04646" y="3027680"/>
            <a:ext cx="656742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2989" y="3027680"/>
            <a:ext cx="98394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8533" y="3027680"/>
            <a:ext cx="42143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71570" y="3027680"/>
            <a:ext cx="52317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96344" y="3027680"/>
            <a:ext cx="42143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19382" y="3027680"/>
            <a:ext cx="52317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75640" y="3969377"/>
            <a:ext cx="706851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777240" y="3969377"/>
            <a:ext cx="277660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04646" y="3969377"/>
            <a:ext cx="656742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62989" y="3969377"/>
            <a:ext cx="98394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8533" y="3969377"/>
            <a:ext cx="42143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71570" y="3969377"/>
            <a:ext cx="52317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96344" y="3969377"/>
            <a:ext cx="42143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19382" y="3969377"/>
            <a:ext cx="52317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75640" y="4911073"/>
            <a:ext cx="706851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777240" y="4911073"/>
            <a:ext cx="277660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04646" y="4911073"/>
            <a:ext cx="656742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62989" y="4911073"/>
            <a:ext cx="98394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48533" y="4911073"/>
            <a:ext cx="42143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71570" y="4911073"/>
            <a:ext cx="52317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96344" y="4911073"/>
            <a:ext cx="42143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19382" y="4911073"/>
            <a:ext cx="523174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75640" y="5903570"/>
            <a:ext cx="7068515" cy="357530"/>
          </a:xfrm>
          <a:prstGeom prst="roundRect">
            <a:avLst>
              <a:gd name="adj" fmla="val 1065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2640" y="5903570"/>
            <a:ext cx="2802006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04646" y="5903570"/>
            <a:ext cx="656742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62989" y="5903570"/>
            <a:ext cx="983944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48533" y="5903570"/>
            <a:ext cx="421438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71570" y="5903570"/>
            <a:ext cx="523174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96344" y="5903570"/>
            <a:ext cx="421438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9382" y="5903570"/>
            <a:ext cx="523174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008315" y="2047240"/>
            <a:ext cx="3635045" cy="4302760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008315" y="2047240"/>
            <a:ext cx="3635045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08315" y="2275840"/>
            <a:ext cx="3635045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008315" y="2047240"/>
            <a:ext cx="3635045" cy="4302760"/>
          </a:xfrm>
          <a:prstGeom prst="roundRect">
            <a:avLst>
              <a:gd name="adj" fmla="val 1502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135315" y="212979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0" name="Picture 99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7893" y="2182368"/>
            <a:ext cx="186944" cy="186944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8516315" y="2047240"/>
            <a:ext cx="300004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Lanjut per Provinsi</a:t>
            </a:r>
          </a:p>
        </p:txBody>
      </p:sp>
      <p:sp>
        <p:nvSpPr>
          <p:cNvPr id="102" name="Oval 101"/>
          <p:cNvSpPr/>
          <p:nvPr/>
        </p:nvSpPr>
        <p:spPr>
          <a:xfrm>
            <a:off x="8135315" y="288829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Picture 102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2947734"/>
            <a:ext cx="211328" cy="2113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579815" y="2646362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Aceh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14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17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05" name="Oval 104"/>
          <p:cNvSpPr/>
          <p:nvPr/>
        </p:nvSpPr>
        <p:spPr>
          <a:xfrm>
            <a:off x="8135315" y="37830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3842448"/>
            <a:ext cx="211328" cy="211328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8579815" y="3541078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Sumatera Utara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4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14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08" name="Oval 107"/>
          <p:cNvSpPr/>
          <p:nvPr/>
        </p:nvSpPr>
        <p:spPr>
          <a:xfrm>
            <a:off x="8135315" y="467772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9" name="Picture 108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4737164"/>
            <a:ext cx="211328" cy="211328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8579815" y="4435792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Sumatera Barat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8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11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11" name="Oval 110"/>
          <p:cNvSpPr/>
          <p:nvPr/>
        </p:nvSpPr>
        <p:spPr>
          <a:xfrm>
            <a:off x="8135315" y="557244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2" name="Picture 111" descr="data-FFFFFF-608a1e16-t2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4751" y="5631878"/>
            <a:ext cx="211328" cy="21132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8579815" y="5330508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Tiga provinsi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26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42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Hunian Tetap dan Stimulan Rumah Rusak Berat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4114800" y="30099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0" y="30099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Hunian tetap </a:t>
            </a:r>
            <a:r>
              <a:rPr sz="2200" b="1" i="1" lang="id-ID">
                <a:solidFill>
                  <a:srgbClr val="1A1A1A"/>
                </a:solidFill>
                <a:latin typeface="Roboto"/>
              </a:rPr>
              <a:t>in situ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dan relokasi mandiri: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850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selesai dan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868 unit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sedang dibangun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799082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USULAN</a:t>
            </a:r>
          </a:p>
        </p:txBody>
      </p:sp>
      <p:pic>
        <p:nvPicPr>
          <p:cNvPr id="18" name="Picture 17" descr="data-FFFFFF-608a1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data-051C2C-608a1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38.651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usulan huntap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136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1058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regulasi-051C2C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13175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30.430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17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usulan sudah direviu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935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39078" y="1337310"/>
            <a:ext cx="1217133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PEMBANGUNAN</a:t>
            </a:r>
          </a:p>
        </p:txBody>
      </p:sp>
      <p:pic>
        <p:nvPicPr>
          <p:cNvPr id="31" name="Picture 30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518" y="1372057"/>
            <a:ext cx="113386" cy="11338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633907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4829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kalender-051C2C-a840cf9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498" y="1758950"/>
            <a:ext cx="177800" cy="17780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8312833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0888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088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proses bangun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30.430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8207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09129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rumah-051C2C-320df6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7495" y="1758950"/>
            <a:ext cx="177800" cy="17780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10955830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3885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388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selesai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38.651</a:t>
            </a:r>
            <a:r>
              <a:rPr sz="860" b="0" lang="id-ID">
                <a:solidFill>
                  <a:srgbClr val="2E3440"/>
                </a:solidFill>
                <a:latin typeface="Roboto"/>
              </a:rPr>
              <a:t> usulan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2346960"/>
            <a:ext cx="6102096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2346960"/>
            <a:ext cx="610209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2575560"/>
            <a:ext cx="610209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8640" y="2346960"/>
            <a:ext cx="6102096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56640" y="2346960"/>
            <a:ext cx="534009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Provinsi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2905760"/>
            <a:ext cx="152959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57632" y="2905760"/>
            <a:ext cx="5352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94454" y="3116580"/>
            <a:ext cx="53522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1276" y="3116580"/>
            <a:ext cx="43802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0898" y="3116580"/>
            <a:ext cx="41963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92134" y="3116580"/>
            <a:ext cx="43881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32552" y="2905760"/>
            <a:ext cx="1189584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 DARI USULAN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4454" y="2905760"/>
            <a:ext cx="10748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045254" y="3103880"/>
            <a:ext cx="9732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4170898" y="2905760"/>
            <a:ext cx="96005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221698" y="3103880"/>
            <a:ext cx="85845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2" name="Pita kolom utama"/>
          <p:cNvSpPr/>
          <p:nvPr/>
        </p:nvSpPr>
        <p:spPr>
          <a:xfrm>
            <a:off x="675640" y="3327400"/>
            <a:ext cx="1446296" cy="2577948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75640" y="3327400"/>
            <a:ext cx="5848096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64" name="Connector 63"/>
          <p:cNvCxnSpPr/>
          <p:nvPr/>
        </p:nvCxnSpPr>
        <p:spPr>
          <a:xfrm>
            <a:off x="675640" y="2905760"/>
            <a:ext cx="5848096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65" name="Connector 64"/>
          <p:cNvCxnSpPr/>
          <p:nvPr/>
        </p:nvCxnSpPr>
        <p:spPr>
          <a:xfrm>
            <a:off x="675640" y="5905348"/>
            <a:ext cx="5848096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777240" y="3327400"/>
            <a:ext cx="152959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57632" y="3327400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33.978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94454" y="3327400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26.504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31276" y="3327400"/>
            <a:ext cx="4380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7.474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70898" y="3327400"/>
            <a:ext cx="41963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781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92134" y="3327400"/>
            <a:ext cx="438818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824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477506" y="3604582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2,4%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75640" y="4186716"/>
            <a:ext cx="584809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777240" y="4186716"/>
            <a:ext cx="152959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7632" y="4186716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2.296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94454" y="4186716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1.848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31276" y="4186716"/>
            <a:ext cx="4380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448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70898" y="4186716"/>
            <a:ext cx="41963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92134" y="4186716"/>
            <a:ext cx="438818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477506" y="4463898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C8102E"/>
                </a:solidFill>
                <a:latin typeface="Roboto"/>
              </a:rPr>
              <a:t>0,5%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75640" y="5046032"/>
            <a:ext cx="584809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777240" y="5046032"/>
            <a:ext cx="152959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57632" y="5046032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2.377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94454" y="5046032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2.078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31276" y="5046032"/>
            <a:ext cx="4380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70898" y="5046032"/>
            <a:ext cx="41963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84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92134" y="5046032"/>
            <a:ext cx="438818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477506" y="5323213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C8102E"/>
                </a:solidFill>
                <a:latin typeface="Roboto"/>
              </a:rPr>
              <a:t>0,6%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75640" y="5956148"/>
            <a:ext cx="5848096" cy="304952"/>
          </a:xfrm>
          <a:prstGeom prst="roundRect">
            <a:avLst>
              <a:gd name="adj" fmla="val 12493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640" y="5956148"/>
            <a:ext cx="155499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57632" y="5956148"/>
            <a:ext cx="5352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38.651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94454" y="5956148"/>
            <a:ext cx="5352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30.430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1276" y="5956148"/>
            <a:ext cx="4380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8.221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70898" y="5956148"/>
            <a:ext cx="419636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868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92134" y="5956148"/>
            <a:ext cx="438818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850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787896" y="2346960"/>
            <a:ext cx="4855464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87896" y="2346960"/>
            <a:ext cx="485546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87896" y="2575560"/>
            <a:ext cx="485546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6787896" y="2346960"/>
            <a:ext cx="4855464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914896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1" name="Picture 100" descr="peringatan-FFFFFF-6a80b716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67474" y="2482088"/>
            <a:ext cx="186944" cy="1869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295896" y="2346960"/>
            <a:ext cx="422046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Catatan Huntap</a:t>
            </a:r>
          </a:p>
        </p:txBody>
      </p:sp>
      <p:sp>
        <p:nvSpPr>
          <p:cNvPr id="103" name="Oval 102"/>
          <p:cNvSpPr/>
          <p:nvPr/>
        </p:nvSpPr>
        <p:spPr>
          <a:xfrm>
            <a:off x="6914896" y="3076194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4" name="Picture 103" descr="pembiayaan-FFFFFF-5387a370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74332" y="3135630"/>
            <a:ext cx="211328" cy="21132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7359396" y="2817828"/>
            <a:ext cx="4055364" cy="8469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Besaran bantuan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Rp</a:t>
            </a:r>
            <a:r>
              <a:rPr sz="1725" b="1" lang="id-ID">
                <a:solidFill>
                  <a:srgbClr val="1A1A1A"/>
                </a:solidFill>
                <a:latin typeface="Roboto"/>
              </a:rPr>
              <a:t>70 juta</a:t>
            </a:r>
            <a:r>
              <a:rPr sz="1725" b="0" lang="id-ID">
                <a:solidFill>
                  <a:srgbClr val="1A1A1A"/>
                </a:solidFill>
                <a:latin typeface="Roboto"/>
              </a:rPr>
              <a:t> per unit rumah rusak berat, sesuai Keputusan Kepala BNPB.</a:t>
            </a:r>
          </a:p>
        </p:txBody>
      </p:sp>
      <p:sp>
        <p:nvSpPr>
          <p:cNvPr id="106" name="Oval 105"/>
          <p:cNvSpPr/>
          <p:nvPr/>
        </p:nvSpPr>
        <p:spPr>
          <a:xfrm>
            <a:off x="6914896" y="374726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7" name="Picture 106" descr="data-FFFFFF-608a1e16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4332" y="3806698"/>
            <a:ext cx="211328" cy="21132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7359396" y="3625818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Target dapat berubah</a:t>
            </a:r>
          </a:p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8.221 usulan</a:t>
            </a:r>
            <a:r>
              <a:rPr sz="1725" b="0" lang="id-ID">
                <a:solidFill>
                  <a:srgbClr val="1A1A1A"/>
                </a:solidFill>
                <a:latin typeface="Roboto"/>
              </a:rPr>
              <a:t> belum selesai direviu APIP.</a:t>
            </a:r>
          </a:p>
        </p:txBody>
      </p:sp>
      <p:sp>
        <p:nvSpPr>
          <p:cNvPr id="109" name="Oval 108"/>
          <p:cNvSpPr/>
          <p:nvPr/>
        </p:nvSpPr>
        <p:spPr>
          <a:xfrm>
            <a:off x="6914896" y="441833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74332" y="4477766"/>
            <a:ext cx="211328" cy="21132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7359396" y="4296886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Perlambatan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Semen dan besi mahal dan langka.</a:t>
            </a:r>
          </a:p>
        </p:txBody>
      </p:sp>
      <p:sp>
        <p:nvSpPr>
          <p:cNvPr id="112" name="Oval 111"/>
          <p:cNvSpPr/>
          <p:nvPr/>
        </p:nvSpPr>
        <p:spPr>
          <a:xfrm>
            <a:off x="6914896" y="508939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3" name="Picture 112" descr="kalender-FFFFFF-a840cf9e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4332" y="5148834"/>
            <a:ext cx="211328" cy="21132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7359396" y="4831032"/>
            <a:ext cx="4055364" cy="8469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Anggaran tambahan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ABT disetujui Kemenkeu 22 Oktober 2026.</a:t>
            </a:r>
          </a:p>
        </p:txBody>
      </p:sp>
      <p:sp>
        <p:nvSpPr>
          <p:cNvPr id="115" name="Oval 114"/>
          <p:cNvSpPr/>
          <p:nvPr/>
        </p:nvSpPr>
        <p:spPr>
          <a:xfrm>
            <a:off x="6914896" y="576046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6" name="Picture 115" descr="lembaga-FFFFFF-f44193c4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74332" y="5819902"/>
            <a:ext cx="211328" cy="211328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7359396" y="5639022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Sinergi kelembagaan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Tim teknis pusat dan daerah terpadu.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Aceh menyumbang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824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 selesai, terbanyak di Aceh Tamiang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dan Bireuen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5067300"/>
          </a:xfrm>
          <a:prstGeom prst="roundRect">
            <a:avLst>
              <a:gd name="adj" fmla="val 107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128270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51130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1282700"/>
            <a:ext cx="11094720" cy="5067300"/>
          </a:xfrm>
          <a:prstGeom prst="roundRect">
            <a:avLst>
              <a:gd name="adj" fmla="val 107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36525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41782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128270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Aceh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830" y="184150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9118" y="2052320"/>
            <a:ext cx="142905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19771" y="2052320"/>
            <a:ext cx="14242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5573" y="2052320"/>
            <a:ext cx="14242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71375" y="2052320"/>
            <a:ext cx="144338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9118" y="1841500"/>
            <a:ext cx="295485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39918" y="2039620"/>
            <a:ext cx="285325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8445573" y="1841500"/>
            <a:ext cx="296918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96373" y="2039620"/>
            <a:ext cx="286758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2263140"/>
            <a:ext cx="1714084" cy="368046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226314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75640" y="18415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75640" y="5943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777240" y="228439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830" y="2263140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89118" y="2263140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9.403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9771" y="2263140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642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5573" y="2263140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1375" y="2263140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394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5640" y="247963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777240" y="250089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2830" y="2479638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Utara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89118" y="2479638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7.816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9771" y="2479638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45573" y="2479638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1375" y="2479638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23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5640" y="269613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777240" y="271738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830" y="2696135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89118" y="2696135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2.747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9771" y="2696135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3.702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45573" y="2696135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71375" y="2696135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75640" y="29126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777240" y="293388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2830" y="2912633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Tengah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89118" y="2912633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1.930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9771" y="2912633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45573" y="2912633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71375" y="2912633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75640" y="312913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4" name="Oval 63"/>
          <p:cNvSpPr/>
          <p:nvPr/>
        </p:nvSpPr>
        <p:spPr>
          <a:xfrm>
            <a:off x="777240" y="31503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2830" y="3129131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89118" y="3129131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2.268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19771" y="3129131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45573" y="3129131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71375" y="3129131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5640" y="334562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1" name="Oval 70"/>
          <p:cNvSpPr/>
          <p:nvPr/>
        </p:nvSpPr>
        <p:spPr>
          <a:xfrm>
            <a:off x="777240" y="336688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2830" y="3345628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9118" y="3345628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19771" y="3345628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1.125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45573" y="3345628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71375" y="3345628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338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75640" y="356212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777240" y="35833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2830" y="3562126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Bener Meriah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89118" y="3562126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19771" y="3562126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463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45573" y="3562126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71375" y="3562126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75640" y="377862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5" name="Oval 84"/>
          <p:cNvSpPr/>
          <p:nvPr/>
        </p:nvSpPr>
        <p:spPr>
          <a:xfrm>
            <a:off x="777240" y="379987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2830" y="3778624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Gayo Lues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89118" y="3778624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19771" y="3778624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45573" y="3778624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71375" y="3778624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75640" y="399512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2" name="Oval 91"/>
          <p:cNvSpPr/>
          <p:nvPr/>
        </p:nvSpPr>
        <p:spPr>
          <a:xfrm>
            <a:off x="777240" y="401637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2830" y="3995121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Nagan Raya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389118" y="3995121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658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19771" y="3995121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45573" y="3995121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71375" y="3995121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75640" y="421161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9" name="Oval 98"/>
          <p:cNvSpPr/>
          <p:nvPr/>
        </p:nvSpPr>
        <p:spPr>
          <a:xfrm>
            <a:off x="777240" y="423287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2830" y="4211619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Tenggara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89118" y="4211619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19771" y="4211619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45573" y="4211619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71375" y="4211619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75640" y="442811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777240" y="44493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2830" y="4428116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Lhokseumawe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89118" y="4428116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19771" y="4428116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45573" y="4428116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971375" y="4428116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75640" y="464461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3" name="Oval 112"/>
          <p:cNvSpPr/>
          <p:nvPr/>
        </p:nvSpPr>
        <p:spPr>
          <a:xfrm>
            <a:off x="777240" y="466586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52830" y="4644614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Singkil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389118" y="4644614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19771" y="4644614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45573" y="4644614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971375" y="4644614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675640" y="486111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0" name="Oval 119"/>
          <p:cNvSpPr/>
          <p:nvPr/>
        </p:nvSpPr>
        <p:spPr>
          <a:xfrm>
            <a:off x="777240" y="48823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52830" y="4861112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Barat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9118" y="4861112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919771" y="4861112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45573" y="4861112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971375" y="4861112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75640" y="507760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7" name="Oval 126"/>
          <p:cNvSpPr/>
          <p:nvPr/>
        </p:nvSpPr>
        <p:spPr>
          <a:xfrm>
            <a:off x="777240" y="50988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52830" y="5077609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Pidie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389118" y="5077609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919771" y="5077609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445573" y="5077609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971375" y="5077609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675640" y="529410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4" name="Oval 133"/>
          <p:cNvSpPr/>
          <p:nvPr/>
        </p:nvSpPr>
        <p:spPr>
          <a:xfrm>
            <a:off x="777240" y="531536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52830" y="5294107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Selatan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389118" y="5294107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919771" y="5294107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45573" y="5294107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971375" y="5294107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75640" y="551060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1" name="Oval 140"/>
          <p:cNvSpPr/>
          <p:nvPr/>
        </p:nvSpPr>
        <p:spPr>
          <a:xfrm>
            <a:off x="777240" y="553185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52830" y="5510605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Subulussalam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389118" y="5510605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19771" y="5510605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45573" y="5510605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971375" y="5510605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75640" y="572710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8" name="Oval 147"/>
          <p:cNvSpPr/>
          <p:nvPr/>
        </p:nvSpPr>
        <p:spPr>
          <a:xfrm>
            <a:off x="777240" y="57483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52830" y="5727102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Langsa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389118" y="5727102"/>
            <a:ext cx="14290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19771" y="5727102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45573" y="5727102"/>
            <a:ext cx="14242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971375" y="5727102"/>
            <a:ext cx="14433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52830" y="59944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89118" y="5994400"/>
            <a:ext cx="142905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26.504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919771" y="5994400"/>
            <a:ext cx="14242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7.474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45573" y="5994400"/>
            <a:ext cx="14242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781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971375" y="5994400"/>
            <a:ext cx="1443385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824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Sumatera Utara menyelesaikan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11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huntap, terbanyak di Langkat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Sumatera Utara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830" y="154178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9118" y="1752600"/>
            <a:ext cx="13846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5410" y="1752600"/>
            <a:ext cx="14389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5999" y="1752600"/>
            <a:ext cx="14389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56588" y="1752600"/>
            <a:ext cx="145817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9118" y="1541780"/>
            <a:ext cx="292528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39918" y="1739900"/>
            <a:ext cx="282368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8415999" y="1541780"/>
            <a:ext cx="299876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66799" y="1739900"/>
            <a:ext cx="289716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1963420"/>
            <a:ext cx="1930657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196342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75640" y="154178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75640" y="5943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777240" y="198698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830" y="1963420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Batubara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89118" y="1963420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5410" y="1963420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5999" y="1963420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56588" y="1963420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5640" y="218454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777240" y="220810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2830" y="2184541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Deli Serdang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89118" y="2184541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5410" y="2184541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5999" y="2184541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56588" y="2184541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5640" y="240566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777240" y="242922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830" y="2405662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Humbang Hasundutan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89118" y="2405662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75410" y="2405662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255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5999" y="2405662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6588" y="2405662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75640" y="26267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777240" y="265034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2830" y="2626783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Binjai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89118" y="2626783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75410" y="2626783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5999" y="2626783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56588" y="2626783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75640" y="284790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4" name="Oval 63"/>
          <p:cNvSpPr/>
          <p:nvPr/>
        </p:nvSpPr>
        <p:spPr>
          <a:xfrm>
            <a:off x="777240" y="28714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2830" y="2847904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Medan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89118" y="2847904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75410" y="2847904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5999" y="2847904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588" y="2847904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5640" y="306902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1" name="Oval 70"/>
          <p:cNvSpPr/>
          <p:nvPr/>
        </p:nvSpPr>
        <p:spPr>
          <a:xfrm>
            <a:off x="777240" y="309259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2830" y="3069026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Padangsidimpuan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9118" y="3069026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75410" y="3069026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15999" y="3069026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56588" y="3069026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75640" y="329014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777240" y="331371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2830" y="3290147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Sibolga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89118" y="3290147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75410" y="3290147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5999" y="3290147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56588" y="3290147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75640" y="351126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5" name="Oval 84"/>
          <p:cNvSpPr/>
          <p:nvPr/>
        </p:nvSpPr>
        <p:spPr>
          <a:xfrm>
            <a:off x="777240" y="353483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2830" y="3511268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Tebing Tinggi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89118" y="3511268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75410" y="3511268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15999" y="3511268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56588" y="3511268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75640" y="373238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2" name="Oval 91"/>
          <p:cNvSpPr/>
          <p:nvPr/>
        </p:nvSpPr>
        <p:spPr>
          <a:xfrm>
            <a:off x="777240" y="375595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2830" y="3732389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389118" y="3732389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299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75410" y="3732389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15999" y="3732389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56588" y="3732389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75640" y="395351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9" name="Oval 98"/>
          <p:cNvSpPr/>
          <p:nvPr/>
        </p:nvSpPr>
        <p:spPr>
          <a:xfrm>
            <a:off x="777240" y="397707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2830" y="3953510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Mandailing Natal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89118" y="3953510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75410" y="3953510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5999" y="3953510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56588" y="3953510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75640" y="417463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777240" y="419819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2830" y="4174631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89118" y="4174631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75410" y="4174631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15999" y="4174631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956588" y="4174631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75640" y="439575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3" name="Oval 112"/>
          <p:cNvSpPr/>
          <p:nvPr/>
        </p:nvSpPr>
        <p:spPr>
          <a:xfrm>
            <a:off x="777240" y="441931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52830" y="4395752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 Selatan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389118" y="4395752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75410" y="4395752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15999" y="4395752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956588" y="4395752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675640" y="461687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0" name="Oval 119"/>
          <p:cNvSpPr/>
          <p:nvPr/>
        </p:nvSpPr>
        <p:spPr>
          <a:xfrm>
            <a:off x="777240" y="464043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52830" y="4616873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 Barat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9118" y="4616873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875410" y="4616873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5999" y="4616873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956588" y="4616873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75640" y="483799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7" name="Oval 126"/>
          <p:cNvSpPr/>
          <p:nvPr/>
        </p:nvSpPr>
        <p:spPr>
          <a:xfrm>
            <a:off x="777240" y="486156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52830" y="4837994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Pakpak Bharat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389118" y="4837994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75410" y="4837994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415999" y="4837994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956588" y="4837994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675640" y="505911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4" name="Oval 133"/>
          <p:cNvSpPr/>
          <p:nvPr/>
        </p:nvSpPr>
        <p:spPr>
          <a:xfrm>
            <a:off x="777240" y="508268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52830" y="5059116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Serdang Bedagai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389118" y="5059116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75410" y="5059116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15999" y="5059116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956588" y="5059116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75640" y="528023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1" name="Oval 140"/>
          <p:cNvSpPr/>
          <p:nvPr/>
        </p:nvSpPr>
        <p:spPr>
          <a:xfrm>
            <a:off x="777240" y="530380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52830" y="5280237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Selatan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389118" y="5280237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303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875410" y="5280237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5999" y="5280237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956588" y="5280237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75640" y="550135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8" name="Oval 147"/>
          <p:cNvSpPr/>
          <p:nvPr/>
        </p:nvSpPr>
        <p:spPr>
          <a:xfrm>
            <a:off x="777240" y="552492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52830" y="5501358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Utara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389118" y="5501358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75410" y="5501358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15999" y="5501358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956588" y="5501358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675640" y="572247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5" name="Oval 154"/>
          <p:cNvSpPr/>
          <p:nvPr/>
        </p:nvSpPr>
        <p:spPr>
          <a:xfrm>
            <a:off x="777240" y="574604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52830" y="5722479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Tengah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389118" y="5722479"/>
            <a:ext cx="13846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958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875410" y="5722479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15999" y="5722479"/>
            <a:ext cx="14389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956588" y="5722479"/>
            <a:ext cx="14581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52830" y="59944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389118" y="5994400"/>
            <a:ext cx="138469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1.848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75410" y="5994400"/>
            <a:ext cx="14389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448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5999" y="5994400"/>
            <a:ext cx="14389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956588" y="5994400"/>
            <a:ext cx="145817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Sumatera Barat menyelesaikan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15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huntap, terbanyak di Agam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Sumatera Barat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830" y="154178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9118" y="1752600"/>
            <a:ext cx="13846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5410" y="1752600"/>
            <a:ext cx="14389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5999" y="1752600"/>
            <a:ext cx="14389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56588" y="1752600"/>
            <a:ext cx="145817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9118" y="1541780"/>
            <a:ext cx="292528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39918" y="1739900"/>
            <a:ext cx="282368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8415999" y="1541780"/>
            <a:ext cx="299876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66799" y="1739900"/>
            <a:ext cx="289716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1963420"/>
            <a:ext cx="1791371" cy="39801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196342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75640" y="154178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75640" y="5943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777240" y="20422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830" y="1963420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89118" y="1963420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5410" y="1963420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5999" y="1963420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56588" y="1963420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5640" y="229510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777240" y="237394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2830" y="2295102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Pasaman Barat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89118" y="2295102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5410" y="2295102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5999" y="2295102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56588" y="2295102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5640" y="26267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777240" y="270562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830" y="2626783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89118" y="2626783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75410" y="2626783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5999" y="2626783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6588" y="2626783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75640" y="295846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777240" y="303731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2830" y="2958465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Padang Panjang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89118" y="2958465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75410" y="2958465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5999" y="2958465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56588" y="2958465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75640" y="329014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4" name="Oval 63"/>
          <p:cNvSpPr/>
          <p:nvPr/>
        </p:nvSpPr>
        <p:spPr>
          <a:xfrm>
            <a:off x="777240" y="336899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2830" y="3290147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89118" y="3290147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75410" y="3290147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5999" y="3290147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588" y="3290147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5640" y="362182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1" name="Oval 70"/>
          <p:cNvSpPr/>
          <p:nvPr/>
        </p:nvSpPr>
        <p:spPr>
          <a:xfrm>
            <a:off x="777240" y="370067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2830" y="3621828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Solok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9118" y="3621828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75410" y="3621828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15999" y="3621828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56588" y="3621828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75640" y="395351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777240" y="40323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2830" y="3953510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89118" y="3953510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75410" y="3953510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5999" y="3953510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56588" y="3953510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75640" y="428519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5" name="Oval 84"/>
          <p:cNvSpPr/>
          <p:nvPr/>
        </p:nvSpPr>
        <p:spPr>
          <a:xfrm>
            <a:off x="777240" y="436403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2830" y="4285192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Tanah Datar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89118" y="4285192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75410" y="4285192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15999" y="4285192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56588" y="4285192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75640" y="461687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2" name="Oval 91"/>
          <p:cNvSpPr/>
          <p:nvPr/>
        </p:nvSpPr>
        <p:spPr>
          <a:xfrm>
            <a:off x="777240" y="469571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2830" y="4616873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389118" y="4616873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75410" y="4616873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15999" y="4616873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56588" y="4616873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75640" y="494855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9" name="Oval 98"/>
          <p:cNvSpPr/>
          <p:nvPr/>
        </p:nvSpPr>
        <p:spPr>
          <a:xfrm>
            <a:off x="777240" y="502740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2830" y="4948555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Pariaman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89118" y="4948555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75410" y="4948555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5999" y="4948555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56588" y="4948555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75640" y="528023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777240" y="535908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2830" y="5280237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Pesisir Selatan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89118" y="5280237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75410" y="5280237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15999" y="5280237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956588" y="5280237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75640" y="561191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3" name="Oval 112"/>
          <p:cNvSpPr/>
          <p:nvPr/>
        </p:nvSpPr>
        <p:spPr>
          <a:xfrm>
            <a:off x="777240" y="569076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52830" y="5611918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Kepulauan Mentawai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389118" y="5611918"/>
            <a:ext cx="13846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75410" y="5611918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15999" y="5611918"/>
            <a:ext cx="14389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956588" y="5611918"/>
            <a:ext cx="14581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52830" y="59944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89118" y="5994400"/>
            <a:ext cx="138469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2.078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75410" y="5994400"/>
            <a:ext cx="14389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299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15999" y="5994400"/>
            <a:ext cx="14389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84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956588" y="5994400"/>
            <a:ext cx="145817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Rencana transfer stimulan tahap II sampai IV pada akhir Oktober 2026 sebesar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Rp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1.751,1 miliar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1506098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RENCANA TRANSFER</a:t>
            </a:r>
          </a:p>
        </p:txBody>
      </p:sp>
      <p:pic>
        <p:nvPicPr>
          <p:cNvPr id="18" name="Picture 17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1.751,1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rencana ke daerah, tahap II sampai IV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936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23156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56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25746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707,8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5746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tahap II untuk Aceh dan Sumut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9504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78724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4924" y="1758950"/>
            <a:ext cx="177800" cy="177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81314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608,1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1314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tahap IV untuk Aceh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2346960"/>
            <a:ext cx="6213043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2575560"/>
            <a:ext cx="6213043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pembiayaan-FFFFFF-5387a370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56640" y="2346960"/>
            <a:ext cx="545104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Transfer ke Daerah dan Rencana Tahap II sampai IV, Rp Miliar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2905760"/>
            <a:ext cx="233281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60857" y="2905760"/>
            <a:ext cx="15292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TRANSFER BNPB KE DAERAH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91708" y="2905760"/>
            <a:ext cx="48858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81888" y="2905760"/>
            <a:ext cx="52650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09994" y="2905760"/>
            <a:ext cx="5230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IV</a:t>
            </a:r>
          </a:p>
        </p:txBody>
      </p:sp>
      <p:sp>
        <p:nvSpPr>
          <p:cNvPr id="46" name="Pita kolom utama"/>
          <p:cNvSpPr/>
          <p:nvPr/>
        </p:nvSpPr>
        <p:spPr>
          <a:xfrm>
            <a:off x="675640" y="3116580"/>
            <a:ext cx="1405182" cy="2799283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675640" y="311658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75640" y="290576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75640" y="5915863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777240" y="3116580"/>
            <a:ext cx="2332817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60857" y="3116580"/>
            <a:ext cx="1529251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653,7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91708" y="3116580"/>
            <a:ext cx="48858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517,2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81888" y="3116580"/>
            <a:ext cx="526506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319,5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09994" y="3116580"/>
            <a:ext cx="5230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608,1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5640" y="4049674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777240" y="4049674"/>
            <a:ext cx="2332817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0857" y="4049674"/>
            <a:ext cx="1529251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71,8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91708" y="4049674"/>
            <a:ext cx="48858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190,6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81888" y="4049674"/>
            <a:ext cx="526506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10,1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09994" y="4049674"/>
            <a:ext cx="5230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5640" y="4982769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777240" y="4982769"/>
            <a:ext cx="2332817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60857" y="4982769"/>
            <a:ext cx="1529251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23,4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708" y="4982769"/>
            <a:ext cx="48858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1888" y="4982769"/>
            <a:ext cx="526506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105,5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09994" y="4982769"/>
            <a:ext cx="5230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5640" y="5966663"/>
            <a:ext cx="5959043" cy="294437"/>
          </a:xfrm>
          <a:prstGeom prst="roundRect">
            <a:avLst>
              <a:gd name="adj" fmla="val 12939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2640" y="5966663"/>
            <a:ext cx="2358217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160857" y="5966663"/>
            <a:ext cx="1529251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748,9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708" y="5966663"/>
            <a:ext cx="488580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707,8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1888" y="5966663"/>
            <a:ext cx="526506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435,2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09994" y="5966663"/>
            <a:ext cx="523089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608,1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898843" y="2346960"/>
            <a:ext cx="4744517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898843" y="2575560"/>
            <a:ext cx="4744517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025843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8" name="Picture 77" descr="rumah-FFFFFF-320df645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8421" y="2482088"/>
            <a:ext cx="186944" cy="18694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406843" y="2346960"/>
            <a:ext cx="410951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yang Sudah Berdiri</a:t>
            </a:r>
          </a:p>
        </p:txBody>
      </p:sp>
      <p:pic>
        <p:nvPicPr>
          <p:cNvPr id="80" name="Picture 79" descr="rr-sumatera-kisi-hun-28-3-172x11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5843" y="2905760"/>
            <a:ext cx="2194458" cy="14538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025843" y="438505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pic>
        <p:nvPicPr>
          <p:cNvPr id="82" name="Picture 81" descr="rr-sumatera-kisi-hun-29-4-172x11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1902" y="2905760"/>
            <a:ext cx="2194458" cy="145389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9321902" y="438505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84" name="Picture 83" descr="rr-sumatera-kisi-hun-30-1-172x1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5843" y="4634230"/>
            <a:ext cx="2194458" cy="1453896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025843" y="611352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pic>
        <p:nvPicPr>
          <p:cNvPr id="86" name="Picture 85" descr="rr-sumatera-kisi-hun-30-7-172x11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1902" y="4634230"/>
            <a:ext cx="2194458" cy="1453896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9321902" y="611352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bahan RTM Kedeputian Bidang RR BNPB, 27 Oktober 2026; foto dokumentasi Kedeputian Bidang RR BNPB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Kendala dan Tindak Lanjut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4114800" y="39497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39497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Kendala pelaksanaan dan saran tindak lanjut sektor perumahan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04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Kendala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1672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ringatan-FFFFFF-6a80b716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Kendala dan Saran Tindak Lanjut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830" y="1541780"/>
            <a:ext cx="179570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ASPEK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9335" y="1541780"/>
            <a:ext cx="394996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0097" y="1541780"/>
            <a:ext cx="456546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SARAN TINDAK LANJUT</a:t>
            </a:r>
          </a:p>
        </p:txBody>
      </p:sp>
      <p:sp>
        <p:nvSpPr>
          <p:cNvPr id="26" name="Pita kolom utama"/>
          <p:cNvSpPr/>
          <p:nvPr/>
        </p:nvSpPr>
        <p:spPr>
          <a:xfrm>
            <a:off x="675640" y="1752600"/>
            <a:ext cx="1972039" cy="450850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75640" y="1752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675640" y="154178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675640" y="62611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0" name="Oval 29"/>
          <p:cNvSpPr/>
          <p:nvPr/>
        </p:nvSpPr>
        <p:spPr>
          <a:xfrm>
            <a:off x="777240" y="198764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infrastruktur-FFFFFF-ba1c96e7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558" y="2018959"/>
            <a:ext cx="111354" cy="11135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2830" y="1752600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Material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9335" y="1752600"/>
            <a:ext cx="3949961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Semen dan besi langka, harganya melonjak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0097" y="1752600"/>
            <a:ext cx="4565463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Jamin pasokan dan harga; Kepala BNPB telah menyurati PT Semen Indonesia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75640" y="239667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777240" y="263171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wilayah-FFFFFF-37dca10c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558" y="2663030"/>
            <a:ext cx="111354" cy="11135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2830" y="2396671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Akses lokasi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99335" y="2396671"/>
            <a:ext cx="3949961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Lokasi huntap tersebar; distribusi terganggu banjir dan longsor susulan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0097" y="2396671"/>
            <a:ext cx="4565463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Prioritaskan akses dan jalur distribusi material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5640" y="304074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777240" y="32757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luas-FFFFFF-12322028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558" y="3307102"/>
            <a:ext cx="111354" cy="11135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52830" y="3040743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Status lahan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9335" y="3040743"/>
            <a:ext cx="3949961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Kepastian lahan, terutama tanah adat dan ulayat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0097" y="3040743"/>
            <a:ext cx="4565463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Percepat penyelesaian status dan kesepakatan lahan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75640" y="368481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8" name="Oval 47"/>
          <p:cNvSpPr/>
          <p:nvPr/>
        </p:nvSpPr>
        <p:spPr>
          <a:xfrm>
            <a:off x="777240" y="391985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pembiayaan-FFFFFF-5387a370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558" y="3951173"/>
            <a:ext cx="111354" cy="11135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52830" y="3684814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Anggaran RB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99335" y="3684814"/>
            <a:ext cx="3949961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ABT DSP stimulan rumah rusak berat terlambat cair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0097" y="3684814"/>
            <a:ext cx="4565463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Percepat pencairan agar penyedia mulai bekerja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5640" y="432888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777240" y="456392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5" name="Picture 54" descr="data-FFFFFF-608a1e16-t2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558" y="4595245"/>
            <a:ext cx="111354" cy="11135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52830" y="4328886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Data penerima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99335" y="4328886"/>
            <a:ext cx="3949961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Verifikasi dan validasi data oleh pemda terlambat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0097" y="4328886"/>
            <a:ext cx="4565463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Pemda menuntaskan verifikasi dan data yang diperselisihkan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75640" y="497295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Oval 59"/>
          <p:cNvSpPr/>
          <p:nvPr/>
        </p:nvSpPr>
        <p:spPr>
          <a:xfrm>
            <a:off x="777240" y="520799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1" name="Picture 60" descr="lembaga-FFFFFF-f44193c4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8558" y="5239316"/>
            <a:ext cx="111354" cy="11135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52830" y="4972957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Mekanisme hibah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99335" y="4972957"/>
            <a:ext cx="3949961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Hibah RR perumahan belum dibedakan dari sektor lain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0097" y="4972957"/>
            <a:ext cx="4565463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Susun mekanisme khusus hibah RR sektor perumahan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75640" y="561702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6" name="Oval 65"/>
          <p:cNvSpPr/>
          <p:nvPr/>
        </p:nvSpPr>
        <p:spPr>
          <a:xfrm>
            <a:off x="777240" y="585206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8558" y="5883387"/>
            <a:ext cx="111354" cy="111354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52830" y="5617029"/>
            <a:ext cx="179570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Peran DSP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99335" y="5617029"/>
            <a:ext cx="3949961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PPK dan BPP DSP rumah rusak berat berada di BNPB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0097" y="5617029"/>
            <a:ext cx="4565463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Kembalikan fungsi PPK dan BPP DSP kepada pemda pengusul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bahan RTM Kedeputian Bidang RR BNPB, 27 Oktober 2026; Kedeputian Bidang RR BNPB, 24 Oktober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Dokumentasi Lapangan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4114800" y="48895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48895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Aceh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Pidie Jaya</a:t>
            </a:r>
          </a:p>
        </p:txBody>
      </p:sp>
      <p:pic>
        <p:nvPicPr>
          <p:cNvPr id="23" name="Picture 22" descr="rr-sumatera-kisi-hun-21-1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1-2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1-3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Pidie Jaya</a:t>
            </a:r>
          </a:p>
        </p:txBody>
      </p:sp>
      <p:pic>
        <p:nvPicPr>
          <p:cNvPr id="36" name="Picture 35" descr="rr-sumatera-kisi-hun-21-5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1-6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1-7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Aceh Timur</a:t>
            </a:r>
          </a:p>
        </p:txBody>
      </p:sp>
      <p:pic>
        <p:nvPicPr>
          <p:cNvPr id="49" name="Picture 48" descr="rr-sumatera-kisi-hun-22-2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2-3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2-4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Bireuen</a:t>
            </a:r>
          </a:p>
        </p:txBody>
      </p:sp>
      <p:pic>
        <p:nvPicPr>
          <p:cNvPr id="62" name="Picture 61" descr="rr-sumatera-kisi-hun-22-5-131x1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4293870"/>
            <a:ext cx="1673860" cy="1794256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629158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64" name="Picture 63" descr="rr-sumatera-kisi-hun-22-6-131x14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4293870"/>
            <a:ext cx="1673860" cy="179425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806704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66" name="Picture 65" descr="rr-sumatera-kisi-hun-22-7-131x14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4293870"/>
            <a:ext cx="1673860" cy="1794256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984250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Kota Binjai, Sumatera Utara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Kota Binjai</a:t>
            </a:r>
          </a:p>
        </p:txBody>
      </p:sp>
      <p:pic>
        <p:nvPicPr>
          <p:cNvPr id="23" name="Picture 22" descr="rr-sumatera-kisi-hun-23-2-131x141-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3-4-131x141-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3-3-131x141-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Kota Binjai</a:t>
            </a:r>
          </a:p>
        </p:txBody>
      </p:sp>
      <p:pic>
        <p:nvPicPr>
          <p:cNvPr id="36" name="Picture 35" descr="rr-sumatera-kisi-hun-23-5-131x141-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3-7-131x141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3-6-131x141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Kota Binjai</a:t>
            </a:r>
          </a:p>
        </p:txBody>
      </p:sp>
      <p:pic>
        <p:nvPicPr>
          <p:cNvPr id="49" name="Picture 48" descr="rr-sumatera-kisi-hun-24-3-131x141-k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4-2-131x141-k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4-1-131x141-k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data-FFFFFF-608a1e16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 Kota Binjai</a:t>
            </a:r>
          </a:p>
        </p:txBody>
      </p:sp>
      <p:sp>
        <p:nvSpPr>
          <p:cNvPr id="62" name="Oval 61"/>
          <p:cNvSpPr/>
          <p:nvPr/>
        </p:nvSpPr>
        <p:spPr>
          <a:xfrm>
            <a:off x="6291580" y="445664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3" name="Picture 62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016" y="4516078"/>
            <a:ext cx="211328" cy="21132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736080" y="4291383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Stimulan</a:t>
            </a:r>
          </a:p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15 unit rumah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, realisasi belanja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100%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65" name="Oval 64"/>
          <p:cNvSpPr/>
          <p:nvPr/>
        </p:nvSpPr>
        <p:spPr>
          <a:xfrm>
            <a:off x="6291580" y="511238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kalender-FFFFFF-a840cf9e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1016" y="5171821"/>
            <a:ext cx="211328" cy="2113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36080" y="4947126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Huntap</a:t>
            </a:r>
          </a:p>
          <a:p>
            <a:pPr algn="just"/>
            <a:r>
              <a:rPr sz="2001" b="0" lang="id-ID">
                <a:solidFill>
                  <a:srgbClr val="1A1A1A"/>
                </a:solidFill>
                <a:latin typeface="Roboto"/>
              </a:rPr>
              <a:t>Usulan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22 unit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, proses bangun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0 unit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68" name="Oval 67"/>
          <p:cNvSpPr/>
          <p:nvPr/>
        </p:nvSpPr>
        <p:spPr>
          <a:xfrm>
            <a:off x="6291580" y="576812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9" name="Picture 68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1016" y="5827564"/>
            <a:ext cx="211328" cy="21132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736080" y="5602870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Dana</a:t>
            </a:r>
          </a:p>
          <a:p>
            <a:pPr algn="just"/>
            <a:r>
              <a:rPr sz="2001" b="0" lang="id-ID">
                <a:solidFill>
                  <a:srgbClr val="1A1A1A"/>
                </a:solidFill>
                <a:latin typeface="Roboto"/>
              </a:rPr>
              <a:t>Transfer Rp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450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 juta, belanja Rp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420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 juta.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Lima Puluh Kota dan Pasaman Barat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Lima Puluh Kota</a:t>
            </a:r>
          </a:p>
        </p:txBody>
      </p:sp>
      <p:pic>
        <p:nvPicPr>
          <p:cNvPr id="23" name="Picture 22" descr="rr-sumatera-kisi-hun-24-5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4-6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4-7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Lima Puluh Kota</a:t>
            </a:r>
          </a:p>
        </p:txBody>
      </p:sp>
      <p:pic>
        <p:nvPicPr>
          <p:cNvPr id="36" name="Picture 35" descr="rr-sumatera-kisi-hun-25-2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5-3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5-4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Lima Puluh Kota</a:t>
            </a:r>
          </a:p>
        </p:txBody>
      </p:sp>
      <p:pic>
        <p:nvPicPr>
          <p:cNvPr id="49" name="Picture 48" descr="rr-sumatera-kisi-hun-25-5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5-6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5-7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Pasaman Barat</a:t>
            </a:r>
          </a:p>
        </p:txBody>
      </p:sp>
      <p:pic>
        <p:nvPicPr>
          <p:cNvPr id="62" name="Picture 61" descr="rr-sumatera-kisi-hun-26-2-131x1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4293870"/>
            <a:ext cx="1673860" cy="1794256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629158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64" name="Picture 63" descr="rr-sumatera-kisi-hun-26-3-131x14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4293870"/>
            <a:ext cx="1673860" cy="179425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806704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66" name="Picture 65" descr="rr-sumatera-kisi-hun-26-4-131x141-k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4293870"/>
            <a:ext cx="1673860" cy="1794256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984250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Pasaman dan Agam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Pasaman</a:t>
            </a:r>
          </a:p>
        </p:txBody>
      </p:sp>
      <p:pic>
        <p:nvPicPr>
          <p:cNvPr id="23" name="Picture 22" descr="rr-sumatera-kisi-hun-26-5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6-6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6-7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Agam</a:t>
            </a:r>
          </a:p>
        </p:txBody>
      </p:sp>
      <p:pic>
        <p:nvPicPr>
          <p:cNvPr id="36" name="Picture 35" descr="rr-sumatera-kisi-hun-27-2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7-3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7-4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Agam</a:t>
            </a:r>
          </a:p>
        </p:txBody>
      </p:sp>
      <p:pic>
        <p:nvPicPr>
          <p:cNvPr id="49" name="Picture 48" descr="rr-sumatera-kisi-hun-27-5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7-6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7-7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data-FFFFFF-608a1e16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716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 Pasaman dan Agam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93180" y="4293870"/>
            <a:ext cx="203911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KAB/KOTA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3092" y="4504690"/>
            <a:ext cx="40048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5174" y="4504690"/>
            <a:ext cx="60709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93871" y="4504690"/>
            <a:ext cx="58224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7716" y="4504690"/>
            <a:ext cx="45813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37447" y="4504690"/>
            <a:ext cx="47731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83092" y="4293870"/>
            <a:ext cx="110917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STIMULAN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533892" y="4491990"/>
            <a:ext cx="1007579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9693871" y="4293870"/>
            <a:ext cx="17208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HUNTAP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744671" y="4491990"/>
            <a:ext cx="1619289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2" name="Pita kolom utama"/>
          <p:cNvSpPr/>
          <p:nvPr/>
        </p:nvSpPr>
        <p:spPr>
          <a:xfrm>
            <a:off x="6291580" y="4715510"/>
            <a:ext cx="1135914" cy="154559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91580" y="4715510"/>
            <a:ext cx="522478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74" name="Connector 73"/>
          <p:cNvCxnSpPr/>
          <p:nvPr/>
        </p:nvCxnSpPr>
        <p:spPr>
          <a:xfrm>
            <a:off x="6291580" y="4293870"/>
            <a:ext cx="522478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75" name="Connector 74"/>
          <p:cNvCxnSpPr/>
          <p:nvPr/>
        </p:nvCxnSpPr>
        <p:spPr>
          <a:xfrm>
            <a:off x="6291580" y="6261100"/>
            <a:ext cx="522478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6393180" y="4715510"/>
            <a:ext cx="2039112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83092" y="4715510"/>
            <a:ext cx="400482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988251" y="4986922"/>
            <a:ext cx="600943" cy="22997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05" b="1" lang="id-ID">
                <a:solidFill>
                  <a:srgbClr val="1A1A1A"/>
                </a:solidFill>
                <a:latin typeface="Roboto"/>
              </a:rPr>
              <a:t>96,6%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93871" y="4715510"/>
            <a:ext cx="582246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77716" y="4715510"/>
            <a:ext cx="458130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37447" y="4715510"/>
            <a:ext cx="477313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291580" y="5488305"/>
            <a:ext cx="522478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3" name="TextBox 82"/>
          <p:cNvSpPr txBox="1"/>
          <p:nvPr/>
        </p:nvSpPr>
        <p:spPr>
          <a:xfrm>
            <a:off x="6393180" y="5488305"/>
            <a:ext cx="2039112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83092" y="5488305"/>
            <a:ext cx="400482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112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988251" y="5759717"/>
            <a:ext cx="600943" cy="22997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05" b="1" lang="id-ID">
                <a:solidFill>
                  <a:srgbClr val="1A1A1A"/>
                </a:solidFill>
                <a:latin typeface="Roboto"/>
              </a:rPr>
              <a:t>81,4%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93871" y="5488305"/>
            <a:ext cx="582246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1.124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77716" y="5488305"/>
            <a:ext cx="458130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82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37447" y="5488305"/>
            <a:ext cx="477313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pembangunan huntap di Aceh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459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di Aceh</a:t>
            </a:r>
          </a:p>
        </p:txBody>
      </p:sp>
      <p:pic>
        <p:nvPicPr>
          <p:cNvPr id="23" name="Picture 22" descr="rr-sumatera-kisi-hun-28-1-279x1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3545840" cy="213588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564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pic>
        <p:nvPicPr>
          <p:cNvPr id="25" name="Picture 24" descr="rr-sumatera-kisi-hun-28-2-279x16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3080" y="1541780"/>
            <a:ext cx="3545840" cy="21358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08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pic>
        <p:nvPicPr>
          <p:cNvPr id="27" name="Picture 26" descr="rr-sumatera-kisi-hun-28-3-279x1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0520" y="1541780"/>
            <a:ext cx="3545840" cy="213588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7052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pic>
        <p:nvPicPr>
          <p:cNvPr id="29" name="Picture 28" descr="rr-sumatera-kisi-hun-28-5-279x16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" y="3952240"/>
            <a:ext cx="3545840" cy="213588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564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pic>
        <p:nvPicPr>
          <p:cNvPr id="31" name="Picture 30" descr="rr-sumatera-kisi-hun-28-6-279x168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3080" y="3952240"/>
            <a:ext cx="3545840" cy="213588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2308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pic>
        <p:nvPicPr>
          <p:cNvPr id="33" name="Picture 32" descr="rr-sumatera-kisi-hun-28-7-279x168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70520" y="3952240"/>
            <a:ext cx="3545840" cy="213588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97052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pembangunan huntap di Sumatera Utara dan Sumatera Barat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Langkat, Sumatera Utara</a:t>
            </a:r>
          </a:p>
        </p:txBody>
      </p:sp>
      <p:pic>
        <p:nvPicPr>
          <p:cNvPr id="23" name="Picture 22" descr="rr-sumatera-kisi-hun-29-1-131x168-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213588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564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5" name="Picture 24" descr="rr-sumatera-kisi-hun-29-3-131x168-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21358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45110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7" name="Picture 26" descr="rr-sumatera-kisi-hun-29-4-131x1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213588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22656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9" name="Picture 28" descr="rr-sumatera-kisi-hun-29-5-131x168-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" y="3952240"/>
            <a:ext cx="1673860" cy="213588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564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31" name="Picture 30" descr="rr-sumatera-kisi-hun-29-6-131x168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1100" y="3952240"/>
            <a:ext cx="1673860" cy="213588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5110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33" name="Picture 32" descr="rr-sumatera-kisi-hun-29-7-131x168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6560" y="3952240"/>
            <a:ext cx="1673860" cy="213588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22656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64580" y="982980"/>
            <a:ext cx="547878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64580" y="982980"/>
            <a:ext cx="547878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pic>
        <p:nvPicPr>
          <p:cNvPr id="42" name="Picture 41" descr="rr-sumatera-kisi-hun-30-1-131x16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1580" y="1541780"/>
            <a:ext cx="1673860" cy="213588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29158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pic>
        <p:nvPicPr>
          <p:cNvPr id="44" name="Picture 43" descr="rr-sumatera-kisi-hun-30-2-131x16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67040" y="1541780"/>
            <a:ext cx="1673860" cy="213588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6704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pic>
        <p:nvPicPr>
          <p:cNvPr id="46" name="Picture 45" descr="rr-sumatera-kisi-hun-30-3-131x16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2500" y="1541780"/>
            <a:ext cx="1673860" cy="213588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84250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pic>
        <p:nvPicPr>
          <p:cNvPr id="48" name="Picture 47" descr="rr-sumatera-kisi-hun-30-4-131x16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3952240"/>
            <a:ext cx="1673860" cy="213588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29158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pic>
        <p:nvPicPr>
          <p:cNvPr id="50" name="Picture 49" descr="rr-sumatera-kisi-hun-30-5-131x16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3952240"/>
            <a:ext cx="1673860" cy="213588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06704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pic>
        <p:nvPicPr>
          <p:cNvPr id="52" name="Picture 51" descr="rr-sumatera-kisi-hun-30-7-131x16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3952240"/>
            <a:ext cx="1673860" cy="213588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84250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1A1A1A"/>
                </a:solidFill>
                <a:latin typeface="Roboto"/>
              </a:rPr>
              <a:t>Sumber: </a:t>
            </a:r>
            <a:r>
              <a:rPr sz="860" b="0" i="1" lang="id-ID">
                <a:solidFill>
                  <a:srgbClr val="1A1A1A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-sumatera-sampul-rr-penu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900" y="0"/>
            <a:ext cx="58801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0" y="6565900"/>
            <a:ext cx="469392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lang="id-ID">
                <a:solidFill>
                  <a:srgbClr val="FFFFFF"/>
                </a:solidFill>
                <a:latin typeface="Roboto"/>
              </a:rPr>
              <a:t>Foto: Dokumentasi Kedeputian Bidang RR BNPB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26" y="673913"/>
            <a:ext cx="526869" cy="663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468880"/>
            <a:ext cx="5669280" cy="100584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l"/>
            <a:r>
              <a:rPr sz="5400" b="1" lang="id-ID">
                <a:solidFill>
                  <a:srgbClr val="1A1A1A"/>
                </a:solidFill>
                <a:latin typeface="Roboto"/>
              </a:rPr>
              <a:t>Terima kasih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44900"/>
            <a:ext cx="4754880" cy="254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5669280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70" b="1" lang="id-ID">
                <a:solidFill>
                  <a:srgbClr val="00499D"/>
                </a:solidFill>
                <a:latin typeface="Roboto"/>
              </a:rPr>
              <a:t>Badan Nasional Penanggulangan Bencana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4180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90" b="0" lang="id-ID">
                <a:solidFill>
                  <a:srgbClr val="2E3440"/>
                </a:solidFill>
                <a:latin typeface="Roboto"/>
              </a:rPr>
              <a:t>Progres Sektor Perumahan RR Pascabencana di Wilayah Sumatera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6998"/>
            <a:ext cx="2926080" cy="38354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260" b="1" lang="id-ID">
                <a:solidFill>
                  <a:srgbClr val="FFFFFF"/>
                </a:solidFill>
                <a:latin typeface="Roboto"/>
              </a:rPr>
              <a:t>Selasa, 27 Oktober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A1A1A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 Sektor Perumahan Rehabilitasi dan Rekonstruksi Pascabencana di Wilayah Sumatera</dc:title>
  <dc:subject>Bantuan Stimulan Rumah Rusak dan Hunian Tetap Pascabencana Siklon Senyar</dc:subject>
  <dc:creator>Badan Nasional Penanggulangan Bencana</dc:creator>
  <cp:lastModifiedBy>Badan Nasional Penanggulangan Bencana</cp:lastModifiedBy>
  <cp:revision>1</cp:revision>
  <dcterms:created xsi:type="dcterms:W3CDTF">2026-10-22T07:37:45Z</dcterms:created>
  <dcterms:modified xsi:type="dcterms:W3CDTF">2026-10-22T07:37:45Z</dcterms:modified>
  <cp:keywords>BNPB; rehabilitasi dan rekonstruksi; huntap; stimulan rumah; Sumatera</cp:keywords>
  <dc:language>id-ID</dc:language>
  <cp:category>Kajian</cp:category>
  <dc:description>Stimulan rumah rusak dan huntap pascabencana Sumatera berjalan; percepatan bergantung pada material, lahan, anggaran, dan data.</dc:description>
</cp:coreProperties>
</file>