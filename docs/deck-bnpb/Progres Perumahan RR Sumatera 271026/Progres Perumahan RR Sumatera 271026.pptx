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9.png"/><Relationship Id="rId10" Type="http://schemas.openxmlformats.org/officeDocument/2006/relationships/image" Target="../media/image7.png"/><Relationship Id="rId11" Type="http://schemas.openxmlformats.org/officeDocument/2006/relationships/image" Target="../media/image12.png"/><Relationship Id="rId12" Type="http://schemas.openxmlformats.org/officeDocument/2006/relationships/image" Target="../media/image11.png"/><Relationship Id="rId13" Type="http://schemas.openxmlformats.org/officeDocument/2006/relationships/image" Target="../media/image10.png"/><Relationship Id="rId14" Type="http://schemas.openxmlformats.org/officeDocument/2006/relationships/image" Target="../media/image15.png"/><Relationship Id="rId1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9.png"/><Relationship Id="rId5" Type="http://schemas.openxmlformats.org/officeDocument/2006/relationships/image" Target="../media/image9.png"/><Relationship Id="rId6" Type="http://schemas.openxmlformats.org/officeDocument/2006/relationships/image" Target="../media/image17.png"/><Relationship Id="rId7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8.png"/><Relationship Id="rId9" Type="http://schemas.openxmlformats.org/officeDocument/2006/relationships/image" Target="../media/image12.png"/><Relationship Id="rId10" Type="http://schemas.openxmlformats.org/officeDocument/2006/relationships/image" Target="../media/image4.png"/><Relationship Id="rId11" Type="http://schemas.openxmlformats.org/officeDocument/2006/relationships/image" Target="../media/image13.png"/><Relationship Id="rId12" Type="http://schemas.openxmlformats.org/officeDocument/2006/relationships/image" Target="../media/image11.png"/><Relationship Id="rId1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Relationship Id="rId7" Type="http://schemas.openxmlformats.org/officeDocument/2006/relationships/image" Target="../media/image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15.png"/><Relationship Id="rId14" Type="http://schemas.openxmlformats.org/officeDocument/2006/relationships/image" Target="../media/image11.png"/><Relationship Id="rId15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Relationship Id="rId10" Type="http://schemas.openxmlformats.org/officeDocument/2006/relationships/image" Target="../media/image51.jpg"/><Relationship Id="rId11" Type="http://schemas.openxmlformats.org/officeDocument/2006/relationships/image" Target="../media/image52.jpg"/><Relationship Id="rId12" Type="http://schemas.openxmlformats.org/officeDocument/2006/relationships/image" Target="../media/image53.jpg"/><Relationship Id="rId13" Type="http://schemas.openxmlformats.org/officeDocument/2006/relationships/image" Target="../media/image54.jpg"/><Relationship Id="rId14" Type="http://schemas.openxmlformats.org/officeDocument/2006/relationships/image" Target="../media/image55.jpg"/><Relationship Id="rId15" Type="http://schemas.openxmlformats.org/officeDocument/2006/relationships/image" Target="../media/image5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7.jpg"/><Relationship Id="rId5" Type="http://schemas.openxmlformats.org/officeDocument/2006/relationships/image" Target="../media/image58.jpg"/><Relationship Id="rId6" Type="http://schemas.openxmlformats.org/officeDocument/2006/relationships/image" Target="../media/image59.jpg"/><Relationship Id="rId7" Type="http://schemas.openxmlformats.org/officeDocument/2006/relationships/image" Target="../media/image60.jpg"/><Relationship Id="rId8" Type="http://schemas.openxmlformats.org/officeDocument/2006/relationships/image" Target="../media/image61.jpg"/><Relationship Id="rId9" Type="http://schemas.openxmlformats.org/officeDocument/2006/relationships/image" Target="../media/image62.jpg"/><Relationship Id="rId10" Type="http://schemas.openxmlformats.org/officeDocument/2006/relationships/image" Target="../media/image63.jpg"/><Relationship Id="rId11" Type="http://schemas.openxmlformats.org/officeDocument/2006/relationships/image" Target="../media/image64.jpg"/><Relationship Id="rId12" Type="http://schemas.openxmlformats.org/officeDocument/2006/relationships/image" Target="../media/image65.jpg"/><Relationship Id="rId1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66.jpg"/><Relationship Id="rId5" Type="http://schemas.openxmlformats.org/officeDocument/2006/relationships/image" Target="../media/image67.jpg"/><Relationship Id="rId6" Type="http://schemas.openxmlformats.org/officeDocument/2006/relationships/image" Target="../media/image68.jpg"/><Relationship Id="rId7" Type="http://schemas.openxmlformats.org/officeDocument/2006/relationships/image" Target="../media/image69.jpg"/><Relationship Id="rId8" Type="http://schemas.openxmlformats.org/officeDocument/2006/relationships/image" Target="../media/image70.jpg"/><Relationship Id="rId9" Type="http://schemas.openxmlformats.org/officeDocument/2006/relationships/image" Target="../media/image7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72.jpg"/><Relationship Id="rId5" Type="http://schemas.openxmlformats.org/officeDocument/2006/relationships/image" Target="../media/image73.jpg"/><Relationship Id="rId6" Type="http://schemas.openxmlformats.org/officeDocument/2006/relationships/image" Target="../media/image74.jpg"/><Relationship Id="rId7" Type="http://schemas.openxmlformats.org/officeDocument/2006/relationships/image" Target="../media/image75.jpg"/><Relationship Id="rId8" Type="http://schemas.openxmlformats.org/officeDocument/2006/relationships/image" Target="../media/image76.jpg"/><Relationship Id="rId9" Type="http://schemas.openxmlformats.org/officeDocument/2006/relationships/image" Target="../media/image77.jpg"/><Relationship Id="rId10" Type="http://schemas.openxmlformats.org/officeDocument/2006/relationships/image" Target="../media/image78.jpg"/><Relationship Id="rId11" Type="http://schemas.openxmlformats.org/officeDocument/2006/relationships/image" Target="../media/image79.jpg"/><Relationship Id="rId12" Type="http://schemas.openxmlformats.org/officeDocument/2006/relationships/image" Target="../media/image80.jpg"/><Relationship Id="rId13" Type="http://schemas.openxmlformats.org/officeDocument/2006/relationships/image" Target="../media/image81.jpg"/><Relationship Id="rId14" Type="http://schemas.openxmlformats.org/officeDocument/2006/relationships/image" Target="../media/image82.jpg"/><Relationship Id="rId15" Type="http://schemas.openxmlformats.org/officeDocument/2006/relationships/image" Target="../media/image8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samp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2819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00200"/>
            <a:ext cx="5669280" cy="1524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Progres Sektor Perumahan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Rehabilitasi dan Rekonstruksi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25800"/>
            <a:ext cx="5669280" cy="511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10" b="0" lang="id-ID">
                <a:solidFill>
                  <a:srgbClr val="2E3440"/>
                </a:solidFill>
                <a:latin typeface="Roboto"/>
              </a:rPr>
              <a:t>Bantuan Stimulan Rumah Rusak dan Hunian Tetap Pascabencana Siklon Senyar di Tiga Provinsi Sumatera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9375"/>
            <a:ext cx="566928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39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232275"/>
            <a:ext cx="512064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4384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D9600B"/>
                </a:solidFill>
                <a:latin typeface="Roboto"/>
              </a:rPr>
              <a:t>Dipresentasikan oleh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38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1A1A1A"/>
                </a:solidFill>
                <a:latin typeface="Roboto"/>
              </a:rPr>
              <a:t>Kedeputian Bidang Rehabilitasi dan Rekonstruksi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0" lang="id-ID">
                <a:solidFill>
                  <a:srgbClr val="2E3440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04960" y="508000"/>
            <a:ext cx="2438400" cy="1053828"/>
          </a:xfrm>
          <a:prstGeom prst="roundRect">
            <a:avLst>
              <a:gd name="adj" fmla="val 964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erakhl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6560" y="609600"/>
            <a:ext cx="2235200" cy="8506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349875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Bantuan stimulan rumah rusak dan hunian tetap pascabencana Sumatera berjalan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di tiga provinsi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37310"/>
            <a:ext cx="257269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STIMULAN RUSAK SEDANG DAN RINGAN</a:t>
            </a:r>
          </a:p>
        </p:txBody>
      </p:sp>
      <p:pic>
        <p:nvPicPr>
          <p:cNvPr id="10" name="Picture 9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39078" y="1337310"/>
            <a:ext cx="1189585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HUNIAN TETAP</a:t>
            </a:r>
          </a:p>
        </p:txBody>
      </p:sp>
      <p:pic>
        <p:nvPicPr>
          <p:cNvPr id="23" name="Picture 22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rumah-051C2C-320df6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kalender-051C2C-a840cf9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2346960"/>
            <a:ext cx="3606800" cy="37363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2575560"/>
            <a:ext cx="360680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48640" y="2346960"/>
            <a:ext cx="3606800" cy="37363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790" y="2486660"/>
            <a:ext cx="177800" cy="1778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5664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</a:t>
            </a:r>
          </a:p>
        </p:txBody>
      </p:sp>
      <p:sp>
        <p:nvSpPr>
          <p:cNvPr id="43" name="Oval 42"/>
          <p:cNvSpPr/>
          <p:nvPr/>
        </p:nvSpPr>
        <p:spPr>
          <a:xfrm>
            <a:off x="675640" y="312674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586" y="3202686"/>
            <a:ext cx="178308" cy="17830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20140" y="291109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Stimulan</a:t>
            </a:r>
            <a:br/>
            <a:r>
              <a:rPr sz="1545" b="1" lang="id-ID">
                <a:solidFill>
                  <a:srgbClr val="1A1A1A"/>
                </a:solidFill>
                <a:latin typeface="Roboto"/>
              </a:rPr>
              <a:t>35.407 unit rumah</a:t>
            </a:r>
            <a:r>
              <a:rPr sz="1545" b="0" lang="id-ID">
                <a:solidFill>
                  <a:srgbClr val="1A1A1A"/>
                </a:solidFill>
                <a:latin typeface="Roboto"/>
              </a:rPr>
              <a:t> di </a:t>
            </a:r>
            <a:r>
              <a:rPr sz="1545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545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5640" y="367792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675640" y="389890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regulasi-FFFFFF-e639fe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586" y="3974846"/>
            <a:ext cx="178308" cy="1783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20140" y="368325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Reviu huntap</a:t>
            </a:r>
            <a:br/>
            <a:r>
              <a:rPr sz="1545" b="1" lang="id-ID">
                <a:solidFill>
                  <a:srgbClr val="1A1A1A"/>
                </a:solidFill>
                <a:latin typeface="Roboto"/>
              </a:rPr>
              <a:t>30.430 usulan</a:t>
            </a:r>
            <a:r>
              <a:rPr sz="154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545" b="1" lang="id-ID">
                <a:solidFill>
                  <a:srgbClr val="1A1A1A"/>
                </a:solidFill>
                <a:latin typeface="Roboto"/>
              </a:rPr>
              <a:t>38.651 usulan huntap</a:t>
            </a:r>
            <a:r>
              <a:rPr sz="1545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75640" y="445008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675640" y="467106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kalender-FFFFFF-a840cf9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586" y="4747006"/>
            <a:ext cx="178308" cy="1783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20140" y="445541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Usulan lanjutan</a:t>
            </a:r>
            <a:br/>
            <a:r>
              <a:rPr sz="1545" b="1" lang="id-ID">
                <a:solidFill>
                  <a:srgbClr val="1A1A1A"/>
                </a:solidFill>
                <a:latin typeface="Roboto"/>
              </a:rPr>
              <a:t>26 kabupaten/kota</a:t>
            </a:r>
            <a:r>
              <a:rPr sz="1545" b="0" lang="id-ID">
                <a:solidFill>
                  <a:srgbClr val="1A1A1A"/>
                </a:solidFill>
                <a:latin typeface="Roboto"/>
              </a:rPr>
              <a:t> sedang berproses.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522224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544322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6" name="Picture 55" descr="regulasi-FFFFFF-e639fe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586" y="5519166"/>
            <a:ext cx="178308" cy="17830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120140" y="522757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Rencana transfer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545" b="1" lang="id-ID">
                <a:solidFill>
                  <a:srgbClr val="1A1A1A"/>
                </a:solidFill>
                <a:latin typeface="Roboto"/>
              </a:rPr>
              <a:t>1.751,1</a:t>
            </a:r>
            <a:r>
              <a:rPr sz="1545" b="0" lang="id-ID">
                <a:solidFill>
                  <a:srgbClr val="1A1A1A"/>
                </a:solidFill>
                <a:latin typeface="Roboto"/>
              </a:rPr>
              <a:t> M ke daerah, tahap II–IV akhir Oktober 2026.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92600" y="2346960"/>
            <a:ext cx="3606800" cy="37363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9260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92600" y="2575560"/>
            <a:ext cx="3606800" cy="228600"/>
          </a:xfrm>
          <a:prstGeom prst="rect">
            <a:avLst/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292600" y="2346960"/>
            <a:ext cx="3606800" cy="37363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41960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3" name="Picture 62" descr="peringatan-FFFFFF-6a80b71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6750" y="2486660"/>
            <a:ext cx="177800" cy="1778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80060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</a:t>
            </a:r>
          </a:p>
        </p:txBody>
      </p:sp>
      <p:sp>
        <p:nvSpPr>
          <p:cNvPr id="65" name="Oval 64"/>
          <p:cNvSpPr/>
          <p:nvPr/>
        </p:nvSpPr>
        <p:spPr>
          <a:xfrm>
            <a:off x="4419600" y="312674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infrastruktur-FFFFFF-ba1c96e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95546" y="3202686"/>
            <a:ext cx="178308" cy="1783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64100" y="291109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Material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Semen dan besi langka, harga naik.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419600" y="367792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4419600" y="389890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luas-FFFFFF-1232202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546" y="3974846"/>
            <a:ext cx="178308" cy="17830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64100" y="368325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Lahan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Status tanah adat dan ulayat belum pasti.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419600" y="445008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3" name="Oval 72"/>
          <p:cNvSpPr/>
          <p:nvPr/>
        </p:nvSpPr>
        <p:spPr>
          <a:xfrm>
            <a:off x="4419600" y="467106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546" y="4747006"/>
            <a:ext cx="178308" cy="1783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864100" y="445541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Anggaran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ABT DSP rumah rusak berat terlambat cair.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419600" y="522224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7" name="Oval 76"/>
          <p:cNvSpPr/>
          <p:nvPr/>
        </p:nvSpPr>
        <p:spPr>
          <a:xfrm>
            <a:off x="4419600" y="544322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data-FFFFFF-608a1e1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95546" y="5519166"/>
            <a:ext cx="178308" cy="178308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4864100" y="522757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Data penerima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Verifikasi dan validasi oleh pemda terlambat.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036560" y="2346960"/>
            <a:ext cx="3606800" cy="37363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3656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36560" y="2575560"/>
            <a:ext cx="3606800" cy="228600"/>
          </a:xfrm>
          <a:prstGeom prst="rect">
            <a:avLst/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036560" y="2346960"/>
            <a:ext cx="3606800" cy="37363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16356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5" name="Picture 84" descr="lembaga-FFFFFF-f44193c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0710" y="2486660"/>
            <a:ext cx="177800" cy="1778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54456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Tindak Lanjut</a:t>
            </a:r>
          </a:p>
        </p:txBody>
      </p:sp>
      <p:sp>
        <p:nvSpPr>
          <p:cNvPr id="87" name="Oval 86"/>
          <p:cNvSpPr/>
          <p:nvPr/>
        </p:nvSpPr>
        <p:spPr>
          <a:xfrm>
            <a:off x="8163560" y="312674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8" name="Picture 87" descr="infrastruktur-FFFFFF-ba1c96e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39506" y="3202686"/>
            <a:ext cx="178308" cy="17830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608060" y="291109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Pasokan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Harga khusus semen dari PT Semen Indonesia.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8163560" y="367792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8163560" y="389890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2" name="Picture 91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506" y="3974846"/>
            <a:ext cx="178308" cy="17830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608060" y="368325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Pencairan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Dipercepat untuk rumah rusak berat.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8163560" y="445008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8163560" y="467106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lembaga-FFFFFF-f44193c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39506" y="4747006"/>
            <a:ext cx="178308" cy="17830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8060" y="445541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Mekanisme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Hibah RR khusus sektor perumahan.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163560" y="5222240"/>
            <a:ext cx="335280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8163560" y="544322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0" name="Picture 99" descr="data-FFFFFF-608a1e1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39506" y="5519166"/>
            <a:ext cx="178308" cy="17830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608060" y="5227574"/>
            <a:ext cx="2806700" cy="761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45" b="1" lang="id-ID">
                <a:solidFill>
                  <a:srgbClr val="1A1A1A"/>
                </a:solidFill>
                <a:latin typeface="Roboto"/>
              </a:rPr>
              <a:t>Data</a:t>
            </a:r>
            <a:br/>
            <a:r>
              <a:rPr sz="1545" b="0" lang="id-ID">
                <a:solidFill>
                  <a:srgbClr val="1A1A1A"/>
                </a:solidFill>
                <a:latin typeface="Roboto"/>
              </a:rPr>
              <a:t>Pemda menuntaskan verifikasi penerima bantuan.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Kedeputian Bidang Rehabilitasi dan Rekonstruksi BNPB, bahan RTM 27 Oktober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413000"/>
            <a:ext cx="2712720" cy="7620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3600" b="1" lang="id-ID">
                <a:solidFill>
                  <a:srgbClr val="051C2C"/>
                </a:solidFill>
                <a:latin typeface="Roboto"/>
              </a:rPr>
              <a:t>Daftar 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274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05200"/>
            <a:ext cx="271272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lang="id-ID">
                <a:solidFill>
                  <a:srgbClr val="2E3440"/>
                </a:solidFill>
                <a:latin typeface="Roboto"/>
              </a:rPr>
              <a:t>Progres Sektor Perumahan Rehabilitasi dan Rekonstruksi 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813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2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8813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32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813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813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32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813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813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32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Dasar Hukum Pelaksanaan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1303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1303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813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2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813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32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813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32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32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32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Dasar hukum pelaksanaan bantuan perumahan pascabencana Sumatera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01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Dasar hukum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840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egulasi-FFFFFF-e639fe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Peraturan yang Menjadi Dasar Pelaksanaan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157460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JENIS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6635" y="1541780"/>
            <a:ext cx="177778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NOMOR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5215" y="1541780"/>
            <a:ext cx="401271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TENTANG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8726" y="1541780"/>
            <a:ext cx="16761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LEMBAGA PENERBIT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719" y="1541780"/>
            <a:ext cx="126984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CAKUPAN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75640" y="1752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28" name="Oval 27"/>
          <p:cNvSpPr/>
          <p:nvPr/>
        </p:nvSpPr>
        <p:spPr>
          <a:xfrm>
            <a:off x="675640" y="201908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230" y="1752600"/>
            <a:ext cx="1574605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6635" y="1752600"/>
            <a:ext cx="1777780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5215" y="1752600"/>
            <a:ext cx="4012712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Rencana Rehabilitasi dan Rekonstruksi Pascabencana (R3P)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8726" y="1752600"/>
            <a:ext cx="1676192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719" y="1752600"/>
            <a:ext cx="1269841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5640" y="245956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675640" y="272605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1230" y="2459567"/>
            <a:ext cx="1574605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6635" y="2459567"/>
            <a:ext cx="1777780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4 Tahun 2020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5215" y="2459567"/>
            <a:ext cx="4012712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Dana Siap Pakai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68726" y="2459567"/>
            <a:ext cx="1676192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719" y="2459567"/>
            <a:ext cx="1269841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31665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675640" y="343302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1230" y="3166533"/>
            <a:ext cx="1574605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Pelaksanaan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6635" y="3166533"/>
            <a:ext cx="1777780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5215" y="3166533"/>
            <a:ext cx="4012712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DSP stimulan perbaikan dan pembangunan kembali rumah rusak akibat bencana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8726" y="3166533"/>
            <a:ext cx="1676192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5719" y="3166533"/>
            <a:ext cx="1269841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387350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675640" y="413998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1230" y="3873500"/>
            <a:ext cx="1574605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Kepala BNPB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6635" y="3873500"/>
            <a:ext cx="1777780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393 Tahun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05215" y="3873500"/>
            <a:ext cx="4012712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perbaikan dan pembangunan rumah rusak terdampak bencana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68726" y="3873500"/>
            <a:ext cx="1676192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Kepala BNPB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5719" y="3873500"/>
            <a:ext cx="1269841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458046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Oval 55"/>
          <p:cNvSpPr/>
          <p:nvPr/>
        </p:nvSpPr>
        <p:spPr>
          <a:xfrm>
            <a:off x="675640" y="484695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1230" y="4580467"/>
            <a:ext cx="1574605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Mendagri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6635" y="4580467"/>
            <a:ext cx="1777780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300.2.8-168 Tahun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5215" y="4580467"/>
            <a:ext cx="4012712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Pedoman teknis bantuan rumah terdampak bencana di tiga provinsi Sumatera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8726" y="4580467"/>
            <a:ext cx="1676192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Kementerian Dalam Negeri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95719" y="4580467"/>
            <a:ext cx="1269841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52874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675640" y="555392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1230" y="5287433"/>
            <a:ext cx="1574605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Teknis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76635" y="5287433"/>
            <a:ext cx="1777780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1 Tahun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05215" y="5287433"/>
            <a:ext cx="4012712" cy="70696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Pembangunan rumah rusak berat melalui </a:t>
            </a:r>
            <a:r>
              <a:rPr sz="1204" b="0" i="1" lang="id-ID">
                <a:solidFill>
                  <a:srgbClr val="2E3440"/>
                </a:solidFill>
                <a:latin typeface="Roboto"/>
              </a:rPr>
              <a:t>in situ</a:t>
            </a:r>
            <a:r>
              <a:rPr sz="1204" b="0" lang="id-ID">
                <a:solidFill>
                  <a:srgbClr val="2E3440"/>
                </a:solidFill>
                <a:latin typeface="Roboto"/>
              </a:rPr>
              <a:t> dan relokasi mandiri di tiga provinsi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8726" y="5287433"/>
            <a:ext cx="1676192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95719" y="5287433"/>
            <a:ext cx="1269841" cy="7069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bahan RTM 27 Oktober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Stimulan Rumah Rusak Sedang dan Rusak Ringan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813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2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4114800" y="20701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0701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813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32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813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32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32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32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untuk rumah yang rusak sedang dan ringan mencapai</a:t>
            </a:r>
            <a:br/>
            <a:r>
              <a:rPr sz="2200" b="1" lang="id-ID">
                <a:solidFill>
                  <a:srgbClr val="D9600B"/>
                </a:solidFill>
                <a:latin typeface="Roboto"/>
              </a:rPr>
              <a:t>78,9%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dari dana di rekening masyarakat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282700"/>
            <a:ext cx="6471209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1337310"/>
            <a:ext cx="109792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PENYALURAN</a:t>
            </a:r>
          </a:p>
        </p:txBody>
      </p:sp>
      <p:pic>
        <p:nvPicPr>
          <p:cNvPr id="17" name="Picture 16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58368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178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178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ditransfer ke daerah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72766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8198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186" y="1758950"/>
            <a:ext cx="177800" cy="177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284576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702,4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84576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 rekening masyarakat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87163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96383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rumah-051C2C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583" y="1758950"/>
            <a:ext cx="177800" cy="177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398973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8973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86549" y="1282700"/>
            <a:ext cx="4356811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96277" y="1337310"/>
            <a:ext cx="862587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WILAYAH</a:t>
            </a:r>
          </a:p>
        </p:txBody>
      </p:sp>
      <p:pic>
        <p:nvPicPr>
          <p:cNvPr id="35" name="Picture 34" descr="wilayah-FFFFFF-37dca1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7717" y="1372057"/>
            <a:ext cx="113386" cy="11338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7396277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05497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wilayah-051C2C-37dca1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1697" y="1758950"/>
            <a:ext cx="177800" cy="177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08087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42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8087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penerima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10674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61989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kalender-051C2C-a840cf9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6094" y="1758950"/>
            <a:ext cx="177800" cy="1778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022484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22484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tahap lanjut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2346960"/>
            <a:ext cx="6213043" cy="3736340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2346960"/>
            <a:ext cx="6213043" cy="3736340"/>
          </a:xfrm>
          <a:prstGeom prst="roundRect">
            <a:avLst>
              <a:gd name="adj" fmla="val 146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rumah-FFFFFF-320df64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2790" y="2486660"/>
            <a:ext cx="177800" cy="1778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Rusak Sedang (RS) dan Rusak Ringan (RR) per Provinsi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5640" y="2905760"/>
            <a:ext cx="233281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9257" y="2905760"/>
            <a:ext cx="99850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 RS DAN RR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59360" y="3116580"/>
            <a:ext cx="83937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00339" y="3116580"/>
            <a:ext cx="6386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0574" y="2905760"/>
            <a:ext cx="692509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9360" y="2905760"/>
            <a:ext cx="157961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210160" y="3103880"/>
            <a:ext cx="147801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60" name="Connector 59"/>
          <p:cNvCxnSpPr/>
          <p:nvPr/>
        </p:nvCxnSpPr>
        <p:spPr>
          <a:xfrm>
            <a:off x="675640" y="332740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675640" y="3327400"/>
            <a:ext cx="2332817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9257" y="3327400"/>
            <a:ext cx="998502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30.661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59360" y="3327400"/>
            <a:ext cx="839379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621,8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00339" y="3327400"/>
            <a:ext cx="638635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494,3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54100" y="3576515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1A1A1A"/>
                </a:solidFill>
                <a:latin typeface="Roboto"/>
              </a:rPr>
              <a:t>79,5%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408029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675640" y="4080290"/>
            <a:ext cx="2332817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59257" y="4080290"/>
            <a:ext cx="998502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3.560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59360" y="4080290"/>
            <a:ext cx="839379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61,9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00339" y="4080290"/>
            <a:ext cx="638635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47,1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854100" y="4329405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1A1A1A"/>
                </a:solidFill>
                <a:latin typeface="Roboto"/>
              </a:rPr>
              <a:t>76,1%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75640" y="483318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75640" y="4833180"/>
            <a:ext cx="2332817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59257" y="4833180"/>
            <a:ext cx="998502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1.186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59360" y="4833180"/>
            <a:ext cx="839379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18,7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00339" y="4833180"/>
            <a:ext cx="638635" cy="7528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12,7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54100" y="5082294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C8102E"/>
                </a:solidFill>
                <a:latin typeface="Roboto"/>
              </a:rPr>
              <a:t>68,1%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75640" y="5636870"/>
            <a:ext cx="5959043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2640" y="5636870"/>
            <a:ext cx="225661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59257" y="5636870"/>
            <a:ext cx="998502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35.407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59360" y="5636870"/>
            <a:ext cx="839379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702,4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00339" y="5636870"/>
            <a:ext cx="638635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554,2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98843" y="2346960"/>
            <a:ext cx="4744517" cy="3736340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898843" y="2346960"/>
            <a:ext cx="4744517" cy="3736340"/>
          </a:xfrm>
          <a:prstGeom prst="roundRect">
            <a:avLst>
              <a:gd name="adj" fmla="val 146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8" name="Picture 87" descr="peringatan-FFFFFF-6a80b71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2993" y="2486660"/>
            <a:ext cx="177800" cy="1778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Pelaksanaan</a:t>
            </a:r>
          </a:p>
        </p:txBody>
      </p:sp>
      <p:sp>
        <p:nvSpPr>
          <p:cNvPr id="90" name="Oval 89"/>
          <p:cNvSpPr/>
          <p:nvPr/>
        </p:nvSpPr>
        <p:spPr>
          <a:xfrm>
            <a:off x="7025843" y="312674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1" name="Picture 90" descr="kalender-FFFFFF-a840cf9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1789" y="3202686"/>
            <a:ext cx="178308" cy="17830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470343" y="2950528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Batas usulan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Paling lambat 31 Agustus 2026; pemda melengkapi dokumen sesuai catatan PIC BNPB.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025843" y="3677920"/>
            <a:ext cx="449051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4" name="Oval 93"/>
          <p:cNvSpPr/>
          <p:nvPr/>
        </p:nvSpPr>
        <p:spPr>
          <a:xfrm>
            <a:off x="7025843" y="389890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5" name="Picture 94" descr="regulasi-FFFFFF-e639fe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1789" y="3974846"/>
            <a:ext cx="178308" cy="17830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7470343" y="3613150"/>
            <a:ext cx="3944417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Dokumen usulan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SK transisi kedaluwarsa dan NIK/KK berbeda di SK BNBA; kajian kelayakan lahan relokasi mandiri belum ada.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025843" y="4450080"/>
            <a:ext cx="449051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7025843" y="467106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9" name="Picture 98" descr="data-FFFFFF-608a1e1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1789" y="4747006"/>
            <a:ext cx="178308" cy="17830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470343" y="4494847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Pertanggungjawaban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Laporan bulanan, pengembalian kas negara, SK BNBA final, rekening koran.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025843" y="5222240"/>
            <a:ext cx="449051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7025843" y="544322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infrastruktur-FFFFFF-ba1c96e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01789" y="5519166"/>
            <a:ext cx="178308" cy="1783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7470343" y="5376545"/>
            <a:ext cx="3944417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Pelaksanaan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Material langka dan tenaga tukang terbatas.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realisasi berdasarkan laporan pemda, sebagian belum didukung laporan pertanggungjawaban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Rincian penyaluran stimulan rumah rusak sedang dan rusak ringan per tahap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(Rp miliar)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282700"/>
            <a:ext cx="11094720" cy="2331720"/>
          </a:xfrm>
          <a:prstGeom prst="roundRect">
            <a:avLst>
              <a:gd name="adj" fmla="val 234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1282700"/>
            <a:ext cx="11094720" cy="2331720"/>
          </a:xfrm>
          <a:prstGeom prst="roundRect">
            <a:avLst>
              <a:gd name="adj" fmla="val 2342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42240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 (RS)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40" y="184150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1928" y="205232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3095" y="205232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0072" y="205232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239" y="205232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216" y="205232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9383" y="205232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1928" y="184150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62728" y="203962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180072" y="184150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REKENING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30872" y="203962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348216" y="184150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BELANJA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99016" y="203962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75640" y="226314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675640" y="2263140"/>
            <a:ext cx="4285488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11928" y="226314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12.919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3095" y="226314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387,6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80072" y="226314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12.289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239" y="226314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368,6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8216" y="226314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11.190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9383" y="226314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292,7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5640" y="257810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75640" y="2578100"/>
            <a:ext cx="4285488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1928" y="257810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1.228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3095" y="257810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36,8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80072" y="257810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1.068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1239" y="257810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32,0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48216" y="257810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9383" y="257810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24,0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5640" y="289306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675640" y="2893060"/>
            <a:ext cx="4285488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11928" y="289306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375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3095" y="289306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11,3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0072" y="289306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11239" y="289306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10,3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48216" y="289306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79383" y="289306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7,2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5640" y="325882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2640" y="3258820"/>
            <a:ext cx="4209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11928" y="325882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14.522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43095" y="325882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435,7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80072" y="325882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13.700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1239" y="325882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410,9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48216" y="325882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12.346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79383" y="325882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323,9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3751580"/>
            <a:ext cx="11094720" cy="2331720"/>
          </a:xfrm>
          <a:prstGeom prst="roundRect">
            <a:avLst>
              <a:gd name="adj" fmla="val 234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48640" y="37515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8640" y="39801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48640" y="3751580"/>
            <a:ext cx="11094720" cy="2331720"/>
          </a:xfrm>
          <a:prstGeom prst="roundRect">
            <a:avLst>
              <a:gd name="adj" fmla="val 2342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75640" y="38341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3891280"/>
            <a:ext cx="177800" cy="1778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56640" y="37515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 (RR)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5640" y="43103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11928" y="452120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3095" y="452120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80072" y="452120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11239" y="452120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48216" y="452120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79383" y="452120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11928" y="431038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062728" y="450850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TextBox 82"/>
          <p:cNvSpPr txBox="1"/>
          <p:nvPr/>
        </p:nvSpPr>
        <p:spPr>
          <a:xfrm>
            <a:off x="7180072" y="431038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REKENING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230872" y="450850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5" name="TextBox 84"/>
          <p:cNvSpPr txBox="1"/>
          <p:nvPr/>
        </p:nvSpPr>
        <p:spPr>
          <a:xfrm>
            <a:off x="9348216" y="431038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BELANJA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9399016" y="450850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87" name="Connector 86"/>
          <p:cNvCxnSpPr/>
          <p:nvPr/>
        </p:nvCxnSpPr>
        <p:spPr>
          <a:xfrm>
            <a:off x="675640" y="47320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88" name="TextBox 87"/>
          <p:cNvSpPr txBox="1"/>
          <p:nvPr/>
        </p:nvSpPr>
        <p:spPr>
          <a:xfrm>
            <a:off x="675640" y="4732020"/>
            <a:ext cx="4285488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11928" y="473202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17.742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43095" y="473202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266,1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80072" y="473202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16.879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11239" y="473202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253,2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48216" y="473202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15.539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479383" y="473202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201,6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75640" y="504698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6" name="TextBox 95"/>
          <p:cNvSpPr txBox="1"/>
          <p:nvPr/>
        </p:nvSpPr>
        <p:spPr>
          <a:xfrm>
            <a:off x="675640" y="5046980"/>
            <a:ext cx="4285488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11928" y="504698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2.332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43095" y="504698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35,0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80072" y="504698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1.998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1239" y="504698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29,9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348216" y="504698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1.740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79383" y="504698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23,1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75640" y="536194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4" name="TextBox 103"/>
          <p:cNvSpPr txBox="1"/>
          <p:nvPr/>
        </p:nvSpPr>
        <p:spPr>
          <a:xfrm>
            <a:off x="675640" y="5361940"/>
            <a:ext cx="4285488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011928" y="536194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811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43095" y="536194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12,2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180072" y="536194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11239" y="536194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8,4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48216" y="5361940"/>
            <a:ext cx="102956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441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479383" y="5361940"/>
            <a:ext cx="935377" cy="3149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75640" y="57277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2640" y="5727700"/>
            <a:ext cx="4209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11928" y="572770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20.885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43095" y="572770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313,3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180072" y="572770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19.439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11239" y="572770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291,6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348216" y="572770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17.720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79383" y="572770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230,3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realisasi berdasarkan laporan pemda, sebagian belum didukung laporan pertanggungjawaban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Aceh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79,5%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17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7766304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7766304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Aceh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6152" y="1541780"/>
            <a:ext cx="57007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7821" y="1752600"/>
            <a:ext cx="80189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1316" y="1752600"/>
            <a:ext cx="90602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8940" y="1752600"/>
            <a:ext cx="6866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7191" y="1541780"/>
            <a:ext cx="759153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7821" y="1541780"/>
            <a:ext cx="259776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78621" y="1739900"/>
            <a:ext cx="249617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" name="Oval 30"/>
          <p:cNvSpPr/>
          <p:nvPr/>
        </p:nvSpPr>
        <p:spPr>
          <a:xfrm>
            <a:off x="675640" y="1982470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1230" y="1963420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6152" y="1963420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7821" y="1963420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1316" y="1963420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8940" y="1963420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8465" y="1982470"/>
            <a:ext cx="616605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15886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75640" y="2177916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230" y="2158866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56152" y="2158866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7821" y="2158866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1316" y="2158866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8940" y="2158866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31982" y="2177916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22,9%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5640" y="235431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675640" y="2373363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1230" y="2354313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6152" y="2354313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27821" y="2354313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1316" y="2354313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8940" y="2354313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31982" y="2373363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33,8%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54975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2568809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1230" y="2549759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56152" y="2549759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5.141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27821" y="2549759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112,2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1316" y="2549759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109,1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8940" y="2549759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87,5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31982" y="2568809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80,2%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274520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675640" y="2764255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1230" y="2745205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56152" y="2745205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4.058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27821" y="2745205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31316" y="2745205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8940" y="2745205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65,7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31982" y="2764255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75,8%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294065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675640" y="2959702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1230" y="2940652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56152" y="2940652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4.400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27821" y="2940652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31316" y="2940652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38940" y="2940652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69,5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431982" y="2959702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74,2%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75640" y="313609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9" name="Oval 78"/>
          <p:cNvSpPr/>
          <p:nvPr/>
        </p:nvSpPr>
        <p:spPr>
          <a:xfrm>
            <a:off x="675640" y="3155148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1230" y="3136098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56152" y="3136098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1.680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27821" y="3136098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31316" y="3136098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8940" y="3136098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31982" y="3155148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75,2%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75640" y="333154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7" name="Oval 86"/>
          <p:cNvSpPr/>
          <p:nvPr/>
        </p:nvSpPr>
        <p:spPr>
          <a:xfrm>
            <a:off x="675640" y="3350594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1230" y="3331544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56152" y="3331544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27821" y="3331544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31316" y="3331544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38940" y="3331544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31982" y="3350594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60,0%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75640" y="352699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675640" y="3546041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1230" y="3526991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56152" y="3526991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5.318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27821" y="3526991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118,9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1316" y="3526991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114,4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38940" y="3526991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111,8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431982" y="3546041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97,8%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75640" y="372243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3" name="Oval 102"/>
          <p:cNvSpPr/>
          <p:nvPr/>
        </p:nvSpPr>
        <p:spPr>
          <a:xfrm>
            <a:off x="675640" y="3741487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1230" y="3722437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56152" y="3722437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471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27821" y="3722437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31316" y="3722437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38940" y="3722437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7,0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31982" y="3741487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77,5%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391788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75640" y="3936933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1230" y="3917883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956152" y="3917883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627821" y="3917883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31316" y="3917883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38940" y="3917883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431982" y="3936933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85,2%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75640" y="411332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9" name="Oval 118"/>
          <p:cNvSpPr/>
          <p:nvPr/>
        </p:nvSpPr>
        <p:spPr>
          <a:xfrm>
            <a:off x="675640" y="4132379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1230" y="4113329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6152" y="4113329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4.347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27821" y="4113329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531316" y="4113329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38940" y="4113329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79,3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431982" y="4132379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92,2%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75640" y="430877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7" name="Oval 126"/>
          <p:cNvSpPr/>
          <p:nvPr/>
        </p:nvSpPr>
        <p:spPr>
          <a:xfrm>
            <a:off x="675640" y="4327826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51230" y="4308776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956152" y="4308776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27821" y="4308776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531316" y="4308776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38940" y="4308776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398465" y="4327826"/>
            <a:ext cx="616605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75640" y="450422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5" name="Oval 134"/>
          <p:cNvSpPr/>
          <p:nvPr/>
        </p:nvSpPr>
        <p:spPr>
          <a:xfrm>
            <a:off x="675640" y="4523272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51230" y="4504222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956152" y="4504222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1.326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27821" y="4504222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28,1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531316" y="4504222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24,9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538940" y="4504222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9,2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431982" y="4523272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36,8%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675640" y="469966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3" name="Oval 142"/>
          <p:cNvSpPr/>
          <p:nvPr/>
        </p:nvSpPr>
        <p:spPr>
          <a:xfrm>
            <a:off x="675640" y="4718718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51230" y="4699668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956152" y="4699668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1.201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27821" y="4699668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35,7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31316" y="4699668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538940" y="4699668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16,2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431982" y="4718718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50,4%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75640" y="489511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1" name="Oval 150"/>
          <p:cNvSpPr/>
          <p:nvPr/>
        </p:nvSpPr>
        <p:spPr>
          <a:xfrm>
            <a:off x="675640" y="4914165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51230" y="4895115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956152" y="4895115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1.112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27821" y="4895115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531316" y="4895115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38940" y="4895115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11,0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431982" y="4914165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62,8%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675640" y="509056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9" name="Oval 158"/>
          <p:cNvSpPr/>
          <p:nvPr/>
        </p:nvSpPr>
        <p:spPr>
          <a:xfrm>
            <a:off x="675640" y="5109611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51230" y="5090561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956152" y="5090561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627821" y="5090561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531316" y="5090561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38940" y="5090561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431982" y="5109611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93,1%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675640" y="528600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7" name="Oval 166"/>
          <p:cNvSpPr/>
          <p:nvPr/>
        </p:nvSpPr>
        <p:spPr>
          <a:xfrm>
            <a:off x="675640" y="5305057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1230" y="5286007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956152" y="5286007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27821" y="5286007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31316" y="5286007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538940" y="5286007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431982" y="5305057"/>
            <a:ext cx="549570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90,3%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675640" y="548145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5" name="Oval 174"/>
          <p:cNvSpPr/>
          <p:nvPr/>
        </p:nvSpPr>
        <p:spPr>
          <a:xfrm>
            <a:off x="675640" y="5500504"/>
            <a:ext cx="157346" cy="15734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51230" y="5481454"/>
            <a:ext cx="2954122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956152" y="5481454"/>
            <a:ext cx="570070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627821" y="5481454"/>
            <a:ext cx="801895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531316" y="5481454"/>
            <a:ext cx="906024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38940" y="5481454"/>
            <a:ext cx="686651" cy="195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398465" y="5500504"/>
            <a:ext cx="616605" cy="157346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675640" y="57277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30" y="57277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956152" y="5727700"/>
            <a:ext cx="57007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30.661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27821" y="5727700"/>
            <a:ext cx="80189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653,7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531316" y="5727700"/>
            <a:ext cx="90602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621,8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538940" y="5727700"/>
            <a:ext cx="68665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494,3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8452104" y="982980"/>
            <a:ext cx="3191256" cy="51003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8452104" y="982980"/>
            <a:ext cx="3191256" cy="51003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3" name="Picture 192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254" y="1122680"/>
            <a:ext cx="177800" cy="177800"/>
          </a:xfrm>
          <a:prstGeom prst="rect">
            <a:avLst/>
          </a:prstGeom>
        </p:spPr>
      </p:pic>
      <p:sp>
        <p:nvSpPr>
          <p:cNvPr id="194" name="TextBox 193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95" name="Oval 194"/>
          <p:cNvSpPr/>
          <p:nvPr/>
        </p:nvSpPr>
        <p:spPr>
          <a:xfrm>
            <a:off x="8579104" y="18219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6" name="Picture 195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1897888"/>
            <a:ext cx="178308" cy="178308"/>
          </a:xfrm>
          <a:prstGeom prst="rect">
            <a:avLst/>
          </a:prstGeom>
        </p:spPr>
      </p:pic>
      <p:sp>
        <p:nvSpPr>
          <p:cNvPr id="197" name="TextBox 196"/>
          <p:cNvSpPr txBox="1"/>
          <p:nvPr/>
        </p:nvSpPr>
        <p:spPr>
          <a:xfrm>
            <a:off x="9023604" y="1536192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Aceh Singkil, Aceh Tamiang, Aceh Utara, Pidie Jaya.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8579104" y="2432304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99" name="Oval 198"/>
          <p:cNvSpPr/>
          <p:nvPr/>
        </p:nvSpPr>
        <p:spPr>
          <a:xfrm>
            <a:off x="8579104" y="27124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0" name="Picture 199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050" y="2788412"/>
            <a:ext cx="178308" cy="178308"/>
          </a:xfrm>
          <a:prstGeom prst="rect">
            <a:avLst/>
          </a:prstGeom>
        </p:spPr>
      </p:pic>
      <p:sp>
        <p:nvSpPr>
          <p:cNvPr id="201" name="TextBox 200"/>
          <p:cNvSpPr txBox="1"/>
          <p:nvPr/>
        </p:nvSpPr>
        <p:spPr>
          <a:xfrm>
            <a:off x="9023604" y="2426716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Sepuluh kab/kota, antara lain Aceh Selatan, Aceh Timur, Bireuen, Pidie.</a:t>
            </a:r>
          </a:p>
        </p:txBody>
      </p:sp>
      <p:cxnSp>
        <p:nvCxnSpPr>
          <p:cNvPr id="202" name="Connector 201"/>
          <p:cNvCxnSpPr/>
          <p:nvPr/>
        </p:nvCxnSpPr>
        <p:spPr>
          <a:xfrm>
            <a:off x="8579104" y="3322828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203" name="Oval 202"/>
          <p:cNvSpPr/>
          <p:nvPr/>
        </p:nvSpPr>
        <p:spPr>
          <a:xfrm>
            <a:off x="8579104" y="360299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4" name="Picture 203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3678936"/>
            <a:ext cx="178308" cy="17830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9023604" y="3426778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Pidie Jaya, sebagai satu-satunya kab/kota.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8579104" y="4213352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207" name="Oval 206"/>
          <p:cNvSpPr/>
          <p:nvPr/>
        </p:nvSpPr>
        <p:spPr>
          <a:xfrm>
            <a:off x="8579104" y="449351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8" name="Picture 207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050" y="4569460"/>
            <a:ext cx="178308" cy="178308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9023604" y="4317302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Aceh Tamiang (SK 5), Aceh Tengah, Bireuen.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8579104" y="5103876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211" name="Oval 210"/>
          <p:cNvSpPr/>
          <p:nvPr/>
        </p:nvSpPr>
        <p:spPr>
          <a:xfrm>
            <a:off x="8579104" y="538403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2" name="Picture 211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5459984"/>
            <a:ext cx="178308" cy="178308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9023604" y="5098288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SK tahap II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Aceh Tamiang SK 2–4, Aceh Timur SK 2 dan 3, Aceh Utara SK 2–5.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realisasi berdasarkan laporan pemda, sebagian belum didukung laporan pertanggungjawaban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Utara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76,1%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14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7766304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7766304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Utara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6152" y="1541780"/>
            <a:ext cx="51644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4194" y="1752600"/>
            <a:ext cx="8153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095" y="1752600"/>
            <a:ext cx="9194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2126" y="1752600"/>
            <a:ext cx="70005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3784" y="1541780"/>
            <a:ext cx="77256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4194" y="1541780"/>
            <a:ext cx="26379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24994" y="1739900"/>
            <a:ext cx="253639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" name="Oval 30"/>
          <p:cNvSpPr/>
          <p:nvPr/>
        </p:nvSpPr>
        <p:spPr>
          <a:xfrm>
            <a:off x="675640" y="200904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1230" y="1963420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Batu Bara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6152" y="1963420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4194" y="1963420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1095" y="1963420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2126" y="1963420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1761" y="1990888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22866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75640" y="227429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230" y="2228669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56152" y="2228669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4194" y="2228669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91095" y="2228669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2126" y="2228669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25279" y="2256137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99,1%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5640" y="24939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675640" y="253954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1230" y="2493917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6152" y="2493917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4194" y="2493917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91095" y="2493917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2126" y="2493917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91761" y="2521385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75916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280479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1230" y="2759166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56152" y="2759166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4194" y="2759166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095" y="2759166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2126" y="2759166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1761" y="2786634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302441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675640" y="307004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1230" y="3024414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56152" y="3024414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4194" y="3024414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91095" y="3024414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12126" y="3024414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25279" y="305188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21,9%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328966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675640" y="333529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1230" y="3289663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56152" y="3289663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4194" y="3289663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20,0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91095" y="3289663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12126" y="3289663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14,7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425279" y="3317131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74,1%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75640" y="355491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9" name="Oval 78"/>
          <p:cNvSpPr/>
          <p:nvPr/>
        </p:nvSpPr>
        <p:spPr>
          <a:xfrm>
            <a:off x="675640" y="360054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1230" y="3554911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56152" y="3554911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4194" y="3554911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91095" y="3554911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2126" y="3554911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25279" y="3582380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20,1%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75640" y="3820160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7" name="Oval 86"/>
          <p:cNvSpPr/>
          <p:nvPr/>
        </p:nvSpPr>
        <p:spPr>
          <a:xfrm>
            <a:off x="675640" y="386578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1230" y="3820160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56152" y="3820160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4194" y="3820160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91095" y="3820160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12126" y="3820160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25279" y="384762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94,5%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75640" y="408540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675640" y="413103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1230" y="4085409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56152" y="4085409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4194" y="4085409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91095" y="4085409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12126" y="4085409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425279" y="4112877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19,6%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75640" y="435065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3" name="Oval 102"/>
          <p:cNvSpPr/>
          <p:nvPr/>
        </p:nvSpPr>
        <p:spPr>
          <a:xfrm>
            <a:off x="675640" y="439628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1230" y="4350657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56152" y="4350657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4194" y="4350657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91095" y="4350657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12126" y="4350657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391761" y="4378125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461590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75640" y="466153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1230" y="4615906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956152" y="4615906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74194" y="4615906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91095" y="4615906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12126" y="4615906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91761" y="4643374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75640" y="488115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9" name="Oval 118"/>
          <p:cNvSpPr/>
          <p:nvPr/>
        </p:nvSpPr>
        <p:spPr>
          <a:xfrm>
            <a:off x="675640" y="49267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1230" y="4881154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6152" y="4881154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74194" y="4881154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91095" y="4881154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12126" y="4881154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391761" y="4908623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75640" y="51464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7" name="Oval 126"/>
          <p:cNvSpPr/>
          <p:nvPr/>
        </p:nvSpPr>
        <p:spPr>
          <a:xfrm>
            <a:off x="675640" y="519203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51230" y="5146403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956152" y="5146403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1.591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4194" y="5146403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31,3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91095" y="5146403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12126" y="5146403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19,7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425279" y="5173871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76,4%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75640" y="541165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5" name="Oval 134"/>
          <p:cNvSpPr/>
          <p:nvPr/>
        </p:nvSpPr>
        <p:spPr>
          <a:xfrm>
            <a:off x="675640" y="545728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51230" y="5411651"/>
            <a:ext cx="295412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956152" y="5411651"/>
            <a:ext cx="51644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4194" y="5411651"/>
            <a:ext cx="815302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91095" y="5411651"/>
            <a:ext cx="919431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512126" y="5411651"/>
            <a:ext cx="700057" cy="2652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425279" y="5439120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86,3%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75640" y="57277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51230" y="57277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956152" y="5727700"/>
            <a:ext cx="51644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3.560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574194" y="5727700"/>
            <a:ext cx="8153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71,8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491095" y="5727700"/>
            <a:ext cx="91943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61,9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512126" y="5727700"/>
            <a:ext cx="70005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47,1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452104" y="982980"/>
            <a:ext cx="3191256" cy="51003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8452104" y="982980"/>
            <a:ext cx="3191256" cy="51003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3" name="Picture 152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254" y="1122680"/>
            <a:ext cx="177800" cy="177800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55" name="Oval 154"/>
          <p:cNvSpPr/>
          <p:nvPr/>
        </p:nvSpPr>
        <p:spPr>
          <a:xfrm>
            <a:off x="8579104" y="185813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6" name="Picture 155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5050" y="1934083"/>
            <a:ext cx="178308" cy="178308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9023604" y="168192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</a:t>
            </a:r>
            <a:br/>
            <a:r>
              <a:rPr sz="1380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380" b="1" lang="id-ID">
                <a:solidFill>
                  <a:srgbClr val="1A1A1A"/>
                </a:solidFill>
                <a:latin typeface="Roboto"/>
              </a:rPr>
              <a:t>76,1%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8579104" y="2504694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9" name="Oval 158"/>
          <p:cNvSpPr/>
          <p:nvPr/>
        </p:nvSpPr>
        <p:spPr>
          <a:xfrm>
            <a:off x="8579104" y="271151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0" name="Picture 159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2787460"/>
            <a:ext cx="178308" cy="178308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9023604" y="2644839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8579104" y="3248533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3" name="Oval 162"/>
          <p:cNvSpPr/>
          <p:nvPr/>
        </p:nvSpPr>
        <p:spPr>
          <a:xfrm>
            <a:off x="8579104" y="36744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4" name="Picture 163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050" y="3750374"/>
            <a:ext cx="178308" cy="17830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023604" y="3388678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Tiga kab/kota: Humbang Hasundutan, Tapanuli Selatan, Tapanuli Utara.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8579104" y="4430522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7" name="Oval 166"/>
          <p:cNvSpPr/>
          <p:nvPr/>
        </p:nvSpPr>
        <p:spPr>
          <a:xfrm>
            <a:off x="8579104" y="46373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8" name="Picture 167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4713288"/>
            <a:ext cx="178308" cy="17830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9023604" y="4570667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Belum ada kab/kota.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8579104" y="5174361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1" name="Oval 170"/>
          <p:cNvSpPr/>
          <p:nvPr/>
        </p:nvSpPr>
        <p:spPr>
          <a:xfrm>
            <a:off x="8579104" y="538118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2" name="Picture 171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050" y="5457127"/>
            <a:ext cx="178308" cy="17830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9023604" y="5314506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realisasi berdasarkan laporan pemda, sebagian belum didukung laporan pertanggungjawaban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Barat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68,1%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7766304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7766304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Barat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6152" y="1541780"/>
            <a:ext cx="51644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4194" y="1752600"/>
            <a:ext cx="8153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095" y="1752600"/>
            <a:ext cx="9194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2126" y="1752600"/>
            <a:ext cx="70005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3784" y="1541780"/>
            <a:ext cx="77256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4194" y="1541780"/>
            <a:ext cx="26379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24994" y="1739900"/>
            <a:ext cx="253639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" name="Oval 30"/>
          <p:cNvSpPr/>
          <p:nvPr/>
        </p:nvSpPr>
        <p:spPr>
          <a:xfrm>
            <a:off x="675640" y="204522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1230" y="1963420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6152" y="1963420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4194" y="1963420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1095" y="1963420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2126" y="1963420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5279" y="2027059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30100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75640" y="238280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230" y="2301009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56152" y="2301009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4194" y="2301009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91095" y="2301009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2126" y="2301009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25279" y="236464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95,5%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5640" y="263859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675640" y="272039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1230" y="2638598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6152" y="2638598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4194" y="2638598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91095" y="2638598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2126" y="2638598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25279" y="2702237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97618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305798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1230" y="2976187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56152" y="2976187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4194" y="2976187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095" y="2976187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2126" y="2976187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25279" y="303982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97,7%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75640" y="331377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675640" y="339557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1230" y="3313776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56152" y="3313776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4194" y="3313776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91095" y="3313776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12126" y="3313776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91761" y="3377415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365136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675640" y="373316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1230" y="3651365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56152" y="3651365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4194" y="3651365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91095" y="3651365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12126" y="3651365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425279" y="3715004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98,0%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75640" y="398895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9" name="Oval 78"/>
          <p:cNvSpPr/>
          <p:nvPr/>
        </p:nvSpPr>
        <p:spPr>
          <a:xfrm>
            <a:off x="675640" y="407075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1230" y="3988955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56152" y="3988955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4194" y="3988955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91095" y="3988955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2126" y="3988955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1761" y="4052593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75640" y="432654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7" name="Oval 86"/>
          <p:cNvSpPr/>
          <p:nvPr/>
        </p:nvSpPr>
        <p:spPr>
          <a:xfrm>
            <a:off x="675640" y="440834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1230" y="4326544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56152" y="4326544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4194" y="4326544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91095" y="4326544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12126" y="4326544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2,6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25279" y="439018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92,1%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75640" y="466413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675640" y="474593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1230" y="4664133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56152" y="4664133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4194" y="4664133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91095" y="4664133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12126" y="4664133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425279" y="4727771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20,4%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75640" y="500172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3" name="Oval 102"/>
          <p:cNvSpPr/>
          <p:nvPr/>
        </p:nvSpPr>
        <p:spPr>
          <a:xfrm>
            <a:off x="675640" y="508352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1230" y="5001722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56152" y="5001722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4194" y="5001722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91095" y="5001722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12126" y="5001722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391761" y="506536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533931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75640" y="542111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1230" y="5339311"/>
            <a:ext cx="295412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956152" y="5339311"/>
            <a:ext cx="51644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74194" y="5339311"/>
            <a:ext cx="815302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91095" y="5339311"/>
            <a:ext cx="919431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12126" y="5339311"/>
            <a:ext cx="700057" cy="337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425279" y="5402949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68,6%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5640" y="57277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51230" y="57277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56152" y="5727700"/>
            <a:ext cx="51644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1.186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74194" y="5727700"/>
            <a:ext cx="8153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23,4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91095" y="5727700"/>
            <a:ext cx="91943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18,7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512126" y="5727700"/>
            <a:ext cx="70005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12,7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452104" y="982980"/>
            <a:ext cx="3191256" cy="51003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8452104" y="982980"/>
            <a:ext cx="3191256" cy="51003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9" name="Picture 128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254" y="1122680"/>
            <a:ext cx="177800" cy="177800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31" name="Oval 130"/>
          <p:cNvSpPr/>
          <p:nvPr/>
        </p:nvSpPr>
        <p:spPr>
          <a:xfrm>
            <a:off x="8579104" y="181432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2" name="Picture 131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5050" y="1890268"/>
            <a:ext cx="178308" cy="178308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9023604" y="1638110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</a:t>
            </a:r>
            <a:br/>
            <a:r>
              <a:rPr sz="1380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380" b="1" lang="id-ID">
                <a:solidFill>
                  <a:srgbClr val="1A1A1A"/>
                </a:solidFill>
                <a:latin typeface="Roboto"/>
              </a:rPr>
              <a:t>68,1%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579104" y="2417064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5" name="Oval 134"/>
          <p:cNvSpPr/>
          <p:nvPr/>
        </p:nvSpPr>
        <p:spPr>
          <a:xfrm>
            <a:off x="8579104" y="268960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5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2765552"/>
            <a:ext cx="178308" cy="178308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9023604" y="251339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Tiga kab/kota: Agam, Pasaman Barat, Padang.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579104" y="3292348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9" name="Oval 138"/>
          <p:cNvSpPr/>
          <p:nvPr/>
        </p:nvSpPr>
        <p:spPr>
          <a:xfrm>
            <a:off x="8579104" y="36744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0" name="Picture 139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050" y="3750374"/>
            <a:ext cx="178308" cy="178308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9023604" y="3388678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Padang Panjang, Solok, Lima Puluh Kota, Tanah Datar.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8579104" y="4386707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3" name="Oval 142"/>
          <p:cNvSpPr/>
          <p:nvPr/>
        </p:nvSpPr>
        <p:spPr>
          <a:xfrm>
            <a:off x="8579104" y="45497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4" name="Picture 143" descr="regulasi-FFFFFF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050" y="4625658"/>
            <a:ext cx="178308" cy="178308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9023604" y="4483037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Dua kab/kota: Agam, Padang.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579104" y="5042916"/>
            <a:ext cx="293725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7" name="Oval 146"/>
          <p:cNvSpPr/>
          <p:nvPr/>
        </p:nvSpPr>
        <p:spPr>
          <a:xfrm>
            <a:off x="8579104" y="531545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8" name="Picture 147" descr="kalender-FFFFFF-a840c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050" y="5391404"/>
            <a:ext cx="178308" cy="178308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9023604" y="5139246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Dua kab/kota: Solok, Tanah Datar.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realisasi berdasarkan laporan pemda, sebagian belum didukung laporan pertanggungjawaban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D9600B"/>
                </a:solidFill>
                <a:latin typeface="Roboto"/>
              </a:rPr>
              <a:t>26 kabupaten/kota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sedang memproses usulan tahap berikutnya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1037590"/>
            <a:ext cx="853090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</a:t>
            </a:r>
          </a:p>
        </p:txBody>
      </p:sp>
      <p:pic>
        <p:nvPicPr>
          <p:cNvPr id="17" name="Picture 16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072337"/>
            <a:ext cx="113386" cy="11338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5836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758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45923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17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17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0136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1058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459230"/>
            <a:ext cx="177800" cy="177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81317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17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935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39078" y="1037590"/>
            <a:ext cx="893926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III</a:t>
            </a:r>
          </a:p>
        </p:txBody>
      </p:sp>
      <p:pic>
        <p:nvPicPr>
          <p:cNvPr id="30" name="Picture 29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518" y="1072337"/>
            <a:ext cx="113386" cy="113386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3907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4829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498" y="1459230"/>
            <a:ext cx="177800" cy="177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088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088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207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09129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7495" y="1459230"/>
            <a:ext cx="177800" cy="177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49388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388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2047240"/>
            <a:ext cx="7322515" cy="4036060"/>
          </a:xfrm>
          <a:prstGeom prst="roundRect">
            <a:avLst>
              <a:gd name="adj" fmla="val 135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2047240"/>
            <a:ext cx="732251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2275840"/>
            <a:ext cx="732251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8640" y="2047240"/>
            <a:ext cx="7322515" cy="4036060"/>
          </a:xfrm>
          <a:prstGeom prst="roundRect">
            <a:avLst>
              <a:gd name="adj" fmla="val 1353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5640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2186940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56640" y="2047240"/>
            <a:ext cx="656051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Status Usulan per Provinsi, Kab/Kota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640" y="2606040"/>
            <a:ext cx="277660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03046" y="2606040"/>
            <a:ext cx="67367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PENERIMA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78322" y="2606040"/>
            <a:ext cx="100087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 LANJUT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0799" y="2816860"/>
            <a:ext cx="43837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REVIU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20770" y="2816860"/>
            <a:ext cx="54010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2477" y="2816860"/>
            <a:ext cx="43837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REVIU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2448" y="2816860"/>
            <a:ext cx="54010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80799" y="2606040"/>
            <a:ext cx="108007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TAHAP II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31599" y="2804160"/>
            <a:ext cx="978478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562477" y="2606040"/>
            <a:ext cx="108007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TAHAP III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613277" y="2804160"/>
            <a:ext cx="978478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59" name="Connector 58"/>
          <p:cNvCxnSpPr/>
          <p:nvPr/>
        </p:nvCxnSpPr>
        <p:spPr>
          <a:xfrm>
            <a:off x="675640" y="3027680"/>
            <a:ext cx="7068515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75640" y="3027680"/>
            <a:ext cx="2776606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03046" y="3027680"/>
            <a:ext cx="673676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78322" y="3027680"/>
            <a:ext cx="1000878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80799" y="3027680"/>
            <a:ext cx="438371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20770" y="3027680"/>
            <a:ext cx="540107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62477" y="3027680"/>
            <a:ext cx="438371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02448" y="3027680"/>
            <a:ext cx="540107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75640" y="3880477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675640" y="3880477"/>
            <a:ext cx="2776606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03046" y="3880477"/>
            <a:ext cx="673676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78322" y="3880477"/>
            <a:ext cx="1000878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0799" y="3880477"/>
            <a:ext cx="438371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20770" y="3880477"/>
            <a:ext cx="540107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62477" y="3880477"/>
            <a:ext cx="438371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02448" y="3880477"/>
            <a:ext cx="540107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75640" y="4733273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675640" y="4733273"/>
            <a:ext cx="2776606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03046" y="4733273"/>
            <a:ext cx="673676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78322" y="4733273"/>
            <a:ext cx="1000878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80799" y="4733273"/>
            <a:ext cx="438371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20770" y="4733273"/>
            <a:ext cx="540107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62477" y="4733273"/>
            <a:ext cx="438371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2448" y="4733273"/>
            <a:ext cx="540107" cy="8527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75640" y="5636870"/>
            <a:ext cx="7068515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640" y="5636870"/>
            <a:ext cx="2700406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03046" y="5636870"/>
            <a:ext cx="673676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78322" y="5636870"/>
            <a:ext cx="1000878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80799" y="5636870"/>
            <a:ext cx="43837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20770" y="5636870"/>
            <a:ext cx="54010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62477" y="5636870"/>
            <a:ext cx="43837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2448" y="5636870"/>
            <a:ext cx="54010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008315" y="2047240"/>
            <a:ext cx="3635045" cy="4036060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008315" y="2047240"/>
            <a:ext cx="363504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08315" y="2275840"/>
            <a:ext cx="363504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8008315" y="2047240"/>
            <a:ext cx="3635045" cy="4036060"/>
          </a:xfrm>
          <a:prstGeom prst="roundRect">
            <a:avLst>
              <a:gd name="adj" fmla="val 1502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135315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wilayah-FFFFFF-37dca1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2465" y="2186940"/>
            <a:ext cx="177800" cy="1778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516315" y="2047240"/>
            <a:ext cx="300004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Lanjut per Provinsi</a:t>
            </a:r>
          </a:p>
        </p:txBody>
      </p:sp>
      <p:sp>
        <p:nvSpPr>
          <p:cNvPr id="98" name="Oval 97"/>
          <p:cNvSpPr/>
          <p:nvPr/>
        </p:nvSpPr>
        <p:spPr>
          <a:xfrm>
            <a:off x="8135315" y="286448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9" name="Picture 98" descr="wilayah-FFFFFF-37dca1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261" y="2940431"/>
            <a:ext cx="178308" cy="17830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8579815" y="2622550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Aceh</a:t>
            </a:r>
            <a:br/>
            <a:r>
              <a:rPr sz="1655" b="1" lang="id-ID">
                <a:solidFill>
                  <a:srgbClr val="1A1A1A"/>
                </a:solidFill>
                <a:latin typeface="Roboto"/>
              </a:rPr>
              <a:t>14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17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8135315" y="3453130"/>
            <a:ext cx="338104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8135315" y="371157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wilayah-FFFFFF-37dca1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261" y="3787521"/>
            <a:ext cx="178308" cy="1783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579815" y="3469640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Sumatera Utara</a:t>
            </a:r>
            <a:br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135315" y="4300220"/>
            <a:ext cx="338104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8135315" y="455866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7" name="Picture 106" descr="wilayah-FFFFFF-37dca1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261" y="4634611"/>
            <a:ext cx="178308" cy="17830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579815" y="4316730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Sumatera Barat</a:t>
            </a:r>
            <a:br/>
            <a:r>
              <a:rPr sz="1655" b="1" lang="id-ID">
                <a:solidFill>
                  <a:srgbClr val="1A1A1A"/>
                </a:solidFill>
                <a:latin typeface="Roboto"/>
              </a:rPr>
              <a:t>8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8135315" y="5147310"/>
            <a:ext cx="338104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0" name="Oval 109"/>
          <p:cNvSpPr/>
          <p:nvPr/>
        </p:nvSpPr>
        <p:spPr>
          <a:xfrm>
            <a:off x="8135315" y="540575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1" name="Picture 110" descr="data-FFFFFF-608a1e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261" y="5481701"/>
            <a:ext cx="178308" cy="17830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579815" y="5163820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Tiga provinsi</a:t>
            </a:r>
            <a:br/>
            <a:r>
              <a:rPr sz="1655" b="1" lang="id-ID">
                <a:solidFill>
                  <a:srgbClr val="1A1A1A"/>
                </a:solidFill>
                <a:latin typeface="Roboto"/>
              </a:rPr>
              <a:t>26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Hunian Tetap dan Stimulan Rumah Rusak Berat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813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2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8813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32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4114800" y="30099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30099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813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32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32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32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Hunian tetap </a:t>
            </a:r>
            <a:r>
              <a:rPr sz="2200" b="1" i="1" lang="id-ID">
                <a:solidFill>
                  <a:srgbClr val="1A1A1A"/>
                </a:solidFill>
                <a:latin typeface="Roboto"/>
              </a:rPr>
              <a:t>in situ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dan relokasi mandiri: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850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selesai dan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868 unit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sedang dibangun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1337310"/>
            <a:ext cx="79908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USULAN</a:t>
            </a:r>
          </a:p>
        </p:txBody>
      </p:sp>
      <p:pic>
        <p:nvPicPr>
          <p:cNvPr id="17" name="Picture 16" descr="data-FFFFFF-608a1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-051C2C-608a1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38.651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huntap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regulasi-051C2C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30.430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sudah direviu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39078" y="1337310"/>
            <a:ext cx="1217133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pic>
        <p:nvPicPr>
          <p:cNvPr id="30" name="Picture 29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kalender-051C2C-a840cf9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rumah-051C2C-320df6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2346960"/>
            <a:ext cx="6102096" cy="3736340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8640" y="2346960"/>
            <a:ext cx="610209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2575560"/>
            <a:ext cx="610209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8640" y="2346960"/>
            <a:ext cx="6102096" cy="3736340"/>
          </a:xfrm>
          <a:prstGeom prst="roundRect">
            <a:avLst>
              <a:gd name="adj" fmla="val 146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790" y="2486660"/>
            <a:ext cx="177800" cy="1778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56640" y="2346960"/>
            <a:ext cx="534009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Provinsi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5640" y="2905760"/>
            <a:ext cx="163119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57632" y="2905760"/>
            <a:ext cx="5352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4454" y="3116580"/>
            <a:ext cx="53522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31276" y="3116580"/>
            <a:ext cx="43802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70898" y="3116580"/>
            <a:ext cx="41963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134" y="3116580"/>
            <a:ext cx="43881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2552" y="2905760"/>
            <a:ext cx="118958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 DARI USULAN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4454" y="2905760"/>
            <a:ext cx="10748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045254" y="3103880"/>
            <a:ext cx="9732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170898" y="2905760"/>
            <a:ext cx="96005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21698" y="3103880"/>
            <a:ext cx="85845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61" name="Connector 60"/>
          <p:cNvCxnSpPr/>
          <p:nvPr/>
        </p:nvCxnSpPr>
        <p:spPr>
          <a:xfrm>
            <a:off x="675640" y="3327400"/>
            <a:ext cx="5848096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75640" y="3327400"/>
            <a:ext cx="163119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57632" y="3327400"/>
            <a:ext cx="5352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33.978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94454" y="3327400"/>
            <a:ext cx="5352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26.504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31276" y="3327400"/>
            <a:ext cx="4380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7.474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70898" y="3327400"/>
            <a:ext cx="419636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92134" y="3327400"/>
            <a:ext cx="438818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824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7506" y="3560132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2,4%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75640" y="4097816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75640" y="4097816"/>
            <a:ext cx="163119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7632" y="4097816"/>
            <a:ext cx="5352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2.296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4454" y="4097816"/>
            <a:ext cx="5352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1.848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31276" y="4097816"/>
            <a:ext cx="4380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448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0898" y="4097816"/>
            <a:ext cx="419636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92134" y="4097816"/>
            <a:ext cx="438818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477506" y="4330548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0,5%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75640" y="4868232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675640" y="4868232"/>
            <a:ext cx="163119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57632" y="4868232"/>
            <a:ext cx="5352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2.377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94454" y="4868232"/>
            <a:ext cx="5352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2.078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31276" y="4868232"/>
            <a:ext cx="438022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70898" y="4868232"/>
            <a:ext cx="419636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92134" y="4868232"/>
            <a:ext cx="438818" cy="7704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477506" y="5100963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0,6%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75640" y="5689448"/>
            <a:ext cx="5848096" cy="304952"/>
          </a:xfrm>
          <a:prstGeom prst="roundRect">
            <a:avLst>
              <a:gd name="adj" fmla="val 12493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2640" y="5689448"/>
            <a:ext cx="155499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57632" y="5689448"/>
            <a:ext cx="5352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38.651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994454" y="5689448"/>
            <a:ext cx="5352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30.430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31276" y="5689448"/>
            <a:ext cx="4380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8.221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70898" y="5689448"/>
            <a:ext cx="419636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868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92134" y="5689448"/>
            <a:ext cx="438818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850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87896" y="2346960"/>
            <a:ext cx="4855464" cy="3736340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787896" y="2346960"/>
            <a:ext cx="485546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787896" y="2575560"/>
            <a:ext cx="485546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787896" y="2346960"/>
            <a:ext cx="4855464" cy="3736340"/>
          </a:xfrm>
          <a:prstGeom prst="roundRect">
            <a:avLst>
              <a:gd name="adj" fmla="val 146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914896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7" name="Picture 96" descr="peringatan-FFFFFF-6a80b71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2046" y="2486660"/>
            <a:ext cx="177800" cy="1778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295896" y="2346960"/>
            <a:ext cx="422046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Huntap</a:t>
            </a:r>
          </a:p>
        </p:txBody>
      </p:sp>
      <p:sp>
        <p:nvSpPr>
          <p:cNvPr id="99" name="Oval 98"/>
          <p:cNvSpPr/>
          <p:nvPr/>
        </p:nvSpPr>
        <p:spPr>
          <a:xfrm>
            <a:off x="6914896" y="312953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0" name="Picture 99" descr="pembiayaan-FFFFFF-5387a37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0842" y="3205480"/>
            <a:ext cx="178308" cy="17830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359396" y="2953322"/>
            <a:ext cx="4055364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Besaran bantuan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380" b="1" lang="id-ID">
                <a:solidFill>
                  <a:srgbClr val="1A1A1A"/>
                </a:solidFill>
                <a:latin typeface="Roboto"/>
              </a:rPr>
              <a:t>70 juta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per unit rumah rusak berat, sesuai Keputusan Kepala BNPB.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914896" y="3683508"/>
            <a:ext cx="460146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3" name="Oval 102"/>
          <p:cNvSpPr/>
          <p:nvPr/>
        </p:nvSpPr>
        <p:spPr>
          <a:xfrm>
            <a:off x="6914896" y="379774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data-FFFFFF-608a1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0842" y="3873691"/>
            <a:ext cx="178308" cy="17830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7359396" y="3731070"/>
            <a:ext cx="4055364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Target dapat berubah</a:t>
            </a:r>
            <a:br/>
            <a:r>
              <a:rPr sz="1380" b="1" lang="id-ID">
                <a:solidFill>
                  <a:srgbClr val="1A1A1A"/>
                </a:solidFill>
                <a:latin typeface="Roboto"/>
              </a:rPr>
              <a:t>8.221 usulan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belum selesai direviu APIP.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914896" y="4242181"/>
            <a:ext cx="460146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7" name="Oval 106"/>
          <p:cNvSpPr/>
          <p:nvPr/>
        </p:nvSpPr>
        <p:spPr>
          <a:xfrm>
            <a:off x="6914896" y="435641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7" descr="infrastruktur-FFFFFF-ba1c96e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0842" y="4432364"/>
            <a:ext cx="178308" cy="178308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359396" y="4289742"/>
            <a:ext cx="4055364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Perlambatan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Semen dan besi mahal dan langka.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914896" y="4800854"/>
            <a:ext cx="460146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914896" y="491509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kalender-FFFFFF-a840cf9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0842" y="4991036"/>
            <a:ext cx="178308" cy="17830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359396" y="4848416"/>
            <a:ext cx="4055364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Anggaran tambahan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ABT disetujui Kemenkeu 22 Oktober 2026.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6914896" y="5359527"/>
            <a:ext cx="460146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5" name="Oval 114"/>
          <p:cNvSpPr/>
          <p:nvPr/>
        </p:nvSpPr>
        <p:spPr>
          <a:xfrm>
            <a:off x="6914896" y="547376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6" name="Picture 115" descr="lembaga-FFFFFF-f44193c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0842" y="5549710"/>
            <a:ext cx="178308" cy="178308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7359396" y="5407088"/>
            <a:ext cx="4055364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80" b="1" lang="id-ID">
                <a:solidFill>
                  <a:srgbClr val="1A1A1A"/>
                </a:solidFill>
                <a:latin typeface="Roboto"/>
              </a:rPr>
              <a:t>Sinergi kelembagaan</a:t>
            </a:r>
            <a:br/>
            <a:r>
              <a:rPr sz="1380" b="0" lang="id-ID">
                <a:solidFill>
                  <a:srgbClr val="1A1A1A"/>
                </a:solidFill>
                <a:latin typeface="Roboto"/>
              </a:rPr>
              <a:t>Tim teknis pusat dan daerah terpadu.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Aceh menyumbang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824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 selesai, terbanyak di Aceh Tamiang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dan Bireuen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282700"/>
            <a:ext cx="11094720" cy="4800600"/>
          </a:xfrm>
          <a:prstGeom prst="roundRect">
            <a:avLst>
              <a:gd name="adj" fmla="val 1137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1282700"/>
            <a:ext cx="11094720" cy="4800600"/>
          </a:xfrm>
          <a:prstGeom prst="roundRect">
            <a:avLst>
              <a:gd name="adj" fmla="val 113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42240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Aceh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84150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7518" y="2052320"/>
            <a:ext cx="145445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3571" y="2052320"/>
            <a:ext cx="14496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773" y="2052320"/>
            <a:ext cx="14496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45975" y="2052320"/>
            <a:ext cx="146878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7518" y="1841500"/>
            <a:ext cx="300565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8318" y="2039620"/>
            <a:ext cx="290405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8394773" y="1841500"/>
            <a:ext cx="301998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45573" y="2039620"/>
            <a:ext cx="291838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75640" y="226314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675640" y="2282190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1230" y="2263140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7518" y="2263140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9.403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43571" y="2263140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773" y="2263140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5975" y="2263140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394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46394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75640" y="2482999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230" y="2463949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7518" y="2463949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7.816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3571" y="2463949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773" y="2463949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5975" y="2463949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266475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675640" y="2683809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1230" y="2664759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7518" y="2664759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2.747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3571" y="2664759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3.702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773" y="2664759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45975" y="2664759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5640" y="286556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675640" y="2884618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1230" y="2865568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7518" y="2865568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1.930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43571" y="2865568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94773" y="2865568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5975" y="2865568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75640" y="306637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Oval 59"/>
          <p:cNvSpPr/>
          <p:nvPr/>
        </p:nvSpPr>
        <p:spPr>
          <a:xfrm>
            <a:off x="675640" y="3085428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1230" y="3066378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7518" y="3066378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2.268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43571" y="3066378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94773" y="3066378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45975" y="3066378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326718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675640" y="3286237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1230" y="3267187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7518" y="3267187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43571" y="3267187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94773" y="3267187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248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45975" y="3267187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338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346799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Oval 73"/>
          <p:cNvSpPr/>
          <p:nvPr/>
        </p:nvSpPr>
        <p:spPr>
          <a:xfrm>
            <a:off x="675640" y="3487046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1230" y="3467996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7518" y="3467996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43571" y="3467996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463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94773" y="3467996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5975" y="3467996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366880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Oval 80"/>
          <p:cNvSpPr/>
          <p:nvPr/>
        </p:nvSpPr>
        <p:spPr>
          <a:xfrm>
            <a:off x="675640" y="3687856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1230" y="3668806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87518" y="3668806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43571" y="3668806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94773" y="3668806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45975" y="3668806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75640" y="386961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8" name="Oval 87"/>
          <p:cNvSpPr/>
          <p:nvPr/>
        </p:nvSpPr>
        <p:spPr>
          <a:xfrm>
            <a:off x="675640" y="3888665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1230" y="3869615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7518" y="3869615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43571" y="3869615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94773" y="3869615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45975" y="3869615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75640" y="407042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675640" y="4089475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1230" y="4070425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87518" y="4070425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43571" y="4070425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94773" y="4070425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945975" y="4070425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75640" y="427123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675640" y="4290284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1230" y="4271234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87518" y="4271234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3571" y="4271234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94773" y="4271234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45975" y="4271234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75640" y="447204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9" name="Oval 108"/>
          <p:cNvSpPr/>
          <p:nvPr/>
        </p:nvSpPr>
        <p:spPr>
          <a:xfrm>
            <a:off x="675640" y="4491094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1230" y="4472044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87518" y="4472044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43571" y="4472044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94773" y="4472044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45975" y="4472044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75640" y="467285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6" name="Oval 115"/>
          <p:cNvSpPr/>
          <p:nvPr/>
        </p:nvSpPr>
        <p:spPr>
          <a:xfrm>
            <a:off x="675640" y="4691903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51230" y="4672853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287518" y="4672853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43571" y="4672853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394773" y="4672853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945975" y="4672853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675640" y="487366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3" name="Oval 122"/>
          <p:cNvSpPr/>
          <p:nvPr/>
        </p:nvSpPr>
        <p:spPr>
          <a:xfrm>
            <a:off x="675640" y="4892712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51230" y="4873662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287518" y="4873662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43571" y="4873662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94773" y="4873662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945975" y="4873662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75640" y="507447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0" name="Oval 129"/>
          <p:cNvSpPr/>
          <p:nvPr/>
        </p:nvSpPr>
        <p:spPr>
          <a:xfrm>
            <a:off x="675640" y="5093522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51230" y="5074472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87518" y="5074472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43571" y="5074472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394773" y="5074472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945975" y="5074472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675640" y="527528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7" name="Oval 136"/>
          <p:cNvSpPr/>
          <p:nvPr/>
        </p:nvSpPr>
        <p:spPr>
          <a:xfrm>
            <a:off x="675640" y="5294331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51230" y="5275281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287518" y="5275281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843571" y="5275281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94773" y="5275281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945975" y="5275281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675640" y="547609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4" name="Oval 143"/>
          <p:cNvSpPr/>
          <p:nvPr/>
        </p:nvSpPr>
        <p:spPr>
          <a:xfrm>
            <a:off x="675640" y="5495141"/>
            <a:ext cx="162709" cy="1627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1230" y="5476091"/>
            <a:ext cx="4285488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287518" y="5476091"/>
            <a:ext cx="1454453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843571" y="5476091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94773" y="5476091"/>
            <a:ext cx="1449602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945975" y="5476091"/>
            <a:ext cx="1468785" cy="2008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75640" y="57277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51230" y="57277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287518" y="5727700"/>
            <a:ext cx="145445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26.504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843571" y="5727700"/>
            <a:ext cx="14496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7.474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94773" y="5727700"/>
            <a:ext cx="14496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945975" y="5727700"/>
            <a:ext cx="146878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824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Utara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Langkat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Utara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7518" y="1752600"/>
            <a:ext cx="14100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9210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5199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1188" y="1752600"/>
            <a:ext cx="148357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7518" y="1541780"/>
            <a:ext cx="297608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8318" y="1739900"/>
            <a:ext cx="287448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8365199" y="1541780"/>
            <a:ext cx="30495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5999" y="1739900"/>
            <a:ext cx="294796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75640" y="19634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675640" y="1982470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1230" y="1963420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Batubara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7518" y="1963420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99210" y="1963420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5199" y="1963420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1188" y="1963420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16972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75640" y="2188774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230" y="2169724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7518" y="2169724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9210" y="2169724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5199" y="2169724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31188" y="2169724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237602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675640" y="2395079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1230" y="2376029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7518" y="2376029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9210" y="2376029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255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5199" y="2376029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31188" y="2376029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5640" y="25823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675640" y="2601383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1230" y="2582333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7518" y="2582333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99210" y="2582333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5199" y="2582333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31188" y="2582333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75640" y="278863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Oval 59"/>
          <p:cNvSpPr/>
          <p:nvPr/>
        </p:nvSpPr>
        <p:spPr>
          <a:xfrm>
            <a:off x="675640" y="2807688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1230" y="2788638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7518" y="2788638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99210" y="2788638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5199" y="2788638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1188" y="2788638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299494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675640" y="3013992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1230" y="2994942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Padangsidimpuan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7518" y="2994942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99210" y="2994942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65199" y="2994942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1188" y="2994942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32012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Oval 73"/>
          <p:cNvSpPr/>
          <p:nvPr/>
        </p:nvSpPr>
        <p:spPr>
          <a:xfrm>
            <a:off x="675640" y="3220297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1230" y="3201247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Sibolga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7518" y="3201247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99210" y="3201247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65199" y="3201247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31188" y="3201247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340755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Oval 80"/>
          <p:cNvSpPr/>
          <p:nvPr/>
        </p:nvSpPr>
        <p:spPr>
          <a:xfrm>
            <a:off x="675640" y="3426601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1230" y="3407551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Tebing Tinggi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87518" y="3407551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99210" y="3407551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65199" y="3407551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31188" y="3407551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75640" y="361385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8" name="Oval 87"/>
          <p:cNvSpPr/>
          <p:nvPr/>
        </p:nvSpPr>
        <p:spPr>
          <a:xfrm>
            <a:off x="675640" y="3632906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1230" y="3613856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7518" y="3613856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99210" y="3613856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65199" y="3613856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31188" y="3613856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75640" y="382016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675640" y="3839210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1230" y="3820160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87518" y="3820160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99210" y="3820160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65199" y="3820160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931188" y="3820160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75640" y="402646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675640" y="4045514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1230" y="4026464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87518" y="4026464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99210" y="4026464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65199" y="4026464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1188" y="4026464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75640" y="423276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9" name="Oval 108"/>
          <p:cNvSpPr/>
          <p:nvPr/>
        </p:nvSpPr>
        <p:spPr>
          <a:xfrm>
            <a:off x="675640" y="4251819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1230" y="4232769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87518" y="4232769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799210" y="4232769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5199" y="4232769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31188" y="4232769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75640" y="44390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6" name="Oval 115"/>
          <p:cNvSpPr/>
          <p:nvPr/>
        </p:nvSpPr>
        <p:spPr>
          <a:xfrm>
            <a:off x="675640" y="4458123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51230" y="4439073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287518" y="4439073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799210" y="4439073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365199" y="4439073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931188" y="4439073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675640" y="464537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3" name="Oval 122"/>
          <p:cNvSpPr/>
          <p:nvPr/>
        </p:nvSpPr>
        <p:spPr>
          <a:xfrm>
            <a:off x="675640" y="4664428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51230" y="4645378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287518" y="4645378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99210" y="4645378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65199" y="4645378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931188" y="4645378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75640" y="485168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0" name="Oval 129"/>
          <p:cNvSpPr/>
          <p:nvPr/>
        </p:nvSpPr>
        <p:spPr>
          <a:xfrm>
            <a:off x="675640" y="4870732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51230" y="4851682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87518" y="4851682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799210" y="4851682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365199" y="4851682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931188" y="4851682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675640" y="505798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7" name="Oval 136"/>
          <p:cNvSpPr/>
          <p:nvPr/>
        </p:nvSpPr>
        <p:spPr>
          <a:xfrm>
            <a:off x="675640" y="5077037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51230" y="5057987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287518" y="5057987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799210" y="5057987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65199" y="5057987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931188" y="5057987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675640" y="526429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4" name="Oval 143"/>
          <p:cNvSpPr/>
          <p:nvPr/>
        </p:nvSpPr>
        <p:spPr>
          <a:xfrm>
            <a:off x="675640" y="5283341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1230" y="5264291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287518" y="5264291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99210" y="5264291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65199" y="5264291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931188" y="5264291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75640" y="547059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1" name="Oval 150"/>
          <p:cNvSpPr/>
          <p:nvPr/>
        </p:nvSpPr>
        <p:spPr>
          <a:xfrm>
            <a:off x="675640" y="5489646"/>
            <a:ext cx="168204" cy="1682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51230" y="5470596"/>
            <a:ext cx="4285488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287518" y="5470596"/>
            <a:ext cx="141009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958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799210" y="5470596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65199" y="5470596"/>
            <a:ext cx="1464389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931188" y="5470596"/>
            <a:ext cx="1483572" cy="20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75640" y="57277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51230" y="57277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287518" y="5727700"/>
            <a:ext cx="14100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1.848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799210" y="57277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448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365199" y="57277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931188" y="5727700"/>
            <a:ext cx="148357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Barat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15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Barat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7518" y="1752600"/>
            <a:ext cx="14100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9210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5199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1188" y="1752600"/>
            <a:ext cx="148357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7518" y="1541780"/>
            <a:ext cx="297608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8318" y="1739900"/>
            <a:ext cx="287448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8365199" y="1541780"/>
            <a:ext cx="30495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5999" y="1739900"/>
            <a:ext cx="294796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75640" y="19634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675640" y="203115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1230" y="1963420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7518" y="1963420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99210" y="196342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5199" y="196342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1188" y="1963420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27287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75640" y="234061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230" y="2272877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7518" y="2272877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9210" y="227287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5199" y="227287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31188" y="2272877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25823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675640" y="265006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1230" y="2582333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7518" y="2582333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9210" y="258233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5199" y="258233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31188" y="2582333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5640" y="289179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675640" y="295952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1230" y="2891790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Panjang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7518" y="2891790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99210" y="289179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5199" y="289179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31188" y="2891790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75640" y="32012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Oval 59"/>
          <p:cNvSpPr/>
          <p:nvPr/>
        </p:nvSpPr>
        <p:spPr>
          <a:xfrm>
            <a:off x="675640" y="32689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1230" y="3201247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7518" y="3201247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99210" y="320124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5199" y="320124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1188" y="3201247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351070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675640" y="357843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1230" y="3510703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7518" y="3510703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99210" y="351070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65199" y="351070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1188" y="3510703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382016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Oval 73"/>
          <p:cNvSpPr/>
          <p:nvPr/>
        </p:nvSpPr>
        <p:spPr>
          <a:xfrm>
            <a:off x="675640" y="388789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1230" y="3820160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7518" y="3820160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99210" y="382016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65199" y="382016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31188" y="3820160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412961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Oval 80"/>
          <p:cNvSpPr/>
          <p:nvPr/>
        </p:nvSpPr>
        <p:spPr>
          <a:xfrm>
            <a:off x="675640" y="419735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1230" y="4129617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87518" y="4129617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145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99210" y="412961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65199" y="412961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31188" y="4129617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75640" y="44390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8" name="Oval 87"/>
          <p:cNvSpPr/>
          <p:nvPr/>
        </p:nvSpPr>
        <p:spPr>
          <a:xfrm>
            <a:off x="675640" y="450680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1230" y="4439073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7518" y="4439073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99210" y="443907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65199" y="443907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31188" y="4439073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75640" y="474853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5" name="Oval 94"/>
          <p:cNvSpPr/>
          <p:nvPr/>
        </p:nvSpPr>
        <p:spPr>
          <a:xfrm>
            <a:off x="675640" y="48162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1230" y="4748530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87518" y="4748530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99210" y="474853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65199" y="4748530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931188" y="4748530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75640" y="505798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675640" y="512572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1230" y="5057987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87518" y="5057987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99210" y="505798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65199" y="5057987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1188" y="5057987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75640" y="536744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9" name="Oval 108"/>
          <p:cNvSpPr/>
          <p:nvPr/>
        </p:nvSpPr>
        <p:spPr>
          <a:xfrm>
            <a:off x="675640" y="54351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1230" y="5367443"/>
            <a:ext cx="4285488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Kepulauan Mentawai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87518" y="5367443"/>
            <a:ext cx="141009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799210" y="536744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5199" y="5367443"/>
            <a:ext cx="1464389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31188" y="5367443"/>
            <a:ext cx="1483572" cy="3094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5640" y="57277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51230" y="57277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287518" y="5727700"/>
            <a:ext cx="14100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2.078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799210" y="57277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299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65199" y="57277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31188" y="5727700"/>
            <a:ext cx="148357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Rencana transfer stimulan tahap II sampai IV pada akhir Oktober 2026 sebesar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Rp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1.751,1 miliar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282700"/>
            <a:ext cx="1109472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1337310"/>
            <a:ext cx="1506098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RENCANA TRANSFER</a:t>
            </a:r>
          </a:p>
        </p:txBody>
      </p:sp>
      <p:pic>
        <p:nvPicPr>
          <p:cNvPr id="17" name="Picture 16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58368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178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1.751,1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178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rencana ke daerah, tahap II sampai IV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3936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2315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56" y="1758950"/>
            <a:ext cx="177800" cy="177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25746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707,8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5746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II untuk Aceh dan Sumut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69504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7872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4924" y="1758950"/>
            <a:ext cx="177800" cy="177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81314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608,1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1314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IV untuk Aceh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2346960"/>
            <a:ext cx="6213043" cy="3736340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48640" y="2346960"/>
            <a:ext cx="6213043" cy="3736340"/>
          </a:xfrm>
          <a:prstGeom prst="roundRect">
            <a:avLst>
              <a:gd name="adj" fmla="val 146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2486660"/>
            <a:ext cx="177800" cy="177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Transfer ke Daerah dan Rencana Tahap II sampai IV, Rp Miliar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640" y="2905760"/>
            <a:ext cx="23328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59257" y="2905760"/>
            <a:ext cx="15546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TRANSFER BNPB KE DAERAH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15508" y="2905760"/>
            <a:ext cx="51398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1088" y="2905760"/>
            <a:ext cx="55190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4594" y="2905760"/>
            <a:ext cx="5484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IV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311658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675640" y="3116580"/>
            <a:ext cx="2332817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59257" y="3116580"/>
            <a:ext cx="1554651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653,7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5508" y="3116580"/>
            <a:ext cx="513980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517,2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31088" y="3116580"/>
            <a:ext cx="551906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319,5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4594" y="3116580"/>
            <a:ext cx="548489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608,1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5640" y="3960774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675640" y="3960774"/>
            <a:ext cx="2332817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59257" y="3960774"/>
            <a:ext cx="1554651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71,8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15508" y="3960774"/>
            <a:ext cx="513980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190,6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31088" y="3960774"/>
            <a:ext cx="551906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10,1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4594" y="3960774"/>
            <a:ext cx="548489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4804969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75640" y="4804969"/>
            <a:ext cx="2332817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59257" y="4804969"/>
            <a:ext cx="1554651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23,4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15508" y="4804969"/>
            <a:ext cx="513980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31088" y="4804969"/>
            <a:ext cx="551906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105,5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4594" y="4804969"/>
            <a:ext cx="548489" cy="8441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5640" y="5699963"/>
            <a:ext cx="5959043" cy="294437"/>
          </a:xfrm>
          <a:prstGeom prst="roundRect">
            <a:avLst>
              <a:gd name="adj" fmla="val 12939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640" y="5699963"/>
            <a:ext cx="2256617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59257" y="5699963"/>
            <a:ext cx="1554651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748,9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15508" y="5699963"/>
            <a:ext cx="513980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707,8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31088" y="5699963"/>
            <a:ext cx="551906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435,2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4594" y="5699963"/>
            <a:ext cx="548489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608,1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98843" y="2346960"/>
            <a:ext cx="4744517" cy="3736340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898843" y="2346960"/>
            <a:ext cx="4744517" cy="3736340"/>
          </a:xfrm>
          <a:prstGeom prst="roundRect">
            <a:avLst>
              <a:gd name="adj" fmla="val 146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2993" y="2486660"/>
            <a:ext cx="177800" cy="177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yang Sudah Berdiri</a:t>
            </a:r>
          </a:p>
        </p:txBody>
      </p:sp>
      <p:pic>
        <p:nvPicPr>
          <p:cNvPr id="76" name="Picture 75" descr="rr-sumatera-kisi-hun-28-3-172x1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5843" y="2905760"/>
            <a:ext cx="2194458" cy="1320546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025843" y="425170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78" name="Picture 77" descr="rr-sumatera-kisi-hun-29-4-172x10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1902" y="2905760"/>
            <a:ext cx="2194458" cy="132054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321902" y="425170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80" name="Picture 79" descr="rr-sumatera-kisi-hun-30-1-172x10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25843" y="4500880"/>
            <a:ext cx="2194458" cy="132054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025843" y="58468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82" name="Picture 81" descr="rr-sumatera-kisi-hun-30-7-172x10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1902" y="4500880"/>
            <a:ext cx="2194458" cy="132054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9321902" y="58468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bahan RTM 27 Oktober 2026; foto dokumentasi Kedeputian Bidang RR BNPB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Kendala dan Tindak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813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2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8813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32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813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4114800" y="39497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39497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32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32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Kendala pelaksanaan dan saran tindak lanjut sektor perumahan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04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Kendala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1672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peringatan-FFFFFF-6a80b7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 dan Saran Tindak Lanjut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230" y="1541780"/>
            <a:ext cx="18136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ASPEK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5665" y="1541780"/>
            <a:ext cx="398880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5273" y="1541780"/>
            <a:ext cx="461028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SARAN TINDAK LANJUT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5640" y="1752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675640" y="19685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nfrastruktur-FFFFFF-ba1c96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8" y="2001649"/>
            <a:ext cx="107874" cy="1078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51230" y="1752600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Material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5665" y="1752600"/>
            <a:ext cx="3988809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Semen dan besi langka, harganya melonjak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5273" y="1752600"/>
            <a:ext cx="4610287" cy="6059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Jamin pasokan dan harga; Kepala BNPB telah menyurati PT Semen Indonesia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75640" y="235857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675640" y="257456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wilayah-FFFFFF-37dca1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98" y="2607620"/>
            <a:ext cx="107874" cy="10787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51230" y="2358571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Akses lokasi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5665" y="2358571"/>
            <a:ext cx="3988809" cy="6059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Lokasi huntap tersebar; distribusi terganggu banjir dan longsor susulan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5273" y="2358571"/>
            <a:ext cx="4610287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Prioritaskan akses dan jalur distribusi material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5640" y="296454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675640" y="318053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luas-FFFFFF-123220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98" y="3213592"/>
            <a:ext cx="107874" cy="10787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51230" y="2964543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Status lahan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15665" y="2964543"/>
            <a:ext cx="3988809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Kepastian lahan, terutama tanah adat dan ulayat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5273" y="2964543"/>
            <a:ext cx="4610287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penyelesaian status dan kesepakatan lahan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5640" y="35705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4" name="Oval 43"/>
          <p:cNvSpPr/>
          <p:nvPr/>
        </p:nvSpPr>
        <p:spPr>
          <a:xfrm>
            <a:off x="675640" y="378650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4" descr="pembiayaan-FFFFFF-5387a3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98" y="3819563"/>
            <a:ext cx="107874" cy="10787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51230" y="3570514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Anggaran RB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15665" y="3570514"/>
            <a:ext cx="3988809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ABT DSP stimulan rumah rusak berat terlambat cair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5273" y="3570514"/>
            <a:ext cx="4610287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pencairan agar penyedia mulai bekerja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417648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675640" y="439247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data-FFFFFF-608a1e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98" y="4425535"/>
            <a:ext cx="107874" cy="10787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51230" y="4176486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Data penerima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15665" y="4176486"/>
            <a:ext cx="3988809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Verifikasi dan validasi data oleh pemda terlambat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5273" y="4176486"/>
            <a:ext cx="4610287" cy="6059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Pemda menuntaskan verifikasi dan data yang diperselisihkan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478245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Oval 55"/>
          <p:cNvSpPr/>
          <p:nvPr/>
        </p:nvSpPr>
        <p:spPr>
          <a:xfrm>
            <a:off x="675640" y="499844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lembaga-FFFFFF-f44193c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98" y="5031506"/>
            <a:ext cx="107874" cy="10787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51230" y="4782457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Mekanisme hibah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5665" y="4782457"/>
            <a:ext cx="3988809" cy="6059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Hibah RR perumahan belum dibedakan dari sektor lain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5273" y="4782457"/>
            <a:ext cx="4610287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Susun mekanisme khusus hibah RR sektor perumahan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5640" y="538842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675640" y="56044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3" name="Picture 62" descr="regulasi-FFFFFF-e639fe9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98" y="5637477"/>
            <a:ext cx="107874" cy="10787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51230" y="5388429"/>
            <a:ext cx="1813635" cy="6059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Peran DSP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15665" y="5388429"/>
            <a:ext cx="3988809" cy="6059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PPK dan BPP DSP rumah rusak berat berada di BNPB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5273" y="5388429"/>
            <a:ext cx="4610287" cy="6059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Kembalikan fungsi PPK dan BPP DSP kepada pemda pengusul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Kedeputian Bidang Rehabilitasi dan Rekonstruksi BNPB, bahan RTM 27 Oktober 2026; Kedeputian Bidang Rehabilitasi dan Rekonstruksi BNPB, 24 Oktober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Dokumentasi Lapangan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813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2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8813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32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813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813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32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4114800" y="48895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8895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32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Pidie Jaya</a:t>
            </a:r>
          </a:p>
        </p:txBody>
      </p:sp>
      <p:pic>
        <p:nvPicPr>
          <p:cNvPr id="22" name="Picture 21" descr="rr-sumatera-kisi-hun-21-1-131x13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66090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7564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4" name="Picture 23" descr="rr-sumatera-kisi-hun-21-2-131x13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6609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245110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6" name="Picture 25" descr="rr-sumatera-kisi-hun-21-3-131x1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66090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22656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1122680"/>
            <a:ext cx="177800" cy="177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Pidie Jaya</a:t>
            </a:r>
          </a:p>
        </p:txBody>
      </p:sp>
      <p:pic>
        <p:nvPicPr>
          <p:cNvPr id="35" name="Picture 34" descr="rr-sumatera-kisi-hun-21-5-131x1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66090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629158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7" name="Picture 36" descr="rr-sumatera-kisi-hun-21-6-131x1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66090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06704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39" name="Picture 38" descr="rr-sumatera-kisi-hun-21-7-131x1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660906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84250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83032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564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3741420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5664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Aceh Timur</a:t>
            </a:r>
          </a:p>
        </p:txBody>
      </p:sp>
      <p:pic>
        <p:nvPicPr>
          <p:cNvPr id="48" name="Picture 47" descr="rr-sumatera-kisi-hun-22-2-131x1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160520"/>
            <a:ext cx="1673860" cy="1660906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675640" y="58468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0" name="Picture 49" descr="rr-sumatera-kisi-hun-22-3-131x1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160520"/>
            <a:ext cx="1673860" cy="1660906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2451100" y="58468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2" name="Picture 51" descr="rr-sumatera-kisi-hun-22-4-131x1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160520"/>
            <a:ext cx="1673860" cy="166090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4226560" y="58468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6458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64580" y="383032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9158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3741420"/>
            <a:ext cx="177800" cy="1778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7258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Bireuen</a:t>
            </a:r>
          </a:p>
        </p:txBody>
      </p:sp>
      <p:pic>
        <p:nvPicPr>
          <p:cNvPr id="61" name="Picture 60" descr="rr-sumatera-kisi-hun-22-5-131x13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160520"/>
            <a:ext cx="1673860" cy="1660906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91580" y="58468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3" name="Picture 62" descr="rr-sumatera-kisi-hun-22-6-131x13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160520"/>
            <a:ext cx="1673860" cy="166090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8067040" y="58468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5" name="Picture 64" descr="rr-sumatera-kisi-hun-22-7-131x130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160520"/>
            <a:ext cx="1673860" cy="166090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9842500" y="58468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Foto dokumentasi Kedeputian Bidang Rehabilitasi dan Rekonstruksi BNPB,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Kota Binjai, Sumatera Utara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22" name="Picture 21" descr="rr-sumatera-kisi-hun-23-2-131x130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66090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7564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4" name="Picture 23" descr="rr-sumatera-kisi-hun-23-4-131x130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6609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245110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6" name="Picture 25" descr="rr-sumatera-kisi-hun-23-3-131x130-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66090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22656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1122680"/>
            <a:ext cx="177800" cy="177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Kota Binjai</a:t>
            </a:r>
          </a:p>
        </p:txBody>
      </p:sp>
      <p:pic>
        <p:nvPicPr>
          <p:cNvPr id="35" name="Picture 34" descr="rr-sumatera-kisi-hun-23-5-131x130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66090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629158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7" name="Picture 36" descr="rr-sumatera-kisi-hun-23-7-131x130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66090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06704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39" name="Picture 38" descr="rr-sumatera-kisi-hun-23-6-131x130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660906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84250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83032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564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3741420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5664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48" name="Picture 47" descr="rr-sumatera-kisi-hun-24-3-131x130-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160520"/>
            <a:ext cx="1673860" cy="1660906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675640" y="58468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0" name="Picture 49" descr="rr-sumatera-kisi-hun-24-2-131x130-k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160520"/>
            <a:ext cx="1673860" cy="1660906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2451100" y="58468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2" name="Picture 51" descr="rr-sumatera-kisi-hun-24-1-131x130-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160520"/>
            <a:ext cx="1673860" cy="166090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4226560" y="58468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6458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64580" y="383032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9158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data-FFFFFF-608a1e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8730" y="3741420"/>
            <a:ext cx="177800" cy="1778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7258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Kota Binjai</a:t>
            </a:r>
          </a:p>
        </p:txBody>
      </p:sp>
      <p:sp>
        <p:nvSpPr>
          <p:cNvPr id="61" name="Oval 60"/>
          <p:cNvSpPr/>
          <p:nvPr/>
        </p:nvSpPr>
        <p:spPr>
          <a:xfrm>
            <a:off x="6291580" y="430106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526" y="4377013"/>
            <a:ext cx="178308" cy="178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36080" y="4168669"/>
            <a:ext cx="4678680" cy="59499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94" b="1" lang="id-ID">
                <a:solidFill>
                  <a:srgbClr val="1A1A1A"/>
                </a:solidFill>
                <a:latin typeface="Roboto"/>
              </a:rPr>
              <a:t>Stimulan Kota Binjai</a:t>
            </a:r>
            <a:br/>
            <a:r>
              <a:rPr sz="1794" b="1" lang="id-ID">
                <a:solidFill>
                  <a:srgbClr val="1A1A1A"/>
                </a:solidFill>
                <a:latin typeface="Roboto"/>
              </a:rPr>
              <a:t>15 unit rumah</a:t>
            </a:r>
            <a:r>
              <a:rPr sz="1794" b="0" lang="id-ID">
                <a:solidFill>
                  <a:srgbClr val="1A1A1A"/>
                </a:solidFill>
                <a:latin typeface="Roboto"/>
              </a:rPr>
              <a:t>, realisasi belanja </a:t>
            </a:r>
            <a:r>
              <a:rPr sz="1794" b="1" lang="id-ID">
                <a:solidFill>
                  <a:srgbClr val="1A1A1A"/>
                </a:solidFill>
                <a:latin typeface="Roboto"/>
              </a:rPr>
              <a:t>100%</a:t>
            </a:r>
            <a:r>
              <a:rPr sz="1794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291580" y="4771813"/>
            <a:ext cx="522478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6291580" y="491236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kalender-FFFFFF-a840cf9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67526" y="4988306"/>
            <a:ext cx="178308" cy="1783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36080" y="4779962"/>
            <a:ext cx="4678680" cy="59499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94" b="1" lang="id-ID">
                <a:solidFill>
                  <a:srgbClr val="1A1A1A"/>
                </a:solidFill>
                <a:latin typeface="Roboto"/>
              </a:rPr>
              <a:t>Huntap Kota Binjai</a:t>
            </a:r>
            <a:br/>
            <a:r>
              <a:rPr sz="1794" b="0" lang="id-ID">
                <a:solidFill>
                  <a:srgbClr val="1A1A1A"/>
                </a:solidFill>
                <a:latin typeface="Roboto"/>
              </a:rPr>
              <a:t>Usulan </a:t>
            </a:r>
            <a:r>
              <a:rPr sz="1794" b="1" lang="id-ID">
                <a:solidFill>
                  <a:srgbClr val="1A1A1A"/>
                </a:solidFill>
                <a:latin typeface="Roboto"/>
              </a:rPr>
              <a:t>22 unit</a:t>
            </a:r>
            <a:r>
              <a:rPr sz="1794" b="0" lang="id-ID">
                <a:solidFill>
                  <a:srgbClr val="1A1A1A"/>
                </a:solidFill>
                <a:latin typeface="Roboto"/>
              </a:rPr>
              <a:t>, proses pembangunan </a:t>
            </a:r>
            <a:r>
              <a:rPr sz="1794" b="1" lang="id-ID">
                <a:solidFill>
                  <a:srgbClr val="1A1A1A"/>
                </a:solidFill>
                <a:latin typeface="Roboto"/>
              </a:rPr>
              <a:t>0 unit</a:t>
            </a:r>
            <a:r>
              <a:rPr sz="1794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291580" y="5383107"/>
            <a:ext cx="522478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6291580" y="5523653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pembiayaan-FFFFFF-5387a37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7526" y="5599599"/>
            <a:ext cx="178308" cy="17830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6736080" y="5391256"/>
            <a:ext cx="4678680" cy="59499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94" b="1" lang="id-ID">
                <a:solidFill>
                  <a:srgbClr val="1A1A1A"/>
                </a:solidFill>
                <a:latin typeface="Roboto"/>
              </a:rPr>
              <a:t>Dana Kota Binjai</a:t>
            </a:r>
            <a:br/>
            <a:r>
              <a:rPr sz="1794" b="0" lang="id-ID">
                <a:solidFill>
                  <a:srgbClr val="1A1A1A"/>
                </a:solidFill>
                <a:latin typeface="Roboto"/>
              </a:rPr>
              <a:t>Transfer Rp</a:t>
            </a:r>
            <a:r>
              <a:rPr sz="1794" b="1" lang="id-ID">
                <a:solidFill>
                  <a:srgbClr val="1A1A1A"/>
                </a:solidFill>
                <a:latin typeface="Roboto"/>
              </a:rPr>
              <a:t>450</a:t>
            </a:r>
            <a:r>
              <a:rPr sz="1794" b="0" lang="id-ID">
                <a:solidFill>
                  <a:srgbClr val="1A1A1A"/>
                </a:solidFill>
                <a:latin typeface="Roboto"/>
              </a:rPr>
              <a:t> juta, belanja Rp</a:t>
            </a:r>
            <a:r>
              <a:rPr sz="1794" b="1" lang="id-ID">
                <a:solidFill>
                  <a:srgbClr val="1A1A1A"/>
                </a:solidFill>
                <a:latin typeface="Roboto"/>
              </a:rPr>
              <a:t>420</a:t>
            </a:r>
            <a:r>
              <a:rPr sz="1794" b="0" lang="id-ID">
                <a:solidFill>
                  <a:srgbClr val="1A1A1A"/>
                </a:solidFill>
                <a:latin typeface="Roboto"/>
              </a:rPr>
              <a:t> juta.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Foto dokumentasi Kedeputian Bidang Rehabilitasi dan Rekonstruksi BNPB,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Lima Puluh Kota dan Pasaman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22" name="Picture 21" descr="rr-sumatera-kisi-hun-24-5-131x13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66090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7564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4" name="Picture 23" descr="rr-sumatera-kisi-hun-24-6-131x13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6609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245110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6" name="Picture 25" descr="rr-sumatera-kisi-hun-24-7-131x1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66090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22656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1122680"/>
            <a:ext cx="177800" cy="177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35" name="Picture 34" descr="rr-sumatera-kisi-hun-25-2-131x1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66090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629158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7" name="Picture 36" descr="rr-sumatera-kisi-hun-25-3-131x1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66090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06704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39" name="Picture 38" descr="rr-sumatera-kisi-hun-25-4-131x1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660906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84250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83032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564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3741420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5664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Lima Puluh Kota</a:t>
            </a:r>
          </a:p>
        </p:txBody>
      </p:sp>
      <p:pic>
        <p:nvPicPr>
          <p:cNvPr id="48" name="Picture 47" descr="rr-sumatera-kisi-hun-25-5-131x1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160520"/>
            <a:ext cx="1673860" cy="1660906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675640" y="58468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0" name="Picture 49" descr="rr-sumatera-kisi-hun-25-6-131x1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160520"/>
            <a:ext cx="1673860" cy="1660906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2451100" y="58468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2" name="Picture 51" descr="rr-sumatera-kisi-hun-25-7-131x1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160520"/>
            <a:ext cx="1673860" cy="166090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4226560" y="58468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6458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64580" y="383032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9158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3741420"/>
            <a:ext cx="177800" cy="1778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7258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 Barat</a:t>
            </a:r>
          </a:p>
        </p:txBody>
      </p:sp>
      <p:pic>
        <p:nvPicPr>
          <p:cNvPr id="61" name="Picture 60" descr="rr-sumatera-kisi-hun-26-2-131x13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160520"/>
            <a:ext cx="1673860" cy="1660906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91580" y="58468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3" name="Picture 62" descr="rr-sumatera-kisi-hun-26-3-131x13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160520"/>
            <a:ext cx="1673860" cy="166090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8067040" y="58468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5" name="Picture 64" descr="rr-sumatera-kisi-hun-26-4-131x130-k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160520"/>
            <a:ext cx="1673860" cy="166090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9842500" y="58468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Foto dokumentasi Kedeputian Bidang Rehabilitasi dan Rekonstruksi BNPB,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Pasaman dan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</a:t>
            </a:r>
          </a:p>
        </p:txBody>
      </p:sp>
      <p:pic>
        <p:nvPicPr>
          <p:cNvPr id="22" name="Picture 21" descr="rr-sumatera-kisi-hun-26-5-131x13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66090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7564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4" name="Picture 23" descr="rr-sumatera-kisi-hun-26-6-131x13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6609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245110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6" name="Picture 25" descr="rr-sumatera-kisi-hun-26-7-131x1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66090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22656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64580" y="98298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1122680"/>
            <a:ext cx="177800" cy="177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Agam</a:t>
            </a:r>
          </a:p>
        </p:txBody>
      </p:sp>
      <p:pic>
        <p:nvPicPr>
          <p:cNvPr id="35" name="Picture 34" descr="rr-sumatera-kisi-hun-27-2-131x1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66090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6291580" y="322808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7" name="Picture 36" descr="rr-sumatera-kisi-hun-27-3-131x1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66090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067040" y="322808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39" name="Picture 38" descr="rr-sumatera-kisi-hun-27-4-131x1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660906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842500" y="322808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83032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864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564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3741420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56640" y="360172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Agam</a:t>
            </a:r>
          </a:p>
        </p:txBody>
      </p:sp>
      <p:pic>
        <p:nvPicPr>
          <p:cNvPr id="48" name="Picture 47" descr="rr-sumatera-kisi-hun-27-5-131x1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160520"/>
            <a:ext cx="1673860" cy="1660906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675640" y="58468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0" name="Picture 49" descr="rr-sumatera-kisi-hun-27-6-131x1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160520"/>
            <a:ext cx="1673860" cy="1660906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2451100" y="58468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2" name="Picture 51" descr="rr-sumatera-kisi-hun-27-7-131x1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160520"/>
            <a:ext cx="1673860" cy="166090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4226560" y="58468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64580" y="360172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64580" y="383032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64580" y="3601720"/>
            <a:ext cx="5478780" cy="2481580"/>
          </a:xfrm>
          <a:prstGeom prst="roundRect">
            <a:avLst>
              <a:gd name="adj" fmla="val 220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91580" y="368427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data-FFFFFF-608a1e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8730" y="3741420"/>
            <a:ext cx="177800" cy="1778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72580" y="3601720"/>
            <a:ext cx="4716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Pasaman dan Agam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1580" y="4160520"/>
            <a:ext cx="203911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KAB/KOTA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81492" y="4371340"/>
            <a:ext cx="4208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3894" y="4371340"/>
            <a:ext cx="6274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32911" y="4371340"/>
            <a:ext cx="60256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7076" y="4371340"/>
            <a:ext cx="47845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17127" y="4371340"/>
            <a:ext cx="49763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1492" y="4160520"/>
            <a:ext cx="114981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STIMULAN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432292" y="4358640"/>
            <a:ext cx="104821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9632911" y="4160520"/>
            <a:ext cx="178184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HUNTAP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683711" y="4358640"/>
            <a:ext cx="168024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cxnSp>
        <p:nvCxnSpPr>
          <p:cNvPr id="71" name="Connector 70"/>
          <p:cNvCxnSpPr/>
          <p:nvPr/>
        </p:nvCxnSpPr>
        <p:spPr>
          <a:xfrm>
            <a:off x="6291580" y="4582160"/>
            <a:ext cx="522478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291580" y="4582160"/>
            <a:ext cx="2039112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81492" y="4582160"/>
            <a:ext cx="420802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17131" y="4820234"/>
            <a:ext cx="600943" cy="22997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05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32911" y="4582160"/>
            <a:ext cx="602566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37076" y="4582160"/>
            <a:ext cx="478450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17127" y="4582160"/>
            <a:ext cx="497633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291580" y="5288280"/>
            <a:ext cx="522478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9" name="TextBox 78"/>
          <p:cNvSpPr txBox="1"/>
          <p:nvPr/>
        </p:nvSpPr>
        <p:spPr>
          <a:xfrm>
            <a:off x="6291580" y="5288280"/>
            <a:ext cx="2039112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81492" y="5288280"/>
            <a:ext cx="420802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7131" y="5526354"/>
            <a:ext cx="600943" cy="22997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05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32911" y="5288280"/>
            <a:ext cx="602566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37076" y="5288280"/>
            <a:ext cx="478450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17127" y="5288280"/>
            <a:ext cx="497633" cy="706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Foto dokumentasi Kedeputian Bidang Rehabilitasi dan Rekonstruksi BNPB,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1109472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10459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di Aceh</a:t>
            </a:r>
          </a:p>
        </p:txBody>
      </p:sp>
      <p:pic>
        <p:nvPicPr>
          <p:cNvPr id="22" name="Picture 21" descr="rr-sumatera-kisi-hun-28-1-279x15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3545840" cy="20025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5640" y="356971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24" name="Picture 23" descr="rr-sumatera-kisi-hun-28-2-279x1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080" y="1541780"/>
            <a:ext cx="3545840" cy="20025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23080" y="356971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pic>
        <p:nvPicPr>
          <p:cNvPr id="26" name="Picture 25" descr="rr-sumatera-kisi-hun-28-3-279x1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0520" y="1541780"/>
            <a:ext cx="3545840" cy="2002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70520" y="356971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28" name="Picture 27" descr="rr-sumatera-kisi-hun-28-5-279x15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818890"/>
            <a:ext cx="3545840" cy="2002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5640" y="58468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30" name="Picture 29" descr="rr-sumatera-kisi-hun-28-6-279x157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3080" y="3818890"/>
            <a:ext cx="3545840" cy="20025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3080" y="58468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pic>
        <p:nvPicPr>
          <p:cNvPr id="32" name="Picture 31" descr="rr-sumatera-kisi-hun-28-7-279x157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0520" y="3818890"/>
            <a:ext cx="3545840" cy="20025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970520" y="58468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Foto dokumentasi Kedeputian Bidang Rehabilitasi dan Rekonstruksi BNPB,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Sumatera Utara dan Sumatera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020"/>
            <a:ext cx="548640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80" b="0" lang="id-ID">
                <a:solidFill>
                  <a:srgbClr val="1A1A1A"/>
                </a:solidFill>
                <a:latin typeface="Roboto"/>
              </a:rPr>
              <a:t>Badan Nasional Penanggulangan Bencana  |  Copyright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982980"/>
            <a:ext cx="547878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982980"/>
            <a:ext cx="547878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" y="1122680"/>
            <a:ext cx="177800" cy="177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Langkat, Sumatera Utara</a:t>
            </a:r>
          </a:p>
        </p:txBody>
      </p:sp>
      <p:pic>
        <p:nvPicPr>
          <p:cNvPr id="22" name="Picture 21" descr="rr-sumatera-kisi-hun-29-1-131x157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20025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5640" y="356971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4" name="Picture 23" descr="rr-sumatera-kisi-hun-29-3-131x157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20025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1100" y="356971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6" name="Picture 25" descr="rr-sumatera-kisi-hun-29-4-131x1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2002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26560" y="356971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8" name="Picture 27" descr="rr-sumatera-kisi-hun-29-5-131x157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818890"/>
            <a:ext cx="1673860" cy="2002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5640" y="58468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0" name="Picture 29" descr="rr-sumatera-kisi-hun-29-6-131x157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1100" y="3818890"/>
            <a:ext cx="1673860" cy="20025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451100" y="58468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2" name="Picture 31" descr="rr-sumatera-kisi-hun-29-7-131x157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6560" y="3818890"/>
            <a:ext cx="1673860" cy="20025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26560" y="58468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4580" y="982980"/>
            <a:ext cx="5478780" cy="5100320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64580" y="982980"/>
            <a:ext cx="5478780" cy="5100320"/>
          </a:xfrm>
          <a:prstGeom prst="roundRect">
            <a:avLst>
              <a:gd name="adj" fmla="val 1070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rumah-FFFFFF-320df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30" y="112268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pic>
        <p:nvPicPr>
          <p:cNvPr id="41" name="Picture 40" descr="rr-sumatera-kisi-hun-30-1-131x15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1580" y="1541780"/>
            <a:ext cx="1673860" cy="200253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291580" y="356971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43" name="Picture 42" descr="rr-sumatera-kisi-hun-30-2-131x15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7040" y="1541780"/>
            <a:ext cx="1673860" cy="200253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7040" y="356971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pic>
        <p:nvPicPr>
          <p:cNvPr id="45" name="Picture 44" descr="rr-sumatera-kisi-hun-30-3-131x15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500" y="1541780"/>
            <a:ext cx="1673860" cy="200253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842500" y="356971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pic>
        <p:nvPicPr>
          <p:cNvPr id="47" name="Picture 46" descr="rr-sumatera-kisi-hun-30-4-131x157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3818890"/>
            <a:ext cx="1673860" cy="2002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291580" y="58468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49" name="Picture 48" descr="rr-sumatera-kisi-hun-30-5-131x1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3818890"/>
            <a:ext cx="1673860" cy="200253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067040" y="58468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1" name="Picture 50" descr="rr-sumatera-kisi-hun-30-7-131x15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3818890"/>
            <a:ext cx="1673860" cy="200253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842500" y="58468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178550"/>
            <a:ext cx="38100" cy="16510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159500"/>
            <a:ext cx="1100328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6B7280"/>
                </a:solidFill>
                <a:latin typeface="Roboto"/>
              </a:rPr>
              <a:t>Sumber: Foto dokumentasi Kedeputian Bidang Rehabilitasi dan Rekonstruksi BNPB,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penu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7391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468880"/>
            <a:ext cx="5669280" cy="100584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5400" b="1" lang="id-ID">
                <a:solidFill>
                  <a:srgbClr val="1A1A1A"/>
                </a:solidFill>
                <a:latin typeface="Roboto"/>
              </a:rPr>
              <a:t>Terima kasih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44900"/>
            <a:ext cx="4754880" cy="25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566928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70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4180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90" b="0" lang="id-ID">
                <a:solidFill>
                  <a:srgbClr val="2E3440"/>
                </a:solidFill>
                <a:latin typeface="Roboto"/>
              </a:rPr>
              <a:t>Progres Sektor Perumahan RR Pascabencana di Wilayah Sumatera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6998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1A1A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 Sektor Perumahan Rehabilitasi dan Rekonstruksi Pascabencana di Wilayah Sumatera</dc:title>
  <dc:subject>Bantuan Stimulan Rumah Rusak dan Hunian Tetap Pascabencana Siklon Senyar</dc:subject>
  <dc:creator>Badan Nasional Penanggulangan Bencana</dc:creator>
  <cp:lastModifiedBy>Badan Nasional Penanggulangan Bencana</cp:lastModifiedBy>
  <cp:revision>1</cp:revision>
  <dcterms:created xsi:type="dcterms:W3CDTF">2026-10-22T07:37:45Z</dcterms:created>
  <dcterms:modified xsi:type="dcterms:W3CDTF">2026-10-22T07:37:45Z</dcterms:modified>
  <cp:keywords>BNPB; rehabilitasi dan rekonstruksi; huntap; stimulan rumah; Sumatera</cp:keywords>
  <dc:language>id-ID</dc:language>
  <cp:category>Kajian</cp:category>
  <dc:description>Stimulan rumah rusak dan huntap pascabencana Sumatera berjalan; percepatan bergantung pada material, lahan, anggaran, dan data.</dc:description>
</cp:coreProperties>
</file>